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04" r:id="rId2"/>
  </p:sldMasterIdLst>
  <p:notesMasterIdLst>
    <p:notesMasterId r:id="rId57"/>
  </p:notesMasterIdLst>
  <p:sldIdLst>
    <p:sldId id="515" r:id="rId3"/>
    <p:sldId id="516" r:id="rId4"/>
    <p:sldId id="604" r:id="rId5"/>
    <p:sldId id="473" r:id="rId6"/>
    <p:sldId id="313" r:id="rId7"/>
    <p:sldId id="506" r:id="rId8"/>
    <p:sldId id="318" r:id="rId9"/>
    <p:sldId id="322" r:id="rId10"/>
    <p:sldId id="323" r:id="rId11"/>
    <p:sldId id="324" r:id="rId12"/>
    <p:sldId id="325" r:id="rId13"/>
    <p:sldId id="326" r:id="rId14"/>
    <p:sldId id="327" r:id="rId15"/>
    <p:sldId id="328" r:id="rId16"/>
    <p:sldId id="329" r:id="rId17"/>
    <p:sldId id="330" r:id="rId18"/>
    <p:sldId id="331" r:id="rId19"/>
    <p:sldId id="334" r:id="rId20"/>
    <p:sldId id="335" r:id="rId21"/>
    <p:sldId id="336" r:id="rId22"/>
    <p:sldId id="341" r:id="rId23"/>
    <p:sldId id="342" r:id="rId24"/>
    <p:sldId id="343" r:id="rId25"/>
    <p:sldId id="344" r:id="rId26"/>
    <p:sldId id="345" r:id="rId27"/>
    <p:sldId id="292" r:id="rId28"/>
    <p:sldId id="314" r:id="rId29"/>
    <p:sldId id="607" r:id="rId30"/>
    <p:sldId id="507" r:id="rId31"/>
    <p:sldId id="346" r:id="rId32"/>
    <p:sldId id="508" r:id="rId33"/>
    <p:sldId id="509" r:id="rId34"/>
    <p:sldId id="498" r:id="rId35"/>
    <p:sldId id="609" r:id="rId36"/>
    <p:sldId id="500" r:id="rId37"/>
    <p:sldId id="382" r:id="rId38"/>
    <p:sldId id="605" r:id="rId39"/>
    <p:sldId id="597" r:id="rId40"/>
    <p:sldId id="599" r:id="rId41"/>
    <p:sldId id="598" r:id="rId42"/>
    <p:sldId id="611" r:id="rId43"/>
    <p:sldId id="257" r:id="rId44"/>
    <p:sldId id="614" r:id="rId45"/>
    <p:sldId id="268" r:id="rId46"/>
    <p:sldId id="595" r:id="rId47"/>
    <p:sldId id="585" r:id="rId48"/>
    <p:sldId id="279" r:id="rId49"/>
    <p:sldId id="514" r:id="rId50"/>
    <p:sldId id="511" r:id="rId51"/>
    <p:sldId id="513" r:id="rId52"/>
    <p:sldId id="512" r:id="rId53"/>
    <p:sldId id="258" r:id="rId54"/>
    <p:sldId id="259" r:id="rId55"/>
    <p:sldId id="379"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416" autoAdjust="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4C212F-997C-4B8C-B9C5-A58349A16AE0}" type="datetimeFigureOut">
              <a:rPr lang="en-IN" smtClean="0"/>
              <a:t>05-06-2026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825485-6A08-4C3E-B8B9-4B7F5D1C055A}" type="slidenum">
              <a:rPr lang="en-IN" smtClean="0"/>
              <a:t>‹#›</a:t>
            </a:fld>
            <a:endParaRPr lang="en-IN"/>
          </a:p>
        </p:txBody>
      </p:sp>
    </p:spTree>
    <p:extLst>
      <p:ext uri="{BB962C8B-B14F-4D97-AF65-F5344CB8AC3E}">
        <p14:creationId xmlns:p14="http://schemas.microsoft.com/office/powerpoint/2010/main" val="3995693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AD1180-89B7-4B77-82A2-F71C55345F5A}"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6809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277C596-5848-490B-A223-6F6F7C3F8E03}" type="slidenum">
              <a:rPr lang="en-IN" smtClean="0"/>
              <a:t>26</a:t>
            </a:fld>
            <a:endParaRPr lang="en-IN"/>
          </a:p>
        </p:txBody>
      </p:sp>
    </p:spTree>
    <p:extLst>
      <p:ext uri="{BB962C8B-B14F-4D97-AF65-F5344CB8AC3E}">
        <p14:creationId xmlns:p14="http://schemas.microsoft.com/office/powerpoint/2010/main" val="2684494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F825485-6A08-4C3E-B8B9-4B7F5D1C055A}" type="slidenum">
              <a:rPr lang="en-IN" smtClean="0"/>
              <a:t>29</a:t>
            </a:fld>
            <a:endParaRPr lang="en-IN"/>
          </a:p>
        </p:txBody>
      </p:sp>
    </p:spTree>
    <p:extLst>
      <p:ext uri="{BB962C8B-B14F-4D97-AF65-F5344CB8AC3E}">
        <p14:creationId xmlns:p14="http://schemas.microsoft.com/office/powerpoint/2010/main" val="554788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F825485-6A08-4C3E-B8B9-4B7F5D1C055A}" type="slidenum">
              <a:rPr lang="en-IN" smtClean="0"/>
              <a:t>30</a:t>
            </a:fld>
            <a:endParaRPr lang="en-IN"/>
          </a:p>
        </p:txBody>
      </p:sp>
    </p:spTree>
    <p:extLst>
      <p:ext uri="{BB962C8B-B14F-4D97-AF65-F5344CB8AC3E}">
        <p14:creationId xmlns:p14="http://schemas.microsoft.com/office/powerpoint/2010/main" val="34832533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BE33F5-57D9-4775-99BA-CCB2D6622D1A}"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390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F825485-6A08-4C3E-B8B9-4B7F5D1C055A}" type="slidenum">
              <a:rPr lang="en-IN" smtClean="0"/>
              <a:t>34</a:t>
            </a:fld>
            <a:endParaRPr lang="en-IN"/>
          </a:p>
        </p:txBody>
      </p:sp>
    </p:spTree>
    <p:extLst>
      <p:ext uri="{BB962C8B-B14F-4D97-AF65-F5344CB8AC3E}">
        <p14:creationId xmlns:p14="http://schemas.microsoft.com/office/powerpoint/2010/main" val="373572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F825485-6A08-4C3E-B8B9-4B7F5D1C055A}" type="slidenum">
              <a:rPr lang="en-IN" smtClean="0"/>
              <a:t>41</a:t>
            </a:fld>
            <a:endParaRPr lang="en-IN"/>
          </a:p>
        </p:txBody>
      </p:sp>
    </p:spTree>
    <p:extLst>
      <p:ext uri="{BB962C8B-B14F-4D97-AF65-F5344CB8AC3E}">
        <p14:creationId xmlns:p14="http://schemas.microsoft.com/office/powerpoint/2010/main" val="3309835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731635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913370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2828316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692403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2476783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8187" y="400303"/>
            <a:ext cx="3600027"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246221"/>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6/5/2026</a:t>
            </a:fld>
            <a:endParaRPr lang="en-US" kern="0">
              <a:solidFill>
                <a:prstClr val="black">
                  <a:tint val="75000"/>
                </a:prstClr>
              </a:solidFill>
            </a:endParaRPr>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001078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46661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6/5/2026</a:t>
            </a:fld>
            <a:endParaRPr lang="en-US" kern="0">
              <a:solidFill>
                <a:prstClr val="black">
                  <a:tint val="75000"/>
                </a:prstClr>
              </a:solidFill>
            </a:endParaRPr>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460830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39200" y="0"/>
            <a:ext cx="2924048" cy="693420"/>
          </a:xfrm>
          <a:prstGeom prst="rect">
            <a:avLst/>
          </a:prstGeom>
        </p:spPr>
      </p:pic>
      <p:sp>
        <p:nvSpPr>
          <p:cNvPr id="17" name="bg object 17"/>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0" name="bg object 20"/>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1" name="bg object 21"/>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2" name="bg object 22"/>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4" name="Holder 4"/>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6/5/2026</a:t>
            </a:fld>
            <a:endParaRPr lang="en-US" kern="0">
              <a:solidFill>
                <a:prstClr val="black">
                  <a:tint val="75000"/>
                </a:prstClr>
              </a:solidFill>
            </a:endParaRPr>
          </a:p>
        </p:txBody>
      </p:sp>
      <p:sp>
        <p:nvSpPr>
          <p:cNvPr id="5" name="Holder 5"/>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927899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 y="1"/>
            <a:ext cx="12191999" cy="6857999"/>
          </a:xfrm>
          <a:prstGeom prst="rect">
            <a:avLst/>
          </a:prstGeom>
        </p:spPr>
      </p:pic>
      <p:sp>
        <p:nvSpPr>
          <p:cNvPr id="17" name="bg object 17"/>
          <p:cNvSpPr/>
          <p:nvPr/>
        </p:nvSpPr>
        <p:spPr>
          <a:xfrm>
            <a:off x="38608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77216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0" name="bg object 20"/>
          <p:cNvPicPr/>
          <p:nvPr/>
        </p:nvPicPr>
        <p:blipFill>
          <a:blip r:embed="rId3" cstate="print"/>
          <a:stretch>
            <a:fillRect/>
          </a:stretch>
        </p:blipFill>
        <p:spPr>
          <a:xfrm>
            <a:off x="101600" y="3352800"/>
            <a:ext cx="2743200" cy="1979676"/>
          </a:xfrm>
          <a:prstGeom prst="rect">
            <a:avLst/>
          </a:prstGeom>
        </p:spPr>
      </p:pic>
      <p:sp>
        <p:nvSpPr>
          <p:cNvPr id="2" name="Holder 2"/>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3" name="Holder 3"/>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6/5/2026</a:t>
            </a:fld>
            <a:endParaRPr lang="en-US" kern="0">
              <a:solidFill>
                <a:prstClr val="black">
                  <a:tint val="75000"/>
                </a:prstClr>
              </a:solidFill>
            </a:endParaRPr>
          </a:p>
        </p:txBody>
      </p:sp>
      <p:sp>
        <p:nvSpPr>
          <p:cNvPr id="4" name="Holder 4"/>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1706305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defRPr/>
            </a:pPr>
            <a:r>
              <a:rPr lang="en-US" altLang="en-US" sz="1100" b="1" kern="0">
                <a:solidFill>
                  <a:srgbClr val="101141"/>
                </a:solidFill>
              </a:rPr>
              <a:t>BITS </a:t>
            </a:r>
            <a:r>
              <a:rPr lang="en-US" altLang="en-US" sz="1100" kern="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836312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731009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9529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09679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743867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759875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11412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47740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605447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323047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931350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5876304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260698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1085329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9892293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1485780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122348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28606323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26160283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19719366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2189094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29975511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5510357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fontAlgn="base">
              <a:spcBef>
                <a:spcPct val="0"/>
              </a:spcBef>
              <a:spcAft>
                <a:spcPct val="0"/>
              </a:spcAft>
              <a:defRPr/>
            </a:pPr>
            <a:r>
              <a:rPr lang="en-US" sz="1100" b="1" dirty="0">
                <a:solidFill>
                  <a:srgbClr val="101141"/>
                </a:solidFill>
                <a:cs typeface="Arial" panose="020B0604020202020204" pitchFamily="34" charset="0"/>
              </a:rPr>
              <a:t>BITS </a:t>
            </a:r>
            <a:r>
              <a:rPr lang="en-US" sz="1100" dirty="0" err="1">
                <a:solidFill>
                  <a:srgbClr val="101141"/>
                </a:solidFill>
                <a:cs typeface="Arial" panose="020B0604020202020204" pitchFamily="34" charset="0"/>
              </a:rPr>
              <a:t>Pilani</a:t>
            </a:r>
            <a:endParaRPr lang="en-US" sz="1100" dirty="0">
              <a:solidFill>
                <a:srgbClr val="101141"/>
              </a:solidFill>
              <a:cs typeface="Arial" panose="020B0604020202020204" pitchFamily="34" charset="0"/>
            </a:endParaRP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600201"/>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609600" y="6356351"/>
            <a:ext cx="2844800" cy="365125"/>
          </a:xfrm>
          <a:prstGeom prst="rect">
            <a:avLst/>
          </a:prstGeom>
        </p:spPr>
        <p:txBody>
          <a:bodyPr/>
          <a:lstStyle/>
          <a:p>
            <a:pPr fontAlgn="base">
              <a:spcBef>
                <a:spcPct val="0"/>
              </a:spcBef>
              <a:spcAft>
                <a:spcPct val="0"/>
              </a:spcAft>
              <a:defRPr/>
            </a:pPr>
            <a:endParaRPr lang="en-US" sz="1600">
              <a:solidFill>
                <a:prstClr val="black">
                  <a:tint val="75000"/>
                </a:prstClr>
              </a:solidFill>
              <a:latin typeface="Tahoma" charset="0"/>
            </a:endParaRPr>
          </a:p>
        </p:txBody>
      </p:sp>
      <p:sp>
        <p:nvSpPr>
          <p:cNvPr id="18" name="Footer Placeholder 17"/>
          <p:cNvSpPr>
            <a:spLocks noGrp="1"/>
          </p:cNvSpPr>
          <p:nvPr>
            <p:ph type="ftr" sz="quarter" idx="12"/>
          </p:nvPr>
        </p:nvSpPr>
        <p:spPr>
          <a:xfrm>
            <a:off x="4165600" y="6356351"/>
            <a:ext cx="3860800" cy="365125"/>
          </a:xfrm>
          <a:prstGeom prst="rect">
            <a:avLst/>
          </a:prstGeom>
        </p:spPr>
        <p:txBody>
          <a:bodyPr/>
          <a:lstStyle/>
          <a:p>
            <a:pPr fontAlgn="base">
              <a:spcBef>
                <a:spcPct val="0"/>
              </a:spcBef>
              <a:spcAft>
                <a:spcPct val="0"/>
              </a:spcAft>
              <a:defRPr/>
            </a:pPr>
            <a:endParaRPr lang="en-US" sz="1600" dirty="0">
              <a:solidFill>
                <a:prstClr val="black">
                  <a:tint val="75000"/>
                </a:prstClr>
              </a:solidFill>
              <a:latin typeface="Tahoma" charset="0"/>
            </a:endParaRPr>
          </a:p>
        </p:txBody>
      </p:sp>
      <p:sp>
        <p:nvSpPr>
          <p:cNvPr id="19" name="Slide Number Placeholder 18"/>
          <p:cNvSpPr>
            <a:spLocks noGrp="1"/>
          </p:cNvSpPr>
          <p:nvPr>
            <p:ph type="sldNum" sz="quarter" idx="13"/>
          </p:nvPr>
        </p:nvSpPr>
        <p:spPr>
          <a:xfrm>
            <a:off x="4114800" y="6424613"/>
            <a:ext cx="2844800" cy="365125"/>
          </a:xfrm>
          <a:prstGeom prst="rect">
            <a:avLst/>
          </a:prstGeom>
        </p:spPr>
        <p:txBody>
          <a:bodyPr/>
          <a:lstStyle>
            <a:lvl1pPr>
              <a:defRPr>
                <a:solidFill>
                  <a:srgbClr val="C00000"/>
                </a:solidFill>
              </a:defRPr>
            </a:lvl1pPr>
          </a:lstStyle>
          <a:p>
            <a:pPr fontAlgn="base">
              <a:spcBef>
                <a:spcPct val="0"/>
              </a:spcBef>
              <a:spcAft>
                <a:spcPct val="0"/>
              </a:spcAft>
            </a:pPr>
            <a:fld id="{DB1C2494-8932-4549-9EEA-B787E7A0F253}" type="slidenum">
              <a:rPr lang="en-US" sz="1600" smtClean="0">
                <a:latin typeface="Tahoma" charset="0"/>
              </a:rPr>
              <a:pPr fontAlgn="base">
                <a:spcBef>
                  <a:spcPct val="0"/>
                </a:spcBef>
                <a:spcAft>
                  <a:spcPct val="0"/>
                </a:spcAft>
              </a:pPr>
              <a:t>‹#›</a:t>
            </a:fld>
            <a:endParaRPr lang="en-US" sz="1600" dirty="0">
              <a:latin typeface="Tahoma" charset="0"/>
            </a:endParaRPr>
          </a:p>
        </p:txBody>
      </p:sp>
    </p:spTree>
    <p:extLst>
      <p:ext uri="{BB962C8B-B14F-4D97-AF65-F5344CB8AC3E}">
        <p14:creationId xmlns:p14="http://schemas.microsoft.com/office/powerpoint/2010/main" val="20729457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5490905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412353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877156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685821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5342996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5293855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4155663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827523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1422148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7"/>
            <a:ext cx="109728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910395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Montserrat"/>
              <a:buNone/>
              <a:defRPr>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Montserrat"/>
              <a:buChar char="●"/>
              <a:defRPr>
                <a:latin typeface="Montserrat"/>
                <a:ea typeface="Montserrat"/>
                <a:cs typeface="Montserrat"/>
                <a:sym typeface="Montserrat"/>
              </a:defRPr>
            </a:lvl1pPr>
            <a:lvl2pPr marL="914400" lvl="1" indent="-317500">
              <a:spcBef>
                <a:spcPts val="0"/>
              </a:spcBef>
              <a:spcAft>
                <a:spcPts val="0"/>
              </a:spcAft>
              <a:buSzPts val="1400"/>
              <a:buFont typeface="Montserrat"/>
              <a:buChar char="○"/>
              <a:defRPr>
                <a:latin typeface="Montserrat"/>
                <a:ea typeface="Montserrat"/>
                <a:cs typeface="Montserrat"/>
                <a:sym typeface="Montserrat"/>
              </a:defRPr>
            </a:lvl2pPr>
            <a:lvl3pPr marL="1371600" lvl="2" indent="-317500">
              <a:spcBef>
                <a:spcPts val="0"/>
              </a:spcBef>
              <a:spcAft>
                <a:spcPts val="0"/>
              </a:spcAft>
              <a:buSzPts val="1400"/>
              <a:buFont typeface="Montserrat"/>
              <a:buChar char="■"/>
              <a:defRPr>
                <a:latin typeface="Montserrat"/>
                <a:ea typeface="Montserrat"/>
                <a:cs typeface="Montserrat"/>
                <a:sym typeface="Montserrat"/>
              </a:defRPr>
            </a:lvl3pPr>
            <a:lvl4pPr marL="1828800" lvl="3" indent="-317500">
              <a:spcBef>
                <a:spcPts val="0"/>
              </a:spcBef>
              <a:spcAft>
                <a:spcPts val="0"/>
              </a:spcAft>
              <a:buSzPts val="1400"/>
              <a:buFont typeface="Montserrat"/>
              <a:buChar char="●"/>
              <a:defRPr>
                <a:latin typeface="Montserrat"/>
                <a:ea typeface="Montserrat"/>
                <a:cs typeface="Montserrat"/>
                <a:sym typeface="Montserrat"/>
              </a:defRPr>
            </a:lvl4pPr>
            <a:lvl5pPr marL="2286000" lvl="4" indent="-317500">
              <a:spcBef>
                <a:spcPts val="0"/>
              </a:spcBef>
              <a:spcAft>
                <a:spcPts val="0"/>
              </a:spcAft>
              <a:buSzPts val="1400"/>
              <a:buFont typeface="Montserrat"/>
              <a:buChar char="○"/>
              <a:defRPr>
                <a:latin typeface="Montserrat"/>
                <a:ea typeface="Montserrat"/>
                <a:cs typeface="Montserrat"/>
                <a:sym typeface="Montserrat"/>
              </a:defRPr>
            </a:lvl5pPr>
            <a:lvl6pPr marL="2743200" lvl="5" indent="-317500">
              <a:spcBef>
                <a:spcPts val="0"/>
              </a:spcBef>
              <a:spcAft>
                <a:spcPts val="0"/>
              </a:spcAft>
              <a:buSzPts val="1400"/>
              <a:buFont typeface="Montserrat"/>
              <a:buChar char="■"/>
              <a:defRPr>
                <a:latin typeface="Montserrat"/>
                <a:ea typeface="Montserrat"/>
                <a:cs typeface="Montserrat"/>
                <a:sym typeface="Montserrat"/>
              </a:defRPr>
            </a:lvl6pPr>
            <a:lvl7pPr marL="3200400" lvl="6" indent="-317500">
              <a:spcBef>
                <a:spcPts val="0"/>
              </a:spcBef>
              <a:spcAft>
                <a:spcPts val="0"/>
              </a:spcAft>
              <a:buSzPts val="1400"/>
              <a:buFont typeface="Montserrat"/>
              <a:buChar char="●"/>
              <a:defRPr>
                <a:latin typeface="Montserrat"/>
                <a:ea typeface="Montserrat"/>
                <a:cs typeface="Montserrat"/>
                <a:sym typeface="Montserrat"/>
              </a:defRPr>
            </a:lvl7pPr>
            <a:lvl8pPr marL="3657600" lvl="7" indent="-317500">
              <a:spcBef>
                <a:spcPts val="0"/>
              </a:spcBef>
              <a:spcAft>
                <a:spcPts val="0"/>
              </a:spcAft>
              <a:buSzPts val="1400"/>
              <a:buFont typeface="Montserrat"/>
              <a:buChar char="○"/>
              <a:defRPr>
                <a:latin typeface="Montserrat"/>
                <a:ea typeface="Montserrat"/>
                <a:cs typeface="Montserrat"/>
                <a:sym typeface="Montserrat"/>
              </a:defRPr>
            </a:lvl8pPr>
            <a:lvl9pPr marL="4114800" lvl="8" indent="-317500">
              <a:spcBef>
                <a:spcPts val="0"/>
              </a:spcBef>
              <a:spcAft>
                <a:spcPts val="0"/>
              </a:spcAft>
              <a:buSzPts val="1400"/>
              <a:buFont typeface="Montserrat"/>
              <a:buChar char="■"/>
              <a:defRPr>
                <a:latin typeface="Montserrat"/>
                <a:ea typeface="Montserrat"/>
                <a:cs typeface="Montserrat"/>
                <a:sym typeface="Montserrat"/>
              </a:defRPr>
            </a:lvl9pPr>
          </a:lstStyle>
          <a:p>
            <a:endParaRPr/>
          </a:p>
        </p:txBody>
      </p:sp>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kern="0" smtClean="0">
                <a:solidFill>
                  <a:sysClr val="windowText" lastClr="000000"/>
                </a:solidFill>
              </a:rPr>
              <a:pPr algn="r"/>
              <a:t>‹#›</a:t>
            </a:fld>
            <a:endParaRPr lang="en" kern="0">
              <a:solidFill>
                <a:sysClr val="windowText" lastClr="000000"/>
              </a:solidFill>
            </a:endParaRPr>
          </a:p>
        </p:txBody>
      </p:sp>
      <p:pic>
        <p:nvPicPr>
          <p:cNvPr id="22" name="Google Shape;22;p4"/>
          <p:cNvPicPr preferRelativeResize="0"/>
          <p:nvPr/>
        </p:nvPicPr>
        <p:blipFill rotWithShape="1">
          <a:blip r:embed="rId2">
            <a:alphaModFix amt="24000"/>
          </a:blip>
          <a:srcRect b="93593"/>
          <a:stretch/>
        </p:blipFill>
        <p:spPr>
          <a:xfrm>
            <a:off x="2" y="6594465"/>
            <a:ext cx="12192004" cy="263533"/>
          </a:xfrm>
          <a:prstGeom prst="rect">
            <a:avLst/>
          </a:prstGeom>
          <a:noFill/>
          <a:ln>
            <a:noFill/>
          </a:ln>
        </p:spPr>
      </p:pic>
    </p:spTree>
    <p:extLst>
      <p:ext uri="{BB962C8B-B14F-4D97-AF65-F5344CB8AC3E}">
        <p14:creationId xmlns:p14="http://schemas.microsoft.com/office/powerpoint/2010/main" val="349809907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43428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8B1216"/>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2400" b="1" i="0">
                <a:solidFill>
                  <a:srgbClr val="6FAC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6/5/2026</a:t>
            </a:fld>
            <a:endParaRPr lang="en-US"/>
          </a:p>
        </p:txBody>
      </p:sp>
      <p:sp>
        <p:nvSpPr>
          <p:cNvPr id="6" name="Holder 6"/>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6525">
              <a:lnSpc>
                <a:spcPts val="1670"/>
              </a:lnSpc>
            </a:pPr>
            <a:fld id="{81D60167-4931-47E6-BA6A-407CBD079E47}" type="slidenum">
              <a:rPr spc="-50" dirty="0"/>
              <a:t>‹#›</a:t>
            </a:fld>
            <a:endParaRPr spc="-50" dirty="0"/>
          </a:p>
        </p:txBody>
      </p:sp>
    </p:spTree>
    <p:extLst>
      <p:ext uri="{BB962C8B-B14F-4D97-AF65-F5344CB8AC3E}">
        <p14:creationId xmlns:p14="http://schemas.microsoft.com/office/powerpoint/2010/main" val="27189167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2A950A5-7B3B-4BE7-8D4D-88D659796E0A}"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4376054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2A950A5-7B3B-4BE7-8D4D-88D659796E0A}"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10626444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A950A5-7B3B-4BE7-8D4D-88D659796E0A}"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37630213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2A950A5-7B3B-4BE7-8D4D-88D659796E0A}"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5255946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2A950A5-7B3B-4BE7-8D4D-88D659796E0A}" type="datetimeFigureOut">
              <a:rPr lang="en-IN" smtClean="0"/>
              <a:t>05-06-2026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30098925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A950A5-7B3B-4BE7-8D4D-88D659796E0A}" type="datetimeFigureOut">
              <a:rPr lang="en-IN" smtClean="0"/>
              <a:t>05-06-2026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31374063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A950A5-7B3B-4BE7-8D4D-88D659796E0A}" type="datetimeFigureOut">
              <a:rPr lang="en-IN" smtClean="0"/>
              <a:t>05-06-2026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37697792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A950A5-7B3B-4BE7-8D4D-88D659796E0A}"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5545468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A950A5-7B3B-4BE7-8D4D-88D659796E0A}" type="datetimeFigureOut">
              <a:rPr lang="en-IN" smtClean="0"/>
              <a:t>05-06-2026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71611625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2A950A5-7B3B-4BE7-8D4D-88D659796E0A}"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1196759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2A950A5-7B3B-4BE7-8D4D-88D659796E0A}" type="datetimeFigureOut">
              <a:rPr lang="en-IN" smtClean="0"/>
              <a:t>05-06-2026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10836809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0" name="TextBox 9"/>
          <p:cNvSpPr txBox="1"/>
          <p:nvPr/>
        </p:nvSpPr>
        <p:spPr>
          <a:xfrm>
            <a:off x="-101600" y="5257800"/>
            <a:ext cx="29464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203200" y="5667376"/>
            <a:ext cx="2540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7" name="TextBox 16"/>
          <p:cNvSpPr txBox="1"/>
          <p:nvPr/>
        </p:nvSpPr>
        <p:spPr>
          <a:xfrm>
            <a:off x="-101600" y="5257800"/>
            <a:ext cx="29464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8" name="TextBox 17"/>
          <p:cNvSpPr txBox="1"/>
          <p:nvPr/>
        </p:nvSpPr>
        <p:spPr>
          <a:xfrm>
            <a:off x="203200" y="5667376"/>
            <a:ext cx="2540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13714426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8234416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75248" y="6550153"/>
            <a:ext cx="3105573"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7" name="bg object 17"/>
          <p:cNvSpPr/>
          <p:nvPr/>
        </p:nvSpPr>
        <p:spPr>
          <a:xfrm>
            <a:off x="9211056" y="6550152"/>
            <a:ext cx="2981113"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kern="0">
              <a:solidFill>
                <a:sysClr val="windowText" lastClr="000000"/>
              </a:solidFill>
            </a:endParaRPr>
          </a:p>
        </p:txBody>
      </p:sp>
      <p:sp>
        <p:nvSpPr>
          <p:cNvPr id="18" name="bg object 18"/>
          <p:cNvSpPr/>
          <p:nvPr/>
        </p:nvSpPr>
        <p:spPr>
          <a:xfrm>
            <a:off x="2779776" y="6550153"/>
            <a:ext cx="3440853"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0" name="bg object 20"/>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1" name="bg object 21"/>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2" name="bg object 22"/>
          <p:cNvPicPr/>
          <p:nvPr/>
        </p:nvPicPr>
        <p:blipFill>
          <a:blip r:embed="rId44" cstate="print"/>
          <a:stretch>
            <a:fillRect/>
          </a:stretch>
        </p:blipFill>
        <p:spPr>
          <a:xfrm>
            <a:off x="8839201" y="0"/>
            <a:ext cx="2926079" cy="691896"/>
          </a:xfrm>
          <a:prstGeom prst="rect">
            <a:avLst/>
          </a:prstGeom>
        </p:spPr>
      </p:pic>
      <p:sp>
        <p:nvSpPr>
          <p:cNvPr id="23" name="bg object 23"/>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4" name="bg object 24"/>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5" name="bg object 25"/>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8" name="Title Placeholder 7"/>
          <p:cNvSpPr>
            <a:spLocks noGrp="1"/>
          </p:cNvSpPr>
          <p:nvPr>
            <p:ph type="title"/>
          </p:nvPr>
        </p:nvSpPr>
        <p:spPr>
          <a:xfrm>
            <a:off x="231987" y="32163"/>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406400" y="167640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296707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2" r:id="rId41"/>
    <p:sldLayoutId id="2147483703" r:id="rId42"/>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950A5-7B3B-4BE7-8D4D-88D659796E0A}" type="datetimeFigureOut">
              <a:rPr lang="en-IN" smtClean="0"/>
              <a:t>05-06-2026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D06422-840E-4190-8E3D-3A16335A340D}" type="slidenum">
              <a:rPr lang="en-IN" smtClean="0"/>
              <a:t>‹#›</a:t>
            </a:fld>
            <a:endParaRPr lang="en-IN"/>
          </a:p>
        </p:txBody>
      </p:sp>
    </p:spTree>
    <p:extLst>
      <p:ext uri="{BB962C8B-B14F-4D97-AF65-F5344CB8AC3E}">
        <p14:creationId xmlns:p14="http://schemas.microsoft.com/office/powerpoint/2010/main" val="3012356362"/>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3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4.xml.rels><?xml version="1.0" encoding="UTF-8" standalone="yes"?>
<Relationships xmlns="http://schemas.openxmlformats.org/package/2006/relationships"><Relationship Id="rId8" Type="http://schemas.openxmlformats.org/officeDocument/2006/relationships/hyperlink" Target="https://arxiv.org/abs/1606.07947" TargetMode="External"/><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jpg"/><Relationship Id="rId1" Type="http://schemas.openxmlformats.org/officeDocument/2006/relationships/slideLayout" Target="../slideLayouts/slideLayout4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jpg"/></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magazine.sebastianraschka.com/p/recent-developments-in-llm-architectures" TargetMode="External"/><Relationship Id="rId7" Type="http://schemas.openxmlformats.org/officeDocument/2006/relationships/hyperlink" Target="https://huggingface.co/blog/merve/quantization" TargetMode="External"/><Relationship Id="rId2" Type="http://schemas.openxmlformats.org/officeDocument/2006/relationships/hyperlink" Target="https://magazine.sebastianraschka.com/p/visual-attention-variants" TargetMode="External"/><Relationship Id="rId1" Type="http://schemas.openxmlformats.org/officeDocument/2006/relationships/slideLayout" Target="../slideLayouts/slideLayout2.xml"/><Relationship Id="rId6" Type="http://schemas.openxmlformats.org/officeDocument/2006/relationships/hyperlink" Target="https://huggingface.co/docs/transformers/en/quantization/overview" TargetMode="External"/><Relationship Id="rId5" Type="http://schemas.openxmlformats.org/officeDocument/2006/relationships/hyperlink" Target="https://docs.nvidia.com/nim/benchmarking/llm/latest/metrics.html" TargetMode="External"/><Relationship Id="rId4" Type="http://schemas.openxmlformats.org/officeDocument/2006/relationships/hyperlink" Target="https://magazine.sebastianraschka.com/p/beyond-standard-llms"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38650" y="3714750"/>
            <a:ext cx="4629150" cy="1143000"/>
          </a:xfrm>
        </p:spPr>
        <p:txBody>
          <a:bodyPr/>
          <a:lstStyle/>
          <a:p>
            <a:pPr>
              <a:defRPr/>
            </a:pP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Large Language Models for Generative AI</a:t>
            </a:r>
          </a:p>
        </p:txBody>
      </p:sp>
      <p:sp>
        <p:nvSpPr>
          <p:cNvPr id="14339" name="Content Placeholder 5"/>
          <p:cNvSpPr>
            <a:spLocks noGrp="1"/>
          </p:cNvSpPr>
          <p:nvPr>
            <p:ph sz="quarter" idx="13"/>
          </p:nvPr>
        </p:nvSpPr>
        <p:spPr/>
        <p:txBody>
          <a:bodyPr/>
          <a:lstStyle/>
          <a:p>
            <a:pPr eaLnBrk="1" hangingPunct="1">
              <a:spcBef>
                <a:spcPct val="0"/>
              </a:spcBef>
            </a:pPr>
            <a:r>
              <a:rPr lang="en-US" sz="1500" i="1" dirty="0">
                <a:latin typeface="Times New Roman" pitchFamily="18" charset="0"/>
                <a:cs typeface="Times New Roman" pitchFamily="18" charset="0"/>
              </a:rPr>
              <a:t>Dr. </a:t>
            </a:r>
            <a:r>
              <a:rPr lang="en-US" sz="1500" i="1" dirty="0" err="1">
                <a:latin typeface="Times New Roman" pitchFamily="18" charset="0"/>
                <a:cs typeface="Times New Roman" pitchFamily="18" charset="0"/>
              </a:rPr>
              <a:t>Monali</a:t>
            </a:r>
            <a:r>
              <a:rPr lang="en-US" sz="1500" i="1" dirty="0">
                <a:latin typeface="Times New Roman" pitchFamily="18" charset="0"/>
                <a:cs typeface="Times New Roman" pitchFamily="18" charset="0"/>
              </a:rPr>
              <a:t> </a:t>
            </a:r>
            <a:r>
              <a:rPr lang="en-US" sz="1500" i="1" dirty="0" err="1">
                <a:latin typeface="Times New Roman" pitchFamily="18" charset="0"/>
                <a:cs typeface="Times New Roman" pitchFamily="18" charset="0"/>
              </a:rPr>
              <a:t>Mavani</a:t>
            </a:r>
            <a:endParaRPr lang="en-US" sz="1500" i="1" dirty="0">
              <a:latin typeface="Times New Roman" pitchFamily="18" charset="0"/>
              <a:cs typeface="Times New Roman" pitchFamily="18" charset="0"/>
            </a:endParaRPr>
          </a:p>
        </p:txBody>
      </p:sp>
    </p:spTree>
    <p:extLst>
      <p:ext uri="{BB962C8B-B14F-4D97-AF65-F5344CB8AC3E}">
        <p14:creationId xmlns:p14="http://schemas.microsoft.com/office/powerpoint/2010/main" val="1340892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438400" y="457327"/>
            <a:ext cx="7315200" cy="480131"/>
          </a:xfrm>
          <a:prstGeom prst="rect">
            <a:avLst/>
          </a:prstGeom>
          <a:noFill/>
          <a:ln w="9525">
            <a:noFill/>
            <a:miter lim="800000"/>
            <a:headEnd/>
            <a:tailEnd/>
          </a:ln>
          <a:effectLst/>
        </p:spPr>
        <p:txBody>
          <a:bodyPr wrap="square">
            <a:spAutoFit/>
          </a:bodyPr>
          <a:lstStyle/>
          <a:p>
            <a:r>
              <a:rPr lang="en-US" sz="2800" dirty="0">
                <a:latin typeface="Times New Roman" panose="02020603050405020304" pitchFamily="18" charset="0"/>
                <a:cs typeface="Times New Roman" panose="02020603050405020304" pitchFamily="18" charset="0"/>
              </a:rPr>
              <a:t>Large Language Models for Generative AI</a:t>
            </a:r>
            <a:endParaRPr sz="2700" dirty="0">
              <a:latin typeface="Cambria" panose="02040503050406030204" pitchFamily="18" charset="0"/>
              <a:ea typeface="Cambria" panose="02040503050406030204" pitchFamily="18" charset="0"/>
              <a:cs typeface="+mn-cs"/>
            </a:endParaRPr>
          </a:p>
        </p:txBody>
      </p:sp>
      <p:sp>
        <p:nvSpPr>
          <p:cNvPr id="3" name="object 3"/>
          <p:cNvSpPr txBox="1"/>
          <p:nvPr/>
        </p:nvSpPr>
        <p:spPr>
          <a:xfrm>
            <a:off x="2758786" y="4133141"/>
            <a:ext cx="6777644" cy="848137"/>
          </a:xfrm>
          <a:prstGeom prst="rect">
            <a:avLst/>
          </a:prstGeom>
        </p:spPr>
        <p:txBody>
          <a:bodyPr vert="horz" wrap="square" lIns="0" tIns="24595" rIns="0" bIns="0" rtlCol="0">
            <a:spAutoFit/>
          </a:bodyPr>
          <a:lstStyle/>
          <a:p>
            <a:pPr marL="99961" marR="29325" lvl="0" indent="-93969" algn="l" defTabSz="914400" rtl="0" eaLnBrk="1" fontAlgn="base" latinLnBrk="0" hangingPunct="1">
              <a:lnSpc>
                <a:spcPts val="1153"/>
              </a:lnSpc>
              <a:spcBef>
                <a:spcPts val="194"/>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content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for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these slides has been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obtained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from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books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various other </a:t>
            </a:r>
            <a:r>
              <a:rPr kumimoji="0" sz="1200" b="0" i="0" u="none" strike="noStrike" kern="1200" cap="none" spc="-236"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source</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on the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Internet</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58"/>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here</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by</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acknowledge</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all</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contributors</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for</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their</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material</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inputs.</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81"/>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have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provided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source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information</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wherever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necessary</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81"/>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have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added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modified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content to</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suit 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requirements</a:t>
            </a:r>
            <a:r>
              <a:rPr kumimoji="0" sz="1200" b="0" i="0" u="none" strike="noStrike" kern="1200" cap="none" spc="-1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of 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course</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p:txBody>
      </p:sp>
      <p:sp>
        <p:nvSpPr>
          <p:cNvPr id="4" name="object 4"/>
          <p:cNvSpPr txBox="1"/>
          <p:nvPr/>
        </p:nvSpPr>
        <p:spPr>
          <a:xfrm>
            <a:off x="4467389" y="2171701"/>
            <a:ext cx="4274196" cy="233216"/>
          </a:xfrm>
          <a:prstGeom prst="rect">
            <a:avLst/>
          </a:prstGeom>
        </p:spPr>
        <p:txBody>
          <a:bodyPr vert="horz" wrap="square" lIns="0" tIns="7568" rIns="0" bIns="0" rtlCol="0">
            <a:spAutoFit/>
          </a:bodyPr>
          <a:lstStyle/>
          <a:p>
            <a:pPr marL="6306" marR="0" lvl="0" indent="0" algn="l" defTabSz="914400" rtl="0" eaLnBrk="1" fontAlgn="base" latinLnBrk="0" hangingPunct="1">
              <a:lnSpc>
                <a:spcPct val="100000"/>
              </a:lnSpc>
              <a:spcBef>
                <a:spcPts val="59"/>
              </a:spcBef>
              <a:spcAft>
                <a:spcPct val="0"/>
              </a:spcAft>
              <a:buClrTx/>
              <a:buSzTx/>
              <a:buFontTx/>
              <a:buNone/>
              <a:tabLst/>
              <a:defRPr/>
            </a:pPr>
            <a:r>
              <a:rPr kumimoji="0" sz="1466" b="0" i="0" u="none" strike="noStrike" kern="1200" cap="none" spc="-8"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Disclaimer</a:t>
            </a:r>
            <a:r>
              <a:rPr kumimoji="0" sz="1466" b="0" i="0" u="none" strike="noStrike" kern="1200" cap="none" spc="-3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 </a:t>
            </a:r>
            <a:r>
              <a:rPr kumimoji="0" sz="1466" b="0" i="0" u="none" strike="noStrike" kern="1200" cap="none" spc="-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and</a:t>
            </a:r>
            <a:r>
              <a:rPr kumimoji="0" sz="1466" b="0" i="0" u="none" strike="noStrike" kern="1200" cap="none" spc="-3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 </a:t>
            </a:r>
            <a:r>
              <a:rPr kumimoji="0" sz="1466" b="0" i="0" u="none" strike="noStrike" kern="1200" cap="none" spc="-12"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Acknowledgement</a:t>
            </a:r>
            <a:endParaRPr kumimoji="0" sz="1466"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Light"/>
            </a:endParaRPr>
          </a:p>
        </p:txBody>
      </p:sp>
      <p:pic>
        <p:nvPicPr>
          <p:cNvPr id="5" name="object 5"/>
          <p:cNvPicPr/>
          <p:nvPr/>
        </p:nvPicPr>
        <p:blipFill>
          <a:blip r:embed="rId2" cstate="print"/>
          <a:stretch>
            <a:fillRect/>
          </a:stretch>
        </p:blipFill>
        <p:spPr>
          <a:xfrm>
            <a:off x="5280598" y="2823275"/>
            <a:ext cx="815403" cy="891476"/>
          </a:xfrm>
          <a:prstGeom prst="rect">
            <a:avLst/>
          </a:prstGeom>
        </p:spPr>
      </p:pic>
      <p:sp>
        <p:nvSpPr>
          <p:cNvPr id="6" name="TextBox 5">
            <a:extLst>
              <a:ext uri="{FF2B5EF4-FFF2-40B4-BE49-F238E27FC236}">
                <a16:creationId xmlns:a16="http://schemas.microsoft.com/office/drawing/2014/main" id="{87DEC9A9-8DE7-876C-06A3-4FD2650C207B}"/>
              </a:ext>
            </a:extLst>
          </p:cNvPr>
          <p:cNvSpPr txBox="1"/>
          <p:nvPr/>
        </p:nvSpPr>
        <p:spPr>
          <a:xfrm>
            <a:off x="953884" y="5926373"/>
            <a:ext cx="1070269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7251E"/>
                </a:solidFill>
                <a:effectLst/>
                <a:uLnTx/>
                <a:uFillTx/>
                <a:latin typeface="pplxSerif"/>
                <a:ea typeface="+mn-ea"/>
                <a:cs typeface="+mn-cs"/>
              </a:rPr>
              <a:t>Many slides are adopted from course notes of </a:t>
            </a:r>
            <a:r>
              <a:rPr kumimoji="0" lang="en-US" sz="1800" b="0" i="0" u="none" strike="noStrike" kern="1200" cap="none" spc="0" normalizeH="0" baseline="0" noProof="0" dirty="0">
                <a:ln>
                  <a:noFill/>
                </a:ln>
                <a:solidFill>
                  <a:srgbClr val="27251E"/>
                </a:solidFill>
                <a:effectLst/>
                <a:uLnTx/>
                <a:uFillTx/>
                <a:latin typeface="pplxSerif"/>
                <a:ea typeface="+mn-ea"/>
                <a:cs typeface="+mn-cs"/>
              </a:rPr>
              <a:t>Zhou, S. (2026). </a:t>
            </a:r>
            <a:r>
              <a:rPr kumimoji="0" lang="en-US" sz="1800" b="0" i="1" u="none" strike="noStrike" kern="1200" cap="none" spc="0" normalizeH="0" baseline="0" noProof="0" dirty="0">
                <a:ln>
                  <a:noFill/>
                </a:ln>
                <a:solidFill>
                  <a:srgbClr val="27251E"/>
                </a:solidFill>
                <a:effectLst/>
                <a:uLnTx/>
                <a:uFillTx/>
                <a:latin typeface="pplxSerif"/>
                <a:ea typeface="+mn-ea"/>
                <a:cs typeface="+mn-cs"/>
              </a:rPr>
              <a:t>Transformers in Practice</a:t>
            </a:r>
            <a:r>
              <a:rPr kumimoji="0" lang="en-US" sz="1800" b="0" i="0" u="none" strike="noStrike" kern="1200" cap="none" spc="0" normalizeH="0" baseline="0" noProof="0" dirty="0">
                <a:ln>
                  <a:noFill/>
                </a:ln>
                <a:solidFill>
                  <a:srgbClr val="27251E"/>
                </a:solidFill>
                <a:effectLst/>
                <a:uLnTx/>
                <a:uFillTx/>
                <a:latin typeface="pplxSerif"/>
                <a:ea typeface="+mn-ea"/>
                <a:cs typeface="+mn-cs"/>
              </a:rPr>
              <a:t>. DeepLearning.AI</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8893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7312E32-DC7D-1843-3C62-3E36B2CF95BD}"/>
              </a:ext>
            </a:extLst>
          </p:cNvPr>
          <p:cNvSpPr>
            <a:spLocks noGrp="1"/>
          </p:cNvSpPr>
          <p:nvPr>
            <p:ph idx="10"/>
          </p:nvPr>
        </p:nvSpPr>
        <p:spPr/>
        <p:txBody>
          <a:bodyPr/>
          <a:lstStyle/>
          <a:p>
            <a:pPr marL="342900" indent="-342900">
              <a:buFont typeface="Arial" panose="020B0604020202020204" pitchFamily="34" charset="0"/>
              <a:buChar char="•"/>
            </a:pPr>
            <a:r>
              <a:rPr lang="en-IN" dirty="0"/>
              <a:t>Efficiency in LLM Architectures: </a:t>
            </a:r>
            <a:r>
              <a:rPr lang="en-IN" dirty="0" err="1"/>
              <a:t>FlashAttention</a:t>
            </a:r>
            <a:r>
              <a:rPr lang="en-IN" dirty="0"/>
              <a:t>, GQA, MQA, MLA</a:t>
            </a:r>
          </a:p>
          <a:p>
            <a:pPr marL="342900" indent="-342900">
              <a:buFont typeface="Arial" panose="020B0604020202020204" pitchFamily="34" charset="0"/>
              <a:buChar char="•"/>
            </a:pPr>
            <a:r>
              <a:rPr lang="en-IN" dirty="0"/>
              <a:t>Model Compression Techniques</a:t>
            </a:r>
          </a:p>
          <a:p>
            <a:pPr marL="800100" lvl="1" indent="-342900">
              <a:buFont typeface="Arial" panose="020B0604020202020204" pitchFamily="34" charset="0"/>
              <a:buChar char="•"/>
            </a:pPr>
            <a:r>
              <a:rPr lang="en-IN" dirty="0"/>
              <a:t>Quantization</a:t>
            </a:r>
          </a:p>
          <a:p>
            <a:pPr marL="800100" lvl="1" indent="-342900">
              <a:buFont typeface="Arial" panose="020B0604020202020204" pitchFamily="34" charset="0"/>
              <a:buChar char="•"/>
            </a:pPr>
            <a:r>
              <a:rPr lang="en-IN" dirty="0"/>
              <a:t>Distillation</a:t>
            </a:r>
          </a:p>
          <a:p>
            <a:pPr marL="800100" lvl="1" indent="-342900">
              <a:buFont typeface="Arial" panose="020B0604020202020204" pitchFamily="34" charset="0"/>
              <a:buChar char="•"/>
            </a:pPr>
            <a:r>
              <a:rPr lang="en-IN" dirty="0"/>
              <a:t>Pruning</a:t>
            </a:r>
          </a:p>
          <a:p>
            <a:pPr marL="342900" indent="-342900">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396B8925-945C-A3A5-5E95-6C1EC52D2686}"/>
              </a:ext>
            </a:extLst>
          </p:cNvPr>
          <p:cNvSpPr>
            <a:spLocks noGrp="1"/>
          </p:cNvSpPr>
          <p:nvPr>
            <p:ph type="title"/>
          </p:nvPr>
        </p:nvSpPr>
        <p:spPr/>
        <p:txBody>
          <a:bodyPr/>
          <a:lstStyle/>
          <a:p>
            <a:r>
              <a:rPr lang="en-US" dirty="0"/>
              <a:t>Agenda</a:t>
            </a:r>
            <a:endParaRPr lang="en-IN" dirty="0"/>
          </a:p>
        </p:txBody>
      </p:sp>
    </p:spTree>
    <p:extLst>
      <p:ext uri="{BB962C8B-B14F-4D97-AF65-F5344CB8AC3E}">
        <p14:creationId xmlns:p14="http://schemas.microsoft.com/office/powerpoint/2010/main" val="2063863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Quadratic attention in transformers</a:t>
            </a:r>
          </a:p>
        </p:txBody>
      </p:sp>
      <p:pic>
        <p:nvPicPr>
          <p:cNvPr id="1028" name="Picture 4" descr="https://substackcdn.com/image/fetch/$s_!-uKS!,w_1456,c_limit,f_auto,q_auto:good,fl_progressive:steep/https%3A%2F%2Fsubstack-post-media.s3.amazonaws.com%2Fpublic%2Fimages%2Fb66f1965-fc44-4a61-b9c6-912c8120ecad_2420x580.png"/>
          <p:cNvPicPr>
            <a:picLocks noGrp="1" noChangeAspect="1" noChangeArrowheads="1"/>
          </p:cNvPicPr>
          <p:nvPr>
            <p:ph idx="10"/>
          </p:nvPr>
        </p:nvPicPr>
        <p:blipFill>
          <a:blip r:embed="rId3">
            <a:extLst>
              <a:ext uri="{28A0092B-C50C-407E-A947-70E740481C1C}">
                <a14:useLocalDpi xmlns:a14="http://schemas.microsoft.com/office/drawing/2010/main" val="0"/>
              </a:ext>
            </a:extLst>
          </a:blip>
          <a:srcRect/>
          <a:stretch>
            <a:fillRect/>
          </a:stretch>
        </p:blipFill>
        <p:spPr bwMode="auto">
          <a:xfrm>
            <a:off x="183552" y="1494877"/>
            <a:ext cx="7357439" cy="176356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Rectangle 3"/>
              <p:cNvSpPr/>
              <p:nvPr/>
            </p:nvSpPr>
            <p:spPr>
              <a:xfrm>
                <a:off x="85618" y="3679342"/>
                <a:ext cx="12020764" cy="2594172"/>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Generating tokens for a sequence of length </a:t>
                </a:r>
                <a:r>
                  <a:rPr kumimoji="0" lang="en-US" sz="2000" b="0" i="1"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L </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needs roughly </a:t>
                </a:r>
                <a:r>
                  <a:rPr kumimoji="0" lang="en-US" sz="2000" b="0" i="1"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L² </a:t>
                </a: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computations which can be costly if the sequence length increases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In training, quadratic attention hurts </a:t>
                </a:r>
                <a:r>
                  <a:rPr kumimoji="0" lang="en-IN" sz="20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compute</a:t>
                </a:r>
                <a:r>
                  <a:rPr kumimoji="0" lang="en-IN"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 because each layer performs </a:t>
                </a:r>
                <a14:m>
                  <m:oMath xmlns:m="http://schemas.openxmlformats.org/officeDocument/2006/math">
                    <m:r>
                      <a:rPr kumimoji="0" lang="en-IN" sz="20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𝑂</m:t>
                    </m:r>
                    <m:d>
                      <m:dPr>
                        <m:ctrlP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sSup>
                          <m:sSupPr>
                            <m:ctrlPr>
                              <a:rPr kumimoji="0" lang="ar-AE" sz="2000" b="0" i="1" u="none" strike="noStrike" kern="1200" cap="none" spc="0" normalizeH="0" baseline="0" noProof="0">
                                <a:ln>
                                  <a:noFill/>
                                </a:ln>
                                <a:solidFill>
                                  <a:prstClr val="black"/>
                                </a:solidFill>
                                <a:effectLst/>
                                <a:uLnTx/>
                                <a:uFillTx/>
                                <a:latin typeface="Cambria Math" panose="02040503050406030204" pitchFamily="18" charset="0"/>
                                <a:ea typeface="+mn-ea"/>
                              </a:rPr>
                            </m:ctrlPr>
                          </m:sSupPr>
                          <m:e>
                            <m:r>
                              <a:rPr kumimoji="0" lang="en-US"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𝐿</m:t>
                            </m:r>
                          </m:e>
                          <m:sup>
                            <m:r>
                              <a:rPr kumimoji="0" lang="ar-AE" sz="2000" b="0" i="0" u="none" strike="noStrike" kern="1200" cap="none" spc="0" normalizeH="0" baseline="0" noProof="0">
                                <a:ln>
                                  <a:noFill/>
                                </a:ln>
                                <a:solidFill>
                                  <a:prstClr val="black"/>
                                </a:solidFill>
                                <a:effectLst/>
                                <a:uLnTx/>
                                <a:uFillTx/>
                                <a:latin typeface="Cambria Math" panose="02040503050406030204" pitchFamily="18" charset="0"/>
                                <a:ea typeface="+mn-ea"/>
                              </a:rPr>
                              <m:t>2</m:t>
                            </m:r>
                          </m:sup>
                        </m:sSup>
                      </m:e>
                    </m:d>
                  </m:oMath>
                </a14:m>
                <a:r>
                  <a:rPr kumimoji="0" lang="ar-AE"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panose="020B0604020202020204" pitchFamily="34" charset="0"/>
                  </a:rPr>
                  <a:t> </a:t>
                </a:r>
                <a:r>
                  <a:rPr kumimoji="0" lang="en-IN"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token interactions, and it hurts </a:t>
                </a:r>
                <a:r>
                  <a:rPr kumimoji="0" lang="en-IN" sz="20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memory</a:t>
                </a:r>
                <a:r>
                  <a:rPr kumimoji="0" lang="en-IN"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 because backward pass needs forward activations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In inference, quadratic attention makes long prompt processing expensive, and even with KV cache, next-token generation slows as the context grows because each token must attend over more past tokens.</a:t>
                </a:r>
                <a:endParaRPr kumimoji="0" lang="en-IN" sz="20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p:txBody>
          </p:sp>
        </mc:Choice>
        <mc:Fallback xmlns="">
          <p:sp>
            <p:nvSpPr>
              <p:cNvPr id="4" name="Rectangle 3"/>
              <p:cNvSpPr>
                <a:spLocks noRot="1" noChangeAspect="1" noMove="1" noResize="1" noEditPoints="1" noAdjustHandles="1" noChangeArrowheads="1" noChangeShapeType="1" noTextEdit="1"/>
              </p:cNvSpPr>
              <p:nvPr/>
            </p:nvSpPr>
            <p:spPr>
              <a:xfrm>
                <a:off x="85618" y="3679342"/>
                <a:ext cx="12020764" cy="2594172"/>
              </a:xfrm>
              <a:prstGeom prst="rect">
                <a:avLst/>
              </a:prstGeom>
              <a:blipFill>
                <a:blip r:embed="rId4"/>
                <a:stretch>
                  <a:fillRect l="-456" t="-1412" b="-3294"/>
                </a:stretch>
              </a:blipFill>
            </p:spPr>
            <p:txBody>
              <a:bodyPr/>
              <a:lstStyle/>
              <a:p>
                <a:r>
                  <a:rPr lang="en-IN">
                    <a:noFill/>
                  </a:rPr>
                  <a:t> </a:t>
                </a:r>
              </a:p>
            </p:txBody>
          </p:sp>
        </mc:Fallback>
      </mc:AlternateContent>
      <p:sp>
        <p:nvSpPr>
          <p:cNvPr id="7" name="Rectangle 6"/>
          <p:cNvSpPr/>
          <p:nvPr/>
        </p:nvSpPr>
        <p:spPr>
          <a:xfrm>
            <a:off x="0" y="6589884"/>
            <a:ext cx="6096000" cy="246221"/>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prstClr val="black"/>
                </a:solidFill>
                <a:effectLst/>
                <a:uLnTx/>
                <a:uFillTx/>
                <a:latin typeface="Calibri"/>
                <a:ea typeface="+mn-ea"/>
                <a:cs typeface="+mn-cs"/>
              </a:rPr>
              <a:t>https://newsletter.maartengrootendorst.com/p/a-visual-guide-to-mamba-and-state</a:t>
            </a:r>
          </a:p>
        </p:txBody>
      </p:sp>
      <p:pic>
        <p:nvPicPr>
          <p:cNvPr id="8" name="Picture 7">
            <a:extLst>
              <a:ext uri="{FF2B5EF4-FFF2-40B4-BE49-F238E27FC236}">
                <a16:creationId xmlns:a16="http://schemas.microsoft.com/office/drawing/2014/main" id="{A074DCAF-7915-D823-9264-232CA26404AB}"/>
              </a:ext>
            </a:extLst>
          </p:cNvPr>
          <p:cNvPicPr>
            <a:picLocks noChangeAspect="1"/>
          </p:cNvPicPr>
          <p:nvPr/>
        </p:nvPicPr>
        <p:blipFill>
          <a:blip r:embed="rId5"/>
          <a:stretch>
            <a:fillRect/>
          </a:stretch>
        </p:blipFill>
        <p:spPr>
          <a:xfrm>
            <a:off x="8723543" y="1155938"/>
            <a:ext cx="2661771" cy="2154768"/>
          </a:xfrm>
          <a:prstGeom prst="rect">
            <a:avLst/>
          </a:prstGeom>
        </p:spPr>
      </p:pic>
    </p:spTree>
    <p:extLst>
      <p:ext uri="{BB962C8B-B14F-4D97-AF65-F5344CB8AC3E}">
        <p14:creationId xmlns:p14="http://schemas.microsoft.com/office/powerpoint/2010/main" val="507538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57316" y="1530476"/>
            <a:ext cx="12034683" cy="4525963"/>
          </a:xfrm>
        </p:spPr>
        <p:txBody>
          <a:bodyPr>
            <a:normAutofit/>
          </a:bodyPr>
          <a:lstStyle/>
          <a:p>
            <a:pPr marL="342900" indent="-342900">
              <a:buFont typeface="Arial" panose="020B0604020202020204" pitchFamily="34" charset="0"/>
              <a:buChar char="•"/>
            </a:pPr>
            <a:r>
              <a:rPr lang="en-US" b="1" dirty="0"/>
              <a:t>Pros</a:t>
            </a:r>
            <a:endParaRPr lang="en-US" dirty="0"/>
          </a:p>
          <a:p>
            <a:pPr marL="800100" lvl="1" indent="-342900">
              <a:buFont typeface="Arial" panose="020B0604020202020204" pitchFamily="34" charset="0"/>
              <a:buChar char="•"/>
            </a:pPr>
            <a:r>
              <a:rPr lang="en-US" dirty="0"/>
              <a:t>Perfect global context — every token attends to every other</a:t>
            </a:r>
          </a:p>
          <a:p>
            <a:pPr marL="800100" lvl="1" indent="-342900">
              <a:buFont typeface="Arial" panose="020B0604020202020204" pitchFamily="34" charset="0"/>
              <a:buChar char="•"/>
            </a:pPr>
            <a:r>
              <a:rPr lang="en-US" dirty="0"/>
              <a:t>Perfect associative recall — retrieves any specific fact exactly</a:t>
            </a:r>
          </a:p>
          <a:p>
            <a:pPr marL="800100" lvl="1" indent="-342900">
              <a:buFont typeface="Arial" panose="020B0604020202020204" pitchFamily="34" charset="0"/>
              <a:buChar char="•"/>
            </a:pPr>
            <a:r>
              <a:rPr lang="en-US" dirty="0"/>
              <a:t>Fully parallelizable during training</a:t>
            </a:r>
          </a:p>
          <a:p>
            <a:pPr marL="800100" lvl="1" indent="-342900">
              <a:buFont typeface="Arial" panose="020B0604020202020204" pitchFamily="34" charset="0"/>
              <a:buChar char="•"/>
            </a:pPr>
            <a:r>
              <a:rPr lang="en-US" dirty="0"/>
              <a:t>Maximum quality ceiling — all other variants are measured against this</a:t>
            </a:r>
          </a:p>
          <a:p>
            <a:pPr marL="342900" indent="-342900">
              <a:buFont typeface="Arial" panose="020B0604020202020204" pitchFamily="34" charset="0"/>
              <a:buChar char="•"/>
            </a:pPr>
            <a:r>
              <a:rPr lang="en-US" b="1" dirty="0"/>
              <a:t>Cons</a:t>
            </a:r>
            <a:endParaRPr lang="en-US" dirty="0"/>
          </a:p>
          <a:p>
            <a:pPr marL="800100" lvl="1" indent="-342900">
              <a:buFont typeface="Arial" panose="020B0604020202020204" pitchFamily="34" charset="0"/>
              <a:buChar char="•"/>
            </a:pPr>
            <a:r>
              <a:rPr lang="en-US" dirty="0"/>
              <a:t>O(S²) time and memory — quadratic scaling wall</a:t>
            </a:r>
          </a:p>
          <a:p>
            <a:pPr marL="800100" lvl="1" indent="-342900">
              <a:buFont typeface="Arial" panose="020B0604020202020204" pitchFamily="34" charset="0"/>
              <a:buChar char="•"/>
            </a:pPr>
            <a:r>
              <a:rPr lang="en-US" dirty="0"/>
              <a:t>KV cache grows linearly with conversation length at inference</a:t>
            </a:r>
          </a:p>
          <a:p>
            <a:pPr marL="800100" lvl="1" indent="-342900">
              <a:buFont typeface="Arial" panose="020B0604020202020204" pitchFamily="34" charset="0"/>
              <a:buChar char="•"/>
            </a:pPr>
            <a:r>
              <a:rPr lang="en-US" dirty="0"/>
              <a:t>Unusable beyond ~4–8K tokens without hardware tricks</a:t>
            </a:r>
          </a:p>
          <a:p>
            <a:pPr marL="800100" lvl="1" indent="-342900">
              <a:buFont typeface="Arial" panose="020B0604020202020204" pitchFamily="34" charset="0"/>
              <a:buChar char="•"/>
            </a:pPr>
            <a:r>
              <a:rPr lang="en-US" dirty="0"/>
              <a:t>Memory-bound at inference — GPU waits on HBM, not compute</a:t>
            </a:r>
          </a:p>
          <a:p>
            <a:pPr marL="342900" indent="-342900">
              <a:buFont typeface="Arial" panose="020B0604020202020204" pitchFamily="34" charset="0"/>
              <a:buChar char="•"/>
            </a:pPr>
            <a:endParaRPr lang="en-IN" dirty="0"/>
          </a:p>
        </p:txBody>
      </p:sp>
      <p:sp>
        <p:nvSpPr>
          <p:cNvPr id="3" name="Title 2"/>
          <p:cNvSpPr>
            <a:spLocks noGrp="1"/>
          </p:cNvSpPr>
          <p:nvPr>
            <p:ph type="title"/>
          </p:nvPr>
        </p:nvSpPr>
        <p:spPr/>
        <p:txBody>
          <a:bodyPr/>
          <a:lstStyle/>
          <a:p>
            <a:r>
              <a:rPr lang="en-US" dirty="0"/>
              <a:t>Standard </a:t>
            </a:r>
            <a:r>
              <a:rPr lang="en-US" dirty="0" err="1"/>
              <a:t>Softmax</a:t>
            </a:r>
            <a:r>
              <a:rPr lang="en-US" dirty="0"/>
              <a:t> Attention</a:t>
            </a:r>
            <a:endParaRPr lang="en-IN" dirty="0"/>
          </a:p>
        </p:txBody>
      </p:sp>
    </p:spTree>
    <p:extLst>
      <p:ext uri="{BB962C8B-B14F-4D97-AF65-F5344CB8AC3E}">
        <p14:creationId xmlns:p14="http://schemas.microsoft.com/office/powerpoint/2010/main" val="948874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lIns="0" tIns="0" rIns="0" bIns="0" rtlCol="0" anchor="ctr"/>
          <a:lstStyle/>
          <a:p>
            <a:pPr marL="0" indent="0" algn="l">
              <a:buNone/>
            </a:pPr>
            <a:r>
              <a:rPr lang="en-US" sz="3600" b="1" dirty="0">
                <a:solidFill>
                  <a:srgbClr val="23211C"/>
                </a:solidFill>
                <a:latin typeface="Trebuchet MS" pitchFamily="34" charset="0"/>
                <a:ea typeface="Trebuchet MS" pitchFamily="34" charset="-122"/>
                <a:cs typeface="Trebuchet MS" pitchFamily="34" charset="-120"/>
              </a:rPr>
              <a:t>Which method attacks which cost</a:t>
            </a:r>
            <a:endParaRPr lang="en-US" sz="36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marL="0" indent="0" algn="l">
              <a:buNone/>
            </a:pPr>
            <a:r>
              <a:rPr lang="en-US" sz="1600" dirty="0">
                <a:solidFill>
                  <a:srgbClr val="6B6A63"/>
                </a:solidFill>
                <a:latin typeface="Calibri" pitchFamily="34" charset="0"/>
                <a:ea typeface="Calibri" pitchFamily="34" charset="-122"/>
                <a:cs typeface="Calibri" pitchFamily="34" charset="-120"/>
              </a:rPr>
              <a:t>Filled tags = phases where the method helps</a:t>
            </a:r>
            <a:endParaRPr lang="en-US" sz="1600" dirty="0"/>
          </a:p>
        </p:txBody>
      </p:sp>
      <p:sp>
        <p:nvSpPr>
          <p:cNvPr id="4" name="Shape 2"/>
          <p:cNvSpPr/>
          <p:nvPr/>
        </p:nvSpPr>
        <p:spPr>
          <a:xfrm>
            <a:off x="548640" y="1417320"/>
            <a:ext cx="5303520" cy="777240"/>
          </a:xfrm>
          <a:prstGeom prst="roundRect">
            <a:avLst>
              <a:gd name="adj" fmla="val 9412"/>
            </a:avLst>
          </a:prstGeom>
          <a:solidFill>
            <a:schemeClr val="accent3">
              <a:lumMod val="20000"/>
              <a:lumOff val="80000"/>
            </a:schemeClr>
          </a:solidFill>
          <a:ln w="12700">
            <a:solidFill>
              <a:srgbClr val="D85A30"/>
            </a:solidFill>
            <a:prstDash val="solid"/>
          </a:ln>
        </p:spPr>
        <p:txBody>
          <a:bodyPr/>
          <a:lstStyle/>
          <a:p>
            <a:endParaRPr lang="en-IN" sz="2000"/>
          </a:p>
        </p:txBody>
      </p:sp>
      <p:sp>
        <p:nvSpPr>
          <p:cNvPr id="5" name="Text 3"/>
          <p:cNvSpPr/>
          <p:nvPr/>
        </p:nvSpPr>
        <p:spPr>
          <a:xfrm>
            <a:off x="777240" y="1463040"/>
            <a:ext cx="4846320" cy="411480"/>
          </a:xfrm>
          <a:prstGeom prst="rect">
            <a:avLst/>
          </a:prstGeom>
          <a:noFill/>
          <a:ln/>
        </p:spPr>
        <p:txBody>
          <a:bodyPr wrap="square" lIns="0" tIns="0" rIns="0" bIns="0" rtlCol="0" anchor="ctr"/>
          <a:lstStyle/>
          <a:p>
            <a:pPr marL="0" indent="0" algn="l">
              <a:buNone/>
            </a:pPr>
            <a:r>
              <a:rPr lang="en-US" sz="2000" b="1" dirty="0">
                <a:solidFill>
                  <a:srgbClr val="712B13"/>
                </a:solidFill>
                <a:latin typeface="Trebuchet MS" pitchFamily="34" charset="0"/>
                <a:ea typeface="Trebuchet MS" pitchFamily="34" charset="-122"/>
                <a:cs typeface="Trebuchet MS" pitchFamily="34" charset="-120"/>
              </a:rPr>
              <a:t>Compute · O(n²)</a:t>
            </a:r>
            <a:endParaRPr lang="en-US" sz="2000" dirty="0"/>
          </a:p>
        </p:txBody>
      </p:sp>
      <p:sp>
        <p:nvSpPr>
          <p:cNvPr id="6" name="Text 4"/>
          <p:cNvSpPr/>
          <p:nvPr/>
        </p:nvSpPr>
        <p:spPr>
          <a:xfrm>
            <a:off x="777240" y="1837944"/>
            <a:ext cx="4846320" cy="292608"/>
          </a:xfrm>
          <a:prstGeom prst="rect">
            <a:avLst/>
          </a:prstGeom>
          <a:noFill/>
          <a:ln/>
        </p:spPr>
        <p:txBody>
          <a:bodyPr wrap="square" lIns="0" tIns="0" rIns="0" bIns="0" rtlCol="0" anchor="ctr"/>
          <a:lstStyle/>
          <a:p>
            <a:pPr marL="0" indent="0" algn="l">
              <a:buNone/>
            </a:pPr>
            <a:r>
              <a:rPr lang="en-US" sz="2000" i="1" dirty="0">
                <a:solidFill>
                  <a:srgbClr val="712B13"/>
                </a:solidFill>
                <a:latin typeface="Calibri" pitchFamily="34" charset="0"/>
                <a:ea typeface="Calibri" pitchFamily="34" charset="-122"/>
                <a:cs typeface="Calibri" pitchFamily="34" charset="-120"/>
              </a:rPr>
              <a:t>Training &amp; prefill bound</a:t>
            </a:r>
            <a:endParaRPr lang="en-US" sz="2000" dirty="0"/>
          </a:p>
        </p:txBody>
      </p:sp>
      <p:sp>
        <p:nvSpPr>
          <p:cNvPr id="7" name="Shape 5"/>
          <p:cNvSpPr/>
          <p:nvPr/>
        </p:nvSpPr>
        <p:spPr>
          <a:xfrm>
            <a:off x="6336792" y="1417320"/>
            <a:ext cx="5303520" cy="777240"/>
          </a:xfrm>
          <a:prstGeom prst="roundRect">
            <a:avLst>
              <a:gd name="adj" fmla="val 9412"/>
            </a:avLst>
          </a:prstGeom>
          <a:solidFill>
            <a:schemeClr val="accent5">
              <a:lumMod val="40000"/>
              <a:lumOff val="60000"/>
            </a:schemeClr>
          </a:solidFill>
          <a:ln w="12700">
            <a:solidFill>
              <a:srgbClr val="185FA5"/>
            </a:solidFill>
            <a:prstDash val="solid"/>
          </a:ln>
        </p:spPr>
        <p:txBody>
          <a:bodyPr/>
          <a:lstStyle/>
          <a:p>
            <a:endParaRPr lang="en-IN" sz="2000"/>
          </a:p>
        </p:txBody>
      </p:sp>
      <p:sp>
        <p:nvSpPr>
          <p:cNvPr id="8" name="Text 6"/>
          <p:cNvSpPr/>
          <p:nvPr/>
        </p:nvSpPr>
        <p:spPr>
          <a:xfrm>
            <a:off x="6565392" y="1463040"/>
            <a:ext cx="4846320" cy="411480"/>
          </a:xfrm>
          <a:prstGeom prst="rect">
            <a:avLst/>
          </a:prstGeom>
          <a:noFill/>
          <a:ln/>
        </p:spPr>
        <p:txBody>
          <a:bodyPr wrap="square" lIns="0" tIns="0" rIns="0" bIns="0" rtlCol="0" anchor="ctr"/>
          <a:lstStyle/>
          <a:p>
            <a:pPr marL="0" indent="0" algn="l">
              <a:buNone/>
            </a:pPr>
            <a:r>
              <a:rPr lang="en-US" sz="2000" b="1" dirty="0">
                <a:solidFill>
                  <a:srgbClr val="0C447C"/>
                </a:solidFill>
                <a:latin typeface="Trebuchet MS" pitchFamily="34" charset="0"/>
                <a:ea typeface="Trebuchet MS" pitchFamily="34" charset="-122"/>
                <a:cs typeface="Trebuchet MS" pitchFamily="34" charset="-120"/>
              </a:rPr>
              <a:t>Memory · KV cache</a:t>
            </a:r>
            <a:endParaRPr lang="en-US" sz="2000" dirty="0"/>
          </a:p>
        </p:txBody>
      </p:sp>
      <p:sp>
        <p:nvSpPr>
          <p:cNvPr id="9" name="Text 7"/>
          <p:cNvSpPr/>
          <p:nvPr/>
        </p:nvSpPr>
        <p:spPr>
          <a:xfrm>
            <a:off x="6565392" y="1837944"/>
            <a:ext cx="4846320" cy="292608"/>
          </a:xfrm>
          <a:prstGeom prst="rect">
            <a:avLst/>
          </a:prstGeom>
          <a:noFill/>
          <a:ln/>
        </p:spPr>
        <p:txBody>
          <a:bodyPr wrap="square" lIns="0" tIns="0" rIns="0" bIns="0" rtlCol="0" anchor="ctr"/>
          <a:lstStyle/>
          <a:p>
            <a:pPr marL="0" indent="0" algn="l">
              <a:buNone/>
            </a:pPr>
            <a:r>
              <a:rPr lang="en-US" sz="2000" i="1" dirty="0">
                <a:solidFill>
                  <a:srgbClr val="0C447C"/>
                </a:solidFill>
                <a:latin typeface="Calibri" pitchFamily="34" charset="0"/>
                <a:ea typeface="Calibri" pitchFamily="34" charset="-122"/>
                <a:cs typeface="Calibri" pitchFamily="34" charset="-120"/>
              </a:rPr>
              <a:t>Decode &amp; serving bound</a:t>
            </a:r>
            <a:endParaRPr lang="en-US" sz="2000" dirty="0"/>
          </a:p>
        </p:txBody>
      </p:sp>
      <p:sp>
        <p:nvSpPr>
          <p:cNvPr id="10" name="Shape 8"/>
          <p:cNvSpPr/>
          <p:nvPr/>
        </p:nvSpPr>
        <p:spPr>
          <a:xfrm>
            <a:off x="3090672" y="2258568"/>
            <a:ext cx="219456" cy="256032"/>
          </a:xfrm>
          <a:prstGeom prst="downArrow">
            <a:avLst/>
          </a:prstGeom>
          <a:solidFill>
            <a:srgbClr val="D85A30"/>
          </a:solidFill>
          <a:ln w="12700">
            <a:solidFill>
              <a:srgbClr val="D85A30"/>
            </a:solidFill>
            <a:prstDash val="solid"/>
          </a:ln>
        </p:spPr>
        <p:txBody>
          <a:bodyPr/>
          <a:lstStyle/>
          <a:p>
            <a:endParaRPr lang="en-IN" sz="2000"/>
          </a:p>
        </p:txBody>
      </p:sp>
      <p:sp>
        <p:nvSpPr>
          <p:cNvPr id="11" name="Shape 9"/>
          <p:cNvSpPr/>
          <p:nvPr/>
        </p:nvSpPr>
        <p:spPr>
          <a:xfrm>
            <a:off x="8878824" y="2258568"/>
            <a:ext cx="219456" cy="256032"/>
          </a:xfrm>
          <a:prstGeom prst="downArrow">
            <a:avLst/>
          </a:prstGeom>
          <a:solidFill>
            <a:srgbClr val="185FA5"/>
          </a:solidFill>
          <a:ln w="12700">
            <a:solidFill>
              <a:srgbClr val="185FA5"/>
            </a:solidFill>
            <a:prstDash val="solid"/>
          </a:ln>
        </p:spPr>
        <p:txBody>
          <a:bodyPr/>
          <a:lstStyle/>
          <a:p>
            <a:endParaRPr lang="en-IN" sz="2000"/>
          </a:p>
        </p:txBody>
      </p:sp>
      <p:sp>
        <p:nvSpPr>
          <p:cNvPr id="12" name="Shape 10"/>
          <p:cNvSpPr/>
          <p:nvPr/>
        </p:nvSpPr>
        <p:spPr>
          <a:xfrm>
            <a:off x="548640" y="2606040"/>
            <a:ext cx="5303520" cy="1078992"/>
          </a:xfrm>
          <a:prstGeom prst="roundRect">
            <a:avLst>
              <a:gd name="adj" fmla="val 5085"/>
            </a:avLst>
          </a:prstGeom>
          <a:solidFill>
            <a:schemeClr val="accent3">
              <a:lumMod val="20000"/>
              <a:lumOff val="80000"/>
            </a:schemeClr>
          </a:solidFill>
          <a:ln w="9525">
            <a:solidFill>
              <a:srgbClr val="D85A30"/>
            </a:solidFill>
            <a:prstDash val="solid"/>
          </a:ln>
        </p:spPr>
        <p:txBody>
          <a:bodyPr/>
          <a:lstStyle/>
          <a:p>
            <a:endParaRPr lang="en-IN" sz="2000"/>
          </a:p>
        </p:txBody>
      </p:sp>
      <p:sp>
        <p:nvSpPr>
          <p:cNvPr id="13" name="Text 11"/>
          <p:cNvSpPr/>
          <p:nvPr/>
        </p:nvSpPr>
        <p:spPr>
          <a:xfrm>
            <a:off x="749808" y="2697480"/>
            <a:ext cx="4901184" cy="274320"/>
          </a:xfrm>
          <a:prstGeom prst="rect">
            <a:avLst/>
          </a:prstGeom>
          <a:noFill/>
          <a:ln/>
        </p:spPr>
        <p:txBody>
          <a:bodyPr wrap="square" lIns="0" tIns="0" rIns="0" bIns="0" rtlCol="0" anchor="ctr"/>
          <a:lstStyle/>
          <a:p>
            <a:pPr marL="0" indent="0" algn="l">
              <a:buNone/>
            </a:pPr>
            <a:r>
              <a:rPr lang="en-US" sz="2000" b="1" dirty="0" err="1">
                <a:solidFill>
                  <a:srgbClr val="D85A30"/>
                </a:solidFill>
                <a:latin typeface="Trebuchet MS" pitchFamily="34" charset="0"/>
                <a:ea typeface="Trebuchet MS" pitchFamily="34" charset="-122"/>
                <a:cs typeface="Trebuchet MS" pitchFamily="34" charset="-120"/>
              </a:rPr>
              <a:t>FlashAttention</a:t>
            </a:r>
            <a:r>
              <a:rPr lang="en-US" sz="2000" b="1" dirty="0">
                <a:solidFill>
                  <a:srgbClr val="D85A30"/>
                </a:solidFill>
                <a:latin typeface="Trebuchet MS" pitchFamily="34" charset="0"/>
                <a:ea typeface="Trebuchet MS" pitchFamily="34" charset="-122"/>
                <a:cs typeface="Trebuchet MS" pitchFamily="34" charset="-120"/>
              </a:rPr>
              <a:t> -Exact</a:t>
            </a:r>
            <a:endParaRPr lang="en-US" sz="2000" dirty="0"/>
          </a:p>
        </p:txBody>
      </p:sp>
      <p:sp>
        <p:nvSpPr>
          <p:cNvPr id="14" name="Text 12"/>
          <p:cNvSpPr/>
          <p:nvPr/>
        </p:nvSpPr>
        <p:spPr>
          <a:xfrm>
            <a:off x="749808" y="2990088"/>
            <a:ext cx="4901184" cy="274320"/>
          </a:xfrm>
          <a:prstGeom prst="rect">
            <a:avLst/>
          </a:prstGeom>
          <a:noFill/>
          <a:ln/>
        </p:spPr>
        <p:txBody>
          <a:bodyPr wrap="square" lIns="0" tIns="0" rIns="0" bIns="0" rtlCol="0" anchor="ctr"/>
          <a:lstStyle/>
          <a:p>
            <a:pPr marL="0" indent="0" algn="l">
              <a:buNone/>
            </a:pPr>
            <a:r>
              <a:rPr lang="en-US" sz="2000" dirty="0">
                <a:solidFill>
                  <a:srgbClr val="712B13"/>
                </a:solidFill>
                <a:latin typeface="Calibri" pitchFamily="34" charset="0"/>
                <a:ea typeface="Calibri" pitchFamily="34" charset="-122"/>
                <a:cs typeface="Calibri" pitchFamily="34" charset="-120"/>
              </a:rPr>
              <a:t>Exact, IO-aware — same math, far faster</a:t>
            </a:r>
            <a:endParaRPr lang="en-US" sz="2000" dirty="0"/>
          </a:p>
        </p:txBody>
      </p:sp>
      <p:sp>
        <p:nvSpPr>
          <p:cNvPr id="15" name="Shape 13"/>
          <p:cNvSpPr/>
          <p:nvPr/>
        </p:nvSpPr>
        <p:spPr>
          <a:xfrm>
            <a:off x="749808" y="3319272"/>
            <a:ext cx="1078992" cy="274320"/>
          </a:xfrm>
          <a:prstGeom prst="roundRect">
            <a:avLst>
              <a:gd name="adj" fmla="val 16667"/>
            </a:avLst>
          </a:prstGeom>
          <a:solidFill>
            <a:srgbClr val="D85A30"/>
          </a:solidFill>
          <a:ln w="12700">
            <a:solidFill>
              <a:srgbClr val="D85A30"/>
            </a:solidFill>
            <a:prstDash val="solid"/>
          </a:ln>
        </p:spPr>
        <p:txBody>
          <a:bodyPr/>
          <a:lstStyle/>
          <a:p>
            <a:endParaRPr lang="en-IN" sz="2000"/>
          </a:p>
        </p:txBody>
      </p:sp>
      <p:sp>
        <p:nvSpPr>
          <p:cNvPr id="16" name="Text 14"/>
          <p:cNvSpPr/>
          <p:nvPr/>
        </p:nvSpPr>
        <p:spPr>
          <a:xfrm>
            <a:off x="749808" y="3319272"/>
            <a:ext cx="1078992"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Train</a:t>
            </a:r>
            <a:endParaRPr lang="en-US" sz="2000" dirty="0"/>
          </a:p>
        </p:txBody>
      </p:sp>
      <p:sp>
        <p:nvSpPr>
          <p:cNvPr id="17" name="Shape 15"/>
          <p:cNvSpPr/>
          <p:nvPr/>
        </p:nvSpPr>
        <p:spPr>
          <a:xfrm>
            <a:off x="1920240" y="3319272"/>
            <a:ext cx="1078992" cy="274320"/>
          </a:xfrm>
          <a:prstGeom prst="roundRect">
            <a:avLst>
              <a:gd name="adj" fmla="val 16667"/>
            </a:avLst>
          </a:prstGeom>
          <a:solidFill>
            <a:srgbClr val="D85A30"/>
          </a:solidFill>
          <a:ln w="12700">
            <a:solidFill>
              <a:srgbClr val="D85A30"/>
            </a:solidFill>
            <a:prstDash val="solid"/>
          </a:ln>
        </p:spPr>
        <p:txBody>
          <a:bodyPr/>
          <a:lstStyle/>
          <a:p>
            <a:endParaRPr lang="en-IN" sz="2000"/>
          </a:p>
        </p:txBody>
      </p:sp>
      <p:sp>
        <p:nvSpPr>
          <p:cNvPr id="18" name="Text 16"/>
          <p:cNvSpPr/>
          <p:nvPr/>
        </p:nvSpPr>
        <p:spPr>
          <a:xfrm>
            <a:off x="1920240" y="3319272"/>
            <a:ext cx="1078992"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Prefill</a:t>
            </a:r>
            <a:endParaRPr lang="en-US" sz="2000" dirty="0"/>
          </a:p>
        </p:txBody>
      </p:sp>
      <p:sp>
        <p:nvSpPr>
          <p:cNvPr id="19" name="Shape 17"/>
          <p:cNvSpPr/>
          <p:nvPr/>
        </p:nvSpPr>
        <p:spPr>
          <a:xfrm>
            <a:off x="3090672" y="3319272"/>
            <a:ext cx="1078992" cy="274320"/>
          </a:xfrm>
          <a:prstGeom prst="roundRect">
            <a:avLst>
              <a:gd name="adj" fmla="val 16667"/>
            </a:avLst>
          </a:prstGeom>
          <a:solidFill>
            <a:srgbClr val="F4F2EC"/>
          </a:solidFill>
          <a:ln w="6350">
            <a:solidFill>
              <a:srgbClr val="C9C7BD"/>
            </a:solidFill>
            <a:prstDash val="solid"/>
          </a:ln>
        </p:spPr>
        <p:txBody>
          <a:bodyPr/>
          <a:lstStyle/>
          <a:p>
            <a:endParaRPr lang="en-IN" sz="2000"/>
          </a:p>
        </p:txBody>
      </p:sp>
      <p:sp>
        <p:nvSpPr>
          <p:cNvPr id="20" name="Text 18"/>
          <p:cNvSpPr/>
          <p:nvPr/>
        </p:nvSpPr>
        <p:spPr>
          <a:xfrm>
            <a:off x="3090672" y="3319272"/>
            <a:ext cx="1078992" cy="274320"/>
          </a:xfrm>
          <a:prstGeom prst="rect">
            <a:avLst/>
          </a:prstGeom>
          <a:noFill/>
          <a:ln/>
        </p:spPr>
        <p:txBody>
          <a:bodyPr wrap="square" lIns="0" tIns="0" rIns="0" bIns="0" rtlCol="0" anchor="ctr"/>
          <a:lstStyle/>
          <a:p>
            <a:pPr marL="0" indent="0" algn="ctr">
              <a:buNone/>
            </a:pPr>
            <a:r>
              <a:rPr lang="en-US" sz="2000" dirty="0">
                <a:solidFill>
                  <a:srgbClr val="9A988F"/>
                </a:solidFill>
                <a:latin typeface="Calibri" pitchFamily="34" charset="0"/>
                <a:ea typeface="Calibri" pitchFamily="34" charset="-122"/>
                <a:cs typeface="Calibri" pitchFamily="34" charset="-120"/>
              </a:rPr>
              <a:t>Decode</a:t>
            </a:r>
            <a:endParaRPr lang="en-US" sz="2000" dirty="0"/>
          </a:p>
        </p:txBody>
      </p:sp>
      <p:sp>
        <p:nvSpPr>
          <p:cNvPr id="21" name="Shape 19"/>
          <p:cNvSpPr/>
          <p:nvPr/>
        </p:nvSpPr>
        <p:spPr>
          <a:xfrm>
            <a:off x="6336792" y="2606040"/>
            <a:ext cx="5303520" cy="1078992"/>
          </a:xfrm>
          <a:prstGeom prst="roundRect">
            <a:avLst>
              <a:gd name="adj" fmla="val 5085"/>
            </a:avLst>
          </a:prstGeom>
          <a:solidFill>
            <a:schemeClr val="accent5">
              <a:lumMod val="40000"/>
              <a:lumOff val="60000"/>
            </a:schemeClr>
          </a:solidFill>
          <a:ln w="9525">
            <a:solidFill>
              <a:srgbClr val="185FA5"/>
            </a:solidFill>
            <a:prstDash val="solid"/>
          </a:ln>
        </p:spPr>
        <p:txBody>
          <a:bodyPr/>
          <a:lstStyle/>
          <a:p>
            <a:endParaRPr lang="en-IN" sz="2000"/>
          </a:p>
        </p:txBody>
      </p:sp>
      <p:sp>
        <p:nvSpPr>
          <p:cNvPr id="22" name="Text 20"/>
          <p:cNvSpPr/>
          <p:nvPr/>
        </p:nvSpPr>
        <p:spPr>
          <a:xfrm>
            <a:off x="6537960" y="2697480"/>
            <a:ext cx="4901184" cy="274320"/>
          </a:xfrm>
          <a:prstGeom prst="rect">
            <a:avLst/>
          </a:prstGeom>
          <a:noFill/>
          <a:ln/>
        </p:spPr>
        <p:txBody>
          <a:bodyPr wrap="square" lIns="0" tIns="0" rIns="0" bIns="0" rtlCol="0" anchor="ctr"/>
          <a:lstStyle/>
          <a:p>
            <a:pPr marL="0" indent="0" algn="l">
              <a:buNone/>
            </a:pPr>
            <a:r>
              <a:rPr lang="en-US" sz="2000" b="1" dirty="0">
                <a:solidFill>
                  <a:srgbClr val="185FA5"/>
                </a:solidFill>
                <a:latin typeface="Trebuchet MS" pitchFamily="34" charset="0"/>
                <a:ea typeface="Trebuchet MS" pitchFamily="34" charset="-122"/>
                <a:cs typeface="Trebuchet MS" pitchFamily="34" charset="-120"/>
              </a:rPr>
              <a:t>MQA → GQA → MLA</a:t>
            </a:r>
            <a:endParaRPr lang="en-US" sz="2000" dirty="0"/>
          </a:p>
        </p:txBody>
      </p:sp>
      <p:sp>
        <p:nvSpPr>
          <p:cNvPr id="23" name="Text 21"/>
          <p:cNvSpPr/>
          <p:nvPr/>
        </p:nvSpPr>
        <p:spPr>
          <a:xfrm>
            <a:off x="6537960" y="2990088"/>
            <a:ext cx="4901184" cy="274320"/>
          </a:xfrm>
          <a:prstGeom prst="rect">
            <a:avLst/>
          </a:prstGeom>
          <a:noFill/>
          <a:ln/>
        </p:spPr>
        <p:txBody>
          <a:bodyPr wrap="square" lIns="0" tIns="0" rIns="0" bIns="0" rtlCol="0" anchor="ctr"/>
          <a:lstStyle/>
          <a:p>
            <a:pPr marL="0" indent="0" algn="l">
              <a:buNone/>
            </a:pPr>
            <a:r>
              <a:rPr lang="en-US" sz="2000" dirty="0">
                <a:solidFill>
                  <a:srgbClr val="0C447C"/>
                </a:solidFill>
                <a:latin typeface="Calibri" pitchFamily="34" charset="0"/>
                <a:ea typeface="Calibri" pitchFamily="34" charset="-122"/>
                <a:cs typeface="Calibri" pitchFamily="34" charset="-120"/>
              </a:rPr>
              <a:t>Shrink what gets cached  (GQA in Llama 3)</a:t>
            </a:r>
            <a:endParaRPr lang="en-US" sz="2000" dirty="0"/>
          </a:p>
        </p:txBody>
      </p:sp>
      <p:sp>
        <p:nvSpPr>
          <p:cNvPr id="24" name="Shape 22"/>
          <p:cNvSpPr/>
          <p:nvPr/>
        </p:nvSpPr>
        <p:spPr>
          <a:xfrm>
            <a:off x="6537960" y="3319272"/>
            <a:ext cx="1078992" cy="274320"/>
          </a:xfrm>
          <a:prstGeom prst="roundRect">
            <a:avLst>
              <a:gd name="adj" fmla="val 16667"/>
            </a:avLst>
          </a:prstGeom>
          <a:solidFill>
            <a:srgbClr val="F4F2EC"/>
          </a:solidFill>
          <a:ln w="6350">
            <a:solidFill>
              <a:srgbClr val="C9C7BD"/>
            </a:solidFill>
            <a:prstDash val="solid"/>
          </a:ln>
        </p:spPr>
        <p:txBody>
          <a:bodyPr/>
          <a:lstStyle/>
          <a:p>
            <a:endParaRPr lang="en-IN" sz="2000"/>
          </a:p>
        </p:txBody>
      </p:sp>
      <p:sp>
        <p:nvSpPr>
          <p:cNvPr id="25" name="Text 23"/>
          <p:cNvSpPr/>
          <p:nvPr/>
        </p:nvSpPr>
        <p:spPr>
          <a:xfrm>
            <a:off x="6537960" y="3319272"/>
            <a:ext cx="1078992" cy="274320"/>
          </a:xfrm>
          <a:prstGeom prst="rect">
            <a:avLst/>
          </a:prstGeom>
          <a:noFill/>
          <a:ln/>
        </p:spPr>
        <p:txBody>
          <a:bodyPr wrap="square" lIns="0" tIns="0" rIns="0" bIns="0" rtlCol="0" anchor="ctr"/>
          <a:lstStyle/>
          <a:p>
            <a:pPr marL="0" indent="0" algn="ctr">
              <a:buNone/>
            </a:pPr>
            <a:r>
              <a:rPr lang="en-US" sz="2000" dirty="0">
                <a:solidFill>
                  <a:srgbClr val="9A988F"/>
                </a:solidFill>
                <a:latin typeface="Calibri" pitchFamily="34" charset="0"/>
                <a:ea typeface="Calibri" pitchFamily="34" charset="-122"/>
                <a:cs typeface="Calibri" pitchFamily="34" charset="-120"/>
              </a:rPr>
              <a:t>Train</a:t>
            </a:r>
            <a:endParaRPr lang="en-US" sz="2000" dirty="0"/>
          </a:p>
        </p:txBody>
      </p:sp>
      <p:sp>
        <p:nvSpPr>
          <p:cNvPr id="26" name="Shape 24"/>
          <p:cNvSpPr/>
          <p:nvPr/>
        </p:nvSpPr>
        <p:spPr>
          <a:xfrm>
            <a:off x="7708392" y="3319272"/>
            <a:ext cx="1078992" cy="274320"/>
          </a:xfrm>
          <a:prstGeom prst="roundRect">
            <a:avLst>
              <a:gd name="adj" fmla="val 16667"/>
            </a:avLst>
          </a:prstGeom>
          <a:solidFill>
            <a:srgbClr val="F4F2EC"/>
          </a:solidFill>
          <a:ln w="6350">
            <a:solidFill>
              <a:srgbClr val="C9C7BD"/>
            </a:solidFill>
            <a:prstDash val="solid"/>
          </a:ln>
        </p:spPr>
        <p:txBody>
          <a:bodyPr/>
          <a:lstStyle/>
          <a:p>
            <a:endParaRPr lang="en-IN" sz="2000"/>
          </a:p>
        </p:txBody>
      </p:sp>
      <p:sp>
        <p:nvSpPr>
          <p:cNvPr id="27" name="Text 25"/>
          <p:cNvSpPr/>
          <p:nvPr/>
        </p:nvSpPr>
        <p:spPr>
          <a:xfrm>
            <a:off x="7708392" y="3319272"/>
            <a:ext cx="1078992" cy="274320"/>
          </a:xfrm>
          <a:prstGeom prst="rect">
            <a:avLst/>
          </a:prstGeom>
          <a:noFill/>
          <a:ln/>
        </p:spPr>
        <p:txBody>
          <a:bodyPr wrap="square" lIns="0" tIns="0" rIns="0" bIns="0" rtlCol="0" anchor="ctr"/>
          <a:lstStyle/>
          <a:p>
            <a:pPr marL="0" indent="0" algn="ctr">
              <a:buNone/>
            </a:pPr>
            <a:r>
              <a:rPr lang="en-US" sz="2000" dirty="0">
                <a:solidFill>
                  <a:srgbClr val="9A988F"/>
                </a:solidFill>
                <a:latin typeface="Calibri" pitchFamily="34" charset="0"/>
                <a:ea typeface="Calibri" pitchFamily="34" charset="-122"/>
                <a:cs typeface="Calibri" pitchFamily="34" charset="-120"/>
              </a:rPr>
              <a:t>Prefill</a:t>
            </a:r>
            <a:endParaRPr lang="en-US" sz="2000" dirty="0"/>
          </a:p>
        </p:txBody>
      </p:sp>
      <p:sp>
        <p:nvSpPr>
          <p:cNvPr id="28" name="Shape 26"/>
          <p:cNvSpPr/>
          <p:nvPr/>
        </p:nvSpPr>
        <p:spPr>
          <a:xfrm>
            <a:off x="8878824" y="3319272"/>
            <a:ext cx="1078992" cy="274320"/>
          </a:xfrm>
          <a:prstGeom prst="roundRect">
            <a:avLst>
              <a:gd name="adj" fmla="val 16667"/>
            </a:avLst>
          </a:prstGeom>
          <a:solidFill>
            <a:srgbClr val="185FA5"/>
          </a:solidFill>
          <a:ln w="12700">
            <a:solidFill>
              <a:srgbClr val="185FA5"/>
            </a:solidFill>
            <a:prstDash val="solid"/>
          </a:ln>
        </p:spPr>
        <p:txBody>
          <a:bodyPr/>
          <a:lstStyle/>
          <a:p>
            <a:endParaRPr lang="en-IN" sz="2000"/>
          </a:p>
        </p:txBody>
      </p:sp>
      <p:sp>
        <p:nvSpPr>
          <p:cNvPr id="29" name="Text 27"/>
          <p:cNvSpPr/>
          <p:nvPr/>
        </p:nvSpPr>
        <p:spPr>
          <a:xfrm>
            <a:off x="8878824" y="3319272"/>
            <a:ext cx="1078992"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Decode</a:t>
            </a:r>
            <a:endParaRPr lang="en-US" sz="2000" dirty="0"/>
          </a:p>
        </p:txBody>
      </p:sp>
      <p:sp>
        <p:nvSpPr>
          <p:cNvPr id="30" name="Shape 28"/>
          <p:cNvSpPr/>
          <p:nvPr/>
        </p:nvSpPr>
        <p:spPr>
          <a:xfrm>
            <a:off x="548640" y="3721608"/>
            <a:ext cx="5303520" cy="1078992"/>
          </a:xfrm>
          <a:prstGeom prst="roundRect">
            <a:avLst>
              <a:gd name="adj" fmla="val 5085"/>
            </a:avLst>
          </a:prstGeom>
          <a:solidFill>
            <a:schemeClr val="accent3">
              <a:lumMod val="20000"/>
              <a:lumOff val="80000"/>
            </a:schemeClr>
          </a:solidFill>
          <a:ln w="9525">
            <a:solidFill>
              <a:srgbClr val="D85A30"/>
            </a:solidFill>
            <a:prstDash val="solid"/>
          </a:ln>
        </p:spPr>
        <p:txBody>
          <a:bodyPr/>
          <a:lstStyle/>
          <a:p>
            <a:r>
              <a:rPr lang="en-US" sz="1600" b="1" dirty="0">
                <a:solidFill>
                  <a:srgbClr val="D85A30"/>
                </a:solidFill>
                <a:latin typeface="Trebuchet MS" pitchFamily="34" charset="0"/>
                <a:ea typeface="Trebuchet MS" pitchFamily="34" charset="-122"/>
                <a:cs typeface="Trebuchet MS" pitchFamily="34" charset="-120"/>
              </a:rPr>
              <a:t>Sparse attention- Approximate - </a:t>
            </a:r>
            <a:r>
              <a:rPr lang="en-US" sz="1600" dirty="0">
                <a:solidFill>
                  <a:srgbClr val="712B13"/>
                </a:solidFill>
                <a:latin typeface="Calibri" pitchFamily="34" charset="0"/>
                <a:ea typeface="Calibri" pitchFamily="34" charset="-122"/>
                <a:cs typeface="Calibri" pitchFamily="34" charset="-120"/>
              </a:rPr>
              <a:t>attend to fewer tokens</a:t>
            </a:r>
            <a:endParaRPr lang="en-US" sz="1600" b="1" dirty="0">
              <a:solidFill>
                <a:srgbClr val="D85A30"/>
              </a:solidFill>
              <a:latin typeface="Trebuchet MS" pitchFamily="34" charset="0"/>
              <a:ea typeface="Trebuchet MS" pitchFamily="34" charset="-122"/>
              <a:cs typeface="Trebuchet MS" pitchFamily="34" charset="-120"/>
            </a:endParaRPr>
          </a:p>
          <a:p>
            <a:r>
              <a:rPr lang="en-US" sz="1600" dirty="0"/>
              <a:t>sliding window (simple) · NSA, DSA (learned)</a:t>
            </a:r>
          </a:p>
          <a:p>
            <a:endParaRPr lang="en-US" sz="1600" dirty="0"/>
          </a:p>
        </p:txBody>
      </p:sp>
      <p:sp>
        <p:nvSpPr>
          <p:cNvPr id="33" name="Shape 31"/>
          <p:cNvSpPr/>
          <p:nvPr/>
        </p:nvSpPr>
        <p:spPr>
          <a:xfrm>
            <a:off x="749808" y="4434840"/>
            <a:ext cx="1078992" cy="274320"/>
          </a:xfrm>
          <a:prstGeom prst="roundRect">
            <a:avLst>
              <a:gd name="adj" fmla="val 16667"/>
            </a:avLst>
          </a:prstGeom>
          <a:solidFill>
            <a:srgbClr val="D85A30"/>
          </a:solidFill>
          <a:ln w="12700">
            <a:solidFill>
              <a:srgbClr val="D85A30"/>
            </a:solidFill>
            <a:prstDash val="solid"/>
          </a:ln>
        </p:spPr>
        <p:txBody>
          <a:bodyPr/>
          <a:lstStyle/>
          <a:p>
            <a:endParaRPr lang="en-IN" sz="2000"/>
          </a:p>
        </p:txBody>
      </p:sp>
      <p:sp>
        <p:nvSpPr>
          <p:cNvPr id="34" name="Text 32"/>
          <p:cNvSpPr/>
          <p:nvPr/>
        </p:nvSpPr>
        <p:spPr>
          <a:xfrm>
            <a:off x="749808" y="4434840"/>
            <a:ext cx="1078992"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Train</a:t>
            </a:r>
            <a:endParaRPr lang="en-US" sz="2000" dirty="0"/>
          </a:p>
        </p:txBody>
      </p:sp>
      <p:sp>
        <p:nvSpPr>
          <p:cNvPr id="35" name="Shape 33"/>
          <p:cNvSpPr/>
          <p:nvPr/>
        </p:nvSpPr>
        <p:spPr>
          <a:xfrm>
            <a:off x="1920240" y="4434840"/>
            <a:ext cx="1078992" cy="274320"/>
          </a:xfrm>
          <a:prstGeom prst="roundRect">
            <a:avLst>
              <a:gd name="adj" fmla="val 16667"/>
            </a:avLst>
          </a:prstGeom>
          <a:solidFill>
            <a:srgbClr val="D85A30"/>
          </a:solidFill>
          <a:ln w="12700">
            <a:solidFill>
              <a:srgbClr val="D85A30"/>
            </a:solidFill>
            <a:prstDash val="solid"/>
          </a:ln>
        </p:spPr>
        <p:txBody>
          <a:bodyPr/>
          <a:lstStyle/>
          <a:p>
            <a:endParaRPr lang="en-IN" sz="2000"/>
          </a:p>
        </p:txBody>
      </p:sp>
      <p:sp>
        <p:nvSpPr>
          <p:cNvPr id="36" name="Text 34"/>
          <p:cNvSpPr/>
          <p:nvPr/>
        </p:nvSpPr>
        <p:spPr>
          <a:xfrm>
            <a:off x="1920240" y="4434840"/>
            <a:ext cx="1078992"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Prefill</a:t>
            </a:r>
            <a:endParaRPr lang="en-US" sz="2000" dirty="0"/>
          </a:p>
        </p:txBody>
      </p:sp>
      <p:sp>
        <p:nvSpPr>
          <p:cNvPr id="37" name="Shape 35"/>
          <p:cNvSpPr/>
          <p:nvPr/>
        </p:nvSpPr>
        <p:spPr>
          <a:xfrm>
            <a:off x="3090672" y="4434840"/>
            <a:ext cx="1078992" cy="274320"/>
          </a:xfrm>
          <a:prstGeom prst="roundRect">
            <a:avLst>
              <a:gd name="adj" fmla="val 16667"/>
            </a:avLst>
          </a:prstGeom>
          <a:solidFill>
            <a:srgbClr val="D85A30"/>
          </a:solidFill>
          <a:ln w="12700">
            <a:solidFill>
              <a:srgbClr val="D85A30"/>
            </a:solidFill>
            <a:prstDash val="solid"/>
          </a:ln>
        </p:spPr>
        <p:txBody>
          <a:bodyPr/>
          <a:lstStyle/>
          <a:p>
            <a:endParaRPr lang="en-IN" sz="2000"/>
          </a:p>
        </p:txBody>
      </p:sp>
      <p:sp>
        <p:nvSpPr>
          <p:cNvPr id="38" name="Text 36"/>
          <p:cNvSpPr/>
          <p:nvPr/>
        </p:nvSpPr>
        <p:spPr>
          <a:xfrm>
            <a:off x="3090672" y="4434840"/>
            <a:ext cx="1078992"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Decode</a:t>
            </a:r>
            <a:endParaRPr lang="en-US" sz="2000" dirty="0"/>
          </a:p>
        </p:txBody>
      </p:sp>
      <p:sp>
        <p:nvSpPr>
          <p:cNvPr id="39" name="Shape 37"/>
          <p:cNvSpPr/>
          <p:nvPr/>
        </p:nvSpPr>
        <p:spPr>
          <a:xfrm>
            <a:off x="6336792" y="3721608"/>
            <a:ext cx="5303520" cy="1078992"/>
          </a:xfrm>
          <a:prstGeom prst="roundRect">
            <a:avLst>
              <a:gd name="adj" fmla="val 5085"/>
            </a:avLst>
          </a:prstGeom>
          <a:solidFill>
            <a:schemeClr val="accent5">
              <a:lumMod val="40000"/>
              <a:lumOff val="60000"/>
            </a:schemeClr>
          </a:solidFill>
          <a:ln w="9525">
            <a:solidFill>
              <a:srgbClr val="185FA5"/>
            </a:solidFill>
            <a:prstDash val="solid"/>
          </a:ln>
        </p:spPr>
        <p:txBody>
          <a:bodyPr/>
          <a:lstStyle/>
          <a:p>
            <a:endParaRPr lang="en-IN" sz="2000"/>
          </a:p>
        </p:txBody>
      </p:sp>
      <p:sp>
        <p:nvSpPr>
          <p:cNvPr id="40" name="Text 38"/>
          <p:cNvSpPr/>
          <p:nvPr/>
        </p:nvSpPr>
        <p:spPr>
          <a:xfrm>
            <a:off x="6537960" y="3813048"/>
            <a:ext cx="4901184" cy="274320"/>
          </a:xfrm>
          <a:prstGeom prst="rect">
            <a:avLst/>
          </a:prstGeom>
          <a:noFill/>
          <a:ln/>
        </p:spPr>
        <p:txBody>
          <a:bodyPr wrap="square" lIns="0" tIns="0" rIns="0" bIns="0" rtlCol="0" anchor="ctr"/>
          <a:lstStyle/>
          <a:p>
            <a:pPr marL="0" indent="0" algn="l">
              <a:buNone/>
            </a:pPr>
            <a:r>
              <a:rPr lang="en-US" sz="2000" b="1" dirty="0">
                <a:solidFill>
                  <a:srgbClr val="185FA5"/>
                </a:solidFill>
                <a:latin typeface="Trebuchet MS" pitchFamily="34" charset="0"/>
                <a:ea typeface="Trebuchet MS" pitchFamily="34" charset="-122"/>
                <a:cs typeface="Trebuchet MS" pitchFamily="34" charset="-120"/>
              </a:rPr>
              <a:t>PagedAttention</a:t>
            </a:r>
            <a:endParaRPr lang="en-US" sz="2000" dirty="0"/>
          </a:p>
        </p:txBody>
      </p:sp>
      <p:sp>
        <p:nvSpPr>
          <p:cNvPr id="41" name="Text 39"/>
          <p:cNvSpPr/>
          <p:nvPr/>
        </p:nvSpPr>
        <p:spPr>
          <a:xfrm>
            <a:off x="6537960" y="4105656"/>
            <a:ext cx="4901184" cy="274320"/>
          </a:xfrm>
          <a:prstGeom prst="rect">
            <a:avLst/>
          </a:prstGeom>
          <a:noFill/>
          <a:ln/>
        </p:spPr>
        <p:txBody>
          <a:bodyPr wrap="square" lIns="0" tIns="0" rIns="0" bIns="0" rtlCol="0" anchor="ctr"/>
          <a:lstStyle/>
          <a:p>
            <a:pPr marL="0" indent="0" algn="l">
              <a:buNone/>
            </a:pPr>
            <a:r>
              <a:rPr lang="en-US" sz="2000" dirty="0">
                <a:solidFill>
                  <a:srgbClr val="0C447C"/>
                </a:solidFill>
                <a:latin typeface="Calibri" pitchFamily="34" charset="0"/>
                <a:ea typeface="Calibri" pitchFamily="34" charset="-122"/>
                <a:cs typeface="Calibri" pitchFamily="34" charset="-120"/>
              </a:rPr>
              <a:t>Manage the cache at serving time</a:t>
            </a:r>
            <a:endParaRPr lang="en-US" sz="2000" dirty="0"/>
          </a:p>
        </p:txBody>
      </p:sp>
      <p:sp>
        <p:nvSpPr>
          <p:cNvPr id="42" name="Shape 40"/>
          <p:cNvSpPr/>
          <p:nvPr/>
        </p:nvSpPr>
        <p:spPr>
          <a:xfrm>
            <a:off x="6537960" y="4434840"/>
            <a:ext cx="1078992" cy="274320"/>
          </a:xfrm>
          <a:prstGeom prst="roundRect">
            <a:avLst>
              <a:gd name="adj" fmla="val 16667"/>
            </a:avLst>
          </a:prstGeom>
          <a:solidFill>
            <a:srgbClr val="F4F2EC"/>
          </a:solidFill>
          <a:ln w="6350">
            <a:solidFill>
              <a:srgbClr val="C9C7BD"/>
            </a:solidFill>
            <a:prstDash val="solid"/>
          </a:ln>
        </p:spPr>
        <p:txBody>
          <a:bodyPr/>
          <a:lstStyle/>
          <a:p>
            <a:endParaRPr lang="en-IN" sz="2000"/>
          </a:p>
        </p:txBody>
      </p:sp>
      <p:sp>
        <p:nvSpPr>
          <p:cNvPr id="43" name="Text 41"/>
          <p:cNvSpPr/>
          <p:nvPr/>
        </p:nvSpPr>
        <p:spPr>
          <a:xfrm>
            <a:off x="6537960" y="4434840"/>
            <a:ext cx="1078992" cy="274320"/>
          </a:xfrm>
          <a:prstGeom prst="rect">
            <a:avLst/>
          </a:prstGeom>
          <a:noFill/>
          <a:ln/>
        </p:spPr>
        <p:txBody>
          <a:bodyPr wrap="square" lIns="0" tIns="0" rIns="0" bIns="0" rtlCol="0" anchor="ctr"/>
          <a:lstStyle/>
          <a:p>
            <a:pPr marL="0" indent="0" algn="ctr">
              <a:buNone/>
            </a:pPr>
            <a:r>
              <a:rPr lang="en-US" sz="2000" dirty="0">
                <a:solidFill>
                  <a:srgbClr val="9A988F"/>
                </a:solidFill>
                <a:latin typeface="Calibri" pitchFamily="34" charset="0"/>
                <a:ea typeface="Calibri" pitchFamily="34" charset="-122"/>
                <a:cs typeface="Calibri" pitchFamily="34" charset="-120"/>
              </a:rPr>
              <a:t>Train</a:t>
            </a:r>
            <a:endParaRPr lang="en-US" sz="2000" dirty="0"/>
          </a:p>
        </p:txBody>
      </p:sp>
      <p:sp>
        <p:nvSpPr>
          <p:cNvPr id="44" name="Shape 42"/>
          <p:cNvSpPr/>
          <p:nvPr/>
        </p:nvSpPr>
        <p:spPr>
          <a:xfrm>
            <a:off x="7708392" y="4434840"/>
            <a:ext cx="1078992" cy="274320"/>
          </a:xfrm>
          <a:prstGeom prst="roundRect">
            <a:avLst>
              <a:gd name="adj" fmla="val 16667"/>
            </a:avLst>
          </a:prstGeom>
          <a:solidFill>
            <a:srgbClr val="F4F2EC"/>
          </a:solidFill>
          <a:ln w="6350">
            <a:solidFill>
              <a:srgbClr val="C9C7BD"/>
            </a:solidFill>
            <a:prstDash val="solid"/>
          </a:ln>
        </p:spPr>
        <p:txBody>
          <a:bodyPr/>
          <a:lstStyle/>
          <a:p>
            <a:endParaRPr lang="en-IN" sz="2000"/>
          </a:p>
        </p:txBody>
      </p:sp>
      <p:sp>
        <p:nvSpPr>
          <p:cNvPr id="45" name="Text 43"/>
          <p:cNvSpPr/>
          <p:nvPr/>
        </p:nvSpPr>
        <p:spPr>
          <a:xfrm>
            <a:off x="7708392" y="4434840"/>
            <a:ext cx="1078992" cy="274320"/>
          </a:xfrm>
          <a:prstGeom prst="rect">
            <a:avLst/>
          </a:prstGeom>
          <a:noFill/>
          <a:ln/>
        </p:spPr>
        <p:txBody>
          <a:bodyPr wrap="square" lIns="0" tIns="0" rIns="0" bIns="0" rtlCol="0" anchor="ctr"/>
          <a:lstStyle/>
          <a:p>
            <a:pPr marL="0" indent="0" algn="ctr">
              <a:buNone/>
            </a:pPr>
            <a:r>
              <a:rPr lang="en-US" sz="2000" dirty="0">
                <a:solidFill>
                  <a:srgbClr val="9A988F"/>
                </a:solidFill>
                <a:latin typeface="Calibri" pitchFamily="34" charset="0"/>
                <a:ea typeface="Calibri" pitchFamily="34" charset="-122"/>
                <a:cs typeface="Calibri" pitchFamily="34" charset="-120"/>
              </a:rPr>
              <a:t>Prefill</a:t>
            </a:r>
            <a:endParaRPr lang="en-US" sz="2000" dirty="0"/>
          </a:p>
        </p:txBody>
      </p:sp>
      <p:sp>
        <p:nvSpPr>
          <p:cNvPr id="46" name="Shape 44"/>
          <p:cNvSpPr/>
          <p:nvPr/>
        </p:nvSpPr>
        <p:spPr>
          <a:xfrm>
            <a:off x="8878824" y="4434840"/>
            <a:ext cx="1078992" cy="274320"/>
          </a:xfrm>
          <a:prstGeom prst="roundRect">
            <a:avLst>
              <a:gd name="adj" fmla="val 16667"/>
            </a:avLst>
          </a:prstGeom>
          <a:solidFill>
            <a:srgbClr val="185FA5"/>
          </a:solidFill>
          <a:ln w="12700">
            <a:solidFill>
              <a:srgbClr val="185FA5"/>
            </a:solidFill>
            <a:prstDash val="solid"/>
          </a:ln>
        </p:spPr>
        <p:txBody>
          <a:bodyPr/>
          <a:lstStyle/>
          <a:p>
            <a:endParaRPr lang="en-IN" sz="2000"/>
          </a:p>
        </p:txBody>
      </p:sp>
      <p:sp>
        <p:nvSpPr>
          <p:cNvPr id="47" name="Text 45"/>
          <p:cNvSpPr/>
          <p:nvPr/>
        </p:nvSpPr>
        <p:spPr>
          <a:xfrm>
            <a:off x="8878824" y="4434840"/>
            <a:ext cx="1078992"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Decode</a:t>
            </a:r>
            <a:endParaRPr lang="en-US" sz="2000" dirty="0"/>
          </a:p>
        </p:txBody>
      </p:sp>
      <p:sp>
        <p:nvSpPr>
          <p:cNvPr id="48" name="Shape 46"/>
          <p:cNvSpPr/>
          <p:nvPr/>
        </p:nvSpPr>
        <p:spPr>
          <a:xfrm>
            <a:off x="548640" y="4892040"/>
            <a:ext cx="11091672" cy="1078992"/>
          </a:xfrm>
          <a:prstGeom prst="roundRect">
            <a:avLst>
              <a:gd name="adj" fmla="val 6780"/>
            </a:avLst>
          </a:prstGeom>
          <a:solidFill>
            <a:schemeClr val="accent6">
              <a:lumMod val="20000"/>
              <a:lumOff val="80000"/>
            </a:schemeClr>
          </a:solidFill>
          <a:ln w="12700">
            <a:solidFill>
              <a:srgbClr val="534AB7"/>
            </a:solidFill>
            <a:prstDash val="solid"/>
          </a:ln>
        </p:spPr>
        <p:txBody>
          <a:bodyPr/>
          <a:lstStyle/>
          <a:p>
            <a:endParaRPr lang="en-IN" sz="2000"/>
          </a:p>
        </p:txBody>
      </p:sp>
      <p:sp>
        <p:nvSpPr>
          <p:cNvPr id="49" name="Text 47"/>
          <p:cNvSpPr/>
          <p:nvPr/>
        </p:nvSpPr>
        <p:spPr>
          <a:xfrm>
            <a:off x="822960" y="4983480"/>
            <a:ext cx="10515600" cy="292608"/>
          </a:xfrm>
          <a:prstGeom prst="rect">
            <a:avLst/>
          </a:prstGeom>
          <a:noFill/>
          <a:ln/>
        </p:spPr>
        <p:txBody>
          <a:bodyPr wrap="square" lIns="0" tIns="0" rIns="0" bIns="0" rtlCol="0" anchor="ctr"/>
          <a:lstStyle/>
          <a:p>
            <a:pPr marL="0" indent="0" algn="l">
              <a:buNone/>
            </a:pPr>
            <a:r>
              <a:rPr lang="en-US" sz="2000" b="1" dirty="0">
                <a:solidFill>
                  <a:srgbClr val="3C3489"/>
                </a:solidFill>
                <a:latin typeface="Trebuchet MS" pitchFamily="34" charset="0"/>
                <a:ea typeface="Trebuchet MS" pitchFamily="34" charset="-122"/>
                <a:cs typeface="Trebuchet MS" pitchFamily="34" charset="-120"/>
              </a:rPr>
              <a:t>Linear attention · KDA (Kimi Linear)</a:t>
            </a:r>
            <a:endParaRPr lang="en-US" sz="2000" dirty="0"/>
          </a:p>
        </p:txBody>
      </p:sp>
      <p:sp>
        <p:nvSpPr>
          <p:cNvPr id="50" name="Text 48"/>
          <p:cNvSpPr/>
          <p:nvPr/>
        </p:nvSpPr>
        <p:spPr>
          <a:xfrm>
            <a:off x="822960" y="5276088"/>
            <a:ext cx="10817352" cy="329184"/>
          </a:xfrm>
          <a:prstGeom prst="rect">
            <a:avLst/>
          </a:prstGeom>
          <a:noFill/>
          <a:ln/>
        </p:spPr>
        <p:txBody>
          <a:bodyPr wrap="square" lIns="0" tIns="0" rIns="0" bIns="0" rtlCol="0" anchor="ctr"/>
          <a:lstStyle/>
          <a:p>
            <a:pPr marL="0" indent="0" algn="l">
              <a:buNone/>
            </a:pPr>
            <a:r>
              <a:rPr lang="en-US" sz="2000" dirty="0">
                <a:solidFill>
                  <a:srgbClr val="3C3489"/>
                </a:solidFill>
                <a:latin typeface="Calibri" pitchFamily="34" charset="0"/>
                <a:ea typeface="Calibri" pitchFamily="34" charset="-122"/>
                <a:cs typeface="Calibri" pitchFamily="34" charset="-120"/>
              </a:rPr>
              <a:t>Attacks both — linear compute, and a fixed-size recurrent state replaces the growing cache</a:t>
            </a:r>
            <a:endParaRPr lang="en-US" sz="2000" dirty="0"/>
          </a:p>
        </p:txBody>
      </p:sp>
      <p:sp>
        <p:nvSpPr>
          <p:cNvPr id="51" name="Shape 49"/>
          <p:cNvSpPr/>
          <p:nvPr/>
        </p:nvSpPr>
        <p:spPr>
          <a:xfrm>
            <a:off x="822960" y="5605272"/>
            <a:ext cx="1078992" cy="274320"/>
          </a:xfrm>
          <a:prstGeom prst="roundRect">
            <a:avLst>
              <a:gd name="adj" fmla="val 16667"/>
            </a:avLst>
          </a:prstGeom>
          <a:solidFill>
            <a:srgbClr val="534AB7"/>
          </a:solidFill>
          <a:ln w="12700">
            <a:solidFill>
              <a:srgbClr val="534AB7"/>
            </a:solidFill>
            <a:prstDash val="solid"/>
          </a:ln>
        </p:spPr>
        <p:txBody>
          <a:bodyPr/>
          <a:lstStyle/>
          <a:p>
            <a:endParaRPr lang="en-IN" sz="2000"/>
          </a:p>
        </p:txBody>
      </p:sp>
      <p:sp>
        <p:nvSpPr>
          <p:cNvPr id="52" name="Text 50"/>
          <p:cNvSpPr/>
          <p:nvPr/>
        </p:nvSpPr>
        <p:spPr>
          <a:xfrm>
            <a:off x="822960" y="5605272"/>
            <a:ext cx="1078992"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Train</a:t>
            </a:r>
            <a:endParaRPr lang="en-US" sz="2000" dirty="0"/>
          </a:p>
        </p:txBody>
      </p:sp>
      <p:sp>
        <p:nvSpPr>
          <p:cNvPr id="53" name="Shape 51"/>
          <p:cNvSpPr/>
          <p:nvPr/>
        </p:nvSpPr>
        <p:spPr>
          <a:xfrm>
            <a:off x="1993392" y="5605272"/>
            <a:ext cx="1078992" cy="274320"/>
          </a:xfrm>
          <a:prstGeom prst="roundRect">
            <a:avLst>
              <a:gd name="adj" fmla="val 16667"/>
            </a:avLst>
          </a:prstGeom>
          <a:solidFill>
            <a:srgbClr val="534AB7"/>
          </a:solidFill>
          <a:ln w="12700">
            <a:solidFill>
              <a:srgbClr val="534AB7"/>
            </a:solidFill>
            <a:prstDash val="solid"/>
          </a:ln>
        </p:spPr>
        <p:txBody>
          <a:bodyPr/>
          <a:lstStyle/>
          <a:p>
            <a:endParaRPr lang="en-IN" sz="2000"/>
          </a:p>
        </p:txBody>
      </p:sp>
      <p:sp>
        <p:nvSpPr>
          <p:cNvPr id="54" name="Text 52"/>
          <p:cNvSpPr/>
          <p:nvPr/>
        </p:nvSpPr>
        <p:spPr>
          <a:xfrm>
            <a:off x="1993392" y="5605272"/>
            <a:ext cx="1078992"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Prefill</a:t>
            </a:r>
            <a:endParaRPr lang="en-US" sz="2000" dirty="0"/>
          </a:p>
        </p:txBody>
      </p:sp>
      <p:sp>
        <p:nvSpPr>
          <p:cNvPr id="55" name="Shape 53"/>
          <p:cNvSpPr/>
          <p:nvPr/>
        </p:nvSpPr>
        <p:spPr>
          <a:xfrm>
            <a:off x="3163824" y="5605272"/>
            <a:ext cx="1078992" cy="274320"/>
          </a:xfrm>
          <a:prstGeom prst="roundRect">
            <a:avLst>
              <a:gd name="adj" fmla="val 16667"/>
            </a:avLst>
          </a:prstGeom>
          <a:solidFill>
            <a:srgbClr val="534AB7"/>
          </a:solidFill>
          <a:ln w="12700">
            <a:solidFill>
              <a:srgbClr val="534AB7"/>
            </a:solidFill>
            <a:prstDash val="solid"/>
          </a:ln>
        </p:spPr>
        <p:txBody>
          <a:bodyPr/>
          <a:lstStyle/>
          <a:p>
            <a:endParaRPr lang="en-IN" sz="2000"/>
          </a:p>
        </p:txBody>
      </p:sp>
      <p:sp>
        <p:nvSpPr>
          <p:cNvPr id="56" name="Text 54"/>
          <p:cNvSpPr/>
          <p:nvPr/>
        </p:nvSpPr>
        <p:spPr>
          <a:xfrm>
            <a:off x="3163824" y="5605272"/>
            <a:ext cx="1078992" cy="2743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Decode</a:t>
            </a:r>
            <a:endParaRPr lang="en-US" sz="2000" dirty="0"/>
          </a:p>
        </p:txBody>
      </p:sp>
      <p:sp>
        <p:nvSpPr>
          <p:cNvPr id="57" name="Text 55"/>
          <p:cNvSpPr/>
          <p:nvPr/>
        </p:nvSpPr>
        <p:spPr>
          <a:xfrm>
            <a:off x="548640" y="6144768"/>
            <a:ext cx="11064240" cy="320040"/>
          </a:xfrm>
          <a:prstGeom prst="rect">
            <a:avLst/>
          </a:prstGeom>
          <a:noFill/>
          <a:ln/>
        </p:spPr>
        <p:txBody>
          <a:bodyPr wrap="square" lIns="0" tIns="0" rIns="0" bIns="0" rtlCol="0" anchor="ctr"/>
          <a:lstStyle/>
          <a:p>
            <a:pPr marL="0" indent="0" algn="l">
              <a:buNone/>
            </a:pPr>
            <a:r>
              <a:rPr lang="en-US" sz="2000" i="1" dirty="0">
                <a:solidFill>
                  <a:srgbClr val="6B6A63"/>
                </a:solidFill>
                <a:latin typeface="Calibri" pitchFamily="34" charset="0"/>
                <a:ea typeface="Calibri" pitchFamily="34" charset="-122"/>
                <a:cs typeface="Calibri" pitchFamily="34" charset="-120"/>
              </a:rPr>
              <a:t>Efficiency gains are well established; “beats full attention” quality claims are still being independently verified.</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83233" y="6317500"/>
            <a:ext cx="2183167" cy="273832"/>
          </a:xfrm>
          <a:prstGeom prst="rect">
            <a:avLst/>
          </a:prstGeom>
        </p:spPr>
      </p:pic>
      <p:pic>
        <p:nvPicPr>
          <p:cNvPr id="3" name="object 3"/>
          <p:cNvPicPr/>
          <p:nvPr/>
        </p:nvPicPr>
        <p:blipFill>
          <a:blip r:embed="rId3" cstate="print"/>
          <a:stretch>
            <a:fillRect/>
          </a:stretch>
        </p:blipFill>
        <p:spPr>
          <a:xfrm>
            <a:off x="10686651" y="6315457"/>
            <a:ext cx="1126543" cy="268223"/>
          </a:xfrm>
          <a:prstGeom prst="rect">
            <a:avLst/>
          </a:prstGeom>
        </p:spPr>
      </p:pic>
      <p:sp>
        <p:nvSpPr>
          <p:cNvPr id="4" name="object 4" descr="$PPTXTitle"/>
          <p:cNvSpPr txBox="1">
            <a:spLocks noGrp="1"/>
          </p:cNvSpPr>
          <p:nvPr>
            <p:ph type="ctrTitle"/>
          </p:nvPr>
        </p:nvSpPr>
        <p:spPr>
          <a:prstGeom prst="rect">
            <a:avLst/>
          </a:prstGeom>
        </p:spPr>
        <p:txBody>
          <a:bodyPr vert="horz" wrap="square" lIns="0" tIns="16933" rIns="0" bIns="0" rtlCol="0" anchor="ctr">
            <a:spAutoFit/>
          </a:bodyPr>
          <a:lstStyle/>
          <a:p>
            <a:pPr marL="16933">
              <a:spcBef>
                <a:spcPts val="133"/>
              </a:spcBef>
            </a:pPr>
            <a:r>
              <a:rPr spc="80" dirty="0"/>
              <a:t>Memory</a:t>
            </a:r>
            <a:r>
              <a:rPr spc="-147" dirty="0"/>
              <a:t> </a:t>
            </a:r>
            <a:r>
              <a:rPr spc="-13" dirty="0"/>
              <a:t>traffic</a:t>
            </a:r>
          </a:p>
        </p:txBody>
      </p:sp>
      <p:sp>
        <p:nvSpPr>
          <p:cNvPr id="5" name="object 5"/>
          <p:cNvSpPr txBox="1"/>
          <p:nvPr/>
        </p:nvSpPr>
        <p:spPr>
          <a:xfrm>
            <a:off x="1474816" y="3248412"/>
            <a:ext cx="3169920" cy="2308261"/>
          </a:xfrm>
          <a:prstGeom prst="rect">
            <a:avLst/>
          </a:prstGeom>
        </p:spPr>
        <p:txBody>
          <a:bodyPr vert="horz" wrap="square" lIns="0" tIns="10160" rIns="0" bIns="0" rtlCol="0">
            <a:spAutoFit/>
          </a:bodyPr>
          <a:lstStyle/>
          <a:p>
            <a:pPr marL="456342">
              <a:spcBef>
                <a:spcPts val="80"/>
              </a:spcBef>
            </a:pPr>
            <a:r>
              <a:rPr sz="1600" dirty="0">
                <a:solidFill>
                  <a:srgbClr val="434343"/>
                </a:solidFill>
                <a:latin typeface="Lucida Sans Unicode"/>
                <a:cs typeface="Lucida Sans Unicode"/>
              </a:rPr>
              <a:t>Memory</a:t>
            </a:r>
            <a:r>
              <a:rPr sz="1600" spc="167" dirty="0">
                <a:solidFill>
                  <a:srgbClr val="434343"/>
                </a:solidFill>
                <a:latin typeface="Lucida Sans Unicode"/>
                <a:cs typeface="Lucida Sans Unicode"/>
              </a:rPr>
              <a:t> </a:t>
            </a:r>
            <a:r>
              <a:rPr sz="1600" spc="-27" dirty="0">
                <a:solidFill>
                  <a:srgbClr val="434343"/>
                </a:solidFill>
                <a:latin typeface="Lucida Sans Unicode"/>
                <a:cs typeface="Lucida Sans Unicode"/>
              </a:rPr>
              <a:t>VRAM</a:t>
            </a:r>
            <a:endParaRPr sz="1600" dirty="0">
              <a:latin typeface="Lucida Sans Unicode"/>
              <a:cs typeface="Lucida Sans Unicode"/>
            </a:endParaRPr>
          </a:p>
          <a:p>
            <a:pPr>
              <a:lnSpc>
                <a:spcPct val="100000"/>
              </a:lnSpc>
            </a:pPr>
            <a:endParaRPr sz="1600" dirty="0">
              <a:latin typeface="Lucida Sans Unicode"/>
              <a:cs typeface="Lucida Sans Unicode"/>
            </a:endParaRPr>
          </a:p>
          <a:p>
            <a:pPr>
              <a:spcBef>
                <a:spcPts val="1047"/>
              </a:spcBef>
            </a:pPr>
            <a:endParaRPr sz="1600" dirty="0">
              <a:latin typeface="Lucida Sans Unicode"/>
              <a:cs typeface="Lucida Sans Unicode"/>
            </a:endParaRPr>
          </a:p>
          <a:p>
            <a:pPr marL="1011741">
              <a:lnSpc>
                <a:spcPts val="1920"/>
              </a:lnSpc>
              <a:tabLst>
                <a:tab pos="2545016" algn="l"/>
              </a:tabLst>
            </a:pPr>
            <a:r>
              <a:rPr sz="2133" spc="-33" dirty="0">
                <a:latin typeface="Arial Black"/>
                <a:cs typeface="Arial Black"/>
              </a:rPr>
              <a:t>LLM</a:t>
            </a:r>
            <a:r>
              <a:rPr sz="2133" dirty="0">
                <a:latin typeface="Arial Black"/>
                <a:cs typeface="Arial Black"/>
              </a:rPr>
              <a:t>	</a:t>
            </a:r>
            <a:r>
              <a:rPr sz="3200" spc="-49" baseline="34722" dirty="0">
                <a:latin typeface="Arial Black"/>
                <a:cs typeface="Arial Black"/>
              </a:rPr>
              <a:t>KV</a:t>
            </a:r>
            <a:endParaRPr sz="3200" baseline="34722" dirty="0">
              <a:latin typeface="Arial Black"/>
              <a:cs typeface="Arial Black"/>
            </a:endParaRPr>
          </a:p>
          <a:p>
            <a:pPr algn="r">
              <a:lnSpc>
                <a:spcPts val="1920"/>
              </a:lnSpc>
            </a:pPr>
            <a:r>
              <a:rPr sz="2133" spc="-13" dirty="0">
                <a:latin typeface="Arial Black"/>
                <a:cs typeface="Arial Black"/>
              </a:rPr>
              <a:t>cache</a:t>
            </a:r>
            <a:endParaRPr sz="2133" dirty="0">
              <a:latin typeface="Arial Black"/>
              <a:cs typeface="Arial Black"/>
            </a:endParaRPr>
          </a:p>
          <a:p>
            <a:pPr>
              <a:lnSpc>
                <a:spcPct val="100000"/>
              </a:lnSpc>
            </a:pPr>
            <a:endParaRPr sz="2133" dirty="0">
              <a:latin typeface="Arial Black"/>
              <a:cs typeface="Arial Black"/>
            </a:endParaRPr>
          </a:p>
          <a:p>
            <a:pPr>
              <a:spcBef>
                <a:spcPts val="7"/>
              </a:spcBef>
            </a:pPr>
            <a:endParaRPr sz="2133" dirty="0">
              <a:latin typeface="Arial Black"/>
              <a:cs typeface="Arial Black"/>
            </a:endParaRPr>
          </a:p>
          <a:p>
            <a:pPr>
              <a:lnSpc>
                <a:spcPct val="100000"/>
              </a:lnSpc>
            </a:pPr>
            <a:r>
              <a:rPr sz="1867" spc="-33" dirty="0">
                <a:solidFill>
                  <a:srgbClr val="999999"/>
                </a:solidFill>
                <a:latin typeface="Arial Black"/>
                <a:cs typeface="Arial Black"/>
              </a:rPr>
              <a:t>GPU</a:t>
            </a:r>
            <a:endParaRPr sz="1867" dirty="0">
              <a:latin typeface="Arial Black"/>
              <a:cs typeface="Arial Black"/>
            </a:endParaRPr>
          </a:p>
        </p:txBody>
      </p:sp>
      <p:grpSp>
        <p:nvGrpSpPr>
          <p:cNvPr id="6" name="object 6"/>
          <p:cNvGrpSpPr/>
          <p:nvPr/>
        </p:nvGrpSpPr>
        <p:grpSpPr>
          <a:xfrm>
            <a:off x="1431063" y="1548384"/>
            <a:ext cx="9338732" cy="4060613"/>
            <a:chOff x="1073297" y="1161288"/>
            <a:chExt cx="7004050" cy="3045460"/>
          </a:xfrm>
        </p:grpSpPr>
        <p:sp>
          <p:nvSpPr>
            <p:cNvPr id="7" name="object 7"/>
            <p:cNvSpPr/>
            <p:nvPr/>
          </p:nvSpPr>
          <p:spPr>
            <a:xfrm>
              <a:off x="1073297" y="1161288"/>
              <a:ext cx="7004050" cy="3045460"/>
            </a:xfrm>
            <a:custGeom>
              <a:avLst/>
              <a:gdLst/>
              <a:ahLst/>
              <a:cxnLst/>
              <a:rect l="l" t="t" r="r" b="b"/>
              <a:pathLst>
                <a:path w="7004050" h="3045460">
                  <a:moveTo>
                    <a:pt x="0" y="0"/>
                  </a:moveTo>
                  <a:lnTo>
                    <a:pt x="7003499" y="0"/>
                  </a:lnTo>
                  <a:lnTo>
                    <a:pt x="7003499" y="3044999"/>
                  </a:lnTo>
                  <a:lnTo>
                    <a:pt x="0" y="3044999"/>
                  </a:lnTo>
                  <a:lnTo>
                    <a:pt x="0" y="0"/>
                  </a:lnTo>
                  <a:close/>
                </a:path>
              </a:pathLst>
            </a:custGeom>
            <a:ln w="19049">
              <a:solidFill>
                <a:srgbClr val="237A94"/>
              </a:solidFill>
            </a:ln>
          </p:spPr>
          <p:txBody>
            <a:bodyPr wrap="square" lIns="0" tIns="0" rIns="0" bIns="0" rtlCol="0"/>
            <a:lstStyle/>
            <a:p>
              <a:endParaRPr sz="2400"/>
            </a:p>
          </p:txBody>
        </p:sp>
        <p:sp>
          <p:nvSpPr>
            <p:cNvPr id="9" name="object 9"/>
            <p:cNvSpPr/>
            <p:nvPr/>
          </p:nvSpPr>
          <p:spPr>
            <a:xfrm>
              <a:off x="1361987" y="2137274"/>
              <a:ext cx="6420485" cy="1763395"/>
            </a:xfrm>
            <a:custGeom>
              <a:avLst/>
              <a:gdLst/>
              <a:ahLst/>
              <a:cxnLst/>
              <a:rect l="l" t="t" r="r" b="b"/>
              <a:pathLst>
                <a:path w="6420484" h="1763395">
                  <a:moveTo>
                    <a:pt x="0" y="0"/>
                  </a:moveTo>
                  <a:lnTo>
                    <a:pt x="6419999" y="0"/>
                  </a:lnTo>
                  <a:lnTo>
                    <a:pt x="6419999" y="1763399"/>
                  </a:lnTo>
                  <a:lnTo>
                    <a:pt x="0" y="1763399"/>
                  </a:lnTo>
                  <a:lnTo>
                    <a:pt x="0" y="0"/>
                  </a:lnTo>
                  <a:close/>
                </a:path>
              </a:pathLst>
            </a:custGeom>
            <a:ln w="9524">
              <a:solidFill>
                <a:srgbClr val="237A94"/>
              </a:solidFill>
            </a:ln>
          </p:spPr>
          <p:txBody>
            <a:bodyPr wrap="square" lIns="0" tIns="0" rIns="0" bIns="0" rtlCol="0"/>
            <a:lstStyle/>
            <a:p>
              <a:endParaRPr sz="2400"/>
            </a:p>
          </p:txBody>
        </p:sp>
        <p:sp>
          <p:nvSpPr>
            <p:cNvPr id="11" name="object 11"/>
            <p:cNvSpPr/>
            <p:nvPr/>
          </p:nvSpPr>
          <p:spPr>
            <a:xfrm>
              <a:off x="1548449" y="2664025"/>
              <a:ext cx="1081405" cy="935990"/>
            </a:xfrm>
            <a:custGeom>
              <a:avLst/>
              <a:gdLst/>
              <a:ahLst/>
              <a:cxnLst/>
              <a:rect l="l" t="t" r="r" b="b"/>
              <a:pathLst>
                <a:path w="1081405" h="935989">
                  <a:moveTo>
                    <a:pt x="0" y="0"/>
                  </a:moveTo>
                  <a:lnTo>
                    <a:pt x="1081199" y="0"/>
                  </a:lnTo>
                  <a:lnTo>
                    <a:pt x="1081199" y="935699"/>
                  </a:lnTo>
                  <a:lnTo>
                    <a:pt x="0" y="935699"/>
                  </a:lnTo>
                  <a:lnTo>
                    <a:pt x="0" y="0"/>
                  </a:lnTo>
                  <a:close/>
                </a:path>
              </a:pathLst>
            </a:custGeom>
            <a:ln w="9524">
              <a:solidFill>
                <a:srgbClr val="000000"/>
              </a:solidFill>
            </a:ln>
          </p:spPr>
          <p:txBody>
            <a:bodyPr wrap="square" lIns="0" tIns="0" rIns="0" bIns="0" rtlCol="0"/>
            <a:lstStyle/>
            <a:p>
              <a:endParaRPr sz="2400"/>
            </a:p>
          </p:txBody>
        </p:sp>
        <p:sp>
          <p:nvSpPr>
            <p:cNvPr id="13" name="object 13"/>
            <p:cNvSpPr/>
            <p:nvPr/>
          </p:nvSpPr>
          <p:spPr>
            <a:xfrm>
              <a:off x="2725975" y="2664029"/>
              <a:ext cx="935990" cy="935990"/>
            </a:xfrm>
            <a:custGeom>
              <a:avLst/>
              <a:gdLst/>
              <a:ahLst/>
              <a:cxnLst/>
              <a:rect l="l" t="t" r="r" b="b"/>
              <a:pathLst>
                <a:path w="935989" h="935989">
                  <a:moveTo>
                    <a:pt x="0" y="0"/>
                  </a:moveTo>
                  <a:lnTo>
                    <a:pt x="935699" y="0"/>
                  </a:lnTo>
                  <a:lnTo>
                    <a:pt x="935699" y="935699"/>
                  </a:lnTo>
                  <a:lnTo>
                    <a:pt x="0" y="935699"/>
                  </a:lnTo>
                  <a:lnTo>
                    <a:pt x="0" y="0"/>
                  </a:lnTo>
                  <a:close/>
                </a:path>
              </a:pathLst>
            </a:custGeom>
            <a:ln w="9524">
              <a:solidFill>
                <a:srgbClr val="1B73EB"/>
              </a:solidFill>
            </a:ln>
          </p:spPr>
          <p:txBody>
            <a:bodyPr wrap="square" lIns="0" tIns="0" rIns="0" bIns="0" rtlCol="0"/>
            <a:lstStyle/>
            <a:p>
              <a:endParaRPr sz="2400"/>
            </a:p>
          </p:txBody>
        </p:sp>
      </p:grpSp>
      <p:sp>
        <p:nvSpPr>
          <p:cNvPr id="15" name="object 15"/>
          <p:cNvSpPr txBox="1"/>
          <p:nvPr/>
        </p:nvSpPr>
        <p:spPr>
          <a:xfrm>
            <a:off x="1945434" y="1710578"/>
            <a:ext cx="1555327" cy="256480"/>
          </a:xfrm>
          <a:prstGeom prst="rect">
            <a:avLst/>
          </a:prstGeom>
        </p:spPr>
        <p:txBody>
          <a:bodyPr vert="horz" wrap="square" lIns="0" tIns="10160" rIns="0" bIns="0" rtlCol="0">
            <a:spAutoFit/>
          </a:bodyPr>
          <a:lstStyle/>
          <a:p>
            <a:pPr>
              <a:spcBef>
                <a:spcPts val="80"/>
              </a:spcBef>
            </a:pPr>
            <a:r>
              <a:rPr sz="1600" spc="-33" dirty="0">
                <a:solidFill>
                  <a:srgbClr val="666666"/>
                </a:solidFill>
                <a:latin typeface="Arial Black"/>
                <a:cs typeface="Arial Black"/>
              </a:rPr>
              <a:t>Compute</a:t>
            </a:r>
            <a:r>
              <a:rPr sz="1600" spc="-127" dirty="0">
                <a:solidFill>
                  <a:srgbClr val="666666"/>
                </a:solidFill>
                <a:latin typeface="Arial Black"/>
                <a:cs typeface="Arial Black"/>
              </a:rPr>
              <a:t> </a:t>
            </a:r>
            <a:r>
              <a:rPr sz="1600" spc="-47" dirty="0">
                <a:solidFill>
                  <a:srgbClr val="666666"/>
                </a:solidFill>
                <a:latin typeface="Arial Black"/>
                <a:cs typeface="Arial Black"/>
              </a:rPr>
              <a:t>units</a:t>
            </a:r>
            <a:endParaRPr sz="1600">
              <a:latin typeface="Arial Black"/>
              <a:cs typeface="Arial Black"/>
            </a:endParaRPr>
          </a:p>
        </p:txBody>
      </p:sp>
      <p:grpSp>
        <p:nvGrpSpPr>
          <p:cNvPr id="16" name="object 16"/>
          <p:cNvGrpSpPr/>
          <p:nvPr/>
        </p:nvGrpSpPr>
        <p:grpSpPr>
          <a:xfrm>
            <a:off x="1813796" y="1711599"/>
            <a:ext cx="8573347" cy="988060"/>
            <a:chOff x="1360347" y="1283699"/>
            <a:chExt cx="6430010" cy="741045"/>
          </a:xfrm>
        </p:grpSpPr>
        <p:sp>
          <p:nvSpPr>
            <p:cNvPr id="17" name="object 17"/>
            <p:cNvSpPr/>
            <p:nvPr/>
          </p:nvSpPr>
          <p:spPr>
            <a:xfrm>
              <a:off x="1365110" y="1288461"/>
              <a:ext cx="6420485" cy="731520"/>
            </a:xfrm>
            <a:custGeom>
              <a:avLst/>
              <a:gdLst/>
              <a:ahLst/>
              <a:cxnLst/>
              <a:rect l="l" t="t" r="r" b="b"/>
              <a:pathLst>
                <a:path w="6420484" h="731519">
                  <a:moveTo>
                    <a:pt x="6419999" y="731400"/>
                  </a:moveTo>
                  <a:lnTo>
                    <a:pt x="0" y="731400"/>
                  </a:lnTo>
                  <a:lnTo>
                    <a:pt x="0" y="0"/>
                  </a:lnTo>
                  <a:lnTo>
                    <a:pt x="6419999" y="0"/>
                  </a:lnTo>
                  <a:lnTo>
                    <a:pt x="6419999" y="731400"/>
                  </a:lnTo>
                  <a:close/>
                </a:path>
              </a:pathLst>
            </a:custGeom>
            <a:solidFill>
              <a:srgbClr val="FFECED"/>
            </a:solidFill>
          </p:spPr>
          <p:txBody>
            <a:bodyPr wrap="square" lIns="0" tIns="0" rIns="0" bIns="0" rtlCol="0"/>
            <a:lstStyle/>
            <a:p>
              <a:endParaRPr sz="2400"/>
            </a:p>
          </p:txBody>
        </p:sp>
        <p:sp>
          <p:nvSpPr>
            <p:cNvPr id="18" name="object 18"/>
            <p:cNvSpPr/>
            <p:nvPr/>
          </p:nvSpPr>
          <p:spPr>
            <a:xfrm>
              <a:off x="1365110" y="1288461"/>
              <a:ext cx="6420485" cy="731520"/>
            </a:xfrm>
            <a:custGeom>
              <a:avLst/>
              <a:gdLst/>
              <a:ahLst/>
              <a:cxnLst/>
              <a:rect l="l" t="t" r="r" b="b"/>
              <a:pathLst>
                <a:path w="6420484" h="731519">
                  <a:moveTo>
                    <a:pt x="0" y="0"/>
                  </a:moveTo>
                  <a:lnTo>
                    <a:pt x="6419999" y="0"/>
                  </a:lnTo>
                  <a:lnTo>
                    <a:pt x="6419999" y="731400"/>
                  </a:lnTo>
                  <a:lnTo>
                    <a:pt x="0" y="731400"/>
                  </a:lnTo>
                  <a:lnTo>
                    <a:pt x="0" y="0"/>
                  </a:lnTo>
                  <a:close/>
                </a:path>
              </a:pathLst>
            </a:custGeom>
            <a:ln w="9524">
              <a:solidFill>
                <a:srgbClr val="237A94"/>
              </a:solidFill>
            </a:ln>
          </p:spPr>
          <p:txBody>
            <a:bodyPr wrap="square" lIns="0" tIns="0" rIns="0" bIns="0" rtlCol="0"/>
            <a:lstStyle/>
            <a:p>
              <a:endParaRPr sz="2400"/>
            </a:p>
          </p:txBody>
        </p:sp>
        <p:sp>
          <p:nvSpPr>
            <p:cNvPr id="19" name="object 19"/>
            <p:cNvSpPr/>
            <p:nvPr/>
          </p:nvSpPr>
          <p:spPr>
            <a:xfrm>
              <a:off x="3853475"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0" name="object 20"/>
            <p:cNvSpPr/>
            <p:nvPr/>
          </p:nvSpPr>
          <p:spPr>
            <a:xfrm>
              <a:off x="3853475" y="1509156"/>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1" name="object 21"/>
            <p:cNvSpPr/>
            <p:nvPr/>
          </p:nvSpPr>
          <p:spPr>
            <a:xfrm>
              <a:off x="46584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2" name="object 22"/>
            <p:cNvSpPr/>
            <p:nvPr/>
          </p:nvSpPr>
          <p:spPr>
            <a:xfrm>
              <a:off x="46584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3" name="object 23"/>
            <p:cNvSpPr/>
            <p:nvPr/>
          </p:nvSpPr>
          <p:spPr>
            <a:xfrm>
              <a:off x="5460074"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4" name="object 24"/>
            <p:cNvSpPr/>
            <p:nvPr/>
          </p:nvSpPr>
          <p:spPr>
            <a:xfrm>
              <a:off x="5460074" y="1509156"/>
              <a:ext cx="650240" cy="457200"/>
            </a:xfrm>
            <a:custGeom>
              <a:avLst/>
              <a:gdLst/>
              <a:ahLst/>
              <a:cxnLst/>
              <a:rect l="l" t="t" r="r" b="b"/>
              <a:pathLst>
                <a:path w="650239"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25" name="object 25"/>
            <p:cNvSpPr/>
            <p:nvPr/>
          </p:nvSpPr>
          <p:spPr>
            <a:xfrm>
              <a:off x="6261724" y="1509157"/>
              <a:ext cx="650240" cy="226695"/>
            </a:xfrm>
            <a:custGeom>
              <a:avLst/>
              <a:gdLst/>
              <a:ahLst/>
              <a:cxnLst/>
              <a:rect l="l" t="t" r="r" b="b"/>
              <a:pathLst>
                <a:path w="650240" h="226694">
                  <a:moveTo>
                    <a:pt x="0" y="226679"/>
                  </a:moveTo>
                  <a:lnTo>
                    <a:pt x="649726" y="226679"/>
                  </a:lnTo>
                  <a:lnTo>
                    <a:pt x="649726" y="0"/>
                  </a:lnTo>
                  <a:lnTo>
                    <a:pt x="0" y="0"/>
                  </a:lnTo>
                  <a:lnTo>
                    <a:pt x="0" y="226679"/>
                  </a:lnTo>
                  <a:close/>
                </a:path>
              </a:pathLst>
            </a:custGeom>
            <a:solidFill>
              <a:srgbClr val="F4C4D1"/>
            </a:solidFill>
          </p:spPr>
          <p:txBody>
            <a:bodyPr wrap="square" lIns="0" tIns="0" rIns="0" bIns="0" rtlCol="0"/>
            <a:lstStyle/>
            <a:p>
              <a:endParaRPr sz="2400"/>
            </a:p>
          </p:txBody>
        </p:sp>
        <p:sp>
          <p:nvSpPr>
            <p:cNvPr id="26" name="object 26"/>
            <p:cNvSpPr/>
            <p:nvPr/>
          </p:nvSpPr>
          <p:spPr>
            <a:xfrm>
              <a:off x="6261724" y="1509157"/>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27" name="object 27"/>
            <p:cNvSpPr/>
            <p:nvPr/>
          </p:nvSpPr>
          <p:spPr>
            <a:xfrm>
              <a:off x="7063349" y="1509156"/>
              <a:ext cx="650240" cy="234950"/>
            </a:xfrm>
            <a:custGeom>
              <a:avLst/>
              <a:gdLst/>
              <a:ahLst/>
              <a:cxnLst/>
              <a:rect l="l" t="t" r="r" b="b"/>
              <a:pathLst>
                <a:path w="650240"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8" name="object 28"/>
            <p:cNvSpPr/>
            <p:nvPr/>
          </p:nvSpPr>
          <p:spPr>
            <a:xfrm>
              <a:off x="7063349" y="1509156"/>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29" name="object 29"/>
            <p:cNvSpPr/>
            <p:nvPr/>
          </p:nvSpPr>
          <p:spPr>
            <a:xfrm>
              <a:off x="1448749" y="1509158"/>
              <a:ext cx="650240" cy="228600"/>
            </a:xfrm>
            <a:custGeom>
              <a:avLst/>
              <a:gdLst/>
              <a:ahLst/>
              <a:cxnLst/>
              <a:rect l="l" t="t" r="r" b="b"/>
              <a:pathLst>
                <a:path w="650239" h="228600">
                  <a:moveTo>
                    <a:pt x="0" y="228477"/>
                  </a:moveTo>
                  <a:lnTo>
                    <a:pt x="649726" y="228477"/>
                  </a:lnTo>
                  <a:lnTo>
                    <a:pt x="649726" y="0"/>
                  </a:lnTo>
                  <a:lnTo>
                    <a:pt x="0" y="0"/>
                  </a:lnTo>
                  <a:lnTo>
                    <a:pt x="0" y="228477"/>
                  </a:lnTo>
                  <a:close/>
                </a:path>
              </a:pathLst>
            </a:custGeom>
            <a:solidFill>
              <a:srgbClr val="F4C4D1"/>
            </a:solidFill>
          </p:spPr>
          <p:txBody>
            <a:bodyPr wrap="square" lIns="0" tIns="0" rIns="0" bIns="0" rtlCol="0"/>
            <a:lstStyle/>
            <a:p>
              <a:endParaRPr sz="2400"/>
            </a:p>
          </p:txBody>
        </p:sp>
        <p:sp>
          <p:nvSpPr>
            <p:cNvPr id="30" name="object 30"/>
            <p:cNvSpPr/>
            <p:nvPr/>
          </p:nvSpPr>
          <p:spPr>
            <a:xfrm>
              <a:off x="1448749"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31" name="object 31"/>
            <p:cNvSpPr/>
            <p:nvPr/>
          </p:nvSpPr>
          <p:spPr>
            <a:xfrm>
              <a:off x="2250396" y="1509158"/>
              <a:ext cx="650240" cy="234950"/>
            </a:xfrm>
            <a:custGeom>
              <a:avLst/>
              <a:gdLst/>
              <a:ahLst/>
              <a:cxnLst/>
              <a:rect l="l" t="t" r="r" b="b"/>
              <a:pathLst>
                <a:path w="650239" h="234950">
                  <a:moveTo>
                    <a:pt x="0" y="234402"/>
                  </a:moveTo>
                  <a:lnTo>
                    <a:pt x="649726" y="234402"/>
                  </a:lnTo>
                  <a:lnTo>
                    <a:pt x="649726" y="0"/>
                  </a:lnTo>
                  <a:lnTo>
                    <a:pt x="0" y="0"/>
                  </a:lnTo>
                  <a:lnTo>
                    <a:pt x="0" y="234402"/>
                  </a:lnTo>
                  <a:close/>
                </a:path>
              </a:pathLst>
            </a:custGeom>
            <a:solidFill>
              <a:srgbClr val="F4C4D1"/>
            </a:solidFill>
          </p:spPr>
          <p:txBody>
            <a:bodyPr wrap="square" lIns="0" tIns="0" rIns="0" bIns="0" rtlCol="0"/>
            <a:lstStyle/>
            <a:p>
              <a:endParaRPr sz="2400"/>
            </a:p>
          </p:txBody>
        </p:sp>
        <p:sp>
          <p:nvSpPr>
            <p:cNvPr id="32" name="object 32"/>
            <p:cNvSpPr/>
            <p:nvPr/>
          </p:nvSpPr>
          <p:spPr>
            <a:xfrm>
              <a:off x="2250396"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33" name="object 33"/>
            <p:cNvSpPr/>
            <p:nvPr/>
          </p:nvSpPr>
          <p:spPr>
            <a:xfrm>
              <a:off x="30520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34" name="object 34"/>
            <p:cNvSpPr/>
            <p:nvPr/>
          </p:nvSpPr>
          <p:spPr>
            <a:xfrm>
              <a:off x="30520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grpSp>
      <p:sp>
        <p:nvSpPr>
          <p:cNvPr id="35" name="object 35"/>
          <p:cNvSpPr txBox="1"/>
          <p:nvPr/>
        </p:nvSpPr>
        <p:spPr>
          <a:xfrm>
            <a:off x="1891815" y="1715056"/>
            <a:ext cx="1549400" cy="263320"/>
          </a:xfrm>
          <a:prstGeom prst="rect">
            <a:avLst/>
          </a:prstGeom>
        </p:spPr>
        <p:txBody>
          <a:bodyPr vert="horz" wrap="square" lIns="0" tIns="16933" rIns="0" bIns="0" rtlCol="0">
            <a:spAutoFit/>
          </a:bodyPr>
          <a:lstStyle/>
          <a:p>
            <a:pPr marL="16933">
              <a:spcBef>
                <a:spcPts val="133"/>
              </a:spcBef>
            </a:pPr>
            <a:r>
              <a:rPr sz="1600" spc="67" dirty="0">
                <a:solidFill>
                  <a:srgbClr val="434343"/>
                </a:solidFill>
                <a:latin typeface="Lucida Sans Unicode"/>
                <a:cs typeface="Lucida Sans Unicode"/>
              </a:rPr>
              <a:t>Compute</a:t>
            </a:r>
            <a:r>
              <a:rPr sz="1600" spc="-53" dirty="0">
                <a:solidFill>
                  <a:srgbClr val="434343"/>
                </a:solidFill>
                <a:latin typeface="Lucida Sans Unicode"/>
                <a:cs typeface="Lucida Sans Unicode"/>
              </a:rPr>
              <a:t> </a:t>
            </a:r>
            <a:r>
              <a:rPr sz="1600" spc="-13" dirty="0">
                <a:solidFill>
                  <a:srgbClr val="434343"/>
                </a:solidFill>
                <a:latin typeface="Lucida Sans Unicode"/>
                <a:cs typeface="Lucida Sans Unicode"/>
              </a:rPr>
              <a:t>Units</a:t>
            </a:r>
            <a:endParaRPr sz="1600">
              <a:latin typeface="Lucida Sans Unicode"/>
              <a:cs typeface="Lucida Sans Unicode"/>
            </a:endParaRPr>
          </a:p>
        </p:txBody>
      </p:sp>
      <p:grpSp>
        <p:nvGrpSpPr>
          <p:cNvPr id="36" name="object 36"/>
          <p:cNvGrpSpPr/>
          <p:nvPr/>
        </p:nvGrpSpPr>
        <p:grpSpPr>
          <a:xfrm>
            <a:off x="1925322" y="2308098"/>
            <a:ext cx="8369300" cy="679873"/>
            <a:chOff x="1443991" y="1731073"/>
            <a:chExt cx="6276975" cy="509905"/>
          </a:xfrm>
        </p:grpSpPr>
        <p:sp>
          <p:nvSpPr>
            <p:cNvPr id="37" name="object 37"/>
            <p:cNvSpPr/>
            <p:nvPr/>
          </p:nvSpPr>
          <p:spPr>
            <a:xfrm>
              <a:off x="1448753" y="1737636"/>
              <a:ext cx="650240" cy="230504"/>
            </a:xfrm>
            <a:custGeom>
              <a:avLst/>
              <a:gdLst/>
              <a:ahLst/>
              <a:cxnLst/>
              <a:rect l="l" t="t" r="r" b="b"/>
              <a:pathLst>
                <a:path w="650239" h="230505">
                  <a:moveTo>
                    <a:pt x="649800" y="230399"/>
                  </a:moveTo>
                  <a:lnTo>
                    <a:pt x="0" y="230399"/>
                  </a:lnTo>
                  <a:lnTo>
                    <a:pt x="0" y="0"/>
                  </a:lnTo>
                  <a:lnTo>
                    <a:pt x="649800" y="0"/>
                  </a:lnTo>
                  <a:lnTo>
                    <a:pt x="649800" y="230399"/>
                  </a:lnTo>
                  <a:close/>
                </a:path>
              </a:pathLst>
            </a:custGeom>
            <a:solidFill>
              <a:srgbClr val="EBFAFF"/>
            </a:solidFill>
          </p:spPr>
          <p:txBody>
            <a:bodyPr wrap="square" lIns="0" tIns="0" rIns="0" bIns="0" rtlCol="0"/>
            <a:lstStyle/>
            <a:p>
              <a:endParaRPr sz="2400"/>
            </a:p>
          </p:txBody>
        </p:sp>
        <p:sp>
          <p:nvSpPr>
            <p:cNvPr id="38" name="object 38"/>
            <p:cNvSpPr/>
            <p:nvPr/>
          </p:nvSpPr>
          <p:spPr>
            <a:xfrm>
              <a:off x="1448753" y="1737636"/>
              <a:ext cx="650240" cy="230504"/>
            </a:xfrm>
            <a:custGeom>
              <a:avLst/>
              <a:gdLst/>
              <a:ahLst/>
              <a:cxnLst/>
              <a:rect l="l" t="t" r="r" b="b"/>
              <a:pathLst>
                <a:path w="650239" h="230505">
                  <a:moveTo>
                    <a:pt x="649800" y="0"/>
                  </a:moveTo>
                  <a:lnTo>
                    <a:pt x="649800" y="230399"/>
                  </a:lnTo>
                  <a:lnTo>
                    <a:pt x="0" y="230399"/>
                  </a:lnTo>
                  <a:lnTo>
                    <a:pt x="0" y="0"/>
                  </a:lnTo>
                  <a:lnTo>
                    <a:pt x="649800" y="0"/>
                  </a:lnTo>
                  <a:close/>
                </a:path>
              </a:pathLst>
            </a:custGeom>
            <a:ln w="9524">
              <a:solidFill>
                <a:srgbClr val="237A94"/>
              </a:solidFill>
            </a:ln>
          </p:spPr>
          <p:txBody>
            <a:bodyPr wrap="square" lIns="0" tIns="0" rIns="0" bIns="0" rtlCol="0"/>
            <a:lstStyle/>
            <a:p>
              <a:endParaRPr sz="2400"/>
            </a:p>
          </p:txBody>
        </p:sp>
        <p:sp>
          <p:nvSpPr>
            <p:cNvPr id="39" name="object 39"/>
            <p:cNvSpPr/>
            <p:nvPr/>
          </p:nvSpPr>
          <p:spPr>
            <a:xfrm>
              <a:off x="22512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0" name="object 40"/>
            <p:cNvSpPr/>
            <p:nvPr/>
          </p:nvSpPr>
          <p:spPr>
            <a:xfrm>
              <a:off x="22512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1" name="object 41"/>
            <p:cNvSpPr/>
            <p:nvPr/>
          </p:nvSpPr>
          <p:spPr>
            <a:xfrm>
              <a:off x="305370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2" name="object 42"/>
            <p:cNvSpPr/>
            <p:nvPr/>
          </p:nvSpPr>
          <p:spPr>
            <a:xfrm>
              <a:off x="305370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3" name="object 43"/>
            <p:cNvSpPr/>
            <p:nvPr/>
          </p:nvSpPr>
          <p:spPr>
            <a:xfrm>
              <a:off x="385617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4" name="object 44"/>
            <p:cNvSpPr/>
            <p:nvPr/>
          </p:nvSpPr>
          <p:spPr>
            <a:xfrm>
              <a:off x="385617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5" name="object 45"/>
            <p:cNvSpPr/>
            <p:nvPr/>
          </p:nvSpPr>
          <p:spPr>
            <a:xfrm>
              <a:off x="4658653"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6" name="object 46"/>
            <p:cNvSpPr/>
            <p:nvPr/>
          </p:nvSpPr>
          <p:spPr>
            <a:xfrm>
              <a:off x="4658653"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7" name="object 47"/>
            <p:cNvSpPr/>
            <p:nvPr/>
          </p:nvSpPr>
          <p:spPr>
            <a:xfrm>
              <a:off x="54611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8" name="object 48"/>
            <p:cNvSpPr/>
            <p:nvPr/>
          </p:nvSpPr>
          <p:spPr>
            <a:xfrm>
              <a:off x="54611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9" name="object 49"/>
            <p:cNvSpPr/>
            <p:nvPr/>
          </p:nvSpPr>
          <p:spPr>
            <a:xfrm>
              <a:off x="6263603" y="1735836"/>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50" name="object 50"/>
            <p:cNvSpPr/>
            <p:nvPr/>
          </p:nvSpPr>
          <p:spPr>
            <a:xfrm>
              <a:off x="6263603" y="1735836"/>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51" name="object 51"/>
            <p:cNvSpPr/>
            <p:nvPr/>
          </p:nvSpPr>
          <p:spPr>
            <a:xfrm>
              <a:off x="7066078" y="1743561"/>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52" name="object 52"/>
            <p:cNvSpPr/>
            <p:nvPr/>
          </p:nvSpPr>
          <p:spPr>
            <a:xfrm>
              <a:off x="7066078" y="1743561"/>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53" name="object 53"/>
            <p:cNvSpPr/>
            <p:nvPr/>
          </p:nvSpPr>
          <p:spPr>
            <a:xfrm>
              <a:off x="1575750" y="1999075"/>
              <a:ext cx="6068060" cy="197485"/>
            </a:xfrm>
            <a:custGeom>
              <a:avLst/>
              <a:gdLst/>
              <a:ahLst/>
              <a:cxnLst/>
              <a:rect l="l" t="t" r="r" b="b"/>
              <a:pathLst>
                <a:path w="6068059" h="197485">
                  <a:moveTo>
                    <a:pt x="6067799" y="197099"/>
                  </a:moveTo>
                  <a:lnTo>
                    <a:pt x="0" y="197099"/>
                  </a:lnTo>
                  <a:lnTo>
                    <a:pt x="0" y="0"/>
                  </a:lnTo>
                  <a:lnTo>
                    <a:pt x="6067799" y="0"/>
                  </a:lnTo>
                  <a:lnTo>
                    <a:pt x="6067799" y="197099"/>
                  </a:lnTo>
                  <a:close/>
                </a:path>
              </a:pathLst>
            </a:custGeom>
            <a:solidFill>
              <a:srgbClr val="FFDE7E"/>
            </a:solidFill>
          </p:spPr>
          <p:txBody>
            <a:bodyPr wrap="square" lIns="0" tIns="0" rIns="0" bIns="0" rtlCol="0"/>
            <a:lstStyle/>
            <a:p>
              <a:endParaRPr sz="2400"/>
            </a:p>
          </p:txBody>
        </p:sp>
        <p:sp>
          <p:nvSpPr>
            <p:cNvPr id="54" name="object 54"/>
            <p:cNvSpPr/>
            <p:nvPr/>
          </p:nvSpPr>
          <p:spPr>
            <a:xfrm>
              <a:off x="1575750" y="1999075"/>
              <a:ext cx="6068060" cy="197485"/>
            </a:xfrm>
            <a:custGeom>
              <a:avLst/>
              <a:gdLst/>
              <a:ahLst/>
              <a:cxnLst/>
              <a:rect l="l" t="t" r="r" b="b"/>
              <a:pathLst>
                <a:path w="6068059" h="197485">
                  <a:moveTo>
                    <a:pt x="0" y="0"/>
                  </a:moveTo>
                  <a:lnTo>
                    <a:pt x="6067799" y="0"/>
                  </a:lnTo>
                  <a:lnTo>
                    <a:pt x="6067799" y="197099"/>
                  </a:lnTo>
                  <a:lnTo>
                    <a:pt x="0" y="197099"/>
                  </a:lnTo>
                  <a:lnTo>
                    <a:pt x="0" y="0"/>
                  </a:lnTo>
                  <a:close/>
                </a:path>
              </a:pathLst>
            </a:custGeom>
            <a:ln w="9524">
              <a:solidFill>
                <a:srgbClr val="595959"/>
              </a:solidFill>
            </a:ln>
          </p:spPr>
          <p:txBody>
            <a:bodyPr wrap="square" lIns="0" tIns="0" rIns="0" bIns="0" rtlCol="0"/>
            <a:lstStyle/>
            <a:p>
              <a:endParaRPr sz="2400"/>
            </a:p>
          </p:txBody>
        </p:sp>
        <p:pic>
          <p:nvPicPr>
            <p:cNvPr id="55" name="object 55"/>
            <p:cNvPicPr/>
            <p:nvPr/>
          </p:nvPicPr>
          <p:blipFill>
            <a:blip r:embed="rId4" cstate="print"/>
            <a:stretch>
              <a:fillRect/>
            </a:stretch>
          </p:blipFill>
          <p:spPr>
            <a:xfrm>
              <a:off x="4531245" y="1953098"/>
              <a:ext cx="82509" cy="287352"/>
            </a:xfrm>
            <a:prstGeom prst="rect">
              <a:avLst/>
            </a:prstGeom>
          </p:spPr>
        </p:pic>
      </p:grpSp>
      <p:sp>
        <p:nvSpPr>
          <p:cNvPr id="56" name="object 56"/>
          <p:cNvSpPr txBox="1"/>
          <p:nvPr/>
        </p:nvSpPr>
        <p:spPr>
          <a:xfrm>
            <a:off x="2338019" y="2318488"/>
            <a:ext cx="407247" cy="242866"/>
          </a:xfrm>
          <a:prstGeom prst="rect">
            <a:avLst/>
          </a:prstGeom>
        </p:spPr>
        <p:txBody>
          <a:bodyPr vert="horz" wrap="square" lIns="0" tIns="16933" rIns="0" bIns="0" rtlCol="0">
            <a:spAutoFit/>
          </a:bodyPr>
          <a:lstStyle/>
          <a:p>
            <a:pPr marL="16933">
              <a:spcBef>
                <a:spcPts val="133"/>
              </a:spcBef>
            </a:pPr>
            <a:r>
              <a:rPr sz="1467" spc="-33" dirty="0">
                <a:solidFill>
                  <a:srgbClr val="F65B66"/>
                </a:solidFill>
                <a:latin typeface="Arial Black"/>
                <a:cs typeface="Arial Black"/>
              </a:rPr>
              <a:t>fast</a:t>
            </a:r>
            <a:endParaRPr sz="1467">
              <a:latin typeface="Arial Black"/>
              <a:cs typeface="Arial Black"/>
            </a:endParaRPr>
          </a:p>
        </p:txBody>
      </p:sp>
      <p:sp>
        <p:nvSpPr>
          <p:cNvPr id="57" name="object 57"/>
          <p:cNvSpPr txBox="1"/>
          <p:nvPr/>
        </p:nvSpPr>
        <p:spPr>
          <a:xfrm>
            <a:off x="3012954" y="2313005"/>
            <a:ext cx="859367" cy="242866"/>
          </a:xfrm>
          <a:prstGeom prst="rect">
            <a:avLst/>
          </a:prstGeom>
        </p:spPr>
        <p:txBody>
          <a:bodyPr vert="horz" wrap="square" lIns="0" tIns="16933" rIns="0" bIns="0" rtlCol="0">
            <a:spAutoFit/>
          </a:bodyPr>
          <a:lstStyle/>
          <a:p>
            <a:pPr marL="16933">
              <a:spcBef>
                <a:spcPts val="133"/>
              </a:spcBef>
            </a:pPr>
            <a:r>
              <a:rPr sz="1467" spc="-13" dirty="0">
                <a:solidFill>
                  <a:srgbClr val="F65B66"/>
                </a:solidFill>
                <a:latin typeface="Arial Black"/>
                <a:cs typeface="Arial Black"/>
              </a:rPr>
              <a:t>memory</a:t>
            </a:r>
            <a:endParaRPr sz="1467">
              <a:latin typeface="Arial Black"/>
              <a:cs typeface="Arial Black"/>
            </a:endParaRPr>
          </a:p>
        </p:txBody>
      </p:sp>
    </p:spTree>
    <p:extLst>
      <p:ext uri="{BB962C8B-B14F-4D97-AF65-F5344CB8AC3E}">
        <p14:creationId xmlns:p14="http://schemas.microsoft.com/office/powerpoint/2010/main" val="1512604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Attention</a:t>
            </a:r>
            <a:r>
              <a:rPr spc="-152" dirty="0"/>
              <a:t> </a:t>
            </a:r>
            <a:r>
              <a:rPr spc="213" dirty="0"/>
              <a:t>data</a:t>
            </a:r>
            <a:r>
              <a:rPr spc="-147" dirty="0"/>
              <a:t> </a:t>
            </a:r>
            <a:r>
              <a:rPr spc="-27" dirty="0"/>
              <a:t>flow</a:t>
            </a:r>
          </a:p>
        </p:txBody>
      </p:sp>
      <p:sp>
        <p:nvSpPr>
          <p:cNvPr id="3" name="object 3"/>
          <p:cNvSpPr/>
          <p:nvPr/>
        </p:nvSpPr>
        <p:spPr>
          <a:xfrm>
            <a:off x="1431063" y="1548384"/>
            <a:ext cx="9338733" cy="4060613"/>
          </a:xfrm>
          <a:custGeom>
            <a:avLst/>
            <a:gdLst/>
            <a:ahLst/>
            <a:cxnLst/>
            <a:rect l="l" t="t" r="r" b="b"/>
            <a:pathLst>
              <a:path w="7004050" h="3045460">
                <a:moveTo>
                  <a:pt x="0" y="0"/>
                </a:moveTo>
                <a:lnTo>
                  <a:pt x="7003499" y="0"/>
                </a:lnTo>
                <a:lnTo>
                  <a:pt x="7003499" y="3044999"/>
                </a:lnTo>
                <a:lnTo>
                  <a:pt x="0" y="3044999"/>
                </a:lnTo>
                <a:lnTo>
                  <a:pt x="0" y="0"/>
                </a:lnTo>
                <a:close/>
              </a:path>
            </a:pathLst>
          </a:custGeom>
          <a:ln w="19049">
            <a:solidFill>
              <a:srgbClr val="237A94"/>
            </a:solidFill>
          </a:ln>
        </p:spPr>
        <p:txBody>
          <a:bodyPr wrap="square" lIns="0" tIns="0" rIns="0" bIns="0" rtlCol="0"/>
          <a:lstStyle/>
          <a:p>
            <a:endParaRPr sz="2400"/>
          </a:p>
        </p:txBody>
      </p:sp>
      <p:sp>
        <p:nvSpPr>
          <p:cNvPr id="4" name="object 4"/>
          <p:cNvSpPr txBox="1"/>
          <p:nvPr/>
        </p:nvSpPr>
        <p:spPr>
          <a:xfrm>
            <a:off x="1519351" y="5238451"/>
            <a:ext cx="513080" cy="304421"/>
          </a:xfrm>
          <a:prstGeom prst="rect">
            <a:avLst/>
          </a:prstGeom>
        </p:spPr>
        <p:txBody>
          <a:bodyPr vert="horz" wrap="square" lIns="0" tIns="16933" rIns="0" bIns="0" rtlCol="0">
            <a:spAutoFit/>
          </a:bodyPr>
          <a:lstStyle/>
          <a:p>
            <a:pPr>
              <a:spcBef>
                <a:spcPts val="133"/>
              </a:spcBef>
            </a:pPr>
            <a:r>
              <a:rPr sz="1867" spc="-167" dirty="0">
                <a:solidFill>
                  <a:srgbClr val="999999"/>
                </a:solidFill>
                <a:latin typeface="Arial Black"/>
                <a:cs typeface="Arial Black"/>
              </a:rPr>
              <a:t>GPU</a:t>
            </a:r>
            <a:endParaRPr sz="1867">
              <a:latin typeface="Arial Black"/>
              <a:cs typeface="Arial Black"/>
            </a:endParaRPr>
          </a:p>
        </p:txBody>
      </p:sp>
      <p:sp>
        <p:nvSpPr>
          <p:cNvPr id="5" name="object 5"/>
          <p:cNvSpPr txBox="1"/>
          <p:nvPr/>
        </p:nvSpPr>
        <p:spPr>
          <a:xfrm>
            <a:off x="1945434" y="1710578"/>
            <a:ext cx="1555327" cy="256480"/>
          </a:xfrm>
          <a:prstGeom prst="rect">
            <a:avLst/>
          </a:prstGeom>
        </p:spPr>
        <p:txBody>
          <a:bodyPr vert="horz" wrap="square" lIns="0" tIns="10160" rIns="0" bIns="0" rtlCol="0">
            <a:spAutoFit/>
          </a:bodyPr>
          <a:lstStyle/>
          <a:p>
            <a:pPr>
              <a:spcBef>
                <a:spcPts val="80"/>
              </a:spcBef>
            </a:pPr>
            <a:r>
              <a:rPr sz="1600" spc="-33" dirty="0">
                <a:solidFill>
                  <a:srgbClr val="666666"/>
                </a:solidFill>
                <a:latin typeface="Arial Black"/>
                <a:cs typeface="Arial Black"/>
              </a:rPr>
              <a:t>Compute</a:t>
            </a:r>
            <a:r>
              <a:rPr sz="1600" spc="-127" dirty="0">
                <a:solidFill>
                  <a:srgbClr val="666666"/>
                </a:solidFill>
                <a:latin typeface="Arial Black"/>
                <a:cs typeface="Arial Black"/>
              </a:rPr>
              <a:t> </a:t>
            </a:r>
            <a:r>
              <a:rPr sz="1600" spc="-47" dirty="0">
                <a:solidFill>
                  <a:srgbClr val="666666"/>
                </a:solidFill>
                <a:latin typeface="Arial Black"/>
                <a:cs typeface="Arial Black"/>
              </a:rPr>
              <a:t>units</a:t>
            </a:r>
            <a:endParaRPr sz="1600">
              <a:latin typeface="Arial Black"/>
              <a:cs typeface="Arial Black"/>
            </a:endParaRPr>
          </a:p>
        </p:txBody>
      </p:sp>
      <p:grpSp>
        <p:nvGrpSpPr>
          <p:cNvPr id="6" name="object 6"/>
          <p:cNvGrpSpPr/>
          <p:nvPr/>
        </p:nvGrpSpPr>
        <p:grpSpPr>
          <a:xfrm>
            <a:off x="1813796" y="1711599"/>
            <a:ext cx="8573347" cy="988060"/>
            <a:chOff x="1360347" y="1283699"/>
            <a:chExt cx="6430010" cy="741045"/>
          </a:xfrm>
        </p:grpSpPr>
        <p:sp>
          <p:nvSpPr>
            <p:cNvPr id="7" name="object 7"/>
            <p:cNvSpPr/>
            <p:nvPr/>
          </p:nvSpPr>
          <p:spPr>
            <a:xfrm>
              <a:off x="1365110" y="1288461"/>
              <a:ext cx="6420485" cy="731520"/>
            </a:xfrm>
            <a:custGeom>
              <a:avLst/>
              <a:gdLst/>
              <a:ahLst/>
              <a:cxnLst/>
              <a:rect l="l" t="t" r="r" b="b"/>
              <a:pathLst>
                <a:path w="6420484" h="731519">
                  <a:moveTo>
                    <a:pt x="6419999" y="731400"/>
                  </a:moveTo>
                  <a:lnTo>
                    <a:pt x="0" y="731400"/>
                  </a:lnTo>
                  <a:lnTo>
                    <a:pt x="0" y="0"/>
                  </a:lnTo>
                  <a:lnTo>
                    <a:pt x="6419999" y="0"/>
                  </a:lnTo>
                  <a:lnTo>
                    <a:pt x="6419999" y="731400"/>
                  </a:lnTo>
                  <a:close/>
                </a:path>
              </a:pathLst>
            </a:custGeom>
            <a:solidFill>
              <a:srgbClr val="FFECED"/>
            </a:solidFill>
          </p:spPr>
          <p:txBody>
            <a:bodyPr wrap="square" lIns="0" tIns="0" rIns="0" bIns="0" rtlCol="0"/>
            <a:lstStyle/>
            <a:p>
              <a:endParaRPr sz="2400"/>
            </a:p>
          </p:txBody>
        </p:sp>
        <p:sp>
          <p:nvSpPr>
            <p:cNvPr id="8" name="object 8"/>
            <p:cNvSpPr/>
            <p:nvPr/>
          </p:nvSpPr>
          <p:spPr>
            <a:xfrm>
              <a:off x="1365110" y="1288461"/>
              <a:ext cx="6420485" cy="731520"/>
            </a:xfrm>
            <a:custGeom>
              <a:avLst/>
              <a:gdLst/>
              <a:ahLst/>
              <a:cxnLst/>
              <a:rect l="l" t="t" r="r" b="b"/>
              <a:pathLst>
                <a:path w="6420484" h="731519">
                  <a:moveTo>
                    <a:pt x="0" y="0"/>
                  </a:moveTo>
                  <a:lnTo>
                    <a:pt x="6419999" y="0"/>
                  </a:lnTo>
                  <a:lnTo>
                    <a:pt x="6419999" y="731400"/>
                  </a:lnTo>
                  <a:lnTo>
                    <a:pt x="0" y="731400"/>
                  </a:lnTo>
                  <a:lnTo>
                    <a:pt x="0" y="0"/>
                  </a:lnTo>
                  <a:close/>
                </a:path>
              </a:pathLst>
            </a:custGeom>
            <a:ln w="9524">
              <a:solidFill>
                <a:srgbClr val="237A94"/>
              </a:solidFill>
            </a:ln>
          </p:spPr>
          <p:txBody>
            <a:bodyPr wrap="square" lIns="0" tIns="0" rIns="0" bIns="0" rtlCol="0"/>
            <a:lstStyle/>
            <a:p>
              <a:endParaRPr sz="2400"/>
            </a:p>
          </p:txBody>
        </p:sp>
        <p:sp>
          <p:nvSpPr>
            <p:cNvPr id="9" name="object 9"/>
            <p:cNvSpPr/>
            <p:nvPr/>
          </p:nvSpPr>
          <p:spPr>
            <a:xfrm>
              <a:off x="3853475"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0" name="object 10"/>
            <p:cNvSpPr/>
            <p:nvPr/>
          </p:nvSpPr>
          <p:spPr>
            <a:xfrm>
              <a:off x="3853475" y="1509156"/>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1" name="object 11"/>
            <p:cNvSpPr/>
            <p:nvPr/>
          </p:nvSpPr>
          <p:spPr>
            <a:xfrm>
              <a:off x="46584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2" name="object 12"/>
            <p:cNvSpPr/>
            <p:nvPr/>
          </p:nvSpPr>
          <p:spPr>
            <a:xfrm>
              <a:off x="46584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3" name="object 13"/>
            <p:cNvSpPr/>
            <p:nvPr/>
          </p:nvSpPr>
          <p:spPr>
            <a:xfrm>
              <a:off x="5460074"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4" name="object 14"/>
            <p:cNvSpPr/>
            <p:nvPr/>
          </p:nvSpPr>
          <p:spPr>
            <a:xfrm>
              <a:off x="5460074" y="1509156"/>
              <a:ext cx="650240" cy="457200"/>
            </a:xfrm>
            <a:custGeom>
              <a:avLst/>
              <a:gdLst/>
              <a:ahLst/>
              <a:cxnLst/>
              <a:rect l="l" t="t" r="r" b="b"/>
              <a:pathLst>
                <a:path w="650239"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5" name="object 15"/>
            <p:cNvSpPr/>
            <p:nvPr/>
          </p:nvSpPr>
          <p:spPr>
            <a:xfrm>
              <a:off x="6261724" y="1509157"/>
              <a:ext cx="650240" cy="226695"/>
            </a:xfrm>
            <a:custGeom>
              <a:avLst/>
              <a:gdLst/>
              <a:ahLst/>
              <a:cxnLst/>
              <a:rect l="l" t="t" r="r" b="b"/>
              <a:pathLst>
                <a:path w="650240" h="226694">
                  <a:moveTo>
                    <a:pt x="0" y="226679"/>
                  </a:moveTo>
                  <a:lnTo>
                    <a:pt x="649726" y="226679"/>
                  </a:lnTo>
                  <a:lnTo>
                    <a:pt x="649726" y="0"/>
                  </a:lnTo>
                  <a:lnTo>
                    <a:pt x="0" y="0"/>
                  </a:lnTo>
                  <a:lnTo>
                    <a:pt x="0" y="226679"/>
                  </a:lnTo>
                  <a:close/>
                </a:path>
              </a:pathLst>
            </a:custGeom>
            <a:solidFill>
              <a:srgbClr val="F4C4D1"/>
            </a:solidFill>
          </p:spPr>
          <p:txBody>
            <a:bodyPr wrap="square" lIns="0" tIns="0" rIns="0" bIns="0" rtlCol="0"/>
            <a:lstStyle/>
            <a:p>
              <a:endParaRPr sz="2400"/>
            </a:p>
          </p:txBody>
        </p:sp>
        <p:sp>
          <p:nvSpPr>
            <p:cNvPr id="16" name="object 16"/>
            <p:cNvSpPr/>
            <p:nvPr/>
          </p:nvSpPr>
          <p:spPr>
            <a:xfrm>
              <a:off x="6261724" y="1509157"/>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7" name="object 17"/>
            <p:cNvSpPr/>
            <p:nvPr/>
          </p:nvSpPr>
          <p:spPr>
            <a:xfrm>
              <a:off x="7063349" y="1509156"/>
              <a:ext cx="650240" cy="234950"/>
            </a:xfrm>
            <a:custGeom>
              <a:avLst/>
              <a:gdLst/>
              <a:ahLst/>
              <a:cxnLst/>
              <a:rect l="l" t="t" r="r" b="b"/>
              <a:pathLst>
                <a:path w="650240"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8" name="object 18"/>
            <p:cNvSpPr/>
            <p:nvPr/>
          </p:nvSpPr>
          <p:spPr>
            <a:xfrm>
              <a:off x="7063349" y="1509156"/>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9" name="object 19"/>
            <p:cNvSpPr/>
            <p:nvPr/>
          </p:nvSpPr>
          <p:spPr>
            <a:xfrm>
              <a:off x="1448749" y="1509158"/>
              <a:ext cx="650240" cy="228600"/>
            </a:xfrm>
            <a:custGeom>
              <a:avLst/>
              <a:gdLst/>
              <a:ahLst/>
              <a:cxnLst/>
              <a:rect l="l" t="t" r="r" b="b"/>
              <a:pathLst>
                <a:path w="650239" h="228600">
                  <a:moveTo>
                    <a:pt x="0" y="228477"/>
                  </a:moveTo>
                  <a:lnTo>
                    <a:pt x="649726" y="228477"/>
                  </a:lnTo>
                  <a:lnTo>
                    <a:pt x="649726" y="0"/>
                  </a:lnTo>
                  <a:lnTo>
                    <a:pt x="0" y="0"/>
                  </a:lnTo>
                  <a:lnTo>
                    <a:pt x="0" y="228477"/>
                  </a:lnTo>
                  <a:close/>
                </a:path>
              </a:pathLst>
            </a:custGeom>
            <a:solidFill>
              <a:srgbClr val="F4C4D1"/>
            </a:solidFill>
          </p:spPr>
          <p:txBody>
            <a:bodyPr wrap="square" lIns="0" tIns="0" rIns="0" bIns="0" rtlCol="0"/>
            <a:lstStyle/>
            <a:p>
              <a:endParaRPr sz="2400"/>
            </a:p>
          </p:txBody>
        </p:sp>
        <p:sp>
          <p:nvSpPr>
            <p:cNvPr id="20" name="object 20"/>
            <p:cNvSpPr/>
            <p:nvPr/>
          </p:nvSpPr>
          <p:spPr>
            <a:xfrm>
              <a:off x="1448749"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1" name="object 21"/>
            <p:cNvSpPr/>
            <p:nvPr/>
          </p:nvSpPr>
          <p:spPr>
            <a:xfrm>
              <a:off x="2250396" y="1509158"/>
              <a:ext cx="650240" cy="234950"/>
            </a:xfrm>
            <a:custGeom>
              <a:avLst/>
              <a:gdLst/>
              <a:ahLst/>
              <a:cxnLst/>
              <a:rect l="l" t="t" r="r" b="b"/>
              <a:pathLst>
                <a:path w="650239" h="234950">
                  <a:moveTo>
                    <a:pt x="0" y="234402"/>
                  </a:moveTo>
                  <a:lnTo>
                    <a:pt x="649726" y="234402"/>
                  </a:lnTo>
                  <a:lnTo>
                    <a:pt x="649726" y="0"/>
                  </a:lnTo>
                  <a:lnTo>
                    <a:pt x="0" y="0"/>
                  </a:lnTo>
                  <a:lnTo>
                    <a:pt x="0" y="234402"/>
                  </a:lnTo>
                  <a:close/>
                </a:path>
              </a:pathLst>
            </a:custGeom>
            <a:solidFill>
              <a:srgbClr val="F4C4D1"/>
            </a:solidFill>
          </p:spPr>
          <p:txBody>
            <a:bodyPr wrap="square" lIns="0" tIns="0" rIns="0" bIns="0" rtlCol="0"/>
            <a:lstStyle/>
            <a:p>
              <a:endParaRPr sz="2400"/>
            </a:p>
          </p:txBody>
        </p:sp>
        <p:sp>
          <p:nvSpPr>
            <p:cNvPr id="22" name="object 22"/>
            <p:cNvSpPr/>
            <p:nvPr/>
          </p:nvSpPr>
          <p:spPr>
            <a:xfrm>
              <a:off x="2250396"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3" name="object 23"/>
            <p:cNvSpPr/>
            <p:nvPr/>
          </p:nvSpPr>
          <p:spPr>
            <a:xfrm>
              <a:off x="30520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4" name="object 24"/>
            <p:cNvSpPr/>
            <p:nvPr/>
          </p:nvSpPr>
          <p:spPr>
            <a:xfrm>
              <a:off x="30520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grpSp>
      <p:sp>
        <p:nvSpPr>
          <p:cNvPr id="25" name="object 25"/>
          <p:cNvSpPr txBox="1"/>
          <p:nvPr/>
        </p:nvSpPr>
        <p:spPr>
          <a:xfrm>
            <a:off x="1908748" y="1715056"/>
            <a:ext cx="1532467" cy="263320"/>
          </a:xfrm>
          <a:prstGeom prst="rect">
            <a:avLst/>
          </a:prstGeom>
        </p:spPr>
        <p:txBody>
          <a:bodyPr vert="horz" wrap="square" lIns="0" tIns="16933" rIns="0" bIns="0" rtlCol="0">
            <a:spAutoFit/>
          </a:bodyPr>
          <a:lstStyle/>
          <a:p>
            <a:pPr>
              <a:spcBef>
                <a:spcPts val="133"/>
              </a:spcBef>
            </a:pPr>
            <a:r>
              <a:rPr sz="1600" spc="67" dirty="0">
                <a:solidFill>
                  <a:srgbClr val="434343"/>
                </a:solidFill>
                <a:latin typeface="Lucida Sans Unicode"/>
                <a:cs typeface="Lucida Sans Unicode"/>
              </a:rPr>
              <a:t>Compute</a:t>
            </a:r>
            <a:r>
              <a:rPr sz="1600" spc="-53" dirty="0">
                <a:solidFill>
                  <a:srgbClr val="434343"/>
                </a:solidFill>
                <a:latin typeface="Lucida Sans Unicode"/>
                <a:cs typeface="Lucida Sans Unicode"/>
              </a:rPr>
              <a:t> </a:t>
            </a:r>
            <a:r>
              <a:rPr sz="1600" spc="-13" dirty="0">
                <a:solidFill>
                  <a:srgbClr val="434343"/>
                </a:solidFill>
                <a:latin typeface="Lucida Sans Unicode"/>
                <a:cs typeface="Lucida Sans Unicode"/>
              </a:rPr>
              <a:t>Units</a:t>
            </a:r>
            <a:endParaRPr sz="1600">
              <a:latin typeface="Lucida Sans Unicode"/>
              <a:cs typeface="Lucida Sans Unicode"/>
            </a:endParaRPr>
          </a:p>
        </p:txBody>
      </p:sp>
      <p:grpSp>
        <p:nvGrpSpPr>
          <p:cNvPr id="26" name="object 26"/>
          <p:cNvGrpSpPr/>
          <p:nvPr/>
        </p:nvGrpSpPr>
        <p:grpSpPr>
          <a:xfrm>
            <a:off x="1809633" y="2308098"/>
            <a:ext cx="8573347" cy="2899833"/>
            <a:chOff x="1357225" y="1731073"/>
            <a:chExt cx="6430010" cy="2174875"/>
          </a:xfrm>
        </p:grpSpPr>
        <p:sp>
          <p:nvSpPr>
            <p:cNvPr id="27" name="object 27"/>
            <p:cNvSpPr/>
            <p:nvPr/>
          </p:nvSpPr>
          <p:spPr>
            <a:xfrm>
              <a:off x="1448753" y="1737636"/>
              <a:ext cx="650240" cy="230504"/>
            </a:xfrm>
            <a:custGeom>
              <a:avLst/>
              <a:gdLst/>
              <a:ahLst/>
              <a:cxnLst/>
              <a:rect l="l" t="t" r="r" b="b"/>
              <a:pathLst>
                <a:path w="650239" h="230505">
                  <a:moveTo>
                    <a:pt x="649800" y="230399"/>
                  </a:moveTo>
                  <a:lnTo>
                    <a:pt x="0" y="230399"/>
                  </a:lnTo>
                  <a:lnTo>
                    <a:pt x="0" y="0"/>
                  </a:lnTo>
                  <a:lnTo>
                    <a:pt x="649800" y="0"/>
                  </a:lnTo>
                  <a:lnTo>
                    <a:pt x="649800" y="230399"/>
                  </a:lnTo>
                  <a:close/>
                </a:path>
              </a:pathLst>
            </a:custGeom>
            <a:solidFill>
              <a:srgbClr val="EBFAFF"/>
            </a:solidFill>
          </p:spPr>
          <p:txBody>
            <a:bodyPr wrap="square" lIns="0" tIns="0" rIns="0" bIns="0" rtlCol="0"/>
            <a:lstStyle/>
            <a:p>
              <a:endParaRPr sz="2400"/>
            </a:p>
          </p:txBody>
        </p:sp>
        <p:sp>
          <p:nvSpPr>
            <p:cNvPr id="28" name="object 28"/>
            <p:cNvSpPr/>
            <p:nvPr/>
          </p:nvSpPr>
          <p:spPr>
            <a:xfrm>
              <a:off x="1448753" y="1737636"/>
              <a:ext cx="650240" cy="230504"/>
            </a:xfrm>
            <a:custGeom>
              <a:avLst/>
              <a:gdLst/>
              <a:ahLst/>
              <a:cxnLst/>
              <a:rect l="l" t="t" r="r" b="b"/>
              <a:pathLst>
                <a:path w="650239" h="230505">
                  <a:moveTo>
                    <a:pt x="649800" y="0"/>
                  </a:moveTo>
                  <a:lnTo>
                    <a:pt x="649800" y="230399"/>
                  </a:lnTo>
                  <a:lnTo>
                    <a:pt x="0" y="230399"/>
                  </a:lnTo>
                  <a:lnTo>
                    <a:pt x="0" y="0"/>
                  </a:lnTo>
                  <a:lnTo>
                    <a:pt x="649800" y="0"/>
                  </a:lnTo>
                  <a:close/>
                </a:path>
              </a:pathLst>
            </a:custGeom>
            <a:ln w="9524">
              <a:solidFill>
                <a:srgbClr val="237A94"/>
              </a:solidFill>
            </a:ln>
          </p:spPr>
          <p:txBody>
            <a:bodyPr wrap="square" lIns="0" tIns="0" rIns="0" bIns="0" rtlCol="0"/>
            <a:lstStyle/>
            <a:p>
              <a:endParaRPr sz="2400"/>
            </a:p>
          </p:txBody>
        </p:sp>
        <p:sp>
          <p:nvSpPr>
            <p:cNvPr id="29" name="object 29"/>
            <p:cNvSpPr/>
            <p:nvPr/>
          </p:nvSpPr>
          <p:spPr>
            <a:xfrm>
              <a:off x="2251228"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0" name="object 30"/>
            <p:cNvSpPr/>
            <p:nvPr/>
          </p:nvSpPr>
          <p:spPr>
            <a:xfrm>
              <a:off x="2251228"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1" name="object 31"/>
            <p:cNvSpPr/>
            <p:nvPr/>
          </p:nvSpPr>
          <p:spPr>
            <a:xfrm>
              <a:off x="305370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2" name="object 32"/>
            <p:cNvSpPr/>
            <p:nvPr/>
          </p:nvSpPr>
          <p:spPr>
            <a:xfrm>
              <a:off x="305370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3" name="object 33"/>
            <p:cNvSpPr/>
            <p:nvPr/>
          </p:nvSpPr>
          <p:spPr>
            <a:xfrm>
              <a:off x="385617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4" name="object 34"/>
            <p:cNvSpPr/>
            <p:nvPr/>
          </p:nvSpPr>
          <p:spPr>
            <a:xfrm>
              <a:off x="385617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5" name="object 35"/>
            <p:cNvSpPr/>
            <p:nvPr/>
          </p:nvSpPr>
          <p:spPr>
            <a:xfrm>
              <a:off x="465865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6" name="object 36"/>
            <p:cNvSpPr/>
            <p:nvPr/>
          </p:nvSpPr>
          <p:spPr>
            <a:xfrm>
              <a:off x="465865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7" name="object 37"/>
            <p:cNvSpPr/>
            <p:nvPr/>
          </p:nvSpPr>
          <p:spPr>
            <a:xfrm>
              <a:off x="54611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8" name="object 38"/>
            <p:cNvSpPr/>
            <p:nvPr/>
          </p:nvSpPr>
          <p:spPr>
            <a:xfrm>
              <a:off x="54611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9" name="object 39"/>
            <p:cNvSpPr/>
            <p:nvPr/>
          </p:nvSpPr>
          <p:spPr>
            <a:xfrm>
              <a:off x="6263603" y="1735836"/>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0" name="object 40"/>
            <p:cNvSpPr/>
            <p:nvPr/>
          </p:nvSpPr>
          <p:spPr>
            <a:xfrm>
              <a:off x="6263603" y="1735836"/>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1" name="object 41"/>
            <p:cNvSpPr/>
            <p:nvPr/>
          </p:nvSpPr>
          <p:spPr>
            <a:xfrm>
              <a:off x="7066078" y="1743561"/>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2" name="object 42"/>
            <p:cNvSpPr/>
            <p:nvPr/>
          </p:nvSpPr>
          <p:spPr>
            <a:xfrm>
              <a:off x="7066078" y="1743561"/>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3" name="object 43"/>
            <p:cNvSpPr/>
            <p:nvPr/>
          </p:nvSpPr>
          <p:spPr>
            <a:xfrm>
              <a:off x="1361987" y="2137274"/>
              <a:ext cx="6420485" cy="1763395"/>
            </a:xfrm>
            <a:custGeom>
              <a:avLst/>
              <a:gdLst/>
              <a:ahLst/>
              <a:cxnLst/>
              <a:rect l="l" t="t" r="r" b="b"/>
              <a:pathLst>
                <a:path w="6420484" h="1763395">
                  <a:moveTo>
                    <a:pt x="6419999" y="1763399"/>
                  </a:moveTo>
                  <a:lnTo>
                    <a:pt x="0" y="1763399"/>
                  </a:lnTo>
                  <a:lnTo>
                    <a:pt x="0" y="0"/>
                  </a:lnTo>
                  <a:lnTo>
                    <a:pt x="6419999" y="0"/>
                  </a:lnTo>
                  <a:lnTo>
                    <a:pt x="6419999" y="1763399"/>
                  </a:lnTo>
                  <a:close/>
                </a:path>
              </a:pathLst>
            </a:custGeom>
            <a:solidFill>
              <a:srgbClr val="EBFAFF"/>
            </a:solidFill>
          </p:spPr>
          <p:txBody>
            <a:bodyPr wrap="square" lIns="0" tIns="0" rIns="0" bIns="0" rtlCol="0"/>
            <a:lstStyle/>
            <a:p>
              <a:endParaRPr sz="2400"/>
            </a:p>
          </p:txBody>
        </p:sp>
        <p:sp>
          <p:nvSpPr>
            <p:cNvPr id="44" name="object 44"/>
            <p:cNvSpPr/>
            <p:nvPr/>
          </p:nvSpPr>
          <p:spPr>
            <a:xfrm>
              <a:off x="1361987" y="2137274"/>
              <a:ext cx="6420485" cy="1763395"/>
            </a:xfrm>
            <a:custGeom>
              <a:avLst/>
              <a:gdLst/>
              <a:ahLst/>
              <a:cxnLst/>
              <a:rect l="l" t="t" r="r" b="b"/>
              <a:pathLst>
                <a:path w="6420484" h="1763395">
                  <a:moveTo>
                    <a:pt x="0" y="0"/>
                  </a:moveTo>
                  <a:lnTo>
                    <a:pt x="6419999" y="0"/>
                  </a:lnTo>
                  <a:lnTo>
                    <a:pt x="6419999" y="1763399"/>
                  </a:lnTo>
                  <a:lnTo>
                    <a:pt x="0" y="1763399"/>
                  </a:lnTo>
                  <a:lnTo>
                    <a:pt x="0" y="0"/>
                  </a:lnTo>
                  <a:close/>
                </a:path>
              </a:pathLst>
            </a:custGeom>
            <a:ln w="9524">
              <a:solidFill>
                <a:srgbClr val="237A94"/>
              </a:solidFill>
            </a:ln>
          </p:spPr>
          <p:txBody>
            <a:bodyPr wrap="square" lIns="0" tIns="0" rIns="0" bIns="0" rtlCol="0"/>
            <a:lstStyle/>
            <a:p>
              <a:endParaRPr sz="2400"/>
            </a:p>
          </p:txBody>
        </p:sp>
      </p:grpSp>
      <p:sp>
        <p:nvSpPr>
          <p:cNvPr id="45" name="object 45"/>
          <p:cNvSpPr txBox="1"/>
          <p:nvPr/>
        </p:nvSpPr>
        <p:spPr>
          <a:xfrm>
            <a:off x="1976302" y="2984056"/>
            <a:ext cx="1474893" cy="263320"/>
          </a:xfrm>
          <a:prstGeom prst="rect">
            <a:avLst/>
          </a:prstGeom>
        </p:spPr>
        <p:txBody>
          <a:bodyPr vert="horz" wrap="square" lIns="0" tIns="16933" rIns="0" bIns="0" rtlCol="0">
            <a:spAutoFit/>
          </a:bodyPr>
          <a:lstStyle/>
          <a:p>
            <a:pPr>
              <a:spcBef>
                <a:spcPts val="133"/>
              </a:spcBef>
            </a:pPr>
            <a:r>
              <a:rPr sz="1600" dirty="0">
                <a:solidFill>
                  <a:srgbClr val="434343"/>
                </a:solidFill>
                <a:latin typeface="Lucida Sans Unicode"/>
                <a:cs typeface="Lucida Sans Unicode"/>
              </a:rPr>
              <a:t>Memory</a:t>
            </a:r>
            <a:r>
              <a:rPr sz="1600" spc="167" dirty="0">
                <a:solidFill>
                  <a:srgbClr val="434343"/>
                </a:solidFill>
                <a:latin typeface="Lucida Sans Unicode"/>
                <a:cs typeface="Lucida Sans Unicode"/>
              </a:rPr>
              <a:t> </a:t>
            </a:r>
            <a:r>
              <a:rPr sz="1600" spc="-27" dirty="0">
                <a:solidFill>
                  <a:srgbClr val="434343"/>
                </a:solidFill>
                <a:latin typeface="Lucida Sans Unicode"/>
                <a:cs typeface="Lucida Sans Unicode"/>
              </a:rPr>
              <a:t>VRAM</a:t>
            </a:r>
            <a:endParaRPr sz="1600">
              <a:latin typeface="Lucida Sans Unicode"/>
              <a:cs typeface="Lucida Sans Unicode"/>
            </a:endParaRPr>
          </a:p>
        </p:txBody>
      </p:sp>
      <p:grpSp>
        <p:nvGrpSpPr>
          <p:cNvPr id="46" name="object 46"/>
          <p:cNvGrpSpPr/>
          <p:nvPr/>
        </p:nvGrpSpPr>
        <p:grpSpPr>
          <a:xfrm>
            <a:off x="2058250" y="3545683"/>
            <a:ext cx="1454573" cy="1260687"/>
            <a:chOff x="1543687" y="2659262"/>
            <a:chExt cx="1090930" cy="945515"/>
          </a:xfrm>
        </p:grpSpPr>
        <p:sp>
          <p:nvSpPr>
            <p:cNvPr id="47" name="object 47"/>
            <p:cNvSpPr/>
            <p:nvPr/>
          </p:nvSpPr>
          <p:spPr>
            <a:xfrm>
              <a:off x="1548449" y="2664025"/>
              <a:ext cx="1081405" cy="935990"/>
            </a:xfrm>
            <a:custGeom>
              <a:avLst/>
              <a:gdLst/>
              <a:ahLst/>
              <a:cxnLst/>
              <a:rect l="l" t="t" r="r" b="b"/>
              <a:pathLst>
                <a:path w="1081405" h="935989">
                  <a:moveTo>
                    <a:pt x="1081199" y="935699"/>
                  </a:moveTo>
                  <a:lnTo>
                    <a:pt x="0" y="935699"/>
                  </a:lnTo>
                  <a:lnTo>
                    <a:pt x="0" y="0"/>
                  </a:lnTo>
                  <a:lnTo>
                    <a:pt x="1081199" y="0"/>
                  </a:lnTo>
                  <a:lnTo>
                    <a:pt x="1081199" y="935699"/>
                  </a:lnTo>
                  <a:close/>
                </a:path>
              </a:pathLst>
            </a:custGeom>
            <a:solidFill>
              <a:srgbClr val="FFFFFF"/>
            </a:solidFill>
          </p:spPr>
          <p:txBody>
            <a:bodyPr wrap="square" lIns="0" tIns="0" rIns="0" bIns="0" rtlCol="0"/>
            <a:lstStyle/>
            <a:p>
              <a:endParaRPr sz="2400"/>
            </a:p>
          </p:txBody>
        </p:sp>
        <p:sp>
          <p:nvSpPr>
            <p:cNvPr id="48" name="object 48"/>
            <p:cNvSpPr/>
            <p:nvPr/>
          </p:nvSpPr>
          <p:spPr>
            <a:xfrm>
              <a:off x="1548449" y="2664025"/>
              <a:ext cx="1081405" cy="935990"/>
            </a:xfrm>
            <a:custGeom>
              <a:avLst/>
              <a:gdLst/>
              <a:ahLst/>
              <a:cxnLst/>
              <a:rect l="l" t="t" r="r" b="b"/>
              <a:pathLst>
                <a:path w="1081405" h="935989">
                  <a:moveTo>
                    <a:pt x="0" y="0"/>
                  </a:moveTo>
                  <a:lnTo>
                    <a:pt x="1081199" y="0"/>
                  </a:lnTo>
                  <a:lnTo>
                    <a:pt x="1081199" y="935699"/>
                  </a:lnTo>
                  <a:lnTo>
                    <a:pt x="0" y="935699"/>
                  </a:lnTo>
                  <a:lnTo>
                    <a:pt x="0" y="0"/>
                  </a:lnTo>
                  <a:close/>
                </a:path>
              </a:pathLst>
            </a:custGeom>
            <a:ln w="9524">
              <a:solidFill>
                <a:srgbClr val="000000"/>
              </a:solidFill>
            </a:ln>
          </p:spPr>
          <p:txBody>
            <a:bodyPr wrap="square" lIns="0" tIns="0" rIns="0" bIns="0" rtlCol="0"/>
            <a:lstStyle/>
            <a:p>
              <a:endParaRPr sz="2400"/>
            </a:p>
          </p:txBody>
        </p:sp>
      </p:grpSp>
      <p:sp>
        <p:nvSpPr>
          <p:cNvPr id="49" name="object 49"/>
          <p:cNvSpPr txBox="1"/>
          <p:nvPr/>
        </p:nvSpPr>
        <p:spPr>
          <a:xfrm>
            <a:off x="2531867" y="3985503"/>
            <a:ext cx="524933" cy="345330"/>
          </a:xfrm>
          <a:prstGeom prst="rect">
            <a:avLst/>
          </a:prstGeom>
        </p:spPr>
        <p:txBody>
          <a:bodyPr vert="horz" wrap="square" lIns="0" tIns="16933" rIns="0" bIns="0" rtlCol="0">
            <a:spAutoFit/>
          </a:bodyPr>
          <a:lstStyle/>
          <a:p>
            <a:pPr>
              <a:spcBef>
                <a:spcPts val="133"/>
              </a:spcBef>
            </a:pPr>
            <a:r>
              <a:rPr sz="2133" spc="-272" dirty="0">
                <a:latin typeface="Arial Black"/>
                <a:cs typeface="Arial Black"/>
              </a:rPr>
              <a:t>LLM</a:t>
            </a:r>
            <a:endParaRPr sz="2133">
              <a:latin typeface="Arial Black"/>
              <a:cs typeface="Arial Black"/>
            </a:endParaRPr>
          </a:p>
        </p:txBody>
      </p:sp>
      <p:grpSp>
        <p:nvGrpSpPr>
          <p:cNvPr id="50" name="object 50"/>
          <p:cNvGrpSpPr/>
          <p:nvPr/>
        </p:nvGrpSpPr>
        <p:grpSpPr>
          <a:xfrm>
            <a:off x="3628285" y="3545689"/>
            <a:ext cx="1260687" cy="1260687"/>
            <a:chOff x="2721213" y="2659266"/>
            <a:chExt cx="945515" cy="945515"/>
          </a:xfrm>
        </p:grpSpPr>
        <p:sp>
          <p:nvSpPr>
            <p:cNvPr id="51" name="object 51"/>
            <p:cNvSpPr/>
            <p:nvPr/>
          </p:nvSpPr>
          <p:spPr>
            <a:xfrm>
              <a:off x="2725975" y="2664029"/>
              <a:ext cx="935990" cy="935990"/>
            </a:xfrm>
            <a:custGeom>
              <a:avLst/>
              <a:gdLst/>
              <a:ahLst/>
              <a:cxnLst/>
              <a:rect l="l" t="t" r="r" b="b"/>
              <a:pathLst>
                <a:path w="935989" h="935989">
                  <a:moveTo>
                    <a:pt x="935699" y="935699"/>
                  </a:moveTo>
                  <a:lnTo>
                    <a:pt x="0" y="935699"/>
                  </a:lnTo>
                  <a:lnTo>
                    <a:pt x="0" y="0"/>
                  </a:lnTo>
                  <a:lnTo>
                    <a:pt x="935699" y="0"/>
                  </a:lnTo>
                  <a:lnTo>
                    <a:pt x="935699" y="935699"/>
                  </a:lnTo>
                  <a:close/>
                </a:path>
              </a:pathLst>
            </a:custGeom>
            <a:solidFill>
              <a:srgbClr val="BBD4F9"/>
            </a:solidFill>
          </p:spPr>
          <p:txBody>
            <a:bodyPr wrap="square" lIns="0" tIns="0" rIns="0" bIns="0" rtlCol="0"/>
            <a:lstStyle/>
            <a:p>
              <a:endParaRPr sz="2400"/>
            </a:p>
          </p:txBody>
        </p:sp>
        <p:sp>
          <p:nvSpPr>
            <p:cNvPr id="52" name="object 52"/>
            <p:cNvSpPr/>
            <p:nvPr/>
          </p:nvSpPr>
          <p:spPr>
            <a:xfrm>
              <a:off x="2725975" y="2664029"/>
              <a:ext cx="935990" cy="935990"/>
            </a:xfrm>
            <a:custGeom>
              <a:avLst/>
              <a:gdLst/>
              <a:ahLst/>
              <a:cxnLst/>
              <a:rect l="l" t="t" r="r" b="b"/>
              <a:pathLst>
                <a:path w="935989" h="935989">
                  <a:moveTo>
                    <a:pt x="0" y="0"/>
                  </a:moveTo>
                  <a:lnTo>
                    <a:pt x="935699" y="0"/>
                  </a:lnTo>
                  <a:lnTo>
                    <a:pt x="935699" y="935699"/>
                  </a:lnTo>
                  <a:lnTo>
                    <a:pt x="0" y="935699"/>
                  </a:lnTo>
                  <a:lnTo>
                    <a:pt x="0" y="0"/>
                  </a:lnTo>
                  <a:close/>
                </a:path>
              </a:pathLst>
            </a:custGeom>
            <a:ln w="9524">
              <a:solidFill>
                <a:srgbClr val="1B73EB"/>
              </a:solidFill>
            </a:ln>
          </p:spPr>
          <p:txBody>
            <a:bodyPr wrap="square" lIns="0" tIns="0" rIns="0" bIns="0" rtlCol="0"/>
            <a:lstStyle/>
            <a:p>
              <a:endParaRPr sz="2400"/>
            </a:p>
          </p:txBody>
        </p:sp>
      </p:grpSp>
      <p:sp>
        <p:nvSpPr>
          <p:cNvPr id="53" name="object 53"/>
          <p:cNvSpPr txBox="1"/>
          <p:nvPr/>
        </p:nvSpPr>
        <p:spPr>
          <a:xfrm>
            <a:off x="3827889" y="3817869"/>
            <a:ext cx="878840" cy="673560"/>
          </a:xfrm>
          <a:prstGeom prst="rect">
            <a:avLst/>
          </a:prstGeom>
        </p:spPr>
        <p:txBody>
          <a:bodyPr vert="horz" wrap="square" lIns="0" tIns="16933" rIns="0" bIns="0" rtlCol="0">
            <a:spAutoFit/>
          </a:bodyPr>
          <a:lstStyle/>
          <a:p>
            <a:pPr marR="6773" algn="ctr">
              <a:spcBef>
                <a:spcPts val="133"/>
              </a:spcBef>
            </a:pPr>
            <a:r>
              <a:rPr sz="2133" spc="-33" dirty="0">
                <a:latin typeface="Arial Black"/>
                <a:cs typeface="Arial Black"/>
              </a:rPr>
              <a:t>KV</a:t>
            </a:r>
            <a:endParaRPr sz="2133">
              <a:latin typeface="Arial Black"/>
              <a:cs typeface="Arial Black"/>
            </a:endParaRPr>
          </a:p>
          <a:p>
            <a:pPr marR="6773" algn="ctr">
              <a:spcBef>
                <a:spcPts val="40"/>
              </a:spcBef>
            </a:pPr>
            <a:r>
              <a:rPr sz="2133" spc="-80" dirty="0">
                <a:latin typeface="Arial Black"/>
                <a:cs typeface="Arial Black"/>
              </a:rPr>
              <a:t>cache</a:t>
            </a:r>
            <a:endParaRPr sz="2133">
              <a:latin typeface="Arial Black"/>
              <a:cs typeface="Arial Black"/>
            </a:endParaRPr>
          </a:p>
        </p:txBody>
      </p:sp>
      <p:grpSp>
        <p:nvGrpSpPr>
          <p:cNvPr id="54" name="object 54"/>
          <p:cNvGrpSpPr/>
          <p:nvPr/>
        </p:nvGrpSpPr>
        <p:grpSpPr>
          <a:xfrm>
            <a:off x="1975915" y="2376252"/>
            <a:ext cx="8221980" cy="1665393"/>
            <a:chOff x="1481936" y="1782188"/>
            <a:chExt cx="6166485" cy="1249045"/>
          </a:xfrm>
        </p:grpSpPr>
        <p:sp>
          <p:nvSpPr>
            <p:cNvPr id="55" name="object 55"/>
            <p:cNvSpPr/>
            <p:nvPr/>
          </p:nvSpPr>
          <p:spPr>
            <a:xfrm>
              <a:off x="1575749" y="1999074"/>
              <a:ext cx="6068060" cy="197485"/>
            </a:xfrm>
            <a:custGeom>
              <a:avLst/>
              <a:gdLst/>
              <a:ahLst/>
              <a:cxnLst/>
              <a:rect l="l" t="t" r="r" b="b"/>
              <a:pathLst>
                <a:path w="6068059" h="197485">
                  <a:moveTo>
                    <a:pt x="6067799" y="197099"/>
                  </a:moveTo>
                  <a:lnTo>
                    <a:pt x="0" y="197099"/>
                  </a:lnTo>
                  <a:lnTo>
                    <a:pt x="0" y="0"/>
                  </a:lnTo>
                  <a:lnTo>
                    <a:pt x="6067799" y="0"/>
                  </a:lnTo>
                  <a:lnTo>
                    <a:pt x="6067799" y="197099"/>
                  </a:lnTo>
                  <a:close/>
                </a:path>
              </a:pathLst>
            </a:custGeom>
            <a:solidFill>
              <a:srgbClr val="FFDE7E"/>
            </a:solidFill>
          </p:spPr>
          <p:txBody>
            <a:bodyPr wrap="square" lIns="0" tIns="0" rIns="0" bIns="0" rtlCol="0"/>
            <a:lstStyle/>
            <a:p>
              <a:endParaRPr sz="2400"/>
            </a:p>
          </p:txBody>
        </p:sp>
        <p:sp>
          <p:nvSpPr>
            <p:cNvPr id="56" name="object 56"/>
            <p:cNvSpPr/>
            <p:nvPr/>
          </p:nvSpPr>
          <p:spPr>
            <a:xfrm>
              <a:off x="1575749" y="1999074"/>
              <a:ext cx="6068060" cy="197485"/>
            </a:xfrm>
            <a:custGeom>
              <a:avLst/>
              <a:gdLst/>
              <a:ahLst/>
              <a:cxnLst/>
              <a:rect l="l" t="t" r="r" b="b"/>
              <a:pathLst>
                <a:path w="6068059" h="197485">
                  <a:moveTo>
                    <a:pt x="0" y="0"/>
                  </a:moveTo>
                  <a:lnTo>
                    <a:pt x="6067799" y="0"/>
                  </a:lnTo>
                  <a:lnTo>
                    <a:pt x="6067799" y="197099"/>
                  </a:lnTo>
                  <a:lnTo>
                    <a:pt x="0" y="197099"/>
                  </a:lnTo>
                  <a:lnTo>
                    <a:pt x="0" y="0"/>
                  </a:lnTo>
                  <a:close/>
                </a:path>
              </a:pathLst>
            </a:custGeom>
            <a:ln w="9524">
              <a:solidFill>
                <a:srgbClr val="595959"/>
              </a:solidFill>
            </a:ln>
          </p:spPr>
          <p:txBody>
            <a:bodyPr wrap="square" lIns="0" tIns="0" rIns="0" bIns="0" rtlCol="0"/>
            <a:lstStyle/>
            <a:p>
              <a:endParaRPr sz="2400"/>
            </a:p>
          </p:txBody>
        </p:sp>
        <p:pic>
          <p:nvPicPr>
            <p:cNvPr id="57" name="object 57"/>
            <p:cNvPicPr/>
            <p:nvPr/>
          </p:nvPicPr>
          <p:blipFill>
            <a:blip r:embed="rId2" cstate="print"/>
            <a:stretch>
              <a:fillRect/>
            </a:stretch>
          </p:blipFill>
          <p:spPr>
            <a:xfrm>
              <a:off x="1481936" y="1782188"/>
              <a:ext cx="5821546" cy="1248682"/>
            </a:xfrm>
            <a:prstGeom prst="rect">
              <a:avLst/>
            </a:prstGeom>
          </p:spPr>
        </p:pic>
      </p:grpSp>
      <p:sp>
        <p:nvSpPr>
          <p:cNvPr id="58" name="object 58"/>
          <p:cNvSpPr txBox="1"/>
          <p:nvPr/>
        </p:nvSpPr>
        <p:spPr>
          <a:xfrm>
            <a:off x="1983219" y="2367132"/>
            <a:ext cx="25908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0" dirty="0">
                <a:latin typeface="Lucida Sans Unicode"/>
                <a:cs typeface="Lucida Sans Unicode"/>
              </a:rPr>
              <a:t> </a:t>
            </a:r>
            <a:r>
              <a:rPr sz="1200" spc="-67" dirty="0">
                <a:latin typeface="Lucida Sans Unicode"/>
                <a:cs typeface="Lucida Sans Unicode"/>
              </a:rPr>
              <a:t>K</a:t>
            </a:r>
            <a:endParaRPr sz="1200">
              <a:latin typeface="Lucida Sans Unicode"/>
              <a:cs typeface="Lucida Sans Unicode"/>
            </a:endParaRPr>
          </a:p>
        </p:txBody>
      </p:sp>
      <p:sp>
        <p:nvSpPr>
          <p:cNvPr id="59" name="object 59"/>
          <p:cNvSpPr txBox="1"/>
          <p:nvPr/>
        </p:nvSpPr>
        <p:spPr>
          <a:xfrm>
            <a:off x="3055800" y="2367132"/>
            <a:ext cx="25908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0" dirty="0">
                <a:latin typeface="Lucida Sans Unicode"/>
                <a:cs typeface="Lucida Sans Unicode"/>
              </a:rPr>
              <a:t> </a:t>
            </a:r>
            <a:r>
              <a:rPr sz="1200" spc="-67" dirty="0">
                <a:latin typeface="Lucida Sans Unicode"/>
                <a:cs typeface="Lucida Sans Unicode"/>
              </a:rPr>
              <a:t>K</a:t>
            </a:r>
            <a:endParaRPr sz="1200">
              <a:latin typeface="Lucida Sans Unicode"/>
              <a:cs typeface="Lucida Sans Unicode"/>
            </a:endParaRPr>
          </a:p>
        </p:txBody>
      </p:sp>
      <p:sp>
        <p:nvSpPr>
          <p:cNvPr id="60" name="object 60"/>
          <p:cNvSpPr txBox="1"/>
          <p:nvPr/>
        </p:nvSpPr>
        <p:spPr>
          <a:xfrm>
            <a:off x="4126296" y="2367132"/>
            <a:ext cx="25908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0" dirty="0">
                <a:latin typeface="Lucida Sans Unicode"/>
                <a:cs typeface="Lucida Sans Unicode"/>
              </a:rPr>
              <a:t> </a:t>
            </a:r>
            <a:r>
              <a:rPr sz="1200" spc="-67" dirty="0">
                <a:latin typeface="Lucida Sans Unicode"/>
                <a:cs typeface="Lucida Sans Unicode"/>
              </a:rPr>
              <a:t>K</a:t>
            </a:r>
            <a:endParaRPr sz="1200">
              <a:latin typeface="Lucida Sans Unicode"/>
              <a:cs typeface="Lucida Sans Unicode"/>
            </a:endParaRPr>
          </a:p>
        </p:txBody>
      </p:sp>
      <p:sp>
        <p:nvSpPr>
          <p:cNvPr id="61" name="object 61"/>
          <p:cNvSpPr txBox="1"/>
          <p:nvPr/>
        </p:nvSpPr>
        <p:spPr>
          <a:xfrm>
            <a:off x="5198877" y="2376446"/>
            <a:ext cx="120227" cy="192360"/>
          </a:xfrm>
          <a:prstGeom prst="rect">
            <a:avLst/>
          </a:prstGeom>
        </p:spPr>
        <p:txBody>
          <a:bodyPr vert="horz" wrap="square" lIns="0" tIns="7620" rIns="0" bIns="0" rtlCol="0">
            <a:spAutoFit/>
          </a:bodyPr>
          <a:lstStyle/>
          <a:p>
            <a:pPr>
              <a:spcBef>
                <a:spcPts val="60"/>
              </a:spcBef>
            </a:pPr>
            <a:r>
              <a:rPr sz="1200" spc="-67" dirty="0">
                <a:latin typeface="Lucida Sans Unicode"/>
                <a:cs typeface="Lucida Sans Unicode"/>
              </a:rPr>
              <a:t>Q</a:t>
            </a:r>
            <a:endParaRPr sz="1200">
              <a:latin typeface="Lucida Sans Unicode"/>
              <a:cs typeface="Lucida Sans Unicode"/>
            </a:endParaRPr>
          </a:p>
        </p:txBody>
      </p:sp>
      <p:sp>
        <p:nvSpPr>
          <p:cNvPr id="62" name="object 62"/>
          <p:cNvSpPr txBox="1"/>
          <p:nvPr/>
        </p:nvSpPr>
        <p:spPr>
          <a:xfrm>
            <a:off x="5349211" y="2376446"/>
            <a:ext cx="91440" cy="192360"/>
          </a:xfrm>
          <a:prstGeom prst="rect">
            <a:avLst/>
          </a:prstGeom>
        </p:spPr>
        <p:txBody>
          <a:bodyPr vert="horz" wrap="square" lIns="0" tIns="7620" rIns="0" bIns="0" rtlCol="0">
            <a:spAutoFit/>
          </a:bodyPr>
          <a:lstStyle/>
          <a:p>
            <a:pPr>
              <a:spcBef>
                <a:spcPts val="60"/>
              </a:spcBef>
            </a:pPr>
            <a:r>
              <a:rPr sz="1200" spc="-140" dirty="0">
                <a:latin typeface="Lucida Sans Unicode"/>
                <a:cs typeface="Lucida Sans Unicode"/>
              </a:rPr>
              <a:t>K</a:t>
            </a:r>
            <a:endParaRPr sz="1200">
              <a:latin typeface="Lucida Sans Unicode"/>
              <a:cs typeface="Lucida Sans Unicode"/>
            </a:endParaRPr>
          </a:p>
        </p:txBody>
      </p:sp>
      <p:sp>
        <p:nvSpPr>
          <p:cNvPr id="63" name="object 63"/>
          <p:cNvSpPr txBox="1"/>
          <p:nvPr/>
        </p:nvSpPr>
        <p:spPr>
          <a:xfrm>
            <a:off x="6266827" y="2367132"/>
            <a:ext cx="25908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0" dirty="0">
                <a:latin typeface="Lucida Sans Unicode"/>
                <a:cs typeface="Lucida Sans Unicode"/>
              </a:rPr>
              <a:t> </a:t>
            </a:r>
            <a:r>
              <a:rPr sz="1200" spc="-67" dirty="0">
                <a:latin typeface="Lucida Sans Unicode"/>
                <a:cs typeface="Lucida Sans Unicode"/>
              </a:rPr>
              <a:t>K</a:t>
            </a:r>
            <a:endParaRPr sz="1200">
              <a:latin typeface="Lucida Sans Unicode"/>
              <a:cs typeface="Lucida Sans Unicode"/>
            </a:endParaRPr>
          </a:p>
        </p:txBody>
      </p:sp>
      <p:sp>
        <p:nvSpPr>
          <p:cNvPr id="64" name="object 64"/>
          <p:cNvSpPr txBox="1"/>
          <p:nvPr/>
        </p:nvSpPr>
        <p:spPr>
          <a:xfrm>
            <a:off x="7336127" y="2367132"/>
            <a:ext cx="25908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0" dirty="0">
                <a:latin typeface="Lucida Sans Unicode"/>
                <a:cs typeface="Lucida Sans Unicode"/>
              </a:rPr>
              <a:t> </a:t>
            </a:r>
            <a:r>
              <a:rPr sz="1200" spc="-67" dirty="0">
                <a:latin typeface="Lucida Sans Unicode"/>
                <a:cs typeface="Lucida Sans Unicode"/>
              </a:rPr>
              <a:t>K</a:t>
            </a:r>
            <a:endParaRPr sz="1200">
              <a:latin typeface="Lucida Sans Unicode"/>
              <a:cs typeface="Lucida Sans Unicode"/>
            </a:endParaRPr>
          </a:p>
        </p:txBody>
      </p:sp>
      <p:sp>
        <p:nvSpPr>
          <p:cNvPr id="65" name="object 65"/>
          <p:cNvSpPr txBox="1"/>
          <p:nvPr/>
        </p:nvSpPr>
        <p:spPr>
          <a:xfrm>
            <a:off x="8403709" y="2367132"/>
            <a:ext cx="25908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0" dirty="0">
                <a:latin typeface="Lucida Sans Unicode"/>
                <a:cs typeface="Lucida Sans Unicode"/>
              </a:rPr>
              <a:t> </a:t>
            </a:r>
            <a:r>
              <a:rPr sz="1200" spc="-67" dirty="0">
                <a:latin typeface="Lucida Sans Unicode"/>
                <a:cs typeface="Lucida Sans Unicode"/>
              </a:rPr>
              <a:t>K</a:t>
            </a:r>
            <a:endParaRPr sz="1200">
              <a:latin typeface="Lucida Sans Unicode"/>
              <a:cs typeface="Lucida Sans Unicode"/>
            </a:endParaRPr>
          </a:p>
        </p:txBody>
      </p:sp>
      <p:sp>
        <p:nvSpPr>
          <p:cNvPr id="66" name="object 66"/>
          <p:cNvSpPr txBox="1"/>
          <p:nvPr/>
        </p:nvSpPr>
        <p:spPr>
          <a:xfrm>
            <a:off x="9474649" y="2367132"/>
            <a:ext cx="25908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0" dirty="0">
                <a:latin typeface="Lucida Sans Unicode"/>
                <a:cs typeface="Lucida Sans Unicode"/>
              </a:rPr>
              <a:t> </a:t>
            </a:r>
            <a:r>
              <a:rPr sz="1200" spc="-67" dirty="0">
                <a:latin typeface="Lucida Sans Unicode"/>
                <a:cs typeface="Lucida Sans Unicode"/>
              </a:rPr>
              <a:t>K</a:t>
            </a:r>
            <a:endParaRPr sz="1200">
              <a:latin typeface="Lucida Sans Unicode"/>
              <a:cs typeface="Lucida Sans Unicode"/>
            </a:endParaRPr>
          </a:p>
        </p:txBody>
      </p:sp>
      <p:sp>
        <p:nvSpPr>
          <p:cNvPr id="67" name="object 67"/>
          <p:cNvSpPr txBox="1"/>
          <p:nvPr/>
        </p:nvSpPr>
        <p:spPr>
          <a:xfrm>
            <a:off x="5197240" y="2367132"/>
            <a:ext cx="25908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0" dirty="0">
                <a:latin typeface="Lucida Sans Unicode"/>
                <a:cs typeface="Lucida Sans Unicode"/>
              </a:rPr>
              <a:t> </a:t>
            </a:r>
            <a:r>
              <a:rPr sz="1200" spc="-67" dirty="0">
                <a:latin typeface="Lucida Sans Unicode"/>
                <a:cs typeface="Lucida Sans Unicode"/>
              </a:rPr>
              <a:t>K</a:t>
            </a:r>
            <a:endParaRPr sz="1200">
              <a:latin typeface="Lucida Sans Unicode"/>
              <a:cs typeface="Lucida Sans Unicode"/>
            </a:endParaRPr>
          </a:p>
        </p:txBody>
      </p:sp>
      <p:sp>
        <p:nvSpPr>
          <p:cNvPr id="68" name="object 68"/>
          <p:cNvSpPr txBox="1"/>
          <p:nvPr/>
        </p:nvSpPr>
        <p:spPr>
          <a:xfrm>
            <a:off x="5100528" y="3600480"/>
            <a:ext cx="1532467" cy="345330"/>
          </a:xfrm>
          <a:prstGeom prst="rect">
            <a:avLst/>
          </a:prstGeom>
        </p:spPr>
        <p:txBody>
          <a:bodyPr vert="horz" wrap="square" lIns="0" tIns="16933" rIns="0" bIns="0" rtlCol="0">
            <a:spAutoFit/>
          </a:bodyPr>
          <a:lstStyle/>
          <a:p>
            <a:pPr>
              <a:spcBef>
                <a:spcPts val="133"/>
              </a:spcBef>
              <a:tabLst>
                <a:tab pos="683243" algn="l"/>
                <a:tab pos="1330925" algn="l"/>
              </a:tabLst>
            </a:pPr>
            <a:r>
              <a:rPr sz="2133" spc="-67" dirty="0">
                <a:latin typeface="Lucida Sans Unicode"/>
                <a:cs typeface="Lucida Sans Unicode"/>
              </a:rPr>
              <a:t>Q</a:t>
            </a:r>
            <a:r>
              <a:rPr sz="2133" dirty="0">
                <a:latin typeface="Lucida Sans Unicode"/>
                <a:cs typeface="Lucida Sans Unicode"/>
              </a:rPr>
              <a:t>	</a:t>
            </a:r>
            <a:r>
              <a:rPr sz="2133" spc="-67" dirty="0">
                <a:latin typeface="Lucida Sans Unicode"/>
                <a:cs typeface="Lucida Sans Unicode"/>
              </a:rPr>
              <a:t>K</a:t>
            </a:r>
            <a:r>
              <a:rPr sz="2133" dirty="0">
                <a:latin typeface="Lucida Sans Unicode"/>
                <a:cs typeface="Lucida Sans Unicode"/>
              </a:rPr>
              <a:t>	</a:t>
            </a:r>
            <a:r>
              <a:rPr sz="2133" spc="-67" dirty="0">
                <a:latin typeface="Lucida Sans Unicode"/>
                <a:cs typeface="Lucida Sans Unicode"/>
              </a:rPr>
              <a:t>V</a:t>
            </a:r>
            <a:endParaRPr sz="2133">
              <a:latin typeface="Lucida Sans Unicode"/>
              <a:cs typeface="Lucida Sans Unicode"/>
            </a:endParaRPr>
          </a:p>
        </p:txBody>
      </p:sp>
      <p:sp>
        <p:nvSpPr>
          <p:cNvPr id="69" name="TextBox 68">
            <a:extLst>
              <a:ext uri="{FF2B5EF4-FFF2-40B4-BE49-F238E27FC236}">
                <a16:creationId xmlns:a16="http://schemas.microsoft.com/office/drawing/2014/main" id="{D6B2DEAD-05F3-9091-A175-080853BF7996}"/>
              </a:ext>
            </a:extLst>
          </p:cNvPr>
          <p:cNvSpPr txBox="1"/>
          <p:nvPr/>
        </p:nvSpPr>
        <p:spPr>
          <a:xfrm>
            <a:off x="3256550" y="5934372"/>
            <a:ext cx="3269357" cy="461665"/>
          </a:xfrm>
          <a:prstGeom prst="rect">
            <a:avLst/>
          </a:prstGeom>
          <a:noFill/>
        </p:spPr>
        <p:txBody>
          <a:bodyPr wrap="none" rtlCol="0">
            <a:spAutoFit/>
          </a:bodyPr>
          <a:lstStyle/>
          <a:p>
            <a:r>
              <a:rPr lang="en-US" sz="2400" dirty="0"/>
              <a:t>Load QK in compute unit</a:t>
            </a:r>
            <a:endParaRPr lang="en-IN" sz="2400" dirty="0"/>
          </a:p>
        </p:txBody>
      </p:sp>
    </p:spTree>
    <p:extLst>
      <p:ext uri="{BB962C8B-B14F-4D97-AF65-F5344CB8AC3E}">
        <p14:creationId xmlns:p14="http://schemas.microsoft.com/office/powerpoint/2010/main" val="1364488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Attention</a:t>
            </a:r>
            <a:r>
              <a:rPr spc="-152" dirty="0"/>
              <a:t> </a:t>
            </a:r>
            <a:r>
              <a:rPr spc="213" dirty="0"/>
              <a:t>data</a:t>
            </a:r>
            <a:r>
              <a:rPr spc="-147" dirty="0"/>
              <a:t> </a:t>
            </a:r>
            <a:r>
              <a:rPr spc="-27" dirty="0"/>
              <a:t>flow</a:t>
            </a:r>
          </a:p>
        </p:txBody>
      </p:sp>
      <p:sp>
        <p:nvSpPr>
          <p:cNvPr id="3" name="object 3"/>
          <p:cNvSpPr/>
          <p:nvPr/>
        </p:nvSpPr>
        <p:spPr>
          <a:xfrm>
            <a:off x="1431063" y="1548384"/>
            <a:ext cx="9338733" cy="4060613"/>
          </a:xfrm>
          <a:custGeom>
            <a:avLst/>
            <a:gdLst/>
            <a:ahLst/>
            <a:cxnLst/>
            <a:rect l="l" t="t" r="r" b="b"/>
            <a:pathLst>
              <a:path w="7004050" h="3045460">
                <a:moveTo>
                  <a:pt x="0" y="0"/>
                </a:moveTo>
                <a:lnTo>
                  <a:pt x="7003499" y="0"/>
                </a:lnTo>
                <a:lnTo>
                  <a:pt x="7003499" y="3044999"/>
                </a:lnTo>
                <a:lnTo>
                  <a:pt x="0" y="3044999"/>
                </a:lnTo>
                <a:lnTo>
                  <a:pt x="0" y="0"/>
                </a:lnTo>
                <a:close/>
              </a:path>
            </a:pathLst>
          </a:custGeom>
          <a:ln w="19049">
            <a:solidFill>
              <a:srgbClr val="237A94"/>
            </a:solidFill>
          </a:ln>
        </p:spPr>
        <p:txBody>
          <a:bodyPr wrap="square" lIns="0" tIns="0" rIns="0" bIns="0" rtlCol="0"/>
          <a:lstStyle/>
          <a:p>
            <a:endParaRPr sz="2400"/>
          </a:p>
        </p:txBody>
      </p:sp>
      <p:sp>
        <p:nvSpPr>
          <p:cNvPr id="4" name="object 4"/>
          <p:cNvSpPr txBox="1"/>
          <p:nvPr/>
        </p:nvSpPr>
        <p:spPr>
          <a:xfrm>
            <a:off x="1519351" y="5238451"/>
            <a:ext cx="513080" cy="304421"/>
          </a:xfrm>
          <a:prstGeom prst="rect">
            <a:avLst/>
          </a:prstGeom>
        </p:spPr>
        <p:txBody>
          <a:bodyPr vert="horz" wrap="square" lIns="0" tIns="16933" rIns="0" bIns="0" rtlCol="0">
            <a:spAutoFit/>
          </a:bodyPr>
          <a:lstStyle/>
          <a:p>
            <a:pPr>
              <a:spcBef>
                <a:spcPts val="133"/>
              </a:spcBef>
            </a:pPr>
            <a:r>
              <a:rPr sz="1867" spc="-167" dirty="0">
                <a:solidFill>
                  <a:srgbClr val="999999"/>
                </a:solidFill>
                <a:latin typeface="Arial Black"/>
                <a:cs typeface="Arial Black"/>
              </a:rPr>
              <a:t>GPU</a:t>
            </a:r>
            <a:endParaRPr sz="1867">
              <a:latin typeface="Arial Black"/>
              <a:cs typeface="Arial Black"/>
            </a:endParaRPr>
          </a:p>
        </p:txBody>
      </p:sp>
      <p:sp>
        <p:nvSpPr>
          <p:cNvPr id="5" name="object 5"/>
          <p:cNvSpPr txBox="1"/>
          <p:nvPr/>
        </p:nvSpPr>
        <p:spPr>
          <a:xfrm>
            <a:off x="1945434" y="1710578"/>
            <a:ext cx="1555327" cy="256480"/>
          </a:xfrm>
          <a:prstGeom prst="rect">
            <a:avLst/>
          </a:prstGeom>
        </p:spPr>
        <p:txBody>
          <a:bodyPr vert="horz" wrap="square" lIns="0" tIns="10160" rIns="0" bIns="0" rtlCol="0">
            <a:spAutoFit/>
          </a:bodyPr>
          <a:lstStyle/>
          <a:p>
            <a:pPr>
              <a:spcBef>
                <a:spcPts val="80"/>
              </a:spcBef>
            </a:pPr>
            <a:r>
              <a:rPr sz="1600" spc="-33" dirty="0">
                <a:solidFill>
                  <a:srgbClr val="666666"/>
                </a:solidFill>
                <a:latin typeface="Arial Black"/>
                <a:cs typeface="Arial Black"/>
              </a:rPr>
              <a:t>Compute</a:t>
            </a:r>
            <a:r>
              <a:rPr sz="1600" spc="-127" dirty="0">
                <a:solidFill>
                  <a:srgbClr val="666666"/>
                </a:solidFill>
                <a:latin typeface="Arial Black"/>
                <a:cs typeface="Arial Black"/>
              </a:rPr>
              <a:t> </a:t>
            </a:r>
            <a:r>
              <a:rPr sz="1600" spc="-47" dirty="0">
                <a:solidFill>
                  <a:srgbClr val="666666"/>
                </a:solidFill>
                <a:latin typeface="Arial Black"/>
                <a:cs typeface="Arial Black"/>
              </a:rPr>
              <a:t>units</a:t>
            </a:r>
            <a:endParaRPr sz="1600">
              <a:latin typeface="Arial Black"/>
              <a:cs typeface="Arial Black"/>
            </a:endParaRPr>
          </a:p>
        </p:txBody>
      </p:sp>
      <p:grpSp>
        <p:nvGrpSpPr>
          <p:cNvPr id="6" name="object 6"/>
          <p:cNvGrpSpPr/>
          <p:nvPr/>
        </p:nvGrpSpPr>
        <p:grpSpPr>
          <a:xfrm>
            <a:off x="1813796" y="1711599"/>
            <a:ext cx="8573347" cy="988060"/>
            <a:chOff x="1360347" y="1283699"/>
            <a:chExt cx="6430010" cy="741045"/>
          </a:xfrm>
        </p:grpSpPr>
        <p:sp>
          <p:nvSpPr>
            <p:cNvPr id="7" name="object 7"/>
            <p:cNvSpPr/>
            <p:nvPr/>
          </p:nvSpPr>
          <p:spPr>
            <a:xfrm>
              <a:off x="1365110" y="1288461"/>
              <a:ext cx="6420485" cy="731520"/>
            </a:xfrm>
            <a:custGeom>
              <a:avLst/>
              <a:gdLst/>
              <a:ahLst/>
              <a:cxnLst/>
              <a:rect l="l" t="t" r="r" b="b"/>
              <a:pathLst>
                <a:path w="6420484" h="731519">
                  <a:moveTo>
                    <a:pt x="6419999" y="731400"/>
                  </a:moveTo>
                  <a:lnTo>
                    <a:pt x="0" y="731400"/>
                  </a:lnTo>
                  <a:lnTo>
                    <a:pt x="0" y="0"/>
                  </a:lnTo>
                  <a:lnTo>
                    <a:pt x="6419999" y="0"/>
                  </a:lnTo>
                  <a:lnTo>
                    <a:pt x="6419999" y="731400"/>
                  </a:lnTo>
                  <a:close/>
                </a:path>
              </a:pathLst>
            </a:custGeom>
            <a:solidFill>
              <a:srgbClr val="FFECED"/>
            </a:solidFill>
          </p:spPr>
          <p:txBody>
            <a:bodyPr wrap="square" lIns="0" tIns="0" rIns="0" bIns="0" rtlCol="0"/>
            <a:lstStyle/>
            <a:p>
              <a:endParaRPr sz="2400"/>
            </a:p>
          </p:txBody>
        </p:sp>
        <p:sp>
          <p:nvSpPr>
            <p:cNvPr id="8" name="object 8"/>
            <p:cNvSpPr/>
            <p:nvPr/>
          </p:nvSpPr>
          <p:spPr>
            <a:xfrm>
              <a:off x="1365110" y="1288461"/>
              <a:ext cx="6420485" cy="731520"/>
            </a:xfrm>
            <a:custGeom>
              <a:avLst/>
              <a:gdLst/>
              <a:ahLst/>
              <a:cxnLst/>
              <a:rect l="l" t="t" r="r" b="b"/>
              <a:pathLst>
                <a:path w="6420484" h="731519">
                  <a:moveTo>
                    <a:pt x="0" y="0"/>
                  </a:moveTo>
                  <a:lnTo>
                    <a:pt x="6419999" y="0"/>
                  </a:lnTo>
                  <a:lnTo>
                    <a:pt x="6419999" y="731400"/>
                  </a:lnTo>
                  <a:lnTo>
                    <a:pt x="0" y="731400"/>
                  </a:lnTo>
                  <a:lnTo>
                    <a:pt x="0" y="0"/>
                  </a:lnTo>
                  <a:close/>
                </a:path>
              </a:pathLst>
            </a:custGeom>
            <a:ln w="9524">
              <a:solidFill>
                <a:srgbClr val="237A94"/>
              </a:solidFill>
            </a:ln>
          </p:spPr>
          <p:txBody>
            <a:bodyPr wrap="square" lIns="0" tIns="0" rIns="0" bIns="0" rtlCol="0"/>
            <a:lstStyle/>
            <a:p>
              <a:endParaRPr sz="2400"/>
            </a:p>
          </p:txBody>
        </p:sp>
        <p:sp>
          <p:nvSpPr>
            <p:cNvPr id="9" name="object 9"/>
            <p:cNvSpPr/>
            <p:nvPr/>
          </p:nvSpPr>
          <p:spPr>
            <a:xfrm>
              <a:off x="3853475"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0" name="object 10"/>
            <p:cNvSpPr/>
            <p:nvPr/>
          </p:nvSpPr>
          <p:spPr>
            <a:xfrm>
              <a:off x="3853475" y="1509156"/>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1" name="object 11"/>
            <p:cNvSpPr/>
            <p:nvPr/>
          </p:nvSpPr>
          <p:spPr>
            <a:xfrm>
              <a:off x="46584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2" name="object 12"/>
            <p:cNvSpPr/>
            <p:nvPr/>
          </p:nvSpPr>
          <p:spPr>
            <a:xfrm>
              <a:off x="46584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3" name="object 13"/>
            <p:cNvSpPr/>
            <p:nvPr/>
          </p:nvSpPr>
          <p:spPr>
            <a:xfrm>
              <a:off x="5460074"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4" name="object 14"/>
            <p:cNvSpPr/>
            <p:nvPr/>
          </p:nvSpPr>
          <p:spPr>
            <a:xfrm>
              <a:off x="5460074" y="1509156"/>
              <a:ext cx="650240" cy="457200"/>
            </a:xfrm>
            <a:custGeom>
              <a:avLst/>
              <a:gdLst/>
              <a:ahLst/>
              <a:cxnLst/>
              <a:rect l="l" t="t" r="r" b="b"/>
              <a:pathLst>
                <a:path w="650239"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5" name="object 15"/>
            <p:cNvSpPr/>
            <p:nvPr/>
          </p:nvSpPr>
          <p:spPr>
            <a:xfrm>
              <a:off x="6261724" y="1509157"/>
              <a:ext cx="650240" cy="226695"/>
            </a:xfrm>
            <a:custGeom>
              <a:avLst/>
              <a:gdLst/>
              <a:ahLst/>
              <a:cxnLst/>
              <a:rect l="l" t="t" r="r" b="b"/>
              <a:pathLst>
                <a:path w="650240" h="226694">
                  <a:moveTo>
                    <a:pt x="0" y="226679"/>
                  </a:moveTo>
                  <a:lnTo>
                    <a:pt x="649726" y="226679"/>
                  </a:lnTo>
                  <a:lnTo>
                    <a:pt x="649726" y="0"/>
                  </a:lnTo>
                  <a:lnTo>
                    <a:pt x="0" y="0"/>
                  </a:lnTo>
                  <a:lnTo>
                    <a:pt x="0" y="226679"/>
                  </a:lnTo>
                  <a:close/>
                </a:path>
              </a:pathLst>
            </a:custGeom>
            <a:solidFill>
              <a:srgbClr val="F4C4D1"/>
            </a:solidFill>
          </p:spPr>
          <p:txBody>
            <a:bodyPr wrap="square" lIns="0" tIns="0" rIns="0" bIns="0" rtlCol="0"/>
            <a:lstStyle/>
            <a:p>
              <a:endParaRPr sz="2400"/>
            </a:p>
          </p:txBody>
        </p:sp>
        <p:sp>
          <p:nvSpPr>
            <p:cNvPr id="16" name="object 16"/>
            <p:cNvSpPr/>
            <p:nvPr/>
          </p:nvSpPr>
          <p:spPr>
            <a:xfrm>
              <a:off x="6261724" y="1509157"/>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7" name="object 17"/>
            <p:cNvSpPr/>
            <p:nvPr/>
          </p:nvSpPr>
          <p:spPr>
            <a:xfrm>
              <a:off x="7063349" y="1509156"/>
              <a:ext cx="650240" cy="234950"/>
            </a:xfrm>
            <a:custGeom>
              <a:avLst/>
              <a:gdLst/>
              <a:ahLst/>
              <a:cxnLst/>
              <a:rect l="l" t="t" r="r" b="b"/>
              <a:pathLst>
                <a:path w="650240"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8" name="object 18"/>
            <p:cNvSpPr/>
            <p:nvPr/>
          </p:nvSpPr>
          <p:spPr>
            <a:xfrm>
              <a:off x="7063349" y="1509156"/>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9" name="object 19"/>
            <p:cNvSpPr/>
            <p:nvPr/>
          </p:nvSpPr>
          <p:spPr>
            <a:xfrm>
              <a:off x="1448749" y="1509158"/>
              <a:ext cx="650240" cy="228600"/>
            </a:xfrm>
            <a:custGeom>
              <a:avLst/>
              <a:gdLst/>
              <a:ahLst/>
              <a:cxnLst/>
              <a:rect l="l" t="t" r="r" b="b"/>
              <a:pathLst>
                <a:path w="650239" h="228600">
                  <a:moveTo>
                    <a:pt x="0" y="228477"/>
                  </a:moveTo>
                  <a:lnTo>
                    <a:pt x="649726" y="228477"/>
                  </a:lnTo>
                  <a:lnTo>
                    <a:pt x="649726" y="0"/>
                  </a:lnTo>
                  <a:lnTo>
                    <a:pt x="0" y="0"/>
                  </a:lnTo>
                  <a:lnTo>
                    <a:pt x="0" y="228477"/>
                  </a:lnTo>
                  <a:close/>
                </a:path>
              </a:pathLst>
            </a:custGeom>
            <a:solidFill>
              <a:srgbClr val="F4C4D1"/>
            </a:solidFill>
          </p:spPr>
          <p:txBody>
            <a:bodyPr wrap="square" lIns="0" tIns="0" rIns="0" bIns="0" rtlCol="0"/>
            <a:lstStyle/>
            <a:p>
              <a:endParaRPr sz="2400"/>
            </a:p>
          </p:txBody>
        </p:sp>
        <p:sp>
          <p:nvSpPr>
            <p:cNvPr id="20" name="object 20"/>
            <p:cNvSpPr/>
            <p:nvPr/>
          </p:nvSpPr>
          <p:spPr>
            <a:xfrm>
              <a:off x="1448749"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1" name="object 21"/>
            <p:cNvSpPr/>
            <p:nvPr/>
          </p:nvSpPr>
          <p:spPr>
            <a:xfrm>
              <a:off x="2250396" y="1509158"/>
              <a:ext cx="650240" cy="234950"/>
            </a:xfrm>
            <a:custGeom>
              <a:avLst/>
              <a:gdLst/>
              <a:ahLst/>
              <a:cxnLst/>
              <a:rect l="l" t="t" r="r" b="b"/>
              <a:pathLst>
                <a:path w="650239" h="234950">
                  <a:moveTo>
                    <a:pt x="0" y="234402"/>
                  </a:moveTo>
                  <a:lnTo>
                    <a:pt x="649726" y="234402"/>
                  </a:lnTo>
                  <a:lnTo>
                    <a:pt x="649726" y="0"/>
                  </a:lnTo>
                  <a:lnTo>
                    <a:pt x="0" y="0"/>
                  </a:lnTo>
                  <a:lnTo>
                    <a:pt x="0" y="234402"/>
                  </a:lnTo>
                  <a:close/>
                </a:path>
              </a:pathLst>
            </a:custGeom>
            <a:solidFill>
              <a:srgbClr val="F4C4D1"/>
            </a:solidFill>
          </p:spPr>
          <p:txBody>
            <a:bodyPr wrap="square" lIns="0" tIns="0" rIns="0" bIns="0" rtlCol="0"/>
            <a:lstStyle/>
            <a:p>
              <a:endParaRPr sz="2400"/>
            </a:p>
          </p:txBody>
        </p:sp>
        <p:sp>
          <p:nvSpPr>
            <p:cNvPr id="22" name="object 22"/>
            <p:cNvSpPr/>
            <p:nvPr/>
          </p:nvSpPr>
          <p:spPr>
            <a:xfrm>
              <a:off x="2250396"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3" name="object 23"/>
            <p:cNvSpPr/>
            <p:nvPr/>
          </p:nvSpPr>
          <p:spPr>
            <a:xfrm>
              <a:off x="30520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4" name="object 24"/>
            <p:cNvSpPr/>
            <p:nvPr/>
          </p:nvSpPr>
          <p:spPr>
            <a:xfrm>
              <a:off x="30520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grpSp>
      <p:sp>
        <p:nvSpPr>
          <p:cNvPr id="25" name="object 25"/>
          <p:cNvSpPr txBox="1"/>
          <p:nvPr/>
        </p:nvSpPr>
        <p:spPr>
          <a:xfrm>
            <a:off x="1908748" y="1715056"/>
            <a:ext cx="1532467" cy="263320"/>
          </a:xfrm>
          <a:prstGeom prst="rect">
            <a:avLst/>
          </a:prstGeom>
        </p:spPr>
        <p:txBody>
          <a:bodyPr vert="horz" wrap="square" lIns="0" tIns="16933" rIns="0" bIns="0" rtlCol="0">
            <a:spAutoFit/>
          </a:bodyPr>
          <a:lstStyle/>
          <a:p>
            <a:pPr>
              <a:spcBef>
                <a:spcPts val="133"/>
              </a:spcBef>
            </a:pPr>
            <a:r>
              <a:rPr sz="1600" spc="67" dirty="0">
                <a:solidFill>
                  <a:srgbClr val="434343"/>
                </a:solidFill>
                <a:latin typeface="Lucida Sans Unicode"/>
                <a:cs typeface="Lucida Sans Unicode"/>
              </a:rPr>
              <a:t>Compute</a:t>
            </a:r>
            <a:r>
              <a:rPr sz="1600" spc="-53" dirty="0">
                <a:solidFill>
                  <a:srgbClr val="434343"/>
                </a:solidFill>
                <a:latin typeface="Lucida Sans Unicode"/>
                <a:cs typeface="Lucida Sans Unicode"/>
              </a:rPr>
              <a:t> </a:t>
            </a:r>
            <a:r>
              <a:rPr sz="1600" spc="-13" dirty="0">
                <a:solidFill>
                  <a:srgbClr val="434343"/>
                </a:solidFill>
                <a:latin typeface="Lucida Sans Unicode"/>
                <a:cs typeface="Lucida Sans Unicode"/>
              </a:rPr>
              <a:t>Units</a:t>
            </a:r>
            <a:endParaRPr sz="1600">
              <a:latin typeface="Lucida Sans Unicode"/>
              <a:cs typeface="Lucida Sans Unicode"/>
            </a:endParaRPr>
          </a:p>
        </p:txBody>
      </p:sp>
      <p:grpSp>
        <p:nvGrpSpPr>
          <p:cNvPr id="26" name="object 26"/>
          <p:cNvGrpSpPr/>
          <p:nvPr/>
        </p:nvGrpSpPr>
        <p:grpSpPr>
          <a:xfrm>
            <a:off x="1809633" y="2308098"/>
            <a:ext cx="8573347" cy="2899833"/>
            <a:chOff x="1357225" y="1731073"/>
            <a:chExt cx="6430010" cy="2174875"/>
          </a:xfrm>
        </p:grpSpPr>
        <p:sp>
          <p:nvSpPr>
            <p:cNvPr id="27" name="object 27"/>
            <p:cNvSpPr/>
            <p:nvPr/>
          </p:nvSpPr>
          <p:spPr>
            <a:xfrm>
              <a:off x="1448753" y="1737636"/>
              <a:ext cx="650240" cy="230504"/>
            </a:xfrm>
            <a:custGeom>
              <a:avLst/>
              <a:gdLst/>
              <a:ahLst/>
              <a:cxnLst/>
              <a:rect l="l" t="t" r="r" b="b"/>
              <a:pathLst>
                <a:path w="650239" h="230505">
                  <a:moveTo>
                    <a:pt x="649800" y="230399"/>
                  </a:moveTo>
                  <a:lnTo>
                    <a:pt x="0" y="230399"/>
                  </a:lnTo>
                  <a:lnTo>
                    <a:pt x="0" y="0"/>
                  </a:lnTo>
                  <a:lnTo>
                    <a:pt x="649800" y="0"/>
                  </a:lnTo>
                  <a:lnTo>
                    <a:pt x="649800" y="230399"/>
                  </a:lnTo>
                  <a:close/>
                </a:path>
              </a:pathLst>
            </a:custGeom>
            <a:solidFill>
              <a:srgbClr val="EBFAFF"/>
            </a:solidFill>
          </p:spPr>
          <p:txBody>
            <a:bodyPr wrap="square" lIns="0" tIns="0" rIns="0" bIns="0" rtlCol="0"/>
            <a:lstStyle/>
            <a:p>
              <a:endParaRPr sz="2400"/>
            </a:p>
          </p:txBody>
        </p:sp>
        <p:sp>
          <p:nvSpPr>
            <p:cNvPr id="28" name="object 28"/>
            <p:cNvSpPr/>
            <p:nvPr/>
          </p:nvSpPr>
          <p:spPr>
            <a:xfrm>
              <a:off x="1448753" y="1737636"/>
              <a:ext cx="650240" cy="230504"/>
            </a:xfrm>
            <a:custGeom>
              <a:avLst/>
              <a:gdLst/>
              <a:ahLst/>
              <a:cxnLst/>
              <a:rect l="l" t="t" r="r" b="b"/>
              <a:pathLst>
                <a:path w="650239" h="230505">
                  <a:moveTo>
                    <a:pt x="649800" y="0"/>
                  </a:moveTo>
                  <a:lnTo>
                    <a:pt x="649800" y="230399"/>
                  </a:lnTo>
                  <a:lnTo>
                    <a:pt x="0" y="230399"/>
                  </a:lnTo>
                  <a:lnTo>
                    <a:pt x="0" y="0"/>
                  </a:lnTo>
                  <a:lnTo>
                    <a:pt x="649800" y="0"/>
                  </a:lnTo>
                  <a:close/>
                </a:path>
              </a:pathLst>
            </a:custGeom>
            <a:ln w="9524">
              <a:solidFill>
                <a:srgbClr val="237A94"/>
              </a:solidFill>
            </a:ln>
          </p:spPr>
          <p:txBody>
            <a:bodyPr wrap="square" lIns="0" tIns="0" rIns="0" bIns="0" rtlCol="0"/>
            <a:lstStyle/>
            <a:p>
              <a:endParaRPr sz="2400"/>
            </a:p>
          </p:txBody>
        </p:sp>
        <p:sp>
          <p:nvSpPr>
            <p:cNvPr id="29" name="object 29"/>
            <p:cNvSpPr/>
            <p:nvPr/>
          </p:nvSpPr>
          <p:spPr>
            <a:xfrm>
              <a:off x="2251228"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0" name="object 30"/>
            <p:cNvSpPr/>
            <p:nvPr/>
          </p:nvSpPr>
          <p:spPr>
            <a:xfrm>
              <a:off x="2251228"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1" name="object 31"/>
            <p:cNvSpPr/>
            <p:nvPr/>
          </p:nvSpPr>
          <p:spPr>
            <a:xfrm>
              <a:off x="305370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2" name="object 32"/>
            <p:cNvSpPr/>
            <p:nvPr/>
          </p:nvSpPr>
          <p:spPr>
            <a:xfrm>
              <a:off x="305370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3" name="object 33"/>
            <p:cNvSpPr/>
            <p:nvPr/>
          </p:nvSpPr>
          <p:spPr>
            <a:xfrm>
              <a:off x="385617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4" name="object 34"/>
            <p:cNvSpPr/>
            <p:nvPr/>
          </p:nvSpPr>
          <p:spPr>
            <a:xfrm>
              <a:off x="385617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5" name="object 35"/>
            <p:cNvSpPr/>
            <p:nvPr/>
          </p:nvSpPr>
          <p:spPr>
            <a:xfrm>
              <a:off x="465865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6" name="object 36"/>
            <p:cNvSpPr/>
            <p:nvPr/>
          </p:nvSpPr>
          <p:spPr>
            <a:xfrm>
              <a:off x="465865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7" name="object 37"/>
            <p:cNvSpPr/>
            <p:nvPr/>
          </p:nvSpPr>
          <p:spPr>
            <a:xfrm>
              <a:off x="54611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8" name="object 38"/>
            <p:cNvSpPr/>
            <p:nvPr/>
          </p:nvSpPr>
          <p:spPr>
            <a:xfrm>
              <a:off x="54611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9" name="object 39"/>
            <p:cNvSpPr/>
            <p:nvPr/>
          </p:nvSpPr>
          <p:spPr>
            <a:xfrm>
              <a:off x="6263603" y="1735836"/>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0" name="object 40"/>
            <p:cNvSpPr/>
            <p:nvPr/>
          </p:nvSpPr>
          <p:spPr>
            <a:xfrm>
              <a:off x="6263603" y="1735836"/>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1" name="object 41"/>
            <p:cNvSpPr/>
            <p:nvPr/>
          </p:nvSpPr>
          <p:spPr>
            <a:xfrm>
              <a:off x="7066078" y="1743561"/>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2" name="object 42"/>
            <p:cNvSpPr/>
            <p:nvPr/>
          </p:nvSpPr>
          <p:spPr>
            <a:xfrm>
              <a:off x="7066078" y="1743561"/>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3" name="object 43"/>
            <p:cNvSpPr/>
            <p:nvPr/>
          </p:nvSpPr>
          <p:spPr>
            <a:xfrm>
              <a:off x="1361987" y="2137274"/>
              <a:ext cx="6420485" cy="1763395"/>
            </a:xfrm>
            <a:custGeom>
              <a:avLst/>
              <a:gdLst/>
              <a:ahLst/>
              <a:cxnLst/>
              <a:rect l="l" t="t" r="r" b="b"/>
              <a:pathLst>
                <a:path w="6420484" h="1763395">
                  <a:moveTo>
                    <a:pt x="6419999" y="1763399"/>
                  </a:moveTo>
                  <a:lnTo>
                    <a:pt x="0" y="1763399"/>
                  </a:lnTo>
                  <a:lnTo>
                    <a:pt x="0" y="0"/>
                  </a:lnTo>
                  <a:lnTo>
                    <a:pt x="6419999" y="0"/>
                  </a:lnTo>
                  <a:lnTo>
                    <a:pt x="6419999" y="1763399"/>
                  </a:lnTo>
                  <a:close/>
                </a:path>
              </a:pathLst>
            </a:custGeom>
            <a:solidFill>
              <a:srgbClr val="EBFAFF"/>
            </a:solidFill>
          </p:spPr>
          <p:txBody>
            <a:bodyPr wrap="square" lIns="0" tIns="0" rIns="0" bIns="0" rtlCol="0"/>
            <a:lstStyle/>
            <a:p>
              <a:endParaRPr sz="2400"/>
            </a:p>
          </p:txBody>
        </p:sp>
        <p:sp>
          <p:nvSpPr>
            <p:cNvPr id="44" name="object 44"/>
            <p:cNvSpPr/>
            <p:nvPr/>
          </p:nvSpPr>
          <p:spPr>
            <a:xfrm>
              <a:off x="1361987" y="2137274"/>
              <a:ext cx="6420485" cy="1763395"/>
            </a:xfrm>
            <a:custGeom>
              <a:avLst/>
              <a:gdLst/>
              <a:ahLst/>
              <a:cxnLst/>
              <a:rect l="l" t="t" r="r" b="b"/>
              <a:pathLst>
                <a:path w="6420484" h="1763395">
                  <a:moveTo>
                    <a:pt x="0" y="0"/>
                  </a:moveTo>
                  <a:lnTo>
                    <a:pt x="6419999" y="0"/>
                  </a:lnTo>
                  <a:lnTo>
                    <a:pt x="6419999" y="1763399"/>
                  </a:lnTo>
                  <a:lnTo>
                    <a:pt x="0" y="1763399"/>
                  </a:lnTo>
                  <a:lnTo>
                    <a:pt x="0" y="0"/>
                  </a:lnTo>
                  <a:close/>
                </a:path>
              </a:pathLst>
            </a:custGeom>
            <a:ln w="9524">
              <a:solidFill>
                <a:srgbClr val="237A94"/>
              </a:solidFill>
            </a:ln>
          </p:spPr>
          <p:txBody>
            <a:bodyPr wrap="square" lIns="0" tIns="0" rIns="0" bIns="0" rtlCol="0"/>
            <a:lstStyle/>
            <a:p>
              <a:endParaRPr sz="2400"/>
            </a:p>
          </p:txBody>
        </p:sp>
      </p:grpSp>
      <p:sp>
        <p:nvSpPr>
          <p:cNvPr id="45" name="object 45"/>
          <p:cNvSpPr txBox="1"/>
          <p:nvPr/>
        </p:nvSpPr>
        <p:spPr>
          <a:xfrm>
            <a:off x="1976302" y="2984056"/>
            <a:ext cx="1474893" cy="263320"/>
          </a:xfrm>
          <a:prstGeom prst="rect">
            <a:avLst/>
          </a:prstGeom>
        </p:spPr>
        <p:txBody>
          <a:bodyPr vert="horz" wrap="square" lIns="0" tIns="16933" rIns="0" bIns="0" rtlCol="0">
            <a:spAutoFit/>
          </a:bodyPr>
          <a:lstStyle/>
          <a:p>
            <a:pPr>
              <a:spcBef>
                <a:spcPts val="133"/>
              </a:spcBef>
            </a:pPr>
            <a:r>
              <a:rPr sz="1600" dirty="0">
                <a:solidFill>
                  <a:srgbClr val="434343"/>
                </a:solidFill>
                <a:latin typeface="Lucida Sans Unicode"/>
                <a:cs typeface="Lucida Sans Unicode"/>
              </a:rPr>
              <a:t>Memory</a:t>
            </a:r>
            <a:r>
              <a:rPr sz="1600" spc="167" dirty="0">
                <a:solidFill>
                  <a:srgbClr val="434343"/>
                </a:solidFill>
                <a:latin typeface="Lucida Sans Unicode"/>
                <a:cs typeface="Lucida Sans Unicode"/>
              </a:rPr>
              <a:t> </a:t>
            </a:r>
            <a:r>
              <a:rPr sz="1600" spc="-27" dirty="0">
                <a:solidFill>
                  <a:srgbClr val="434343"/>
                </a:solidFill>
                <a:latin typeface="Lucida Sans Unicode"/>
                <a:cs typeface="Lucida Sans Unicode"/>
              </a:rPr>
              <a:t>VRAM</a:t>
            </a:r>
            <a:endParaRPr sz="1600">
              <a:latin typeface="Lucida Sans Unicode"/>
              <a:cs typeface="Lucida Sans Unicode"/>
            </a:endParaRPr>
          </a:p>
        </p:txBody>
      </p:sp>
      <p:sp>
        <p:nvSpPr>
          <p:cNvPr id="46" name="object 46"/>
          <p:cNvSpPr txBox="1"/>
          <p:nvPr/>
        </p:nvSpPr>
        <p:spPr>
          <a:xfrm>
            <a:off x="2064600" y="3552033"/>
            <a:ext cx="1441873" cy="796670"/>
          </a:xfrm>
          <a:prstGeom prst="rect">
            <a:avLst/>
          </a:prstGeom>
          <a:solidFill>
            <a:srgbClr val="FFFFFF"/>
          </a:solidFill>
          <a:ln w="9524">
            <a:solidFill>
              <a:srgbClr val="000000"/>
            </a:solidFill>
          </a:ln>
        </p:spPr>
        <p:txBody>
          <a:bodyPr vert="horz" wrap="square" lIns="0" tIns="138852" rIns="0" bIns="0" rtlCol="0">
            <a:spAutoFit/>
          </a:bodyPr>
          <a:lstStyle/>
          <a:p>
            <a:pPr>
              <a:spcBef>
                <a:spcPts val="1092"/>
              </a:spcBef>
            </a:pPr>
            <a:endParaRPr sz="2133">
              <a:latin typeface="Times New Roman"/>
              <a:cs typeface="Times New Roman"/>
            </a:endParaRPr>
          </a:p>
          <a:p>
            <a:pPr marL="466502"/>
            <a:r>
              <a:rPr sz="2133" spc="-33" dirty="0">
                <a:latin typeface="Arial Black"/>
                <a:cs typeface="Arial Black"/>
              </a:rPr>
              <a:t>LLM</a:t>
            </a:r>
            <a:endParaRPr sz="2133">
              <a:latin typeface="Arial Black"/>
              <a:cs typeface="Arial Black"/>
            </a:endParaRPr>
          </a:p>
        </p:txBody>
      </p:sp>
      <p:sp>
        <p:nvSpPr>
          <p:cNvPr id="47" name="object 47"/>
          <p:cNvSpPr txBox="1"/>
          <p:nvPr/>
        </p:nvSpPr>
        <p:spPr>
          <a:xfrm>
            <a:off x="3634633" y="3552039"/>
            <a:ext cx="1247987" cy="942010"/>
          </a:xfrm>
          <a:prstGeom prst="rect">
            <a:avLst/>
          </a:prstGeom>
          <a:solidFill>
            <a:srgbClr val="BBD4F9"/>
          </a:solidFill>
          <a:ln w="9524">
            <a:solidFill>
              <a:srgbClr val="1B73EB"/>
            </a:solidFill>
          </a:ln>
        </p:spPr>
        <p:txBody>
          <a:bodyPr vert="horz" wrap="square" lIns="0" tIns="282787" rIns="0" bIns="0" rtlCol="0">
            <a:spAutoFit/>
          </a:bodyPr>
          <a:lstStyle/>
          <a:p>
            <a:pPr algn="ctr">
              <a:spcBef>
                <a:spcPts val="2227"/>
              </a:spcBef>
            </a:pPr>
            <a:r>
              <a:rPr sz="2133" spc="-33" dirty="0">
                <a:latin typeface="Arial Black"/>
                <a:cs typeface="Arial Black"/>
              </a:rPr>
              <a:t>KV</a:t>
            </a:r>
            <a:endParaRPr sz="2133">
              <a:latin typeface="Arial Black"/>
              <a:cs typeface="Arial Black"/>
            </a:endParaRPr>
          </a:p>
          <a:p>
            <a:pPr algn="ctr">
              <a:spcBef>
                <a:spcPts val="40"/>
              </a:spcBef>
            </a:pPr>
            <a:r>
              <a:rPr sz="2133" spc="-13" dirty="0">
                <a:latin typeface="Arial Black"/>
                <a:cs typeface="Arial Black"/>
              </a:rPr>
              <a:t>cache</a:t>
            </a:r>
            <a:endParaRPr sz="2133">
              <a:latin typeface="Arial Black"/>
              <a:cs typeface="Arial Black"/>
            </a:endParaRPr>
          </a:p>
        </p:txBody>
      </p:sp>
      <p:grpSp>
        <p:nvGrpSpPr>
          <p:cNvPr id="48" name="object 48"/>
          <p:cNvGrpSpPr/>
          <p:nvPr/>
        </p:nvGrpSpPr>
        <p:grpSpPr>
          <a:xfrm>
            <a:off x="1975915" y="2376251"/>
            <a:ext cx="8221980" cy="611293"/>
            <a:chOff x="1481936" y="1782188"/>
            <a:chExt cx="6166485" cy="458470"/>
          </a:xfrm>
        </p:grpSpPr>
        <p:sp>
          <p:nvSpPr>
            <p:cNvPr id="49" name="object 49"/>
            <p:cNvSpPr/>
            <p:nvPr/>
          </p:nvSpPr>
          <p:spPr>
            <a:xfrm>
              <a:off x="1575749" y="1999074"/>
              <a:ext cx="6068060" cy="197485"/>
            </a:xfrm>
            <a:custGeom>
              <a:avLst/>
              <a:gdLst/>
              <a:ahLst/>
              <a:cxnLst/>
              <a:rect l="l" t="t" r="r" b="b"/>
              <a:pathLst>
                <a:path w="6068059" h="197485">
                  <a:moveTo>
                    <a:pt x="6067799" y="197099"/>
                  </a:moveTo>
                  <a:lnTo>
                    <a:pt x="0" y="197099"/>
                  </a:lnTo>
                  <a:lnTo>
                    <a:pt x="0" y="0"/>
                  </a:lnTo>
                  <a:lnTo>
                    <a:pt x="6067799" y="0"/>
                  </a:lnTo>
                  <a:lnTo>
                    <a:pt x="6067799" y="197099"/>
                  </a:lnTo>
                  <a:close/>
                </a:path>
              </a:pathLst>
            </a:custGeom>
            <a:solidFill>
              <a:srgbClr val="FFDE7E"/>
            </a:solidFill>
          </p:spPr>
          <p:txBody>
            <a:bodyPr wrap="square" lIns="0" tIns="0" rIns="0" bIns="0" rtlCol="0"/>
            <a:lstStyle/>
            <a:p>
              <a:endParaRPr sz="2400"/>
            </a:p>
          </p:txBody>
        </p:sp>
        <p:sp>
          <p:nvSpPr>
            <p:cNvPr id="50" name="object 50"/>
            <p:cNvSpPr/>
            <p:nvPr/>
          </p:nvSpPr>
          <p:spPr>
            <a:xfrm>
              <a:off x="1575749" y="1999074"/>
              <a:ext cx="6068060" cy="197485"/>
            </a:xfrm>
            <a:custGeom>
              <a:avLst/>
              <a:gdLst/>
              <a:ahLst/>
              <a:cxnLst/>
              <a:rect l="l" t="t" r="r" b="b"/>
              <a:pathLst>
                <a:path w="6068059" h="197485">
                  <a:moveTo>
                    <a:pt x="0" y="0"/>
                  </a:moveTo>
                  <a:lnTo>
                    <a:pt x="6067799" y="0"/>
                  </a:lnTo>
                  <a:lnTo>
                    <a:pt x="6067799" y="197099"/>
                  </a:lnTo>
                  <a:lnTo>
                    <a:pt x="0" y="197099"/>
                  </a:lnTo>
                  <a:lnTo>
                    <a:pt x="0" y="0"/>
                  </a:lnTo>
                  <a:close/>
                </a:path>
              </a:pathLst>
            </a:custGeom>
            <a:ln w="9524">
              <a:solidFill>
                <a:srgbClr val="595959"/>
              </a:solidFill>
            </a:ln>
          </p:spPr>
          <p:txBody>
            <a:bodyPr wrap="square" lIns="0" tIns="0" rIns="0" bIns="0" rtlCol="0"/>
            <a:lstStyle/>
            <a:p>
              <a:endParaRPr sz="2400"/>
            </a:p>
          </p:txBody>
        </p:sp>
        <p:pic>
          <p:nvPicPr>
            <p:cNvPr id="51" name="object 51"/>
            <p:cNvPicPr/>
            <p:nvPr/>
          </p:nvPicPr>
          <p:blipFill>
            <a:blip r:embed="rId2" cstate="print"/>
            <a:stretch>
              <a:fillRect/>
            </a:stretch>
          </p:blipFill>
          <p:spPr>
            <a:xfrm>
              <a:off x="4531244" y="1953098"/>
              <a:ext cx="82509" cy="287352"/>
            </a:xfrm>
            <a:prstGeom prst="rect">
              <a:avLst/>
            </a:prstGeom>
          </p:spPr>
        </p:pic>
        <p:sp>
          <p:nvSpPr>
            <p:cNvPr id="52" name="object 52"/>
            <p:cNvSpPr/>
            <p:nvPr/>
          </p:nvSpPr>
          <p:spPr>
            <a:xfrm>
              <a:off x="1486698"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53" name="object 53"/>
            <p:cNvSpPr/>
            <p:nvPr/>
          </p:nvSpPr>
          <p:spPr>
            <a:xfrm>
              <a:off x="1486698"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54" name="object 54"/>
            <p:cNvSpPr/>
            <p:nvPr/>
          </p:nvSpPr>
          <p:spPr>
            <a:xfrm>
              <a:off x="1588647"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55" name="object 55"/>
            <p:cNvSpPr/>
            <p:nvPr/>
          </p:nvSpPr>
          <p:spPr>
            <a:xfrm>
              <a:off x="1588647"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sp>
          <p:nvSpPr>
            <p:cNvPr id="56" name="object 56"/>
            <p:cNvSpPr/>
            <p:nvPr/>
          </p:nvSpPr>
          <p:spPr>
            <a:xfrm>
              <a:off x="2291134"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57" name="object 57"/>
            <p:cNvSpPr/>
            <p:nvPr/>
          </p:nvSpPr>
          <p:spPr>
            <a:xfrm>
              <a:off x="2291134"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58" name="object 58"/>
            <p:cNvSpPr/>
            <p:nvPr/>
          </p:nvSpPr>
          <p:spPr>
            <a:xfrm>
              <a:off x="2393083"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59" name="object 59"/>
            <p:cNvSpPr/>
            <p:nvPr/>
          </p:nvSpPr>
          <p:spPr>
            <a:xfrm>
              <a:off x="2393083"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sp>
          <p:nvSpPr>
            <p:cNvPr id="60" name="object 60"/>
            <p:cNvSpPr/>
            <p:nvPr/>
          </p:nvSpPr>
          <p:spPr>
            <a:xfrm>
              <a:off x="3094006"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1" name="object 61"/>
            <p:cNvSpPr/>
            <p:nvPr/>
          </p:nvSpPr>
          <p:spPr>
            <a:xfrm>
              <a:off x="3094006"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62" name="object 62"/>
            <p:cNvSpPr/>
            <p:nvPr/>
          </p:nvSpPr>
          <p:spPr>
            <a:xfrm>
              <a:off x="3195955"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3" name="object 63"/>
            <p:cNvSpPr/>
            <p:nvPr/>
          </p:nvSpPr>
          <p:spPr>
            <a:xfrm>
              <a:off x="3195955"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sp>
          <p:nvSpPr>
            <p:cNvPr id="64" name="object 64"/>
            <p:cNvSpPr/>
            <p:nvPr/>
          </p:nvSpPr>
          <p:spPr>
            <a:xfrm>
              <a:off x="3898443"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5" name="object 65"/>
            <p:cNvSpPr/>
            <p:nvPr/>
          </p:nvSpPr>
          <p:spPr>
            <a:xfrm>
              <a:off x="3898443"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grpSp>
      <p:sp>
        <p:nvSpPr>
          <p:cNvPr id="66" name="object 66"/>
          <p:cNvSpPr txBox="1"/>
          <p:nvPr/>
        </p:nvSpPr>
        <p:spPr>
          <a:xfrm>
            <a:off x="5198877" y="2376446"/>
            <a:ext cx="120227" cy="192360"/>
          </a:xfrm>
          <a:prstGeom prst="rect">
            <a:avLst/>
          </a:prstGeom>
        </p:spPr>
        <p:txBody>
          <a:bodyPr vert="horz" wrap="square" lIns="0" tIns="7620" rIns="0" bIns="0" rtlCol="0">
            <a:spAutoFit/>
          </a:bodyPr>
          <a:lstStyle/>
          <a:p>
            <a:pPr>
              <a:spcBef>
                <a:spcPts val="60"/>
              </a:spcBef>
            </a:pPr>
            <a:r>
              <a:rPr sz="1200" spc="-67" dirty="0">
                <a:latin typeface="Lucida Sans Unicode"/>
                <a:cs typeface="Lucida Sans Unicode"/>
              </a:rPr>
              <a:t>Q</a:t>
            </a:r>
            <a:endParaRPr sz="1200">
              <a:latin typeface="Lucida Sans Unicode"/>
              <a:cs typeface="Lucida Sans Unicode"/>
            </a:endParaRPr>
          </a:p>
        </p:txBody>
      </p:sp>
      <p:grpSp>
        <p:nvGrpSpPr>
          <p:cNvPr id="67" name="object 67"/>
          <p:cNvGrpSpPr/>
          <p:nvPr/>
        </p:nvGrpSpPr>
        <p:grpSpPr>
          <a:xfrm>
            <a:off x="5327504" y="2376251"/>
            <a:ext cx="135467" cy="210820"/>
            <a:chOff x="3995628" y="1782188"/>
            <a:chExt cx="101600" cy="158115"/>
          </a:xfrm>
        </p:grpSpPr>
        <p:sp>
          <p:nvSpPr>
            <p:cNvPr id="68" name="object 68"/>
            <p:cNvSpPr/>
            <p:nvPr/>
          </p:nvSpPr>
          <p:spPr>
            <a:xfrm>
              <a:off x="4000391"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9" name="object 69"/>
            <p:cNvSpPr/>
            <p:nvPr/>
          </p:nvSpPr>
          <p:spPr>
            <a:xfrm>
              <a:off x="4000391"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grpSp>
      <p:sp>
        <p:nvSpPr>
          <p:cNvPr id="70" name="object 70"/>
          <p:cNvSpPr txBox="1"/>
          <p:nvPr/>
        </p:nvSpPr>
        <p:spPr>
          <a:xfrm>
            <a:off x="5349211" y="2376446"/>
            <a:ext cx="91440" cy="192360"/>
          </a:xfrm>
          <a:prstGeom prst="rect">
            <a:avLst/>
          </a:prstGeom>
        </p:spPr>
        <p:txBody>
          <a:bodyPr vert="horz" wrap="square" lIns="0" tIns="7620" rIns="0" bIns="0" rtlCol="0">
            <a:spAutoFit/>
          </a:bodyPr>
          <a:lstStyle/>
          <a:p>
            <a:pPr>
              <a:spcBef>
                <a:spcPts val="60"/>
              </a:spcBef>
            </a:pPr>
            <a:r>
              <a:rPr sz="1200" spc="-140" dirty="0">
                <a:latin typeface="Lucida Sans Unicode"/>
                <a:cs typeface="Lucida Sans Unicode"/>
              </a:rPr>
              <a:t>K</a:t>
            </a:r>
            <a:endParaRPr sz="1200">
              <a:latin typeface="Lucida Sans Unicode"/>
              <a:cs typeface="Lucida Sans Unicode"/>
            </a:endParaRPr>
          </a:p>
        </p:txBody>
      </p:sp>
      <p:grpSp>
        <p:nvGrpSpPr>
          <p:cNvPr id="71" name="object 71"/>
          <p:cNvGrpSpPr/>
          <p:nvPr/>
        </p:nvGrpSpPr>
        <p:grpSpPr>
          <a:xfrm>
            <a:off x="4956901" y="2376252"/>
            <a:ext cx="4781127" cy="1665393"/>
            <a:chOff x="3717675" y="1782188"/>
            <a:chExt cx="3585845" cy="1249045"/>
          </a:xfrm>
        </p:grpSpPr>
        <p:sp>
          <p:nvSpPr>
            <p:cNvPr id="72" name="object 72"/>
            <p:cNvSpPr/>
            <p:nvPr/>
          </p:nvSpPr>
          <p:spPr>
            <a:xfrm>
              <a:off x="4699404"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3" name="object 73"/>
            <p:cNvSpPr/>
            <p:nvPr/>
          </p:nvSpPr>
          <p:spPr>
            <a:xfrm>
              <a:off x="4699404"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74" name="object 74"/>
            <p:cNvSpPr/>
            <p:nvPr/>
          </p:nvSpPr>
          <p:spPr>
            <a:xfrm>
              <a:off x="4801353"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5" name="object 75"/>
            <p:cNvSpPr/>
            <p:nvPr/>
          </p:nvSpPr>
          <p:spPr>
            <a:xfrm>
              <a:off x="4801353"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sp>
          <p:nvSpPr>
            <p:cNvPr id="76" name="object 76"/>
            <p:cNvSpPr/>
            <p:nvPr/>
          </p:nvSpPr>
          <p:spPr>
            <a:xfrm>
              <a:off x="5501379"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7" name="object 77"/>
            <p:cNvSpPr/>
            <p:nvPr/>
          </p:nvSpPr>
          <p:spPr>
            <a:xfrm>
              <a:off x="5501379"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78" name="object 78"/>
            <p:cNvSpPr/>
            <p:nvPr/>
          </p:nvSpPr>
          <p:spPr>
            <a:xfrm>
              <a:off x="5603327"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9" name="object 79"/>
            <p:cNvSpPr/>
            <p:nvPr/>
          </p:nvSpPr>
          <p:spPr>
            <a:xfrm>
              <a:off x="5603327"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sp>
          <p:nvSpPr>
            <p:cNvPr id="80" name="object 80"/>
            <p:cNvSpPr/>
            <p:nvPr/>
          </p:nvSpPr>
          <p:spPr>
            <a:xfrm>
              <a:off x="6302066"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1" name="object 81"/>
            <p:cNvSpPr/>
            <p:nvPr/>
          </p:nvSpPr>
          <p:spPr>
            <a:xfrm>
              <a:off x="6302066"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82" name="object 82"/>
            <p:cNvSpPr/>
            <p:nvPr/>
          </p:nvSpPr>
          <p:spPr>
            <a:xfrm>
              <a:off x="6404014"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3" name="object 83"/>
            <p:cNvSpPr/>
            <p:nvPr/>
          </p:nvSpPr>
          <p:spPr>
            <a:xfrm>
              <a:off x="6404014"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sp>
          <p:nvSpPr>
            <p:cNvPr id="84" name="object 84"/>
            <p:cNvSpPr/>
            <p:nvPr/>
          </p:nvSpPr>
          <p:spPr>
            <a:xfrm>
              <a:off x="7105271"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5" name="object 85"/>
            <p:cNvSpPr/>
            <p:nvPr/>
          </p:nvSpPr>
          <p:spPr>
            <a:xfrm>
              <a:off x="7105271"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86" name="object 86"/>
            <p:cNvSpPr/>
            <p:nvPr/>
          </p:nvSpPr>
          <p:spPr>
            <a:xfrm>
              <a:off x="7207219"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7" name="object 87"/>
            <p:cNvSpPr/>
            <p:nvPr/>
          </p:nvSpPr>
          <p:spPr>
            <a:xfrm>
              <a:off x="7207219"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sp>
          <p:nvSpPr>
            <p:cNvPr id="88" name="object 88"/>
            <p:cNvSpPr/>
            <p:nvPr/>
          </p:nvSpPr>
          <p:spPr>
            <a:xfrm>
              <a:off x="3897214"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9" name="object 89"/>
            <p:cNvSpPr/>
            <p:nvPr/>
          </p:nvSpPr>
          <p:spPr>
            <a:xfrm>
              <a:off x="3897214"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90" name="object 90"/>
            <p:cNvSpPr/>
            <p:nvPr/>
          </p:nvSpPr>
          <p:spPr>
            <a:xfrm>
              <a:off x="3999163"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1" name="object 91"/>
            <p:cNvSpPr/>
            <p:nvPr/>
          </p:nvSpPr>
          <p:spPr>
            <a:xfrm>
              <a:off x="3999163"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sp>
          <p:nvSpPr>
            <p:cNvPr id="92" name="object 92"/>
            <p:cNvSpPr/>
            <p:nvPr/>
          </p:nvSpPr>
          <p:spPr>
            <a:xfrm>
              <a:off x="4216167" y="2660108"/>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93" name="object 93"/>
            <p:cNvSpPr/>
            <p:nvPr/>
          </p:nvSpPr>
          <p:spPr>
            <a:xfrm>
              <a:off x="4216167" y="2660108"/>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4696AA"/>
              </a:solidFill>
            </a:ln>
          </p:spPr>
          <p:txBody>
            <a:bodyPr wrap="square" lIns="0" tIns="0" rIns="0" bIns="0" rtlCol="0"/>
            <a:lstStyle/>
            <a:p>
              <a:endParaRPr sz="2400"/>
            </a:p>
          </p:txBody>
        </p:sp>
        <p:sp>
          <p:nvSpPr>
            <p:cNvPr id="94" name="object 94"/>
            <p:cNvSpPr/>
            <p:nvPr/>
          </p:nvSpPr>
          <p:spPr>
            <a:xfrm>
              <a:off x="3722437" y="2660108"/>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95" name="object 95"/>
            <p:cNvSpPr/>
            <p:nvPr/>
          </p:nvSpPr>
          <p:spPr>
            <a:xfrm>
              <a:off x="3722437" y="2660108"/>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F47272"/>
              </a:solidFill>
            </a:ln>
          </p:spPr>
          <p:txBody>
            <a:bodyPr wrap="square" lIns="0" tIns="0" rIns="0" bIns="0" rtlCol="0"/>
            <a:lstStyle/>
            <a:p>
              <a:endParaRPr sz="2400"/>
            </a:p>
          </p:txBody>
        </p:sp>
        <p:sp>
          <p:nvSpPr>
            <p:cNvPr id="96" name="object 96"/>
            <p:cNvSpPr/>
            <p:nvPr/>
          </p:nvSpPr>
          <p:spPr>
            <a:xfrm>
              <a:off x="4709834" y="2660108"/>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97" name="object 97"/>
            <p:cNvSpPr/>
            <p:nvPr/>
          </p:nvSpPr>
          <p:spPr>
            <a:xfrm>
              <a:off x="4709834" y="2660108"/>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5AB46E"/>
              </a:solidFill>
            </a:ln>
          </p:spPr>
          <p:txBody>
            <a:bodyPr wrap="square" lIns="0" tIns="0" rIns="0" bIns="0" rtlCol="0"/>
            <a:lstStyle/>
            <a:p>
              <a:endParaRPr sz="2400"/>
            </a:p>
          </p:txBody>
        </p:sp>
      </p:grpSp>
      <p:sp>
        <p:nvSpPr>
          <p:cNvPr id="98" name="object 98"/>
          <p:cNvSpPr txBox="1"/>
          <p:nvPr/>
        </p:nvSpPr>
        <p:spPr>
          <a:xfrm>
            <a:off x="5100528" y="3600480"/>
            <a:ext cx="1532467" cy="345330"/>
          </a:xfrm>
          <a:prstGeom prst="rect">
            <a:avLst/>
          </a:prstGeom>
        </p:spPr>
        <p:txBody>
          <a:bodyPr vert="horz" wrap="square" lIns="0" tIns="16933" rIns="0" bIns="0" rtlCol="0">
            <a:spAutoFit/>
          </a:bodyPr>
          <a:lstStyle/>
          <a:p>
            <a:pPr>
              <a:spcBef>
                <a:spcPts val="133"/>
              </a:spcBef>
              <a:tabLst>
                <a:tab pos="683243" algn="l"/>
                <a:tab pos="1330925" algn="l"/>
              </a:tabLst>
            </a:pPr>
            <a:r>
              <a:rPr sz="2133" spc="-67" dirty="0">
                <a:latin typeface="Lucida Sans Unicode"/>
                <a:cs typeface="Lucida Sans Unicode"/>
              </a:rPr>
              <a:t>Q</a:t>
            </a:r>
            <a:r>
              <a:rPr sz="2133" dirty="0">
                <a:latin typeface="Lucida Sans Unicode"/>
                <a:cs typeface="Lucida Sans Unicode"/>
              </a:rPr>
              <a:t>	</a:t>
            </a:r>
            <a:r>
              <a:rPr sz="2133" spc="-67" dirty="0">
                <a:latin typeface="Lucida Sans Unicode"/>
                <a:cs typeface="Lucida Sans Unicode"/>
              </a:rPr>
              <a:t>K</a:t>
            </a:r>
            <a:r>
              <a:rPr sz="2133" dirty="0">
                <a:latin typeface="Lucida Sans Unicode"/>
                <a:cs typeface="Lucida Sans Unicode"/>
              </a:rPr>
              <a:t>	</a:t>
            </a:r>
            <a:r>
              <a:rPr sz="2133" spc="-67" dirty="0">
                <a:latin typeface="Lucida Sans Unicode"/>
                <a:cs typeface="Lucida Sans Unicode"/>
              </a:rPr>
              <a:t>V</a:t>
            </a:r>
            <a:endParaRPr sz="2133">
              <a:latin typeface="Lucida Sans Unicode"/>
              <a:cs typeface="Lucida Sans Unicode"/>
            </a:endParaRPr>
          </a:p>
        </p:txBody>
      </p:sp>
      <p:grpSp>
        <p:nvGrpSpPr>
          <p:cNvPr id="99" name="object 99"/>
          <p:cNvGrpSpPr/>
          <p:nvPr/>
        </p:nvGrpSpPr>
        <p:grpSpPr>
          <a:xfrm>
            <a:off x="2357044" y="2379943"/>
            <a:ext cx="135467" cy="210820"/>
            <a:chOff x="1767783" y="1784957"/>
            <a:chExt cx="101600" cy="158115"/>
          </a:xfrm>
        </p:grpSpPr>
        <p:sp>
          <p:nvSpPr>
            <p:cNvPr id="100" name="object 100"/>
            <p:cNvSpPr/>
            <p:nvPr/>
          </p:nvSpPr>
          <p:spPr>
            <a:xfrm>
              <a:off x="1772546" y="178972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1" name="object 101"/>
            <p:cNvSpPr/>
            <p:nvPr/>
          </p:nvSpPr>
          <p:spPr>
            <a:xfrm>
              <a:off x="1772546" y="178972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102" name="object 102"/>
          <p:cNvSpPr txBox="1"/>
          <p:nvPr/>
        </p:nvSpPr>
        <p:spPr>
          <a:xfrm>
            <a:off x="1983219" y="2370824"/>
            <a:ext cx="502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7" dirty="0">
                <a:latin typeface="Lucida Sans Unicode"/>
                <a:cs typeface="Lucida Sans Unicode"/>
              </a:rPr>
              <a:t> </a:t>
            </a:r>
            <a:r>
              <a:rPr sz="1200" dirty="0">
                <a:latin typeface="Lucida Sans Unicode"/>
                <a:cs typeface="Lucida Sans Unicode"/>
              </a:rPr>
              <a:t>K</a:t>
            </a:r>
            <a:r>
              <a:rPr sz="1200" spc="200"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103" name="object 103"/>
          <p:cNvGrpSpPr/>
          <p:nvPr/>
        </p:nvGrpSpPr>
        <p:grpSpPr>
          <a:xfrm>
            <a:off x="3429625" y="2379943"/>
            <a:ext cx="135467" cy="210820"/>
            <a:chOff x="2572219" y="1784957"/>
            <a:chExt cx="101600" cy="158115"/>
          </a:xfrm>
        </p:grpSpPr>
        <p:sp>
          <p:nvSpPr>
            <p:cNvPr id="104" name="object 104"/>
            <p:cNvSpPr/>
            <p:nvPr/>
          </p:nvSpPr>
          <p:spPr>
            <a:xfrm>
              <a:off x="2576982" y="178972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5" name="object 105"/>
            <p:cNvSpPr/>
            <p:nvPr/>
          </p:nvSpPr>
          <p:spPr>
            <a:xfrm>
              <a:off x="2576982" y="178972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106" name="object 106"/>
          <p:cNvSpPr txBox="1"/>
          <p:nvPr/>
        </p:nvSpPr>
        <p:spPr>
          <a:xfrm>
            <a:off x="3055800" y="2370824"/>
            <a:ext cx="502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7" dirty="0">
                <a:latin typeface="Lucida Sans Unicode"/>
                <a:cs typeface="Lucida Sans Unicode"/>
              </a:rPr>
              <a:t> </a:t>
            </a:r>
            <a:r>
              <a:rPr sz="1200" dirty="0">
                <a:latin typeface="Lucida Sans Unicode"/>
                <a:cs typeface="Lucida Sans Unicode"/>
              </a:rPr>
              <a:t>K</a:t>
            </a:r>
            <a:r>
              <a:rPr sz="1200" spc="200"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107" name="object 107"/>
          <p:cNvGrpSpPr/>
          <p:nvPr/>
        </p:nvGrpSpPr>
        <p:grpSpPr>
          <a:xfrm>
            <a:off x="4500123" y="2379943"/>
            <a:ext cx="135467" cy="210820"/>
            <a:chOff x="3375092" y="1784957"/>
            <a:chExt cx="101600" cy="158115"/>
          </a:xfrm>
        </p:grpSpPr>
        <p:sp>
          <p:nvSpPr>
            <p:cNvPr id="108" name="object 108"/>
            <p:cNvSpPr/>
            <p:nvPr/>
          </p:nvSpPr>
          <p:spPr>
            <a:xfrm>
              <a:off x="3379854" y="178972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9" name="object 109"/>
            <p:cNvSpPr/>
            <p:nvPr/>
          </p:nvSpPr>
          <p:spPr>
            <a:xfrm>
              <a:off x="3379854" y="178972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110" name="object 110"/>
          <p:cNvSpPr txBox="1"/>
          <p:nvPr/>
        </p:nvSpPr>
        <p:spPr>
          <a:xfrm>
            <a:off x="4126296" y="2370824"/>
            <a:ext cx="502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7" dirty="0">
                <a:latin typeface="Lucida Sans Unicode"/>
                <a:cs typeface="Lucida Sans Unicode"/>
              </a:rPr>
              <a:t> </a:t>
            </a:r>
            <a:r>
              <a:rPr sz="1200" dirty="0">
                <a:latin typeface="Lucida Sans Unicode"/>
                <a:cs typeface="Lucida Sans Unicode"/>
              </a:rPr>
              <a:t>K</a:t>
            </a:r>
            <a:r>
              <a:rPr sz="1200" spc="200"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111" name="object 111"/>
          <p:cNvGrpSpPr/>
          <p:nvPr/>
        </p:nvGrpSpPr>
        <p:grpSpPr>
          <a:xfrm>
            <a:off x="6640653" y="2379943"/>
            <a:ext cx="135467" cy="210820"/>
            <a:chOff x="4980490" y="1784957"/>
            <a:chExt cx="101600" cy="158115"/>
          </a:xfrm>
        </p:grpSpPr>
        <p:sp>
          <p:nvSpPr>
            <p:cNvPr id="112" name="object 112"/>
            <p:cNvSpPr/>
            <p:nvPr/>
          </p:nvSpPr>
          <p:spPr>
            <a:xfrm>
              <a:off x="4985252" y="178972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3" name="object 113"/>
            <p:cNvSpPr/>
            <p:nvPr/>
          </p:nvSpPr>
          <p:spPr>
            <a:xfrm>
              <a:off x="4985252" y="178972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114" name="object 114"/>
          <p:cNvSpPr txBox="1"/>
          <p:nvPr/>
        </p:nvSpPr>
        <p:spPr>
          <a:xfrm>
            <a:off x="6266827" y="2370824"/>
            <a:ext cx="502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7" dirty="0">
                <a:latin typeface="Lucida Sans Unicode"/>
                <a:cs typeface="Lucida Sans Unicode"/>
              </a:rPr>
              <a:t> </a:t>
            </a:r>
            <a:r>
              <a:rPr sz="1200" dirty="0">
                <a:latin typeface="Lucida Sans Unicode"/>
                <a:cs typeface="Lucida Sans Unicode"/>
              </a:rPr>
              <a:t>K</a:t>
            </a:r>
            <a:r>
              <a:rPr sz="1200" spc="200"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115" name="object 115"/>
          <p:cNvGrpSpPr/>
          <p:nvPr/>
        </p:nvGrpSpPr>
        <p:grpSpPr>
          <a:xfrm>
            <a:off x="7709952" y="2379943"/>
            <a:ext cx="135467" cy="210820"/>
            <a:chOff x="5782464" y="1784957"/>
            <a:chExt cx="101600" cy="158115"/>
          </a:xfrm>
        </p:grpSpPr>
        <p:sp>
          <p:nvSpPr>
            <p:cNvPr id="116" name="object 116"/>
            <p:cNvSpPr/>
            <p:nvPr/>
          </p:nvSpPr>
          <p:spPr>
            <a:xfrm>
              <a:off x="5787227" y="178972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7" name="object 117"/>
            <p:cNvSpPr/>
            <p:nvPr/>
          </p:nvSpPr>
          <p:spPr>
            <a:xfrm>
              <a:off x="5787227" y="178972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118" name="object 118"/>
          <p:cNvSpPr txBox="1"/>
          <p:nvPr/>
        </p:nvSpPr>
        <p:spPr>
          <a:xfrm>
            <a:off x="7336127" y="2370824"/>
            <a:ext cx="502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7" dirty="0">
                <a:latin typeface="Lucida Sans Unicode"/>
                <a:cs typeface="Lucida Sans Unicode"/>
              </a:rPr>
              <a:t> </a:t>
            </a:r>
            <a:r>
              <a:rPr sz="1200" dirty="0">
                <a:latin typeface="Lucida Sans Unicode"/>
                <a:cs typeface="Lucida Sans Unicode"/>
              </a:rPr>
              <a:t>K</a:t>
            </a:r>
            <a:r>
              <a:rPr sz="1200" spc="200"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119" name="object 119"/>
          <p:cNvGrpSpPr/>
          <p:nvPr/>
        </p:nvGrpSpPr>
        <p:grpSpPr>
          <a:xfrm>
            <a:off x="8777535" y="2379943"/>
            <a:ext cx="135467" cy="210820"/>
            <a:chOff x="6583151" y="1784957"/>
            <a:chExt cx="101600" cy="158115"/>
          </a:xfrm>
        </p:grpSpPr>
        <p:sp>
          <p:nvSpPr>
            <p:cNvPr id="120" name="object 120"/>
            <p:cNvSpPr/>
            <p:nvPr/>
          </p:nvSpPr>
          <p:spPr>
            <a:xfrm>
              <a:off x="6587914" y="178972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1" name="object 121"/>
            <p:cNvSpPr/>
            <p:nvPr/>
          </p:nvSpPr>
          <p:spPr>
            <a:xfrm>
              <a:off x="6587914" y="178972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122" name="object 122"/>
          <p:cNvSpPr txBox="1"/>
          <p:nvPr/>
        </p:nvSpPr>
        <p:spPr>
          <a:xfrm>
            <a:off x="8403709" y="2370824"/>
            <a:ext cx="502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7" dirty="0">
                <a:latin typeface="Lucida Sans Unicode"/>
                <a:cs typeface="Lucida Sans Unicode"/>
              </a:rPr>
              <a:t> </a:t>
            </a:r>
            <a:r>
              <a:rPr sz="1200" dirty="0">
                <a:latin typeface="Lucida Sans Unicode"/>
                <a:cs typeface="Lucida Sans Unicode"/>
              </a:rPr>
              <a:t>K</a:t>
            </a:r>
            <a:r>
              <a:rPr sz="1200" spc="200"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123" name="object 123"/>
          <p:cNvGrpSpPr/>
          <p:nvPr/>
        </p:nvGrpSpPr>
        <p:grpSpPr>
          <a:xfrm>
            <a:off x="9848475" y="2379943"/>
            <a:ext cx="135467" cy="210820"/>
            <a:chOff x="7386356" y="1784957"/>
            <a:chExt cx="101600" cy="158115"/>
          </a:xfrm>
        </p:grpSpPr>
        <p:sp>
          <p:nvSpPr>
            <p:cNvPr id="124" name="object 124"/>
            <p:cNvSpPr/>
            <p:nvPr/>
          </p:nvSpPr>
          <p:spPr>
            <a:xfrm>
              <a:off x="7391119" y="178972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5" name="object 125"/>
            <p:cNvSpPr/>
            <p:nvPr/>
          </p:nvSpPr>
          <p:spPr>
            <a:xfrm>
              <a:off x="7391119" y="178972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126" name="object 126"/>
          <p:cNvSpPr txBox="1"/>
          <p:nvPr/>
        </p:nvSpPr>
        <p:spPr>
          <a:xfrm>
            <a:off x="9474649" y="2370824"/>
            <a:ext cx="502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7" dirty="0">
                <a:latin typeface="Lucida Sans Unicode"/>
                <a:cs typeface="Lucida Sans Unicode"/>
              </a:rPr>
              <a:t> </a:t>
            </a:r>
            <a:r>
              <a:rPr sz="1200" dirty="0">
                <a:latin typeface="Lucida Sans Unicode"/>
                <a:cs typeface="Lucida Sans Unicode"/>
              </a:rPr>
              <a:t>K</a:t>
            </a:r>
            <a:r>
              <a:rPr sz="1200" spc="200"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127" name="object 127"/>
          <p:cNvGrpSpPr/>
          <p:nvPr/>
        </p:nvGrpSpPr>
        <p:grpSpPr>
          <a:xfrm>
            <a:off x="5571067" y="2379943"/>
            <a:ext cx="135467" cy="210820"/>
            <a:chOff x="4178300" y="1784957"/>
            <a:chExt cx="101600" cy="158115"/>
          </a:xfrm>
        </p:grpSpPr>
        <p:sp>
          <p:nvSpPr>
            <p:cNvPr id="128" name="object 128"/>
            <p:cNvSpPr/>
            <p:nvPr/>
          </p:nvSpPr>
          <p:spPr>
            <a:xfrm>
              <a:off x="4183062" y="178972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9" name="object 129"/>
            <p:cNvSpPr/>
            <p:nvPr/>
          </p:nvSpPr>
          <p:spPr>
            <a:xfrm>
              <a:off x="4183062" y="178972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130" name="object 130"/>
          <p:cNvSpPr txBox="1"/>
          <p:nvPr/>
        </p:nvSpPr>
        <p:spPr>
          <a:xfrm>
            <a:off x="5197240" y="2370824"/>
            <a:ext cx="502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Q</a:t>
            </a:r>
            <a:r>
              <a:rPr sz="1200" spc="-147" dirty="0">
                <a:latin typeface="Lucida Sans Unicode"/>
                <a:cs typeface="Lucida Sans Unicode"/>
              </a:rPr>
              <a:t> </a:t>
            </a:r>
            <a:r>
              <a:rPr sz="1200" dirty="0">
                <a:latin typeface="Lucida Sans Unicode"/>
                <a:cs typeface="Lucida Sans Unicode"/>
              </a:rPr>
              <a:t>K</a:t>
            </a:r>
            <a:r>
              <a:rPr sz="1200" spc="200"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sp>
        <p:nvSpPr>
          <p:cNvPr id="131" name="TextBox 130">
            <a:extLst>
              <a:ext uri="{FF2B5EF4-FFF2-40B4-BE49-F238E27FC236}">
                <a16:creationId xmlns:a16="http://schemas.microsoft.com/office/drawing/2014/main" id="{BC60D108-43A0-D618-12BD-D41ADA8DA722}"/>
              </a:ext>
            </a:extLst>
          </p:cNvPr>
          <p:cNvSpPr txBox="1"/>
          <p:nvPr/>
        </p:nvSpPr>
        <p:spPr>
          <a:xfrm>
            <a:off x="3256550" y="5934372"/>
            <a:ext cx="3492623" cy="461665"/>
          </a:xfrm>
          <a:prstGeom prst="rect">
            <a:avLst/>
          </a:prstGeom>
          <a:noFill/>
        </p:spPr>
        <p:txBody>
          <a:bodyPr wrap="none" rtlCol="0">
            <a:spAutoFit/>
          </a:bodyPr>
          <a:lstStyle/>
          <a:p>
            <a:r>
              <a:rPr lang="en-US" sz="2400" dirty="0"/>
              <a:t>Calculate attention score S</a:t>
            </a:r>
            <a:endParaRPr lang="en-IN" sz="2400" dirty="0"/>
          </a:p>
        </p:txBody>
      </p:sp>
      <p:pic>
        <p:nvPicPr>
          <p:cNvPr id="133" name="Picture 132">
            <a:extLst>
              <a:ext uri="{FF2B5EF4-FFF2-40B4-BE49-F238E27FC236}">
                <a16:creationId xmlns:a16="http://schemas.microsoft.com/office/drawing/2014/main" id="{4A698781-2FB7-F0D4-5195-A840A11C5F39}"/>
              </a:ext>
            </a:extLst>
          </p:cNvPr>
          <p:cNvPicPr>
            <a:picLocks noChangeAspect="1"/>
          </p:cNvPicPr>
          <p:nvPr/>
        </p:nvPicPr>
        <p:blipFill>
          <a:blip r:embed="rId3"/>
          <a:stretch>
            <a:fillRect/>
          </a:stretch>
        </p:blipFill>
        <p:spPr>
          <a:xfrm>
            <a:off x="6990916" y="5608997"/>
            <a:ext cx="1022239" cy="924216"/>
          </a:xfrm>
          <a:prstGeom prst="rect">
            <a:avLst/>
          </a:prstGeom>
        </p:spPr>
      </p:pic>
    </p:spTree>
    <p:extLst>
      <p:ext uri="{BB962C8B-B14F-4D97-AF65-F5344CB8AC3E}">
        <p14:creationId xmlns:p14="http://schemas.microsoft.com/office/powerpoint/2010/main" val="420881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Attention</a:t>
            </a:r>
            <a:r>
              <a:rPr spc="-152" dirty="0"/>
              <a:t> </a:t>
            </a:r>
            <a:r>
              <a:rPr spc="213" dirty="0"/>
              <a:t>data</a:t>
            </a:r>
            <a:r>
              <a:rPr spc="-147" dirty="0"/>
              <a:t> </a:t>
            </a:r>
            <a:r>
              <a:rPr spc="-27" dirty="0"/>
              <a:t>flow</a:t>
            </a:r>
          </a:p>
        </p:txBody>
      </p:sp>
      <p:sp>
        <p:nvSpPr>
          <p:cNvPr id="3" name="object 3"/>
          <p:cNvSpPr/>
          <p:nvPr/>
        </p:nvSpPr>
        <p:spPr>
          <a:xfrm>
            <a:off x="1431063" y="1548384"/>
            <a:ext cx="9338733" cy="4060613"/>
          </a:xfrm>
          <a:custGeom>
            <a:avLst/>
            <a:gdLst/>
            <a:ahLst/>
            <a:cxnLst/>
            <a:rect l="l" t="t" r="r" b="b"/>
            <a:pathLst>
              <a:path w="7004050" h="3045460">
                <a:moveTo>
                  <a:pt x="0" y="0"/>
                </a:moveTo>
                <a:lnTo>
                  <a:pt x="7003499" y="0"/>
                </a:lnTo>
                <a:lnTo>
                  <a:pt x="7003499" y="3044999"/>
                </a:lnTo>
                <a:lnTo>
                  <a:pt x="0" y="3044999"/>
                </a:lnTo>
                <a:lnTo>
                  <a:pt x="0" y="0"/>
                </a:lnTo>
                <a:close/>
              </a:path>
            </a:pathLst>
          </a:custGeom>
          <a:ln w="19049">
            <a:solidFill>
              <a:srgbClr val="237A94"/>
            </a:solidFill>
          </a:ln>
        </p:spPr>
        <p:txBody>
          <a:bodyPr wrap="square" lIns="0" tIns="0" rIns="0" bIns="0" rtlCol="0"/>
          <a:lstStyle/>
          <a:p>
            <a:endParaRPr sz="2400"/>
          </a:p>
        </p:txBody>
      </p:sp>
      <p:sp>
        <p:nvSpPr>
          <p:cNvPr id="4" name="object 4"/>
          <p:cNvSpPr txBox="1"/>
          <p:nvPr/>
        </p:nvSpPr>
        <p:spPr>
          <a:xfrm>
            <a:off x="1519351" y="5238451"/>
            <a:ext cx="513080" cy="304421"/>
          </a:xfrm>
          <a:prstGeom prst="rect">
            <a:avLst/>
          </a:prstGeom>
        </p:spPr>
        <p:txBody>
          <a:bodyPr vert="horz" wrap="square" lIns="0" tIns="16933" rIns="0" bIns="0" rtlCol="0">
            <a:spAutoFit/>
          </a:bodyPr>
          <a:lstStyle/>
          <a:p>
            <a:pPr>
              <a:spcBef>
                <a:spcPts val="133"/>
              </a:spcBef>
            </a:pPr>
            <a:r>
              <a:rPr sz="1867" spc="-167" dirty="0">
                <a:solidFill>
                  <a:srgbClr val="999999"/>
                </a:solidFill>
                <a:latin typeface="Arial Black"/>
                <a:cs typeface="Arial Black"/>
              </a:rPr>
              <a:t>GPU</a:t>
            </a:r>
            <a:endParaRPr sz="1867">
              <a:latin typeface="Arial Black"/>
              <a:cs typeface="Arial Black"/>
            </a:endParaRPr>
          </a:p>
        </p:txBody>
      </p:sp>
      <p:sp>
        <p:nvSpPr>
          <p:cNvPr id="5" name="object 5"/>
          <p:cNvSpPr txBox="1"/>
          <p:nvPr/>
        </p:nvSpPr>
        <p:spPr>
          <a:xfrm>
            <a:off x="1945434" y="1710578"/>
            <a:ext cx="1555327" cy="256480"/>
          </a:xfrm>
          <a:prstGeom prst="rect">
            <a:avLst/>
          </a:prstGeom>
        </p:spPr>
        <p:txBody>
          <a:bodyPr vert="horz" wrap="square" lIns="0" tIns="10160" rIns="0" bIns="0" rtlCol="0">
            <a:spAutoFit/>
          </a:bodyPr>
          <a:lstStyle/>
          <a:p>
            <a:pPr>
              <a:spcBef>
                <a:spcPts val="80"/>
              </a:spcBef>
            </a:pPr>
            <a:r>
              <a:rPr sz="1600" spc="-33" dirty="0">
                <a:solidFill>
                  <a:srgbClr val="666666"/>
                </a:solidFill>
                <a:latin typeface="Arial Black"/>
                <a:cs typeface="Arial Black"/>
              </a:rPr>
              <a:t>Compute</a:t>
            </a:r>
            <a:r>
              <a:rPr sz="1600" spc="-127" dirty="0">
                <a:solidFill>
                  <a:srgbClr val="666666"/>
                </a:solidFill>
                <a:latin typeface="Arial Black"/>
                <a:cs typeface="Arial Black"/>
              </a:rPr>
              <a:t> </a:t>
            </a:r>
            <a:r>
              <a:rPr sz="1600" spc="-47" dirty="0">
                <a:solidFill>
                  <a:srgbClr val="666666"/>
                </a:solidFill>
                <a:latin typeface="Arial Black"/>
                <a:cs typeface="Arial Black"/>
              </a:rPr>
              <a:t>units</a:t>
            </a:r>
            <a:endParaRPr sz="1600">
              <a:latin typeface="Arial Black"/>
              <a:cs typeface="Arial Black"/>
            </a:endParaRPr>
          </a:p>
        </p:txBody>
      </p:sp>
      <p:grpSp>
        <p:nvGrpSpPr>
          <p:cNvPr id="6" name="object 6"/>
          <p:cNvGrpSpPr/>
          <p:nvPr/>
        </p:nvGrpSpPr>
        <p:grpSpPr>
          <a:xfrm>
            <a:off x="1813796" y="1711599"/>
            <a:ext cx="8573347" cy="988060"/>
            <a:chOff x="1360347" y="1283699"/>
            <a:chExt cx="6430010" cy="741045"/>
          </a:xfrm>
        </p:grpSpPr>
        <p:sp>
          <p:nvSpPr>
            <p:cNvPr id="7" name="object 7"/>
            <p:cNvSpPr/>
            <p:nvPr/>
          </p:nvSpPr>
          <p:spPr>
            <a:xfrm>
              <a:off x="1365110" y="1288461"/>
              <a:ext cx="6420485" cy="731520"/>
            </a:xfrm>
            <a:custGeom>
              <a:avLst/>
              <a:gdLst/>
              <a:ahLst/>
              <a:cxnLst/>
              <a:rect l="l" t="t" r="r" b="b"/>
              <a:pathLst>
                <a:path w="6420484" h="731519">
                  <a:moveTo>
                    <a:pt x="6419999" y="731400"/>
                  </a:moveTo>
                  <a:lnTo>
                    <a:pt x="0" y="731400"/>
                  </a:lnTo>
                  <a:lnTo>
                    <a:pt x="0" y="0"/>
                  </a:lnTo>
                  <a:lnTo>
                    <a:pt x="6419999" y="0"/>
                  </a:lnTo>
                  <a:lnTo>
                    <a:pt x="6419999" y="731400"/>
                  </a:lnTo>
                  <a:close/>
                </a:path>
              </a:pathLst>
            </a:custGeom>
            <a:solidFill>
              <a:srgbClr val="FFECED"/>
            </a:solidFill>
          </p:spPr>
          <p:txBody>
            <a:bodyPr wrap="square" lIns="0" tIns="0" rIns="0" bIns="0" rtlCol="0"/>
            <a:lstStyle/>
            <a:p>
              <a:endParaRPr sz="2400"/>
            </a:p>
          </p:txBody>
        </p:sp>
        <p:sp>
          <p:nvSpPr>
            <p:cNvPr id="8" name="object 8"/>
            <p:cNvSpPr/>
            <p:nvPr/>
          </p:nvSpPr>
          <p:spPr>
            <a:xfrm>
              <a:off x="1365110" y="1288461"/>
              <a:ext cx="6420485" cy="731520"/>
            </a:xfrm>
            <a:custGeom>
              <a:avLst/>
              <a:gdLst/>
              <a:ahLst/>
              <a:cxnLst/>
              <a:rect l="l" t="t" r="r" b="b"/>
              <a:pathLst>
                <a:path w="6420484" h="731519">
                  <a:moveTo>
                    <a:pt x="0" y="0"/>
                  </a:moveTo>
                  <a:lnTo>
                    <a:pt x="6419999" y="0"/>
                  </a:lnTo>
                  <a:lnTo>
                    <a:pt x="6419999" y="731400"/>
                  </a:lnTo>
                  <a:lnTo>
                    <a:pt x="0" y="731400"/>
                  </a:lnTo>
                  <a:lnTo>
                    <a:pt x="0" y="0"/>
                  </a:lnTo>
                  <a:close/>
                </a:path>
              </a:pathLst>
            </a:custGeom>
            <a:ln w="9524">
              <a:solidFill>
                <a:srgbClr val="237A94"/>
              </a:solidFill>
            </a:ln>
          </p:spPr>
          <p:txBody>
            <a:bodyPr wrap="square" lIns="0" tIns="0" rIns="0" bIns="0" rtlCol="0"/>
            <a:lstStyle/>
            <a:p>
              <a:endParaRPr sz="2400"/>
            </a:p>
          </p:txBody>
        </p:sp>
        <p:sp>
          <p:nvSpPr>
            <p:cNvPr id="9" name="object 9"/>
            <p:cNvSpPr/>
            <p:nvPr/>
          </p:nvSpPr>
          <p:spPr>
            <a:xfrm>
              <a:off x="3853475"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0" name="object 10"/>
            <p:cNvSpPr/>
            <p:nvPr/>
          </p:nvSpPr>
          <p:spPr>
            <a:xfrm>
              <a:off x="3853475" y="1509156"/>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1" name="object 11"/>
            <p:cNvSpPr/>
            <p:nvPr/>
          </p:nvSpPr>
          <p:spPr>
            <a:xfrm>
              <a:off x="46584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2" name="object 12"/>
            <p:cNvSpPr/>
            <p:nvPr/>
          </p:nvSpPr>
          <p:spPr>
            <a:xfrm>
              <a:off x="46584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3" name="object 13"/>
            <p:cNvSpPr/>
            <p:nvPr/>
          </p:nvSpPr>
          <p:spPr>
            <a:xfrm>
              <a:off x="5460074"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4" name="object 14"/>
            <p:cNvSpPr/>
            <p:nvPr/>
          </p:nvSpPr>
          <p:spPr>
            <a:xfrm>
              <a:off x="5460074" y="1509156"/>
              <a:ext cx="650240" cy="457200"/>
            </a:xfrm>
            <a:custGeom>
              <a:avLst/>
              <a:gdLst/>
              <a:ahLst/>
              <a:cxnLst/>
              <a:rect l="l" t="t" r="r" b="b"/>
              <a:pathLst>
                <a:path w="650239"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5" name="object 15"/>
            <p:cNvSpPr/>
            <p:nvPr/>
          </p:nvSpPr>
          <p:spPr>
            <a:xfrm>
              <a:off x="6261724" y="1509157"/>
              <a:ext cx="650240" cy="226695"/>
            </a:xfrm>
            <a:custGeom>
              <a:avLst/>
              <a:gdLst/>
              <a:ahLst/>
              <a:cxnLst/>
              <a:rect l="l" t="t" r="r" b="b"/>
              <a:pathLst>
                <a:path w="650240" h="226694">
                  <a:moveTo>
                    <a:pt x="0" y="226679"/>
                  </a:moveTo>
                  <a:lnTo>
                    <a:pt x="649726" y="226679"/>
                  </a:lnTo>
                  <a:lnTo>
                    <a:pt x="649726" y="0"/>
                  </a:lnTo>
                  <a:lnTo>
                    <a:pt x="0" y="0"/>
                  </a:lnTo>
                  <a:lnTo>
                    <a:pt x="0" y="226679"/>
                  </a:lnTo>
                  <a:close/>
                </a:path>
              </a:pathLst>
            </a:custGeom>
            <a:solidFill>
              <a:srgbClr val="F4C4D1"/>
            </a:solidFill>
          </p:spPr>
          <p:txBody>
            <a:bodyPr wrap="square" lIns="0" tIns="0" rIns="0" bIns="0" rtlCol="0"/>
            <a:lstStyle/>
            <a:p>
              <a:endParaRPr sz="2400"/>
            </a:p>
          </p:txBody>
        </p:sp>
        <p:sp>
          <p:nvSpPr>
            <p:cNvPr id="16" name="object 16"/>
            <p:cNvSpPr/>
            <p:nvPr/>
          </p:nvSpPr>
          <p:spPr>
            <a:xfrm>
              <a:off x="6261724" y="1509157"/>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7" name="object 17"/>
            <p:cNvSpPr/>
            <p:nvPr/>
          </p:nvSpPr>
          <p:spPr>
            <a:xfrm>
              <a:off x="7063349" y="1509156"/>
              <a:ext cx="650240" cy="234950"/>
            </a:xfrm>
            <a:custGeom>
              <a:avLst/>
              <a:gdLst/>
              <a:ahLst/>
              <a:cxnLst/>
              <a:rect l="l" t="t" r="r" b="b"/>
              <a:pathLst>
                <a:path w="650240"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8" name="object 18"/>
            <p:cNvSpPr/>
            <p:nvPr/>
          </p:nvSpPr>
          <p:spPr>
            <a:xfrm>
              <a:off x="7063349" y="1509156"/>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9" name="object 19"/>
            <p:cNvSpPr/>
            <p:nvPr/>
          </p:nvSpPr>
          <p:spPr>
            <a:xfrm>
              <a:off x="1448749" y="1509158"/>
              <a:ext cx="650240" cy="228600"/>
            </a:xfrm>
            <a:custGeom>
              <a:avLst/>
              <a:gdLst/>
              <a:ahLst/>
              <a:cxnLst/>
              <a:rect l="l" t="t" r="r" b="b"/>
              <a:pathLst>
                <a:path w="650239" h="228600">
                  <a:moveTo>
                    <a:pt x="0" y="228477"/>
                  </a:moveTo>
                  <a:lnTo>
                    <a:pt x="649726" y="228477"/>
                  </a:lnTo>
                  <a:lnTo>
                    <a:pt x="649726" y="0"/>
                  </a:lnTo>
                  <a:lnTo>
                    <a:pt x="0" y="0"/>
                  </a:lnTo>
                  <a:lnTo>
                    <a:pt x="0" y="228477"/>
                  </a:lnTo>
                  <a:close/>
                </a:path>
              </a:pathLst>
            </a:custGeom>
            <a:solidFill>
              <a:srgbClr val="F4C4D1"/>
            </a:solidFill>
          </p:spPr>
          <p:txBody>
            <a:bodyPr wrap="square" lIns="0" tIns="0" rIns="0" bIns="0" rtlCol="0"/>
            <a:lstStyle/>
            <a:p>
              <a:endParaRPr sz="2400"/>
            </a:p>
          </p:txBody>
        </p:sp>
        <p:sp>
          <p:nvSpPr>
            <p:cNvPr id="20" name="object 20"/>
            <p:cNvSpPr/>
            <p:nvPr/>
          </p:nvSpPr>
          <p:spPr>
            <a:xfrm>
              <a:off x="1448749"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1" name="object 21"/>
            <p:cNvSpPr/>
            <p:nvPr/>
          </p:nvSpPr>
          <p:spPr>
            <a:xfrm>
              <a:off x="2250396" y="1509158"/>
              <a:ext cx="650240" cy="234950"/>
            </a:xfrm>
            <a:custGeom>
              <a:avLst/>
              <a:gdLst/>
              <a:ahLst/>
              <a:cxnLst/>
              <a:rect l="l" t="t" r="r" b="b"/>
              <a:pathLst>
                <a:path w="650239" h="234950">
                  <a:moveTo>
                    <a:pt x="0" y="234402"/>
                  </a:moveTo>
                  <a:lnTo>
                    <a:pt x="649726" y="234402"/>
                  </a:lnTo>
                  <a:lnTo>
                    <a:pt x="649726" y="0"/>
                  </a:lnTo>
                  <a:lnTo>
                    <a:pt x="0" y="0"/>
                  </a:lnTo>
                  <a:lnTo>
                    <a:pt x="0" y="234402"/>
                  </a:lnTo>
                  <a:close/>
                </a:path>
              </a:pathLst>
            </a:custGeom>
            <a:solidFill>
              <a:srgbClr val="F4C4D1"/>
            </a:solidFill>
          </p:spPr>
          <p:txBody>
            <a:bodyPr wrap="square" lIns="0" tIns="0" rIns="0" bIns="0" rtlCol="0"/>
            <a:lstStyle/>
            <a:p>
              <a:endParaRPr sz="2400"/>
            </a:p>
          </p:txBody>
        </p:sp>
        <p:sp>
          <p:nvSpPr>
            <p:cNvPr id="22" name="object 22"/>
            <p:cNvSpPr/>
            <p:nvPr/>
          </p:nvSpPr>
          <p:spPr>
            <a:xfrm>
              <a:off x="2250396"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3" name="object 23"/>
            <p:cNvSpPr/>
            <p:nvPr/>
          </p:nvSpPr>
          <p:spPr>
            <a:xfrm>
              <a:off x="30520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4" name="object 24"/>
            <p:cNvSpPr/>
            <p:nvPr/>
          </p:nvSpPr>
          <p:spPr>
            <a:xfrm>
              <a:off x="30520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grpSp>
      <p:sp>
        <p:nvSpPr>
          <p:cNvPr id="25" name="object 25"/>
          <p:cNvSpPr txBox="1"/>
          <p:nvPr/>
        </p:nvSpPr>
        <p:spPr>
          <a:xfrm>
            <a:off x="1908748" y="1715056"/>
            <a:ext cx="1532467" cy="263320"/>
          </a:xfrm>
          <a:prstGeom prst="rect">
            <a:avLst/>
          </a:prstGeom>
        </p:spPr>
        <p:txBody>
          <a:bodyPr vert="horz" wrap="square" lIns="0" tIns="16933" rIns="0" bIns="0" rtlCol="0">
            <a:spAutoFit/>
          </a:bodyPr>
          <a:lstStyle/>
          <a:p>
            <a:pPr>
              <a:spcBef>
                <a:spcPts val="133"/>
              </a:spcBef>
            </a:pPr>
            <a:r>
              <a:rPr sz="1600" spc="67" dirty="0">
                <a:solidFill>
                  <a:srgbClr val="434343"/>
                </a:solidFill>
                <a:latin typeface="Lucida Sans Unicode"/>
                <a:cs typeface="Lucida Sans Unicode"/>
              </a:rPr>
              <a:t>Compute</a:t>
            </a:r>
            <a:r>
              <a:rPr sz="1600" spc="-53" dirty="0">
                <a:solidFill>
                  <a:srgbClr val="434343"/>
                </a:solidFill>
                <a:latin typeface="Lucida Sans Unicode"/>
                <a:cs typeface="Lucida Sans Unicode"/>
              </a:rPr>
              <a:t> </a:t>
            </a:r>
            <a:r>
              <a:rPr sz="1600" spc="-13" dirty="0">
                <a:solidFill>
                  <a:srgbClr val="434343"/>
                </a:solidFill>
                <a:latin typeface="Lucida Sans Unicode"/>
                <a:cs typeface="Lucida Sans Unicode"/>
              </a:rPr>
              <a:t>Units</a:t>
            </a:r>
            <a:endParaRPr sz="1600">
              <a:latin typeface="Lucida Sans Unicode"/>
              <a:cs typeface="Lucida Sans Unicode"/>
            </a:endParaRPr>
          </a:p>
        </p:txBody>
      </p:sp>
      <p:grpSp>
        <p:nvGrpSpPr>
          <p:cNvPr id="26" name="object 26"/>
          <p:cNvGrpSpPr/>
          <p:nvPr/>
        </p:nvGrpSpPr>
        <p:grpSpPr>
          <a:xfrm>
            <a:off x="1809633" y="2843348"/>
            <a:ext cx="8573347" cy="2363893"/>
            <a:chOff x="1357225" y="2132511"/>
            <a:chExt cx="6430010" cy="1772920"/>
          </a:xfrm>
        </p:grpSpPr>
        <p:sp>
          <p:nvSpPr>
            <p:cNvPr id="27" name="object 27"/>
            <p:cNvSpPr/>
            <p:nvPr/>
          </p:nvSpPr>
          <p:spPr>
            <a:xfrm>
              <a:off x="1361987" y="2137274"/>
              <a:ext cx="6420485" cy="1763395"/>
            </a:xfrm>
            <a:custGeom>
              <a:avLst/>
              <a:gdLst/>
              <a:ahLst/>
              <a:cxnLst/>
              <a:rect l="l" t="t" r="r" b="b"/>
              <a:pathLst>
                <a:path w="6420484" h="1763395">
                  <a:moveTo>
                    <a:pt x="6419999" y="1763399"/>
                  </a:moveTo>
                  <a:lnTo>
                    <a:pt x="0" y="1763399"/>
                  </a:lnTo>
                  <a:lnTo>
                    <a:pt x="0" y="0"/>
                  </a:lnTo>
                  <a:lnTo>
                    <a:pt x="6419999" y="0"/>
                  </a:lnTo>
                  <a:lnTo>
                    <a:pt x="6419999" y="1763399"/>
                  </a:lnTo>
                  <a:close/>
                </a:path>
              </a:pathLst>
            </a:custGeom>
            <a:solidFill>
              <a:srgbClr val="EBFAFF"/>
            </a:solidFill>
          </p:spPr>
          <p:txBody>
            <a:bodyPr wrap="square" lIns="0" tIns="0" rIns="0" bIns="0" rtlCol="0"/>
            <a:lstStyle/>
            <a:p>
              <a:endParaRPr sz="2400"/>
            </a:p>
          </p:txBody>
        </p:sp>
        <p:sp>
          <p:nvSpPr>
            <p:cNvPr id="28" name="object 28"/>
            <p:cNvSpPr/>
            <p:nvPr/>
          </p:nvSpPr>
          <p:spPr>
            <a:xfrm>
              <a:off x="1361987" y="2137274"/>
              <a:ext cx="6420485" cy="1763395"/>
            </a:xfrm>
            <a:custGeom>
              <a:avLst/>
              <a:gdLst/>
              <a:ahLst/>
              <a:cxnLst/>
              <a:rect l="l" t="t" r="r" b="b"/>
              <a:pathLst>
                <a:path w="6420484" h="1763395">
                  <a:moveTo>
                    <a:pt x="0" y="0"/>
                  </a:moveTo>
                  <a:lnTo>
                    <a:pt x="6419999" y="0"/>
                  </a:lnTo>
                  <a:lnTo>
                    <a:pt x="6419999" y="1763399"/>
                  </a:lnTo>
                  <a:lnTo>
                    <a:pt x="0" y="1763399"/>
                  </a:lnTo>
                  <a:lnTo>
                    <a:pt x="0" y="0"/>
                  </a:lnTo>
                  <a:close/>
                </a:path>
              </a:pathLst>
            </a:custGeom>
            <a:ln w="9524">
              <a:solidFill>
                <a:srgbClr val="237A94"/>
              </a:solidFill>
            </a:ln>
          </p:spPr>
          <p:txBody>
            <a:bodyPr wrap="square" lIns="0" tIns="0" rIns="0" bIns="0" rtlCol="0"/>
            <a:lstStyle/>
            <a:p>
              <a:endParaRPr sz="2400"/>
            </a:p>
          </p:txBody>
        </p:sp>
      </p:grpSp>
      <p:sp>
        <p:nvSpPr>
          <p:cNvPr id="29" name="object 29"/>
          <p:cNvSpPr txBox="1"/>
          <p:nvPr/>
        </p:nvSpPr>
        <p:spPr>
          <a:xfrm>
            <a:off x="1976302" y="2984056"/>
            <a:ext cx="1474893" cy="263320"/>
          </a:xfrm>
          <a:prstGeom prst="rect">
            <a:avLst/>
          </a:prstGeom>
        </p:spPr>
        <p:txBody>
          <a:bodyPr vert="horz" wrap="square" lIns="0" tIns="16933" rIns="0" bIns="0" rtlCol="0">
            <a:spAutoFit/>
          </a:bodyPr>
          <a:lstStyle/>
          <a:p>
            <a:pPr>
              <a:spcBef>
                <a:spcPts val="133"/>
              </a:spcBef>
            </a:pPr>
            <a:r>
              <a:rPr sz="1600" dirty="0">
                <a:solidFill>
                  <a:srgbClr val="434343"/>
                </a:solidFill>
                <a:latin typeface="Lucida Sans Unicode"/>
                <a:cs typeface="Lucida Sans Unicode"/>
              </a:rPr>
              <a:t>Memory</a:t>
            </a:r>
            <a:r>
              <a:rPr sz="1600" spc="167" dirty="0">
                <a:solidFill>
                  <a:srgbClr val="434343"/>
                </a:solidFill>
                <a:latin typeface="Lucida Sans Unicode"/>
                <a:cs typeface="Lucida Sans Unicode"/>
              </a:rPr>
              <a:t> </a:t>
            </a:r>
            <a:r>
              <a:rPr sz="1600" spc="-27" dirty="0">
                <a:solidFill>
                  <a:srgbClr val="434343"/>
                </a:solidFill>
                <a:latin typeface="Lucida Sans Unicode"/>
                <a:cs typeface="Lucida Sans Unicode"/>
              </a:rPr>
              <a:t>VRAM</a:t>
            </a:r>
            <a:endParaRPr sz="1600">
              <a:latin typeface="Lucida Sans Unicode"/>
              <a:cs typeface="Lucida Sans Unicode"/>
            </a:endParaRPr>
          </a:p>
        </p:txBody>
      </p:sp>
      <p:sp>
        <p:nvSpPr>
          <p:cNvPr id="30" name="object 30"/>
          <p:cNvSpPr txBox="1"/>
          <p:nvPr/>
        </p:nvSpPr>
        <p:spPr>
          <a:xfrm>
            <a:off x="2064600" y="3552033"/>
            <a:ext cx="1441873" cy="796670"/>
          </a:xfrm>
          <a:prstGeom prst="rect">
            <a:avLst/>
          </a:prstGeom>
          <a:solidFill>
            <a:srgbClr val="FFFFFF"/>
          </a:solidFill>
          <a:ln w="9524">
            <a:solidFill>
              <a:srgbClr val="000000"/>
            </a:solidFill>
          </a:ln>
        </p:spPr>
        <p:txBody>
          <a:bodyPr vert="horz" wrap="square" lIns="0" tIns="138852" rIns="0" bIns="0" rtlCol="0">
            <a:spAutoFit/>
          </a:bodyPr>
          <a:lstStyle/>
          <a:p>
            <a:pPr>
              <a:spcBef>
                <a:spcPts val="1092"/>
              </a:spcBef>
            </a:pPr>
            <a:endParaRPr sz="2133">
              <a:latin typeface="Times New Roman"/>
              <a:cs typeface="Times New Roman"/>
            </a:endParaRPr>
          </a:p>
          <a:p>
            <a:pPr marL="466502"/>
            <a:r>
              <a:rPr sz="2133" spc="-33" dirty="0">
                <a:latin typeface="Arial Black"/>
                <a:cs typeface="Arial Black"/>
              </a:rPr>
              <a:t>LLM</a:t>
            </a:r>
            <a:endParaRPr sz="2133">
              <a:latin typeface="Arial Black"/>
              <a:cs typeface="Arial Black"/>
            </a:endParaRPr>
          </a:p>
        </p:txBody>
      </p:sp>
      <p:sp>
        <p:nvSpPr>
          <p:cNvPr id="31" name="object 31"/>
          <p:cNvSpPr txBox="1"/>
          <p:nvPr/>
        </p:nvSpPr>
        <p:spPr>
          <a:xfrm>
            <a:off x="3634633" y="3552039"/>
            <a:ext cx="1247987" cy="942010"/>
          </a:xfrm>
          <a:prstGeom prst="rect">
            <a:avLst/>
          </a:prstGeom>
          <a:solidFill>
            <a:srgbClr val="BBD4F9"/>
          </a:solidFill>
          <a:ln w="9524">
            <a:solidFill>
              <a:srgbClr val="1B73EB"/>
            </a:solidFill>
          </a:ln>
        </p:spPr>
        <p:txBody>
          <a:bodyPr vert="horz" wrap="square" lIns="0" tIns="282787" rIns="0" bIns="0" rtlCol="0">
            <a:spAutoFit/>
          </a:bodyPr>
          <a:lstStyle/>
          <a:p>
            <a:pPr algn="ctr">
              <a:spcBef>
                <a:spcPts val="2227"/>
              </a:spcBef>
            </a:pPr>
            <a:r>
              <a:rPr sz="2133" spc="-33" dirty="0">
                <a:latin typeface="Arial Black"/>
                <a:cs typeface="Arial Black"/>
              </a:rPr>
              <a:t>KV</a:t>
            </a:r>
            <a:endParaRPr sz="2133">
              <a:latin typeface="Arial Black"/>
              <a:cs typeface="Arial Black"/>
            </a:endParaRPr>
          </a:p>
          <a:p>
            <a:pPr algn="ctr">
              <a:spcBef>
                <a:spcPts val="40"/>
              </a:spcBef>
            </a:pPr>
            <a:r>
              <a:rPr sz="2133" spc="-13" dirty="0">
                <a:latin typeface="Arial Black"/>
                <a:cs typeface="Arial Black"/>
              </a:rPr>
              <a:t>cache</a:t>
            </a:r>
            <a:endParaRPr sz="2133">
              <a:latin typeface="Arial Black"/>
              <a:cs typeface="Arial Black"/>
            </a:endParaRPr>
          </a:p>
        </p:txBody>
      </p:sp>
      <p:grpSp>
        <p:nvGrpSpPr>
          <p:cNvPr id="32" name="object 32"/>
          <p:cNvGrpSpPr/>
          <p:nvPr/>
        </p:nvGrpSpPr>
        <p:grpSpPr>
          <a:xfrm>
            <a:off x="1925322" y="2308098"/>
            <a:ext cx="8369300" cy="1733127"/>
            <a:chOff x="1443991" y="1731073"/>
            <a:chExt cx="6276975" cy="1299845"/>
          </a:xfrm>
        </p:grpSpPr>
        <p:sp>
          <p:nvSpPr>
            <p:cNvPr id="33" name="object 33"/>
            <p:cNvSpPr/>
            <p:nvPr/>
          </p:nvSpPr>
          <p:spPr>
            <a:xfrm>
              <a:off x="1448753" y="1737636"/>
              <a:ext cx="650240" cy="230504"/>
            </a:xfrm>
            <a:custGeom>
              <a:avLst/>
              <a:gdLst/>
              <a:ahLst/>
              <a:cxnLst/>
              <a:rect l="l" t="t" r="r" b="b"/>
              <a:pathLst>
                <a:path w="650239" h="230505">
                  <a:moveTo>
                    <a:pt x="649800" y="230399"/>
                  </a:moveTo>
                  <a:lnTo>
                    <a:pt x="0" y="230399"/>
                  </a:lnTo>
                  <a:lnTo>
                    <a:pt x="0" y="0"/>
                  </a:lnTo>
                  <a:lnTo>
                    <a:pt x="649800" y="0"/>
                  </a:lnTo>
                  <a:lnTo>
                    <a:pt x="649800" y="230399"/>
                  </a:lnTo>
                  <a:close/>
                </a:path>
              </a:pathLst>
            </a:custGeom>
            <a:solidFill>
              <a:srgbClr val="EBFAFF"/>
            </a:solidFill>
          </p:spPr>
          <p:txBody>
            <a:bodyPr wrap="square" lIns="0" tIns="0" rIns="0" bIns="0" rtlCol="0"/>
            <a:lstStyle/>
            <a:p>
              <a:endParaRPr sz="2400"/>
            </a:p>
          </p:txBody>
        </p:sp>
        <p:sp>
          <p:nvSpPr>
            <p:cNvPr id="34" name="object 34"/>
            <p:cNvSpPr/>
            <p:nvPr/>
          </p:nvSpPr>
          <p:spPr>
            <a:xfrm>
              <a:off x="1448753" y="1737636"/>
              <a:ext cx="650240" cy="230504"/>
            </a:xfrm>
            <a:custGeom>
              <a:avLst/>
              <a:gdLst/>
              <a:ahLst/>
              <a:cxnLst/>
              <a:rect l="l" t="t" r="r" b="b"/>
              <a:pathLst>
                <a:path w="650239" h="230505">
                  <a:moveTo>
                    <a:pt x="649800" y="0"/>
                  </a:moveTo>
                  <a:lnTo>
                    <a:pt x="649800" y="230399"/>
                  </a:lnTo>
                  <a:lnTo>
                    <a:pt x="0" y="230399"/>
                  </a:lnTo>
                  <a:lnTo>
                    <a:pt x="0" y="0"/>
                  </a:lnTo>
                  <a:lnTo>
                    <a:pt x="649800" y="0"/>
                  </a:lnTo>
                  <a:close/>
                </a:path>
              </a:pathLst>
            </a:custGeom>
            <a:ln w="9524">
              <a:solidFill>
                <a:srgbClr val="237A94"/>
              </a:solidFill>
            </a:ln>
          </p:spPr>
          <p:txBody>
            <a:bodyPr wrap="square" lIns="0" tIns="0" rIns="0" bIns="0" rtlCol="0"/>
            <a:lstStyle/>
            <a:p>
              <a:endParaRPr sz="2400"/>
            </a:p>
          </p:txBody>
        </p:sp>
        <p:sp>
          <p:nvSpPr>
            <p:cNvPr id="35" name="object 35"/>
            <p:cNvSpPr/>
            <p:nvPr/>
          </p:nvSpPr>
          <p:spPr>
            <a:xfrm>
              <a:off x="22512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6" name="object 36"/>
            <p:cNvSpPr/>
            <p:nvPr/>
          </p:nvSpPr>
          <p:spPr>
            <a:xfrm>
              <a:off x="22512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7" name="object 37"/>
            <p:cNvSpPr/>
            <p:nvPr/>
          </p:nvSpPr>
          <p:spPr>
            <a:xfrm>
              <a:off x="305370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8" name="object 38"/>
            <p:cNvSpPr/>
            <p:nvPr/>
          </p:nvSpPr>
          <p:spPr>
            <a:xfrm>
              <a:off x="305370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9" name="object 39"/>
            <p:cNvSpPr/>
            <p:nvPr/>
          </p:nvSpPr>
          <p:spPr>
            <a:xfrm>
              <a:off x="385617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0" name="object 40"/>
            <p:cNvSpPr/>
            <p:nvPr/>
          </p:nvSpPr>
          <p:spPr>
            <a:xfrm>
              <a:off x="385617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1" name="object 41"/>
            <p:cNvSpPr/>
            <p:nvPr/>
          </p:nvSpPr>
          <p:spPr>
            <a:xfrm>
              <a:off x="4658653"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2" name="object 42"/>
            <p:cNvSpPr/>
            <p:nvPr/>
          </p:nvSpPr>
          <p:spPr>
            <a:xfrm>
              <a:off x="4658653"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3" name="object 43"/>
            <p:cNvSpPr/>
            <p:nvPr/>
          </p:nvSpPr>
          <p:spPr>
            <a:xfrm>
              <a:off x="54611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4" name="object 44"/>
            <p:cNvSpPr/>
            <p:nvPr/>
          </p:nvSpPr>
          <p:spPr>
            <a:xfrm>
              <a:off x="54611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5" name="object 45"/>
            <p:cNvSpPr/>
            <p:nvPr/>
          </p:nvSpPr>
          <p:spPr>
            <a:xfrm>
              <a:off x="6263603" y="1735836"/>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6" name="object 46"/>
            <p:cNvSpPr/>
            <p:nvPr/>
          </p:nvSpPr>
          <p:spPr>
            <a:xfrm>
              <a:off x="6263603" y="1735836"/>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7" name="object 47"/>
            <p:cNvSpPr/>
            <p:nvPr/>
          </p:nvSpPr>
          <p:spPr>
            <a:xfrm>
              <a:off x="7066078" y="1743561"/>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8" name="object 48"/>
            <p:cNvSpPr/>
            <p:nvPr/>
          </p:nvSpPr>
          <p:spPr>
            <a:xfrm>
              <a:off x="7066078" y="1743561"/>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9" name="object 49"/>
            <p:cNvSpPr/>
            <p:nvPr/>
          </p:nvSpPr>
          <p:spPr>
            <a:xfrm>
              <a:off x="1575750" y="1999075"/>
              <a:ext cx="6068060" cy="197485"/>
            </a:xfrm>
            <a:custGeom>
              <a:avLst/>
              <a:gdLst/>
              <a:ahLst/>
              <a:cxnLst/>
              <a:rect l="l" t="t" r="r" b="b"/>
              <a:pathLst>
                <a:path w="6068059" h="197485">
                  <a:moveTo>
                    <a:pt x="6067799" y="197099"/>
                  </a:moveTo>
                  <a:lnTo>
                    <a:pt x="0" y="197099"/>
                  </a:lnTo>
                  <a:lnTo>
                    <a:pt x="0" y="0"/>
                  </a:lnTo>
                  <a:lnTo>
                    <a:pt x="6067799" y="0"/>
                  </a:lnTo>
                  <a:lnTo>
                    <a:pt x="6067799" y="197099"/>
                  </a:lnTo>
                  <a:close/>
                </a:path>
              </a:pathLst>
            </a:custGeom>
            <a:solidFill>
              <a:srgbClr val="FFDE7E"/>
            </a:solidFill>
          </p:spPr>
          <p:txBody>
            <a:bodyPr wrap="square" lIns="0" tIns="0" rIns="0" bIns="0" rtlCol="0"/>
            <a:lstStyle/>
            <a:p>
              <a:endParaRPr sz="2400"/>
            </a:p>
          </p:txBody>
        </p:sp>
        <p:sp>
          <p:nvSpPr>
            <p:cNvPr id="50" name="object 50"/>
            <p:cNvSpPr/>
            <p:nvPr/>
          </p:nvSpPr>
          <p:spPr>
            <a:xfrm>
              <a:off x="1575750" y="1999075"/>
              <a:ext cx="6068060" cy="197485"/>
            </a:xfrm>
            <a:custGeom>
              <a:avLst/>
              <a:gdLst/>
              <a:ahLst/>
              <a:cxnLst/>
              <a:rect l="l" t="t" r="r" b="b"/>
              <a:pathLst>
                <a:path w="6068059" h="197485">
                  <a:moveTo>
                    <a:pt x="0" y="0"/>
                  </a:moveTo>
                  <a:lnTo>
                    <a:pt x="6067799" y="0"/>
                  </a:lnTo>
                  <a:lnTo>
                    <a:pt x="6067799" y="197099"/>
                  </a:lnTo>
                  <a:lnTo>
                    <a:pt x="0" y="197099"/>
                  </a:lnTo>
                  <a:lnTo>
                    <a:pt x="0" y="0"/>
                  </a:lnTo>
                  <a:close/>
                </a:path>
              </a:pathLst>
            </a:custGeom>
            <a:ln w="9524">
              <a:solidFill>
                <a:srgbClr val="595959"/>
              </a:solidFill>
            </a:ln>
          </p:spPr>
          <p:txBody>
            <a:bodyPr wrap="square" lIns="0" tIns="0" rIns="0" bIns="0" rtlCol="0"/>
            <a:lstStyle/>
            <a:p>
              <a:endParaRPr sz="2400"/>
            </a:p>
          </p:txBody>
        </p:sp>
        <p:pic>
          <p:nvPicPr>
            <p:cNvPr id="51" name="object 51"/>
            <p:cNvPicPr/>
            <p:nvPr/>
          </p:nvPicPr>
          <p:blipFill>
            <a:blip r:embed="rId2" cstate="print"/>
            <a:stretch>
              <a:fillRect/>
            </a:stretch>
          </p:blipFill>
          <p:spPr>
            <a:xfrm>
              <a:off x="4531245" y="1953098"/>
              <a:ext cx="82509" cy="287352"/>
            </a:xfrm>
            <a:prstGeom prst="rect">
              <a:avLst/>
            </a:prstGeom>
          </p:spPr>
        </p:pic>
        <p:sp>
          <p:nvSpPr>
            <p:cNvPr id="52" name="object 52"/>
            <p:cNvSpPr/>
            <p:nvPr/>
          </p:nvSpPr>
          <p:spPr>
            <a:xfrm>
              <a:off x="421616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3" name="object 53"/>
            <p:cNvSpPr/>
            <p:nvPr/>
          </p:nvSpPr>
          <p:spPr>
            <a:xfrm>
              <a:off x="421616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4696AA"/>
              </a:solidFill>
            </a:ln>
          </p:spPr>
          <p:txBody>
            <a:bodyPr wrap="square" lIns="0" tIns="0" rIns="0" bIns="0" rtlCol="0"/>
            <a:lstStyle/>
            <a:p>
              <a:endParaRPr sz="2400"/>
            </a:p>
          </p:txBody>
        </p:sp>
        <p:sp>
          <p:nvSpPr>
            <p:cNvPr id="54" name="object 54"/>
            <p:cNvSpPr/>
            <p:nvPr/>
          </p:nvSpPr>
          <p:spPr>
            <a:xfrm>
              <a:off x="372243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5" name="object 55"/>
            <p:cNvSpPr/>
            <p:nvPr/>
          </p:nvSpPr>
          <p:spPr>
            <a:xfrm>
              <a:off x="372243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F47272"/>
              </a:solidFill>
            </a:ln>
          </p:spPr>
          <p:txBody>
            <a:bodyPr wrap="square" lIns="0" tIns="0" rIns="0" bIns="0" rtlCol="0"/>
            <a:lstStyle/>
            <a:p>
              <a:endParaRPr sz="2400"/>
            </a:p>
          </p:txBody>
        </p:sp>
        <p:sp>
          <p:nvSpPr>
            <p:cNvPr id="56" name="object 56"/>
            <p:cNvSpPr/>
            <p:nvPr/>
          </p:nvSpPr>
          <p:spPr>
            <a:xfrm>
              <a:off x="4709835"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7" name="object 57"/>
            <p:cNvSpPr/>
            <p:nvPr/>
          </p:nvSpPr>
          <p:spPr>
            <a:xfrm>
              <a:off x="4709835"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5AB46E"/>
              </a:solidFill>
            </a:ln>
          </p:spPr>
          <p:txBody>
            <a:bodyPr wrap="square" lIns="0" tIns="0" rIns="0" bIns="0" rtlCol="0"/>
            <a:lstStyle/>
            <a:p>
              <a:endParaRPr sz="2400"/>
            </a:p>
          </p:txBody>
        </p:sp>
      </p:grpSp>
      <p:sp>
        <p:nvSpPr>
          <p:cNvPr id="58" name="object 58"/>
          <p:cNvSpPr txBox="1"/>
          <p:nvPr/>
        </p:nvSpPr>
        <p:spPr>
          <a:xfrm>
            <a:off x="5100528" y="3600480"/>
            <a:ext cx="1532467" cy="345330"/>
          </a:xfrm>
          <a:prstGeom prst="rect">
            <a:avLst/>
          </a:prstGeom>
        </p:spPr>
        <p:txBody>
          <a:bodyPr vert="horz" wrap="square" lIns="0" tIns="16933" rIns="0" bIns="0" rtlCol="0">
            <a:spAutoFit/>
          </a:bodyPr>
          <a:lstStyle/>
          <a:p>
            <a:pPr>
              <a:spcBef>
                <a:spcPts val="133"/>
              </a:spcBef>
              <a:tabLst>
                <a:tab pos="683243" algn="l"/>
                <a:tab pos="1330925" algn="l"/>
              </a:tabLst>
            </a:pPr>
            <a:r>
              <a:rPr sz="2133" spc="-67" dirty="0">
                <a:latin typeface="Lucida Sans Unicode"/>
                <a:cs typeface="Lucida Sans Unicode"/>
              </a:rPr>
              <a:t>Q</a:t>
            </a:r>
            <a:r>
              <a:rPr sz="2133" dirty="0">
                <a:latin typeface="Lucida Sans Unicode"/>
                <a:cs typeface="Lucida Sans Unicode"/>
              </a:rPr>
              <a:t>	</a:t>
            </a:r>
            <a:r>
              <a:rPr sz="2133" spc="-67" dirty="0">
                <a:latin typeface="Lucida Sans Unicode"/>
                <a:cs typeface="Lucida Sans Unicode"/>
              </a:rPr>
              <a:t>K</a:t>
            </a:r>
            <a:r>
              <a:rPr sz="2133" dirty="0">
                <a:latin typeface="Lucida Sans Unicode"/>
                <a:cs typeface="Lucida Sans Unicode"/>
              </a:rPr>
              <a:t>	</a:t>
            </a:r>
            <a:r>
              <a:rPr sz="2133" spc="-67" dirty="0">
                <a:latin typeface="Lucida Sans Unicode"/>
                <a:cs typeface="Lucida Sans Unicode"/>
              </a:rPr>
              <a:t>V</a:t>
            </a:r>
            <a:endParaRPr sz="2133">
              <a:latin typeface="Lucida Sans Unicode"/>
              <a:cs typeface="Lucida Sans Unicode"/>
            </a:endParaRPr>
          </a:p>
        </p:txBody>
      </p:sp>
      <p:grpSp>
        <p:nvGrpSpPr>
          <p:cNvPr id="59" name="object 59"/>
          <p:cNvGrpSpPr/>
          <p:nvPr/>
        </p:nvGrpSpPr>
        <p:grpSpPr>
          <a:xfrm>
            <a:off x="2357044" y="2383367"/>
            <a:ext cx="7626773" cy="210820"/>
            <a:chOff x="1767783" y="1787525"/>
            <a:chExt cx="5720080" cy="158115"/>
          </a:xfrm>
        </p:grpSpPr>
        <p:sp>
          <p:nvSpPr>
            <p:cNvPr id="60" name="object 60"/>
            <p:cNvSpPr/>
            <p:nvPr/>
          </p:nvSpPr>
          <p:spPr>
            <a:xfrm>
              <a:off x="1772546"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1" name="object 61"/>
            <p:cNvSpPr/>
            <p:nvPr/>
          </p:nvSpPr>
          <p:spPr>
            <a:xfrm>
              <a:off x="1772546"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62" name="object 62"/>
            <p:cNvSpPr/>
            <p:nvPr/>
          </p:nvSpPr>
          <p:spPr>
            <a:xfrm>
              <a:off x="2576982"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3" name="object 63"/>
            <p:cNvSpPr/>
            <p:nvPr/>
          </p:nvSpPr>
          <p:spPr>
            <a:xfrm>
              <a:off x="2576982"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64" name="object 64"/>
            <p:cNvSpPr/>
            <p:nvPr/>
          </p:nvSpPr>
          <p:spPr>
            <a:xfrm>
              <a:off x="3379854"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5" name="object 65"/>
            <p:cNvSpPr/>
            <p:nvPr/>
          </p:nvSpPr>
          <p:spPr>
            <a:xfrm>
              <a:off x="3379854"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66" name="object 66"/>
            <p:cNvSpPr/>
            <p:nvPr/>
          </p:nvSpPr>
          <p:spPr>
            <a:xfrm>
              <a:off x="4985252"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7" name="object 67"/>
            <p:cNvSpPr/>
            <p:nvPr/>
          </p:nvSpPr>
          <p:spPr>
            <a:xfrm>
              <a:off x="4985252"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68" name="object 68"/>
            <p:cNvSpPr/>
            <p:nvPr/>
          </p:nvSpPr>
          <p:spPr>
            <a:xfrm>
              <a:off x="5787227"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9" name="object 69"/>
            <p:cNvSpPr/>
            <p:nvPr/>
          </p:nvSpPr>
          <p:spPr>
            <a:xfrm>
              <a:off x="5787227"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70" name="object 70"/>
            <p:cNvSpPr/>
            <p:nvPr/>
          </p:nvSpPr>
          <p:spPr>
            <a:xfrm>
              <a:off x="6587913"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1" name="object 71"/>
            <p:cNvSpPr/>
            <p:nvPr/>
          </p:nvSpPr>
          <p:spPr>
            <a:xfrm>
              <a:off x="6587913"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72" name="object 72"/>
            <p:cNvSpPr/>
            <p:nvPr/>
          </p:nvSpPr>
          <p:spPr>
            <a:xfrm>
              <a:off x="7391119"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3" name="object 73"/>
            <p:cNvSpPr/>
            <p:nvPr/>
          </p:nvSpPr>
          <p:spPr>
            <a:xfrm>
              <a:off x="7391119"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74" name="object 74"/>
            <p:cNvSpPr/>
            <p:nvPr/>
          </p:nvSpPr>
          <p:spPr>
            <a:xfrm>
              <a:off x="4183062"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5" name="object 75"/>
            <p:cNvSpPr/>
            <p:nvPr/>
          </p:nvSpPr>
          <p:spPr>
            <a:xfrm>
              <a:off x="4183062"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76" name="object 76"/>
          <p:cNvSpPr txBox="1"/>
          <p:nvPr/>
        </p:nvSpPr>
        <p:spPr>
          <a:xfrm>
            <a:off x="6934605" y="3554195"/>
            <a:ext cx="1219200" cy="782137"/>
          </a:xfrm>
          <a:prstGeom prst="rect">
            <a:avLst/>
          </a:prstGeom>
          <a:solidFill>
            <a:srgbClr val="FFFFFF"/>
          </a:solidFill>
          <a:ln w="45724">
            <a:solidFill>
              <a:srgbClr val="E6A064"/>
            </a:solidFill>
          </a:ln>
        </p:spPr>
        <p:txBody>
          <a:bodyPr vert="horz" wrap="square" lIns="0" tIns="124460" rIns="0" bIns="0" rtlCol="0">
            <a:spAutoFit/>
          </a:bodyPr>
          <a:lstStyle/>
          <a:p>
            <a:pPr>
              <a:spcBef>
                <a:spcPts val="980"/>
              </a:spcBef>
            </a:pPr>
            <a:endParaRPr sz="2133">
              <a:latin typeface="Times New Roman"/>
              <a:cs typeface="Times New Roman"/>
            </a:endParaRPr>
          </a:p>
          <a:p>
            <a:pPr algn="ctr">
              <a:lnSpc>
                <a:spcPct val="100000"/>
              </a:lnSpc>
            </a:pPr>
            <a:r>
              <a:rPr sz="2133" spc="20" dirty="0">
                <a:latin typeface="Lucida Sans Unicode"/>
                <a:cs typeface="Lucida Sans Unicode"/>
              </a:rPr>
              <a:t>S</a:t>
            </a:r>
            <a:endParaRPr sz="2133">
              <a:latin typeface="Lucida Sans Unicode"/>
              <a:cs typeface="Lucida Sans Unicode"/>
            </a:endParaRPr>
          </a:p>
        </p:txBody>
      </p:sp>
      <p:grpSp>
        <p:nvGrpSpPr>
          <p:cNvPr id="77" name="object 77"/>
          <p:cNvGrpSpPr/>
          <p:nvPr/>
        </p:nvGrpSpPr>
        <p:grpSpPr>
          <a:xfrm>
            <a:off x="1975915" y="2376251"/>
            <a:ext cx="7947660" cy="1185333"/>
            <a:chOff x="1481936" y="1782188"/>
            <a:chExt cx="5960745" cy="889000"/>
          </a:xfrm>
        </p:grpSpPr>
        <p:sp>
          <p:nvSpPr>
            <p:cNvPr id="78" name="object 78"/>
            <p:cNvSpPr/>
            <p:nvPr/>
          </p:nvSpPr>
          <p:spPr>
            <a:xfrm>
              <a:off x="1818304" y="1940846"/>
              <a:ext cx="3839845" cy="725170"/>
            </a:xfrm>
            <a:custGeom>
              <a:avLst/>
              <a:gdLst/>
              <a:ahLst/>
              <a:cxnLst/>
              <a:rect l="l" t="t" r="r" b="b"/>
              <a:pathLst>
                <a:path w="3839845" h="725169">
                  <a:moveTo>
                    <a:pt x="3839700" y="724799"/>
                  </a:moveTo>
                  <a:lnTo>
                    <a:pt x="3825357" y="687322"/>
                  </a:lnTo>
                  <a:lnTo>
                    <a:pt x="3783727" y="652419"/>
                  </a:lnTo>
                  <a:lnTo>
                    <a:pt x="3741852" y="630484"/>
                  </a:lnTo>
                  <a:lnTo>
                    <a:pt x="3689404" y="609546"/>
                  </a:lnTo>
                  <a:lnTo>
                    <a:pt x="3627005" y="589548"/>
                  </a:lnTo>
                  <a:lnTo>
                    <a:pt x="3555277" y="570430"/>
                  </a:lnTo>
                  <a:lnTo>
                    <a:pt x="3516110" y="561183"/>
                  </a:lnTo>
                  <a:lnTo>
                    <a:pt x="3474843" y="552134"/>
                  </a:lnTo>
                  <a:lnTo>
                    <a:pt x="3431555" y="543276"/>
                  </a:lnTo>
                  <a:lnTo>
                    <a:pt x="3386324" y="534601"/>
                  </a:lnTo>
                  <a:lnTo>
                    <a:pt x="3339227" y="526103"/>
                  </a:lnTo>
                  <a:lnTo>
                    <a:pt x="3290342" y="517773"/>
                  </a:lnTo>
                  <a:lnTo>
                    <a:pt x="3239747" y="509604"/>
                  </a:lnTo>
                  <a:lnTo>
                    <a:pt x="3187519" y="501590"/>
                  </a:lnTo>
                  <a:lnTo>
                    <a:pt x="3133736" y="493723"/>
                  </a:lnTo>
                  <a:lnTo>
                    <a:pt x="3078476" y="485995"/>
                  </a:lnTo>
                  <a:lnTo>
                    <a:pt x="3021817" y="478399"/>
                  </a:lnTo>
                  <a:lnTo>
                    <a:pt x="2963837" y="470928"/>
                  </a:lnTo>
                  <a:lnTo>
                    <a:pt x="2904612" y="463574"/>
                  </a:lnTo>
                  <a:lnTo>
                    <a:pt x="2844222" y="456330"/>
                  </a:lnTo>
                  <a:lnTo>
                    <a:pt x="2782743" y="449189"/>
                  </a:lnTo>
                  <a:lnTo>
                    <a:pt x="2720254" y="442144"/>
                  </a:lnTo>
                  <a:lnTo>
                    <a:pt x="2656831" y="435186"/>
                  </a:lnTo>
                  <a:lnTo>
                    <a:pt x="2592554" y="428310"/>
                  </a:lnTo>
                  <a:lnTo>
                    <a:pt x="2527499" y="421507"/>
                  </a:lnTo>
                  <a:lnTo>
                    <a:pt x="2461744" y="414769"/>
                  </a:lnTo>
                  <a:lnTo>
                    <a:pt x="2395368" y="408091"/>
                  </a:lnTo>
                  <a:lnTo>
                    <a:pt x="2328447" y="401464"/>
                  </a:lnTo>
                  <a:lnTo>
                    <a:pt x="2261060" y="394881"/>
                  </a:lnTo>
                  <a:lnTo>
                    <a:pt x="2193285" y="388335"/>
                  </a:lnTo>
                  <a:lnTo>
                    <a:pt x="2125198" y="381818"/>
                  </a:lnTo>
                  <a:lnTo>
                    <a:pt x="2056878" y="375323"/>
                  </a:lnTo>
                  <a:lnTo>
                    <a:pt x="1988403" y="368843"/>
                  </a:lnTo>
                  <a:lnTo>
                    <a:pt x="1919850" y="362370"/>
                  </a:lnTo>
                  <a:lnTo>
                    <a:pt x="1851297" y="355898"/>
                  </a:lnTo>
                  <a:lnTo>
                    <a:pt x="1782821" y="349418"/>
                  </a:lnTo>
                  <a:lnTo>
                    <a:pt x="1714501" y="342923"/>
                  </a:lnTo>
                  <a:lnTo>
                    <a:pt x="1646415" y="336407"/>
                  </a:lnTo>
                  <a:lnTo>
                    <a:pt x="1578639" y="329861"/>
                  </a:lnTo>
                  <a:lnTo>
                    <a:pt x="1511252" y="323279"/>
                  </a:lnTo>
                  <a:lnTo>
                    <a:pt x="1444331" y="316652"/>
                  </a:lnTo>
                  <a:lnTo>
                    <a:pt x="1377955" y="309974"/>
                  </a:lnTo>
                  <a:lnTo>
                    <a:pt x="1312200" y="303238"/>
                  </a:lnTo>
                  <a:lnTo>
                    <a:pt x="1247145" y="296435"/>
                  </a:lnTo>
                  <a:lnTo>
                    <a:pt x="1182868" y="289560"/>
                  </a:lnTo>
                  <a:lnTo>
                    <a:pt x="1119446" y="282603"/>
                  </a:lnTo>
                  <a:lnTo>
                    <a:pt x="1056956" y="275559"/>
                  </a:lnTo>
                  <a:lnTo>
                    <a:pt x="995477" y="268419"/>
                  </a:lnTo>
                  <a:lnTo>
                    <a:pt x="935087" y="261177"/>
                  </a:lnTo>
                  <a:lnTo>
                    <a:pt x="875862" y="253824"/>
                  </a:lnTo>
                  <a:lnTo>
                    <a:pt x="817882" y="246354"/>
                  </a:lnTo>
                  <a:lnTo>
                    <a:pt x="761223" y="238760"/>
                  </a:lnTo>
                  <a:lnTo>
                    <a:pt x="705963" y="231033"/>
                  </a:lnTo>
                  <a:lnTo>
                    <a:pt x="652181" y="223167"/>
                  </a:lnTo>
                  <a:lnTo>
                    <a:pt x="599953" y="215154"/>
                  </a:lnTo>
                  <a:lnTo>
                    <a:pt x="549357" y="206988"/>
                  </a:lnTo>
                  <a:lnTo>
                    <a:pt x="500472" y="198660"/>
                  </a:lnTo>
                  <a:lnTo>
                    <a:pt x="453375" y="190163"/>
                  </a:lnTo>
                  <a:lnTo>
                    <a:pt x="408144" y="181490"/>
                  </a:lnTo>
                  <a:lnTo>
                    <a:pt x="364856" y="172633"/>
                  </a:lnTo>
                  <a:lnTo>
                    <a:pt x="323589" y="163586"/>
                  </a:lnTo>
                  <a:lnTo>
                    <a:pt x="284422" y="154341"/>
                  </a:lnTo>
                  <a:lnTo>
                    <a:pt x="247431" y="144890"/>
                  </a:lnTo>
                  <a:lnTo>
                    <a:pt x="180290" y="125343"/>
                  </a:lnTo>
                  <a:lnTo>
                    <a:pt x="122789" y="104887"/>
                  </a:lnTo>
                  <a:lnTo>
                    <a:pt x="75549" y="83462"/>
                  </a:lnTo>
                  <a:lnTo>
                    <a:pt x="39193" y="61009"/>
                  </a:lnTo>
                  <a:lnTo>
                    <a:pt x="6426" y="25277"/>
                  </a:lnTo>
                  <a:lnTo>
                    <a:pt x="1619" y="12788"/>
                  </a:lnTo>
                  <a:lnTo>
                    <a:pt x="0" y="0"/>
                  </a:lnTo>
                </a:path>
                <a:path w="3839845" h="725169">
                  <a:moveTo>
                    <a:pt x="3839700" y="724799"/>
                  </a:moveTo>
                  <a:lnTo>
                    <a:pt x="3822497" y="678885"/>
                  </a:lnTo>
                  <a:lnTo>
                    <a:pt x="3792880" y="650442"/>
                  </a:lnTo>
                  <a:lnTo>
                    <a:pt x="3749825" y="623603"/>
                  </a:lnTo>
                  <a:lnTo>
                    <a:pt x="3694259" y="598258"/>
                  </a:lnTo>
                  <a:lnTo>
                    <a:pt x="3627108" y="574297"/>
                  </a:lnTo>
                  <a:lnTo>
                    <a:pt x="3589478" y="562800"/>
                  </a:lnTo>
                  <a:lnTo>
                    <a:pt x="3549300" y="551608"/>
                  </a:lnTo>
                  <a:lnTo>
                    <a:pt x="3506689" y="540706"/>
                  </a:lnTo>
                  <a:lnTo>
                    <a:pt x="3461761" y="530080"/>
                  </a:lnTo>
                  <a:lnTo>
                    <a:pt x="3414632" y="519718"/>
                  </a:lnTo>
                  <a:lnTo>
                    <a:pt x="3365418" y="509604"/>
                  </a:lnTo>
                  <a:lnTo>
                    <a:pt x="3314235" y="499726"/>
                  </a:lnTo>
                  <a:lnTo>
                    <a:pt x="3261198" y="490069"/>
                  </a:lnTo>
                  <a:lnTo>
                    <a:pt x="3206424" y="480620"/>
                  </a:lnTo>
                  <a:lnTo>
                    <a:pt x="3150027" y="471364"/>
                  </a:lnTo>
                  <a:lnTo>
                    <a:pt x="3092125" y="462288"/>
                  </a:lnTo>
                  <a:lnTo>
                    <a:pt x="3032833" y="453378"/>
                  </a:lnTo>
                  <a:lnTo>
                    <a:pt x="2972266" y="444620"/>
                  </a:lnTo>
                  <a:lnTo>
                    <a:pt x="2910541" y="436001"/>
                  </a:lnTo>
                  <a:lnTo>
                    <a:pt x="2847773" y="427506"/>
                  </a:lnTo>
                  <a:lnTo>
                    <a:pt x="2784079" y="419122"/>
                  </a:lnTo>
                  <a:lnTo>
                    <a:pt x="2719573" y="410834"/>
                  </a:lnTo>
                  <a:lnTo>
                    <a:pt x="2654373" y="402630"/>
                  </a:lnTo>
                  <a:lnTo>
                    <a:pt x="2588593" y="394495"/>
                  </a:lnTo>
                  <a:lnTo>
                    <a:pt x="2522350" y="386415"/>
                  </a:lnTo>
                  <a:lnTo>
                    <a:pt x="2455760" y="378377"/>
                  </a:lnTo>
                  <a:lnTo>
                    <a:pt x="2388938" y="370367"/>
                  </a:lnTo>
                  <a:lnTo>
                    <a:pt x="2322000" y="362370"/>
                  </a:lnTo>
                  <a:lnTo>
                    <a:pt x="2255062" y="354374"/>
                  </a:lnTo>
                  <a:lnTo>
                    <a:pt x="2188239" y="346364"/>
                  </a:lnTo>
                  <a:lnTo>
                    <a:pt x="2121649" y="338326"/>
                  </a:lnTo>
                  <a:lnTo>
                    <a:pt x="2055406" y="330247"/>
                  </a:lnTo>
                  <a:lnTo>
                    <a:pt x="1989626" y="322113"/>
                  </a:lnTo>
                  <a:lnTo>
                    <a:pt x="1924426" y="313909"/>
                  </a:lnTo>
                  <a:lnTo>
                    <a:pt x="1859921" y="305623"/>
                  </a:lnTo>
                  <a:lnTo>
                    <a:pt x="1796226" y="297239"/>
                  </a:lnTo>
                  <a:lnTo>
                    <a:pt x="1733458" y="288746"/>
                  </a:lnTo>
                  <a:lnTo>
                    <a:pt x="1671733" y="280127"/>
                  </a:lnTo>
                  <a:lnTo>
                    <a:pt x="1611167" y="271371"/>
                  </a:lnTo>
                  <a:lnTo>
                    <a:pt x="1551874" y="262463"/>
                  </a:lnTo>
                  <a:lnTo>
                    <a:pt x="1493972" y="253388"/>
                  </a:lnTo>
                  <a:lnTo>
                    <a:pt x="1437576" y="244134"/>
                  </a:lnTo>
                  <a:lnTo>
                    <a:pt x="1382801" y="234686"/>
                  </a:lnTo>
                  <a:lnTo>
                    <a:pt x="1329764" y="225031"/>
                  </a:lnTo>
                  <a:lnTo>
                    <a:pt x="1278581" y="215154"/>
                  </a:lnTo>
                  <a:lnTo>
                    <a:pt x="1229367" y="205043"/>
                  </a:lnTo>
                  <a:lnTo>
                    <a:pt x="1182238" y="194682"/>
                  </a:lnTo>
                  <a:lnTo>
                    <a:pt x="1137310" y="184059"/>
                  </a:lnTo>
                  <a:lnTo>
                    <a:pt x="1094699" y="173159"/>
                  </a:lnTo>
                  <a:lnTo>
                    <a:pt x="1054521" y="161969"/>
                  </a:lnTo>
                  <a:lnTo>
                    <a:pt x="1016891" y="150475"/>
                  </a:lnTo>
                  <a:lnTo>
                    <a:pt x="949741" y="126518"/>
                  </a:lnTo>
                  <a:lnTo>
                    <a:pt x="894175" y="101178"/>
                  </a:lnTo>
                  <a:lnTo>
                    <a:pt x="851119" y="74344"/>
                  </a:lnTo>
                  <a:lnTo>
                    <a:pt x="821502" y="45906"/>
                  </a:lnTo>
                  <a:lnTo>
                    <a:pt x="806250" y="15754"/>
                  </a:lnTo>
                  <a:lnTo>
                    <a:pt x="804299" y="0"/>
                  </a:lnTo>
                </a:path>
                <a:path w="3839845" h="725169">
                  <a:moveTo>
                    <a:pt x="3839700" y="724799"/>
                  </a:moveTo>
                  <a:lnTo>
                    <a:pt x="3830047" y="684548"/>
                  </a:lnTo>
                  <a:lnTo>
                    <a:pt x="3802105" y="647265"/>
                  </a:lnTo>
                  <a:lnTo>
                    <a:pt x="3757398" y="612705"/>
                  </a:lnTo>
                  <a:lnTo>
                    <a:pt x="3697450" y="580618"/>
                  </a:lnTo>
                  <a:lnTo>
                    <a:pt x="3662237" y="565426"/>
                  </a:lnTo>
                  <a:lnTo>
                    <a:pt x="3623785" y="550759"/>
                  </a:lnTo>
                  <a:lnTo>
                    <a:pt x="3582285" y="536587"/>
                  </a:lnTo>
                  <a:lnTo>
                    <a:pt x="3537928" y="522879"/>
                  </a:lnTo>
                  <a:lnTo>
                    <a:pt x="3490903" y="509604"/>
                  </a:lnTo>
                  <a:lnTo>
                    <a:pt x="3441401" y="496732"/>
                  </a:lnTo>
                  <a:lnTo>
                    <a:pt x="3389614" y="484230"/>
                  </a:lnTo>
                  <a:lnTo>
                    <a:pt x="3335730" y="472069"/>
                  </a:lnTo>
                  <a:lnTo>
                    <a:pt x="3279942" y="460217"/>
                  </a:lnTo>
                  <a:lnTo>
                    <a:pt x="3222439" y="448644"/>
                  </a:lnTo>
                  <a:lnTo>
                    <a:pt x="3163412" y="437318"/>
                  </a:lnTo>
                  <a:lnTo>
                    <a:pt x="3103051" y="426209"/>
                  </a:lnTo>
                  <a:lnTo>
                    <a:pt x="3041547" y="415285"/>
                  </a:lnTo>
                  <a:lnTo>
                    <a:pt x="2979091" y="404517"/>
                  </a:lnTo>
                  <a:lnTo>
                    <a:pt x="2915872" y="393872"/>
                  </a:lnTo>
                  <a:lnTo>
                    <a:pt x="2852082" y="383320"/>
                  </a:lnTo>
                  <a:lnTo>
                    <a:pt x="2787911" y="372829"/>
                  </a:lnTo>
                  <a:lnTo>
                    <a:pt x="2723550" y="362370"/>
                  </a:lnTo>
                  <a:lnTo>
                    <a:pt x="2659188" y="351911"/>
                  </a:lnTo>
                  <a:lnTo>
                    <a:pt x="2595017" y="341422"/>
                  </a:lnTo>
                  <a:lnTo>
                    <a:pt x="2531227" y="330870"/>
                  </a:lnTo>
                  <a:lnTo>
                    <a:pt x="2468009" y="320226"/>
                  </a:lnTo>
                  <a:lnTo>
                    <a:pt x="2405552" y="309458"/>
                  </a:lnTo>
                  <a:lnTo>
                    <a:pt x="2344048" y="298536"/>
                  </a:lnTo>
                  <a:lnTo>
                    <a:pt x="2283688" y="287428"/>
                  </a:lnTo>
                  <a:lnTo>
                    <a:pt x="2224661" y="276104"/>
                  </a:lnTo>
                  <a:lnTo>
                    <a:pt x="2167158" y="264533"/>
                  </a:lnTo>
                  <a:lnTo>
                    <a:pt x="2111369" y="252683"/>
                  </a:lnTo>
                  <a:lnTo>
                    <a:pt x="2057486" y="240524"/>
                  </a:lnTo>
                  <a:lnTo>
                    <a:pt x="2005698" y="228025"/>
                  </a:lnTo>
                  <a:lnTo>
                    <a:pt x="1956197" y="215154"/>
                  </a:lnTo>
                  <a:lnTo>
                    <a:pt x="1909172" y="201882"/>
                  </a:lnTo>
                  <a:lnTo>
                    <a:pt x="1864814" y="188177"/>
                  </a:lnTo>
                  <a:lnTo>
                    <a:pt x="1823314" y="174008"/>
                  </a:lnTo>
                  <a:lnTo>
                    <a:pt x="1784862" y="159344"/>
                  </a:lnTo>
                  <a:lnTo>
                    <a:pt x="1749649" y="144155"/>
                  </a:lnTo>
                  <a:lnTo>
                    <a:pt x="1689701" y="112075"/>
                  </a:lnTo>
                  <a:lnTo>
                    <a:pt x="1644994" y="77520"/>
                  </a:lnTo>
                  <a:lnTo>
                    <a:pt x="1617052" y="40244"/>
                  </a:lnTo>
                  <a:lnTo>
                    <a:pt x="1609845" y="20509"/>
                  </a:lnTo>
                  <a:lnTo>
                    <a:pt x="1607400" y="0"/>
                  </a:lnTo>
                </a:path>
                <a:path w="3839845" h="725169">
                  <a:moveTo>
                    <a:pt x="3839700" y="724799"/>
                  </a:moveTo>
                  <a:lnTo>
                    <a:pt x="3826956" y="667626"/>
                  </a:lnTo>
                  <a:lnTo>
                    <a:pt x="3790687" y="616418"/>
                  </a:lnTo>
                  <a:lnTo>
                    <a:pt x="3733833" y="570430"/>
                  </a:lnTo>
                  <a:lnTo>
                    <a:pt x="3698605" y="549160"/>
                  </a:lnTo>
                  <a:lnTo>
                    <a:pt x="3659334" y="528916"/>
                  </a:lnTo>
                  <a:lnTo>
                    <a:pt x="3616387" y="509604"/>
                  </a:lnTo>
                  <a:lnTo>
                    <a:pt x="3570132" y="491132"/>
                  </a:lnTo>
                  <a:lnTo>
                    <a:pt x="3520936" y="473405"/>
                  </a:lnTo>
                  <a:lnTo>
                    <a:pt x="3469166" y="456330"/>
                  </a:lnTo>
                  <a:lnTo>
                    <a:pt x="3415191" y="439815"/>
                  </a:lnTo>
                  <a:lnTo>
                    <a:pt x="3359379" y="423767"/>
                  </a:lnTo>
                  <a:lnTo>
                    <a:pt x="3302095" y="408091"/>
                  </a:lnTo>
                  <a:lnTo>
                    <a:pt x="3243710" y="392695"/>
                  </a:lnTo>
                  <a:lnTo>
                    <a:pt x="3184588" y="377486"/>
                  </a:lnTo>
                  <a:lnTo>
                    <a:pt x="3125100" y="362370"/>
                  </a:lnTo>
                  <a:lnTo>
                    <a:pt x="3065611" y="347255"/>
                  </a:lnTo>
                  <a:lnTo>
                    <a:pt x="3006490" y="332047"/>
                  </a:lnTo>
                  <a:lnTo>
                    <a:pt x="2948104" y="316652"/>
                  </a:lnTo>
                  <a:lnTo>
                    <a:pt x="2890821" y="300978"/>
                  </a:lnTo>
                  <a:lnTo>
                    <a:pt x="2835008" y="284932"/>
                  </a:lnTo>
                  <a:lnTo>
                    <a:pt x="2781033" y="268419"/>
                  </a:lnTo>
                  <a:lnTo>
                    <a:pt x="2729264" y="251348"/>
                  </a:lnTo>
                  <a:lnTo>
                    <a:pt x="2680068" y="233624"/>
                  </a:lnTo>
                  <a:lnTo>
                    <a:pt x="2633812" y="215154"/>
                  </a:lnTo>
                  <a:lnTo>
                    <a:pt x="2590865" y="195846"/>
                  </a:lnTo>
                  <a:lnTo>
                    <a:pt x="2551594" y="175606"/>
                  </a:lnTo>
                  <a:lnTo>
                    <a:pt x="2516366" y="154341"/>
                  </a:lnTo>
                  <a:lnTo>
                    <a:pt x="2459512" y="108362"/>
                  </a:lnTo>
                  <a:lnTo>
                    <a:pt x="2423243" y="57163"/>
                  </a:lnTo>
                  <a:lnTo>
                    <a:pt x="2413747" y="29374"/>
                  </a:lnTo>
                  <a:lnTo>
                    <a:pt x="2410500" y="0"/>
                  </a:lnTo>
                </a:path>
                <a:path w="3839845" h="725169">
                  <a:moveTo>
                    <a:pt x="3833920" y="666736"/>
                  </a:moveTo>
                  <a:lnTo>
                    <a:pt x="3818838" y="617935"/>
                  </a:lnTo>
                  <a:lnTo>
                    <a:pt x="3798560" y="578689"/>
                  </a:lnTo>
                  <a:lnTo>
                    <a:pt x="3762817" y="531394"/>
                  </a:lnTo>
                  <a:lnTo>
                    <a:pt x="3704268" y="476895"/>
                  </a:lnTo>
                  <a:lnTo>
                    <a:pt x="3663042" y="446360"/>
                  </a:lnTo>
                  <a:lnTo>
                    <a:pt x="3618996" y="417457"/>
                  </a:lnTo>
                  <a:lnTo>
                    <a:pt x="3573068" y="389641"/>
                  </a:lnTo>
                  <a:lnTo>
                    <a:pt x="3526200" y="362370"/>
                  </a:lnTo>
                  <a:lnTo>
                    <a:pt x="3483567" y="337594"/>
                  </a:lnTo>
                  <a:lnTo>
                    <a:pt x="3441642" y="312409"/>
                  </a:lnTo>
                  <a:lnTo>
                    <a:pt x="3401129" y="286408"/>
                  </a:lnTo>
                  <a:lnTo>
                    <a:pt x="3362737" y="259183"/>
                  </a:lnTo>
                  <a:lnTo>
                    <a:pt x="3327171" y="230324"/>
                  </a:lnTo>
                  <a:lnTo>
                    <a:pt x="3295138" y="199424"/>
                  </a:lnTo>
                  <a:lnTo>
                    <a:pt x="3267344" y="166073"/>
                  </a:lnTo>
                  <a:lnTo>
                    <a:pt x="3244497" y="129864"/>
                  </a:lnTo>
                  <a:lnTo>
                    <a:pt x="3227303" y="90387"/>
                  </a:lnTo>
                  <a:lnTo>
                    <a:pt x="3216468" y="47235"/>
                  </a:lnTo>
                  <a:lnTo>
                    <a:pt x="3212700" y="0"/>
                  </a:lnTo>
                </a:path>
              </a:pathLst>
            </a:custGeom>
            <a:ln w="9724">
              <a:solidFill>
                <a:srgbClr val="E6A064"/>
              </a:solidFill>
            </a:ln>
          </p:spPr>
          <p:txBody>
            <a:bodyPr wrap="square" lIns="0" tIns="0" rIns="0" bIns="0" rtlCol="0"/>
            <a:lstStyle/>
            <a:p>
              <a:endParaRPr sz="2400"/>
            </a:p>
          </p:txBody>
        </p:sp>
        <p:sp>
          <p:nvSpPr>
            <p:cNvPr id="79" name="object 79"/>
            <p:cNvSpPr/>
            <p:nvPr/>
          </p:nvSpPr>
          <p:spPr>
            <a:xfrm>
              <a:off x="5636240" y="2605992"/>
              <a:ext cx="32384" cy="45720"/>
            </a:xfrm>
            <a:custGeom>
              <a:avLst/>
              <a:gdLst/>
              <a:ahLst/>
              <a:cxnLst/>
              <a:rect l="l" t="t" r="r" b="b"/>
              <a:pathLst>
                <a:path w="32385" h="45719">
                  <a:moveTo>
                    <a:pt x="20355" y="45506"/>
                  </a:moveTo>
                  <a:lnTo>
                    <a:pt x="0" y="3181"/>
                  </a:lnTo>
                  <a:lnTo>
                    <a:pt x="31968" y="0"/>
                  </a:lnTo>
                  <a:lnTo>
                    <a:pt x="20355" y="45506"/>
                  </a:lnTo>
                  <a:close/>
                </a:path>
              </a:pathLst>
            </a:custGeom>
            <a:solidFill>
              <a:srgbClr val="E6A064"/>
            </a:solidFill>
          </p:spPr>
          <p:txBody>
            <a:bodyPr wrap="square" lIns="0" tIns="0" rIns="0" bIns="0" rtlCol="0"/>
            <a:lstStyle/>
            <a:p>
              <a:endParaRPr sz="2400"/>
            </a:p>
          </p:txBody>
        </p:sp>
        <p:sp>
          <p:nvSpPr>
            <p:cNvPr id="80" name="object 80"/>
            <p:cNvSpPr/>
            <p:nvPr/>
          </p:nvSpPr>
          <p:spPr>
            <a:xfrm>
              <a:off x="5636240" y="2605992"/>
              <a:ext cx="32384" cy="45720"/>
            </a:xfrm>
            <a:custGeom>
              <a:avLst/>
              <a:gdLst/>
              <a:ahLst/>
              <a:cxnLst/>
              <a:rect l="l" t="t" r="r" b="b"/>
              <a:pathLst>
                <a:path w="32385" h="45719">
                  <a:moveTo>
                    <a:pt x="0" y="3181"/>
                  </a:moveTo>
                  <a:lnTo>
                    <a:pt x="20355" y="45506"/>
                  </a:lnTo>
                  <a:lnTo>
                    <a:pt x="31968" y="0"/>
                  </a:lnTo>
                  <a:lnTo>
                    <a:pt x="0" y="3181"/>
                  </a:lnTo>
                  <a:close/>
                </a:path>
              </a:pathLst>
            </a:custGeom>
            <a:ln w="9724">
              <a:solidFill>
                <a:srgbClr val="E6A064"/>
              </a:solidFill>
            </a:ln>
          </p:spPr>
          <p:txBody>
            <a:bodyPr wrap="square" lIns="0" tIns="0" rIns="0" bIns="0" rtlCol="0"/>
            <a:lstStyle/>
            <a:p>
              <a:endParaRPr sz="2400"/>
            </a:p>
          </p:txBody>
        </p:sp>
        <p:sp>
          <p:nvSpPr>
            <p:cNvPr id="81" name="object 81"/>
            <p:cNvSpPr/>
            <p:nvPr/>
          </p:nvSpPr>
          <p:spPr>
            <a:xfrm>
              <a:off x="5658004" y="1940846"/>
              <a:ext cx="1779270" cy="725170"/>
            </a:xfrm>
            <a:custGeom>
              <a:avLst/>
              <a:gdLst/>
              <a:ahLst/>
              <a:cxnLst/>
              <a:rect l="l" t="t" r="r" b="b"/>
              <a:pathLst>
                <a:path w="1779270" h="725169">
                  <a:moveTo>
                    <a:pt x="0" y="724799"/>
                  </a:moveTo>
                  <a:lnTo>
                    <a:pt x="1964" y="660914"/>
                  </a:lnTo>
                  <a:lnTo>
                    <a:pt x="7515" y="604461"/>
                  </a:lnTo>
                  <a:lnTo>
                    <a:pt x="16140" y="554378"/>
                  </a:lnTo>
                  <a:lnTo>
                    <a:pt x="27328" y="509604"/>
                  </a:lnTo>
                  <a:lnTo>
                    <a:pt x="40565" y="469078"/>
                  </a:lnTo>
                  <a:lnTo>
                    <a:pt x="55339" y="431738"/>
                  </a:lnTo>
                  <a:lnTo>
                    <a:pt x="71138" y="396523"/>
                  </a:lnTo>
                  <a:lnTo>
                    <a:pt x="103761" y="328219"/>
                  </a:lnTo>
                  <a:lnTo>
                    <a:pt x="119560" y="293007"/>
                  </a:lnTo>
                  <a:lnTo>
                    <a:pt x="134334" y="255673"/>
                  </a:lnTo>
                  <a:lnTo>
                    <a:pt x="147571" y="215154"/>
                  </a:lnTo>
                  <a:lnTo>
                    <a:pt x="158759" y="170390"/>
                  </a:lnTo>
                  <a:lnTo>
                    <a:pt x="167384" y="120317"/>
                  </a:lnTo>
                  <a:lnTo>
                    <a:pt x="172935" y="63874"/>
                  </a:lnTo>
                  <a:lnTo>
                    <a:pt x="174899" y="0"/>
                  </a:lnTo>
                </a:path>
                <a:path w="1779270" h="725169">
                  <a:moveTo>
                    <a:pt x="0" y="724799"/>
                  </a:moveTo>
                  <a:lnTo>
                    <a:pt x="14221" y="652419"/>
                  </a:lnTo>
                  <a:lnTo>
                    <a:pt x="54041" y="589548"/>
                  </a:lnTo>
                  <a:lnTo>
                    <a:pt x="82218" y="561183"/>
                  </a:lnTo>
                  <a:lnTo>
                    <a:pt x="115194" y="534601"/>
                  </a:lnTo>
                  <a:lnTo>
                    <a:pt x="152437" y="509604"/>
                  </a:lnTo>
                  <a:lnTo>
                    <a:pt x="193413" y="485995"/>
                  </a:lnTo>
                  <a:lnTo>
                    <a:pt x="237589" y="463574"/>
                  </a:lnTo>
                  <a:lnTo>
                    <a:pt x="284431" y="442144"/>
                  </a:lnTo>
                  <a:lnTo>
                    <a:pt x="333407" y="421507"/>
                  </a:lnTo>
                  <a:lnTo>
                    <a:pt x="383982" y="401464"/>
                  </a:lnTo>
                  <a:lnTo>
                    <a:pt x="435624" y="381818"/>
                  </a:lnTo>
                  <a:lnTo>
                    <a:pt x="487799" y="362370"/>
                  </a:lnTo>
                  <a:lnTo>
                    <a:pt x="539975" y="342923"/>
                  </a:lnTo>
                  <a:lnTo>
                    <a:pt x="591617" y="323279"/>
                  </a:lnTo>
                  <a:lnTo>
                    <a:pt x="642192" y="303238"/>
                  </a:lnTo>
                  <a:lnTo>
                    <a:pt x="691168" y="282603"/>
                  </a:lnTo>
                  <a:lnTo>
                    <a:pt x="738010" y="261177"/>
                  </a:lnTo>
                  <a:lnTo>
                    <a:pt x="782186" y="238760"/>
                  </a:lnTo>
                  <a:lnTo>
                    <a:pt x="823162" y="215154"/>
                  </a:lnTo>
                  <a:lnTo>
                    <a:pt x="860405" y="190163"/>
                  </a:lnTo>
                  <a:lnTo>
                    <a:pt x="893381" y="163586"/>
                  </a:lnTo>
                  <a:lnTo>
                    <a:pt x="921557" y="135227"/>
                  </a:lnTo>
                  <a:lnTo>
                    <a:pt x="961378" y="72368"/>
                  </a:lnTo>
                  <a:lnTo>
                    <a:pt x="971955" y="37471"/>
                  </a:lnTo>
                  <a:lnTo>
                    <a:pt x="975599" y="0"/>
                  </a:lnTo>
                </a:path>
                <a:path w="1779270" h="725169">
                  <a:moveTo>
                    <a:pt x="0" y="724799"/>
                  </a:moveTo>
                  <a:lnTo>
                    <a:pt x="11717" y="675411"/>
                  </a:lnTo>
                  <a:lnTo>
                    <a:pt x="45334" y="630484"/>
                  </a:lnTo>
                  <a:lnTo>
                    <a:pt x="98545" y="589548"/>
                  </a:lnTo>
                  <a:lnTo>
                    <a:pt x="131777" y="570430"/>
                  </a:lnTo>
                  <a:lnTo>
                    <a:pt x="169044" y="552134"/>
                  </a:lnTo>
                  <a:lnTo>
                    <a:pt x="210056" y="534601"/>
                  </a:lnTo>
                  <a:lnTo>
                    <a:pt x="254527" y="517773"/>
                  </a:lnTo>
                  <a:lnTo>
                    <a:pt x="302166" y="501590"/>
                  </a:lnTo>
                  <a:lnTo>
                    <a:pt x="352688" y="485995"/>
                  </a:lnTo>
                  <a:lnTo>
                    <a:pt x="405802" y="470928"/>
                  </a:lnTo>
                  <a:lnTo>
                    <a:pt x="461222" y="456330"/>
                  </a:lnTo>
                  <a:lnTo>
                    <a:pt x="518658" y="442144"/>
                  </a:lnTo>
                  <a:lnTo>
                    <a:pt x="577824" y="428310"/>
                  </a:lnTo>
                  <a:lnTo>
                    <a:pt x="638430" y="414769"/>
                  </a:lnTo>
                  <a:lnTo>
                    <a:pt x="700189" y="401464"/>
                  </a:lnTo>
                  <a:lnTo>
                    <a:pt x="762812" y="388335"/>
                  </a:lnTo>
                  <a:lnTo>
                    <a:pt x="826012" y="375323"/>
                  </a:lnTo>
                  <a:lnTo>
                    <a:pt x="889499" y="362370"/>
                  </a:lnTo>
                  <a:lnTo>
                    <a:pt x="952987" y="349418"/>
                  </a:lnTo>
                  <a:lnTo>
                    <a:pt x="1016187" y="336407"/>
                  </a:lnTo>
                  <a:lnTo>
                    <a:pt x="1078810" y="323279"/>
                  </a:lnTo>
                  <a:lnTo>
                    <a:pt x="1140569" y="309974"/>
                  </a:lnTo>
                  <a:lnTo>
                    <a:pt x="1201175" y="296435"/>
                  </a:lnTo>
                  <a:lnTo>
                    <a:pt x="1260340" y="282603"/>
                  </a:lnTo>
                  <a:lnTo>
                    <a:pt x="1317777" y="268419"/>
                  </a:lnTo>
                  <a:lnTo>
                    <a:pt x="1373197" y="253824"/>
                  </a:lnTo>
                  <a:lnTo>
                    <a:pt x="1426311" y="238760"/>
                  </a:lnTo>
                  <a:lnTo>
                    <a:pt x="1476832" y="223167"/>
                  </a:lnTo>
                  <a:lnTo>
                    <a:pt x="1524472" y="206988"/>
                  </a:lnTo>
                  <a:lnTo>
                    <a:pt x="1568942" y="190163"/>
                  </a:lnTo>
                  <a:lnTo>
                    <a:pt x="1609955" y="172633"/>
                  </a:lnTo>
                  <a:lnTo>
                    <a:pt x="1647221" y="154341"/>
                  </a:lnTo>
                  <a:lnTo>
                    <a:pt x="1680454" y="135227"/>
                  </a:lnTo>
                  <a:lnTo>
                    <a:pt x="1733665" y="94299"/>
                  </a:lnTo>
                  <a:lnTo>
                    <a:pt x="1767281" y="49380"/>
                  </a:lnTo>
                  <a:lnTo>
                    <a:pt x="1776022" y="25277"/>
                  </a:lnTo>
                  <a:lnTo>
                    <a:pt x="1778999" y="0"/>
                  </a:lnTo>
                </a:path>
              </a:pathLst>
            </a:custGeom>
            <a:ln w="9724">
              <a:solidFill>
                <a:srgbClr val="E6A064"/>
              </a:solidFill>
            </a:ln>
          </p:spPr>
          <p:txBody>
            <a:bodyPr wrap="square" lIns="0" tIns="0" rIns="0" bIns="0" rtlCol="0"/>
            <a:lstStyle/>
            <a:p>
              <a:endParaRPr sz="2400"/>
            </a:p>
          </p:txBody>
        </p:sp>
        <p:sp>
          <p:nvSpPr>
            <p:cNvPr id="82" name="object 82"/>
            <p:cNvSpPr/>
            <p:nvPr/>
          </p:nvSpPr>
          <p:spPr>
            <a:xfrm>
              <a:off x="1486698"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3" name="object 83"/>
            <p:cNvSpPr/>
            <p:nvPr/>
          </p:nvSpPr>
          <p:spPr>
            <a:xfrm>
              <a:off x="1486698"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84" name="object 84"/>
            <p:cNvSpPr/>
            <p:nvPr/>
          </p:nvSpPr>
          <p:spPr>
            <a:xfrm>
              <a:off x="1588647"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5" name="object 85"/>
            <p:cNvSpPr/>
            <p:nvPr/>
          </p:nvSpPr>
          <p:spPr>
            <a:xfrm>
              <a:off x="1588647"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grpSp>
      <p:sp>
        <p:nvSpPr>
          <p:cNvPr id="86" name="object 86"/>
          <p:cNvSpPr txBox="1"/>
          <p:nvPr/>
        </p:nvSpPr>
        <p:spPr>
          <a:xfrm>
            <a:off x="1983219" y="2374248"/>
            <a:ext cx="502920" cy="201764"/>
          </a:xfrm>
          <a:prstGeom prst="rect">
            <a:avLst/>
          </a:prstGeom>
        </p:spPr>
        <p:txBody>
          <a:bodyPr vert="horz" wrap="square" lIns="0" tIns="16933" rIns="0" bIns="0" rtlCol="0">
            <a:spAutoFit/>
          </a:bodyPr>
          <a:lstStyle/>
          <a:p>
            <a:pPr>
              <a:spcBef>
                <a:spcPts val="133"/>
              </a:spcBef>
            </a:pPr>
            <a:r>
              <a:rPr baseline="3086" dirty="0">
                <a:latin typeface="Lucida Sans Unicode"/>
                <a:cs typeface="Lucida Sans Unicode"/>
              </a:rPr>
              <a:t>Q</a:t>
            </a:r>
            <a:r>
              <a:rPr spc="-220" baseline="3086" dirty="0">
                <a:latin typeface="Lucida Sans Unicode"/>
                <a:cs typeface="Lucida Sans Unicode"/>
              </a:rPr>
              <a:t> </a:t>
            </a:r>
            <a:r>
              <a:rPr baseline="3086" dirty="0">
                <a:latin typeface="Lucida Sans Unicode"/>
                <a:cs typeface="Lucida Sans Unicode"/>
              </a:rPr>
              <a:t>K</a:t>
            </a:r>
            <a:r>
              <a:rPr spc="300" baseline="3086"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87" name="object 87"/>
          <p:cNvGrpSpPr/>
          <p:nvPr/>
        </p:nvGrpSpPr>
        <p:grpSpPr>
          <a:xfrm>
            <a:off x="3048496" y="2376251"/>
            <a:ext cx="270933" cy="210820"/>
            <a:chOff x="2286372" y="1782188"/>
            <a:chExt cx="203200" cy="158115"/>
          </a:xfrm>
        </p:grpSpPr>
        <p:sp>
          <p:nvSpPr>
            <p:cNvPr id="88" name="object 88"/>
            <p:cNvSpPr/>
            <p:nvPr/>
          </p:nvSpPr>
          <p:spPr>
            <a:xfrm>
              <a:off x="2291134"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9" name="object 89"/>
            <p:cNvSpPr/>
            <p:nvPr/>
          </p:nvSpPr>
          <p:spPr>
            <a:xfrm>
              <a:off x="2291134"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90" name="object 90"/>
            <p:cNvSpPr/>
            <p:nvPr/>
          </p:nvSpPr>
          <p:spPr>
            <a:xfrm>
              <a:off x="2393083"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1" name="object 91"/>
            <p:cNvSpPr/>
            <p:nvPr/>
          </p:nvSpPr>
          <p:spPr>
            <a:xfrm>
              <a:off x="2393083"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grpSp>
      <p:sp>
        <p:nvSpPr>
          <p:cNvPr id="92" name="object 92"/>
          <p:cNvSpPr txBox="1"/>
          <p:nvPr/>
        </p:nvSpPr>
        <p:spPr>
          <a:xfrm>
            <a:off x="3055800" y="2374248"/>
            <a:ext cx="502920" cy="201764"/>
          </a:xfrm>
          <a:prstGeom prst="rect">
            <a:avLst/>
          </a:prstGeom>
        </p:spPr>
        <p:txBody>
          <a:bodyPr vert="horz" wrap="square" lIns="0" tIns="16933" rIns="0" bIns="0" rtlCol="0">
            <a:spAutoFit/>
          </a:bodyPr>
          <a:lstStyle/>
          <a:p>
            <a:pPr>
              <a:spcBef>
                <a:spcPts val="133"/>
              </a:spcBef>
            </a:pPr>
            <a:r>
              <a:rPr baseline="3086" dirty="0">
                <a:latin typeface="Lucida Sans Unicode"/>
                <a:cs typeface="Lucida Sans Unicode"/>
              </a:rPr>
              <a:t>Q</a:t>
            </a:r>
            <a:r>
              <a:rPr spc="-220" baseline="3086" dirty="0">
                <a:latin typeface="Lucida Sans Unicode"/>
                <a:cs typeface="Lucida Sans Unicode"/>
              </a:rPr>
              <a:t> </a:t>
            </a:r>
            <a:r>
              <a:rPr baseline="3086" dirty="0">
                <a:latin typeface="Lucida Sans Unicode"/>
                <a:cs typeface="Lucida Sans Unicode"/>
              </a:rPr>
              <a:t>K</a:t>
            </a:r>
            <a:r>
              <a:rPr spc="300" baseline="3086"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93" name="object 93"/>
          <p:cNvGrpSpPr/>
          <p:nvPr/>
        </p:nvGrpSpPr>
        <p:grpSpPr>
          <a:xfrm>
            <a:off x="4118992" y="2376251"/>
            <a:ext cx="270933" cy="210820"/>
            <a:chOff x="3089244" y="1782188"/>
            <a:chExt cx="203200" cy="158115"/>
          </a:xfrm>
        </p:grpSpPr>
        <p:sp>
          <p:nvSpPr>
            <p:cNvPr id="94" name="object 94"/>
            <p:cNvSpPr/>
            <p:nvPr/>
          </p:nvSpPr>
          <p:spPr>
            <a:xfrm>
              <a:off x="3094007"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5" name="object 95"/>
            <p:cNvSpPr/>
            <p:nvPr/>
          </p:nvSpPr>
          <p:spPr>
            <a:xfrm>
              <a:off x="3094007"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96" name="object 96"/>
            <p:cNvSpPr/>
            <p:nvPr/>
          </p:nvSpPr>
          <p:spPr>
            <a:xfrm>
              <a:off x="3195955"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7" name="object 97"/>
            <p:cNvSpPr/>
            <p:nvPr/>
          </p:nvSpPr>
          <p:spPr>
            <a:xfrm>
              <a:off x="3195955"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grpSp>
      <p:sp>
        <p:nvSpPr>
          <p:cNvPr id="98" name="object 98"/>
          <p:cNvSpPr txBox="1"/>
          <p:nvPr/>
        </p:nvSpPr>
        <p:spPr>
          <a:xfrm>
            <a:off x="4126296" y="2374248"/>
            <a:ext cx="502920" cy="201764"/>
          </a:xfrm>
          <a:prstGeom prst="rect">
            <a:avLst/>
          </a:prstGeom>
        </p:spPr>
        <p:txBody>
          <a:bodyPr vert="horz" wrap="square" lIns="0" tIns="16933" rIns="0" bIns="0" rtlCol="0">
            <a:spAutoFit/>
          </a:bodyPr>
          <a:lstStyle/>
          <a:p>
            <a:pPr>
              <a:spcBef>
                <a:spcPts val="133"/>
              </a:spcBef>
            </a:pPr>
            <a:r>
              <a:rPr baseline="3086" dirty="0">
                <a:latin typeface="Lucida Sans Unicode"/>
                <a:cs typeface="Lucida Sans Unicode"/>
              </a:rPr>
              <a:t>Q</a:t>
            </a:r>
            <a:r>
              <a:rPr spc="-220" baseline="3086" dirty="0">
                <a:latin typeface="Lucida Sans Unicode"/>
                <a:cs typeface="Lucida Sans Unicode"/>
              </a:rPr>
              <a:t> </a:t>
            </a:r>
            <a:r>
              <a:rPr baseline="3086" dirty="0">
                <a:latin typeface="Lucida Sans Unicode"/>
                <a:cs typeface="Lucida Sans Unicode"/>
              </a:rPr>
              <a:t>K</a:t>
            </a:r>
            <a:r>
              <a:rPr spc="300" baseline="3086"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99" name="object 99"/>
          <p:cNvGrpSpPr/>
          <p:nvPr/>
        </p:nvGrpSpPr>
        <p:grpSpPr>
          <a:xfrm>
            <a:off x="5191573" y="2376251"/>
            <a:ext cx="135467" cy="210820"/>
            <a:chOff x="3893680" y="1782188"/>
            <a:chExt cx="101600" cy="158115"/>
          </a:xfrm>
        </p:grpSpPr>
        <p:sp>
          <p:nvSpPr>
            <p:cNvPr id="100" name="object 100"/>
            <p:cNvSpPr/>
            <p:nvPr/>
          </p:nvSpPr>
          <p:spPr>
            <a:xfrm>
              <a:off x="3898443"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1" name="object 101"/>
            <p:cNvSpPr/>
            <p:nvPr/>
          </p:nvSpPr>
          <p:spPr>
            <a:xfrm>
              <a:off x="3898443"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grpSp>
      <p:sp>
        <p:nvSpPr>
          <p:cNvPr id="102" name="object 102"/>
          <p:cNvSpPr txBox="1"/>
          <p:nvPr/>
        </p:nvSpPr>
        <p:spPr>
          <a:xfrm>
            <a:off x="5198877" y="2376446"/>
            <a:ext cx="120227" cy="192360"/>
          </a:xfrm>
          <a:prstGeom prst="rect">
            <a:avLst/>
          </a:prstGeom>
        </p:spPr>
        <p:txBody>
          <a:bodyPr vert="horz" wrap="square" lIns="0" tIns="7620" rIns="0" bIns="0" rtlCol="0">
            <a:spAutoFit/>
          </a:bodyPr>
          <a:lstStyle/>
          <a:p>
            <a:pPr>
              <a:spcBef>
                <a:spcPts val="60"/>
              </a:spcBef>
            </a:pPr>
            <a:r>
              <a:rPr sz="1200" spc="-67" dirty="0">
                <a:latin typeface="Lucida Sans Unicode"/>
                <a:cs typeface="Lucida Sans Unicode"/>
              </a:rPr>
              <a:t>Q</a:t>
            </a:r>
            <a:endParaRPr sz="1200">
              <a:latin typeface="Lucida Sans Unicode"/>
              <a:cs typeface="Lucida Sans Unicode"/>
            </a:endParaRPr>
          </a:p>
        </p:txBody>
      </p:sp>
      <p:grpSp>
        <p:nvGrpSpPr>
          <p:cNvPr id="103" name="object 103"/>
          <p:cNvGrpSpPr/>
          <p:nvPr/>
        </p:nvGrpSpPr>
        <p:grpSpPr>
          <a:xfrm>
            <a:off x="5327504" y="2376251"/>
            <a:ext cx="135467" cy="210820"/>
            <a:chOff x="3995628" y="1782188"/>
            <a:chExt cx="101600" cy="158115"/>
          </a:xfrm>
        </p:grpSpPr>
        <p:sp>
          <p:nvSpPr>
            <p:cNvPr id="104" name="object 104"/>
            <p:cNvSpPr/>
            <p:nvPr/>
          </p:nvSpPr>
          <p:spPr>
            <a:xfrm>
              <a:off x="4000391"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5" name="object 105"/>
            <p:cNvSpPr/>
            <p:nvPr/>
          </p:nvSpPr>
          <p:spPr>
            <a:xfrm>
              <a:off x="4000391"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grpSp>
      <p:sp>
        <p:nvSpPr>
          <p:cNvPr id="106" name="object 106"/>
          <p:cNvSpPr txBox="1"/>
          <p:nvPr/>
        </p:nvSpPr>
        <p:spPr>
          <a:xfrm>
            <a:off x="5349211" y="2376446"/>
            <a:ext cx="91440" cy="192360"/>
          </a:xfrm>
          <a:prstGeom prst="rect">
            <a:avLst/>
          </a:prstGeom>
        </p:spPr>
        <p:txBody>
          <a:bodyPr vert="horz" wrap="square" lIns="0" tIns="7620" rIns="0" bIns="0" rtlCol="0">
            <a:spAutoFit/>
          </a:bodyPr>
          <a:lstStyle/>
          <a:p>
            <a:pPr>
              <a:spcBef>
                <a:spcPts val="60"/>
              </a:spcBef>
            </a:pPr>
            <a:r>
              <a:rPr sz="1200" spc="-140" dirty="0">
                <a:latin typeface="Lucida Sans Unicode"/>
                <a:cs typeface="Lucida Sans Unicode"/>
              </a:rPr>
              <a:t>K</a:t>
            </a:r>
            <a:endParaRPr sz="1200">
              <a:latin typeface="Lucida Sans Unicode"/>
              <a:cs typeface="Lucida Sans Unicode"/>
            </a:endParaRPr>
          </a:p>
        </p:txBody>
      </p:sp>
      <p:grpSp>
        <p:nvGrpSpPr>
          <p:cNvPr id="107" name="object 107"/>
          <p:cNvGrpSpPr/>
          <p:nvPr/>
        </p:nvGrpSpPr>
        <p:grpSpPr>
          <a:xfrm>
            <a:off x="6259523" y="2376251"/>
            <a:ext cx="270933" cy="210820"/>
            <a:chOff x="4694642" y="1782188"/>
            <a:chExt cx="203200" cy="158115"/>
          </a:xfrm>
        </p:grpSpPr>
        <p:sp>
          <p:nvSpPr>
            <p:cNvPr id="108" name="object 108"/>
            <p:cNvSpPr/>
            <p:nvPr/>
          </p:nvSpPr>
          <p:spPr>
            <a:xfrm>
              <a:off x="4699405"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9" name="object 109"/>
            <p:cNvSpPr/>
            <p:nvPr/>
          </p:nvSpPr>
          <p:spPr>
            <a:xfrm>
              <a:off x="4699405"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110" name="object 110"/>
            <p:cNvSpPr/>
            <p:nvPr/>
          </p:nvSpPr>
          <p:spPr>
            <a:xfrm>
              <a:off x="4801353"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1" name="object 111"/>
            <p:cNvSpPr/>
            <p:nvPr/>
          </p:nvSpPr>
          <p:spPr>
            <a:xfrm>
              <a:off x="4801353"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grpSp>
      <p:sp>
        <p:nvSpPr>
          <p:cNvPr id="112" name="object 112"/>
          <p:cNvSpPr txBox="1"/>
          <p:nvPr/>
        </p:nvSpPr>
        <p:spPr>
          <a:xfrm>
            <a:off x="6266827" y="2374248"/>
            <a:ext cx="502920" cy="201764"/>
          </a:xfrm>
          <a:prstGeom prst="rect">
            <a:avLst/>
          </a:prstGeom>
        </p:spPr>
        <p:txBody>
          <a:bodyPr vert="horz" wrap="square" lIns="0" tIns="16933" rIns="0" bIns="0" rtlCol="0">
            <a:spAutoFit/>
          </a:bodyPr>
          <a:lstStyle/>
          <a:p>
            <a:pPr>
              <a:spcBef>
                <a:spcPts val="133"/>
              </a:spcBef>
            </a:pPr>
            <a:r>
              <a:rPr baseline="3086" dirty="0">
                <a:latin typeface="Lucida Sans Unicode"/>
                <a:cs typeface="Lucida Sans Unicode"/>
              </a:rPr>
              <a:t>Q</a:t>
            </a:r>
            <a:r>
              <a:rPr spc="-220" baseline="3086" dirty="0">
                <a:latin typeface="Lucida Sans Unicode"/>
                <a:cs typeface="Lucida Sans Unicode"/>
              </a:rPr>
              <a:t> </a:t>
            </a:r>
            <a:r>
              <a:rPr baseline="3086" dirty="0">
                <a:latin typeface="Lucida Sans Unicode"/>
                <a:cs typeface="Lucida Sans Unicode"/>
              </a:rPr>
              <a:t>K</a:t>
            </a:r>
            <a:r>
              <a:rPr spc="300" baseline="3086"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113" name="object 113"/>
          <p:cNvGrpSpPr/>
          <p:nvPr/>
        </p:nvGrpSpPr>
        <p:grpSpPr>
          <a:xfrm>
            <a:off x="7328823" y="2376251"/>
            <a:ext cx="270933" cy="210820"/>
            <a:chOff x="5496617" y="1782188"/>
            <a:chExt cx="203200" cy="158115"/>
          </a:xfrm>
        </p:grpSpPr>
        <p:sp>
          <p:nvSpPr>
            <p:cNvPr id="114" name="object 114"/>
            <p:cNvSpPr/>
            <p:nvPr/>
          </p:nvSpPr>
          <p:spPr>
            <a:xfrm>
              <a:off x="5501379"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5" name="object 115"/>
            <p:cNvSpPr/>
            <p:nvPr/>
          </p:nvSpPr>
          <p:spPr>
            <a:xfrm>
              <a:off x="5501379"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116" name="object 116"/>
            <p:cNvSpPr/>
            <p:nvPr/>
          </p:nvSpPr>
          <p:spPr>
            <a:xfrm>
              <a:off x="5603327"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7" name="object 117"/>
            <p:cNvSpPr/>
            <p:nvPr/>
          </p:nvSpPr>
          <p:spPr>
            <a:xfrm>
              <a:off x="5603327"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grpSp>
      <p:sp>
        <p:nvSpPr>
          <p:cNvPr id="118" name="object 118"/>
          <p:cNvSpPr txBox="1"/>
          <p:nvPr/>
        </p:nvSpPr>
        <p:spPr>
          <a:xfrm>
            <a:off x="7336127" y="2374248"/>
            <a:ext cx="502920" cy="201764"/>
          </a:xfrm>
          <a:prstGeom prst="rect">
            <a:avLst/>
          </a:prstGeom>
        </p:spPr>
        <p:txBody>
          <a:bodyPr vert="horz" wrap="square" lIns="0" tIns="16933" rIns="0" bIns="0" rtlCol="0">
            <a:spAutoFit/>
          </a:bodyPr>
          <a:lstStyle/>
          <a:p>
            <a:pPr>
              <a:spcBef>
                <a:spcPts val="133"/>
              </a:spcBef>
            </a:pPr>
            <a:r>
              <a:rPr baseline="3086" dirty="0">
                <a:latin typeface="Lucida Sans Unicode"/>
                <a:cs typeface="Lucida Sans Unicode"/>
              </a:rPr>
              <a:t>Q</a:t>
            </a:r>
            <a:r>
              <a:rPr spc="-220" baseline="3086" dirty="0">
                <a:latin typeface="Lucida Sans Unicode"/>
                <a:cs typeface="Lucida Sans Unicode"/>
              </a:rPr>
              <a:t> </a:t>
            </a:r>
            <a:r>
              <a:rPr baseline="3086" dirty="0">
                <a:latin typeface="Lucida Sans Unicode"/>
                <a:cs typeface="Lucida Sans Unicode"/>
              </a:rPr>
              <a:t>K</a:t>
            </a:r>
            <a:r>
              <a:rPr spc="300" baseline="3086"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119" name="object 119"/>
          <p:cNvGrpSpPr/>
          <p:nvPr/>
        </p:nvGrpSpPr>
        <p:grpSpPr>
          <a:xfrm>
            <a:off x="8396404" y="2376251"/>
            <a:ext cx="270933" cy="210820"/>
            <a:chOff x="6297303" y="1782188"/>
            <a:chExt cx="203200" cy="158115"/>
          </a:xfrm>
        </p:grpSpPr>
        <p:sp>
          <p:nvSpPr>
            <p:cNvPr id="120" name="object 120"/>
            <p:cNvSpPr/>
            <p:nvPr/>
          </p:nvSpPr>
          <p:spPr>
            <a:xfrm>
              <a:off x="6302066"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1" name="object 121"/>
            <p:cNvSpPr/>
            <p:nvPr/>
          </p:nvSpPr>
          <p:spPr>
            <a:xfrm>
              <a:off x="6302066"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122" name="object 122"/>
            <p:cNvSpPr/>
            <p:nvPr/>
          </p:nvSpPr>
          <p:spPr>
            <a:xfrm>
              <a:off x="6404014"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3" name="object 123"/>
            <p:cNvSpPr/>
            <p:nvPr/>
          </p:nvSpPr>
          <p:spPr>
            <a:xfrm>
              <a:off x="6404014"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grpSp>
      <p:sp>
        <p:nvSpPr>
          <p:cNvPr id="124" name="object 124"/>
          <p:cNvSpPr txBox="1"/>
          <p:nvPr/>
        </p:nvSpPr>
        <p:spPr>
          <a:xfrm>
            <a:off x="8403709" y="2374248"/>
            <a:ext cx="502920" cy="201764"/>
          </a:xfrm>
          <a:prstGeom prst="rect">
            <a:avLst/>
          </a:prstGeom>
        </p:spPr>
        <p:txBody>
          <a:bodyPr vert="horz" wrap="square" lIns="0" tIns="16933" rIns="0" bIns="0" rtlCol="0">
            <a:spAutoFit/>
          </a:bodyPr>
          <a:lstStyle/>
          <a:p>
            <a:pPr>
              <a:spcBef>
                <a:spcPts val="133"/>
              </a:spcBef>
            </a:pPr>
            <a:r>
              <a:rPr baseline="3086" dirty="0">
                <a:latin typeface="Lucida Sans Unicode"/>
                <a:cs typeface="Lucida Sans Unicode"/>
              </a:rPr>
              <a:t>Q</a:t>
            </a:r>
            <a:r>
              <a:rPr spc="-220" baseline="3086" dirty="0">
                <a:latin typeface="Lucida Sans Unicode"/>
                <a:cs typeface="Lucida Sans Unicode"/>
              </a:rPr>
              <a:t> </a:t>
            </a:r>
            <a:r>
              <a:rPr baseline="3086" dirty="0">
                <a:latin typeface="Lucida Sans Unicode"/>
                <a:cs typeface="Lucida Sans Unicode"/>
              </a:rPr>
              <a:t>K</a:t>
            </a:r>
            <a:r>
              <a:rPr spc="300" baseline="3086"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125" name="object 125"/>
          <p:cNvGrpSpPr/>
          <p:nvPr/>
        </p:nvGrpSpPr>
        <p:grpSpPr>
          <a:xfrm>
            <a:off x="9467346" y="2376251"/>
            <a:ext cx="270933" cy="210820"/>
            <a:chOff x="7100509" y="1782188"/>
            <a:chExt cx="203200" cy="158115"/>
          </a:xfrm>
        </p:grpSpPr>
        <p:sp>
          <p:nvSpPr>
            <p:cNvPr id="126" name="object 126"/>
            <p:cNvSpPr/>
            <p:nvPr/>
          </p:nvSpPr>
          <p:spPr>
            <a:xfrm>
              <a:off x="7105271"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7" name="object 127"/>
            <p:cNvSpPr/>
            <p:nvPr/>
          </p:nvSpPr>
          <p:spPr>
            <a:xfrm>
              <a:off x="7105271"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128" name="object 128"/>
            <p:cNvSpPr/>
            <p:nvPr/>
          </p:nvSpPr>
          <p:spPr>
            <a:xfrm>
              <a:off x="7207219"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9" name="object 129"/>
            <p:cNvSpPr/>
            <p:nvPr/>
          </p:nvSpPr>
          <p:spPr>
            <a:xfrm>
              <a:off x="7207219"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grpSp>
      <p:sp>
        <p:nvSpPr>
          <p:cNvPr id="130" name="object 130"/>
          <p:cNvSpPr txBox="1"/>
          <p:nvPr/>
        </p:nvSpPr>
        <p:spPr>
          <a:xfrm>
            <a:off x="9474649" y="2374248"/>
            <a:ext cx="502920" cy="201764"/>
          </a:xfrm>
          <a:prstGeom prst="rect">
            <a:avLst/>
          </a:prstGeom>
        </p:spPr>
        <p:txBody>
          <a:bodyPr vert="horz" wrap="square" lIns="0" tIns="16933" rIns="0" bIns="0" rtlCol="0">
            <a:spAutoFit/>
          </a:bodyPr>
          <a:lstStyle/>
          <a:p>
            <a:pPr>
              <a:spcBef>
                <a:spcPts val="133"/>
              </a:spcBef>
            </a:pPr>
            <a:r>
              <a:rPr baseline="3086" dirty="0">
                <a:latin typeface="Lucida Sans Unicode"/>
                <a:cs typeface="Lucida Sans Unicode"/>
              </a:rPr>
              <a:t>Q</a:t>
            </a:r>
            <a:r>
              <a:rPr spc="-220" baseline="3086" dirty="0">
                <a:latin typeface="Lucida Sans Unicode"/>
                <a:cs typeface="Lucida Sans Unicode"/>
              </a:rPr>
              <a:t> </a:t>
            </a:r>
            <a:r>
              <a:rPr baseline="3086" dirty="0">
                <a:latin typeface="Lucida Sans Unicode"/>
                <a:cs typeface="Lucida Sans Unicode"/>
              </a:rPr>
              <a:t>K</a:t>
            </a:r>
            <a:r>
              <a:rPr spc="300" baseline="3086"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grpSp>
        <p:nvGrpSpPr>
          <p:cNvPr id="131" name="object 131"/>
          <p:cNvGrpSpPr/>
          <p:nvPr/>
        </p:nvGrpSpPr>
        <p:grpSpPr>
          <a:xfrm>
            <a:off x="5189936" y="2376251"/>
            <a:ext cx="270933" cy="210820"/>
            <a:chOff x="3892452" y="1782188"/>
            <a:chExt cx="203200" cy="158115"/>
          </a:xfrm>
        </p:grpSpPr>
        <p:sp>
          <p:nvSpPr>
            <p:cNvPr id="132" name="object 132"/>
            <p:cNvSpPr/>
            <p:nvPr/>
          </p:nvSpPr>
          <p:spPr>
            <a:xfrm>
              <a:off x="3897214"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33" name="object 133"/>
            <p:cNvSpPr/>
            <p:nvPr/>
          </p:nvSpPr>
          <p:spPr>
            <a:xfrm>
              <a:off x="3897214"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F47272"/>
              </a:solidFill>
            </a:ln>
          </p:spPr>
          <p:txBody>
            <a:bodyPr wrap="square" lIns="0" tIns="0" rIns="0" bIns="0" rtlCol="0"/>
            <a:lstStyle/>
            <a:p>
              <a:endParaRPr sz="2400"/>
            </a:p>
          </p:txBody>
        </p:sp>
        <p:sp>
          <p:nvSpPr>
            <p:cNvPr id="134" name="object 134"/>
            <p:cNvSpPr/>
            <p:nvPr/>
          </p:nvSpPr>
          <p:spPr>
            <a:xfrm>
              <a:off x="3999163" y="178695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35" name="object 135"/>
            <p:cNvSpPr/>
            <p:nvPr/>
          </p:nvSpPr>
          <p:spPr>
            <a:xfrm>
              <a:off x="3999163" y="178695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4696AA"/>
              </a:solidFill>
            </a:ln>
          </p:spPr>
          <p:txBody>
            <a:bodyPr wrap="square" lIns="0" tIns="0" rIns="0" bIns="0" rtlCol="0"/>
            <a:lstStyle/>
            <a:p>
              <a:endParaRPr sz="2400"/>
            </a:p>
          </p:txBody>
        </p:sp>
      </p:grpSp>
      <p:sp>
        <p:nvSpPr>
          <p:cNvPr id="136" name="object 136"/>
          <p:cNvSpPr txBox="1"/>
          <p:nvPr/>
        </p:nvSpPr>
        <p:spPr>
          <a:xfrm>
            <a:off x="5197240" y="2374248"/>
            <a:ext cx="502920" cy="201764"/>
          </a:xfrm>
          <a:prstGeom prst="rect">
            <a:avLst/>
          </a:prstGeom>
        </p:spPr>
        <p:txBody>
          <a:bodyPr vert="horz" wrap="square" lIns="0" tIns="16933" rIns="0" bIns="0" rtlCol="0">
            <a:spAutoFit/>
          </a:bodyPr>
          <a:lstStyle/>
          <a:p>
            <a:pPr>
              <a:spcBef>
                <a:spcPts val="133"/>
              </a:spcBef>
            </a:pPr>
            <a:r>
              <a:rPr baseline="3086" dirty="0">
                <a:latin typeface="Lucida Sans Unicode"/>
                <a:cs typeface="Lucida Sans Unicode"/>
              </a:rPr>
              <a:t>Q</a:t>
            </a:r>
            <a:r>
              <a:rPr spc="-220" baseline="3086" dirty="0">
                <a:latin typeface="Lucida Sans Unicode"/>
                <a:cs typeface="Lucida Sans Unicode"/>
              </a:rPr>
              <a:t> </a:t>
            </a:r>
            <a:r>
              <a:rPr baseline="3086" dirty="0">
                <a:latin typeface="Lucida Sans Unicode"/>
                <a:cs typeface="Lucida Sans Unicode"/>
              </a:rPr>
              <a:t>K</a:t>
            </a:r>
            <a:r>
              <a:rPr spc="300" baseline="3086" dirty="0">
                <a:latin typeface="Lucida Sans Unicode"/>
                <a:cs typeface="Lucida Sans Unicode"/>
              </a:rPr>
              <a:t>  </a:t>
            </a:r>
            <a:r>
              <a:rPr sz="1200" spc="-67" dirty="0">
                <a:latin typeface="Lucida Sans Unicode"/>
                <a:cs typeface="Lucida Sans Unicode"/>
              </a:rPr>
              <a:t>S</a:t>
            </a:r>
            <a:endParaRPr sz="1200">
              <a:latin typeface="Lucida Sans Unicode"/>
              <a:cs typeface="Lucida Sans Unicode"/>
            </a:endParaRPr>
          </a:p>
        </p:txBody>
      </p:sp>
      <p:sp>
        <p:nvSpPr>
          <p:cNvPr id="137" name="TextBox 136">
            <a:extLst>
              <a:ext uri="{FF2B5EF4-FFF2-40B4-BE49-F238E27FC236}">
                <a16:creationId xmlns:a16="http://schemas.microsoft.com/office/drawing/2014/main" id="{0EB7662D-0458-0D0B-B2BD-C4C32123EA83}"/>
              </a:ext>
            </a:extLst>
          </p:cNvPr>
          <p:cNvSpPr txBox="1"/>
          <p:nvPr/>
        </p:nvSpPr>
        <p:spPr>
          <a:xfrm>
            <a:off x="3307260" y="5754021"/>
            <a:ext cx="6115841" cy="830997"/>
          </a:xfrm>
          <a:prstGeom prst="rect">
            <a:avLst/>
          </a:prstGeom>
          <a:noFill/>
        </p:spPr>
        <p:txBody>
          <a:bodyPr wrap="none" rtlCol="0">
            <a:spAutoFit/>
          </a:bodyPr>
          <a:lstStyle/>
          <a:p>
            <a:r>
              <a:rPr lang="en-US" sz="2400" dirty="0"/>
              <a:t>Write back Score matrix (s) back to VRAM</a:t>
            </a:r>
          </a:p>
          <a:p>
            <a:r>
              <a:rPr lang="en-US" sz="2400" dirty="0"/>
              <a:t> S is huge : sequence length square  (N</a:t>
            </a:r>
            <a:r>
              <a:rPr lang="en-US" sz="2400" baseline="30000" dirty="0"/>
              <a:t>2  </a:t>
            </a:r>
            <a:r>
              <a:rPr lang="en-US" sz="2400" dirty="0"/>
              <a:t>) length</a:t>
            </a:r>
            <a:endParaRPr lang="en-IN" sz="2400" dirty="0"/>
          </a:p>
        </p:txBody>
      </p:sp>
    </p:spTree>
    <p:extLst>
      <p:ext uri="{BB962C8B-B14F-4D97-AF65-F5344CB8AC3E}">
        <p14:creationId xmlns:p14="http://schemas.microsoft.com/office/powerpoint/2010/main" val="245229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Attention</a:t>
            </a:r>
            <a:r>
              <a:rPr spc="-152" dirty="0"/>
              <a:t> </a:t>
            </a:r>
            <a:r>
              <a:rPr spc="213" dirty="0"/>
              <a:t>data</a:t>
            </a:r>
            <a:r>
              <a:rPr spc="-147" dirty="0"/>
              <a:t> </a:t>
            </a:r>
            <a:r>
              <a:rPr spc="-27" dirty="0"/>
              <a:t>flow</a:t>
            </a:r>
          </a:p>
        </p:txBody>
      </p:sp>
      <p:sp>
        <p:nvSpPr>
          <p:cNvPr id="3" name="object 3"/>
          <p:cNvSpPr/>
          <p:nvPr/>
        </p:nvSpPr>
        <p:spPr>
          <a:xfrm>
            <a:off x="1431063" y="1548384"/>
            <a:ext cx="9338733" cy="4060613"/>
          </a:xfrm>
          <a:custGeom>
            <a:avLst/>
            <a:gdLst/>
            <a:ahLst/>
            <a:cxnLst/>
            <a:rect l="l" t="t" r="r" b="b"/>
            <a:pathLst>
              <a:path w="7004050" h="3045460">
                <a:moveTo>
                  <a:pt x="0" y="0"/>
                </a:moveTo>
                <a:lnTo>
                  <a:pt x="7003499" y="0"/>
                </a:lnTo>
                <a:lnTo>
                  <a:pt x="7003499" y="3044999"/>
                </a:lnTo>
                <a:lnTo>
                  <a:pt x="0" y="3044999"/>
                </a:lnTo>
                <a:lnTo>
                  <a:pt x="0" y="0"/>
                </a:lnTo>
                <a:close/>
              </a:path>
            </a:pathLst>
          </a:custGeom>
          <a:ln w="19049">
            <a:solidFill>
              <a:srgbClr val="237A94"/>
            </a:solidFill>
          </a:ln>
        </p:spPr>
        <p:txBody>
          <a:bodyPr wrap="square" lIns="0" tIns="0" rIns="0" bIns="0" rtlCol="0"/>
          <a:lstStyle/>
          <a:p>
            <a:endParaRPr sz="2400"/>
          </a:p>
        </p:txBody>
      </p:sp>
      <p:sp>
        <p:nvSpPr>
          <p:cNvPr id="4" name="object 4"/>
          <p:cNvSpPr txBox="1"/>
          <p:nvPr/>
        </p:nvSpPr>
        <p:spPr>
          <a:xfrm>
            <a:off x="1519351" y="5238451"/>
            <a:ext cx="513080" cy="304421"/>
          </a:xfrm>
          <a:prstGeom prst="rect">
            <a:avLst/>
          </a:prstGeom>
        </p:spPr>
        <p:txBody>
          <a:bodyPr vert="horz" wrap="square" lIns="0" tIns="16933" rIns="0" bIns="0" rtlCol="0">
            <a:spAutoFit/>
          </a:bodyPr>
          <a:lstStyle/>
          <a:p>
            <a:pPr>
              <a:spcBef>
                <a:spcPts val="133"/>
              </a:spcBef>
            </a:pPr>
            <a:r>
              <a:rPr sz="1867" spc="-167" dirty="0">
                <a:solidFill>
                  <a:srgbClr val="999999"/>
                </a:solidFill>
                <a:latin typeface="Arial Black"/>
                <a:cs typeface="Arial Black"/>
              </a:rPr>
              <a:t>GPU</a:t>
            </a:r>
            <a:endParaRPr sz="1867">
              <a:latin typeface="Arial Black"/>
              <a:cs typeface="Arial Black"/>
            </a:endParaRPr>
          </a:p>
        </p:txBody>
      </p:sp>
      <p:sp>
        <p:nvSpPr>
          <p:cNvPr id="5" name="object 5"/>
          <p:cNvSpPr txBox="1"/>
          <p:nvPr/>
        </p:nvSpPr>
        <p:spPr>
          <a:xfrm>
            <a:off x="1945434" y="1710578"/>
            <a:ext cx="1555327" cy="256480"/>
          </a:xfrm>
          <a:prstGeom prst="rect">
            <a:avLst/>
          </a:prstGeom>
        </p:spPr>
        <p:txBody>
          <a:bodyPr vert="horz" wrap="square" lIns="0" tIns="10160" rIns="0" bIns="0" rtlCol="0">
            <a:spAutoFit/>
          </a:bodyPr>
          <a:lstStyle/>
          <a:p>
            <a:pPr>
              <a:spcBef>
                <a:spcPts val="80"/>
              </a:spcBef>
            </a:pPr>
            <a:r>
              <a:rPr sz="1600" spc="-33" dirty="0">
                <a:solidFill>
                  <a:srgbClr val="666666"/>
                </a:solidFill>
                <a:latin typeface="Arial Black"/>
                <a:cs typeface="Arial Black"/>
              </a:rPr>
              <a:t>Compute</a:t>
            </a:r>
            <a:r>
              <a:rPr sz="1600" spc="-127" dirty="0">
                <a:solidFill>
                  <a:srgbClr val="666666"/>
                </a:solidFill>
                <a:latin typeface="Arial Black"/>
                <a:cs typeface="Arial Black"/>
              </a:rPr>
              <a:t> </a:t>
            </a:r>
            <a:r>
              <a:rPr sz="1600" spc="-47" dirty="0">
                <a:solidFill>
                  <a:srgbClr val="666666"/>
                </a:solidFill>
                <a:latin typeface="Arial Black"/>
                <a:cs typeface="Arial Black"/>
              </a:rPr>
              <a:t>units</a:t>
            </a:r>
            <a:endParaRPr sz="1600">
              <a:latin typeface="Arial Black"/>
              <a:cs typeface="Arial Black"/>
            </a:endParaRPr>
          </a:p>
        </p:txBody>
      </p:sp>
      <p:grpSp>
        <p:nvGrpSpPr>
          <p:cNvPr id="6" name="object 6"/>
          <p:cNvGrpSpPr/>
          <p:nvPr/>
        </p:nvGrpSpPr>
        <p:grpSpPr>
          <a:xfrm>
            <a:off x="1813796" y="1711599"/>
            <a:ext cx="8573347" cy="988060"/>
            <a:chOff x="1360347" y="1283699"/>
            <a:chExt cx="6430010" cy="741045"/>
          </a:xfrm>
        </p:grpSpPr>
        <p:sp>
          <p:nvSpPr>
            <p:cNvPr id="7" name="object 7"/>
            <p:cNvSpPr/>
            <p:nvPr/>
          </p:nvSpPr>
          <p:spPr>
            <a:xfrm>
              <a:off x="1365110" y="1288461"/>
              <a:ext cx="6420485" cy="731520"/>
            </a:xfrm>
            <a:custGeom>
              <a:avLst/>
              <a:gdLst/>
              <a:ahLst/>
              <a:cxnLst/>
              <a:rect l="l" t="t" r="r" b="b"/>
              <a:pathLst>
                <a:path w="6420484" h="731519">
                  <a:moveTo>
                    <a:pt x="6419999" y="731400"/>
                  </a:moveTo>
                  <a:lnTo>
                    <a:pt x="0" y="731400"/>
                  </a:lnTo>
                  <a:lnTo>
                    <a:pt x="0" y="0"/>
                  </a:lnTo>
                  <a:lnTo>
                    <a:pt x="6419999" y="0"/>
                  </a:lnTo>
                  <a:lnTo>
                    <a:pt x="6419999" y="731400"/>
                  </a:lnTo>
                  <a:close/>
                </a:path>
              </a:pathLst>
            </a:custGeom>
            <a:solidFill>
              <a:srgbClr val="FFECED"/>
            </a:solidFill>
          </p:spPr>
          <p:txBody>
            <a:bodyPr wrap="square" lIns="0" tIns="0" rIns="0" bIns="0" rtlCol="0"/>
            <a:lstStyle/>
            <a:p>
              <a:endParaRPr sz="2400"/>
            </a:p>
          </p:txBody>
        </p:sp>
        <p:sp>
          <p:nvSpPr>
            <p:cNvPr id="8" name="object 8"/>
            <p:cNvSpPr/>
            <p:nvPr/>
          </p:nvSpPr>
          <p:spPr>
            <a:xfrm>
              <a:off x="1365110" y="1288461"/>
              <a:ext cx="6420485" cy="731520"/>
            </a:xfrm>
            <a:custGeom>
              <a:avLst/>
              <a:gdLst/>
              <a:ahLst/>
              <a:cxnLst/>
              <a:rect l="l" t="t" r="r" b="b"/>
              <a:pathLst>
                <a:path w="6420484" h="731519">
                  <a:moveTo>
                    <a:pt x="0" y="0"/>
                  </a:moveTo>
                  <a:lnTo>
                    <a:pt x="6419999" y="0"/>
                  </a:lnTo>
                  <a:lnTo>
                    <a:pt x="6419999" y="731400"/>
                  </a:lnTo>
                  <a:lnTo>
                    <a:pt x="0" y="731400"/>
                  </a:lnTo>
                  <a:lnTo>
                    <a:pt x="0" y="0"/>
                  </a:lnTo>
                  <a:close/>
                </a:path>
              </a:pathLst>
            </a:custGeom>
            <a:ln w="9524">
              <a:solidFill>
                <a:srgbClr val="237A94"/>
              </a:solidFill>
            </a:ln>
          </p:spPr>
          <p:txBody>
            <a:bodyPr wrap="square" lIns="0" tIns="0" rIns="0" bIns="0" rtlCol="0"/>
            <a:lstStyle/>
            <a:p>
              <a:endParaRPr sz="2400"/>
            </a:p>
          </p:txBody>
        </p:sp>
        <p:sp>
          <p:nvSpPr>
            <p:cNvPr id="9" name="object 9"/>
            <p:cNvSpPr/>
            <p:nvPr/>
          </p:nvSpPr>
          <p:spPr>
            <a:xfrm>
              <a:off x="3853475"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0" name="object 10"/>
            <p:cNvSpPr/>
            <p:nvPr/>
          </p:nvSpPr>
          <p:spPr>
            <a:xfrm>
              <a:off x="3853475" y="1509156"/>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1" name="object 11"/>
            <p:cNvSpPr/>
            <p:nvPr/>
          </p:nvSpPr>
          <p:spPr>
            <a:xfrm>
              <a:off x="46584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2" name="object 12"/>
            <p:cNvSpPr/>
            <p:nvPr/>
          </p:nvSpPr>
          <p:spPr>
            <a:xfrm>
              <a:off x="46584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3" name="object 13"/>
            <p:cNvSpPr/>
            <p:nvPr/>
          </p:nvSpPr>
          <p:spPr>
            <a:xfrm>
              <a:off x="5460074"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4" name="object 14"/>
            <p:cNvSpPr/>
            <p:nvPr/>
          </p:nvSpPr>
          <p:spPr>
            <a:xfrm>
              <a:off x="5460074" y="1509156"/>
              <a:ext cx="650240" cy="457200"/>
            </a:xfrm>
            <a:custGeom>
              <a:avLst/>
              <a:gdLst/>
              <a:ahLst/>
              <a:cxnLst/>
              <a:rect l="l" t="t" r="r" b="b"/>
              <a:pathLst>
                <a:path w="650239"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5" name="object 15"/>
            <p:cNvSpPr/>
            <p:nvPr/>
          </p:nvSpPr>
          <p:spPr>
            <a:xfrm>
              <a:off x="6261724" y="1509157"/>
              <a:ext cx="650240" cy="226695"/>
            </a:xfrm>
            <a:custGeom>
              <a:avLst/>
              <a:gdLst/>
              <a:ahLst/>
              <a:cxnLst/>
              <a:rect l="l" t="t" r="r" b="b"/>
              <a:pathLst>
                <a:path w="650240" h="226694">
                  <a:moveTo>
                    <a:pt x="0" y="226679"/>
                  </a:moveTo>
                  <a:lnTo>
                    <a:pt x="649726" y="226679"/>
                  </a:lnTo>
                  <a:lnTo>
                    <a:pt x="649726" y="0"/>
                  </a:lnTo>
                  <a:lnTo>
                    <a:pt x="0" y="0"/>
                  </a:lnTo>
                  <a:lnTo>
                    <a:pt x="0" y="226679"/>
                  </a:lnTo>
                  <a:close/>
                </a:path>
              </a:pathLst>
            </a:custGeom>
            <a:solidFill>
              <a:srgbClr val="F4C4D1"/>
            </a:solidFill>
          </p:spPr>
          <p:txBody>
            <a:bodyPr wrap="square" lIns="0" tIns="0" rIns="0" bIns="0" rtlCol="0"/>
            <a:lstStyle/>
            <a:p>
              <a:endParaRPr sz="2400"/>
            </a:p>
          </p:txBody>
        </p:sp>
        <p:sp>
          <p:nvSpPr>
            <p:cNvPr id="16" name="object 16"/>
            <p:cNvSpPr/>
            <p:nvPr/>
          </p:nvSpPr>
          <p:spPr>
            <a:xfrm>
              <a:off x="6261724" y="1509157"/>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7" name="object 17"/>
            <p:cNvSpPr/>
            <p:nvPr/>
          </p:nvSpPr>
          <p:spPr>
            <a:xfrm>
              <a:off x="7063349" y="1509156"/>
              <a:ext cx="650240" cy="234950"/>
            </a:xfrm>
            <a:custGeom>
              <a:avLst/>
              <a:gdLst/>
              <a:ahLst/>
              <a:cxnLst/>
              <a:rect l="l" t="t" r="r" b="b"/>
              <a:pathLst>
                <a:path w="650240"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8" name="object 18"/>
            <p:cNvSpPr/>
            <p:nvPr/>
          </p:nvSpPr>
          <p:spPr>
            <a:xfrm>
              <a:off x="7063349" y="1509156"/>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9" name="object 19"/>
            <p:cNvSpPr/>
            <p:nvPr/>
          </p:nvSpPr>
          <p:spPr>
            <a:xfrm>
              <a:off x="1448749" y="1509158"/>
              <a:ext cx="650240" cy="228600"/>
            </a:xfrm>
            <a:custGeom>
              <a:avLst/>
              <a:gdLst/>
              <a:ahLst/>
              <a:cxnLst/>
              <a:rect l="l" t="t" r="r" b="b"/>
              <a:pathLst>
                <a:path w="650239" h="228600">
                  <a:moveTo>
                    <a:pt x="0" y="228477"/>
                  </a:moveTo>
                  <a:lnTo>
                    <a:pt x="649726" y="228477"/>
                  </a:lnTo>
                  <a:lnTo>
                    <a:pt x="649726" y="0"/>
                  </a:lnTo>
                  <a:lnTo>
                    <a:pt x="0" y="0"/>
                  </a:lnTo>
                  <a:lnTo>
                    <a:pt x="0" y="228477"/>
                  </a:lnTo>
                  <a:close/>
                </a:path>
              </a:pathLst>
            </a:custGeom>
            <a:solidFill>
              <a:srgbClr val="F4C4D1"/>
            </a:solidFill>
          </p:spPr>
          <p:txBody>
            <a:bodyPr wrap="square" lIns="0" tIns="0" rIns="0" bIns="0" rtlCol="0"/>
            <a:lstStyle/>
            <a:p>
              <a:endParaRPr sz="2400"/>
            </a:p>
          </p:txBody>
        </p:sp>
        <p:sp>
          <p:nvSpPr>
            <p:cNvPr id="20" name="object 20"/>
            <p:cNvSpPr/>
            <p:nvPr/>
          </p:nvSpPr>
          <p:spPr>
            <a:xfrm>
              <a:off x="1448749"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1" name="object 21"/>
            <p:cNvSpPr/>
            <p:nvPr/>
          </p:nvSpPr>
          <p:spPr>
            <a:xfrm>
              <a:off x="2250396" y="1509158"/>
              <a:ext cx="650240" cy="234950"/>
            </a:xfrm>
            <a:custGeom>
              <a:avLst/>
              <a:gdLst/>
              <a:ahLst/>
              <a:cxnLst/>
              <a:rect l="l" t="t" r="r" b="b"/>
              <a:pathLst>
                <a:path w="650239" h="234950">
                  <a:moveTo>
                    <a:pt x="0" y="234402"/>
                  </a:moveTo>
                  <a:lnTo>
                    <a:pt x="649726" y="234402"/>
                  </a:lnTo>
                  <a:lnTo>
                    <a:pt x="649726" y="0"/>
                  </a:lnTo>
                  <a:lnTo>
                    <a:pt x="0" y="0"/>
                  </a:lnTo>
                  <a:lnTo>
                    <a:pt x="0" y="234402"/>
                  </a:lnTo>
                  <a:close/>
                </a:path>
              </a:pathLst>
            </a:custGeom>
            <a:solidFill>
              <a:srgbClr val="F4C4D1"/>
            </a:solidFill>
          </p:spPr>
          <p:txBody>
            <a:bodyPr wrap="square" lIns="0" tIns="0" rIns="0" bIns="0" rtlCol="0"/>
            <a:lstStyle/>
            <a:p>
              <a:endParaRPr sz="2400"/>
            </a:p>
          </p:txBody>
        </p:sp>
        <p:sp>
          <p:nvSpPr>
            <p:cNvPr id="22" name="object 22"/>
            <p:cNvSpPr/>
            <p:nvPr/>
          </p:nvSpPr>
          <p:spPr>
            <a:xfrm>
              <a:off x="2250396"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3" name="object 23"/>
            <p:cNvSpPr/>
            <p:nvPr/>
          </p:nvSpPr>
          <p:spPr>
            <a:xfrm>
              <a:off x="30520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4" name="object 24"/>
            <p:cNvSpPr/>
            <p:nvPr/>
          </p:nvSpPr>
          <p:spPr>
            <a:xfrm>
              <a:off x="30520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grpSp>
      <p:sp>
        <p:nvSpPr>
          <p:cNvPr id="25" name="object 25"/>
          <p:cNvSpPr txBox="1"/>
          <p:nvPr/>
        </p:nvSpPr>
        <p:spPr>
          <a:xfrm>
            <a:off x="1908748" y="1715056"/>
            <a:ext cx="1532467" cy="263320"/>
          </a:xfrm>
          <a:prstGeom prst="rect">
            <a:avLst/>
          </a:prstGeom>
        </p:spPr>
        <p:txBody>
          <a:bodyPr vert="horz" wrap="square" lIns="0" tIns="16933" rIns="0" bIns="0" rtlCol="0">
            <a:spAutoFit/>
          </a:bodyPr>
          <a:lstStyle/>
          <a:p>
            <a:pPr>
              <a:spcBef>
                <a:spcPts val="133"/>
              </a:spcBef>
            </a:pPr>
            <a:r>
              <a:rPr sz="1600" spc="67" dirty="0">
                <a:solidFill>
                  <a:srgbClr val="434343"/>
                </a:solidFill>
                <a:latin typeface="Lucida Sans Unicode"/>
                <a:cs typeface="Lucida Sans Unicode"/>
              </a:rPr>
              <a:t>Compute</a:t>
            </a:r>
            <a:r>
              <a:rPr sz="1600" spc="-53" dirty="0">
                <a:solidFill>
                  <a:srgbClr val="434343"/>
                </a:solidFill>
                <a:latin typeface="Lucida Sans Unicode"/>
                <a:cs typeface="Lucida Sans Unicode"/>
              </a:rPr>
              <a:t> </a:t>
            </a:r>
            <a:r>
              <a:rPr sz="1600" spc="-13" dirty="0">
                <a:solidFill>
                  <a:srgbClr val="434343"/>
                </a:solidFill>
                <a:latin typeface="Lucida Sans Unicode"/>
                <a:cs typeface="Lucida Sans Unicode"/>
              </a:rPr>
              <a:t>Units</a:t>
            </a:r>
            <a:endParaRPr sz="1600">
              <a:latin typeface="Lucida Sans Unicode"/>
              <a:cs typeface="Lucida Sans Unicode"/>
            </a:endParaRPr>
          </a:p>
        </p:txBody>
      </p:sp>
      <p:grpSp>
        <p:nvGrpSpPr>
          <p:cNvPr id="26" name="object 26"/>
          <p:cNvGrpSpPr/>
          <p:nvPr/>
        </p:nvGrpSpPr>
        <p:grpSpPr>
          <a:xfrm>
            <a:off x="1809633" y="2843348"/>
            <a:ext cx="8573347" cy="2363893"/>
            <a:chOff x="1357225" y="2132511"/>
            <a:chExt cx="6430010" cy="1772920"/>
          </a:xfrm>
        </p:grpSpPr>
        <p:sp>
          <p:nvSpPr>
            <p:cNvPr id="27" name="object 27"/>
            <p:cNvSpPr/>
            <p:nvPr/>
          </p:nvSpPr>
          <p:spPr>
            <a:xfrm>
              <a:off x="1361987" y="2137274"/>
              <a:ext cx="6420485" cy="1763395"/>
            </a:xfrm>
            <a:custGeom>
              <a:avLst/>
              <a:gdLst/>
              <a:ahLst/>
              <a:cxnLst/>
              <a:rect l="l" t="t" r="r" b="b"/>
              <a:pathLst>
                <a:path w="6420484" h="1763395">
                  <a:moveTo>
                    <a:pt x="6419999" y="1763399"/>
                  </a:moveTo>
                  <a:lnTo>
                    <a:pt x="0" y="1763399"/>
                  </a:lnTo>
                  <a:lnTo>
                    <a:pt x="0" y="0"/>
                  </a:lnTo>
                  <a:lnTo>
                    <a:pt x="6419999" y="0"/>
                  </a:lnTo>
                  <a:lnTo>
                    <a:pt x="6419999" y="1763399"/>
                  </a:lnTo>
                  <a:close/>
                </a:path>
              </a:pathLst>
            </a:custGeom>
            <a:solidFill>
              <a:srgbClr val="EBFAFF"/>
            </a:solidFill>
          </p:spPr>
          <p:txBody>
            <a:bodyPr wrap="square" lIns="0" tIns="0" rIns="0" bIns="0" rtlCol="0"/>
            <a:lstStyle/>
            <a:p>
              <a:endParaRPr sz="2400"/>
            </a:p>
          </p:txBody>
        </p:sp>
        <p:sp>
          <p:nvSpPr>
            <p:cNvPr id="28" name="object 28"/>
            <p:cNvSpPr/>
            <p:nvPr/>
          </p:nvSpPr>
          <p:spPr>
            <a:xfrm>
              <a:off x="1361987" y="2137274"/>
              <a:ext cx="6420485" cy="1763395"/>
            </a:xfrm>
            <a:custGeom>
              <a:avLst/>
              <a:gdLst/>
              <a:ahLst/>
              <a:cxnLst/>
              <a:rect l="l" t="t" r="r" b="b"/>
              <a:pathLst>
                <a:path w="6420484" h="1763395">
                  <a:moveTo>
                    <a:pt x="0" y="0"/>
                  </a:moveTo>
                  <a:lnTo>
                    <a:pt x="6419999" y="0"/>
                  </a:lnTo>
                  <a:lnTo>
                    <a:pt x="6419999" y="1763399"/>
                  </a:lnTo>
                  <a:lnTo>
                    <a:pt x="0" y="1763399"/>
                  </a:lnTo>
                  <a:lnTo>
                    <a:pt x="0" y="0"/>
                  </a:lnTo>
                  <a:close/>
                </a:path>
              </a:pathLst>
            </a:custGeom>
            <a:ln w="9524">
              <a:solidFill>
                <a:srgbClr val="237A94"/>
              </a:solidFill>
            </a:ln>
          </p:spPr>
          <p:txBody>
            <a:bodyPr wrap="square" lIns="0" tIns="0" rIns="0" bIns="0" rtlCol="0"/>
            <a:lstStyle/>
            <a:p>
              <a:endParaRPr sz="2400"/>
            </a:p>
          </p:txBody>
        </p:sp>
      </p:grpSp>
      <p:sp>
        <p:nvSpPr>
          <p:cNvPr id="29" name="object 29"/>
          <p:cNvSpPr txBox="1"/>
          <p:nvPr/>
        </p:nvSpPr>
        <p:spPr>
          <a:xfrm>
            <a:off x="1976302" y="2984056"/>
            <a:ext cx="1474893" cy="263320"/>
          </a:xfrm>
          <a:prstGeom prst="rect">
            <a:avLst/>
          </a:prstGeom>
        </p:spPr>
        <p:txBody>
          <a:bodyPr vert="horz" wrap="square" lIns="0" tIns="16933" rIns="0" bIns="0" rtlCol="0">
            <a:spAutoFit/>
          </a:bodyPr>
          <a:lstStyle/>
          <a:p>
            <a:pPr>
              <a:spcBef>
                <a:spcPts val="133"/>
              </a:spcBef>
            </a:pPr>
            <a:r>
              <a:rPr sz="1600" dirty="0">
                <a:solidFill>
                  <a:srgbClr val="434343"/>
                </a:solidFill>
                <a:latin typeface="Lucida Sans Unicode"/>
                <a:cs typeface="Lucida Sans Unicode"/>
              </a:rPr>
              <a:t>Memory</a:t>
            </a:r>
            <a:r>
              <a:rPr sz="1600" spc="167" dirty="0">
                <a:solidFill>
                  <a:srgbClr val="434343"/>
                </a:solidFill>
                <a:latin typeface="Lucida Sans Unicode"/>
                <a:cs typeface="Lucida Sans Unicode"/>
              </a:rPr>
              <a:t> </a:t>
            </a:r>
            <a:r>
              <a:rPr sz="1600" spc="-27" dirty="0">
                <a:solidFill>
                  <a:srgbClr val="434343"/>
                </a:solidFill>
                <a:latin typeface="Lucida Sans Unicode"/>
                <a:cs typeface="Lucida Sans Unicode"/>
              </a:rPr>
              <a:t>VRAM</a:t>
            </a:r>
            <a:endParaRPr sz="1600">
              <a:latin typeface="Lucida Sans Unicode"/>
              <a:cs typeface="Lucida Sans Unicode"/>
            </a:endParaRPr>
          </a:p>
        </p:txBody>
      </p:sp>
      <p:sp>
        <p:nvSpPr>
          <p:cNvPr id="30" name="object 30"/>
          <p:cNvSpPr txBox="1"/>
          <p:nvPr/>
        </p:nvSpPr>
        <p:spPr>
          <a:xfrm>
            <a:off x="2064600" y="3552033"/>
            <a:ext cx="1441873" cy="796670"/>
          </a:xfrm>
          <a:prstGeom prst="rect">
            <a:avLst/>
          </a:prstGeom>
          <a:solidFill>
            <a:srgbClr val="FFFFFF"/>
          </a:solidFill>
          <a:ln w="9524">
            <a:solidFill>
              <a:srgbClr val="000000"/>
            </a:solidFill>
          </a:ln>
        </p:spPr>
        <p:txBody>
          <a:bodyPr vert="horz" wrap="square" lIns="0" tIns="138852" rIns="0" bIns="0" rtlCol="0">
            <a:spAutoFit/>
          </a:bodyPr>
          <a:lstStyle/>
          <a:p>
            <a:pPr>
              <a:spcBef>
                <a:spcPts val="1092"/>
              </a:spcBef>
            </a:pPr>
            <a:endParaRPr sz="2133">
              <a:latin typeface="Times New Roman"/>
              <a:cs typeface="Times New Roman"/>
            </a:endParaRPr>
          </a:p>
          <a:p>
            <a:pPr marL="466502"/>
            <a:r>
              <a:rPr sz="2133" spc="-33" dirty="0">
                <a:latin typeface="Arial Black"/>
                <a:cs typeface="Arial Black"/>
              </a:rPr>
              <a:t>LLM</a:t>
            </a:r>
            <a:endParaRPr sz="2133">
              <a:latin typeface="Arial Black"/>
              <a:cs typeface="Arial Black"/>
            </a:endParaRPr>
          </a:p>
        </p:txBody>
      </p:sp>
      <p:sp>
        <p:nvSpPr>
          <p:cNvPr id="31" name="object 31"/>
          <p:cNvSpPr txBox="1"/>
          <p:nvPr/>
        </p:nvSpPr>
        <p:spPr>
          <a:xfrm>
            <a:off x="3634633" y="3552039"/>
            <a:ext cx="1247987" cy="942010"/>
          </a:xfrm>
          <a:prstGeom prst="rect">
            <a:avLst/>
          </a:prstGeom>
          <a:solidFill>
            <a:srgbClr val="BBD4F9"/>
          </a:solidFill>
          <a:ln w="9524">
            <a:solidFill>
              <a:srgbClr val="1B73EB"/>
            </a:solidFill>
          </a:ln>
        </p:spPr>
        <p:txBody>
          <a:bodyPr vert="horz" wrap="square" lIns="0" tIns="282787" rIns="0" bIns="0" rtlCol="0">
            <a:spAutoFit/>
          </a:bodyPr>
          <a:lstStyle/>
          <a:p>
            <a:pPr algn="ctr">
              <a:spcBef>
                <a:spcPts val="2227"/>
              </a:spcBef>
            </a:pPr>
            <a:r>
              <a:rPr sz="2133" spc="-33" dirty="0">
                <a:latin typeface="Arial Black"/>
                <a:cs typeface="Arial Black"/>
              </a:rPr>
              <a:t>KV</a:t>
            </a:r>
            <a:endParaRPr sz="2133">
              <a:latin typeface="Arial Black"/>
              <a:cs typeface="Arial Black"/>
            </a:endParaRPr>
          </a:p>
          <a:p>
            <a:pPr algn="ctr">
              <a:spcBef>
                <a:spcPts val="40"/>
              </a:spcBef>
            </a:pPr>
            <a:r>
              <a:rPr sz="2133" spc="-13" dirty="0">
                <a:latin typeface="Arial Black"/>
                <a:cs typeface="Arial Black"/>
              </a:rPr>
              <a:t>cache</a:t>
            </a:r>
            <a:endParaRPr sz="2133">
              <a:latin typeface="Arial Black"/>
              <a:cs typeface="Arial Black"/>
            </a:endParaRPr>
          </a:p>
        </p:txBody>
      </p:sp>
      <p:grpSp>
        <p:nvGrpSpPr>
          <p:cNvPr id="32" name="object 32"/>
          <p:cNvGrpSpPr/>
          <p:nvPr/>
        </p:nvGrpSpPr>
        <p:grpSpPr>
          <a:xfrm>
            <a:off x="1925322" y="2308098"/>
            <a:ext cx="8369300" cy="1733127"/>
            <a:chOff x="1443991" y="1731073"/>
            <a:chExt cx="6276975" cy="1299845"/>
          </a:xfrm>
        </p:grpSpPr>
        <p:sp>
          <p:nvSpPr>
            <p:cNvPr id="33" name="object 33"/>
            <p:cNvSpPr/>
            <p:nvPr/>
          </p:nvSpPr>
          <p:spPr>
            <a:xfrm>
              <a:off x="1448753" y="1737636"/>
              <a:ext cx="650240" cy="230504"/>
            </a:xfrm>
            <a:custGeom>
              <a:avLst/>
              <a:gdLst/>
              <a:ahLst/>
              <a:cxnLst/>
              <a:rect l="l" t="t" r="r" b="b"/>
              <a:pathLst>
                <a:path w="650239" h="230505">
                  <a:moveTo>
                    <a:pt x="649800" y="230399"/>
                  </a:moveTo>
                  <a:lnTo>
                    <a:pt x="0" y="230399"/>
                  </a:lnTo>
                  <a:lnTo>
                    <a:pt x="0" y="0"/>
                  </a:lnTo>
                  <a:lnTo>
                    <a:pt x="649800" y="0"/>
                  </a:lnTo>
                  <a:lnTo>
                    <a:pt x="649800" y="230399"/>
                  </a:lnTo>
                  <a:close/>
                </a:path>
              </a:pathLst>
            </a:custGeom>
            <a:solidFill>
              <a:srgbClr val="EBFAFF"/>
            </a:solidFill>
          </p:spPr>
          <p:txBody>
            <a:bodyPr wrap="square" lIns="0" tIns="0" rIns="0" bIns="0" rtlCol="0"/>
            <a:lstStyle/>
            <a:p>
              <a:endParaRPr sz="2400"/>
            </a:p>
          </p:txBody>
        </p:sp>
        <p:sp>
          <p:nvSpPr>
            <p:cNvPr id="34" name="object 34"/>
            <p:cNvSpPr/>
            <p:nvPr/>
          </p:nvSpPr>
          <p:spPr>
            <a:xfrm>
              <a:off x="1448753" y="1737636"/>
              <a:ext cx="650240" cy="230504"/>
            </a:xfrm>
            <a:custGeom>
              <a:avLst/>
              <a:gdLst/>
              <a:ahLst/>
              <a:cxnLst/>
              <a:rect l="l" t="t" r="r" b="b"/>
              <a:pathLst>
                <a:path w="650239" h="230505">
                  <a:moveTo>
                    <a:pt x="649800" y="0"/>
                  </a:moveTo>
                  <a:lnTo>
                    <a:pt x="649800" y="230399"/>
                  </a:lnTo>
                  <a:lnTo>
                    <a:pt x="0" y="230399"/>
                  </a:lnTo>
                  <a:lnTo>
                    <a:pt x="0" y="0"/>
                  </a:lnTo>
                  <a:lnTo>
                    <a:pt x="649800" y="0"/>
                  </a:lnTo>
                  <a:close/>
                </a:path>
              </a:pathLst>
            </a:custGeom>
            <a:ln w="9524">
              <a:solidFill>
                <a:srgbClr val="237A94"/>
              </a:solidFill>
            </a:ln>
          </p:spPr>
          <p:txBody>
            <a:bodyPr wrap="square" lIns="0" tIns="0" rIns="0" bIns="0" rtlCol="0"/>
            <a:lstStyle/>
            <a:p>
              <a:endParaRPr sz="2400"/>
            </a:p>
          </p:txBody>
        </p:sp>
        <p:sp>
          <p:nvSpPr>
            <p:cNvPr id="35" name="object 35"/>
            <p:cNvSpPr/>
            <p:nvPr/>
          </p:nvSpPr>
          <p:spPr>
            <a:xfrm>
              <a:off x="22512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6" name="object 36"/>
            <p:cNvSpPr/>
            <p:nvPr/>
          </p:nvSpPr>
          <p:spPr>
            <a:xfrm>
              <a:off x="22512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7" name="object 37"/>
            <p:cNvSpPr/>
            <p:nvPr/>
          </p:nvSpPr>
          <p:spPr>
            <a:xfrm>
              <a:off x="305370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8" name="object 38"/>
            <p:cNvSpPr/>
            <p:nvPr/>
          </p:nvSpPr>
          <p:spPr>
            <a:xfrm>
              <a:off x="305370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9" name="object 39"/>
            <p:cNvSpPr/>
            <p:nvPr/>
          </p:nvSpPr>
          <p:spPr>
            <a:xfrm>
              <a:off x="385617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0" name="object 40"/>
            <p:cNvSpPr/>
            <p:nvPr/>
          </p:nvSpPr>
          <p:spPr>
            <a:xfrm>
              <a:off x="385617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1" name="object 41"/>
            <p:cNvSpPr/>
            <p:nvPr/>
          </p:nvSpPr>
          <p:spPr>
            <a:xfrm>
              <a:off x="4658653"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2" name="object 42"/>
            <p:cNvSpPr/>
            <p:nvPr/>
          </p:nvSpPr>
          <p:spPr>
            <a:xfrm>
              <a:off x="4658653"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3" name="object 43"/>
            <p:cNvSpPr/>
            <p:nvPr/>
          </p:nvSpPr>
          <p:spPr>
            <a:xfrm>
              <a:off x="54611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4" name="object 44"/>
            <p:cNvSpPr/>
            <p:nvPr/>
          </p:nvSpPr>
          <p:spPr>
            <a:xfrm>
              <a:off x="54611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5" name="object 45"/>
            <p:cNvSpPr/>
            <p:nvPr/>
          </p:nvSpPr>
          <p:spPr>
            <a:xfrm>
              <a:off x="6263603" y="1735836"/>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6" name="object 46"/>
            <p:cNvSpPr/>
            <p:nvPr/>
          </p:nvSpPr>
          <p:spPr>
            <a:xfrm>
              <a:off x="6263603" y="1735836"/>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7" name="object 47"/>
            <p:cNvSpPr/>
            <p:nvPr/>
          </p:nvSpPr>
          <p:spPr>
            <a:xfrm>
              <a:off x="7066078" y="1743561"/>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8" name="object 48"/>
            <p:cNvSpPr/>
            <p:nvPr/>
          </p:nvSpPr>
          <p:spPr>
            <a:xfrm>
              <a:off x="7066078" y="1743561"/>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9" name="object 49"/>
            <p:cNvSpPr/>
            <p:nvPr/>
          </p:nvSpPr>
          <p:spPr>
            <a:xfrm>
              <a:off x="1575750" y="1999075"/>
              <a:ext cx="6068060" cy="197485"/>
            </a:xfrm>
            <a:custGeom>
              <a:avLst/>
              <a:gdLst/>
              <a:ahLst/>
              <a:cxnLst/>
              <a:rect l="l" t="t" r="r" b="b"/>
              <a:pathLst>
                <a:path w="6068059" h="197485">
                  <a:moveTo>
                    <a:pt x="6067799" y="197099"/>
                  </a:moveTo>
                  <a:lnTo>
                    <a:pt x="0" y="197099"/>
                  </a:lnTo>
                  <a:lnTo>
                    <a:pt x="0" y="0"/>
                  </a:lnTo>
                  <a:lnTo>
                    <a:pt x="6067799" y="0"/>
                  </a:lnTo>
                  <a:lnTo>
                    <a:pt x="6067799" y="197099"/>
                  </a:lnTo>
                  <a:close/>
                </a:path>
              </a:pathLst>
            </a:custGeom>
            <a:solidFill>
              <a:srgbClr val="FFDE7E"/>
            </a:solidFill>
          </p:spPr>
          <p:txBody>
            <a:bodyPr wrap="square" lIns="0" tIns="0" rIns="0" bIns="0" rtlCol="0"/>
            <a:lstStyle/>
            <a:p>
              <a:endParaRPr sz="2400"/>
            </a:p>
          </p:txBody>
        </p:sp>
        <p:sp>
          <p:nvSpPr>
            <p:cNvPr id="50" name="object 50"/>
            <p:cNvSpPr/>
            <p:nvPr/>
          </p:nvSpPr>
          <p:spPr>
            <a:xfrm>
              <a:off x="1575750" y="1999075"/>
              <a:ext cx="6068060" cy="197485"/>
            </a:xfrm>
            <a:custGeom>
              <a:avLst/>
              <a:gdLst/>
              <a:ahLst/>
              <a:cxnLst/>
              <a:rect l="l" t="t" r="r" b="b"/>
              <a:pathLst>
                <a:path w="6068059" h="197485">
                  <a:moveTo>
                    <a:pt x="0" y="0"/>
                  </a:moveTo>
                  <a:lnTo>
                    <a:pt x="6067799" y="0"/>
                  </a:lnTo>
                  <a:lnTo>
                    <a:pt x="6067799" y="197099"/>
                  </a:lnTo>
                  <a:lnTo>
                    <a:pt x="0" y="197099"/>
                  </a:lnTo>
                  <a:lnTo>
                    <a:pt x="0" y="0"/>
                  </a:lnTo>
                  <a:close/>
                </a:path>
              </a:pathLst>
            </a:custGeom>
            <a:ln w="9524">
              <a:solidFill>
                <a:srgbClr val="595959"/>
              </a:solidFill>
            </a:ln>
          </p:spPr>
          <p:txBody>
            <a:bodyPr wrap="square" lIns="0" tIns="0" rIns="0" bIns="0" rtlCol="0"/>
            <a:lstStyle/>
            <a:p>
              <a:endParaRPr sz="2400"/>
            </a:p>
          </p:txBody>
        </p:sp>
        <p:pic>
          <p:nvPicPr>
            <p:cNvPr id="51" name="object 51"/>
            <p:cNvPicPr/>
            <p:nvPr/>
          </p:nvPicPr>
          <p:blipFill>
            <a:blip r:embed="rId2" cstate="print"/>
            <a:stretch>
              <a:fillRect/>
            </a:stretch>
          </p:blipFill>
          <p:spPr>
            <a:xfrm>
              <a:off x="4531245" y="1953098"/>
              <a:ext cx="82509" cy="287352"/>
            </a:xfrm>
            <a:prstGeom prst="rect">
              <a:avLst/>
            </a:prstGeom>
          </p:spPr>
        </p:pic>
        <p:sp>
          <p:nvSpPr>
            <p:cNvPr id="52" name="object 52"/>
            <p:cNvSpPr/>
            <p:nvPr/>
          </p:nvSpPr>
          <p:spPr>
            <a:xfrm>
              <a:off x="421616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3" name="object 53"/>
            <p:cNvSpPr/>
            <p:nvPr/>
          </p:nvSpPr>
          <p:spPr>
            <a:xfrm>
              <a:off x="421616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4696AA"/>
              </a:solidFill>
            </a:ln>
          </p:spPr>
          <p:txBody>
            <a:bodyPr wrap="square" lIns="0" tIns="0" rIns="0" bIns="0" rtlCol="0"/>
            <a:lstStyle/>
            <a:p>
              <a:endParaRPr sz="2400"/>
            </a:p>
          </p:txBody>
        </p:sp>
        <p:sp>
          <p:nvSpPr>
            <p:cNvPr id="54" name="object 54"/>
            <p:cNvSpPr/>
            <p:nvPr/>
          </p:nvSpPr>
          <p:spPr>
            <a:xfrm>
              <a:off x="372243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5" name="object 55"/>
            <p:cNvSpPr/>
            <p:nvPr/>
          </p:nvSpPr>
          <p:spPr>
            <a:xfrm>
              <a:off x="372243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F47272"/>
              </a:solidFill>
            </a:ln>
          </p:spPr>
          <p:txBody>
            <a:bodyPr wrap="square" lIns="0" tIns="0" rIns="0" bIns="0" rtlCol="0"/>
            <a:lstStyle/>
            <a:p>
              <a:endParaRPr sz="2400"/>
            </a:p>
          </p:txBody>
        </p:sp>
        <p:sp>
          <p:nvSpPr>
            <p:cNvPr id="56" name="object 56"/>
            <p:cNvSpPr/>
            <p:nvPr/>
          </p:nvSpPr>
          <p:spPr>
            <a:xfrm>
              <a:off x="4709835"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7" name="object 57"/>
            <p:cNvSpPr/>
            <p:nvPr/>
          </p:nvSpPr>
          <p:spPr>
            <a:xfrm>
              <a:off x="4709835"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5AB46E"/>
              </a:solidFill>
            </a:ln>
          </p:spPr>
          <p:txBody>
            <a:bodyPr wrap="square" lIns="0" tIns="0" rIns="0" bIns="0" rtlCol="0"/>
            <a:lstStyle/>
            <a:p>
              <a:endParaRPr sz="2400"/>
            </a:p>
          </p:txBody>
        </p:sp>
      </p:grpSp>
      <p:sp>
        <p:nvSpPr>
          <p:cNvPr id="58" name="object 58"/>
          <p:cNvSpPr txBox="1"/>
          <p:nvPr/>
        </p:nvSpPr>
        <p:spPr>
          <a:xfrm>
            <a:off x="5100528" y="3600480"/>
            <a:ext cx="1532467" cy="345330"/>
          </a:xfrm>
          <a:prstGeom prst="rect">
            <a:avLst/>
          </a:prstGeom>
        </p:spPr>
        <p:txBody>
          <a:bodyPr vert="horz" wrap="square" lIns="0" tIns="16933" rIns="0" bIns="0" rtlCol="0">
            <a:spAutoFit/>
          </a:bodyPr>
          <a:lstStyle/>
          <a:p>
            <a:pPr>
              <a:spcBef>
                <a:spcPts val="133"/>
              </a:spcBef>
              <a:tabLst>
                <a:tab pos="683243" algn="l"/>
                <a:tab pos="1330925" algn="l"/>
              </a:tabLst>
            </a:pPr>
            <a:r>
              <a:rPr sz="2133" spc="-67" dirty="0">
                <a:latin typeface="Lucida Sans Unicode"/>
                <a:cs typeface="Lucida Sans Unicode"/>
              </a:rPr>
              <a:t>Q</a:t>
            </a:r>
            <a:r>
              <a:rPr sz="2133" dirty="0">
                <a:latin typeface="Lucida Sans Unicode"/>
                <a:cs typeface="Lucida Sans Unicode"/>
              </a:rPr>
              <a:t>	</a:t>
            </a:r>
            <a:r>
              <a:rPr sz="2133" spc="-67" dirty="0">
                <a:latin typeface="Lucida Sans Unicode"/>
                <a:cs typeface="Lucida Sans Unicode"/>
              </a:rPr>
              <a:t>K</a:t>
            </a:r>
            <a:r>
              <a:rPr sz="2133" dirty="0">
                <a:latin typeface="Lucida Sans Unicode"/>
                <a:cs typeface="Lucida Sans Unicode"/>
              </a:rPr>
              <a:t>	</a:t>
            </a:r>
            <a:r>
              <a:rPr sz="2133" spc="-67" dirty="0">
                <a:latin typeface="Lucida Sans Unicode"/>
                <a:cs typeface="Lucida Sans Unicode"/>
              </a:rPr>
              <a:t>V</a:t>
            </a:r>
            <a:endParaRPr sz="2133">
              <a:latin typeface="Lucida Sans Unicode"/>
              <a:cs typeface="Lucida Sans Unicode"/>
            </a:endParaRPr>
          </a:p>
        </p:txBody>
      </p:sp>
      <p:grpSp>
        <p:nvGrpSpPr>
          <p:cNvPr id="59" name="object 59"/>
          <p:cNvGrpSpPr/>
          <p:nvPr/>
        </p:nvGrpSpPr>
        <p:grpSpPr>
          <a:xfrm>
            <a:off x="2357044" y="2383367"/>
            <a:ext cx="7626773" cy="210820"/>
            <a:chOff x="1767783" y="1787525"/>
            <a:chExt cx="5720080" cy="158115"/>
          </a:xfrm>
        </p:grpSpPr>
        <p:sp>
          <p:nvSpPr>
            <p:cNvPr id="60" name="object 60"/>
            <p:cNvSpPr/>
            <p:nvPr/>
          </p:nvSpPr>
          <p:spPr>
            <a:xfrm>
              <a:off x="1772546"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1" name="object 61"/>
            <p:cNvSpPr/>
            <p:nvPr/>
          </p:nvSpPr>
          <p:spPr>
            <a:xfrm>
              <a:off x="1772546"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62" name="object 62"/>
            <p:cNvSpPr/>
            <p:nvPr/>
          </p:nvSpPr>
          <p:spPr>
            <a:xfrm>
              <a:off x="2576982"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3" name="object 63"/>
            <p:cNvSpPr/>
            <p:nvPr/>
          </p:nvSpPr>
          <p:spPr>
            <a:xfrm>
              <a:off x="2576982"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64" name="object 64"/>
            <p:cNvSpPr/>
            <p:nvPr/>
          </p:nvSpPr>
          <p:spPr>
            <a:xfrm>
              <a:off x="3379854"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5" name="object 65"/>
            <p:cNvSpPr/>
            <p:nvPr/>
          </p:nvSpPr>
          <p:spPr>
            <a:xfrm>
              <a:off x="3379854"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66" name="object 66"/>
            <p:cNvSpPr/>
            <p:nvPr/>
          </p:nvSpPr>
          <p:spPr>
            <a:xfrm>
              <a:off x="4985252"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7" name="object 67"/>
            <p:cNvSpPr/>
            <p:nvPr/>
          </p:nvSpPr>
          <p:spPr>
            <a:xfrm>
              <a:off x="4985252"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68" name="object 68"/>
            <p:cNvSpPr/>
            <p:nvPr/>
          </p:nvSpPr>
          <p:spPr>
            <a:xfrm>
              <a:off x="5787227"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9" name="object 69"/>
            <p:cNvSpPr/>
            <p:nvPr/>
          </p:nvSpPr>
          <p:spPr>
            <a:xfrm>
              <a:off x="5787227"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70" name="object 70"/>
            <p:cNvSpPr/>
            <p:nvPr/>
          </p:nvSpPr>
          <p:spPr>
            <a:xfrm>
              <a:off x="6587913"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1" name="object 71"/>
            <p:cNvSpPr/>
            <p:nvPr/>
          </p:nvSpPr>
          <p:spPr>
            <a:xfrm>
              <a:off x="6587913"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72" name="object 72"/>
            <p:cNvSpPr/>
            <p:nvPr/>
          </p:nvSpPr>
          <p:spPr>
            <a:xfrm>
              <a:off x="7391119"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3" name="object 73"/>
            <p:cNvSpPr/>
            <p:nvPr/>
          </p:nvSpPr>
          <p:spPr>
            <a:xfrm>
              <a:off x="7391119"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74" name="object 74"/>
            <p:cNvSpPr/>
            <p:nvPr/>
          </p:nvSpPr>
          <p:spPr>
            <a:xfrm>
              <a:off x="4183062"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5" name="object 75"/>
            <p:cNvSpPr/>
            <p:nvPr/>
          </p:nvSpPr>
          <p:spPr>
            <a:xfrm>
              <a:off x="4183062"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76" name="object 76"/>
          <p:cNvSpPr txBox="1"/>
          <p:nvPr/>
        </p:nvSpPr>
        <p:spPr>
          <a:xfrm>
            <a:off x="6934605" y="3554195"/>
            <a:ext cx="1219200" cy="782137"/>
          </a:xfrm>
          <a:prstGeom prst="rect">
            <a:avLst/>
          </a:prstGeom>
          <a:solidFill>
            <a:srgbClr val="FFFFFF"/>
          </a:solidFill>
          <a:ln w="45724">
            <a:solidFill>
              <a:srgbClr val="E6A064"/>
            </a:solidFill>
          </a:ln>
        </p:spPr>
        <p:txBody>
          <a:bodyPr vert="horz" wrap="square" lIns="0" tIns="124460" rIns="0" bIns="0" rtlCol="0">
            <a:spAutoFit/>
          </a:bodyPr>
          <a:lstStyle/>
          <a:p>
            <a:pPr>
              <a:spcBef>
                <a:spcPts val="980"/>
              </a:spcBef>
            </a:pPr>
            <a:endParaRPr sz="2133">
              <a:latin typeface="Times New Roman"/>
              <a:cs typeface="Times New Roman"/>
            </a:endParaRPr>
          </a:p>
          <a:p>
            <a:pPr algn="ctr">
              <a:lnSpc>
                <a:spcPct val="100000"/>
              </a:lnSpc>
            </a:pPr>
            <a:r>
              <a:rPr sz="2133" spc="20" dirty="0">
                <a:latin typeface="Lucida Sans Unicode"/>
                <a:cs typeface="Lucida Sans Unicode"/>
              </a:rPr>
              <a:t>S</a:t>
            </a:r>
            <a:endParaRPr sz="2133">
              <a:latin typeface="Lucida Sans Unicode"/>
              <a:cs typeface="Lucida Sans Unicode"/>
            </a:endParaRPr>
          </a:p>
        </p:txBody>
      </p:sp>
      <p:grpSp>
        <p:nvGrpSpPr>
          <p:cNvPr id="77" name="object 77"/>
          <p:cNvGrpSpPr/>
          <p:nvPr/>
        </p:nvGrpSpPr>
        <p:grpSpPr>
          <a:xfrm>
            <a:off x="2426576" y="2383290"/>
            <a:ext cx="7496387" cy="1177713"/>
            <a:chOff x="1819932" y="1787467"/>
            <a:chExt cx="5622290" cy="883285"/>
          </a:xfrm>
        </p:grpSpPr>
        <p:sp>
          <p:nvSpPr>
            <p:cNvPr id="78" name="object 78"/>
            <p:cNvSpPr/>
            <p:nvPr/>
          </p:nvSpPr>
          <p:spPr>
            <a:xfrm>
              <a:off x="1845838" y="1992291"/>
              <a:ext cx="3812540" cy="673735"/>
            </a:xfrm>
            <a:custGeom>
              <a:avLst/>
              <a:gdLst/>
              <a:ahLst/>
              <a:cxnLst/>
              <a:rect l="l" t="t" r="r" b="b"/>
              <a:pathLst>
                <a:path w="3812540" h="673735">
                  <a:moveTo>
                    <a:pt x="3812165" y="673355"/>
                  </a:moveTo>
                  <a:lnTo>
                    <a:pt x="3797822" y="635877"/>
                  </a:lnTo>
                  <a:lnTo>
                    <a:pt x="3756193" y="600974"/>
                  </a:lnTo>
                  <a:lnTo>
                    <a:pt x="3714317" y="579039"/>
                  </a:lnTo>
                  <a:lnTo>
                    <a:pt x="3661869" y="558101"/>
                  </a:lnTo>
                  <a:lnTo>
                    <a:pt x="3599470" y="538103"/>
                  </a:lnTo>
                  <a:lnTo>
                    <a:pt x="3527743" y="518985"/>
                  </a:lnTo>
                  <a:lnTo>
                    <a:pt x="3488575" y="509738"/>
                  </a:lnTo>
                  <a:lnTo>
                    <a:pt x="3447309" y="500689"/>
                  </a:lnTo>
                  <a:lnTo>
                    <a:pt x="3404021" y="491831"/>
                  </a:lnTo>
                  <a:lnTo>
                    <a:pt x="3358790" y="483156"/>
                  </a:lnTo>
                  <a:lnTo>
                    <a:pt x="3311693" y="474658"/>
                  </a:lnTo>
                  <a:lnTo>
                    <a:pt x="3262807" y="466328"/>
                  </a:lnTo>
                  <a:lnTo>
                    <a:pt x="3212212" y="458160"/>
                  </a:lnTo>
                  <a:lnTo>
                    <a:pt x="3159984" y="450145"/>
                  </a:lnTo>
                  <a:lnTo>
                    <a:pt x="3106202" y="442278"/>
                  </a:lnTo>
                  <a:lnTo>
                    <a:pt x="3050942" y="434550"/>
                  </a:lnTo>
                  <a:lnTo>
                    <a:pt x="2994283" y="426954"/>
                  </a:lnTo>
                  <a:lnTo>
                    <a:pt x="2936302" y="419483"/>
                  </a:lnTo>
                  <a:lnTo>
                    <a:pt x="2877078" y="412129"/>
                  </a:lnTo>
                  <a:lnTo>
                    <a:pt x="2816687" y="404885"/>
                  </a:lnTo>
                  <a:lnTo>
                    <a:pt x="2755209" y="397744"/>
                  </a:lnTo>
                  <a:lnTo>
                    <a:pt x="2692719" y="390699"/>
                  </a:lnTo>
                  <a:lnTo>
                    <a:pt x="2629297" y="383742"/>
                  </a:lnTo>
                  <a:lnTo>
                    <a:pt x="2565019" y="376865"/>
                  </a:lnTo>
                  <a:lnTo>
                    <a:pt x="2499965" y="370062"/>
                  </a:lnTo>
                  <a:lnTo>
                    <a:pt x="2434210" y="363325"/>
                  </a:lnTo>
                  <a:lnTo>
                    <a:pt x="2367834" y="356646"/>
                  </a:lnTo>
                  <a:lnTo>
                    <a:pt x="2300913" y="350019"/>
                  </a:lnTo>
                  <a:lnTo>
                    <a:pt x="2233526" y="343436"/>
                  </a:lnTo>
                  <a:lnTo>
                    <a:pt x="2165750" y="336890"/>
                  </a:lnTo>
                  <a:lnTo>
                    <a:pt x="2097664" y="330373"/>
                  </a:lnTo>
                  <a:lnTo>
                    <a:pt x="2029344" y="323878"/>
                  </a:lnTo>
                  <a:lnTo>
                    <a:pt x="1960868" y="317398"/>
                  </a:lnTo>
                  <a:lnTo>
                    <a:pt x="1892315" y="310925"/>
                  </a:lnTo>
                  <a:lnTo>
                    <a:pt x="1836942" y="305698"/>
                  </a:lnTo>
                  <a:lnTo>
                    <a:pt x="1781609" y="300467"/>
                  </a:lnTo>
                  <a:lnTo>
                    <a:pt x="1726359" y="295227"/>
                  </a:lnTo>
                  <a:lnTo>
                    <a:pt x="1671231" y="289977"/>
                  </a:lnTo>
                  <a:lnTo>
                    <a:pt x="1616267" y="284711"/>
                  </a:lnTo>
                  <a:lnTo>
                    <a:pt x="1561508" y="279425"/>
                  </a:lnTo>
                  <a:lnTo>
                    <a:pt x="1506995" y="274117"/>
                  </a:lnTo>
                  <a:lnTo>
                    <a:pt x="1452768" y="268781"/>
                  </a:lnTo>
                  <a:lnTo>
                    <a:pt x="1398869" y="263415"/>
                  </a:lnTo>
                  <a:lnTo>
                    <a:pt x="1345339" y="258013"/>
                  </a:lnTo>
                  <a:lnTo>
                    <a:pt x="1292219" y="252574"/>
                  </a:lnTo>
                  <a:lnTo>
                    <a:pt x="1239549" y="247091"/>
                  </a:lnTo>
                  <a:lnTo>
                    <a:pt x="1187370" y="241562"/>
                  </a:lnTo>
                  <a:lnTo>
                    <a:pt x="1135724" y="235983"/>
                  </a:lnTo>
                  <a:lnTo>
                    <a:pt x="1084652" y="230350"/>
                  </a:lnTo>
                  <a:lnTo>
                    <a:pt x="1034194" y="224659"/>
                  </a:lnTo>
                  <a:lnTo>
                    <a:pt x="984391" y="218906"/>
                  </a:lnTo>
                  <a:lnTo>
                    <a:pt x="935285" y="213088"/>
                  </a:lnTo>
                  <a:lnTo>
                    <a:pt x="886916" y="207200"/>
                  </a:lnTo>
                  <a:lnTo>
                    <a:pt x="839325" y="201238"/>
                  </a:lnTo>
                  <a:lnTo>
                    <a:pt x="792554" y="195199"/>
                  </a:lnTo>
                  <a:lnTo>
                    <a:pt x="746642" y="189079"/>
                  </a:lnTo>
                  <a:lnTo>
                    <a:pt x="701632" y="182874"/>
                  </a:lnTo>
                  <a:lnTo>
                    <a:pt x="657564" y="176580"/>
                  </a:lnTo>
                  <a:lnTo>
                    <a:pt x="614479" y="170193"/>
                  </a:lnTo>
                  <a:lnTo>
                    <a:pt x="572418" y="163709"/>
                  </a:lnTo>
                  <a:lnTo>
                    <a:pt x="513555" y="154166"/>
                  </a:lnTo>
                  <a:lnTo>
                    <a:pt x="457036" y="144401"/>
                  </a:lnTo>
                  <a:lnTo>
                    <a:pt x="402987" y="134404"/>
                  </a:lnTo>
                  <a:lnTo>
                    <a:pt x="351530" y="124161"/>
                  </a:lnTo>
                  <a:lnTo>
                    <a:pt x="302789" y="113663"/>
                  </a:lnTo>
                  <a:lnTo>
                    <a:pt x="256887" y="102896"/>
                  </a:lnTo>
                  <a:lnTo>
                    <a:pt x="213948" y="91850"/>
                  </a:lnTo>
                  <a:lnTo>
                    <a:pt x="174095" y="80512"/>
                  </a:lnTo>
                  <a:lnTo>
                    <a:pt x="137452" y="68872"/>
                  </a:lnTo>
                  <a:lnTo>
                    <a:pt x="100219" y="55400"/>
                  </a:lnTo>
                  <a:lnTo>
                    <a:pt x="39110" y="27195"/>
                  </a:lnTo>
                  <a:lnTo>
                    <a:pt x="5659" y="4873"/>
                  </a:lnTo>
                  <a:lnTo>
                    <a:pt x="1164" y="1051"/>
                  </a:lnTo>
                  <a:lnTo>
                    <a:pt x="0" y="0"/>
                  </a:lnTo>
                </a:path>
              </a:pathLst>
            </a:custGeom>
            <a:ln w="9724">
              <a:solidFill>
                <a:srgbClr val="E6A064"/>
              </a:solidFill>
            </a:ln>
          </p:spPr>
          <p:txBody>
            <a:bodyPr wrap="square" lIns="0" tIns="0" rIns="0" bIns="0" rtlCol="0"/>
            <a:lstStyle/>
            <a:p>
              <a:endParaRPr sz="2400"/>
            </a:p>
          </p:txBody>
        </p:sp>
        <p:sp>
          <p:nvSpPr>
            <p:cNvPr id="79" name="object 79"/>
            <p:cNvSpPr/>
            <p:nvPr/>
          </p:nvSpPr>
          <p:spPr>
            <a:xfrm>
              <a:off x="1825012" y="1953381"/>
              <a:ext cx="35560" cy="46990"/>
            </a:xfrm>
            <a:custGeom>
              <a:avLst/>
              <a:gdLst/>
              <a:ahLst/>
              <a:cxnLst/>
              <a:rect l="l" t="t" r="r" b="b"/>
              <a:pathLst>
                <a:path w="35560" h="46989">
                  <a:moveTo>
                    <a:pt x="6663" y="46490"/>
                  </a:moveTo>
                  <a:lnTo>
                    <a:pt x="0" y="0"/>
                  </a:lnTo>
                  <a:lnTo>
                    <a:pt x="34987" y="31330"/>
                  </a:lnTo>
                  <a:lnTo>
                    <a:pt x="6663" y="46490"/>
                  </a:lnTo>
                  <a:close/>
                </a:path>
              </a:pathLst>
            </a:custGeom>
            <a:solidFill>
              <a:srgbClr val="E6A064"/>
            </a:solidFill>
          </p:spPr>
          <p:txBody>
            <a:bodyPr wrap="square" lIns="0" tIns="0" rIns="0" bIns="0" rtlCol="0"/>
            <a:lstStyle/>
            <a:p>
              <a:endParaRPr sz="2400"/>
            </a:p>
          </p:txBody>
        </p:sp>
        <p:sp>
          <p:nvSpPr>
            <p:cNvPr id="80" name="object 80"/>
            <p:cNvSpPr/>
            <p:nvPr/>
          </p:nvSpPr>
          <p:spPr>
            <a:xfrm>
              <a:off x="1825012" y="1953381"/>
              <a:ext cx="35560" cy="46990"/>
            </a:xfrm>
            <a:custGeom>
              <a:avLst/>
              <a:gdLst/>
              <a:ahLst/>
              <a:cxnLst/>
              <a:rect l="l" t="t" r="r" b="b"/>
              <a:pathLst>
                <a:path w="35560" h="46989">
                  <a:moveTo>
                    <a:pt x="34987" y="31330"/>
                  </a:moveTo>
                  <a:lnTo>
                    <a:pt x="0" y="0"/>
                  </a:lnTo>
                  <a:lnTo>
                    <a:pt x="6663" y="46490"/>
                  </a:lnTo>
                  <a:lnTo>
                    <a:pt x="34987" y="31330"/>
                  </a:lnTo>
                  <a:close/>
                </a:path>
              </a:pathLst>
            </a:custGeom>
            <a:ln w="9724">
              <a:solidFill>
                <a:srgbClr val="E6A064"/>
              </a:solidFill>
            </a:ln>
          </p:spPr>
          <p:txBody>
            <a:bodyPr wrap="square" lIns="0" tIns="0" rIns="0" bIns="0" rtlCol="0"/>
            <a:lstStyle/>
            <a:p>
              <a:endParaRPr sz="2400"/>
            </a:p>
          </p:txBody>
        </p:sp>
        <p:sp>
          <p:nvSpPr>
            <p:cNvPr id="81" name="object 81"/>
            <p:cNvSpPr/>
            <p:nvPr/>
          </p:nvSpPr>
          <p:spPr>
            <a:xfrm>
              <a:off x="2646117" y="1994249"/>
              <a:ext cx="3012440" cy="671830"/>
            </a:xfrm>
            <a:custGeom>
              <a:avLst/>
              <a:gdLst/>
              <a:ahLst/>
              <a:cxnLst/>
              <a:rect l="l" t="t" r="r" b="b"/>
              <a:pathLst>
                <a:path w="3012440" h="671830">
                  <a:moveTo>
                    <a:pt x="3011886" y="671397"/>
                  </a:moveTo>
                  <a:lnTo>
                    <a:pt x="2994683" y="625482"/>
                  </a:lnTo>
                  <a:lnTo>
                    <a:pt x="2965066" y="597039"/>
                  </a:lnTo>
                  <a:lnTo>
                    <a:pt x="2922011" y="570201"/>
                  </a:lnTo>
                  <a:lnTo>
                    <a:pt x="2866445" y="544856"/>
                  </a:lnTo>
                  <a:lnTo>
                    <a:pt x="2799294" y="520894"/>
                  </a:lnTo>
                  <a:lnTo>
                    <a:pt x="2761665" y="509397"/>
                  </a:lnTo>
                  <a:lnTo>
                    <a:pt x="2721486" y="498205"/>
                  </a:lnTo>
                  <a:lnTo>
                    <a:pt x="2678875" y="487303"/>
                  </a:lnTo>
                  <a:lnTo>
                    <a:pt x="2633948" y="476678"/>
                  </a:lnTo>
                  <a:lnTo>
                    <a:pt x="2586819" y="466315"/>
                  </a:lnTo>
                  <a:lnTo>
                    <a:pt x="2537605" y="456202"/>
                  </a:lnTo>
                  <a:lnTo>
                    <a:pt x="2486421" y="446323"/>
                  </a:lnTo>
                  <a:lnTo>
                    <a:pt x="2433385" y="436666"/>
                  </a:lnTo>
                  <a:lnTo>
                    <a:pt x="2378610" y="427217"/>
                  </a:lnTo>
                  <a:lnTo>
                    <a:pt x="2322214" y="417961"/>
                  </a:lnTo>
                  <a:lnTo>
                    <a:pt x="2264311" y="408885"/>
                  </a:lnTo>
                  <a:lnTo>
                    <a:pt x="2205019" y="399975"/>
                  </a:lnTo>
                  <a:lnTo>
                    <a:pt x="2144452" y="391217"/>
                  </a:lnTo>
                  <a:lnTo>
                    <a:pt x="2082727" y="382598"/>
                  </a:lnTo>
                  <a:lnTo>
                    <a:pt x="2019960" y="374103"/>
                  </a:lnTo>
                  <a:lnTo>
                    <a:pt x="1956265" y="365719"/>
                  </a:lnTo>
                  <a:lnTo>
                    <a:pt x="1891760" y="357432"/>
                  </a:lnTo>
                  <a:lnTo>
                    <a:pt x="1826559" y="349227"/>
                  </a:lnTo>
                  <a:lnTo>
                    <a:pt x="1760780" y="341092"/>
                  </a:lnTo>
                  <a:lnTo>
                    <a:pt x="1694537" y="333013"/>
                  </a:lnTo>
                  <a:lnTo>
                    <a:pt x="1627946" y="324975"/>
                  </a:lnTo>
                  <a:lnTo>
                    <a:pt x="1561124" y="316964"/>
                  </a:lnTo>
                  <a:lnTo>
                    <a:pt x="1494186" y="308968"/>
                  </a:lnTo>
                  <a:lnTo>
                    <a:pt x="1439993" y="302495"/>
                  </a:lnTo>
                  <a:lnTo>
                    <a:pt x="1385861" y="296015"/>
                  </a:lnTo>
                  <a:lnTo>
                    <a:pt x="1331852" y="289521"/>
                  </a:lnTo>
                  <a:lnTo>
                    <a:pt x="1278027" y="283004"/>
                  </a:lnTo>
                  <a:lnTo>
                    <a:pt x="1224448" y="276458"/>
                  </a:lnTo>
                  <a:lnTo>
                    <a:pt x="1171177" y="269876"/>
                  </a:lnTo>
                  <a:lnTo>
                    <a:pt x="1118274" y="263249"/>
                  </a:lnTo>
                  <a:lnTo>
                    <a:pt x="1065802" y="256572"/>
                  </a:lnTo>
                  <a:lnTo>
                    <a:pt x="1013821" y="249835"/>
                  </a:lnTo>
                  <a:lnTo>
                    <a:pt x="962393" y="243033"/>
                  </a:lnTo>
                  <a:lnTo>
                    <a:pt x="911580" y="236157"/>
                  </a:lnTo>
                  <a:lnTo>
                    <a:pt x="861442" y="229201"/>
                  </a:lnTo>
                  <a:lnTo>
                    <a:pt x="812042" y="222156"/>
                  </a:lnTo>
                  <a:lnTo>
                    <a:pt x="763442" y="215017"/>
                  </a:lnTo>
                  <a:lnTo>
                    <a:pt x="715701" y="207774"/>
                  </a:lnTo>
                  <a:lnTo>
                    <a:pt x="668882" y="200422"/>
                  </a:lnTo>
                  <a:lnTo>
                    <a:pt x="623047" y="192952"/>
                  </a:lnTo>
                  <a:lnTo>
                    <a:pt x="578256" y="185357"/>
                  </a:lnTo>
                  <a:lnTo>
                    <a:pt x="534572" y="177630"/>
                  </a:lnTo>
                  <a:lnTo>
                    <a:pt x="492055" y="169764"/>
                  </a:lnTo>
                  <a:lnTo>
                    <a:pt x="450767" y="161752"/>
                  </a:lnTo>
                  <a:lnTo>
                    <a:pt x="391275" y="149442"/>
                  </a:lnTo>
                  <a:lnTo>
                    <a:pt x="334893" y="136760"/>
                  </a:lnTo>
                  <a:lnTo>
                    <a:pt x="281830" y="123682"/>
                  </a:lnTo>
                  <a:lnTo>
                    <a:pt x="232294" y="110184"/>
                  </a:lnTo>
                  <a:lnTo>
                    <a:pt x="186490" y="96239"/>
                  </a:lnTo>
                  <a:lnTo>
                    <a:pt x="144628" y="81824"/>
                  </a:lnTo>
                  <a:lnTo>
                    <a:pt x="106913" y="66914"/>
                  </a:lnTo>
                  <a:lnTo>
                    <a:pt x="51519" y="39556"/>
                  </a:lnTo>
                  <a:lnTo>
                    <a:pt x="10575" y="10471"/>
                  </a:lnTo>
                  <a:lnTo>
                    <a:pt x="919" y="1008"/>
                  </a:lnTo>
                  <a:lnTo>
                    <a:pt x="0" y="0"/>
                  </a:lnTo>
                </a:path>
              </a:pathLst>
            </a:custGeom>
            <a:ln w="9724">
              <a:solidFill>
                <a:srgbClr val="E6A064"/>
              </a:solidFill>
            </a:ln>
          </p:spPr>
          <p:txBody>
            <a:bodyPr wrap="square" lIns="0" tIns="0" rIns="0" bIns="0" rtlCol="0"/>
            <a:lstStyle/>
            <a:p>
              <a:endParaRPr sz="2400"/>
            </a:p>
          </p:txBody>
        </p:sp>
        <p:sp>
          <p:nvSpPr>
            <p:cNvPr id="82" name="object 82"/>
            <p:cNvSpPr/>
            <p:nvPr/>
          </p:nvSpPr>
          <p:spPr>
            <a:xfrm>
              <a:off x="2628333" y="1953858"/>
              <a:ext cx="33020" cy="46990"/>
            </a:xfrm>
            <a:custGeom>
              <a:avLst/>
              <a:gdLst/>
              <a:ahLst/>
              <a:cxnLst/>
              <a:rect l="l" t="t" r="r" b="b"/>
              <a:pathLst>
                <a:path w="33019" h="46989">
                  <a:moveTo>
                    <a:pt x="3083" y="46864"/>
                  </a:moveTo>
                  <a:lnTo>
                    <a:pt x="0" y="0"/>
                  </a:lnTo>
                  <a:lnTo>
                    <a:pt x="32485" y="33917"/>
                  </a:lnTo>
                  <a:lnTo>
                    <a:pt x="3083" y="46864"/>
                  </a:lnTo>
                  <a:close/>
                </a:path>
              </a:pathLst>
            </a:custGeom>
            <a:solidFill>
              <a:srgbClr val="E6A064"/>
            </a:solidFill>
          </p:spPr>
          <p:txBody>
            <a:bodyPr wrap="square" lIns="0" tIns="0" rIns="0" bIns="0" rtlCol="0"/>
            <a:lstStyle/>
            <a:p>
              <a:endParaRPr sz="2400"/>
            </a:p>
          </p:txBody>
        </p:sp>
        <p:sp>
          <p:nvSpPr>
            <p:cNvPr id="83" name="object 83"/>
            <p:cNvSpPr/>
            <p:nvPr/>
          </p:nvSpPr>
          <p:spPr>
            <a:xfrm>
              <a:off x="2628333" y="1953858"/>
              <a:ext cx="33020" cy="46990"/>
            </a:xfrm>
            <a:custGeom>
              <a:avLst/>
              <a:gdLst/>
              <a:ahLst/>
              <a:cxnLst/>
              <a:rect l="l" t="t" r="r" b="b"/>
              <a:pathLst>
                <a:path w="33019" h="46989">
                  <a:moveTo>
                    <a:pt x="32485" y="33917"/>
                  </a:moveTo>
                  <a:lnTo>
                    <a:pt x="0" y="0"/>
                  </a:lnTo>
                  <a:lnTo>
                    <a:pt x="3083" y="46864"/>
                  </a:lnTo>
                  <a:lnTo>
                    <a:pt x="32485" y="33917"/>
                  </a:lnTo>
                  <a:close/>
                </a:path>
              </a:pathLst>
            </a:custGeom>
            <a:ln w="9724">
              <a:solidFill>
                <a:srgbClr val="E6A064"/>
              </a:solidFill>
            </a:ln>
          </p:spPr>
          <p:txBody>
            <a:bodyPr wrap="square" lIns="0" tIns="0" rIns="0" bIns="0" rtlCol="0"/>
            <a:lstStyle/>
            <a:p>
              <a:endParaRPr sz="2400"/>
            </a:p>
          </p:txBody>
        </p:sp>
        <p:sp>
          <p:nvSpPr>
            <p:cNvPr id="84" name="object 84"/>
            <p:cNvSpPr/>
            <p:nvPr/>
          </p:nvSpPr>
          <p:spPr>
            <a:xfrm>
              <a:off x="3444298" y="1996154"/>
              <a:ext cx="2214245" cy="669925"/>
            </a:xfrm>
            <a:custGeom>
              <a:avLst/>
              <a:gdLst/>
              <a:ahLst/>
              <a:cxnLst/>
              <a:rect l="l" t="t" r="r" b="b"/>
              <a:pathLst>
                <a:path w="2214245" h="669925">
                  <a:moveTo>
                    <a:pt x="2213705" y="669491"/>
                  </a:moveTo>
                  <a:lnTo>
                    <a:pt x="2204053" y="629240"/>
                  </a:lnTo>
                  <a:lnTo>
                    <a:pt x="2176111" y="591957"/>
                  </a:lnTo>
                  <a:lnTo>
                    <a:pt x="2131404" y="557397"/>
                  </a:lnTo>
                  <a:lnTo>
                    <a:pt x="2071456" y="525310"/>
                  </a:lnTo>
                  <a:lnTo>
                    <a:pt x="2036243" y="510118"/>
                  </a:lnTo>
                  <a:lnTo>
                    <a:pt x="1997791" y="495451"/>
                  </a:lnTo>
                  <a:lnTo>
                    <a:pt x="1956291" y="481279"/>
                  </a:lnTo>
                  <a:lnTo>
                    <a:pt x="1911933" y="467571"/>
                  </a:lnTo>
                  <a:lnTo>
                    <a:pt x="1864908" y="454296"/>
                  </a:lnTo>
                  <a:lnTo>
                    <a:pt x="1815407" y="441424"/>
                  </a:lnTo>
                  <a:lnTo>
                    <a:pt x="1763619" y="428922"/>
                  </a:lnTo>
                  <a:lnTo>
                    <a:pt x="1709736" y="416761"/>
                  </a:lnTo>
                  <a:lnTo>
                    <a:pt x="1653947" y="404909"/>
                  </a:lnTo>
                  <a:lnTo>
                    <a:pt x="1596444" y="393336"/>
                  </a:lnTo>
                  <a:lnTo>
                    <a:pt x="1537417" y="382010"/>
                  </a:lnTo>
                  <a:lnTo>
                    <a:pt x="1477056" y="370901"/>
                  </a:lnTo>
                  <a:lnTo>
                    <a:pt x="1415553" y="359977"/>
                  </a:lnTo>
                  <a:lnTo>
                    <a:pt x="1353096" y="349209"/>
                  </a:lnTo>
                  <a:lnTo>
                    <a:pt x="1289878" y="338564"/>
                  </a:lnTo>
                  <a:lnTo>
                    <a:pt x="1226088" y="328012"/>
                  </a:lnTo>
                  <a:lnTo>
                    <a:pt x="1161917" y="317521"/>
                  </a:lnTo>
                  <a:lnTo>
                    <a:pt x="1097555" y="307062"/>
                  </a:lnTo>
                  <a:lnTo>
                    <a:pt x="1041768" y="297999"/>
                  </a:lnTo>
                  <a:lnTo>
                    <a:pt x="986106" y="288916"/>
                  </a:lnTo>
                  <a:lnTo>
                    <a:pt x="930691" y="279792"/>
                  </a:lnTo>
                  <a:lnTo>
                    <a:pt x="875648" y="270608"/>
                  </a:lnTo>
                  <a:lnTo>
                    <a:pt x="821101" y="261344"/>
                  </a:lnTo>
                  <a:lnTo>
                    <a:pt x="767175" y="251979"/>
                  </a:lnTo>
                  <a:lnTo>
                    <a:pt x="713992" y="242494"/>
                  </a:lnTo>
                  <a:lnTo>
                    <a:pt x="661678" y="232867"/>
                  </a:lnTo>
                  <a:lnTo>
                    <a:pt x="610356" y="223080"/>
                  </a:lnTo>
                  <a:lnTo>
                    <a:pt x="560150" y="213111"/>
                  </a:lnTo>
                  <a:lnTo>
                    <a:pt x="511184" y="202941"/>
                  </a:lnTo>
                  <a:lnTo>
                    <a:pt x="463582" y="192550"/>
                  </a:lnTo>
                  <a:lnTo>
                    <a:pt x="417469" y="181917"/>
                  </a:lnTo>
                  <a:lnTo>
                    <a:pt x="372967" y="171023"/>
                  </a:lnTo>
                  <a:lnTo>
                    <a:pt x="330202" y="159846"/>
                  </a:lnTo>
                  <a:lnTo>
                    <a:pt x="269581" y="142510"/>
                  </a:lnTo>
                  <a:lnTo>
                    <a:pt x="213565" y="124425"/>
                  </a:lnTo>
                  <a:lnTo>
                    <a:pt x="162570" y="105526"/>
                  </a:lnTo>
                  <a:lnTo>
                    <a:pt x="117018" y="85743"/>
                  </a:lnTo>
                  <a:lnTo>
                    <a:pt x="77324" y="65009"/>
                  </a:lnTo>
                  <a:lnTo>
                    <a:pt x="36586" y="37650"/>
                  </a:lnTo>
                  <a:lnTo>
                    <a:pt x="6475" y="8566"/>
                  </a:lnTo>
                  <a:lnTo>
                    <a:pt x="704" y="1010"/>
                  </a:lnTo>
                  <a:lnTo>
                    <a:pt x="0" y="0"/>
                  </a:lnTo>
                </a:path>
              </a:pathLst>
            </a:custGeom>
            <a:ln w="9724">
              <a:solidFill>
                <a:srgbClr val="E6A064"/>
              </a:solidFill>
            </a:ln>
          </p:spPr>
          <p:txBody>
            <a:bodyPr wrap="square" lIns="0" tIns="0" rIns="0" bIns="0" rtlCol="0"/>
            <a:lstStyle/>
            <a:p>
              <a:endParaRPr sz="2400"/>
            </a:p>
          </p:txBody>
        </p:sp>
        <p:sp>
          <p:nvSpPr>
            <p:cNvPr id="85" name="object 85"/>
            <p:cNvSpPr/>
            <p:nvPr/>
          </p:nvSpPr>
          <p:spPr>
            <a:xfrm>
              <a:off x="3429072" y="1954322"/>
              <a:ext cx="30480" cy="46990"/>
            </a:xfrm>
            <a:custGeom>
              <a:avLst/>
              <a:gdLst/>
              <a:ahLst/>
              <a:cxnLst/>
              <a:rect l="l" t="t" r="r" b="b"/>
              <a:pathLst>
                <a:path w="30479" h="46989">
                  <a:moveTo>
                    <a:pt x="0" y="46950"/>
                  </a:moveTo>
                  <a:lnTo>
                    <a:pt x="1162" y="0"/>
                  </a:lnTo>
                  <a:lnTo>
                    <a:pt x="30451" y="36713"/>
                  </a:lnTo>
                  <a:lnTo>
                    <a:pt x="0" y="46950"/>
                  </a:lnTo>
                  <a:close/>
                </a:path>
              </a:pathLst>
            </a:custGeom>
            <a:solidFill>
              <a:srgbClr val="E6A064"/>
            </a:solidFill>
          </p:spPr>
          <p:txBody>
            <a:bodyPr wrap="square" lIns="0" tIns="0" rIns="0" bIns="0" rtlCol="0"/>
            <a:lstStyle/>
            <a:p>
              <a:endParaRPr sz="2400"/>
            </a:p>
          </p:txBody>
        </p:sp>
        <p:sp>
          <p:nvSpPr>
            <p:cNvPr id="86" name="object 86"/>
            <p:cNvSpPr/>
            <p:nvPr/>
          </p:nvSpPr>
          <p:spPr>
            <a:xfrm>
              <a:off x="3429072" y="1954322"/>
              <a:ext cx="30480" cy="46990"/>
            </a:xfrm>
            <a:custGeom>
              <a:avLst/>
              <a:gdLst/>
              <a:ahLst/>
              <a:cxnLst/>
              <a:rect l="l" t="t" r="r" b="b"/>
              <a:pathLst>
                <a:path w="30479" h="46989">
                  <a:moveTo>
                    <a:pt x="30451" y="36713"/>
                  </a:moveTo>
                  <a:lnTo>
                    <a:pt x="1162" y="0"/>
                  </a:lnTo>
                  <a:lnTo>
                    <a:pt x="0" y="46950"/>
                  </a:lnTo>
                  <a:lnTo>
                    <a:pt x="30451" y="36713"/>
                  </a:lnTo>
                  <a:close/>
                </a:path>
              </a:pathLst>
            </a:custGeom>
            <a:ln w="9724">
              <a:solidFill>
                <a:srgbClr val="E6A064"/>
              </a:solidFill>
            </a:ln>
          </p:spPr>
          <p:txBody>
            <a:bodyPr wrap="square" lIns="0" tIns="0" rIns="0" bIns="0" rtlCol="0"/>
            <a:lstStyle/>
            <a:p>
              <a:endParaRPr sz="2400"/>
            </a:p>
          </p:txBody>
        </p:sp>
        <p:sp>
          <p:nvSpPr>
            <p:cNvPr id="87" name="object 87"/>
            <p:cNvSpPr/>
            <p:nvPr/>
          </p:nvSpPr>
          <p:spPr>
            <a:xfrm>
              <a:off x="4241463" y="1997807"/>
              <a:ext cx="1416685" cy="668020"/>
            </a:xfrm>
            <a:custGeom>
              <a:avLst/>
              <a:gdLst/>
              <a:ahLst/>
              <a:cxnLst/>
              <a:rect l="l" t="t" r="r" b="b"/>
              <a:pathLst>
                <a:path w="1416685" h="668019">
                  <a:moveTo>
                    <a:pt x="1416541" y="667839"/>
                  </a:moveTo>
                  <a:lnTo>
                    <a:pt x="1403798" y="610666"/>
                  </a:lnTo>
                  <a:lnTo>
                    <a:pt x="1367528" y="559458"/>
                  </a:lnTo>
                  <a:lnTo>
                    <a:pt x="1310674" y="513470"/>
                  </a:lnTo>
                  <a:lnTo>
                    <a:pt x="1275446" y="492200"/>
                  </a:lnTo>
                  <a:lnTo>
                    <a:pt x="1236175" y="471956"/>
                  </a:lnTo>
                  <a:lnTo>
                    <a:pt x="1193228" y="452644"/>
                  </a:lnTo>
                  <a:lnTo>
                    <a:pt x="1146973" y="434171"/>
                  </a:lnTo>
                  <a:lnTo>
                    <a:pt x="1097777" y="416444"/>
                  </a:lnTo>
                  <a:lnTo>
                    <a:pt x="1046007" y="399370"/>
                  </a:lnTo>
                  <a:lnTo>
                    <a:pt x="992033" y="382855"/>
                  </a:lnTo>
                  <a:lnTo>
                    <a:pt x="936220" y="366806"/>
                  </a:lnTo>
                  <a:lnTo>
                    <a:pt x="878937" y="351131"/>
                  </a:lnTo>
                  <a:lnTo>
                    <a:pt x="820551" y="335735"/>
                  </a:lnTo>
                  <a:lnTo>
                    <a:pt x="761429" y="320526"/>
                  </a:lnTo>
                  <a:lnTo>
                    <a:pt x="701941" y="305410"/>
                  </a:lnTo>
                  <a:lnTo>
                    <a:pt x="648390" y="291809"/>
                  </a:lnTo>
                  <a:lnTo>
                    <a:pt x="595108" y="278140"/>
                  </a:lnTo>
                  <a:lnTo>
                    <a:pt x="542362" y="264335"/>
                  </a:lnTo>
                  <a:lnTo>
                    <a:pt x="490419" y="250327"/>
                  </a:lnTo>
                  <a:lnTo>
                    <a:pt x="439549" y="236047"/>
                  </a:lnTo>
                  <a:lnTo>
                    <a:pt x="390018" y="221427"/>
                  </a:lnTo>
                  <a:lnTo>
                    <a:pt x="342095" y="206400"/>
                  </a:lnTo>
                  <a:lnTo>
                    <a:pt x="296048" y="190898"/>
                  </a:lnTo>
                  <a:lnTo>
                    <a:pt x="252145" y="174852"/>
                  </a:lnTo>
                  <a:lnTo>
                    <a:pt x="210653" y="158194"/>
                  </a:lnTo>
                  <a:lnTo>
                    <a:pt x="162589" y="136409"/>
                  </a:lnTo>
                  <a:lnTo>
                    <a:pt x="119235" y="113429"/>
                  </a:lnTo>
                  <a:lnTo>
                    <a:pt x="81115" y="89123"/>
                  </a:lnTo>
                  <a:lnTo>
                    <a:pt x="48752" y="63356"/>
                  </a:lnTo>
                  <a:lnTo>
                    <a:pt x="12147" y="21680"/>
                  </a:lnTo>
                  <a:lnTo>
                    <a:pt x="1486" y="3150"/>
                  </a:lnTo>
                  <a:lnTo>
                    <a:pt x="0" y="0"/>
                  </a:lnTo>
                </a:path>
              </a:pathLst>
            </a:custGeom>
            <a:ln w="9724">
              <a:solidFill>
                <a:srgbClr val="E6A064"/>
              </a:solidFill>
            </a:ln>
          </p:spPr>
          <p:txBody>
            <a:bodyPr wrap="square" lIns="0" tIns="0" rIns="0" bIns="0" rtlCol="0"/>
            <a:lstStyle/>
            <a:p>
              <a:endParaRPr sz="2400"/>
            </a:p>
          </p:txBody>
        </p:sp>
        <p:sp>
          <p:nvSpPr>
            <p:cNvPr id="88" name="object 88"/>
            <p:cNvSpPr/>
            <p:nvPr/>
          </p:nvSpPr>
          <p:spPr>
            <a:xfrm>
              <a:off x="4225781" y="1954725"/>
              <a:ext cx="31750" cy="46990"/>
            </a:xfrm>
            <a:custGeom>
              <a:avLst/>
              <a:gdLst/>
              <a:ahLst/>
              <a:cxnLst/>
              <a:rect l="l" t="t" r="r" b="b"/>
              <a:pathLst>
                <a:path w="31750" h="46989">
                  <a:moveTo>
                    <a:pt x="0" y="46566"/>
                  </a:moveTo>
                  <a:lnTo>
                    <a:pt x="6106" y="0"/>
                  </a:lnTo>
                  <a:lnTo>
                    <a:pt x="31361" y="39597"/>
                  </a:lnTo>
                  <a:lnTo>
                    <a:pt x="0" y="46566"/>
                  </a:lnTo>
                  <a:close/>
                </a:path>
              </a:pathLst>
            </a:custGeom>
            <a:solidFill>
              <a:srgbClr val="E6A064"/>
            </a:solidFill>
          </p:spPr>
          <p:txBody>
            <a:bodyPr wrap="square" lIns="0" tIns="0" rIns="0" bIns="0" rtlCol="0"/>
            <a:lstStyle/>
            <a:p>
              <a:endParaRPr sz="2400"/>
            </a:p>
          </p:txBody>
        </p:sp>
        <p:sp>
          <p:nvSpPr>
            <p:cNvPr id="89" name="object 89"/>
            <p:cNvSpPr/>
            <p:nvPr/>
          </p:nvSpPr>
          <p:spPr>
            <a:xfrm>
              <a:off x="4225781" y="1954725"/>
              <a:ext cx="31750" cy="46990"/>
            </a:xfrm>
            <a:custGeom>
              <a:avLst/>
              <a:gdLst/>
              <a:ahLst/>
              <a:cxnLst/>
              <a:rect l="l" t="t" r="r" b="b"/>
              <a:pathLst>
                <a:path w="31750" h="46989">
                  <a:moveTo>
                    <a:pt x="31361" y="39597"/>
                  </a:moveTo>
                  <a:lnTo>
                    <a:pt x="6106" y="0"/>
                  </a:lnTo>
                  <a:lnTo>
                    <a:pt x="0" y="46566"/>
                  </a:lnTo>
                  <a:lnTo>
                    <a:pt x="31361" y="39597"/>
                  </a:lnTo>
                  <a:close/>
                </a:path>
              </a:pathLst>
            </a:custGeom>
            <a:ln w="9724">
              <a:solidFill>
                <a:srgbClr val="E6A064"/>
              </a:solidFill>
            </a:ln>
          </p:spPr>
          <p:txBody>
            <a:bodyPr wrap="square" lIns="0" tIns="0" rIns="0" bIns="0" rtlCol="0"/>
            <a:lstStyle/>
            <a:p>
              <a:endParaRPr sz="2400"/>
            </a:p>
          </p:txBody>
        </p:sp>
        <p:sp>
          <p:nvSpPr>
            <p:cNvPr id="90" name="object 90"/>
            <p:cNvSpPr/>
            <p:nvPr/>
          </p:nvSpPr>
          <p:spPr>
            <a:xfrm>
              <a:off x="5036785" y="1998909"/>
              <a:ext cx="621665" cy="666750"/>
            </a:xfrm>
            <a:custGeom>
              <a:avLst/>
              <a:gdLst/>
              <a:ahLst/>
              <a:cxnLst/>
              <a:rect l="l" t="t" r="r" b="b"/>
              <a:pathLst>
                <a:path w="621664" h="666750">
                  <a:moveTo>
                    <a:pt x="621218" y="666737"/>
                  </a:moveTo>
                  <a:lnTo>
                    <a:pt x="617449" y="619493"/>
                  </a:lnTo>
                  <a:lnTo>
                    <a:pt x="606614" y="576333"/>
                  </a:lnTo>
                  <a:lnTo>
                    <a:pt x="589420" y="536849"/>
                  </a:lnTo>
                  <a:lnTo>
                    <a:pt x="566573" y="500633"/>
                  </a:lnTo>
                  <a:lnTo>
                    <a:pt x="538780" y="467276"/>
                  </a:lnTo>
                  <a:lnTo>
                    <a:pt x="506747" y="436369"/>
                  </a:lnTo>
                  <a:lnTo>
                    <a:pt x="471181" y="407505"/>
                  </a:lnTo>
                  <a:lnTo>
                    <a:pt x="432788" y="380276"/>
                  </a:lnTo>
                  <a:lnTo>
                    <a:pt x="392276" y="354272"/>
                  </a:lnTo>
                  <a:lnTo>
                    <a:pt x="350350" y="329085"/>
                  </a:lnTo>
                  <a:lnTo>
                    <a:pt x="307718" y="304307"/>
                  </a:lnTo>
                  <a:lnTo>
                    <a:pt x="260849" y="277037"/>
                  </a:lnTo>
                  <a:lnTo>
                    <a:pt x="214922" y="249224"/>
                  </a:lnTo>
                  <a:lnTo>
                    <a:pt x="170875" y="220325"/>
                  </a:lnTo>
                  <a:lnTo>
                    <a:pt x="129650" y="189795"/>
                  </a:lnTo>
                  <a:lnTo>
                    <a:pt x="92186" y="157091"/>
                  </a:lnTo>
                  <a:lnTo>
                    <a:pt x="52081" y="112327"/>
                  </a:lnTo>
                  <a:lnTo>
                    <a:pt x="21159" y="62254"/>
                  </a:lnTo>
                  <a:lnTo>
                    <a:pt x="5101" y="20577"/>
                  </a:lnTo>
                  <a:lnTo>
                    <a:pt x="423" y="2048"/>
                  </a:lnTo>
                  <a:lnTo>
                    <a:pt x="0" y="0"/>
                  </a:lnTo>
                </a:path>
              </a:pathLst>
            </a:custGeom>
            <a:ln w="9724">
              <a:solidFill>
                <a:srgbClr val="E6A064"/>
              </a:solidFill>
            </a:ln>
          </p:spPr>
          <p:txBody>
            <a:bodyPr wrap="square" lIns="0" tIns="0" rIns="0" bIns="0" rtlCol="0"/>
            <a:lstStyle/>
            <a:p>
              <a:endParaRPr sz="2400"/>
            </a:p>
          </p:txBody>
        </p:sp>
        <p:sp>
          <p:nvSpPr>
            <p:cNvPr id="91" name="object 91"/>
            <p:cNvSpPr/>
            <p:nvPr/>
          </p:nvSpPr>
          <p:spPr>
            <a:xfrm>
              <a:off x="5020802" y="1954994"/>
              <a:ext cx="32384" cy="45720"/>
            </a:xfrm>
            <a:custGeom>
              <a:avLst/>
              <a:gdLst/>
              <a:ahLst/>
              <a:cxnLst/>
              <a:rect l="l" t="t" r="r" b="b"/>
              <a:pathLst>
                <a:path w="32385" h="45719">
                  <a:moveTo>
                    <a:pt x="0" y="45507"/>
                  </a:moveTo>
                  <a:lnTo>
                    <a:pt x="11610" y="0"/>
                  </a:lnTo>
                  <a:lnTo>
                    <a:pt x="31967" y="42324"/>
                  </a:lnTo>
                  <a:lnTo>
                    <a:pt x="0" y="45507"/>
                  </a:lnTo>
                  <a:close/>
                </a:path>
              </a:pathLst>
            </a:custGeom>
            <a:solidFill>
              <a:srgbClr val="E6A064"/>
            </a:solidFill>
          </p:spPr>
          <p:txBody>
            <a:bodyPr wrap="square" lIns="0" tIns="0" rIns="0" bIns="0" rtlCol="0"/>
            <a:lstStyle/>
            <a:p>
              <a:endParaRPr sz="2400"/>
            </a:p>
          </p:txBody>
        </p:sp>
        <p:sp>
          <p:nvSpPr>
            <p:cNvPr id="92" name="object 92"/>
            <p:cNvSpPr/>
            <p:nvPr/>
          </p:nvSpPr>
          <p:spPr>
            <a:xfrm>
              <a:off x="5020802" y="1954994"/>
              <a:ext cx="32384" cy="45720"/>
            </a:xfrm>
            <a:custGeom>
              <a:avLst/>
              <a:gdLst/>
              <a:ahLst/>
              <a:cxnLst/>
              <a:rect l="l" t="t" r="r" b="b"/>
              <a:pathLst>
                <a:path w="32385" h="45719">
                  <a:moveTo>
                    <a:pt x="31967" y="42324"/>
                  </a:moveTo>
                  <a:lnTo>
                    <a:pt x="11610" y="0"/>
                  </a:lnTo>
                  <a:lnTo>
                    <a:pt x="0" y="45507"/>
                  </a:lnTo>
                  <a:lnTo>
                    <a:pt x="31967" y="42324"/>
                  </a:lnTo>
                  <a:close/>
                </a:path>
              </a:pathLst>
            </a:custGeom>
            <a:ln w="9724">
              <a:solidFill>
                <a:srgbClr val="E6A064"/>
              </a:solidFill>
            </a:ln>
          </p:spPr>
          <p:txBody>
            <a:bodyPr wrap="square" lIns="0" tIns="0" rIns="0" bIns="0" rtlCol="0"/>
            <a:lstStyle/>
            <a:p>
              <a:endParaRPr sz="2400"/>
            </a:p>
          </p:txBody>
        </p:sp>
        <p:sp>
          <p:nvSpPr>
            <p:cNvPr id="93" name="object 93"/>
            <p:cNvSpPr/>
            <p:nvPr/>
          </p:nvSpPr>
          <p:spPr>
            <a:xfrm>
              <a:off x="5658004" y="1999174"/>
              <a:ext cx="173355" cy="666750"/>
            </a:xfrm>
            <a:custGeom>
              <a:avLst/>
              <a:gdLst/>
              <a:ahLst/>
              <a:cxnLst/>
              <a:rect l="l" t="t" r="r" b="b"/>
              <a:pathLst>
                <a:path w="173354" h="666750">
                  <a:moveTo>
                    <a:pt x="0" y="666472"/>
                  </a:moveTo>
                  <a:lnTo>
                    <a:pt x="1964" y="602587"/>
                  </a:lnTo>
                  <a:lnTo>
                    <a:pt x="7515" y="546134"/>
                  </a:lnTo>
                  <a:lnTo>
                    <a:pt x="16140" y="496051"/>
                  </a:lnTo>
                  <a:lnTo>
                    <a:pt x="27328" y="451277"/>
                  </a:lnTo>
                  <a:lnTo>
                    <a:pt x="40565" y="410751"/>
                  </a:lnTo>
                  <a:lnTo>
                    <a:pt x="55339" y="373411"/>
                  </a:lnTo>
                  <a:lnTo>
                    <a:pt x="71138" y="338196"/>
                  </a:lnTo>
                  <a:lnTo>
                    <a:pt x="103761" y="269892"/>
                  </a:lnTo>
                  <a:lnTo>
                    <a:pt x="119560" y="234680"/>
                  </a:lnTo>
                  <a:lnTo>
                    <a:pt x="134334" y="197346"/>
                  </a:lnTo>
                  <a:lnTo>
                    <a:pt x="147571" y="156827"/>
                  </a:lnTo>
                  <a:lnTo>
                    <a:pt x="158759" y="112063"/>
                  </a:lnTo>
                  <a:lnTo>
                    <a:pt x="167384" y="61990"/>
                  </a:lnTo>
                  <a:lnTo>
                    <a:pt x="171864" y="20313"/>
                  </a:lnTo>
                  <a:lnTo>
                    <a:pt x="172935" y="5547"/>
                  </a:lnTo>
                  <a:lnTo>
                    <a:pt x="173267" y="0"/>
                  </a:lnTo>
                </a:path>
              </a:pathLst>
            </a:custGeom>
            <a:ln w="9724">
              <a:solidFill>
                <a:srgbClr val="E6A064"/>
              </a:solidFill>
            </a:ln>
          </p:spPr>
          <p:txBody>
            <a:bodyPr wrap="square" lIns="0" tIns="0" rIns="0" bIns="0" rtlCol="0"/>
            <a:lstStyle/>
            <a:p>
              <a:endParaRPr sz="2400"/>
            </a:p>
          </p:txBody>
        </p:sp>
        <p:sp>
          <p:nvSpPr>
            <p:cNvPr id="94" name="object 94"/>
            <p:cNvSpPr/>
            <p:nvPr/>
          </p:nvSpPr>
          <p:spPr>
            <a:xfrm>
              <a:off x="5815215" y="1955058"/>
              <a:ext cx="32384" cy="45085"/>
            </a:xfrm>
            <a:custGeom>
              <a:avLst/>
              <a:gdLst/>
              <a:ahLst/>
              <a:cxnLst/>
              <a:rect l="l" t="t" r="r" b="b"/>
              <a:pathLst>
                <a:path w="32385" h="45085">
                  <a:moveTo>
                    <a:pt x="32113" y="44565"/>
                  </a:moveTo>
                  <a:lnTo>
                    <a:pt x="0" y="43666"/>
                  </a:lnTo>
                  <a:lnTo>
                    <a:pt x="17291" y="0"/>
                  </a:lnTo>
                  <a:lnTo>
                    <a:pt x="32113" y="44565"/>
                  </a:lnTo>
                  <a:close/>
                </a:path>
              </a:pathLst>
            </a:custGeom>
            <a:solidFill>
              <a:srgbClr val="E6A064"/>
            </a:solidFill>
          </p:spPr>
          <p:txBody>
            <a:bodyPr wrap="square" lIns="0" tIns="0" rIns="0" bIns="0" rtlCol="0"/>
            <a:lstStyle/>
            <a:p>
              <a:endParaRPr sz="2400"/>
            </a:p>
          </p:txBody>
        </p:sp>
        <p:sp>
          <p:nvSpPr>
            <p:cNvPr id="95" name="object 95"/>
            <p:cNvSpPr/>
            <p:nvPr/>
          </p:nvSpPr>
          <p:spPr>
            <a:xfrm>
              <a:off x="5815215" y="1955058"/>
              <a:ext cx="32384" cy="45085"/>
            </a:xfrm>
            <a:custGeom>
              <a:avLst/>
              <a:gdLst/>
              <a:ahLst/>
              <a:cxnLst/>
              <a:rect l="l" t="t" r="r" b="b"/>
              <a:pathLst>
                <a:path w="32385" h="45085">
                  <a:moveTo>
                    <a:pt x="32113" y="44565"/>
                  </a:moveTo>
                  <a:lnTo>
                    <a:pt x="17291" y="0"/>
                  </a:lnTo>
                  <a:lnTo>
                    <a:pt x="0" y="43666"/>
                  </a:lnTo>
                  <a:lnTo>
                    <a:pt x="32113" y="44565"/>
                  </a:lnTo>
                  <a:close/>
                </a:path>
              </a:pathLst>
            </a:custGeom>
            <a:ln w="9724">
              <a:solidFill>
                <a:srgbClr val="E6A064"/>
              </a:solidFill>
            </a:ln>
          </p:spPr>
          <p:txBody>
            <a:bodyPr wrap="square" lIns="0" tIns="0" rIns="0" bIns="0" rtlCol="0"/>
            <a:lstStyle/>
            <a:p>
              <a:endParaRPr sz="2400"/>
            </a:p>
          </p:txBody>
        </p:sp>
        <p:sp>
          <p:nvSpPr>
            <p:cNvPr id="96" name="object 96"/>
            <p:cNvSpPr/>
            <p:nvPr/>
          </p:nvSpPr>
          <p:spPr>
            <a:xfrm>
              <a:off x="5658004" y="1998518"/>
              <a:ext cx="967105" cy="667385"/>
            </a:xfrm>
            <a:custGeom>
              <a:avLst/>
              <a:gdLst/>
              <a:ahLst/>
              <a:cxnLst/>
              <a:rect l="l" t="t" r="r" b="b"/>
              <a:pathLst>
                <a:path w="967104" h="667385">
                  <a:moveTo>
                    <a:pt x="0" y="667128"/>
                  </a:moveTo>
                  <a:lnTo>
                    <a:pt x="14221" y="594747"/>
                  </a:lnTo>
                  <a:lnTo>
                    <a:pt x="54041" y="531876"/>
                  </a:lnTo>
                  <a:lnTo>
                    <a:pt x="82218" y="503511"/>
                  </a:lnTo>
                  <a:lnTo>
                    <a:pt x="115194" y="476929"/>
                  </a:lnTo>
                  <a:lnTo>
                    <a:pt x="152437" y="451933"/>
                  </a:lnTo>
                  <a:lnTo>
                    <a:pt x="193413" y="428323"/>
                  </a:lnTo>
                  <a:lnTo>
                    <a:pt x="237589" y="405902"/>
                  </a:lnTo>
                  <a:lnTo>
                    <a:pt x="284431" y="384472"/>
                  </a:lnTo>
                  <a:lnTo>
                    <a:pt x="333407" y="363835"/>
                  </a:lnTo>
                  <a:lnTo>
                    <a:pt x="383982" y="343792"/>
                  </a:lnTo>
                  <a:lnTo>
                    <a:pt x="435624" y="324146"/>
                  </a:lnTo>
                  <a:lnTo>
                    <a:pt x="487799" y="304698"/>
                  </a:lnTo>
                  <a:lnTo>
                    <a:pt x="539975" y="285251"/>
                  </a:lnTo>
                  <a:lnTo>
                    <a:pt x="591617" y="265607"/>
                  </a:lnTo>
                  <a:lnTo>
                    <a:pt x="642192" y="245566"/>
                  </a:lnTo>
                  <a:lnTo>
                    <a:pt x="691168" y="224931"/>
                  </a:lnTo>
                  <a:lnTo>
                    <a:pt x="738010" y="203505"/>
                  </a:lnTo>
                  <a:lnTo>
                    <a:pt x="782186" y="181088"/>
                  </a:lnTo>
                  <a:lnTo>
                    <a:pt x="823162" y="157482"/>
                  </a:lnTo>
                  <a:lnTo>
                    <a:pt x="855971" y="135697"/>
                  </a:lnTo>
                  <a:lnTo>
                    <a:pt x="911587" y="88411"/>
                  </a:lnTo>
                  <a:lnTo>
                    <a:pt x="943139" y="49173"/>
                  </a:lnTo>
                  <a:lnTo>
                    <a:pt x="964643" y="6202"/>
                  </a:lnTo>
                  <a:lnTo>
                    <a:pt x="965944" y="2439"/>
                  </a:lnTo>
                  <a:lnTo>
                    <a:pt x="966729" y="0"/>
                  </a:lnTo>
                </a:path>
              </a:pathLst>
            </a:custGeom>
            <a:ln w="9724">
              <a:solidFill>
                <a:srgbClr val="E6A064"/>
              </a:solidFill>
            </a:ln>
          </p:spPr>
          <p:txBody>
            <a:bodyPr wrap="square" lIns="0" tIns="0" rIns="0" bIns="0" rtlCol="0"/>
            <a:lstStyle/>
            <a:p>
              <a:endParaRPr sz="2400"/>
            </a:p>
          </p:txBody>
        </p:sp>
        <p:sp>
          <p:nvSpPr>
            <p:cNvPr id="97" name="object 97"/>
            <p:cNvSpPr/>
            <p:nvPr/>
          </p:nvSpPr>
          <p:spPr>
            <a:xfrm>
              <a:off x="6608857" y="1954898"/>
              <a:ext cx="31750" cy="46355"/>
            </a:xfrm>
            <a:custGeom>
              <a:avLst/>
              <a:gdLst/>
              <a:ahLst/>
              <a:cxnLst/>
              <a:rect l="l" t="t" r="r" b="b"/>
              <a:pathLst>
                <a:path w="31750" h="46355">
                  <a:moveTo>
                    <a:pt x="31752" y="46061"/>
                  </a:moveTo>
                  <a:lnTo>
                    <a:pt x="0" y="41178"/>
                  </a:lnTo>
                  <a:lnTo>
                    <a:pt x="22585" y="0"/>
                  </a:lnTo>
                  <a:lnTo>
                    <a:pt x="31752" y="46061"/>
                  </a:lnTo>
                  <a:close/>
                </a:path>
              </a:pathLst>
            </a:custGeom>
            <a:solidFill>
              <a:srgbClr val="E6A064"/>
            </a:solidFill>
          </p:spPr>
          <p:txBody>
            <a:bodyPr wrap="square" lIns="0" tIns="0" rIns="0" bIns="0" rtlCol="0"/>
            <a:lstStyle/>
            <a:p>
              <a:endParaRPr sz="2400"/>
            </a:p>
          </p:txBody>
        </p:sp>
        <p:sp>
          <p:nvSpPr>
            <p:cNvPr id="98" name="object 98"/>
            <p:cNvSpPr/>
            <p:nvPr/>
          </p:nvSpPr>
          <p:spPr>
            <a:xfrm>
              <a:off x="6608857" y="1954898"/>
              <a:ext cx="31750" cy="46355"/>
            </a:xfrm>
            <a:custGeom>
              <a:avLst/>
              <a:gdLst/>
              <a:ahLst/>
              <a:cxnLst/>
              <a:rect l="l" t="t" r="r" b="b"/>
              <a:pathLst>
                <a:path w="31750" h="46355">
                  <a:moveTo>
                    <a:pt x="31752" y="46061"/>
                  </a:moveTo>
                  <a:lnTo>
                    <a:pt x="22585" y="0"/>
                  </a:lnTo>
                  <a:lnTo>
                    <a:pt x="0" y="41178"/>
                  </a:lnTo>
                  <a:lnTo>
                    <a:pt x="31752" y="46061"/>
                  </a:lnTo>
                  <a:close/>
                </a:path>
              </a:pathLst>
            </a:custGeom>
            <a:ln w="9724">
              <a:solidFill>
                <a:srgbClr val="E6A064"/>
              </a:solidFill>
            </a:ln>
          </p:spPr>
          <p:txBody>
            <a:bodyPr wrap="square" lIns="0" tIns="0" rIns="0" bIns="0" rtlCol="0"/>
            <a:lstStyle/>
            <a:p>
              <a:endParaRPr sz="2400"/>
            </a:p>
          </p:txBody>
        </p:sp>
        <p:sp>
          <p:nvSpPr>
            <p:cNvPr id="99" name="object 99"/>
            <p:cNvSpPr/>
            <p:nvPr/>
          </p:nvSpPr>
          <p:spPr>
            <a:xfrm>
              <a:off x="5658004" y="1997137"/>
              <a:ext cx="1764030" cy="668655"/>
            </a:xfrm>
            <a:custGeom>
              <a:avLst/>
              <a:gdLst/>
              <a:ahLst/>
              <a:cxnLst/>
              <a:rect l="l" t="t" r="r" b="b"/>
              <a:pathLst>
                <a:path w="1764029" h="668655">
                  <a:moveTo>
                    <a:pt x="0" y="668509"/>
                  </a:moveTo>
                  <a:lnTo>
                    <a:pt x="11717" y="619120"/>
                  </a:lnTo>
                  <a:lnTo>
                    <a:pt x="45334" y="574193"/>
                  </a:lnTo>
                  <a:lnTo>
                    <a:pt x="98545" y="533257"/>
                  </a:lnTo>
                  <a:lnTo>
                    <a:pt x="131777" y="514139"/>
                  </a:lnTo>
                  <a:lnTo>
                    <a:pt x="169044" y="495843"/>
                  </a:lnTo>
                  <a:lnTo>
                    <a:pt x="210056" y="478310"/>
                  </a:lnTo>
                  <a:lnTo>
                    <a:pt x="254527" y="461482"/>
                  </a:lnTo>
                  <a:lnTo>
                    <a:pt x="302166" y="445299"/>
                  </a:lnTo>
                  <a:lnTo>
                    <a:pt x="352688" y="429704"/>
                  </a:lnTo>
                  <a:lnTo>
                    <a:pt x="405802" y="414637"/>
                  </a:lnTo>
                  <a:lnTo>
                    <a:pt x="461222" y="400039"/>
                  </a:lnTo>
                  <a:lnTo>
                    <a:pt x="518658" y="385853"/>
                  </a:lnTo>
                  <a:lnTo>
                    <a:pt x="577824" y="372019"/>
                  </a:lnTo>
                  <a:lnTo>
                    <a:pt x="638430" y="358479"/>
                  </a:lnTo>
                  <a:lnTo>
                    <a:pt x="700189" y="345173"/>
                  </a:lnTo>
                  <a:lnTo>
                    <a:pt x="762812" y="332044"/>
                  </a:lnTo>
                  <a:lnTo>
                    <a:pt x="826012" y="319032"/>
                  </a:lnTo>
                  <a:lnTo>
                    <a:pt x="889499" y="306079"/>
                  </a:lnTo>
                  <a:lnTo>
                    <a:pt x="945061" y="294748"/>
                  </a:lnTo>
                  <a:lnTo>
                    <a:pt x="1000430" y="283377"/>
                  </a:lnTo>
                  <a:lnTo>
                    <a:pt x="1055412" y="271928"/>
                  </a:lnTo>
                  <a:lnTo>
                    <a:pt x="1109815" y="260361"/>
                  </a:lnTo>
                  <a:lnTo>
                    <a:pt x="1163446" y="248637"/>
                  </a:lnTo>
                  <a:lnTo>
                    <a:pt x="1216113" y="236716"/>
                  </a:lnTo>
                  <a:lnTo>
                    <a:pt x="1267620" y="224560"/>
                  </a:lnTo>
                  <a:lnTo>
                    <a:pt x="1317777" y="212128"/>
                  </a:lnTo>
                  <a:lnTo>
                    <a:pt x="1366389" y="199382"/>
                  </a:lnTo>
                  <a:lnTo>
                    <a:pt x="1413264" y="186282"/>
                  </a:lnTo>
                  <a:lnTo>
                    <a:pt x="1458209" y="172789"/>
                  </a:lnTo>
                  <a:lnTo>
                    <a:pt x="1501030" y="158863"/>
                  </a:lnTo>
                  <a:lnTo>
                    <a:pt x="1560859" y="137078"/>
                  </a:lnTo>
                  <a:lnTo>
                    <a:pt x="1614824" y="114099"/>
                  </a:lnTo>
                  <a:lnTo>
                    <a:pt x="1662274" y="89792"/>
                  </a:lnTo>
                  <a:lnTo>
                    <a:pt x="1702558" y="64026"/>
                  </a:lnTo>
                  <a:lnTo>
                    <a:pt x="1735024" y="36667"/>
                  </a:lnTo>
                  <a:lnTo>
                    <a:pt x="1760649" y="5084"/>
                  </a:lnTo>
                  <a:lnTo>
                    <a:pt x="1763619" y="27"/>
                  </a:lnTo>
                </a:path>
              </a:pathLst>
            </a:custGeom>
            <a:ln w="9724">
              <a:solidFill>
                <a:srgbClr val="E6A064"/>
              </a:solidFill>
            </a:ln>
          </p:spPr>
          <p:txBody>
            <a:bodyPr wrap="square" lIns="0" tIns="0" rIns="0" bIns="0" rtlCol="0"/>
            <a:lstStyle/>
            <a:p>
              <a:endParaRPr sz="2400"/>
            </a:p>
          </p:txBody>
        </p:sp>
        <p:sp>
          <p:nvSpPr>
            <p:cNvPr id="100" name="object 100"/>
            <p:cNvSpPr/>
            <p:nvPr/>
          </p:nvSpPr>
          <p:spPr>
            <a:xfrm>
              <a:off x="7406143" y="1954562"/>
              <a:ext cx="31115" cy="46990"/>
            </a:xfrm>
            <a:custGeom>
              <a:avLst/>
              <a:gdLst/>
              <a:ahLst/>
              <a:cxnLst/>
              <a:rect l="l" t="t" r="r" b="b"/>
              <a:pathLst>
                <a:path w="31115" h="46989">
                  <a:moveTo>
                    <a:pt x="30992" y="46805"/>
                  </a:moveTo>
                  <a:lnTo>
                    <a:pt x="0" y="38345"/>
                  </a:lnTo>
                  <a:lnTo>
                    <a:pt x="27116" y="0"/>
                  </a:lnTo>
                  <a:lnTo>
                    <a:pt x="30992" y="46805"/>
                  </a:lnTo>
                  <a:close/>
                </a:path>
              </a:pathLst>
            </a:custGeom>
            <a:solidFill>
              <a:srgbClr val="E6A064"/>
            </a:solidFill>
          </p:spPr>
          <p:txBody>
            <a:bodyPr wrap="square" lIns="0" tIns="0" rIns="0" bIns="0" rtlCol="0"/>
            <a:lstStyle/>
            <a:p>
              <a:endParaRPr sz="2400"/>
            </a:p>
          </p:txBody>
        </p:sp>
        <p:sp>
          <p:nvSpPr>
            <p:cNvPr id="101" name="object 101"/>
            <p:cNvSpPr/>
            <p:nvPr/>
          </p:nvSpPr>
          <p:spPr>
            <a:xfrm>
              <a:off x="7406143" y="1954562"/>
              <a:ext cx="31115" cy="46990"/>
            </a:xfrm>
            <a:custGeom>
              <a:avLst/>
              <a:gdLst/>
              <a:ahLst/>
              <a:cxnLst/>
              <a:rect l="l" t="t" r="r" b="b"/>
              <a:pathLst>
                <a:path w="31115" h="46989">
                  <a:moveTo>
                    <a:pt x="30992" y="46805"/>
                  </a:moveTo>
                  <a:lnTo>
                    <a:pt x="27116" y="0"/>
                  </a:lnTo>
                  <a:lnTo>
                    <a:pt x="0" y="38345"/>
                  </a:lnTo>
                  <a:lnTo>
                    <a:pt x="30992" y="46805"/>
                  </a:lnTo>
                  <a:close/>
                </a:path>
              </a:pathLst>
            </a:custGeom>
            <a:ln w="9724">
              <a:solidFill>
                <a:srgbClr val="E6A064"/>
              </a:solidFill>
            </a:ln>
          </p:spPr>
          <p:txBody>
            <a:bodyPr wrap="square" lIns="0" tIns="0" rIns="0" bIns="0" rtlCol="0"/>
            <a:lstStyle/>
            <a:p>
              <a:endParaRPr sz="2400"/>
            </a:p>
          </p:txBody>
        </p:sp>
        <p:sp>
          <p:nvSpPr>
            <p:cNvPr id="102" name="object 102"/>
            <p:cNvSpPr/>
            <p:nvPr/>
          </p:nvSpPr>
          <p:spPr>
            <a:xfrm>
              <a:off x="1874465" y="179223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3" name="object 103"/>
            <p:cNvSpPr/>
            <p:nvPr/>
          </p:nvSpPr>
          <p:spPr>
            <a:xfrm>
              <a:off x="1874465" y="179223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104" name="object 104"/>
          <p:cNvSpPr txBox="1"/>
          <p:nvPr/>
        </p:nvSpPr>
        <p:spPr>
          <a:xfrm>
            <a:off x="2379665"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105" name="object 105"/>
          <p:cNvGrpSpPr/>
          <p:nvPr/>
        </p:nvGrpSpPr>
        <p:grpSpPr>
          <a:xfrm>
            <a:off x="3565517" y="2383290"/>
            <a:ext cx="135467" cy="210820"/>
            <a:chOff x="2674138" y="1787467"/>
            <a:chExt cx="101600" cy="158115"/>
          </a:xfrm>
        </p:grpSpPr>
        <p:sp>
          <p:nvSpPr>
            <p:cNvPr id="106" name="object 106"/>
            <p:cNvSpPr/>
            <p:nvPr/>
          </p:nvSpPr>
          <p:spPr>
            <a:xfrm>
              <a:off x="2678901" y="179223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7" name="object 107"/>
            <p:cNvSpPr/>
            <p:nvPr/>
          </p:nvSpPr>
          <p:spPr>
            <a:xfrm>
              <a:off x="2678901" y="179223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108" name="object 108"/>
          <p:cNvSpPr txBox="1"/>
          <p:nvPr/>
        </p:nvSpPr>
        <p:spPr>
          <a:xfrm>
            <a:off x="3452247"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109" name="object 109"/>
          <p:cNvGrpSpPr/>
          <p:nvPr/>
        </p:nvGrpSpPr>
        <p:grpSpPr>
          <a:xfrm>
            <a:off x="4636013" y="2383290"/>
            <a:ext cx="135467" cy="210820"/>
            <a:chOff x="3477010" y="1787467"/>
            <a:chExt cx="101600" cy="158115"/>
          </a:xfrm>
        </p:grpSpPr>
        <p:sp>
          <p:nvSpPr>
            <p:cNvPr id="110" name="object 110"/>
            <p:cNvSpPr/>
            <p:nvPr/>
          </p:nvSpPr>
          <p:spPr>
            <a:xfrm>
              <a:off x="3481773" y="179223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1" name="object 111"/>
            <p:cNvSpPr/>
            <p:nvPr/>
          </p:nvSpPr>
          <p:spPr>
            <a:xfrm>
              <a:off x="3481773" y="179223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112" name="object 112"/>
          <p:cNvSpPr txBox="1"/>
          <p:nvPr/>
        </p:nvSpPr>
        <p:spPr>
          <a:xfrm>
            <a:off x="4522743"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113" name="object 113"/>
          <p:cNvGrpSpPr/>
          <p:nvPr/>
        </p:nvGrpSpPr>
        <p:grpSpPr>
          <a:xfrm>
            <a:off x="5700391" y="2383290"/>
            <a:ext cx="135467" cy="210820"/>
            <a:chOff x="4275293" y="1787467"/>
            <a:chExt cx="101600" cy="158115"/>
          </a:xfrm>
        </p:grpSpPr>
        <p:sp>
          <p:nvSpPr>
            <p:cNvPr id="114" name="object 114"/>
            <p:cNvSpPr/>
            <p:nvPr/>
          </p:nvSpPr>
          <p:spPr>
            <a:xfrm>
              <a:off x="4280056" y="179223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5" name="object 115"/>
            <p:cNvSpPr/>
            <p:nvPr/>
          </p:nvSpPr>
          <p:spPr>
            <a:xfrm>
              <a:off x="4280056" y="179223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116" name="object 116"/>
          <p:cNvSpPr txBox="1"/>
          <p:nvPr/>
        </p:nvSpPr>
        <p:spPr>
          <a:xfrm>
            <a:off x="5593688" y="2374248"/>
            <a:ext cx="242993"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73"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117" name="object 117"/>
          <p:cNvGrpSpPr/>
          <p:nvPr/>
        </p:nvGrpSpPr>
        <p:grpSpPr>
          <a:xfrm>
            <a:off x="6776544" y="2383290"/>
            <a:ext cx="135467" cy="210820"/>
            <a:chOff x="5082408" y="1787467"/>
            <a:chExt cx="101600" cy="158115"/>
          </a:xfrm>
        </p:grpSpPr>
        <p:sp>
          <p:nvSpPr>
            <p:cNvPr id="118" name="object 118"/>
            <p:cNvSpPr/>
            <p:nvPr/>
          </p:nvSpPr>
          <p:spPr>
            <a:xfrm>
              <a:off x="5087170" y="179223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9" name="object 119"/>
            <p:cNvSpPr/>
            <p:nvPr/>
          </p:nvSpPr>
          <p:spPr>
            <a:xfrm>
              <a:off x="5087170" y="179223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120" name="object 120"/>
          <p:cNvSpPr txBox="1"/>
          <p:nvPr/>
        </p:nvSpPr>
        <p:spPr>
          <a:xfrm>
            <a:off x="6663273"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121" name="object 121"/>
          <p:cNvGrpSpPr/>
          <p:nvPr/>
        </p:nvGrpSpPr>
        <p:grpSpPr>
          <a:xfrm>
            <a:off x="7845844" y="2383290"/>
            <a:ext cx="135467" cy="210820"/>
            <a:chOff x="5884383" y="1787467"/>
            <a:chExt cx="101600" cy="158115"/>
          </a:xfrm>
        </p:grpSpPr>
        <p:sp>
          <p:nvSpPr>
            <p:cNvPr id="122" name="object 122"/>
            <p:cNvSpPr/>
            <p:nvPr/>
          </p:nvSpPr>
          <p:spPr>
            <a:xfrm>
              <a:off x="5889145" y="179223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3" name="object 123"/>
            <p:cNvSpPr/>
            <p:nvPr/>
          </p:nvSpPr>
          <p:spPr>
            <a:xfrm>
              <a:off x="5889145" y="179223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124" name="object 124"/>
          <p:cNvSpPr txBox="1"/>
          <p:nvPr/>
        </p:nvSpPr>
        <p:spPr>
          <a:xfrm>
            <a:off x="7732573"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125" name="object 125"/>
          <p:cNvGrpSpPr/>
          <p:nvPr/>
        </p:nvGrpSpPr>
        <p:grpSpPr>
          <a:xfrm>
            <a:off x="8913427" y="2383290"/>
            <a:ext cx="135467" cy="210820"/>
            <a:chOff x="6685070" y="1787467"/>
            <a:chExt cx="101600" cy="158115"/>
          </a:xfrm>
        </p:grpSpPr>
        <p:sp>
          <p:nvSpPr>
            <p:cNvPr id="126" name="object 126"/>
            <p:cNvSpPr/>
            <p:nvPr/>
          </p:nvSpPr>
          <p:spPr>
            <a:xfrm>
              <a:off x="6689832" y="179223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7" name="object 127"/>
            <p:cNvSpPr/>
            <p:nvPr/>
          </p:nvSpPr>
          <p:spPr>
            <a:xfrm>
              <a:off x="6689832" y="179223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128" name="object 128"/>
          <p:cNvSpPr txBox="1"/>
          <p:nvPr/>
        </p:nvSpPr>
        <p:spPr>
          <a:xfrm>
            <a:off x="8800155"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129" name="object 129"/>
          <p:cNvGrpSpPr/>
          <p:nvPr/>
        </p:nvGrpSpPr>
        <p:grpSpPr>
          <a:xfrm>
            <a:off x="9984365" y="2383290"/>
            <a:ext cx="135467" cy="210820"/>
            <a:chOff x="7488274" y="1787467"/>
            <a:chExt cx="101600" cy="158115"/>
          </a:xfrm>
        </p:grpSpPr>
        <p:sp>
          <p:nvSpPr>
            <p:cNvPr id="130" name="object 130"/>
            <p:cNvSpPr/>
            <p:nvPr/>
          </p:nvSpPr>
          <p:spPr>
            <a:xfrm>
              <a:off x="7493037" y="1792230"/>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31" name="object 131"/>
            <p:cNvSpPr/>
            <p:nvPr/>
          </p:nvSpPr>
          <p:spPr>
            <a:xfrm>
              <a:off x="7493037" y="1792230"/>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132" name="object 132"/>
          <p:cNvSpPr txBox="1"/>
          <p:nvPr/>
        </p:nvSpPr>
        <p:spPr>
          <a:xfrm>
            <a:off x="9871095"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sp>
        <p:nvSpPr>
          <p:cNvPr id="133" name="TextBox 132">
            <a:extLst>
              <a:ext uri="{FF2B5EF4-FFF2-40B4-BE49-F238E27FC236}">
                <a16:creationId xmlns:a16="http://schemas.microsoft.com/office/drawing/2014/main" id="{B6B87023-BD7F-5BA9-B1A8-866BC60F6DC1}"/>
              </a:ext>
            </a:extLst>
          </p:cNvPr>
          <p:cNvSpPr txBox="1"/>
          <p:nvPr/>
        </p:nvSpPr>
        <p:spPr>
          <a:xfrm>
            <a:off x="797367" y="5997906"/>
            <a:ext cx="9722983" cy="461665"/>
          </a:xfrm>
          <a:prstGeom prst="rect">
            <a:avLst/>
          </a:prstGeom>
          <a:noFill/>
        </p:spPr>
        <p:txBody>
          <a:bodyPr wrap="none" rtlCol="0">
            <a:spAutoFit/>
          </a:bodyPr>
          <a:lstStyle/>
          <a:p>
            <a:r>
              <a:rPr lang="en-US" sz="2400" dirty="0"/>
              <a:t>Load S back in compute unit to calculate attention weights A : Apply </a:t>
            </a:r>
            <a:r>
              <a:rPr lang="en-US" sz="2400" dirty="0" err="1"/>
              <a:t>Softmax</a:t>
            </a:r>
            <a:endParaRPr lang="en-IN" sz="2400" dirty="0"/>
          </a:p>
        </p:txBody>
      </p:sp>
    </p:spTree>
    <p:extLst>
      <p:ext uri="{BB962C8B-B14F-4D97-AF65-F5344CB8AC3E}">
        <p14:creationId xmlns:p14="http://schemas.microsoft.com/office/powerpoint/2010/main" val="4081155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Attention</a:t>
            </a:r>
            <a:r>
              <a:rPr spc="-152" dirty="0"/>
              <a:t> </a:t>
            </a:r>
            <a:r>
              <a:rPr spc="213" dirty="0"/>
              <a:t>data</a:t>
            </a:r>
            <a:r>
              <a:rPr spc="-147" dirty="0"/>
              <a:t> </a:t>
            </a:r>
            <a:r>
              <a:rPr spc="-27" dirty="0"/>
              <a:t>flow</a:t>
            </a:r>
          </a:p>
        </p:txBody>
      </p:sp>
      <p:sp>
        <p:nvSpPr>
          <p:cNvPr id="3" name="object 3"/>
          <p:cNvSpPr/>
          <p:nvPr/>
        </p:nvSpPr>
        <p:spPr>
          <a:xfrm>
            <a:off x="1431063" y="1548384"/>
            <a:ext cx="9338733" cy="4060613"/>
          </a:xfrm>
          <a:custGeom>
            <a:avLst/>
            <a:gdLst/>
            <a:ahLst/>
            <a:cxnLst/>
            <a:rect l="l" t="t" r="r" b="b"/>
            <a:pathLst>
              <a:path w="7004050" h="3045460">
                <a:moveTo>
                  <a:pt x="0" y="0"/>
                </a:moveTo>
                <a:lnTo>
                  <a:pt x="7003499" y="0"/>
                </a:lnTo>
                <a:lnTo>
                  <a:pt x="7003499" y="3044999"/>
                </a:lnTo>
                <a:lnTo>
                  <a:pt x="0" y="3044999"/>
                </a:lnTo>
                <a:lnTo>
                  <a:pt x="0" y="0"/>
                </a:lnTo>
                <a:close/>
              </a:path>
            </a:pathLst>
          </a:custGeom>
          <a:ln w="19049">
            <a:solidFill>
              <a:srgbClr val="237A94"/>
            </a:solidFill>
          </a:ln>
        </p:spPr>
        <p:txBody>
          <a:bodyPr wrap="square" lIns="0" tIns="0" rIns="0" bIns="0" rtlCol="0"/>
          <a:lstStyle/>
          <a:p>
            <a:endParaRPr sz="2400"/>
          </a:p>
        </p:txBody>
      </p:sp>
      <p:sp>
        <p:nvSpPr>
          <p:cNvPr id="4" name="object 4"/>
          <p:cNvSpPr txBox="1"/>
          <p:nvPr/>
        </p:nvSpPr>
        <p:spPr>
          <a:xfrm>
            <a:off x="1519351" y="5238451"/>
            <a:ext cx="513080" cy="304421"/>
          </a:xfrm>
          <a:prstGeom prst="rect">
            <a:avLst/>
          </a:prstGeom>
        </p:spPr>
        <p:txBody>
          <a:bodyPr vert="horz" wrap="square" lIns="0" tIns="16933" rIns="0" bIns="0" rtlCol="0">
            <a:spAutoFit/>
          </a:bodyPr>
          <a:lstStyle/>
          <a:p>
            <a:pPr>
              <a:spcBef>
                <a:spcPts val="133"/>
              </a:spcBef>
            </a:pPr>
            <a:r>
              <a:rPr sz="1867" spc="-167" dirty="0">
                <a:solidFill>
                  <a:srgbClr val="999999"/>
                </a:solidFill>
                <a:latin typeface="Arial Black"/>
                <a:cs typeface="Arial Black"/>
              </a:rPr>
              <a:t>GPU</a:t>
            </a:r>
            <a:endParaRPr sz="1867">
              <a:latin typeface="Arial Black"/>
              <a:cs typeface="Arial Black"/>
            </a:endParaRPr>
          </a:p>
        </p:txBody>
      </p:sp>
      <p:sp>
        <p:nvSpPr>
          <p:cNvPr id="5" name="object 5"/>
          <p:cNvSpPr txBox="1"/>
          <p:nvPr/>
        </p:nvSpPr>
        <p:spPr>
          <a:xfrm>
            <a:off x="1945434" y="1710578"/>
            <a:ext cx="1555327" cy="256480"/>
          </a:xfrm>
          <a:prstGeom prst="rect">
            <a:avLst/>
          </a:prstGeom>
        </p:spPr>
        <p:txBody>
          <a:bodyPr vert="horz" wrap="square" lIns="0" tIns="10160" rIns="0" bIns="0" rtlCol="0">
            <a:spAutoFit/>
          </a:bodyPr>
          <a:lstStyle/>
          <a:p>
            <a:pPr>
              <a:spcBef>
                <a:spcPts val="80"/>
              </a:spcBef>
            </a:pPr>
            <a:r>
              <a:rPr sz="1600" spc="-33" dirty="0">
                <a:solidFill>
                  <a:srgbClr val="666666"/>
                </a:solidFill>
                <a:latin typeface="Arial Black"/>
                <a:cs typeface="Arial Black"/>
              </a:rPr>
              <a:t>Compute</a:t>
            </a:r>
            <a:r>
              <a:rPr sz="1600" spc="-127" dirty="0">
                <a:solidFill>
                  <a:srgbClr val="666666"/>
                </a:solidFill>
                <a:latin typeface="Arial Black"/>
                <a:cs typeface="Arial Black"/>
              </a:rPr>
              <a:t> </a:t>
            </a:r>
            <a:r>
              <a:rPr sz="1600" spc="-47" dirty="0">
                <a:solidFill>
                  <a:srgbClr val="666666"/>
                </a:solidFill>
                <a:latin typeface="Arial Black"/>
                <a:cs typeface="Arial Black"/>
              </a:rPr>
              <a:t>units</a:t>
            </a:r>
            <a:endParaRPr sz="1600">
              <a:latin typeface="Arial Black"/>
              <a:cs typeface="Arial Black"/>
            </a:endParaRPr>
          </a:p>
        </p:txBody>
      </p:sp>
      <p:grpSp>
        <p:nvGrpSpPr>
          <p:cNvPr id="6" name="object 6"/>
          <p:cNvGrpSpPr/>
          <p:nvPr/>
        </p:nvGrpSpPr>
        <p:grpSpPr>
          <a:xfrm>
            <a:off x="1813796" y="1711599"/>
            <a:ext cx="8573347" cy="988060"/>
            <a:chOff x="1360347" y="1283699"/>
            <a:chExt cx="6430010" cy="741045"/>
          </a:xfrm>
        </p:grpSpPr>
        <p:sp>
          <p:nvSpPr>
            <p:cNvPr id="7" name="object 7"/>
            <p:cNvSpPr/>
            <p:nvPr/>
          </p:nvSpPr>
          <p:spPr>
            <a:xfrm>
              <a:off x="1365110" y="1288461"/>
              <a:ext cx="6420485" cy="731520"/>
            </a:xfrm>
            <a:custGeom>
              <a:avLst/>
              <a:gdLst/>
              <a:ahLst/>
              <a:cxnLst/>
              <a:rect l="l" t="t" r="r" b="b"/>
              <a:pathLst>
                <a:path w="6420484" h="731519">
                  <a:moveTo>
                    <a:pt x="6419999" y="731400"/>
                  </a:moveTo>
                  <a:lnTo>
                    <a:pt x="0" y="731400"/>
                  </a:lnTo>
                  <a:lnTo>
                    <a:pt x="0" y="0"/>
                  </a:lnTo>
                  <a:lnTo>
                    <a:pt x="6419999" y="0"/>
                  </a:lnTo>
                  <a:lnTo>
                    <a:pt x="6419999" y="731400"/>
                  </a:lnTo>
                  <a:close/>
                </a:path>
              </a:pathLst>
            </a:custGeom>
            <a:solidFill>
              <a:srgbClr val="FFECED"/>
            </a:solidFill>
          </p:spPr>
          <p:txBody>
            <a:bodyPr wrap="square" lIns="0" tIns="0" rIns="0" bIns="0" rtlCol="0"/>
            <a:lstStyle/>
            <a:p>
              <a:endParaRPr sz="2400"/>
            </a:p>
          </p:txBody>
        </p:sp>
        <p:sp>
          <p:nvSpPr>
            <p:cNvPr id="8" name="object 8"/>
            <p:cNvSpPr/>
            <p:nvPr/>
          </p:nvSpPr>
          <p:spPr>
            <a:xfrm>
              <a:off x="1365110" y="1288461"/>
              <a:ext cx="6420485" cy="731520"/>
            </a:xfrm>
            <a:custGeom>
              <a:avLst/>
              <a:gdLst/>
              <a:ahLst/>
              <a:cxnLst/>
              <a:rect l="l" t="t" r="r" b="b"/>
              <a:pathLst>
                <a:path w="6420484" h="731519">
                  <a:moveTo>
                    <a:pt x="0" y="0"/>
                  </a:moveTo>
                  <a:lnTo>
                    <a:pt x="6419999" y="0"/>
                  </a:lnTo>
                  <a:lnTo>
                    <a:pt x="6419999" y="731400"/>
                  </a:lnTo>
                  <a:lnTo>
                    <a:pt x="0" y="731400"/>
                  </a:lnTo>
                  <a:lnTo>
                    <a:pt x="0" y="0"/>
                  </a:lnTo>
                  <a:close/>
                </a:path>
              </a:pathLst>
            </a:custGeom>
            <a:ln w="9524">
              <a:solidFill>
                <a:srgbClr val="237A94"/>
              </a:solidFill>
            </a:ln>
          </p:spPr>
          <p:txBody>
            <a:bodyPr wrap="square" lIns="0" tIns="0" rIns="0" bIns="0" rtlCol="0"/>
            <a:lstStyle/>
            <a:p>
              <a:endParaRPr sz="2400"/>
            </a:p>
          </p:txBody>
        </p:sp>
        <p:sp>
          <p:nvSpPr>
            <p:cNvPr id="9" name="object 9"/>
            <p:cNvSpPr/>
            <p:nvPr/>
          </p:nvSpPr>
          <p:spPr>
            <a:xfrm>
              <a:off x="3853475"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0" name="object 10"/>
            <p:cNvSpPr/>
            <p:nvPr/>
          </p:nvSpPr>
          <p:spPr>
            <a:xfrm>
              <a:off x="3853475" y="1509156"/>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1" name="object 11"/>
            <p:cNvSpPr/>
            <p:nvPr/>
          </p:nvSpPr>
          <p:spPr>
            <a:xfrm>
              <a:off x="46584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2" name="object 12"/>
            <p:cNvSpPr/>
            <p:nvPr/>
          </p:nvSpPr>
          <p:spPr>
            <a:xfrm>
              <a:off x="46584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3" name="object 13"/>
            <p:cNvSpPr/>
            <p:nvPr/>
          </p:nvSpPr>
          <p:spPr>
            <a:xfrm>
              <a:off x="5460074"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4" name="object 14"/>
            <p:cNvSpPr/>
            <p:nvPr/>
          </p:nvSpPr>
          <p:spPr>
            <a:xfrm>
              <a:off x="5460074" y="1509156"/>
              <a:ext cx="650240" cy="457200"/>
            </a:xfrm>
            <a:custGeom>
              <a:avLst/>
              <a:gdLst/>
              <a:ahLst/>
              <a:cxnLst/>
              <a:rect l="l" t="t" r="r" b="b"/>
              <a:pathLst>
                <a:path w="650239"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5" name="object 15"/>
            <p:cNvSpPr/>
            <p:nvPr/>
          </p:nvSpPr>
          <p:spPr>
            <a:xfrm>
              <a:off x="6261724" y="1509157"/>
              <a:ext cx="650240" cy="226695"/>
            </a:xfrm>
            <a:custGeom>
              <a:avLst/>
              <a:gdLst/>
              <a:ahLst/>
              <a:cxnLst/>
              <a:rect l="l" t="t" r="r" b="b"/>
              <a:pathLst>
                <a:path w="650240" h="226694">
                  <a:moveTo>
                    <a:pt x="0" y="226679"/>
                  </a:moveTo>
                  <a:lnTo>
                    <a:pt x="649726" y="226679"/>
                  </a:lnTo>
                  <a:lnTo>
                    <a:pt x="649726" y="0"/>
                  </a:lnTo>
                  <a:lnTo>
                    <a:pt x="0" y="0"/>
                  </a:lnTo>
                  <a:lnTo>
                    <a:pt x="0" y="226679"/>
                  </a:lnTo>
                  <a:close/>
                </a:path>
              </a:pathLst>
            </a:custGeom>
            <a:solidFill>
              <a:srgbClr val="F4C4D1"/>
            </a:solidFill>
          </p:spPr>
          <p:txBody>
            <a:bodyPr wrap="square" lIns="0" tIns="0" rIns="0" bIns="0" rtlCol="0"/>
            <a:lstStyle/>
            <a:p>
              <a:endParaRPr sz="2400"/>
            </a:p>
          </p:txBody>
        </p:sp>
        <p:sp>
          <p:nvSpPr>
            <p:cNvPr id="16" name="object 16"/>
            <p:cNvSpPr/>
            <p:nvPr/>
          </p:nvSpPr>
          <p:spPr>
            <a:xfrm>
              <a:off x="6261724" y="1509157"/>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7" name="object 17"/>
            <p:cNvSpPr/>
            <p:nvPr/>
          </p:nvSpPr>
          <p:spPr>
            <a:xfrm>
              <a:off x="7063349" y="1509156"/>
              <a:ext cx="650240" cy="234950"/>
            </a:xfrm>
            <a:custGeom>
              <a:avLst/>
              <a:gdLst/>
              <a:ahLst/>
              <a:cxnLst/>
              <a:rect l="l" t="t" r="r" b="b"/>
              <a:pathLst>
                <a:path w="650240"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8" name="object 18"/>
            <p:cNvSpPr/>
            <p:nvPr/>
          </p:nvSpPr>
          <p:spPr>
            <a:xfrm>
              <a:off x="7063349" y="1509156"/>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9" name="object 19"/>
            <p:cNvSpPr/>
            <p:nvPr/>
          </p:nvSpPr>
          <p:spPr>
            <a:xfrm>
              <a:off x="1448749" y="1509158"/>
              <a:ext cx="650240" cy="228600"/>
            </a:xfrm>
            <a:custGeom>
              <a:avLst/>
              <a:gdLst/>
              <a:ahLst/>
              <a:cxnLst/>
              <a:rect l="l" t="t" r="r" b="b"/>
              <a:pathLst>
                <a:path w="650239" h="228600">
                  <a:moveTo>
                    <a:pt x="0" y="228477"/>
                  </a:moveTo>
                  <a:lnTo>
                    <a:pt x="649726" y="228477"/>
                  </a:lnTo>
                  <a:lnTo>
                    <a:pt x="649726" y="0"/>
                  </a:lnTo>
                  <a:lnTo>
                    <a:pt x="0" y="0"/>
                  </a:lnTo>
                  <a:lnTo>
                    <a:pt x="0" y="228477"/>
                  </a:lnTo>
                  <a:close/>
                </a:path>
              </a:pathLst>
            </a:custGeom>
            <a:solidFill>
              <a:srgbClr val="F4C4D1"/>
            </a:solidFill>
          </p:spPr>
          <p:txBody>
            <a:bodyPr wrap="square" lIns="0" tIns="0" rIns="0" bIns="0" rtlCol="0"/>
            <a:lstStyle/>
            <a:p>
              <a:endParaRPr sz="2400"/>
            </a:p>
          </p:txBody>
        </p:sp>
        <p:sp>
          <p:nvSpPr>
            <p:cNvPr id="20" name="object 20"/>
            <p:cNvSpPr/>
            <p:nvPr/>
          </p:nvSpPr>
          <p:spPr>
            <a:xfrm>
              <a:off x="1448749"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1" name="object 21"/>
            <p:cNvSpPr/>
            <p:nvPr/>
          </p:nvSpPr>
          <p:spPr>
            <a:xfrm>
              <a:off x="2250396" y="1509158"/>
              <a:ext cx="650240" cy="234950"/>
            </a:xfrm>
            <a:custGeom>
              <a:avLst/>
              <a:gdLst/>
              <a:ahLst/>
              <a:cxnLst/>
              <a:rect l="l" t="t" r="r" b="b"/>
              <a:pathLst>
                <a:path w="650239" h="234950">
                  <a:moveTo>
                    <a:pt x="0" y="234402"/>
                  </a:moveTo>
                  <a:lnTo>
                    <a:pt x="649726" y="234402"/>
                  </a:lnTo>
                  <a:lnTo>
                    <a:pt x="649726" y="0"/>
                  </a:lnTo>
                  <a:lnTo>
                    <a:pt x="0" y="0"/>
                  </a:lnTo>
                  <a:lnTo>
                    <a:pt x="0" y="234402"/>
                  </a:lnTo>
                  <a:close/>
                </a:path>
              </a:pathLst>
            </a:custGeom>
            <a:solidFill>
              <a:srgbClr val="F4C4D1"/>
            </a:solidFill>
          </p:spPr>
          <p:txBody>
            <a:bodyPr wrap="square" lIns="0" tIns="0" rIns="0" bIns="0" rtlCol="0"/>
            <a:lstStyle/>
            <a:p>
              <a:endParaRPr sz="2400"/>
            </a:p>
          </p:txBody>
        </p:sp>
        <p:sp>
          <p:nvSpPr>
            <p:cNvPr id="22" name="object 22"/>
            <p:cNvSpPr/>
            <p:nvPr/>
          </p:nvSpPr>
          <p:spPr>
            <a:xfrm>
              <a:off x="2250396"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3" name="object 23"/>
            <p:cNvSpPr/>
            <p:nvPr/>
          </p:nvSpPr>
          <p:spPr>
            <a:xfrm>
              <a:off x="30520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4" name="object 24"/>
            <p:cNvSpPr/>
            <p:nvPr/>
          </p:nvSpPr>
          <p:spPr>
            <a:xfrm>
              <a:off x="30520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grpSp>
      <p:sp>
        <p:nvSpPr>
          <p:cNvPr id="25" name="object 25"/>
          <p:cNvSpPr txBox="1"/>
          <p:nvPr/>
        </p:nvSpPr>
        <p:spPr>
          <a:xfrm>
            <a:off x="1908748" y="1715056"/>
            <a:ext cx="1532467" cy="263320"/>
          </a:xfrm>
          <a:prstGeom prst="rect">
            <a:avLst/>
          </a:prstGeom>
        </p:spPr>
        <p:txBody>
          <a:bodyPr vert="horz" wrap="square" lIns="0" tIns="16933" rIns="0" bIns="0" rtlCol="0">
            <a:spAutoFit/>
          </a:bodyPr>
          <a:lstStyle/>
          <a:p>
            <a:pPr>
              <a:spcBef>
                <a:spcPts val="133"/>
              </a:spcBef>
            </a:pPr>
            <a:r>
              <a:rPr sz="1600" spc="67" dirty="0">
                <a:solidFill>
                  <a:srgbClr val="434343"/>
                </a:solidFill>
                <a:latin typeface="Lucida Sans Unicode"/>
                <a:cs typeface="Lucida Sans Unicode"/>
              </a:rPr>
              <a:t>Compute</a:t>
            </a:r>
            <a:r>
              <a:rPr sz="1600" spc="-53" dirty="0">
                <a:solidFill>
                  <a:srgbClr val="434343"/>
                </a:solidFill>
                <a:latin typeface="Lucida Sans Unicode"/>
                <a:cs typeface="Lucida Sans Unicode"/>
              </a:rPr>
              <a:t> </a:t>
            </a:r>
            <a:r>
              <a:rPr sz="1600" spc="-13" dirty="0">
                <a:solidFill>
                  <a:srgbClr val="434343"/>
                </a:solidFill>
                <a:latin typeface="Lucida Sans Unicode"/>
                <a:cs typeface="Lucida Sans Unicode"/>
              </a:rPr>
              <a:t>Units</a:t>
            </a:r>
            <a:endParaRPr sz="1600">
              <a:latin typeface="Lucida Sans Unicode"/>
              <a:cs typeface="Lucida Sans Unicode"/>
            </a:endParaRPr>
          </a:p>
        </p:txBody>
      </p:sp>
      <p:grpSp>
        <p:nvGrpSpPr>
          <p:cNvPr id="26" name="object 26"/>
          <p:cNvGrpSpPr/>
          <p:nvPr/>
        </p:nvGrpSpPr>
        <p:grpSpPr>
          <a:xfrm>
            <a:off x="1809633" y="2843348"/>
            <a:ext cx="8573347" cy="2363893"/>
            <a:chOff x="1357225" y="2132511"/>
            <a:chExt cx="6430010" cy="1772920"/>
          </a:xfrm>
        </p:grpSpPr>
        <p:sp>
          <p:nvSpPr>
            <p:cNvPr id="27" name="object 27"/>
            <p:cNvSpPr/>
            <p:nvPr/>
          </p:nvSpPr>
          <p:spPr>
            <a:xfrm>
              <a:off x="1361987" y="2137274"/>
              <a:ext cx="6420485" cy="1763395"/>
            </a:xfrm>
            <a:custGeom>
              <a:avLst/>
              <a:gdLst/>
              <a:ahLst/>
              <a:cxnLst/>
              <a:rect l="l" t="t" r="r" b="b"/>
              <a:pathLst>
                <a:path w="6420484" h="1763395">
                  <a:moveTo>
                    <a:pt x="6419999" y="1763399"/>
                  </a:moveTo>
                  <a:lnTo>
                    <a:pt x="0" y="1763399"/>
                  </a:lnTo>
                  <a:lnTo>
                    <a:pt x="0" y="0"/>
                  </a:lnTo>
                  <a:lnTo>
                    <a:pt x="6419999" y="0"/>
                  </a:lnTo>
                  <a:lnTo>
                    <a:pt x="6419999" y="1763399"/>
                  </a:lnTo>
                  <a:close/>
                </a:path>
              </a:pathLst>
            </a:custGeom>
            <a:solidFill>
              <a:srgbClr val="EBFAFF"/>
            </a:solidFill>
          </p:spPr>
          <p:txBody>
            <a:bodyPr wrap="square" lIns="0" tIns="0" rIns="0" bIns="0" rtlCol="0"/>
            <a:lstStyle/>
            <a:p>
              <a:endParaRPr sz="2400"/>
            </a:p>
          </p:txBody>
        </p:sp>
        <p:sp>
          <p:nvSpPr>
            <p:cNvPr id="28" name="object 28"/>
            <p:cNvSpPr/>
            <p:nvPr/>
          </p:nvSpPr>
          <p:spPr>
            <a:xfrm>
              <a:off x="1361987" y="2137274"/>
              <a:ext cx="6420485" cy="1763395"/>
            </a:xfrm>
            <a:custGeom>
              <a:avLst/>
              <a:gdLst/>
              <a:ahLst/>
              <a:cxnLst/>
              <a:rect l="l" t="t" r="r" b="b"/>
              <a:pathLst>
                <a:path w="6420484" h="1763395">
                  <a:moveTo>
                    <a:pt x="0" y="0"/>
                  </a:moveTo>
                  <a:lnTo>
                    <a:pt x="6419999" y="0"/>
                  </a:lnTo>
                  <a:lnTo>
                    <a:pt x="6419999" y="1763399"/>
                  </a:lnTo>
                  <a:lnTo>
                    <a:pt x="0" y="1763399"/>
                  </a:lnTo>
                  <a:lnTo>
                    <a:pt x="0" y="0"/>
                  </a:lnTo>
                  <a:close/>
                </a:path>
              </a:pathLst>
            </a:custGeom>
            <a:ln w="9524">
              <a:solidFill>
                <a:srgbClr val="237A94"/>
              </a:solidFill>
            </a:ln>
          </p:spPr>
          <p:txBody>
            <a:bodyPr wrap="square" lIns="0" tIns="0" rIns="0" bIns="0" rtlCol="0"/>
            <a:lstStyle/>
            <a:p>
              <a:endParaRPr sz="2400"/>
            </a:p>
          </p:txBody>
        </p:sp>
      </p:grpSp>
      <p:sp>
        <p:nvSpPr>
          <p:cNvPr id="29" name="object 29"/>
          <p:cNvSpPr txBox="1"/>
          <p:nvPr/>
        </p:nvSpPr>
        <p:spPr>
          <a:xfrm>
            <a:off x="1976302" y="2984056"/>
            <a:ext cx="1474893" cy="263320"/>
          </a:xfrm>
          <a:prstGeom prst="rect">
            <a:avLst/>
          </a:prstGeom>
        </p:spPr>
        <p:txBody>
          <a:bodyPr vert="horz" wrap="square" lIns="0" tIns="16933" rIns="0" bIns="0" rtlCol="0">
            <a:spAutoFit/>
          </a:bodyPr>
          <a:lstStyle/>
          <a:p>
            <a:pPr>
              <a:spcBef>
                <a:spcPts val="133"/>
              </a:spcBef>
            </a:pPr>
            <a:r>
              <a:rPr sz="1600" dirty="0">
                <a:solidFill>
                  <a:srgbClr val="434343"/>
                </a:solidFill>
                <a:latin typeface="Lucida Sans Unicode"/>
                <a:cs typeface="Lucida Sans Unicode"/>
              </a:rPr>
              <a:t>Memory</a:t>
            </a:r>
            <a:r>
              <a:rPr sz="1600" spc="167" dirty="0">
                <a:solidFill>
                  <a:srgbClr val="434343"/>
                </a:solidFill>
                <a:latin typeface="Lucida Sans Unicode"/>
                <a:cs typeface="Lucida Sans Unicode"/>
              </a:rPr>
              <a:t> </a:t>
            </a:r>
            <a:r>
              <a:rPr sz="1600" spc="-27" dirty="0">
                <a:solidFill>
                  <a:srgbClr val="434343"/>
                </a:solidFill>
                <a:latin typeface="Lucida Sans Unicode"/>
                <a:cs typeface="Lucida Sans Unicode"/>
              </a:rPr>
              <a:t>VRAM</a:t>
            </a:r>
            <a:endParaRPr sz="1600">
              <a:latin typeface="Lucida Sans Unicode"/>
              <a:cs typeface="Lucida Sans Unicode"/>
            </a:endParaRPr>
          </a:p>
        </p:txBody>
      </p:sp>
      <p:sp>
        <p:nvSpPr>
          <p:cNvPr id="30" name="object 30"/>
          <p:cNvSpPr txBox="1"/>
          <p:nvPr/>
        </p:nvSpPr>
        <p:spPr>
          <a:xfrm>
            <a:off x="2064600" y="3552033"/>
            <a:ext cx="1441873" cy="796670"/>
          </a:xfrm>
          <a:prstGeom prst="rect">
            <a:avLst/>
          </a:prstGeom>
          <a:solidFill>
            <a:srgbClr val="FFFFFF"/>
          </a:solidFill>
          <a:ln w="9524">
            <a:solidFill>
              <a:srgbClr val="000000"/>
            </a:solidFill>
          </a:ln>
        </p:spPr>
        <p:txBody>
          <a:bodyPr vert="horz" wrap="square" lIns="0" tIns="138852" rIns="0" bIns="0" rtlCol="0">
            <a:spAutoFit/>
          </a:bodyPr>
          <a:lstStyle/>
          <a:p>
            <a:pPr>
              <a:spcBef>
                <a:spcPts val="1092"/>
              </a:spcBef>
            </a:pPr>
            <a:endParaRPr sz="2133">
              <a:latin typeface="Times New Roman"/>
              <a:cs typeface="Times New Roman"/>
            </a:endParaRPr>
          </a:p>
          <a:p>
            <a:pPr marL="466502"/>
            <a:r>
              <a:rPr sz="2133" spc="-33" dirty="0">
                <a:latin typeface="Arial Black"/>
                <a:cs typeface="Arial Black"/>
              </a:rPr>
              <a:t>LLM</a:t>
            </a:r>
            <a:endParaRPr sz="2133">
              <a:latin typeface="Arial Black"/>
              <a:cs typeface="Arial Black"/>
            </a:endParaRPr>
          </a:p>
        </p:txBody>
      </p:sp>
      <p:sp>
        <p:nvSpPr>
          <p:cNvPr id="31" name="object 31"/>
          <p:cNvSpPr txBox="1"/>
          <p:nvPr/>
        </p:nvSpPr>
        <p:spPr>
          <a:xfrm>
            <a:off x="3634633" y="3552039"/>
            <a:ext cx="1247987" cy="942010"/>
          </a:xfrm>
          <a:prstGeom prst="rect">
            <a:avLst/>
          </a:prstGeom>
          <a:solidFill>
            <a:srgbClr val="BBD4F9"/>
          </a:solidFill>
          <a:ln w="9524">
            <a:solidFill>
              <a:srgbClr val="1B73EB"/>
            </a:solidFill>
          </a:ln>
        </p:spPr>
        <p:txBody>
          <a:bodyPr vert="horz" wrap="square" lIns="0" tIns="282787" rIns="0" bIns="0" rtlCol="0">
            <a:spAutoFit/>
          </a:bodyPr>
          <a:lstStyle/>
          <a:p>
            <a:pPr algn="ctr">
              <a:spcBef>
                <a:spcPts val="2227"/>
              </a:spcBef>
            </a:pPr>
            <a:r>
              <a:rPr sz="2133" spc="-33" dirty="0">
                <a:latin typeface="Arial Black"/>
                <a:cs typeface="Arial Black"/>
              </a:rPr>
              <a:t>KV</a:t>
            </a:r>
            <a:endParaRPr sz="2133">
              <a:latin typeface="Arial Black"/>
              <a:cs typeface="Arial Black"/>
            </a:endParaRPr>
          </a:p>
          <a:p>
            <a:pPr algn="ctr">
              <a:spcBef>
                <a:spcPts val="40"/>
              </a:spcBef>
            </a:pPr>
            <a:r>
              <a:rPr sz="2133" spc="-13" dirty="0">
                <a:latin typeface="Arial Black"/>
                <a:cs typeface="Arial Black"/>
              </a:rPr>
              <a:t>cache</a:t>
            </a:r>
            <a:endParaRPr sz="2133">
              <a:latin typeface="Arial Black"/>
              <a:cs typeface="Arial Black"/>
            </a:endParaRPr>
          </a:p>
        </p:txBody>
      </p:sp>
      <p:grpSp>
        <p:nvGrpSpPr>
          <p:cNvPr id="32" name="object 32"/>
          <p:cNvGrpSpPr/>
          <p:nvPr/>
        </p:nvGrpSpPr>
        <p:grpSpPr>
          <a:xfrm>
            <a:off x="1925322" y="2308098"/>
            <a:ext cx="8369300" cy="1733127"/>
            <a:chOff x="1443991" y="1731073"/>
            <a:chExt cx="6276975" cy="1299845"/>
          </a:xfrm>
        </p:grpSpPr>
        <p:sp>
          <p:nvSpPr>
            <p:cNvPr id="33" name="object 33"/>
            <p:cNvSpPr/>
            <p:nvPr/>
          </p:nvSpPr>
          <p:spPr>
            <a:xfrm>
              <a:off x="1448753" y="1737636"/>
              <a:ext cx="650240" cy="230504"/>
            </a:xfrm>
            <a:custGeom>
              <a:avLst/>
              <a:gdLst/>
              <a:ahLst/>
              <a:cxnLst/>
              <a:rect l="l" t="t" r="r" b="b"/>
              <a:pathLst>
                <a:path w="650239" h="230505">
                  <a:moveTo>
                    <a:pt x="649800" y="230399"/>
                  </a:moveTo>
                  <a:lnTo>
                    <a:pt x="0" y="230399"/>
                  </a:lnTo>
                  <a:lnTo>
                    <a:pt x="0" y="0"/>
                  </a:lnTo>
                  <a:lnTo>
                    <a:pt x="649800" y="0"/>
                  </a:lnTo>
                  <a:lnTo>
                    <a:pt x="649800" y="230399"/>
                  </a:lnTo>
                  <a:close/>
                </a:path>
              </a:pathLst>
            </a:custGeom>
            <a:solidFill>
              <a:srgbClr val="EBFAFF"/>
            </a:solidFill>
          </p:spPr>
          <p:txBody>
            <a:bodyPr wrap="square" lIns="0" tIns="0" rIns="0" bIns="0" rtlCol="0"/>
            <a:lstStyle/>
            <a:p>
              <a:endParaRPr sz="2400"/>
            </a:p>
          </p:txBody>
        </p:sp>
        <p:sp>
          <p:nvSpPr>
            <p:cNvPr id="34" name="object 34"/>
            <p:cNvSpPr/>
            <p:nvPr/>
          </p:nvSpPr>
          <p:spPr>
            <a:xfrm>
              <a:off x="1448753" y="1737636"/>
              <a:ext cx="650240" cy="230504"/>
            </a:xfrm>
            <a:custGeom>
              <a:avLst/>
              <a:gdLst/>
              <a:ahLst/>
              <a:cxnLst/>
              <a:rect l="l" t="t" r="r" b="b"/>
              <a:pathLst>
                <a:path w="650239" h="230505">
                  <a:moveTo>
                    <a:pt x="649800" y="0"/>
                  </a:moveTo>
                  <a:lnTo>
                    <a:pt x="649800" y="230399"/>
                  </a:lnTo>
                  <a:lnTo>
                    <a:pt x="0" y="230399"/>
                  </a:lnTo>
                  <a:lnTo>
                    <a:pt x="0" y="0"/>
                  </a:lnTo>
                  <a:lnTo>
                    <a:pt x="649800" y="0"/>
                  </a:lnTo>
                  <a:close/>
                </a:path>
              </a:pathLst>
            </a:custGeom>
            <a:ln w="9524">
              <a:solidFill>
                <a:srgbClr val="237A94"/>
              </a:solidFill>
            </a:ln>
          </p:spPr>
          <p:txBody>
            <a:bodyPr wrap="square" lIns="0" tIns="0" rIns="0" bIns="0" rtlCol="0"/>
            <a:lstStyle/>
            <a:p>
              <a:endParaRPr sz="2400"/>
            </a:p>
          </p:txBody>
        </p:sp>
        <p:sp>
          <p:nvSpPr>
            <p:cNvPr id="35" name="object 35"/>
            <p:cNvSpPr/>
            <p:nvPr/>
          </p:nvSpPr>
          <p:spPr>
            <a:xfrm>
              <a:off x="22512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6" name="object 36"/>
            <p:cNvSpPr/>
            <p:nvPr/>
          </p:nvSpPr>
          <p:spPr>
            <a:xfrm>
              <a:off x="22512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7" name="object 37"/>
            <p:cNvSpPr/>
            <p:nvPr/>
          </p:nvSpPr>
          <p:spPr>
            <a:xfrm>
              <a:off x="305370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8" name="object 38"/>
            <p:cNvSpPr/>
            <p:nvPr/>
          </p:nvSpPr>
          <p:spPr>
            <a:xfrm>
              <a:off x="305370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9" name="object 39"/>
            <p:cNvSpPr/>
            <p:nvPr/>
          </p:nvSpPr>
          <p:spPr>
            <a:xfrm>
              <a:off x="385617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0" name="object 40"/>
            <p:cNvSpPr/>
            <p:nvPr/>
          </p:nvSpPr>
          <p:spPr>
            <a:xfrm>
              <a:off x="385617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1" name="object 41"/>
            <p:cNvSpPr/>
            <p:nvPr/>
          </p:nvSpPr>
          <p:spPr>
            <a:xfrm>
              <a:off x="4658653"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2" name="object 42"/>
            <p:cNvSpPr/>
            <p:nvPr/>
          </p:nvSpPr>
          <p:spPr>
            <a:xfrm>
              <a:off x="4658653"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3" name="object 43"/>
            <p:cNvSpPr/>
            <p:nvPr/>
          </p:nvSpPr>
          <p:spPr>
            <a:xfrm>
              <a:off x="54611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4" name="object 44"/>
            <p:cNvSpPr/>
            <p:nvPr/>
          </p:nvSpPr>
          <p:spPr>
            <a:xfrm>
              <a:off x="54611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5" name="object 45"/>
            <p:cNvSpPr/>
            <p:nvPr/>
          </p:nvSpPr>
          <p:spPr>
            <a:xfrm>
              <a:off x="6263603" y="1735836"/>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6" name="object 46"/>
            <p:cNvSpPr/>
            <p:nvPr/>
          </p:nvSpPr>
          <p:spPr>
            <a:xfrm>
              <a:off x="6263603" y="1735836"/>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7" name="object 47"/>
            <p:cNvSpPr/>
            <p:nvPr/>
          </p:nvSpPr>
          <p:spPr>
            <a:xfrm>
              <a:off x="7066078" y="1743561"/>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8" name="object 48"/>
            <p:cNvSpPr/>
            <p:nvPr/>
          </p:nvSpPr>
          <p:spPr>
            <a:xfrm>
              <a:off x="7066078" y="1743561"/>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9" name="object 49"/>
            <p:cNvSpPr/>
            <p:nvPr/>
          </p:nvSpPr>
          <p:spPr>
            <a:xfrm>
              <a:off x="1575750" y="1999075"/>
              <a:ext cx="6068060" cy="197485"/>
            </a:xfrm>
            <a:custGeom>
              <a:avLst/>
              <a:gdLst/>
              <a:ahLst/>
              <a:cxnLst/>
              <a:rect l="l" t="t" r="r" b="b"/>
              <a:pathLst>
                <a:path w="6068059" h="197485">
                  <a:moveTo>
                    <a:pt x="6067799" y="197099"/>
                  </a:moveTo>
                  <a:lnTo>
                    <a:pt x="0" y="197099"/>
                  </a:lnTo>
                  <a:lnTo>
                    <a:pt x="0" y="0"/>
                  </a:lnTo>
                  <a:lnTo>
                    <a:pt x="6067799" y="0"/>
                  </a:lnTo>
                  <a:lnTo>
                    <a:pt x="6067799" y="197099"/>
                  </a:lnTo>
                  <a:close/>
                </a:path>
              </a:pathLst>
            </a:custGeom>
            <a:solidFill>
              <a:srgbClr val="FFDE7E"/>
            </a:solidFill>
          </p:spPr>
          <p:txBody>
            <a:bodyPr wrap="square" lIns="0" tIns="0" rIns="0" bIns="0" rtlCol="0"/>
            <a:lstStyle/>
            <a:p>
              <a:endParaRPr sz="2400"/>
            </a:p>
          </p:txBody>
        </p:sp>
        <p:sp>
          <p:nvSpPr>
            <p:cNvPr id="50" name="object 50"/>
            <p:cNvSpPr/>
            <p:nvPr/>
          </p:nvSpPr>
          <p:spPr>
            <a:xfrm>
              <a:off x="1575750" y="1999075"/>
              <a:ext cx="6068060" cy="197485"/>
            </a:xfrm>
            <a:custGeom>
              <a:avLst/>
              <a:gdLst/>
              <a:ahLst/>
              <a:cxnLst/>
              <a:rect l="l" t="t" r="r" b="b"/>
              <a:pathLst>
                <a:path w="6068059" h="197485">
                  <a:moveTo>
                    <a:pt x="0" y="0"/>
                  </a:moveTo>
                  <a:lnTo>
                    <a:pt x="6067799" y="0"/>
                  </a:lnTo>
                  <a:lnTo>
                    <a:pt x="6067799" y="197099"/>
                  </a:lnTo>
                  <a:lnTo>
                    <a:pt x="0" y="197099"/>
                  </a:lnTo>
                  <a:lnTo>
                    <a:pt x="0" y="0"/>
                  </a:lnTo>
                  <a:close/>
                </a:path>
              </a:pathLst>
            </a:custGeom>
            <a:ln w="9524">
              <a:solidFill>
                <a:srgbClr val="595959"/>
              </a:solidFill>
            </a:ln>
          </p:spPr>
          <p:txBody>
            <a:bodyPr wrap="square" lIns="0" tIns="0" rIns="0" bIns="0" rtlCol="0"/>
            <a:lstStyle/>
            <a:p>
              <a:endParaRPr sz="2400"/>
            </a:p>
          </p:txBody>
        </p:sp>
        <p:pic>
          <p:nvPicPr>
            <p:cNvPr id="51" name="object 51"/>
            <p:cNvPicPr/>
            <p:nvPr/>
          </p:nvPicPr>
          <p:blipFill>
            <a:blip r:embed="rId2" cstate="print"/>
            <a:stretch>
              <a:fillRect/>
            </a:stretch>
          </p:blipFill>
          <p:spPr>
            <a:xfrm>
              <a:off x="4531245" y="1953098"/>
              <a:ext cx="82509" cy="287352"/>
            </a:xfrm>
            <a:prstGeom prst="rect">
              <a:avLst/>
            </a:prstGeom>
          </p:spPr>
        </p:pic>
        <p:sp>
          <p:nvSpPr>
            <p:cNvPr id="52" name="object 52"/>
            <p:cNvSpPr/>
            <p:nvPr/>
          </p:nvSpPr>
          <p:spPr>
            <a:xfrm>
              <a:off x="421616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3" name="object 53"/>
            <p:cNvSpPr/>
            <p:nvPr/>
          </p:nvSpPr>
          <p:spPr>
            <a:xfrm>
              <a:off x="421616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4696AA"/>
              </a:solidFill>
            </a:ln>
          </p:spPr>
          <p:txBody>
            <a:bodyPr wrap="square" lIns="0" tIns="0" rIns="0" bIns="0" rtlCol="0"/>
            <a:lstStyle/>
            <a:p>
              <a:endParaRPr sz="2400"/>
            </a:p>
          </p:txBody>
        </p:sp>
        <p:sp>
          <p:nvSpPr>
            <p:cNvPr id="54" name="object 54"/>
            <p:cNvSpPr/>
            <p:nvPr/>
          </p:nvSpPr>
          <p:spPr>
            <a:xfrm>
              <a:off x="372243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5" name="object 55"/>
            <p:cNvSpPr/>
            <p:nvPr/>
          </p:nvSpPr>
          <p:spPr>
            <a:xfrm>
              <a:off x="372243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F47272"/>
              </a:solidFill>
            </a:ln>
          </p:spPr>
          <p:txBody>
            <a:bodyPr wrap="square" lIns="0" tIns="0" rIns="0" bIns="0" rtlCol="0"/>
            <a:lstStyle/>
            <a:p>
              <a:endParaRPr sz="2400"/>
            </a:p>
          </p:txBody>
        </p:sp>
        <p:sp>
          <p:nvSpPr>
            <p:cNvPr id="56" name="object 56"/>
            <p:cNvSpPr/>
            <p:nvPr/>
          </p:nvSpPr>
          <p:spPr>
            <a:xfrm>
              <a:off x="4709835"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7" name="object 57"/>
            <p:cNvSpPr/>
            <p:nvPr/>
          </p:nvSpPr>
          <p:spPr>
            <a:xfrm>
              <a:off x="4709835"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5AB46E"/>
              </a:solidFill>
            </a:ln>
          </p:spPr>
          <p:txBody>
            <a:bodyPr wrap="square" lIns="0" tIns="0" rIns="0" bIns="0" rtlCol="0"/>
            <a:lstStyle/>
            <a:p>
              <a:endParaRPr sz="2400"/>
            </a:p>
          </p:txBody>
        </p:sp>
      </p:grpSp>
      <p:sp>
        <p:nvSpPr>
          <p:cNvPr id="58" name="object 58"/>
          <p:cNvSpPr txBox="1"/>
          <p:nvPr/>
        </p:nvSpPr>
        <p:spPr>
          <a:xfrm>
            <a:off x="5100528" y="3600480"/>
            <a:ext cx="1532467" cy="345330"/>
          </a:xfrm>
          <a:prstGeom prst="rect">
            <a:avLst/>
          </a:prstGeom>
        </p:spPr>
        <p:txBody>
          <a:bodyPr vert="horz" wrap="square" lIns="0" tIns="16933" rIns="0" bIns="0" rtlCol="0">
            <a:spAutoFit/>
          </a:bodyPr>
          <a:lstStyle/>
          <a:p>
            <a:pPr>
              <a:spcBef>
                <a:spcPts val="133"/>
              </a:spcBef>
              <a:tabLst>
                <a:tab pos="683243" algn="l"/>
                <a:tab pos="1330925" algn="l"/>
              </a:tabLst>
            </a:pPr>
            <a:r>
              <a:rPr sz="2133" spc="-67" dirty="0">
                <a:latin typeface="Lucida Sans Unicode"/>
                <a:cs typeface="Lucida Sans Unicode"/>
              </a:rPr>
              <a:t>Q</a:t>
            </a:r>
            <a:r>
              <a:rPr sz="2133" dirty="0">
                <a:latin typeface="Lucida Sans Unicode"/>
                <a:cs typeface="Lucida Sans Unicode"/>
              </a:rPr>
              <a:t>	</a:t>
            </a:r>
            <a:r>
              <a:rPr sz="2133" spc="-67" dirty="0">
                <a:latin typeface="Lucida Sans Unicode"/>
                <a:cs typeface="Lucida Sans Unicode"/>
              </a:rPr>
              <a:t>K</a:t>
            </a:r>
            <a:r>
              <a:rPr sz="2133" dirty="0">
                <a:latin typeface="Lucida Sans Unicode"/>
                <a:cs typeface="Lucida Sans Unicode"/>
              </a:rPr>
              <a:t>	</a:t>
            </a:r>
            <a:r>
              <a:rPr sz="2133" spc="-67" dirty="0">
                <a:latin typeface="Lucida Sans Unicode"/>
                <a:cs typeface="Lucida Sans Unicode"/>
              </a:rPr>
              <a:t>V</a:t>
            </a:r>
            <a:endParaRPr sz="2133">
              <a:latin typeface="Lucida Sans Unicode"/>
              <a:cs typeface="Lucida Sans Unicode"/>
            </a:endParaRPr>
          </a:p>
        </p:txBody>
      </p:sp>
      <p:sp>
        <p:nvSpPr>
          <p:cNvPr id="59" name="object 59"/>
          <p:cNvSpPr txBox="1"/>
          <p:nvPr/>
        </p:nvSpPr>
        <p:spPr>
          <a:xfrm>
            <a:off x="6934605" y="3554195"/>
            <a:ext cx="1219200" cy="782137"/>
          </a:xfrm>
          <a:prstGeom prst="rect">
            <a:avLst/>
          </a:prstGeom>
          <a:solidFill>
            <a:srgbClr val="FFFFFF"/>
          </a:solidFill>
          <a:ln w="45724">
            <a:solidFill>
              <a:srgbClr val="E6A064"/>
            </a:solidFill>
          </a:ln>
        </p:spPr>
        <p:txBody>
          <a:bodyPr vert="horz" wrap="square" lIns="0" tIns="124460" rIns="0" bIns="0" rtlCol="0">
            <a:spAutoFit/>
          </a:bodyPr>
          <a:lstStyle/>
          <a:p>
            <a:pPr>
              <a:spcBef>
                <a:spcPts val="980"/>
              </a:spcBef>
            </a:pPr>
            <a:endParaRPr sz="2133">
              <a:latin typeface="Times New Roman"/>
              <a:cs typeface="Times New Roman"/>
            </a:endParaRPr>
          </a:p>
          <a:p>
            <a:pPr algn="ctr">
              <a:lnSpc>
                <a:spcPct val="100000"/>
              </a:lnSpc>
            </a:pPr>
            <a:r>
              <a:rPr sz="2133" spc="20" dirty="0">
                <a:latin typeface="Lucida Sans Unicode"/>
                <a:cs typeface="Lucida Sans Unicode"/>
              </a:rPr>
              <a:t>S</a:t>
            </a:r>
            <a:endParaRPr sz="2133">
              <a:latin typeface="Lucida Sans Unicode"/>
              <a:cs typeface="Lucida Sans Unicode"/>
            </a:endParaRPr>
          </a:p>
        </p:txBody>
      </p:sp>
      <p:grpSp>
        <p:nvGrpSpPr>
          <p:cNvPr id="60" name="object 60"/>
          <p:cNvGrpSpPr/>
          <p:nvPr/>
        </p:nvGrpSpPr>
        <p:grpSpPr>
          <a:xfrm>
            <a:off x="2357044" y="2383056"/>
            <a:ext cx="7762240" cy="211667"/>
            <a:chOff x="1767783" y="1787292"/>
            <a:chExt cx="5821680" cy="158750"/>
          </a:xfrm>
        </p:grpSpPr>
        <p:sp>
          <p:nvSpPr>
            <p:cNvPr id="61" name="object 61"/>
            <p:cNvSpPr/>
            <p:nvPr/>
          </p:nvSpPr>
          <p:spPr>
            <a:xfrm>
              <a:off x="1874464"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2" name="object 62"/>
            <p:cNvSpPr/>
            <p:nvPr/>
          </p:nvSpPr>
          <p:spPr>
            <a:xfrm>
              <a:off x="1874464"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63" name="object 63"/>
            <p:cNvSpPr/>
            <p:nvPr/>
          </p:nvSpPr>
          <p:spPr>
            <a:xfrm>
              <a:off x="2678900"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4" name="object 64"/>
            <p:cNvSpPr/>
            <p:nvPr/>
          </p:nvSpPr>
          <p:spPr>
            <a:xfrm>
              <a:off x="2678900"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65" name="object 65"/>
            <p:cNvSpPr/>
            <p:nvPr/>
          </p:nvSpPr>
          <p:spPr>
            <a:xfrm>
              <a:off x="4280056"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6" name="object 66"/>
            <p:cNvSpPr/>
            <p:nvPr/>
          </p:nvSpPr>
          <p:spPr>
            <a:xfrm>
              <a:off x="4280056"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67" name="object 67"/>
            <p:cNvSpPr/>
            <p:nvPr/>
          </p:nvSpPr>
          <p:spPr>
            <a:xfrm>
              <a:off x="5087170"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8" name="object 68"/>
            <p:cNvSpPr/>
            <p:nvPr/>
          </p:nvSpPr>
          <p:spPr>
            <a:xfrm>
              <a:off x="5087170"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69" name="object 69"/>
            <p:cNvSpPr/>
            <p:nvPr/>
          </p:nvSpPr>
          <p:spPr>
            <a:xfrm>
              <a:off x="5889145"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0" name="object 70"/>
            <p:cNvSpPr/>
            <p:nvPr/>
          </p:nvSpPr>
          <p:spPr>
            <a:xfrm>
              <a:off x="5889145"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71" name="object 71"/>
            <p:cNvSpPr/>
            <p:nvPr/>
          </p:nvSpPr>
          <p:spPr>
            <a:xfrm>
              <a:off x="6689832"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2" name="object 72"/>
            <p:cNvSpPr/>
            <p:nvPr/>
          </p:nvSpPr>
          <p:spPr>
            <a:xfrm>
              <a:off x="6689832"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73" name="object 73"/>
            <p:cNvSpPr/>
            <p:nvPr/>
          </p:nvSpPr>
          <p:spPr>
            <a:xfrm>
              <a:off x="7493037"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4" name="object 74"/>
            <p:cNvSpPr/>
            <p:nvPr/>
          </p:nvSpPr>
          <p:spPr>
            <a:xfrm>
              <a:off x="7493037"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75" name="object 75"/>
            <p:cNvSpPr/>
            <p:nvPr/>
          </p:nvSpPr>
          <p:spPr>
            <a:xfrm>
              <a:off x="1772546"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6" name="object 76"/>
            <p:cNvSpPr/>
            <p:nvPr/>
          </p:nvSpPr>
          <p:spPr>
            <a:xfrm>
              <a:off x="1772546"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77" name="object 77"/>
          <p:cNvSpPr txBox="1"/>
          <p:nvPr/>
        </p:nvSpPr>
        <p:spPr>
          <a:xfrm>
            <a:off x="2379665"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78" name="object 78"/>
          <p:cNvGrpSpPr/>
          <p:nvPr/>
        </p:nvGrpSpPr>
        <p:grpSpPr>
          <a:xfrm>
            <a:off x="3429625" y="2383367"/>
            <a:ext cx="135467" cy="210820"/>
            <a:chOff x="2572219" y="1787525"/>
            <a:chExt cx="101600" cy="158115"/>
          </a:xfrm>
        </p:grpSpPr>
        <p:sp>
          <p:nvSpPr>
            <p:cNvPr id="79" name="object 79"/>
            <p:cNvSpPr/>
            <p:nvPr/>
          </p:nvSpPr>
          <p:spPr>
            <a:xfrm>
              <a:off x="2576982"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0" name="object 80"/>
            <p:cNvSpPr/>
            <p:nvPr/>
          </p:nvSpPr>
          <p:spPr>
            <a:xfrm>
              <a:off x="2576982"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81" name="object 81"/>
          <p:cNvSpPr txBox="1"/>
          <p:nvPr/>
        </p:nvSpPr>
        <p:spPr>
          <a:xfrm>
            <a:off x="3452247"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82" name="object 82"/>
          <p:cNvGrpSpPr/>
          <p:nvPr/>
        </p:nvGrpSpPr>
        <p:grpSpPr>
          <a:xfrm>
            <a:off x="4500123" y="2383367"/>
            <a:ext cx="2275840" cy="210820"/>
            <a:chOff x="3375092" y="1787525"/>
            <a:chExt cx="1706880" cy="158115"/>
          </a:xfrm>
        </p:grpSpPr>
        <p:sp>
          <p:nvSpPr>
            <p:cNvPr id="83" name="object 83"/>
            <p:cNvSpPr/>
            <p:nvPr/>
          </p:nvSpPr>
          <p:spPr>
            <a:xfrm>
              <a:off x="3379854"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4" name="object 84"/>
            <p:cNvSpPr/>
            <p:nvPr/>
          </p:nvSpPr>
          <p:spPr>
            <a:xfrm>
              <a:off x="3379854"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sp>
          <p:nvSpPr>
            <p:cNvPr id="85" name="object 85"/>
            <p:cNvSpPr/>
            <p:nvPr/>
          </p:nvSpPr>
          <p:spPr>
            <a:xfrm>
              <a:off x="4985252"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6" name="object 86"/>
            <p:cNvSpPr/>
            <p:nvPr/>
          </p:nvSpPr>
          <p:spPr>
            <a:xfrm>
              <a:off x="4985252"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87" name="object 87"/>
          <p:cNvSpPr txBox="1"/>
          <p:nvPr/>
        </p:nvSpPr>
        <p:spPr>
          <a:xfrm>
            <a:off x="6663273"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88" name="object 88"/>
          <p:cNvGrpSpPr/>
          <p:nvPr/>
        </p:nvGrpSpPr>
        <p:grpSpPr>
          <a:xfrm>
            <a:off x="7709952" y="2383367"/>
            <a:ext cx="135467" cy="210820"/>
            <a:chOff x="5782464" y="1787525"/>
            <a:chExt cx="101600" cy="158115"/>
          </a:xfrm>
        </p:grpSpPr>
        <p:sp>
          <p:nvSpPr>
            <p:cNvPr id="89" name="object 89"/>
            <p:cNvSpPr/>
            <p:nvPr/>
          </p:nvSpPr>
          <p:spPr>
            <a:xfrm>
              <a:off x="5787227"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0" name="object 90"/>
            <p:cNvSpPr/>
            <p:nvPr/>
          </p:nvSpPr>
          <p:spPr>
            <a:xfrm>
              <a:off x="5787227"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91" name="object 91"/>
          <p:cNvSpPr txBox="1"/>
          <p:nvPr/>
        </p:nvSpPr>
        <p:spPr>
          <a:xfrm>
            <a:off x="7732573"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92" name="object 92"/>
          <p:cNvGrpSpPr/>
          <p:nvPr/>
        </p:nvGrpSpPr>
        <p:grpSpPr>
          <a:xfrm>
            <a:off x="8777535" y="2383367"/>
            <a:ext cx="135467" cy="210820"/>
            <a:chOff x="6583151" y="1787525"/>
            <a:chExt cx="101600" cy="158115"/>
          </a:xfrm>
        </p:grpSpPr>
        <p:sp>
          <p:nvSpPr>
            <p:cNvPr id="93" name="object 93"/>
            <p:cNvSpPr/>
            <p:nvPr/>
          </p:nvSpPr>
          <p:spPr>
            <a:xfrm>
              <a:off x="6587914"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4" name="object 94"/>
            <p:cNvSpPr/>
            <p:nvPr/>
          </p:nvSpPr>
          <p:spPr>
            <a:xfrm>
              <a:off x="6587914"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95" name="object 95"/>
          <p:cNvSpPr txBox="1"/>
          <p:nvPr/>
        </p:nvSpPr>
        <p:spPr>
          <a:xfrm>
            <a:off x="8800155"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96" name="object 96"/>
          <p:cNvGrpSpPr/>
          <p:nvPr/>
        </p:nvGrpSpPr>
        <p:grpSpPr>
          <a:xfrm>
            <a:off x="9848475" y="2383367"/>
            <a:ext cx="135467" cy="210820"/>
            <a:chOff x="7386356" y="1787525"/>
            <a:chExt cx="101600" cy="158115"/>
          </a:xfrm>
        </p:grpSpPr>
        <p:sp>
          <p:nvSpPr>
            <p:cNvPr id="97" name="object 97"/>
            <p:cNvSpPr/>
            <p:nvPr/>
          </p:nvSpPr>
          <p:spPr>
            <a:xfrm>
              <a:off x="7391119"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8" name="object 98"/>
            <p:cNvSpPr/>
            <p:nvPr/>
          </p:nvSpPr>
          <p:spPr>
            <a:xfrm>
              <a:off x="7391119"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99" name="object 99"/>
          <p:cNvSpPr txBox="1"/>
          <p:nvPr/>
        </p:nvSpPr>
        <p:spPr>
          <a:xfrm>
            <a:off x="9871095"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100" name="object 100"/>
          <p:cNvGrpSpPr/>
          <p:nvPr/>
        </p:nvGrpSpPr>
        <p:grpSpPr>
          <a:xfrm>
            <a:off x="5571067" y="2383367"/>
            <a:ext cx="135467" cy="210820"/>
            <a:chOff x="4178300" y="1787525"/>
            <a:chExt cx="101600" cy="158115"/>
          </a:xfrm>
        </p:grpSpPr>
        <p:sp>
          <p:nvSpPr>
            <p:cNvPr id="101" name="object 101"/>
            <p:cNvSpPr/>
            <p:nvPr/>
          </p:nvSpPr>
          <p:spPr>
            <a:xfrm>
              <a:off x="4183062" y="1792288"/>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2" name="object 102"/>
            <p:cNvSpPr/>
            <p:nvPr/>
          </p:nvSpPr>
          <p:spPr>
            <a:xfrm>
              <a:off x="4183062" y="1792288"/>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E6A064"/>
              </a:solidFill>
            </a:ln>
          </p:spPr>
          <p:txBody>
            <a:bodyPr wrap="square" lIns="0" tIns="0" rIns="0" bIns="0" rtlCol="0"/>
            <a:lstStyle/>
            <a:p>
              <a:endParaRPr sz="2400"/>
            </a:p>
          </p:txBody>
        </p:sp>
      </p:grpSp>
      <p:sp>
        <p:nvSpPr>
          <p:cNvPr id="103" name="object 103"/>
          <p:cNvSpPr txBox="1"/>
          <p:nvPr/>
        </p:nvSpPr>
        <p:spPr>
          <a:xfrm>
            <a:off x="5593688" y="2374248"/>
            <a:ext cx="242993"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73"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104" name="object 104"/>
          <p:cNvGrpSpPr/>
          <p:nvPr/>
        </p:nvGrpSpPr>
        <p:grpSpPr>
          <a:xfrm>
            <a:off x="4636013" y="2383057"/>
            <a:ext cx="135467" cy="210820"/>
            <a:chOff x="3477010" y="1787292"/>
            <a:chExt cx="101600" cy="158115"/>
          </a:xfrm>
        </p:grpSpPr>
        <p:sp>
          <p:nvSpPr>
            <p:cNvPr id="105" name="object 105"/>
            <p:cNvSpPr/>
            <p:nvPr/>
          </p:nvSpPr>
          <p:spPr>
            <a:xfrm>
              <a:off x="3481773"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6" name="object 106"/>
            <p:cNvSpPr/>
            <p:nvPr/>
          </p:nvSpPr>
          <p:spPr>
            <a:xfrm>
              <a:off x="3481773"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107" name="object 107"/>
          <p:cNvSpPr txBox="1"/>
          <p:nvPr/>
        </p:nvSpPr>
        <p:spPr>
          <a:xfrm>
            <a:off x="4522743" y="2374248"/>
            <a:ext cx="24892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S</a:t>
            </a:r>
            <a:r>
              <a:rPr sz="1200" spc="-20" dirty="0">
                <a:latin typeface="Lucida Sans Unicode"/>
                <a:cs typeface="Lucida Sans Unicode"/>
              </a:rPr>
              <a:t> </a:t>
            </a:r>
            <a:r>
              <a:rPr sz="1200" spc="-67" dirty="0">
                <a:latin typeface="Lucida Sans Unicode"/>
                <a:cs typeface="Lucida Sans Unicode"/>
              </a:rPr>
              <a:t>A</a:t>
            </a:r>
            <a:endParaRPr sz="1200">
              <a:latin typeface="Lucida Sans Unicode"/>
              <a:cs typeface="Lucida Sans Unicode"/>
            </a:endParaRPr>
          </a:p>
        </p:txBody>
      </p:sp>
      <p:grpSp>
        <p:nvGrpSpPr>
          <p:cNvPr id="108" name="object 108"/>
          <p:cNvGrpSpPr/>
          <p:nvPr/>
        </p:nvGrpSpPr>
        <p:grpSpPr>
          <a:xfrm>
            <a:off x="2553704" y="2581018"/>
            <a:ext cx="7504853" cy="979593"/>
            <a:chOff x="1915278" y="1935763"/>
            <a:chExt cx="5628640" cy="734695"/>
          </a:xfrm>
        </p:grpSpPr>
        <p:sp>
          <p:nvSpPr>
            <p:cNvPr id="109" name="object 109"/>
            <p:cNvSpPr/>
            <p:nvPr/>
          </p:nvSpPr>
          <p:spPr>
            <a:xfrm>
              <a:off x="1920140" y="1940625"/>
              <a:ext cx="4744720" cy="725170"/>
            </a:xfrm>
            <a:custGeom>
              <a:avLst/>
              <a:gdLst/>
              <a:ahLst/>
              <a:cxnLst/>
              <a:rect l="l" t="t" r="r" b="b"/>
              <a:pathLst>
                <a:path w="4744720" h="725169">
                  <a:moveTo>
                    <a:pt x="4744200" y="724799"/>
                  </a:moveTo>
                  <a:lnTo>
                    <a:pt x="4722035" y="683000"/>
                  </a:lnTo>
                  <a:lnTo>
                    <a:pt x="4677715" y="653767"/>
                  </a:lnTo>
                  <a:lnTo>
                    <a:pt x="4635833" y="635220"/>
                  </a:lnTo>
                  <a:lnTo>
                    <a:pt x="4584615" y="617386"/>
                  </a:lnTo>
                  <a:lnTo>
                    <a:pt x="4524515" y="600231"/>
                  </a:lnTo>
                  <a:lnTo>
                    <a:pt x="4455990" y="583720"/>
                  </a:lnTo>
                  <a:lnTo>
                    <a:pt x="4418710" y="575694"/>
                  </a:lnTo>
                  <a:lnTo>
                    <a:pt x="4379494" y="567817"/>
                  </a:lnTo>
                  <a:lnTo>
                    <a:pt x="4338400" y="560083"/>
                  </a:lnTo>
                  <a:lnTo>
                    <a:pt x="4295484" y="552488"/>
                  </a:lnTo>
                  <a:lnTo>
                    <a:pt x="4250803" y="545029"/>
                  </a:lnTo>
                  <a:lnTo>
                    <a:pt x="4204414" y="537699"/>
                  </a:lnTo>
                  <a:lnTo>
                    <a:pt x="4156374" y="530496"/>
                  </a:lnTo>
                  <a:lnTo>
                    <a:pt x="4106741" y="523415"/>
                  </a:lnTo>
                  <a:lnTo>
                    <a:pt x="4055570" y="516451"/>
                  </a:lnTo>
                  <a:lnTo>
                    <a:pt x="4002918" y="509600"/>
                  </a:lnTo>
                  <a:lnTo>
                    <a:pt x="3948844" y="502857"/>
                  </a:lnTo>
                  <a:lnTo>
                    <a:pt x="3893403" y="496220"/>
                  </a:lnTo>
                  <a:lnTo>
                    <a:pt x="3836653" y="489682"/>
                  </a:lnTo>
                  <a:lnTo>
                    <a:pt x="3778651" y="483240"/>
                  </a:lnTo>
                  <a:lnTo>
                    <a:pt x="3719452" y="476889"/>
                  </a:lnTo>
                  <a:lnTo>
                    <a:pt x="3659116" y="470626"/>
                  </a:lnTo>
                  <a:lnTo>
                    <a:pt x="3597697" y="464445"/>
                  </a:lnTo>
                  <a:lnTo>
                    <a:pt x="3535254" y="458342"/>
                  </a:lnTo>
                  <a:lnTo>
                    <a:pt x="3471843" y="452313"/>
                  </a:lnTo>
                  <a:lnTo>
                    <a:pt x="3407521" y="446354"/>
                  </a:lnTo>
                  <a:lnTo>
                    <a:pt x="3342345" y="440460"/>
                  </a:lnTo>
                  <a:lnTo>
                    <a:pt x="3276373" y="434627"/>
                  </a:lnTo>
                  <a:lnTo>
                    <a:pt x="3209660" y="428851"/>
                  </a:lnTo>
                  <a:lnTo>
                    <a:pt x="3142263" y="423127"/>
                  </a:lnTo>
                  <a:lnTo>
                    <a:pt x="3074241" y="417450"/>
                  </a:lnTo>
                  <a:lnTo>
                    <a:pt x="3005649" y="411817"/>
                  </a:lnTo>
                  <a:lnTo>
                    <a:pt x="2936545" y="406224"/>
                  </a:lnTo>
                  <a:lnTo>
                    <a:pt x="2866986" y="400665"/>
                  </a:lnTo>
                  <a:lnTo>
                    <a:pt x="2797028" y="395137"/>
                  </a:lnTo>
                  <a:lnTo>
                    <a:pt x="2726728" y="389635"/>
                  </a:lnTo>
                  <a:lnTo>
                    <a:pt x="2656144" y="384154"/>
                  </a:lnTo>
                  <a:lnTo>
                    <a:pt x="2585332" y="378691"/>
                  </a:lnTo>
                  <a:lnTo>
                    <a:pt x="2514350" y="373241"/>
                  </a:lnTo>
                  <a:lnTo>
                    <a:pt x="2443253" y="367800"/>
                  </a:lnTo>
                  <a:lnTo>
                    <a:pt x="2372099" y="362363"/>
                  </a:lnTo>
                  <a:lnTo>
                    <a:pt x="2300946" y="356927"/>
                  </a:lnTo>
                  <a:lnTo>
                    <a:pt x="2229849" y="351486"/>
                  </a:lnTo>
                  <a:lnTo>
                    <a:pt x="2158867" y="346036"/>
                  </a:lnTo>
                  <a:lnTo>
                    <a:pt x="2088055" y="340573"/>
                  </a:lnTo>
                  <a:lnTo>
                    <a:pt x="2017471" y="335093"/>
                  </a:lnTo>
                  <a:lnTo>
                    <a:pt x="1947171" y="329592"/>
                  </a:lnTo>
                  <a:lnTo>
                    <a:pt x="1877213" y="324064"/>
                  </a:lnTo>
                  <a:lnTo>
                    <a:pt x="1807654" y="318506"/>
                  </a:lnTo>
                  <a:lnTo>
                    <a:pt x="1738550" y="312913"/>
                  </a:lnTo>
                  <a:lnTo>
                    <a:pt x="1669958" y="307281"/>
                  </a:lnTo>
                  <a:lnTo>
                    <a:pt x="1601936" y="301605"/>
                  </a:lnTo>
                  <a:lnTo>
                    <a:pt x="1534539" y="295882"/>
                  </a:lnTo>
                  <a:lnTo>
                    <a:pt x="1467827" y="290106"/>
                  </a:lnTo>
                  <a:lnTo>
                    <a:pt x="1401854" y="284274"/>
                  </a:lnTo>
                  <a:lnTo>
                    <a:pt x="1336678" y="278382"/>
                  </a:lnTo>
                  <a:lnTo>
                    <a:pt x="1272356" y="272424"/>
                  </a:lnTo>
                  <a:lnTo>
                    <a:pt x="1208945" y="266396"/>
                  </a:lnTo>
                  <a:lnTo>
                    <a:pt x="1146502" y="260295"/>
                  </a:lnTo>
                  <a:lnTo>
                    <a:pt x="1085083" y="254115"/>
                  </a:lnTo>
                  <a:lnTo>
                    <a:pt x="1024747" y="247852"/>
                  </a:lnTo>
                  <a:lnTo>
                    <a:pt x="965549" y="241503"/>
                  </a:lnTo>
                  <a:lnTo>
                    <a:pt x="907546" y="235063"/>
                  </a:lnTo>
                  <a:lnTo>
                    <a:pt x="850796" y="228526"/>
                  </a:lnTo>
                  <a:lnTo>
                    <a:pt x="795355" y="221890"/>
                  </a:lnTo>
                  <a:lnTo>
                    <a:pt x="741281" y="215150"/>
                  </a:lnTo>
                  <a:lnTo>
                    <a:pt x="688630" y="208300"/>
                  </a:lnTo>
                  <a:lnTo>
                    <a:pt x="637459" y="201338"/>
                  </a:lnTo>
                  <a:lnTo>
                    <a:pt x="587825" y="194258"/>
                  </a:lnTo>
                  <a:lnTo>
                    <a:pt x="539785" y="187057"/>
                  </a:lnTo>
                  <a:lnTo>
                    <a:pt x="493396" y="179729"/>
                  </a:lnTo>
                  <a:lnTo>
                    <a:pt x="448715" y="172271"/>
                  </a:lnTo>
                  <a:lnTo>
                    <a:pt x="405799" y="164679"/>
                  </a:lnTo>
                  <a:lnTo>
                    <a:pt x="364705" y="156947"/>
                  </a:lnTo>
                  <a:lnTo>
                    <a:pt x="325490" y="149071"/>
                  </a:lnTo>
                  <a:lnTo>
                    <a:pt x="288210" y="141048"/>
                  </a:lnTo>
                  <a:lnTo>
                    <a:pt x="219684" y="124540"/>
                  </a:lnTo>
                  <a:lnTo>
                    <a:pt x="159585" y="107389"/>
                  </a:lnTo>
                  <a:lnTo>
                    <a:pt x="108367" y="89560"/>
                  </a:lnTo>
                  <a:lnTo>
                    <a:pt x="66485" y="71017"/>
                  </a:lnTo>
                  <a:lnTo>
                    <a:pt x="22164" y="41790"/>
                  </a:lnTo>
                  <a:lnTo>
                    <a:pt x="1413" y="10762"/>
                  </a:lnTo>
                  <a:lnTo>
                    <a:pt x="0" y="0"/>
                  </a:lnTo>
                </a:path>
                <a:path w="4744720" h="725169">
                  <a:moveTo>
                    <a:pt x="4744200" y="724799"/>
                  </a:moveTo>
                  <a:lnTo>
                    <a:pt x="4730152" y="688162"/>
                  </a:lnTo>
                  <a:lnTo>
                    <a:pt x="4689348" y="653987"/>
                  </a:lnTo>
                  <a:lnTo>
                    <a:pt x="4648270" y="632479"/>
                  </a:lnTo>
                  <a:lnTo>
                    <a:pt x="4596788" y="611929"/>
                  </a:lnTo>
                  <a:lnTo>
                    <a:pt x="4535494" y="592281"/>
                  </a:lnTo>
                  <a:lnTo>
                    <a:pt x="4464984" y="573481"/>
                  </a:lnTo>
                  <a:lnTo>
                    <a:pt x="4426458" y="564382"/>
                  </a:lnTo>
                  <a:lnTo>
                    <a:pt x="4385852" y="555475"/>
                  </a:lnTo>
                  <a:lnTo>
                    <a:pt x="4343238" y="546752"/>
                  </a:lnTo>
                  <a:lnTo>
                    <a:pt x="4298693" y="538206"/>
                  </a:lnTo>
                  <a:lnTo>
                    <a:pt x="4252289" y="529832"/>
                  </a:lnTo>
                  <a:lnTo>
                    <a:pt x="4204101" y="521622"/>
                  </a:lnTo>
                  <a:lnTo>
                    <a:pt x="4154204" y="513569"/>
                  </a:lnTo>
                  <a:lnTo>
                    <a:pt x="4102671" y="505667"/>
                  </a:lnTo>
                  <a:lnTo>
                    <a:pt x="4049578" y="497908"/>
                  </a:lnTo>
                  <a:lnTo>
                    <a:pt x="3994998" y="490286"/>
                  </a:lnTo>
                  <a:lnTo>
                    <a:pt x="3939006" y="482794"/>
                  </a:lnTo>
                  <a:lnTo>
                    <a:pt x="3881677" y="475425"/>
                  </a:lnTo>
                  <a:lnTo>
                    <a:pt x="3823083" y="468172"/>
                  </a:lnTo>
                  <a:lnTo>
                    <a:pt x="3763301" y="461029"/>
                  </a:lnTo>
                  <a:lnTo>
                    <a:pt x="3702403" y="453988"/>
                  </a:lnTo>
                  <a:lnTo>
                    <a:pt x="3640465" y="447043"/>
                  </a:lnTo>
                  <a:lnTo>
                    <a:pt x="3577561" y="440187"/>
                  </a:lnTo>
                  <a:lnTo>
                    <a:pt x="3513765" y="433414"/>
                  </a:lnTo>
                  <a:lnTo>
                    <a:pt x="3449152" y="426715"/>
                  </a:lnTo>
                  <a:lnTo>
                    <a:pt x="3383795" y="420085"/>
                  </a:lnTo>
                  <a:lnTo>
                    <a:pt x="3317769" y="413516"/>
                  </a:lnTo>
                  <a:lnTo>
                    <a:pt x="3251148" y="407002"/>
                  </a:lnTo>
                  <a:lnTo>
                    <a:pt x="3184008" y="400536"/>
                  </a:lnTo>
                  <a:lnTo>
                    <a:pt x="3116421" y="394111"/>
                  </a:lnTo>
                  <a:lnTo>
                    <a:pt x="3048463" y="387721"/>
                  </a:lnTo>
                  <a:lnTo>
                    <a:pt x="2980207" y="381357"/>
                  </a:lnTo>
                  <a:lnTo>
                    <a:pt x="2911728" y="375014"/>
                  </a:lnTo>
                  <a:lnTo>
                    <a:pt x="2843101" y="368685"/>
                  </a:lnTo>
                  <a:lnTo>
                    <a:pt x="2774399" y="362363"/>
                  </a:lnTo>
                  <a:lnTo>
                    <a:pt x="2705698" y="356041"/>
                  </a:lnTo>
                  <a:lnTo>
                    <a:pt x="2637071" y="349713"/>
                  </a:lnTo>
                  <a:lnTo>
                    <a:pt x="2568592" y="343370"/>
                  </a:lnTo>
                  <a:lnTo>
                    <a:pt x="2500336" y="337007"/>
                  </a:lnTo>
                  <a:lnTo>
                    <a:pt x="2432378" y="330617"/>
                  </a:lnTo>
                  <a:lnTo>
                    <a:pt x="2364791" y="324193"/>
                  </a:lnTo>
                  <a:lnTo>
                    <a:pt x="2297651" y="317727"/>
                  </a:lnTo>
                  <a:lnTo>
                    <a:pt x="2231030" y="311214"/>
                  </a:lnTo>
                  <a:lnTo>
                    <a:pt x="2165004" y="304647"/>
                  </a:lnTo>
                  <a:lnTo>
                    <a:pt x="2099648" y="298017"/>
                  </a:lnTo>
                  <a:lnTo>
                    <a:pt x="2035034" y="291320"/>
                  </a:lnTo>
                  <a:lnTo>
                    <a:pt x="1971238" y="284547"/>
                  </a:lnTo>
                  <a:lnTo>
                    <a:pt x="1908334" y="277692"/>
                  </a:lnTo>
                  <a:lnTo>
                    <a:pt x="1846396" y="270749"/>
                  </a:lnTo>
                  <a:lnTo>
                    <a:pt x="1785498" y="263709"/>
                  </a:lnTo>
                  <a:lnTo>
                    <a:pt x="1725716" y="256568"/>
                  </a:lnTo>
                  <a:lnTo>
                    <a:pt x="1667123" y="249316"/>
                  </a:lnTo>
                  <a:lnTo>
                    <a:pt x="1609793" y="241949"/>
                  </a:lnTo>
                  <a:lnTo>
                    <a:pt x="1553801" y="234459"/>
                  </a:lnTo>
                  <a:lnTo>
                    <a:pt x="1499221" y="226838"/>
                  </a:lnTo>
                  <a:lnTo>
                    <a:pt x="1446128" y="219082"/>
                  </a:lnTo>
                  <a:lnTo>
                    <a:pt x="1394596" y="211181"/>
                  </a:lnTo>
                  <a:lnTo>
                    <a:pt x="1344698" y="203130"/>
                  </a:lnTo>
                  <a:lnTo>
                    <a:pt x="1296511" y="194922"/>
                  </a:lnTo>
                  <a:lnTo>
                    <a:pt x="1250107" y="186550"/>
                  </a:lnTo>
                  <a:lnTo>
                    <a:pt x="1205561" y="178007"/>
                  </a:lnTo>
                  <a:lnTo>
                    <a:pt x="1162948" y="169286"/>
                  </a:lnTo>
                  <a:lnTo>
                    <a:pt x="1122341" y="160381"/>
                  </a:lnTo>
                  <a:lnTo>
                    <a:pt x="1083816" y="151284"/>
                  </a:lnTo>
                  <a:lnTo>
                    <a:pt x="1013306" y="132488"/>
                  </a:lnTo>
                  <a:lnTo>
                    <a:pt x="952012" y="112845"/>
                  </a:lnTo>
                  <a:lnTo>
                    <a:pt x="900529" y="92300"/>
                  </a:lnTo>
                  <a:lnTo>
                    <a:pt x="859452" y="70797"/>
                  </a:lnTo>
                  <a:lnTo>
                    <a:pt x="818647" y="36629"/>
                  </a:lnTo>
                  <a:lnTo>
                    <a:pt x="806185" y="12494"/>
                  </a:lnTo>
                  <a:lnTo>
                    <a:pt x="804599" y="0"/>
                  </a:lnTo>
                </a:path>
                <a:path w="4744720" h="725169">
                  <a:moveTo>
                    <a:pt x="4744200" y="724799"/>
                  </a:moveTo>
                  <a:lnTo>
                    <a:pt x="4727409" y="680140"/>
                  </a:lnTo>
                  <a:lnTo>
                    <a:pt x="4698474" y="652417"/>
                  </a:lnTo>
                  <a:lnTo>
                    <a:pt x="4656370" y="626216"/>
                  </a:lnTo>
                  <a:lnTo>
                    <a:pt x="4601974" y="601435"/>
                  </a:lnTo>
                  <a:lnTo>
                    <a:pt x="4536165" y="577972"/>
                  </a:lnTo>
                  <a:lnTo>
                    <a:pt x="4499255" y="566703"/>
                  </a:lnTo>
                  <a:lnTo>
                    <a:pt x="4459821" y="555726"/>
                  </a:lnTo>
                  <a:lnTo>
                    <a:pt x="4417973" y="545029"/>
                  </a:lnTo>
                  <a:lnTo>
                    <a:pt x="4373820" y="534597"/>
                  </a:lnTo>
                  <a:lnTo>
                    <a:pt x="4327472" y="524419"/>
                  </a:lnTo>
                  <a:lnTo>
                    <a:pt x="4279039" y="514482"/>
                  </a:lnTo>
                  <a:lnTo>
                    <a:pt x="4228631" y="504773"/>
                  </a:lnTo>
                  <a:lnTo>
                    <a:pt x="4176357" y="495280"/>
                  </a:lnTo>
                  <a:lnTo>
                    <a:pt x="4122327" y="485989"/>
                  </a:lnTo>
                  <a:lnTo>
                    <a:pt x="4066651" y="476889"/>
                  </a:lnTo>
                  <a:lnTo>
                    <a:pt x="4009439" y="467967"/>
                  </a:lnTo>
                  <a:lnTo>
                    <a:pt x="3950800" y="459209"/>
                  </a:lnTo>
                  <a:lnTo>
                    <a:pt x="3890844" y="450604"/>
                  </a:lnTo>
                  <a:lnTo>
                    <a:pt x="3829681" y="442138"/>
                  </a:lnTo>
                  <a:lnTo>
                    <a:pt x="3767420" y="433799"/>
                  </a:lnTo>
                  <a:lnTo>
                    <a:pt x="3704172" y="425574"/>
                  </a:lnTo>
                  <a:lnTo>
                    <a:pt x="3640046" y="417450"/>
                  </a:lnTo>
                  <a:lnTo>
                    <a:pt x="3575152" y="409416"/>
                  </a:lnTo>
                  <a:lnTo>
                    <a:pt x="3509599" y="401457"/>
                  </a:lnTo>
                  <a:lnTo>
                    <a:pt x="3443497" y="393562"/>
                  </a:lnTo>
                  <a:lnTo>
                    <a:pt x="3376957" y="385718"/>
                  </a:lnTo>
                  <a:lnTo>
                    <a:pt x="3310087" y="377912"/>
                  </a:lnTo>
                  <a:lnTo>
                    <a:pt x="3242998" y="370131"/>
                  </a:lnTo>
                  <a:lnTo>
                    <a:pt x="3175799" y="362363"/>
                  </a:lnTo>
                  <a:lnTo>
                    <a:pt x="3108601" y="354596"/>
                  </a:lnTo>
                  <a:lnTo>
                    <a:pt x="3041512" y="346815"/>
                  </a:lnTo>
                  <a:lnTo>
                    <a:pt x="2974642" y="339010"/>
                  </a:lnTo>
                  <a:lnTo>
                    <a:pt x="2908102" y="331166"/>
                  </a:lnTo>
                  <a:lnTo>
                    <a:pt x="2842000" y="323272"/>
                  </a:lnTo>
                  <a:lnTo>
                    <a:pt x="2776447" y="315314"/>
                  </a:lnTo>
                  <a:lnTo>
                    <a:pt x="2711553" y="307281"/>
                  </a:lnTo>
                  <a:lnTo>
                    <a:pt x="2647427" y="299158"/>
                  </a:lnTo>
                  <a:lnTo>
                    <a:pt x="2584179" y="290935"/>
                  </a:lnTo>
                  <a:lnTo>
                    <a:pt x="2521918" y="282597"/>
                  </a:lnTo>
                  <a:lnTo>
                    <a:pt x="2460755" y="274133"/>
                  </a:lnTo>
                  <a:lnTo>
                    <a:pt x="2400800" y="265529"/>
                  </a:lnTo>
                  <a:lnTo>
                    <a:pt x="2342161" y="256773"/>
                  </a:lnTo>
                  <a:lnTo>
                    <a:pt x="2284948" y="247852"/>
                  </a:lnTo>
                  <a:lnTo>
                    <a:pt x="2229272" y="238754"/>
                  </a:lnTo>
                  <a:lnTo>
                    <a:pt x="2175243" y="229466"/>
                  </a:lnTo>
                  <a:lnTo>
                    <a:pt x="2122969" y="219975"/>
                  </a:lnTo>
                  <a:lnTo>
                    <a:pt x="2072560" y="210269"/>
                  </a:lnTo>
                  <a:lnTo>
                    <a:pt x="2024127" y="200334"/>
                  </a:lnTo>
                  <a:lnTo>
                    <a:pt x="1977780" y="190158"/>
                  </a:lnTo>
                  <a:lnTo>
                    <a:pt x="1933627" y="179729"/>
                  </a:lnTo>
                  <a:lnTo>
                    <a:pt x="1891778" y="169034"/>
                  </a:lnTo>
                  <a:lnTo>
                    <a:pt x="1852344" y="158060"/>
                  </a:lnTo>
                  <a:lnTo>
                    <a:pt x="1815434" y="146794"/>
                  </a:lnTo>
                  <a:lnTo>
                    <a:pt x="1749625" y="123337"/>
                  </a:lnTo>
                  <a:lnTo>
                    <a:pt x="1695230" y="98562"/>
                  </a:lnTo>
                  <a:lnTo>
                    <a:pt x="1653125" y="72366"/>
                  </a:lnTo>
                  <a:lnTo>
                    <a:pt x="1624190" y="44649"/>
                  </a:lnTo>
                  <a:lnTo>
                    <a:pt x="1609302" y="15310"/>
                  </a:lnTo>
                  <a:lnTo>
                    <a:pt x="1607399" y="0"/>
                  </a:lnTo>
                </a:path>
                <a:path w="4744720" h="725169">
                  <a:moveTo>
                    <a:pt x="4744200" y="724799"/>
                  </a:moveTo>
                  <a:lnTo>
                    <a:pt x="4734814" y="685983"/>
                  </a:lnTo>
                  <a:lnTo>
                    <a:pt x="4707607" y="649929"/>
                  </a:lnTo>
                  <a:lnTo>
                    <a:pt x="4664004" y="616416"/>
                  </a:lnTo>
                  <a:lnTo>
                    <a:pt x="4605432" y="585222"/>
                  </a:lnTo>
                  <a:lnTo>
                    <a:pt x="4533315" y="556128"/>
                  </a:lnTo>
                  <a:lnTo>
                    <a:pt x="4492624" y="542299"/>
                  </a:lnTo>
                  <a:lnTo>
                    <a:pt x="4449080" y="528912"/>
                  </a:lnTo>
                  <a:lnTo>
                    <a:pt x="4402864" y="515939"/>
                  </a:lnTo>
                  <a:lnTo>
                    <a:pt x="4354153" y="503353"/>
                  </a:lnTo>
                  <a:lnTo>
                    <a:pt x="4303125" y="491126"/>
                  </a:lnTo>
                  <a:lnTo>
                    <a:pt x="4249958" y="479231"/>
                  </a:lnTo>
                  <a:lnTo>
                    <a:pt x="4194831" y="467640"/>
                  </a:lnTo>
                  <a:lnTo>
                    <a:pt x="4137922" y="456324"/>
                  </a:lnTo>
                  <a:lnTo>
                    <a:pt x="4079409" y="445258"/>
                  </a:lnTo>
                  <a:lnTo>
                    <a:pt x="4019470" y="434412"/>
                  </a:lnTo>
                  <a:lnTo>
                    <a:pt x="3958284" y="423760"/>
                  </a:lnTo>
                  <a:lnTo>
                    <a:pt x="3896028" y="413274"/>
                  </a:lnTo>
                  <a:lnTo>
                    <a:pt x="3832882" y="402926"/>
                  </a:lnTo>
                  <a:lnTo>
                    <a:pt x="3769023" y="392688"/>
                  </a:lnTo>
                  <a:lnTo>
                    <a:pt x="3704629" y="382534"/>
                  </a:lnTo>
                  <a:lnTo>
                    <a:pt x="3639878" y="372435"/>
                  </a:lnTo>
                  <a:lnTo>
                    <a:pt x="3574949" y="362363"/>
                  </a:lnTo>
                  <a:lnTo>
                    <a:pt x="3510021" y="352292"/>
                  </a:lnTo>
                  <a:lnTo>
                    <a:pt x="3445270" y="342194"/>
                  </a:lnTo>
                  <a:lnTo>
                    <a:pt x="3380876" y="332040"/>
                  </a:lnTo>
                  <a:lnTo>
                    <a:pt x="3317017" y="321803"/>
                  </a:lnTo>
                  <a:lnTo>
                    <a:pt x="3253871" y="311456"/>
                  </a:lnTo>
                  <a:lnTo>
                    <a:pt x="3191615" y="300972"/>
                  </a:lnTo>
                  <a:lnTo>
                    <a:pt x="3130429" y="290321"/>
                  </a:lnTo>
                  <a:lnTo>
                    <a:pt x="3070490" y="279478"/>
                  </a:lnTo>
                  <a:lnTo>
                    <a:pt x="3011977" y="268413"/>
                  </a:lnTo>
                  <a:lnTo>
                    <a:pt x="2955068" y="257100"/>
                  </a:lnTo>
                  <a:lnTo>
                    <a:pt x="2899941" y="245511"/>
                  </a:lnTo>
                  <a:lnTo>
                    <a:pt x="2846775" y="233619"/>
                  </a:lnTo>
                  <a:lnTo>
                    <a:pt x="2795747" y="221395"/>
                  </a:lnTo>
                  <a:lnTo>
                    <a:pt x="2747035" y="208812"/>
                  </a:lnTo>
                  <a:lnTo>
                    <a:pt x="2700819" y="195842"/>
                  </a:lnTo>
                  <a:lnTo>
                    <a:pt x="2657276" y="182458"/>
                  </a:lnTo>
                  <a:lnTo>
                    <a:pt x="2616584" y="168633"/>
                  </a:lnTo>
                  <a:lnTo>
                    <a:pt x="2578922" y="154338"/>
                  </a:lnTo>
                  <a:lnTo>
                    <a:pt x="2513399" y="124229"/>
                  </a:lnTo>
                  <a:lnTo>
                    <a:pt x="2462133" y="91911"/>
                  </a:lnTo>
                  <a:lnTo>
                    <a:pt x="2426550" y="57162"/>
                  </a:lnTo>
                  <a:lnTo>
                    <a:pt x="2408076" y="19763"/>
                  </a:lnTo>
                  <a:lnTo>
                    <a:pt x="2405699" y="0"/>
                  </a:lnTo>
                </a:path>
                <a:path w="4744720" h="725169">
                  <a:moveTo>
                    <a:pt x="4744200" y="724799"/>
                  </a:moveTo>
                  <a:lnTo>
                    <a:pt x="4731919" y="670479"/>
                  </a:lnTo>
                  <a:lnTo>
                    <a:pt x="4696864" y="621547"/>
                  </a:lnTo>
                  <a:lnTo>
                    <a:pt x="4641713" y="577371"/>
                  </a:lnTo>
                  <a:lnTo>
                    <a:pt x="4607439" y="556869"/>
                  </a:lnTo>
                  <a:lnTo>
                    <a:pt x="4569146" y="537317"/>
                  </a:lnTo>
                  <a:lnTo>
                    <a:pt x="4527168" y="518637"/>
                  </a:lnTo>
                  <a:lnTo>
                    <a:pt x="4481842" y="500750"/>
                  </a:lnTo>
                  <a:lnTo>
                    <a:pt x="4433501" y="483577"/>
                  </a:lnTo>
                  <a:lnTo>
                    <a:pt x="4382481" y="467037"/>
                  </a:lnTo>
                  <a:lnTo>
                    <a:pt x="4329116" y="451053"/>
                  </a:lnTo>
                  <a:lnTo>
                    <a:pt x="4273742" y="435544"/>
                  </a:lnTo>
                  <a:lnTo>
                    <a:pt x="4216693" y="420432"/>
                  </a:lnTo>
                  <a:lnTo>
                    <a:pt x="4158304" y="405637"/>
                  </a:lnTo>
                  <a:lnTo>
                    <a:pt x="4098911" y="391080"/>
                  </a:lnTo>
                  <a:lnTo>
                    <a:pt x="4038848" y="376682"/>
                  </a:lnTo>
                  <a:lnTo>
                    <a:pt x="3978449" y="362363"/>
                  </a:lnTo>
                  <a:lnTo>
                    <a:pt x="3918051" y="348045"/>
                  </a:lnTo>
                  <a:lnTo>
                    <a:pt x="3857988" y="333648"/>
                  </a:lnTo>
                  <a:lnTo>
                    <a:pt x="3798595" y="319092"/>
                  </a:lnTo>
                  <a:lnTo>
                    <a:pt x="3740206" y="304299"/>
                  </a:lnTo>
                  <a:lnTo>
                    <a:pt x="3683157" y="289189"/>
                  </a:lnTo>
                  <a:lnTo>
                    <a:pt x="3627783" y="273684"/>
                  </a:lnTo>
                  <a:lnTo>
                    <a:pt x="3574418" y="257702"/>
                  </a:lnTo>
                  <a:lnTo>
                    <a:pt x="3523398" y="241167"/>
                  </a:lnTo>
                  <a:lnTo>
                    <a:pt x="3475057" y="223997"/>
                  </a:lnTo>
                  <a:lnTo>
                    <a:pt x="3429731" y="206114"/>
                  </a:lnTo>
                  <a:lnTo>
                    <a:pt x="3387754" y="187439"/>
                  </a:lnTo>
                  <a:lnTo>
                    <a:pt x="3349460" y="167892"/>
                  </a:lnTo>
                  <a:lnTo>
                    <a:pt x="3315187" y="147395"/>
                  </a:lnTo>
                  <a:lnTo>
                    <a:pt x="3260036" y="103229"/>
                  </a:lnTo>
                  <a:lnTo>
                    <a:pt x="3224980" y="54309"/>
                  </a:lnTo>
                  <a:lnTo>
                    <a:pt x="3215825" y="27867"/>
                  </a:lnTo>
                  <a:lnTo>
                    <a:pt x="3212699" y="0"/>
                  </a:lnTo>
                </a:path>
                <a:path w="4744720" h="725169">
                  <a:moveTo>
                    <a:pt x="4737501" y="666835"/>
                  </a:moveTo>
                  <a:lnTo>
                    <a:pt x="4719935" y="617933"/>
                  </a:lnTo>
                  <a:lnTo>
                    <a:pt x="4696348" y="578686"/>
                  </a:lnTo>
                  <a:lnTo>
                    <a:pt x="4654773" y="531390"/>
                  </a:lnTo>
                  <a:lnTo>
                    <a:pt x="4594267" y="482175"/>
                  </a:lnTo>
                  <a:lnTo>
                    <a:pt x="4555122" y="456324"/>
                  </a:lnTo>
                  <a:lnTo>
                    <a:pt x="4513444" y="431732"/>
                  </a:lnTo>
                  <a:lnTo>
                    <a:pt x="4469868" y="408084"/>
                  </a:lnTo>
                  <a:lnTo>
                    <a:pt x="4425025" y="385066"/>
                  </a:lnTo>
                  <a:lnTo>
                    <a:pt x="4379549" y="362363"/>
                  </a:lnTo>
                  <a:lnTo>
                    <a:pt x="4334074" y="339661"/>
                  </a:lnTo>
                  <a:lnTo>
                    <a:pt x="4289231" y="316645"/>
                  </a:lnTo>
                  <a:lnTo>
                    <a:pt x="4245655" y="293001"/>
                  </a:lnTo>
                  <a:lnTo>
                    <a:pt x="4203977" y="268413"/>
                  </a:lnTo>
                  <a:lnTo>
                    <a:pt x="4164832" y="242568"/>
                  </a:lnTo>
                  <a:lnTo>
                    <a:pt x="4128853" y="215150"/>
                  </a:lnTo>
                  <a:lnTo>
                    <a:pt x="4096671" y="185845"/>
                  </a:lnTo>
                  <a:lnTo>
                    <a:pt x="4068922" y="154338"/>
                  </a:lnTo>
                  <a:lnTo>
                    <a:pt x="4046237" y="120314"/>
                  </a:lnTo>
                  <a:lnTo>
                    <a:pt x="4029249" y="83460"/>
                  </a:lnTo>
                  <a:lnTo>
                    <a:pt x="4018592" y="43460"/>
                  </a:lnTo>
                  <a:lnTo>
                    <a:pt x="4014899" y="0"/>
                  </a:lnTo>
                </a:path>
              </a:pathLst>
            </a:custGeom>
            <a:ln w="9724">
              <a:solidFill>
                <a:srgbClr val="B45F06"/>
              </a:solidFill>
            </a:ln>
          </p:spPr>
          <p:txBody>
            <a:bodyPr wrap="square" lIns="0" tIns="0" rIns="0" bIns="0" rtlCol="0"/>
            <a:lstStyle/>
            <a:p>
              <a:endParaRPr sz="2400"/>
            </a:p>
          </p:txBody>
        </p:sp>
        <p:sp>
          <p:nvSpPr>
            <p:cNvPr id="110" name="object 110"/>
            <p:cNvSpPr/>
            <p:nvPr/>
          </p:nvSpPr>
          <p:spPr>
            <a:xfrm>
              <a:off x="6641686" y="2605617"/>
              <a:ext cx="32384" cy="45720"/>
            </a:xfrm>
            <a:custGeom>
              <a:avLst/>
              <a:gdLst/>
              <a:ahLst/>
              <a:cxnLst/>
              <a:rect l="l" t="t" r="r" b="b"/>
              <a:pathLst>
                <a:path w="32384" h="45719">
                  <a:moveTo>
                    <a:pt x="21023" y="45685"/>
                  </a:moveTo>
                  <a:lnTo>
                    <a:pt x="0" y="3688"/>
                  </a:lnTo>
                  <a:lnTo>
                    <a:pt x="31913" y="0"/>
                  </a:lnTo>
                  <a:lnTo>
                    <a:pt x="21023" y="45685"/>
                  </a:lnTo>
                  <a:close/>
                </a:path>
              </a:pathLst>
            </a:custGeom>
            <a:solidFill>
              <a:srgbClr val="B45F06"/>
            </a:solidFill>
          </p:spPr>
          <p:txBody>
            <a:bodyPr wrap="square" lIns="0" tIns="0" rIns="0" bIns="0" rtlCol="0"/>
            <a:lstStyle/>
            <a:p>
              <a:endParaRPr sz="2400"/>
            </a:p>
          </p:txBody>
        </p:sp>
        <p:sp>
          <p:nvSpPr>
            <p:cNvPr id="111" name="object 111"/>
            <p:cNvSpPr/>
            <p:nvPr/>
          </p:nvSpPr>
          <p:spPr>
            <a:xfrm>
              <a:off x="6641686" y="2605617"/>
              <a:ext cx="32384" cy="45720"/>
            </a:xfrm>
            <a:custGeom>
              <a:avLst/>
              <a:gdLst/>
              <a:ahLst/>
              <a:cxnLst/>
              <a:rect l="l" t="t" r="r" b="b"/>
              <a:pathLst>
                <a:path w="32384" h="45719">
                  <a:moveTo>
                    <a:pt x="0" y="3688"/>
                  </a:moveTo>
                  <a:lnTo>
                    <a:pt x="21023" y="45685"/>
                  </a:lnTo>
                  <a:lnTo>
                    <a:pt x="31913" y="0"/>
                  </a:lnTo>
                  <a:lnTo>
                    <a:pt x="0" y="3688"/>
                  </a:lnTo>
                  <a:close/>
                </a:path>
              </a:pathLst>
            </a:custGeom>
            <a:ln w="9724">
              <a:solidFill>
                <a:srgbClr val="B45F06"/>
              </a:solidFill>
            </a:ln>
          </p:spPr>
          <p:txBody>
            <a:bodyPr wrap="square" lIns="0" tIns="0" rIns="0" bIns="0" rtlCol="0"/>
            <a:lstStyle/>
            <a:p>
              <a:endParaRPr sz="2400"/>
            </a:p>
          </p:txBody>
        </p:sp>
        <p:sp>
          <p:nvSpPr>
            <p:cNvPr id="112" name="object 112"/>
            <p:cNvSpPr/>
            <p:nvPr/>
          </p:nvSpPr>
          <p:spPr>
            <a:xfrm>
              <a:off x="6664341" y="1940625"/>
              <a:ext cx="875030" cy="725170"/>
            </a:xfrm>
            <a:custGeom>
              <a:avLst/>
              <a:gdLst/>
              <a:ahLst/>
              <a:cxnLst/>
              <a:rect l="l" t="t" r="r" b="b"/>
              <a:pathLst>
                <a:path w="875029" h="725169">
                  <a:moveTo>
                    <a:pt x="0" y="724799"/>
                  </a:moveTo>
                  <a:lnTo>
                    <a:pt x="1036" y="652417"/>
                  </a:lnTo>
                  <a:lnTo>
                    <a:pt x="3938" y="589545"/>
                  </a:lnTo>
                  <a:lnTo>
                    <a:pt x="8395" y="534597"/>
                  </a:lnTo>
                  <a:lnTo>
                    <a:pt x="14095" y="485989"/>
                  </a:lnTo>
                  <a:lnTo>
                    <a:pt x="20728" y="442138"/>
                  </a:lnTo>
                  <a:lnTo>
                    <a:pt x="27983" y="401457"/>
                  </a:lnTo>
                  <a:lnTo>
                    <a:pt x="35549" y="362363"/>
                  </a:lnTo>
                  <a:lnTo>
                    <a:pt x="43116" y="323272"/>
                  </a:lnTo>
                  <a:lnTo>
                    <a:pt x="50371" y="282597"/>
                  </a:lnTo>
                  <a:lnTo>
                    <a:pt x="57004" y="238754"/>
                  </a:lnTo>
                  <a:lnTo>
                    <a:pt x="62704" y="190158"/>
                  </a:lnTo>
                  <a:lnTo>
                    <a:pt x="67161" y="135224"/>
                  </a:lnTo>
                  <a:lnTo>
                    <a:pt x="70063" y="72366"/>
                  </a:lnTo>
                  <a:lnTo>
                    <a:pt x="71099" y="0"/>
                  </a:lnTo>
                </a:path>
                <a:path w="875029" h="725169">
                  <a:moveTo>
                    <a:pt x="0" y="724799"/>
                  </a:moveTo>
                  <a:lnTo>
                    <a:pt x="3781" y="684547"/>
                  </a:lnTo>
                  <a:lnTo>
                    <a:pt x="14727" y="647264"/>
                  </a:lnTo>
                  <a:lnTo>
                    <a:pt x="32241" y="612702"/>
                  </a:lnTo>
                  <a:lnTo>
                    <a:pt x="55725" y="580615"/>
                  </a:lnTo>
                  <a:lnTo>
                    <a:pt x="84584" y="550755"/>
                  </a:lnTo>
                  <a:lnTo>
                    <a:pt x="118218" y="522875"/>
                  </a:lnTo>
                  <a:lnTo>
                    <a:pt x="156032" y="496727"/>
                  </a:lnTo>
                  <a:lnTo>
                    <a:pt x="197429" y="472064"/>
                  </a:lnTo>
                  <a:lnTo>
                    <a:pt x="241810" y="448638"/>
                  </a:lnTo>
                  <a:lnTo>
                    <a:pt x="288581" y="426203"/>
                  </a:lnTo>
                  <a:lnTo>
                    <a:pt x="337142" y="404510"/>
                  </a:lnTo>
                  <a:lnTo>
                    <a:pt x="386897" y="383313"/>
                  </a:lnTo>
                  <a:lnTo>
                    <a:pt x="437249" y="362363"/>
                  </a:lnTo>
                  <a:lnTo>
                    <a:pt x="487602" y="341415"/>
                  </a:lnTo>
                  <a:lnTo>
                    <a:pt x="537357" y="320219"/>
                  </a:lnTo>
                  <a:lnTo>
                    <a:pt x="585918" y="298530"/>
                  </a:lnTo>
                  <a:lnTo>
                    <a:pt x="632689" y="276098"/>
                  </a:lnTo>
                  <a:lnTo>
                    <a:pt x="677070" y="252677"/>
                  </a:lnTo>
                  <a:lnTo>
                    <a:pt x="718467" y="228020"/>
                  </a:lnTo>
                  <a:lnTo>
                    <a:pt x="756281" y="201878"/>
                  </a:lnTo>
                  <a:lnTo>
                    <a:pt x="789915" y="174004"/>
                  </a:lnTo>
                  <a:lnTo>
                    <a:pt x="818774" y="144152"/>
                  </a:lnTo>
                  <a:lnTo>
                    <a:pt x="842258" y="112072"/>
                  </a:lnTo>
                  <a:lnTo>
                    <a:pt x="859772" y="77519"/>
                  </a:lnTo>
                  <a:lnTo>
                    <a:pt x="870718" y="40244"/>
                  </a:lnTo>
                  <a:lnTo>
                    <a:pt x="874499" y="0"/>
                  </a:lnTo>
                </a:path>
              </a:pathLst>
            </a:custGeom>
            <a:ln w="9724">
              <a:solidFill>
                <a:srgbClr val="B45F06"/>
              </a:solidFill>
            </a:ln>
          </p:spPr>
          <p:txBody>
            <a:bodyPr wrap="square" lIns="0" tIns="0" rIns="0" bIns="0" rtlCol="0"/>
            <a:lstStyle/>
            <a:p>
              <a:endParaRPr sz="2400"/>
            </a:p>
          </p:txBody>
        </p:sp>
      </p:grpSp>
      <p:sp>
        <p:nvSpPr>
          <p:cNvPr id="113" name="object 113"/>
          <p:cNvSpPr txBox="1"/>
          <p:nvPr/>
        </p:nvSpPr>
        <p:spPr>
          <a:xfrm>
            <a:off x="8276387" y="3553900"/>
            <a:ext cx="1219200" cy="782137"/>
          </a:xfrm>
          <a:prstGeom prst="rect">
            <a:avLst/>
          </a:prstGeom>
          <a:solidFill>
            <a:srgbClr val="FFFFFF"/>
          </a:solidFill>
          <a:ln w="45724">
            <a:solidFill>
              <a:srgbClr val="B45F06"/>
            </a:solidFill>
          </a:ln>
        </p:spPr>
        <p:txBody>
          <a:bodyPr vert="horz" wrap="square" lIns="0" tIns="124460" rIns="0" bIns="0" rtlCol="0">
            <a:spAutoFit/>
          </a:bodyPr>
          <a:lstStyle/>
          <a:p>
            <a:pPr>
              <a:spcBef>
                <a:spcPts val="980"/>
              </a:spcBef>
            </a:pPr>
            <a:endParaRPr sz="2133">
              <a:latin typeface="Times New Roman"/>
              <a:cs typeface="Times New Roman"/>
            </a:endParaRPr>
          </a:p>
          <a:p>
            <a:pPr algn="ctr">
              <a:lnSpc>
                <a:spcPct val="100000"/>
              </a:lnSpc>
            </a:pPr>
            <a:r>
              <a:rPr sz="2133" spc="-67" dirty="0">
                <a:latin typeface="Lucida Sans Unicode"/>
                <a:cs typeface="Lucida Sans Unicode"/>
              </a:rPr>
              <a:t>A</a:t>
            </a:r>
            <a:endParaRPr sz="2133">
              <a:latin typeface="Lucida Sans Unicode"/>
              <a:cs typeface="Lucida Sans Unicode"/>
            </a:endParaRPr>
          </a:p>
        </p:txBody>
      </p:sp>
      <p:sp>
        <p:nvSpPr>
          <p:cNvPr id="114" name="TextBox 113">
            <a:extLst>
              <a:ext uri="{FF2B5EF4-FFF2-40B4-BE49-F238E27FC236}">
                <a16:creationId xmlns:a16="http://schemas.microsoft.com/office/drawing/2014/main" id="{5E5CAAC0-F023-D4AE-256D-6AB39047C716}"/>
              </a:ext>
            </a:extLst>
          </p:cNvPr>
          <p:cNvSpPr txBox="1"/>
          <p:nvPr/>
        </p:nvSpPr>
        <p:spPr>
          <a:xfrm>
            <a:off x="3307260" y="5754021"/>
            <a:ext cx="6291531" cy="830997"/>
          </a:xfrm>
          <a:prstGeom prst="rect">
            <a:avLst/>
          </a:prstGeom>
          <a:noFill/>
        </p:spPr>
        <p:txBody>
          <a:bodyPr wrap="none" rtlCol="0">
            <a:spAutoFit/>
          </a:bodyPr>
          <a:lstStyle/>
          <a:p>
            <a:r>
              <a:rPr lang="en-US" sz="2400" dirty="0"/>
              <a:t>Write back A back to VRAM</a:t>
            </a:r>
          </a:p>
          <a:p>
            <a:r>
              <a:rPr lang="en-US" sz="2400" dirty="0"/>
              <a:t> A is huge : sequence length square  (N</a:t>
            </a:r>
            <a:r>
              <a:rPr lang="en-US" sz="2400" baseline="30000" dirty="0"/>
              <a:t>2  </a:t>
            </a:r>
            <a:r>
              <a:rPr lang="en-US" sz="2400" dirty="0"/>
              <a:t>) length</a:t>
            </a:r>
            <a:endParaRPr lang="en-IN" sz="2400" dirty="0"/>
          </a:p>
        </p:txBody>
      </p:sp>
    </p:spTree>
    <p:extLst>
      <p:ext uri="{BB962C8B-B14F-4D97-AF65-F5344CB8AC3E}">
        <p14:creationId xmlns:p14="http://schemas.microsoft.com/office/powerpoint/2010/main" val="4204187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Attention</a:t>
            </a:r>
            <a:r>
              <a:rPr spc="-152" dirty="0"/>
              <a:t> </a:t>
            </a:r>
            <a:r>
              <a:rPr spc="213" dirty="0"/>
              <a:t>data</a:t>
            </a:r>
            <a:r>
              <a:rPr spc="-147" dirty="0"/>
              <a:t> </a:t>
            </a:r>
            <a:r>
              <a:rPr spc="-27" dirty="0"/>
              <a:t>flow</a:t>
            </a:r>
          </a:p>
        </p:txBody>
      </p:sp>
      <p:sp>
        <p:nvSpPr>
          <p:cNvPr id="3" name="object 3"/>
          <p:cNvSpPr/>
          <p:nvPr/>
        </p:nvSpPr>
        <p:spPr>
          <a:xfrm>
            <a:off x="1431063" y="1548384"/>
            <a:ext cx="9338733" cy="4060613"/>
          </a:xfrm>
          <a:custGeom>
            <a:avLst/>
            <a:gdLst/>
            <a:ahLst/>
            <a:cxnLst/>
            <a:rect l="l" t="t" r="r" b="b"/>
            <a:pathLst>
              <a:path w="7004050" h="3045460">
                <a:moveTo>
                  <a:pt x="0" y="0"/>
                </a:moveTo>
                <a:lnTo>
                  <a:pt x="7003499" y="0"/>
                </a:lnTo>
                <a:lnTo>
                  <a:pt x="7003499" y="3044999"/>
                </a:lnTo>
                <a:lnTo>
                  <a:pt x="0" y="3044999"/>
                </a:lnTo>
                <a:lnTo>
                  <a:pt x="0" y="0"/>
                </a:lnTo>
                <a:close/>
              </a:path>
            </a:pathLst>
          </a:custGeom>
          <a:ln w="19049">
            <a:solidFill>
              <a:srgbClr val="237A94"/>
            </a:solidFill>
          </a:ln>
        </p:spPr>
        <p:txBody>
          <a:bodyPr wrap="square" lIns="0" tIns="0" rIns="0" bIns="0" rtlCol="0"/>
          <a:lstStyle/>
          <a:p>
            <a:endParaRPr sz="2400"/>
          </a:p>
        </p:txBody>
      </p:sp>
      <p:sp>
        <p:nvSpPr>
          <p:cNvPr id="4" name="object 4"/>
          <p:cNvSpPr txBox="1"/>
          <p:nvPr/>
        </p:nvSpPr>
        <p:spPr>
          <a:xfrm>
            <a:off x="1519351" y="5238451"/>
            <a:ext cx="513080" cy="304421"/>
          </a:xfrm>
          <a:prstGeom prst="rect">
            <a:avLst/>
          </a:prstGeom>
        </p:spPr>
        <p:txBody>
          <a:bodyPr vert="horz" wrap="square" lIns="0" tIns="16933" rIns="0" bIns="0" rtlCol="0">
            <a:spAutoFit/>
          </a:bodyPr>
          <a:lstStyle/>
          <a:p>
            <a:pPr>
              <a:spcBef>
                <a:spcPts val="133"/>
              </a:spcBef>
            </a:pPr>
            <a:r>
              <a:rPr sz="1867" spc="-167" dirty="0">
                <a:solidFill>
                  <a:srgbClr val="999999"/>
                </a:solidFill>
                <a:latin typeface="Arial Black"/>
                <a:cs typeface="Arial Black"/>
              </a:rPr>
              <a:t>GPU</a:t>
            </a:r>
            <a:endParaRPr sz="1867">
              <a:latin typeface="Arial Black"/>
              <a:cs typeface="Arial Black"/>
            </a:endParaRPr>
          </a:p>
        </p:txBody>
      </p:sp>
      <p:sp>
        <p:nvSpPr>
          <p:cNvPr id="5" name="object 5"/>
          <p:cNvSpPr txBox="1"/>
          <p:nvPr/>
        </p:nvSpPr>
        <p:spPr>
          <a:xfrm>
            <a:off x="1945434" y="1710578"/>
            <a:ext cx="1555327" cy="256480"/>
          </a:xfrm>
          <a:prstGeom prst="rect">
            <a:avLst/>
          </a:prstGeom>
        </p:spPr>
        <p:txBody>
          <a:bodyPr vert="horz" wrap="square" lIns="0" tIns="10160" rIns="0" bIns="0" rtlCol="0">
            <a:spAutoFit/>
          </a:bodyPr>
          <a:lstStyle/>
          <a:p>
            <a:pPr>
              <a:spcBef>
                <a:spcPts val="80"/>
              </a:spcBef>
            </a:pPr>
            <a:r>
              <a:rPr sz="1600" spc="-33" dirty="0">
                <a:solidFill>
                  <a:srgbClr val="666666"/>
                </a:solidFill>
                <a:latin typeface="Arial Black"/>
                <a:cs typeface="Arial Black"/>
              </a:rPr>
              <a:t>Compute</a:t>
            </a:r>
            <a:r>
              <a:rPr sz="1600" spc="-127" dirty="0">
                <a:solidFill>
                  <a:srgbClr val="666666"/>
                </a:solidFill>
                <a:latin typeface="Arial Black"/>
                <a:cs typeface="Arial Black"/>
              </a:rPr>
              <a:t> </a:t>
            </a:r>
            <a:r>
              <a:rPr sz="1600" spc="-47" dirty="0">
                <a:solidFill>
                  <a:srgbClr val="666666"/>
                </a:solidFill>
                <a:latin typeface="Arial Black"/>
                <a:cs typeface="Arial Black"/>
              </a:rPr>
              <a:t>units</a:t>
            </a:r>
            <a:endParaRPr sz="1600">
              <a:latin typeface="Arial Black"/>
              <a:cs typeface="Arial Black"/>
            </a:endParaRPr>
          </a:p>
        </p:txBody>
      </p:sp>
      <p:grpSp>
        <p:nvGrpSpPr>
          <p:cNvPr id="6" name="object 6"/>
          <p:cNvGrpSpPr/>
          <p:nvPr/>
        </p:nvGrpSpPr>
        <p:grpSpPr>
          <a:xfrm>
            <a:off x="1813796" y="1711599"/>
            <a:ext cx="8573347" cy="988060"/>
            <a:chOff x="1360347" y="1283699"/>
            <a:chExt cx="6430010" cy="741045"/>
          </a:xfrm>
        </p:grpSpPr>
        <p:sp>
          <p:nvSpPr>
            <p:cNvPr id="7" name="object 7"/>
            <p:cNvSpPr/>
            <p:nvPr/>
          </p:nvSpPr>
          <p:spPr>
            <a:xfrm>
              <a:off x="1365110" y="1288461"/>
              <a:ext cx="6420485" cy="731520"/>
            </a:xfrm>
            <a:custGeom>
              <a:avLst/>
              <a:gdLst/>
              <a:ahLst/>
              <a:cxnLst/>
              <a:rect l="l" t="t" r="r" b="b"/>
              <a:pathLst>
                <a:path w="6420484" h="731519">
                  <a:moveTo>
                    <a:pt x="6419999" y="731400"/>
                  </a:moveTo>
                  <a:lnTo>
                    <a:pt x="0" y="731400"/>
                  </a:lnTo>
                  <a:lnTo>
                    <a:pt x="0" y="0"/>
                  </a:lnTo>
                  <a:lnTo>
                    <a:pt x="6419999" y="0"/>
                  </a:lnTo>
                  <a:lnTo>
                    <a:pt x="6419999" y="731400"/>
                  </a:lnTo>
                  <a:close/>
                </a:path>
              </a:pathLst>
            </a:custGeom>
            <a:solidFill>
              <a:srgbClr val="FFECED"/>
            </a:solidFill>
          </p:spPr>
          <p:txBody>
            <a:bodyPr wrap="square" lIns="0" tIns="0" rIns="0" bIns="0" rtlCol="0"/>
            <a:lstStyle/>
            <a:p>
              <a:endParaRPr sz="2400"/>
            </a:p>
          </p:txBody>
        </p:sp>
        <p:sp>
          <p:nvSpPr>
            <p:cNvPr id="8" name="object 8"/>
            <p:cNvSpPr/>
            <p:nvPr/>
          </p:nvSpPr>
          <p:spPr>
            <a:xfrm>
              <a:off x="1365110" y="1288461"/>
              <a:ext cx="6420485" cy="731520"/>
            </a:xfrm>
            <a:custGeom>
              <a:avLst/>
              <a:gdLst/>
              <a:ahLst/>
              <a:cxnLst/>
              <a:rect l="l" t="t" r="r" b="b"/>
              <a:pathLst>
                <a:path w="6420484" h="731519">
                  <a:moveTo>
                    <a:pt x="0" y="0"/>
                  </a:moveTo>
                  <a:lnTo>
                    <a:pt x="6419999" y="0"/>
                  </a:lnTo>
                  <a:lnTo>
                    <a:pt x="6419999" y="731400"/>
                  </a:lnTo>
                  <a:lnTo>
                    <a:pt x="0" y="731400"/>
                  </a:lnTo>
                  <a:lnTo>
                    <a:pt x="0" y="0"/>
                  </a:lnTo>
                  <a:close/>
                </a:path>
              </a:pathLst>
            </a:custGeom>
            <a:ln w="9524">
              <a:solidFill>
                <a:srgbClr val="237A94"/>
              </a:solidFill>
            </a:ln>
          </p:spPr>
          <p:txBody>
            <a:bodyPr wrap="square" lIns="0" tIns="0" rIns="0" bIns="0" rtlCol="0"/>
            <a:lstStyle/>
            <a:p>
              <a:endParaRPr sz="2400"/>
            </a:p>
          </p:txBody>
        </p:sp>
        <p:sp>
          <p:nvSpPr>
            <p:cNvPr id="9" name="object 9"/>
            <p:cNvSpPr/>
            <p:nvPr/>
          </p:nvSpPr>
          <p:spPr>
            <a:xfrm>
              <a:off x="3853475"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0" name="object 10"/>
            <p:cNvSpPr/>
            <p:nvPr/>
          </p:nvSpPr>
          <p:spPr>
            <a:xfrm>
              <a:off x="3853475" y="1509156"/>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1" name="object 11"/>
            <p:cNvSpPr/>
            <p:nvPr/>
          </p:nvSpPr>
          <p:spPr>
            <a:xfrm>
              <a:off x="46584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2" name="object 12"/>
            <p:cNvSpPr/>
            <p:nvPr/>
          </p:nvSpPr>
          <p:spPr>
            <a:xfrm>
              <a:off x="46584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3" name="object 13"/>
            <p:cNvSpPr/>
            <p:nvPr/>
          </p:nvSpPr>
          <p:spPr>
            <a:xfrm>
              <a:off x="5460074"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4" name="object 14"/>
            <p:cNvSpPr/>
            <p:nvPr/>
          </p:nvSpPr>
          <p:spPr>
            <a:xfrm>
              <a:off x="5460074" y="1509156"/>
              <a:ext cx="650240" cy="457200"/>
            </a:xfrm>
            <a:custGeom>
              <a:avLst/>
              <a:gdLst/>
              <a:ahLst/>
              <a:cxnLst/>
              <a:rect l="l" t="t" r="r" b="b"/>
              <a:pathLst>
                <a:path w="650239"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5" name="object 15"/>
            <p:cNvSpPr/>
            <p:nvPr/>
          </p:nvSpPr>
          <p:spPr>
            <a:xfrm>
              <a:off x="6261724" y="1509157"/>
              <a:ext cx="650240" cy="226695"/>
            </a:xfrm>
            <a:custGeom>
              <a:avLst/>
              <a:gdLst/>
              <a:ahLst/>
              <a:cxnLst/>
              <a:rect l="l" t="t" r="r" b="b"/>
              <a:pathLst>
                <a:path w="650240" h="226694">
                  <a:moveTo>
                    <a:pt x="0" y="226679"/>
                  </a:moveTo>
                  <a:lnTo>
                    <a:pt x="649726" y="226679"/>
                  </a:lnTo>
                  <a:lnTo>
                    <a:pt x="649726" y="0"/>
                  </a:lnTo>
                  <a:lnTo>
                    <a:pt x="0" y="0"/>
                  </a:lnTo>
                  <a:lnTo>
                    <a:pt x="0" y="226679"/>
                  </a:lnTo>
                  <a:close/>
                </a:path>
              </a:pathLst>
            </a:custGeom>
            <a:solidFill>
              <a:srgbClr val="F4C4D1"/>
            </a:solidFill>
          </p:spPr>
          <p:txBody>
            <a:bodyPr wrap="square" lIns="0" tIns="0" rIns="0" bIns="0" rtlCol="0"/>
            <a:lstStyle/>
            <a:p>
              <a:endParaRPr sz="2400"/>
            </a:p>
          </p:txBody>
        </p:sp>
        <p:sp>
          <p:nvSpPr>
            <p:cNvPr id="16" name="object 16"/>
            <p:cNvSpPr/>
            <p:nvPr/>
          </p:nvSpPr>
          <p:spPr>
            <a:xfrm>
              <a:off x="6261724" y="1509157"/>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7" name="object 17"/>
            <p:cNvSpPr/>
            <p:nvPr/>
          </p:nvSpPr>
          <p:spPr>
            <a:xfrm>
              <a:off x="7063349" y="1509156"/>
              <a:ext cx="650240" cy="234950"/>
            </a:xfrm>
            <a:custGeom>
              <a:avLst/>
              <a:gdLst/>
              <a:ahLst/>
              <a:cxnLst/>
              <a:rect l="l" t="t" r="r" b="b"/>
              <a:pathLst>
                <a:path w="650240"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8" name="object 18"/>
            <p:cNvSpPr/>
            <p:nvPr/>
          </p:nvSpPr>
          <p:spPr>
            <a:xfrm>
              <a:off x="7063349" y="1509156"/>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9" name="object 19"/>
            <p:cNvSpPr/>
            <p:nvPr/>
          </p:nvSpPr>
          <p:spPr>
            <a:xfrm>
              <a:off x="1448749" y="1509158"/>
              <a:ext cx="650240" cy="228600"/>
            </a:xfrm>
            <a:custGeom>
              <a:avLst/>
              <a:gdLst/>
              <a:ahLst/>
              <a:cxnLst/>
              <a:rect l="l" t="t" r="r" b="b"/>
              <a:pathLst>
                <a:path w="650239" h="228600">
                  <a:moveTo>
                    <a:pt x="0" y="228477"/>
                  </a:moveTo>
                  <a:lnTo>
                    <a:pt x="649726" y="228477"/>
                  </a:lnTo>
                  <a:lnTo>
                    <a:pt x="649726" y="0"/>
                  </a:lnTo>
                  <a:lnTo>
                    <a:pt x="0" y="0"/>
                  </a:lnTo>
                  <a:lnTo>
                    <a:pt x="0" y="228477"/>
                  </a:lnTo>
                  <a:close/>
                </a:path>
              </a:pathLst>
            </a:custGeom>
            <a:solidFill>
              <a:srgbClr val="F4C4D1"/>
            </a:solidFill>
          </p:spPr>
          <p:txBody>
            <a:bodyPr wrap="square" lIns="0" tIns="0" rIns="0" bIns="0" rtlCol="0"/>
            <a:lstStyle/>
            <a:p>
              <a:endParaRPr sz="2400"/>
            </a:p>
          </p:txBody>
        </p:sp>
        <p:sp>
          <p:nvSpPr>
            <p:cNvPr id="20" name="object 20"/>
            <p:cNvSpPr/>
            <p:nvPr/>
          </p:nvSpPr>
          <p:spPr>
            <a:xfrm>
              <a:off x="1448749"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1" name="object 21"/>
            <p:cNvSpPr/>
            <p:nvPr/>
          </p:nvSpPr>
          <p:spPr>
            <a:xfrm>
              <a:off x="2250396" y="1509158"/>
              <a:ext cx="650240" cy="234950"/>
            </a:xfrm>
            <a:custGeom>
              <a:avLst/>
              <a:gdLst/>
              <a:ahLst/>
              <a:cxnLst/>
              <a:rect l="l" t="t" r="r" b="b"/>
              <a:pathLst>
                <a:path w="650239" h="234950">
                  <a:moveTo>
                    <a:pt x="0" y="234402"/>
                  </a:moveTo>
                  <a:lnTo>
                    <a:pt x="649726" y="234402"/>
                  </a:lnTo>
                  <a:lnTo>
                    <a:pt x="649726" y="0"/>
                  </a:lnTo>
                  <a:lnTo>
                    <a:pt x="0" y="0"/>
                  </a:lnTo>
                  <a:lnTo>
                    <a:pt x="0" y="234402"/>
                  </a:lnTo>
                  <a:close/>
                </a:path>
              </a:pathLst>
            </a:custGeom>
            <a:solidFill>
              <a:srgbClr val="F4C4D1"/>
            </a:solidFill>
          </p:spPr>
          <p:txBody>
            <a:bodyPr wrap="square" lIns="0" tIns="0" rIns="0" bIns="0" rtlCol="0"/>
            <a:lstStyle/>
            <a:p>
              <a:endParaRPr sz="2400"/>
            </a:p>
          </p:txBody>
        </p:sp>
        <p:sp>
          <p:nvSpPr>
            <p:cNvPr id="22" name="object 22"/>
            <p:cNvSpPr/>
            <p:nvPr/>
          </p:nvSpPr>
          <p:spPr>
            <a:xfrm>
              <a:off x="2250396"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3" name="object 23"/>
            <p:cNvSpPr/>
            <p:nvPr/>
          </p:nvSpPr>
          <p:spPr>
            <a:xfrm>
              <a:off x="30520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4" name="object 24"/>
            <p:cNvSpPr/>
            <p:nvPr/>
          </p:nvSpPr>
          <p:spPr>
            <a:xfrm>
              <a:off x="30520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grpSp>
      <p:sp>
        <p:nvSpPr>
          <p:cNvPr id="25" name="object 25"/>
          <p:cNvSpPr txBox="1"/>
          <p:nvPr/>
        </p:nvSpPr>
        <p:spPr>
          <a:xfrm>
            <a:off x="1908748" y="1715056"/>
            <a:ext cx="1532467" cy="263320"/>
          </a:xfrm>
          <a:prstGeom prst="rect">
            <a:avLst/>
          </a:prstGeom>
        </p:spPr>
        <p:txBody>
          <a:bodyPr vert="horz" wrap="square" lIns="0" tIns="16933" rIns="0" bIns="0" rtlCol="0">
            <a:spAutoFit/>
          </a:bodyPr>
          <a:lstStyle/>
          <a:p>
            <a:pPr>
              <a:spcBef>
                <a:spcPts val="133"/>
              </a:spcBef>
            </a:pPr>
            <a:r>
              <a:rPr sz="1600" spc="67" dirty="0">
                <a:solidFill>
                  <a:srgbClr val="434343"/>
                </a:solidFill>
                <a:latin typeface="Lucida Sans Unicode"/>
                <a:cs typeface="Lucida Sans Unicode"/>
              </a:rPr>
              <a:t>Compute</a:t>
            </a:r>
            <a:r>
              <a:rPr sz="1600" spc="-53" dirty="0">
                <a:solidFill>
                  <a:srgbClr val="434343"/>
                </a:solidFill>
                <a:latin typeface="Lucida Sans Unicode"/>
                <a:cs typeface="Lucida Sans Unicode"/>
              </a:rPr>
              <a:t> </a:t>
            </a:r>
            <a:r>
              <a:rPr sz="1600" spc="-13" dirty="0">
                <a:solidFill>
                  <a:srgbClr val="434343"/>
                </a:solidFill>
                <a:latin typeface="Lucida Sans Unicode"/>
                <a:cs typeface="Lucida Sans Unicode"/>
              </a:rPr>
              <a:t>Units</a:t>
            </a:r>
            <a:endParaRPr sz="1600">
              <a:latin typeface="Lucida Sans Unicode"/>
              <a:cs typeface="Lucida Sans Unicode"/>
            </a:endParaRPr>
          </a:p>
        </p:txBody>
      </p:sp>
      <p:grpSp>
        <p:nvGrpSpPr>
          <p:cNvPr id="26" name="object 26"/>
          <p:cNvGrpSpPr/>
          <p:nvPr/>
        </p:nvGrpSpPr>
        <p:grpSpPr>
          <a:xfrm>
            <a:off x="1809633" y="2843348"/>
            <a:ext cx="8573347" cy="2363893"/>
            <a:chOff x="1357225" y="2132511"/>
            <a:chExt cx="6430010" cy="1772920"/>
          </a:xfrm>
        </p:grpSpPr>
        <p:sp>
          <p:nvSpPr>
            <p:cNvPr id="27" name="object 27"/>
            <p:cNvSpPr/>
            <p:nvPr/>
          </p:nvSpPr>
          <p:spPr>
            <a:xfrm>
              <a:off x="1361987" y="2137274"/>
              <a:ext cx="6420485" cy="1763395"/>
            </a:xfrm>
            <a:custGeom>
              <a:avLst/>
              <a:gdLst/>
              <a:ahLst/>
              <a:cxnLst/>
              <a:rect l="l" t="t" r="r" b="b"/>
              <a:pathLst>
                <a:path w="6420484" h="1763395">
                  <a:moveTo>
                    <a:pt x="6419999" y="1763399"/>
                  </a:moveTo>
                  <a:lnTo>
                    <a:pt x="0" y="1763399"/>
                  </a:lnTo>
                  <a:lnTo>
                    <a:pt x="0" y="0"/>
                  </a:lnTo>
                  <a:lnTo>
                    <a:pt x="6419999" y="0"/>
                  </a:lnTo>
                  <a:lnTo>
                    <a:pt x="6419999" y="1763399"/>
                  </a:lnTo>
                  <a:close/>
                </a:path>
              </a:pathLst>
            </a:custGeom>
            <a:solidFill>
              <a:srgbClr val="EBFAFF"/>
            </a:solidFill>
          </p:spPr>
          <p:txBody>
            <a:bodyPr wrap="square" lIns="0" tIns="0" rIns="0" bIns="0" rtlCol="0"/>
            <a:lstStyle/>
            <a:p>
              <a:endParaRPr sz="2400"/>
            </a:p>
          </p:txBody>
        </p:sp>
        <p:sp>
          <p:nvSpPr>
            <p:cNvPr id="28" name="object 28"/>
            <p:cNvSpPr/>
            <p:nvPr/>
          </p:nvSpPr>
          <p:spPr>
            <a:xfrm>
              <a:off x="1361987" y="2137274"/>
              <a:ext cx="6420485" cy="1763395"/>
            </a:xfrm>
            <a:custGeom>
              <a:avLst/>
              <a:gdLst/>
              <a:ahLst/>
              <a:cxnLst/>
              <a:rect l="l" t="t" r="r" b="b"/>
              <a:pathLst>
                <a:path w="6420484" h="1763395">
                  <a:moveTo>
                    <a:pt x="0" y="0"/>
                  </a:moveTo>
                  <a:lnTo>
                    <a:pt x="6419999" y="0"/>
                  </a:lnTo>
                  <a:lnTo>
                    <a:pt x="6419999" y="1763399"/>
                  </a:lnTo>
                  <a:lnTo>
                    <a:pt x="0" y="1763399"/>
                  </a:lnTo>
                  <a:lnTo>
                    <a:pt x="0" y="0"/>
                  </a:lnTo>
                  <a:close/>
                </a:path>
              </a:pathLst>
            </a:custGeom>
            <a:ln w="9524">
              <a:solidFill>
                <a:srgbClr val="237A94"/>
              </a:solidFill>
            </a:ln>
          </p:spPr>
          <p:txBody>
            <a:bodyPr wrap="square" lIns="0" tIns="0" rIns="0" bIns="0" rtlCol="0"/>
            <a:lstStyle/>
            <a:p>
              <a:endParaRPr sz="2400"/>
            </a:p>
          </p:txBody>
        </p:sp>
      </p:grpSp>
      <p:sp>
        <p:nvSpPr>
          <p:cNvPr id="29" name="object 29"/>
          <p:cNvSpPr txBox="1"/>
          <p:nvPr/>
        </p:nvSpPr>
        <p:spPr>
          <a:xfrm>
            <a:off x="1976302" y="2984056"/>
            <a:ext cx="1474893" cy="263320"/>
          </a:xfrm>
          <a:prstGeom prst="rect">
            <a:avLst/>
          </a:prstGeom>
        </p:spPr>
        <p:txBody>
          <a:bodyPr vert="horz" wrap="square" lIns="0" tIns="16933" rIns="0" bIns="0" rtlCol="0">
            <a:spAutoFit/>
          </a:bodyPr>
          <a:lstStyle/>
          <a:p>
            <a:pPr>
              <a:spcBef>
                <a:spcPts val="133"/>
              </a:spcBef>
            </a:pPr>
            <a:r>
              <a:rPr sz="1600" dirty="0">
                <a:solidFill>
                  <a:srgbClr val="434343"/>
                </a:solidFill>
                <a:latin typeface="Lucida Sans Unicode"/>
                <a:cs typeface="Lucida Sans Unicode"/>
              </a:rPr>
              <a:t>Memory</a:t>
            </a:r>
            <a:r>
              <a:rPr sz="1600" spc="167" dirty="0">
                <a:solidFill>
                  <a:srgbClr val="434343"/>
                </a:solidFill>
                <a:latin typeface="Lucida Sans Unicode"/>
                <a:cs typeface="Lucida Sans Unicode"/>
              </a:rPr>
              <a:t> </a:t>
            </a:r>
            <a:r>
              <a:rPr sz="1600" spc="-27" dirty="0">
                <a:solidFill>
                  <a:srgbClr val="434343"/>
                </a:solidFill>
                <a:latin typeface="Lucida Sans Unicode"/>
                <a:cs typeface="Lucida Sans Unicode"/>
              </a:rPr>
              <a:t>VRAM</a:t>
            </a:r>
            <a:endParaRPr sz="1600">
              <a:latin typeface="Lucida Sans Unicode"/>
              <a:cs typeface="Lucida Sans Unicode"/>
            </a:endParaRPr>
          </a:p>
        </p:txBody>
      </p:sp>
      <p:sp>
        <p:nvSpPr>
          <p:cNvPr id="30" name="object 30"/>
          <p:cNvSpPr txBox="1"/>
          <p:nvPr/>
        </p:nvSpPr>
        <p:spPr>
          <a:xfrm>
            <a:off x="2064600" y="3552033"/>
            <a:ext cx="1441873" cy="796670"/>
          </a:xfrm>
          <a:prstGeom prst="rect">
            <a:avLst/>
          </a:prstGeom>
          <a:solidFill>
            <a:srgbClr val="FFFFFF"/>
          </a:solidFill>
          <a:ln w="9524">
            <a:solidFill>
              <a:srgbClr val="000000"/>
            </a:solidFill>
          </a:ln>
        </p:spPr>
        <p:txBody>
          <a:bodyPr vert="horz" wrap="square" lIns="0" tIns="138852" rIns="0" bIns="0" rtlCol="0">
            <a:spAutoFit/>
          </a:bodyPr>
          <a:lstStyle/>
          <a:p>
            <a:pPr>
              <a:spcBef>
                <a:spcPts val="1092"/>
              </a:spcBef>
            </a:pPr>
            <a:endParaRPr sz="2133">
              <a:latin typeface="Times New Roman"/>
              <a:cs typeface="Times New Roman"/>
            </a:endParaRPr>
          </a:p>
          <a:p>
            <a:pPr marL="466502"/>
            <a:r>
              <a:rPr sz="2133" spc="-33" dirty="0">
                <a:latin typeface="Arial Black"/>
                <a:cs typeface="Arial Black"/>
              </a:rPr>
              <a:t>LLM</a:t>
            </a:r>
            <a:endParaRPr sz="2133">
              <a:latin typeface="Arial Black"/>
              <a:cs typeface="Arial Black"/>
            </a:endParaRPr>
          </a:p>
        </p:txBody>
      </p:sp>
      <p:sp>
        <p:nvSpPr>
          <p:cNvPr id="31" name="object 31"/>
          <p:cNvSpPr txBox="1"/>
          <p:nvPr/>
        </p:nvSpPr>
        <p:spPr>
          <a:xfrm>
            <a:off x="3634633" y="3552039"/>
            <a:ext cx="1247987" cy="942010"/>
          </a:xfrm>
          <a:prstGeom prst="rect">
            <a:avLst/>
          </a:prstGeom>
          <a:solidFill>
            <a:srgbClr val="BBD4F9"/>
          </a:solidFill>
          <a:ln w="9524">
            <a:solidFill>
              <a:srgbClr val="1B73EB"/>
            </a:solidFill>
          </a:ln>
        </p:spPr>
        <p:txBody>
          <a:bodyPr vert="horz" wrap="square" lIns="0" tIns="282787" rIns="0" bIns="0" rtlCol="0">
            <a:spAutoFit/>
          </a:bodyPr>
          <a:lstStyle/>
          <a:p>
            <a:pPr algn="ctr">
              <a:spcBef>
                <a:spcPts val="2227"/>
              </a:spcBef>
            </a:pPr>
            <a:r>
              <a:rPr sz="2133" spc="-33" dirty="0">
                <a:latin typeface="Arial Black"/>
                <a:cs typeface="Arial Black"/>
              </a:rPr>
              <a:t>KV</a:t>
            </a:r>
            <a:endParaRPr sz="2133">
              <a:latin typeface="Arial Black"/>
              <a:cs typeface="Arial Black"/>
            </a:endParaRPr>
          </a:p>
          <a:p>
            <a:pPr algn="ctr">
              <a:spcBef>
                <a:spcPts val="40"/>
              </a:spcBef>
            </a:pPr>
            <a:r>
              <a:rPr sz="2133" spc="-13" dirty="0">
                <a:latin typeface="Arial Black"/>
                <a:cs typeface="Arial Black"/>
              </a:rPr>
              <a:t>cache</a:t>
            </a:r>
            <a:endParaRPr sz="2133">
              <a:latin typeface="Arial Black"/>
              <a:cs typeface="Arial Black"/>
            </a:endParaRPr>
          </a:p>
        </p:txBody>
      </p:sp>
      <p:grpSp>
        <p:nvGrpSpPr>
          <p:cNvPr id="32" name="object 32"/>
          <p:cNvGrpSpPr/>
          <p:nvPr/>
        </p:nvGrpSpPr>
        <p:grpSpPr>
          <a:xfrm>
            <a:off x="1925322" y="2308098"/>
            <a:ext cx="8369300" cy="1733127"/>
            <a:chOff x="1443991" y="1731073"/>
            <a:chExt cx="6276975" cy="1299845"/>
          </a:xfrm>
        </p:grpSpPr>
        <p:sp>
          <p:nvSpPr>
            <p:cNvPr id="33" name="object 33"/>
            <p:cNvSpPr/>
            <p:nvPr/>
          </p:nvSpPr>
          <p:spPr>
            <a:xfrm>
              <a:off x="1448753" y="1737636"/>
              <a:ext cx="650240" cy="230504"/>
            </a:xfrm>
            <a:custGeom>
              <a:avLst/>
              <a:gdLst/>
              <a:ahLst/>
              <a:cxnLst/>
              <a:rect l="l" t="t" r="r" b="b"/>
              <a:pathLst>
                <a:path w="650239" h="230505">
                  <a:moveTo>
                    <a:pt x="649800" y="230399"/>
                  </a:moveTo>
                  <a:lnTo>
                    <a:pt x="0" y="230399"/>
                  </a:lnTo>
                  <a:lnTo>
                    <a:pt x="0" y="0"/>
                  </a:lnTo>
                  <a:lnTo>
                    <a:pt x="649800" y="0"/>
                  </a:lnTo>
                  <a:lnTo>
                    <a:pt x="649800" y="230399"/>
                  </a:lnTo>
                  <a:close/>
                </a:path>
              </a:pathLst>
            </a:custGeom>
            <a:solidFill>
              <a:srgbClr val="EBFAFF"/>
            </a:solidFill>
          </p:spPr>
          <p:txBody>
            <a:bodyPr wrap="square" lIns="0" tIns="0" rIns="0" bIns="0" rtlCol="0"/>
            <a:lstStyle/>
            <a:p>
              <a:endParaRPr sz="2400"/>
            </a:p>
          </p:txBody>
        </p:sp>
        <p:sp>
          <p:nvSpPr>
            <p:cNvPr id="34" name="object 34"/>
            <p:cNvSpPr/>
            <p:nvPr/>
          </p:nvSpPr>
          <p:spPr>
            <a:xfrm>
              <a:off x="1448753" y="1737636"/>
              <a:ext cx="650240" cy="230504"/>
            </a:xfrm>
            <a:custGeom>
              <a:avLst/>
              <a:gdLst/>
              <a:ahLst/>
              <a:cxnLst/>
              <a:rect l="l" t="t" r="r" b="b"/>
              <a:pathLst>
                <a:path w="650239" h="230505">
                  <a:moveTo>
                    <a:pt x="649800" y="0"/>
                  </a:moveTo>
                  <a:lnTo>
                    <a:pt x="649800" y="230399"/>
                  </a:lnTo>
                  <a:lnTo>
                    <a:pt x="0" y="230399"/>
                  </a:lnTo>
                  <a:lnTo>
                    <a:pt x="0" y="0"/>
                  </a:lnTo>
                  <a:lnTo>
                    <a:pt x="649800" y="0"/>
                  </a:lnTo>
                  <a:close/>
                </a:path>
              </a:pathLst>
            </a:custGeom>
            <a:ln w="9524">
              <a:solidFill>
                <a:srgbClr val="237A94"/>
              </a:solidFill>
            </a:ln>
          </p:spPr>
          <p:txBody>
            <a:bodyPr wrap="square" lIns="0" tIns="0" rIns="0" bIns="0" rtlCol="0"/>
            <a:lstStyle/>
            <a:p>
              <a:endParaRPr sz="2400"/>
            </a:p>
          </p:txBody>
        </p:sp>
        <p:sp>
          <p:nvSpPr>
            <p:cNvPr id="35" name="object 35"/>
            <p:cNvSpPr/>
            <p:nvPr/>
          </p:nvSpPr>
          <p:spPr>
            <a:xfrm>
              <a:off x="22512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6" name="object 36"/>
            <p:cNvSpPr/>
            <p:nvPr/>
          </p:nvSpPr>
          <p:spPr>
            <a:xfrm>
              <a:off x="22512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7" name="object 37"/>
            <p:cNvSpPr/>
            <p:nvPr/>
          </p:nvSpPr>
          <p:spPr>
            <a:xfrm>
              <a:off x="305370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8" name="object 38"/>
            <p:cNvSpPr/>
            <p:nvPr/>
          </p:nvSpPr>
          <p:spPr>
            <a:xfrm>
              <a:off x="305370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9" name="object 39"/>
            <p:cNvSpPr/>
            <p:nvPr/>
          </p:nvSpPr>
          <p:spPr>
            <a:xfrm>
              <a:off x="385617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0" name="object 40"/>
            <p:cNvSpPr/>
            <p:nvPr/>
          </p:nvSpPr>
          <p:spPr>
            <a:xfrm>
              <a:off x="385617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1" name="object 41"/>
            <p:cNvSpPr/>
            <p:nvPr/>
          </p:nvSpPr>
          <p:spPr>
            <a:xfrm>
              <a:off x="4658653"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2" name="object 42"/>
            <p:cNvSpPr/>
            <p:nvPr/>
          </p:nvSpPr>
          <p:spPr>
            <a:xfrm>
              <a:off x="4658653"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3" name="object 43"/>
            <p:cNvSpPr/>
            <p:nvPr/>
          </p:nvSpPr>
          <p:spPr>
            <a:xfrm>
              <a:off x="54611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4" name="object 44"/>
            <p:cNvSpPr/>
            <p:nvPr/>
          </p:nvSpPr>
          <p:spPr>
            <a:xfrm>
              <a:off x="54611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5" name="object 45"/>
            <p:cNvSpPr/>
            <p:nvPr/>
          </p:nvSpPr>
          <p:spPr>
            <a:xfrm>
              <a:off x="6263603" y="1735836"/>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6" name="object 46"/>
            <p:cNvSpPr/>
            <p:nvPr/>
          </p:nvSpPr>
          <p:spPr>
            <a:xfrm>
              <a:off x="6263603" y="1735836"/>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7" name="object 47"/>
            <p:cNvSpPr/>
            <p:nvPr/>
          </p:nvSpPr>
          <p:spPr>
            <a:xfrm>
              <a:off x="7066078" y="1743561"/>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8" name="object 48"/>
            <p:cNvSpPr/>
            <p:nvPr/>
          </p:nvSpPr>
          <p:spPr>
            <a:xfrm>
              <a:off x="7066078" y="1743561"/>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9" name="object 49"/>
            <p:cNvSpPr/>
            <p:nvPr/>
          </p:nvSpPr>
          <p:spPr>
            <a:xfrm>
              <a:off x="1575750" y="1999075"/>
              <a:ext cx="6068060" cy="197485"/>
            </a:xfrm>
            <a:custGeom>
              <a:avLst/>
              <a:gdLst/>
              <a:ahLst/>
              <a:cxnLst/>
              <a:rect l="l" t="t" r="r" b="b"/>
              <a:pathLst>
                <a:path w="6068059" h="197485">
                  <a:moveTo>
                    <a:pt x="6067799" y="197099"/>
                  </a:moveTo>
                  <a:lnTo>
                    <a:pt x="0" y="197099"/>
                  </a:lnTo>
                  <a:lnTo>
                    <a:pt x="0" y="0"/>
                  </a:lnTo>
                  <a:lnTo>
                    <a:pt x="6067799" y="0"/>
                  </a:lnTo>
                  <a:lnTo>
                    <a:pt x="6067799" y="197099"/>
                  </a:lnTo>
                  <a:close/>
                </a:path>
              </a:pathLst>
            </a:custGeom>
            <a:solidFill>
              <a:srgbClr val="FFDE7E"/>
            </a:solidFill>
          </p:spPr>
          <p:txBody>
            <a:bodyPr wrap="square" lIns="0" tIns="0" rIns="0" bIns="0" rtlCol="0"/>
            <a:lstStyle/>
            <a:p>
              <a:endParaRPr sz="2400"/>
            </a:p>
          </p:txBody>
        </p:sp>
        <p:sp>
          <p:nvSpPr>
            <p:cNvPr id="50" name="object 50"/>
            <p:cNvSpPr/>
            <p:nvPr/>
          </p:nvSpPr>
          <p:spPr>
            <a:xfrm>
              <a:off x="1575750" y="1999075"/>
              <a:ext cx="6068060" cy="197485"/>
            </a:xfrm>
            <a:custGeom>
              <a:avLst/>
              <a:gdLst/>
              <a:ahLst/>
              <a:cxnLst/>
              <a:rect l="l" t="t" r="r" b="b"/>
              <a:pathLst>
                <a:path w="6068059" h="197485">
                  <a:moveTo>
                    <a:pt x="0" y="0"/>
                  </a:moveTo>
                  <a:lnTo>
                    <a:pt x="6067799" y="0"/>
                  </a:lnTo>
                  <a:lnTo>
                    <a:pt x="6067799" y="197099"/>
                  </a:lnTo>
                  <a:lnTo>
                    <a:pt x="0" y="197099"/>
                  </a:lnTo>
                  <a:lnTo>
                    <a:pt x="0" y="0"/>
                  </a:lnTo>
                  <a:close/>
                </a:path>
              </a:pathLst>
            </a:custGeom>
            <a:ln w="9524">
              <a:solidFill>
                <a:srgbClr val="595959"/>
              </a:solidFill>
            </a:ln>
          </p:spPr>
          <p:txBody>
            <a:bodyPr wrap="square" lIns="0" tIns="0" rIns="0" bIns="0" rtlCol="0"/>
            <a:lstStyle/>
            <a:p>
              <a:endParaRPr sz="2400"/>
            </a:p>
          </p:txBody>
        </p:sp>
        <p:pic>
          <p:nvPicPr>
            <p:cNvPr id="51" name="object 51"/>
            <p:cNvPicPr/>
            <p:nvPr/>
          </p:nvPicPr>
          <p:blipFill>
            <a:blip r:embed="rId2" cstate="print"/>
            <a:stretch>
              <a:fillRect/>
            </a:stretch>
          </p:blipFill>
          <p:spPr>
            <a:xfrm>
              <a:off x="4531245" y="1953098"/>
              <a:ext cx="82509" cy="287352"/>
            </a:xfrm>
            <a:prstGeom prst="rect">
              <a:avLst/>
            </a:prstGeom>
          </p:spPr>
        </p:pic>
        <p:sp>
          <p:nvSpPr>
            <p:cNvPr id="52" name="object 52"/>
            <p:cNvSpPr/>
            <p:nvPr/>
          </p:nvSpPr>
          <p:spPr>
            <a:xfrm>
              <a:off x="421616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3" name="object 53"/>
            <p:cNvSpPr/>
            <p:nvPr/>
          </p:nvSpPr>
          <p:spPr>
            <a:xfrm>
              <a:off x="421616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4696AA"/>
              </a:solidFill>
            </a:ln>
          </p:spPr>
          <p:txBody>
            <a:bodyPr wrap="square" lIns="0" tIns="0" rIns="0" bIns="0" rtlCol="0"/>
            <a:lstStyle/>
            <a:p>
              <a:endParaRPr sz="2400"/>
            </a:p>
          </p:txBody>
        </p:sp>
        <p:sp>
          <p:nvSpPr>
            <p:cNvPr id="54" name="object 54"/>
            <p:cNvSpPr/>
            <p:nvPr/>
          </p:nvSpPr>
          <p:spPr>
            <a:xfrm>
              <a:off x="372243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5" name="object 55"/>
            <p:cNvSpPr/>
            <p:nvPr/>
          </p:nvSpPr>
          <p:spPr>
            <a:xfrm>
              <a:off x="372243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F47272"/>
              </a:solidFill>
            </a:ln>
          </p:spPr>
          <p:txBody>
            <a:bodyPr wrap="square" lIns="0" tIns="0" rIns="0" bIns="0" rtlCol="0"/>
            <a:lstStyle/>
            <a:p>
              <a:endParaRPr sz="2400"/>
            </a:p>
          </p:txBody>
        </p:sp>
        <p:sp>
          <p:nvSpPr>
            <p:cNvPr id="56" name="object 56"/>
            <p:cNvSpPr/>
            <p:nvPr/>
          </p:nvSpPr>
          <p:spPr>
            <a:xfrm>
              <a:off x="4709835"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7" name="object 57"/>
            <p:cNvSpPr/>
            <p:nvPr/>
          </p:nvSpPr>
          <p:spPr>
            <a:xfrm>
              <a:off x="4709835"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5AB46E"/>
              </a:solidFill>
            </a:ln>
          </p:spPr>
          <p:txBody>
            <a:bodyPr wrap="square" lIns="0" tIns="0" rIns="0" bIns="0" rtlCol="0"/>
            <a:lstStyle/>
            <a:p>
              <a:endParaRPr sz="2400"/>
            </a:p>
          </p:txBody>
        </p:sp>
      </p:grpSp>
      <p:sp>
        <p:nvSpPr>
          <p:cNvPr id="58" name="object 58"/>
          <p:cNvSpPr txBox="1"/>
          <p:nvPr/>
        </p:nvSpPr>
        <p:spPr>
          <a:xfrm>
            <a:off x="5100528" y="3600480"/>
            <a:ext cx="1532467" cy="345330"/>
          </a:xfrm>
          <a:prstGeom prst="rect">
            <a:avLst/>
          </a:prstGeom>
        </p:spPr>
        <p:txBody>
          <a:bodyPr vert="horz" wrap="square" lIns="0" tIns="16933" rIns="0" bIns="0" rtlCol="0">
            <a:spAutoFit/>
          </a:bodyPr>
          <a:lstStyle/>
          <a:p>
            <a:pPr>
              <a:spcBef>
                <a:spcPts val="133"/>
              </a:spcBef>
              <a:tabLst>
                <a:tab pos="683243" algn="l"/>
                <a:tab pos="1330925" algn="l"/>
              </a:tabLst>
            </a:pPr>
            <a:r>
              <a:rPr sz="2133" spc="-67" dirty="0">
                <a:latin typeface="Lucida Sans Unicode"/>
                <a:cs typeface="Lucida Sans Unicode"/>
              </a:rPr>
              <a:t>Q</a:t>
            </a:r>
            <a:r>
              <a:rPr sz="2133" dirty="0">
                <a:latin typeface="Lucida Sans Unicode"/>
                <a:cs typeface="Lucida Sans Unicode"/>
              </a:rPr>
              <a:t>	</a:t>
            </a:r>
            <a:r>
              <a:rPr sz="2133" spc="-67" dirty="0">
                <a:latin typeface="Lucida Sans Unicode"/>
                <a:cs typeface="Lucida Sans Unicode"/>
              </a:rPr>
              <a:t>K</a:t>
            </a:r>
            <a:r>
              <a:rPr sz="2133" dirty="0">
                <a:latin typeface="Lucida Sans Unicode"/>
                <a:cs typeface="Lucida Sans Unicode"/>
              </a:rPr>
              <a:t>	</a:t>
            </a:r>
            <a:r>
              <a:rPr sz="2133" spc="-67" dirty="0">
                <a:latin typeface="Lucida Sans Unicode"/>
                <a:cs typeface="Lucida Sans Unicode"/>
              </a:rPr>
              <a:t>V</a:t>
            </a:r>
            <a:endParaRPr sz="2133">
              <a:latin typeface="Lucida Sans Unicode"/>
              <a:cs typeface="Lucida Sans Unicode"/>
            </a:endParaRPr>
          </a:p>
        </p:txBody>
      </p:sp>
      <p:sp>
        <p:nvSpPr>
          <p:cNvPr id="59" name="object 59"/>
          <p:cNvSpPr txBox="1"/>
          <p:nvPr/>
        </p:nvSpPr>
        <p:spPr>
          <a:xfrm>
            <a:off x="6934605" y="3554195"/>
            <a:ext cx="1219200" cy="782137"/>
          </a:xfrm>
          <a:prstGeom prst="rect">
            <a:avLst/>
          </a:prstGeom>
          <a:solidFill>
            <a:srgbClr val="FFFFFF"/>
          </a:solidFill>
          <a:ln w="45724">
            <a:solidFill>
              <a:srgbClr val="E6A064"/>
            </a:solidFill>
          </a:ln>
        </p:spPr>
        <p:txBody>
          <a:bodyPr vert="horz" wrap="square" lIns="0" tIns="124460" rIns="0" bIns="0" rtlCol="0">
            <a:spAutoFit/>
          </a:bodyPr>
          <a:lstStyle/>
          <a:p>
            <a:pPr>
              <a:spcBef>
                <a:spcPts val="980"/>
              </a:spcBef>
            </a:pPr>
            <a:endParaRPr sz="2133">
              <a:latin typeface="Times New Roman"/>
              <a:cs typeface="Times New Roman"/>
            </a:endParaRPr>
          </a:p>
          <a:p>
            <a:pPr algn="ctr">
              <a:lnSpc>
                <a:spcPct val="100000"/>
              </a:lnSpc>
            </a:pPr>
            <a:r>
              <a:rPr sz="2133" spc="20" dirty="0">
                <a:latin typeface="Lucida Sans Unicode"/>
                <a:cs typeface="Lucida Sans Unicode"/>
              </a:rPr>
              <a:t>S</a:t>
            </a:r>
            <a:endParaRPr sz="2133">
              <a:latin typeface="Lucida Sans Unicode"/>
              <a:cs typeface="Lucida Sans Unicode"/>
            </a:endParaRPr>
          </a:p>
        </p:txBody>
      </p:sp>
      <p:grpSp>
        <p:nvGrpSpPr>
          <p:cNvPr id="60" name="object 60"/>
          <p:cNvGrpSpPr/>
          <p:nvPr/>
        </p:nvGrpSpPr>
        <p:grpSpPr>
          <a:xfrm>
            <a:off x="2492936" y="2383057"/>
            <a:ext cx="135467" cy="210820"/>
            <a:chOff x="1869702" y="1787292"/>
            <a:chExt cx="101600" cy="158115"/>
          </a:xfrm>
        </p:grpSpPr>
        <p:sp>
          <p:nvSpPr>
            <p:cNvPr id="61" name="object 61"/>
            <p:cNvSpPr/>
            <p:nvPr/>
          </p:nvSpPr>
          <p:spPr>
            <a:xfrm>
              <a:off x="1874465"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2" name="object 62"/>
            <p:cNvSpPr/>
            <p:nvPr/>
          </p:nvSpPr>
          <p:spPr>
            <a:xfrm>
              <a:off x="1874465"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63" name="object 63"/>
          <p:cNvSpPr txBox="1"/>
          <p:nvPr/>
        </p:nvSpPr>
        <p:spPr>
          <a:xfrm>
            <a:off x="2508927" y="2373936"/>
            <a:ext cx="120227" cy="201764"/>
          </a:xfrm>
          <a:prstGeom prst="rect">
            <a:avLst/>
          </a:prstGeom>
        </p:spPr>
        <p:txBody>
          <a:bodyPr vert="horz" wrap="square" lIns="0" tIns="16933" rIns="0" bIns="0" rtlCol="0">
            <a:spAutoFit/>
          </a:bodyPr>
          <a:lstStyle/>
          <a:p>
            <a:pPr>
              <a:spcBef>
                <a:spcPts val="133"/>
              </a:spcBef>
            </a:pPr>
            <a:r>
              <a:rPr sz="1200" spc="-67" dirty="0">
                <a:latin typeface="Lucida Sans Unicode"/>
                <a:cs typeface="Lucida Sans Unicode"/>
              </a:rPr>
              <a:t>A</a:t>
            </a:r>
            <a:endParaRPr sz="1200">
              <a:latin typeface="Lucida Sans Unicode"/>
              <a:cs typeface="Lucida Sans Unicode"/>
            </a:endParaRPr>
          </a:p>
        </p:txBody>
      </p:sp>
      <p:grpSp>
        <p:nvGrpSpPr>
          <p:cNvPr id="64" name="object 64"/>
          <p:cNvGrpSpPr/>
          <p:nvPr/>
        </p:nvGrpSpPr>
        <p:grpSpPr>
          <a:xfrm>
            <a:off x="3565517" y="2383057"/>
            <a:ext cx="135467" cy="210820"/>
            <a:chOff x="2674138" y="1787292"/>
            <a:chExt cx="101600" cy="158115"/>
          </a:xfrm>
        </p:grpSpPr>
        <p:sp>
          <p:nvSpPr>
            <p:cNvPr id="65" name="object 65"/>
            <p:cNvSpPr/>
            <p:nvPr/>
          </p:nvSpPr>
          <p:spPr>
            <a:xfrm>
              <a:off x="2678901"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6" name="object 66"/>
            <p:cNvSpPr/>
            <p:nvPr/>
          </p:nvSpPr>
          <p:spPr>
            <a:xfrm>
              <a:off x="2678901"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67" name="object 67"/>
          <p:cNvSpPr txBox="1"/>
          <p:nvPr/>
        </p:nvSpPr>
        <p:spPr>
          <a:xfrm>
            <a:off x="3581508" y="2373936"/>
            <a:ext cx="120227" cy="201764"/>
          </a:xfrm>
          <a:prstGeom prst="rect">
            <a:avLst/>
          </a:prstGeom>
        </p:spPr>
        <p:txBody>
          <a:bodyPr vert="horz" wrap="square" lIns="0" tIns="16933" rIns="0" bIns="0" rtlCol="0">
            <a:spAutoFit/>
          </a:bodyPr>
          <a:lstStyle/>
          <a:p>
            <a:pPr>
              <a:spcBef>
                <a:spcPts val="133"/>
              </a:spcBef>
            </a:pPr>
            <a:r>
              <a:rPr sz="1200" spc="-67" dirty="0">
                <a:latin typeface="Lucida Sans Unicode"/>
                <a:cs typeface="Lucida Sans Unicode"/>
              </a:rPr>
              <a:t>A</a:t>
            </a:r>
            <a:endParaRPr sz="1200">
              <a:latin typeface="Lucida Sans Unicode"/>
              <a:cs typeface="Lucida Sans Unicode"/>
            </a:endParaRPr>
          </a:p>
        </p:txBody>
      </p:sp>
      <p:grpSp>
        <p:nvGrpSpPr>
          <p:cNvPr id="68" name="object 68"/>
          <p:cNvGrpSpPr/>
          <p:nvPr/>
        </p:nvGrpSpPr>
        <p:grpSpPr>
          <a:xfrm>
            <a:off x="5700391" y="2383057"/>
            <a:ext cx="135467" cy="210820"/>
            <a:chOff x="4275293" y="1787292"/>
            <a:chExt cx="101600" cy="158115"/>
          </a:xfrm>
        </p:grpSpPr>
        <p:sp>
          <p:nvSpPr>
            <p:cNvPr id="69" name="object 69"/>
            <p:cNvSpPr/>
            <p:nvPr/>
          </p:nvSpPr>
          <p:spPr>
            <a:xfrm>
              <a:off x="4280056"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0" name="object 70"/>
            <p:cNvSpPr/>
            <p:nvPr/>
          </p:nvSpPr>
          <p:spPr>
            <a:xfrm>
              <a:off x="4280056"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71" name="object 71"/>
          <p:cNvSpPr txBox="1"/>
          <p:nvPr/>
        </p:nvSpPr>
        <p:spPr>
          <a:xfrm>
            <a:off x="5716381" y="2373936"/>
            <a:ext cx="120227" cy="201764"/>
          </a:xfrm>
          <a:prstGeom prst="rect">
            <a:avLst/>
          </a:prstGeom>
        </p:spPr>
        <p:txBody>
          <a:bodyPr vert="horz" wrap="square" lIns="0" tIns="16933" rIns="0" bIns="0" rtlCol="0">
            <a:spAutoFit/>
          </a:bodyPr>
          <a:lstStyle/>
          <a:p>
            <a:pPr>
              <a:spcBef>
                <a:spcPts val="133"/>
              </a:spcBef>
            </a:pPr>
            <a:r>
              <a:rPr sz="1200" spc="-67" dirty="0">
                <a:latin typeface="Lucida Sans Unicode"/>
                <a:cs typeface="Lucida Sans Unicode"/>
              </a:rPr>
              <a:t>A</a:t>
            </a:r>
            <a:endParaRPr sz="1200">
              <a:latin typeface="Lucida Sans Unicode"/>
              <a:cs typeface="Lucida Sans Unicode"/>
            </a:endParaRPr>
          </a:p>
        </p:txBody>
      </p:sp>
      <p:grpSp>
        <p:nvGrpSpPr>
          <p:cNvPr id="72" name="object 72"/>
          <p:cNvGrpSpPr/>
          <p:nvPr/>
        </p:nvGrpSpPr>
        <p:grpSpPr>
          <a:xfrm>
            <a:off x="6776544" y="2383057"/>
            <a:ext cx="135467" cy="210820"/>
            <a:chOff x="5082408" y="1787292"/>
            <a:chExt cx="101600" cy="158115"/>
          </a:xfrm>
        </p:grpSpPr>
        <p:sp>
          <p:nvSpPr>
            <p:cNvPr id="73" name="object 73"/>
            <p:cNvSpPr/>
            <p:nvPr/>
          </p:nvSpPr>
          <p:spPr>
            <a:xfrm>
              <a:off x="5087170"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4" name="object 74"/>
            <p:cNvSpPr/>
            <p:nvPr/>
          </p:nvSpPr>
          <p:spPr>
            <a:xfrm>
              <a:off x="5087170"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75" name="object 75"/>
          <p:cNvSpPr txBox="1"/>
          <p:nvPr/>
        </p:nvSpPr>
        <p:spPr>
          <a:xfrm>
            <a:off x="6792536" y="2373936"/>
            <a:ext cx="120227" cy="201764"/>
          </a:xfrm>
          <a:prstGeom prst="rect">
            <a:avLst/>
          </a:prstGeom>
        </p:spPr>
        <p:txBody>
          <a:bodyPr vert="horz" wrap="square" lIns="0" tIns="16933" rIns="0" bIns="0" rtlCol="0">
            <a:spAutoFit/>
          </a:bodyPr>
          <a:lstStyle/>
          <a:p>
            <a:pPr>
              <a:spcBef>
                <a:spcPts val="133"/>
              </a:spcBef>
            </a:pPr>
            <a:r>
              <a:rPr sz="1200" spc="-67" dirty="0">
                <a:latin typeface="Lucida Sans Unicode"/>
                <a:cs typeface="Lucida Sans Unicode"/>
              </a:rPr>
              <a:t>A</a:t>
            </a:r>
            <a:endParaRPr sz="1200">
              <a:latin typeface="Lucida Sans Unicode"/>
              <a:cs typeface="Lucida Sans Unicode"/>
            </a:endParaRPr>
          </a:p>
        </p:txBody>
      </p:sp>
      <p:grpSp>
        <p:nvGrpSpPr>
          <p:cNvPr id="76" name="object 76"/>
          <p:cNvGrpSpPr/>
          <p:nvPr/>
        </p:nvGrpSpPr>
        <p:grpSpPr>
          <a:xfrm>
            <a:off x="7845844" y="2383057"/>
            <a:ext cx="135467" cy="210820"/>
            <a:chOff x="5884383" y="1787292"/>
            <a:chExt cx="101600" cy="158115"/>
          </a:xfrm>
        </p:grpSpPr>
        <p:sp>
          <p:nvSpPr>
            <p:cNvPr id="77" name="object 77"/>
            <p:cNvSpPr/>
            <p:nvPr/>
          </p:nvSpPr>
          <p:spPr>
            <a:xfrm>
              <a:off x="5889145"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8" name="object 78"/>
            <p:cNvSpPr/>
            <p:nvPr/>
          </p:nvSpPr>
          <p:spPr>
            <a:xfrm>
              <a:off x="5889145"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79" name="object 79"/>
          <p:cNvSpPr txBox="1"/>
          <p:nvPr/>
        </p:nvSpPr>
        <p:spPr>
          <a:xfrm>
            <a:off x="7861835" y="2373936"/>
            <a:ext cx="120227" cy="201764"/>
          </a:xfrm>
          <a:prstGeom prst="rect">
            <a:avLst/>
          </a:prstGeom>
        </p:spPr>
        <p:txBody>
          <a:bodyPr vert="horz" wrap="square" lIns="0" tIns="16933" rIns="0" bIns="0" rtlCol="0">
            <a:spAutoFit/>
          </a:bodyPr>
          <a:lstStyle/>
          <a:p>
            <a:pPr>
              <a:spcBef>
                <a:spcPts val="133"/>
              </a:spcBef>
            </a:pPr>
            <a:r>
              <a:rPr sz="1200" spc="-67" dirty="0">
                <a:latin typeface="Lucida Sans Unicode"/>
                <a:cs typeface="Lucida Sans Unicode"/>
              </a:rPr>
              <a:t>A</a:t>
            </a:r>
            <a:endParaRPr sz="1200">
              <a:latin typeface="Lucida Sans Unicode"/>
              <a:cs typeface="Lucida Sans Unicode"/>
            </a:endParaRPr>
          </a:p>
        </p:txBody>
      </p:sp>
      <p:grpSp>
        <p:nvGrpSpPr>
          <p:cNvPr id="80" name="object 80"/>
          <p:cNvGrpSpPr/>
          <p:nvPr/>
        </p:nvGrpSpPr>
        <p:grpSpPr>
          <a:xfrm>
            <a:off x="8913427" y="2383057"/>
            <a:ext cx="135467" cy="210820"/>
            <a:chOff x="6685070" y="1787292"/>
            <a:chExt cx="101600" cy="158115"/>
          </a:xfrm>
        </p:grpSpPr>
        <p:sp>
          <p:nvSpPr>
            <p:cNvPr id="81" name="object 81"/>
            <p:cNvSpPr/>
            <p:nvPr/>
          </p:nvSpPr>
          <p:spPr>
            <a:xfrm>
              <a:off x="6689832"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2" name="object 82"/>
            <p:cNvSpPr/>
            <p:nvPr/>
          </p:nvSpPr>
          <p:spPr>
            <a:xfrm>
              <a:off x="6689832"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83" name="object 83"/>
          <p:cNvSpPr txBox="1"/>
          <p:nvPr/>
        </p:nvSpPr>
        <p:spPr>
          <a:xfrm>
            <a:off x="8929417" y="2373936"/>
            <a:ext cx="120227" cy="201764"/>
          </a:xfrm>
          <a:prstGeom prst="rect">
            <a:avLst/>
          </a:prstGeom>
        </p:spPr>
        <p:txBody>
          <a:bodyPr vert="horz" wrap="square" lIns="0" tIns="16933" rIns="0" bIns="0" rtlCol="0">
            <a:spAutoFit/>
          </a:bodyPr>
          <a:lstStyle/>
          <a:p>
            <a:pPr>
              <a:spcBef>
                <a:spcPts val="133"/>
              </a:spcBef>
            </a:pPr>
            <a:r>
              <a:rPr sz="1200" spc="-67" dirty="0">
                <a:latin typeface="Lucida Sans Unicode"/>
                <a:cs typeface="Lucida Sans Unicode"/>
              </a:rPr>
              <a:t>A</a:t>
            </a:r>
            <a:endParaRPr sz="1200">
              <a:latin typeface="Lucida Sans Unicode"/>
              <a:cs typeface="Lucida Sans Unicode"/>
            </a:endParaRPr>
          </a:p>
        </p:txBody>
      </p:sp>
      <p:grpSp>
        <p:nvGrpSpPr>
          <p:cNvPr id="84" name="object 84"/>
          <p:cNvGrpSpPr/>
          <p:nvPr/>
        </p:nvGrpSpPr>
        <p:grpSpPr>
          <a:xfrm>
            <a:off x="9984365" y="2383057"/>
            <a:ext cx="135467" cy="210820"/>
            <a:chOff x="7488274" y="1787292"/>
            <a:chExt cx="101600" cy="158115"/>
          </a:xfrm>
        </p:grpSpPr>
        <p:sp>
          <p:nvSpPr>
            <p:cNvPr id="85" name="object 85"/>
            <p:cNvSpPr/>
            <p:nvPr/>
          </p:nvSpPr>
          <p:spPr>
            <a:xfrm>
              <a:off x="7493037"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6" name="object 86"/>
            <p:cNvSpPr/>
            <p:nvPr/>
          </p:nvSpPr>
          <p:spPr>
            <a:xfrm>
              <a:off x="7493037"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87" name="object 87"/>
          <p:cNvSpPr txBox="1"/>
          <p:nvPr/>
        </p:nvSpPr>
        <p:spPr>
          <a:xfrm>
            <a:off x="10000357" y="2373936"/>
            <a:ext cx="120227" cy="201764"/>
          </a:xfrm>
          <a:prstGeom prst="rect">
            <a:avLst/>
          </a:prstGeom>
        </p:spPr>
        <p:txBody>
          <a:bodyPr vert="horz" wrap="square" lIns="0" tIns="16933" rIns="0" bIns="0" rtlCol="0">
            <a:spAutoFit/>
          </a:bodyPr>
          <a:lstStyle/>
          <a:p>
            <a:pPr>
              <a:spcBef>
                <a:spcPts val="133"/>
              </a:spcBef>
            </a:pPr>
            <a:r>
              <a:rPr sz="1200" spc="-67" dirty="0">
                <a:latin typeface="Lucida Sans Unicode"/>
                <a:cs typeface="Lucida Sans Unicode"/>
              </a:rPr>
              <a:t>A</a:t>
            </a:r>
            <a:endParaRPr sz="1200">
              <a:latin typeface="Lucida Sans Unicode"/>
              <a:cs typeface="Lucida Sans Unicode"/>
            </a:endParaRPr>
          </a:p>
        </p:txBody>
      </p:sp>
      <p:grpSp>
        <p:nvGrpSpPr>
          <p:cNvPr id="88" name="object 88"/>
          <p:cNvGrpSpPr/>
          <p:nvPr/>
        </p:nvGrpSpPr>
        <p:grpSpPr>
          <a:xfrm>
            <a:off x="4636013" y="2383057"/>
            <a:ext cx="135467" cy="210820"/>
            <a:chOff x="3477010" y="1787292"/>
            <a:chExt cx="101600" cy="158115"/>
          </a:xfrm>
        </p:grpSpPr>
        <p:sp>
          <p:nvSpPr>
            <p:cNvPr id="89" name="object 89"/>
            <p:cNvSpPr/>
            <p:nvPr/>
          </p:nvSpPr>
          <p:spPr>
            <a:xfrm>
              <a:off x="3481773"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0" name="object 90"/>
            <p:cNvSpPr/>
            <p:nvPr/>
          </p:nvSpPr>
          <p:spPr>
            <a:xfrm>
              <a:off x="3481773"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91" name="object 91"/>
          <p:cNvSpPr txBox="1"/>
          <p:nvPr/>
        </p:nvSpPr>
        <p:spPr>
          <a:xfrm>
            <a:off x="4652005" y="2373936"/>
            <a:ext cx="120227" cy="201764"/>
          </a:xfrm>
          <a:prstGeom prst="rect">
            <a:avLst/>
          </a:prstGeom>
        </p:spPr>
        <p:txBody>
          <a:bodyPr vert="horz" wrap="square" lIns="0" tIns="16933" rIns="0" bIns="0" rtlCol="0">
            <a:spAutoFit/>
          </a:bodyPr>
          <a:lstStyle/>
          <a:p>
            <a:pPr>
              <a:spcBef>
                <a:spcPts val="133"/>
              </a:spcBef>
            </a:pPr>
            <a:r>
              <a:rPr sz="1200" spc="-67" dirty="0">
                <a:latin typeface="Lucida Sans Unicode"/>
                <a:cs typeface="Lucida Sans Unicode"/>
              </a:rPr>
              <a:t>A</a:t>
            </a:r>
            <a:endParaRPr sz="1200">
              <a:latin typeface="Lucida Sans Unicode"/>
              <a:cs typeface="Lucida Sans Unicode"/>
            </a:endParaRPr>
          </a:p>
        </p:txBody>
      </p:sp>
      <p:grpSp>
        <p:nvGrpSpPr>
          <p:cNvPr id="92" name="object 92"/>
          <p:cNvGrpSpPr/>
          <p:nvPr/>
        </p:nvGrpSpPr>
        <p:grpSpPr>
          <a:xfrm>
            <a:off x="2563835" y="2597039"/>
            <a:ext cx="7505700" cy="963507"/>
            <a:chOff x="1922876" y="1947779"/>
            <a:chExt cx="5629275" cy="722630"/>
          </a:xfrm>
        </p:grpSpPr>
        <p:sp>
          <p:nvSpPr>
            <p:cNvPr id="93" name="object 93"/>
            <p:cNvSpPr/>
            <p:nvPr/>
          </p:nvSpPr>
          <p:spPr>
            <a:xfrm>
              <a:off x="1951323" y="1989944"/>
              <a:ext cx="4713605" cy="675640"/>
            </a:xfrm>
            <a:custGeom>
              <a:avLst/>
              <a:gdLst/>
              <a:ahLst/>
              <a:cxnLst/>
              <a:rect l="l" t="t" r="r" b="b"/>
              <a:pathLst>
                <a:path w="4713605" h="675639">
                  <a:moveTo>
                    <a:pt x="4713017" y="675480"/>
                  </a:moveTo>
                  <a:lnTo>
                    <a:pt x="4690852" y="633681"/>
                  </a:lnTo>
                  <a:lnTo>
                    <a:pt x="4646532" y="604448"/>
                  </a:lnTo>
                  <a:lnTo>
                    <a:pt x="4604650" y="585901"/>
                  </a:lnTo>
                  <a:lnTo>
                    <a:pt x="4553432" y="568067"/>
                  </a:lnTo>
                  <a:lnTo>
                    <a:pt x="4493332" y="550912"/>
                  </a:lnTo>
                  <a:lnTo>
                    <a:pt x="4424807" y="534401"/>
                  </a:lnTo>
                  <a:lnTo>
                    <a:pt x="4387527" y="526375"/>
                  </a:lnTo>
                  <a:lnTo>
                    <a:pt x="4348312" y="518498"/>
                  </a:lnTo>
                  <a:lnTo>
                    <a:pt x="4307217" y="510764"/>
                  </a:lnTo>
                  <a:lnTo>
                    <a:pt x="4264301" y="503169"/>
                  </a:lnTo>
                  <a:lnTo>
                    <a:pt x="4219620" y="495710"/>
                  </a:lnTo>
                  <a:lnTo>
                    <a:pt x="4173232" y="488380"/>
                  </a:lnTo>
                  <a:lnTo>
                    <a:pt x="4125192" y="481177"/>
                  </a:lnTo>
                  <a:lnTo>
                    <a:pt x="4075558" y="474096"/>
                  </a:lnTo>
                  <a:lnTo>
                    <a:pt x="4024387" y="467132"/>
                  </a:lnTo>
                  <a:lnTo>
                    <a:pt x="3971736" y="460281"/>
                  </a:lnTo>
                  <a:lnTo>
                    <a:pt x="3917661" y="453538"/>
                  </a:lnTo>
                  <a:lnTo>
                    <a:pt x="3862221" y="446901"/>
                  </a:lnTo>
                  <a:lnTo>
                    <a:pt x="3805471" y="440363"/>
                  </a:lnTo>
                  <a:lnTo>
                    <a:pt x="3747468" y="433921"/>
                  </a:lnTo>
                  <a:lnTo>
                    <a:pt x="3688270" y="427570"/>
                  </a:lnTo>
                  <a:lnTo>
                    <a:pt x="3627933" y="421307"/>
                  </a:lnTo>
                  <a:lnTo>
                    <a:pt x="3566515" y="415126"/>
                  </a:lnTo>
                  <a:lnTo>
                    <a:pt x="3504071" y="409023"/>
                  </a:lnTo>
                  <a:lnTo>
                    <a:pt x="3440660" y="402994"/>
                  </a:lnTo>
                  <a:lnTo>
                    <a:pt x="3376339" y="397035"/>
                  </a:lnTo>
                  <a:lnTo>
                    <a:pt x="3311163" y="391141"/>
                  </a:lnTo>
                  <a:lnTo>
                    <a:pt x="3245190" y="385308"/>
                  </a:lnTo>
                  <a:lnTo>
                    <a:pt x="3178477" y="379532"/>
                  </a:lnTo>
                  <a:lnTo>
                    <a:pt x="3111081" y="373808"/>
                  </a:lnTo>
                  <a:lnTo>
                    <a:pt x="3043059" y="368131"/>
                  </a:lnTo>
                  <a:lnTo>
                    <a:pt x="2974467" y="362498"/>
                  </a:lnTo>
                  <a:lnTo>
                    <a:pt x="2905363" y="356905"/>
                  </a:lnTo>
                  <a:lnTo>
                    <a:pt x="2835803" y="351346"/>
                  </a:lnTo>
                  <a:lnTo>
                    <a:pt x="2765845" y="345818"/>
                  </a:lnTo>
                  <a:lnTo>
                    <a:pt x="2695546" y="340316"/>
                  </a:lnTo>
                  <a:lnTo>
                    <a:pt x="2624962" y="334835"/>
                  </a:lnTo>
                  <a:lnTo>
                    <a:pt x="2554150" y="329372"/>
                  </a:lnTo>
                  <a:lnTo>
                    <a:pt x="2483167" y="323922"/>
                  </a:lnTo>
                  <a:lnTo>
                    <a:pt x="2412070" y="318481"/>
                  </a:lnTo>
                  <a:lnTo>
                    <a:pt x="2340917" y="313044"/>
                  </a:lnTo>
                  <a:lnTo>
                    <a:pt x="2285325" y="308797"/>
                  </a:lnTo>
                  <a:lnTo>
                    <a:pt x="2229761" y="304548"/>
                  </a:lnTo>
                  <a:lnTo>
                    <a:pt x="2174251" y="300295"/>
                  </a:lnTo>
                  <a:lnTo>
                    <a:pt x="2118822" y="296035"/>
                  </a:lnTo>
                  <a:lnTo>
                    <a:pt x="2063502" y="291767"/>
                  </a:lnTo>
                  <a:lnTo>
                    <a:pt x="2008318" y="287489"/>
                  </a:lnTo>
                  <a:lnTo>
                    <a:pt x="1953296" y="283198"/>
                  </a:lnTo>
                  <a:lnTo>
                    <a:pt x="1898465" y="278893"/>
                  </a:lnTo>
                  <a:lnTo>
                    <a:pt x="1843850" y="274572"/>
                  </a:lnTo>
                  <a:lnTo>
                    <a:pt x="1789480" y="270231"/>
                  </a:lnTo>
                  <a:lnTo>
                    <a:pt x="1735382" y="265870"/>
                  </a:lnTo>
                  <a:lnTo>
                    <a:pt x="1681582" y="261486"/>
                  </a:lnTo>
                  <a:lnTo>
                    <a:pt x="1628108" y="257078"/>
                  </a:lnTo>
                  <a:lnTo>
                    <a:pt x="1574987" y="252642"/>
                  </a:lnTo>
                  <a:lnTo>
                    <a:pt x="1522245" y="248178"/>
                  </a:lnTo>
                  <a:lnTo>
                    <a:pt x="1469911" y="243682"/>
                  </a:lnTo>
                  <a:lnTo>
                    <a:pt x="1418012" y="239153"/>
                  </a:lnTo>
                  <a:lnTo>
                    <a:pt x="1366574" y="234589"/>
                  </a:lnTo>
                  <a:lnTo>
                    <a:pt x="1315624" y="229988"/>
                  </a:lnTo>
                  <a:lnTo>
                    <a:pt x="1265190" y="225347"/>
                  </a:lnTo>
                  <a:lnTo>
                    <a:pt x="1215300" y="220665"/>
                  </a:lnTo>
                  <a:lnTo>
                    <a:pt x="1165979" y="215939"/>
                  </a:lnTo>
                  <a:lnTo>
                    <a:pt x="1117255" y="211167"/>
                  </a:lnTo>
                  <a:lnTo>
                    <a:pt x="1069156" y="206348"/>
                  </a:lnTo>
                  <a:lnTo>
                    <a:pt x="1021709" y="201480"/>
                  </a:lnTo>
                  <a:lnTo>
                    <a:pt x="974940" y="196559"/>
                  </a:lnTo>
                  <a:lnTo>
                    <a:pt x="928877" y="191584"/>
                  </a:lnTo>
                  <a:lnTo>
                    <a:pt x="883546" y="186554"/>
                  </a:lnTo>
                  <a:lnTo>
                    <a:pt x="838976" y="181465"/>
                  </a:lnTo>
                  <a:lnTo>
                    <a:pt x="795193" y="176317"/>
                  </a:lnTo>
                  <a:lnTo>
                    <a:pt x="752225" y="171106"/>
                  </a:lnTo>
                  <a:lnTo>
                    <a:pt x="710098" y="165831"/>
                  </a:lnTo>
                  <a:lnTo>
                    <a:pt x="650381" y="158039"/>
                  </a:lnTo>
                  <a:lnTo>
                    <a:pt x="592585" y="150100"/>
                  </a:lnTo>
                  <a:lnTo>
                    <a:pt x="536794" y="142008"/>
                  </a:lnTo>
                  <a:lnTo>
                    <a:pt x="483091" y="133757"/>
                  </a:lnTo>
                  <a:lnTo>
                    <a:pt x="431561" y="125340"/>
                  </a:lnTo>
                  <a:lnTo>
                    <a:pt x="382286" y="116750"/>
                  </a:lnTo>
                  <a:lnTo>
                    <a:pt x="335350" y="107982"/>
                  </a:lnTo>
                  <a:lnTo>
                    <a:pt x="290837" y="99029"/>
                  </a:lnTo>
                  <a:lnTo>
                    <a:pt x="248830" y="89884"/>
                  </a:lnTo>
                  <a:lnTo>
                    <a:pt x="209413" y="80542"/>
                  </a:lnTo>
                  <a:lnTo>
                    <a:pt x="126665" y="57524"/>
                  </a:lnTo>
                  <a:lnTo>
                    <a:pt x="86090" y="43637"/>
                  </a:lnTo>
                  <a:lnTo>
                    <a:pt x="22097" y="14554"/>
                  </a:lnTo>
                  <a:lnTo>
                    <a:pt x="4276" y="3176"/>
                  </a:lnTo>
                  <a:lnTo>
                    <a:pt x="3383" y="2536"/>
                  </a:lnTo>
                  <a:lnTo>
                    <a:pt x="2506" y="1895"/>
                  </a:lnTo>
                  <a:lnTo>
                    <a:pt x="1645" y="1253"/>
                  </a:lnTo>
                  <a:lnTo>
                    <a:pt x="0" y="0"/>
                  </a:lnTo>
                </a:path>
              </a:pathLst>
            </a:custGeom>
            <a:ln w="9724">
              <a:solidFill>
                <a:srgbClr val="B45F06"/>
              </a:solidFill>
            </a:ln>
          </p:spPr>
          <p:txBody>
            <a:bodyPr wrap="square" lIns="0" tIns="0" rIns="0" bIns="0" rtlCol="0"/>
            <a:lstStyle/>
            <a:p>
              <a:endParaRPr sz="2400"/>
            </a:p>
          </p:txBody>
        </p:sp>
        <p:sp>
          <p:nvSpPr>
            <p:cNvPr id="94" name="object 94"/>
            <p:cNvSpPr/>
            <p:nvPr/>
          </p:nvSpPr>
          <p:spPr>
            <a:xfrm>
              <a:off x="1927738" y="1952642"/>
              <a:ext cx="37465" cy="46355"/>
            </a:xfrm>
            <a:custGeom>
              <a:avLst/>
              <a:gdLst/>
              <a:ahLst/>
              <a:cxnLst/>
              <a:rect l="l" t="t" r="r" b="b"/>
              <a:pathLst>
                <a:path w="37464" h="46355">
                  <a:moveTo>
                    <a:pt x="10007" y="45886"/>
                  </a:moveTo>
                  <a:lnTo>
                    <a:pt x="0" y="0"/>
                  </a:lnTo>
                  <a:lnTo>
                    <a:pt x="37161" y="28718"/>
                  </a:lnTo>
                  <a:lnTo>
                    <a:pt x="10007" y="45886"/>
                  </a:lnTo>
                  <a:close/>
                </a:path>
              </a:pathLst>
            </a:custGeom>
            <a:solidFill>
              <a:srgbClr val="B45F06"/>
            </a:solidFill>
          </p:spPr>
          <p:txBody>
            <a:bodyPr wrap="square" lIns="0" tIns="0" rIns="0" bIns="0" rtlCol="0"/>
            <a:lstStyle/>
            <a:p>
              <a:endParaRPr sz="2400"/>
            </a:p>
          </p:txBody>
        </p:sp>
        <p:sp>
          <p:nvSpPr>
            <p:cNvPr id="95" name="object 95"/>
            <p:cNvSpPr/>
            <p:nvPr/>
          </p:nvSpPr>
          <p:spPr>
            <a:xfrm>
              <a:off x="1927738" y="1952642"/>
              <a:ext cx="37465" cy="46355"/>
            </a:xfrm>
            <a:custGeom>
              <a:avLst/>
              <a:gdLst/>
              <a:ahLst/>
              <a:cxnLst/>
              <a:rect l="l" t="t" r="r" b="b"/>
              <a:pathLst>
                <a:path w="37464" h="46355">
                  <a:moveTo>
                    <a:pt x="37161" y="28718"/>
                  </a:moveTo>
                  <a:lnTo>
                    <a:pt x="0" y="0"/>
                  </a:lnTo>
                  <a:lnTo>
                    <a:pt x="10007" y="45886"/>
                  </a:lnTo>
                  <a:lnTo>
                    <a:pt x="37161" y="28718"/>
                  </a:lnTo>
                  <a:close/>
                </a:path>
              </a:pathLst>
            </a:custGeom>
            <a:ln w="9724">
              <a:solidFill>
                <a:srgbClr val="B45F06"/>
              </a:solidFill>
            </a:ln>
          </p:spPr>
          <p:txBody>
            <a:bodyPr wrap="square" lIns="0" tIns="0" rIns="0" bIns="0" rtlCol="0"/>
            <a:lstStyle/>
            <a:p>
              <a:endParaRPr sz="2400"/>
            </a:p>
          </p:txBody>
        </p:sp>
        <p:sp>
          <p:nvSpPr>
            <p:cNvPr id="96" name="object 96"/>
            <p:cNvSpPr/>
            <p:nvPr/>
          </p:nvSpPr>
          <p:spPr>
            <a:xfrm>
              <a:off x="2752719" y="1991830"/>
              <a:ext cx="3912235" cy="673735"/>
            </a:xfrm>
            <a:custGeom>
              <a:avLst/>
              <a:gdLst/>
              <a:ahLst/>
              <a:cxnLst/>
              <a:rect l="l" t="t" r="r" b="b"/>
              <a:pathLst>
                <a:path w="3912234" h="673735">
                  <a:moveTo>
                    <a:pt x="3911621" y="673595"/>
                  </a:moveTo>
                  <a:lnTo>
                    <a:pt x="3897573" y="636958"/>
                  </a:lnTo>
                  <a:lnTo>
                    <a:pt x="3856769" y="602782"/>
                  </a:lnTo>
                  <a:lnTo>
                    <a:pt x="3815691" y="581275"/>
                  </a:lnTo>
                  <a:lnTo>
                    <a:pt x="3764209" y="560724"/>
                  </a:lnTo>
                  <a:lnTo>
                    <a:pt x="3702915" y="541077"/>
                  </a:lnTo>
                  <a:lnTo>
                    <a:pt x="3632405" y="522277"/>
                  </a:lnTo>
                  <a:lnTo>
                    <a:pt x="3593879" y="513178"/>
                  </a:lnTo>
                  <a:lnTo>
                    <a:pt x="3553273" y="504270"/>
                  </a:lnTo>
                  <a:lnTo>
                    <a:pt x="3510659" y="495547"/>
                  </a:lnTo>
                  <a:lnTo>
                    <a:pt x="3466114" y="487002"/>
                  </a:lnTo>
                  <a:lnTo>
                    <a:pt x="3419710" y="478628"/>
                  </a:lnTo>
                  <a:lnTo>
                    <a:pt x="3371522" y="470418"/>
                  </a:lnTo>
                  <a:lnTo>
                    <a:pt x="3321625" y="462365"/>
                  </a:lnTo>
                  <a:lnTo>
                    <a:pt x="3270092" y="454462"/>
                  </a:lnTo>
                  <a:lnTo>
                    <a:pt x="3216999" y="446704"/>
                  </a:lnTo>
                  <a:lnTo>
                    <a:pt x="3162419" y="439082"/>
                  </a:lnTo>
                  <a:lnTo>
                    <a:pt x="3106427" y="431589"/>
                  </a:lnTo>
                  <a:lnTo>
                    <a:pt x="3049098" y="424221"/>
                  </a:lnTo>
                  <a:lnTo>
                    <a:pt x="2990504" y="416968"/>
                  </a:lnTo>
                  <a:lnTo>
                    <a:pt x="2930722" y="409825"/>
                  </a:lnTo>
                  <a:lnTo>
                    <a:pt x="2869824" y="402784"/>
                  </a:lnTo>
                  <a:lnTo>
                    <a:pt x="2807886" y="395839"/>
                  </a:lnTo>
                  <a:lnTo>
                    <a:pt x="2744982" y="388983"/>
                  </a:lnTo>
                  <a:lnTo>
                    <a:pt x="2681186" y="382209"/>
                  </a:lnTo>
                  <a:lnTo>
                    <a:pt x="2616573" y="375510"/>
                  </a:lnTo>
                  <a:lnTo>
                    <a:pt x="2551216" y="368880"/>
                  </a:lnTo>
                  <a:lnTo>
                    <a:pt x="2485190" y="362312"/>
                  </a:lnTo>
                  <a:lnTo>
                    <a:pt x="2418569" y="355798"/>
                  </a:lnTo>
                  <a:lnTo>
                    <a:pt x="2351429" y="349332"/>
                  </a:lnTo>
                  <a:lnTo>
                    <a:pt x="2283842" y="342907"/>
                  </a:lnTo>
                  <a:lnTo>
                    <a:pt x="2215884" y="336516"/>
                  </a:lnTo>
                  <a:lnTo>
                    <a:pt x="2147628" y="330153"/>
                  </a:lnTo>
                  <a:lnTo>
                    <a:pt x="2079149" y="323810"/>
                  </a:lnTo>
                  <a:lnTo>
                    <a:pt x="2010522" y="317481"/>
                  </a:lnTo>
                  <a:lnTo>
                    <a:pt x="1941820" y="311159"/>
                  </a:lnTo>
                  <a:lnTo>
                    <a:pt x="1887110" y="306125"/>
                  </a:lnTo>
                  <a:lnTo>
                    <a:pt x="1832437" y="301088"/>
                  </a:lnTo>
                  <a:lnTo>
                    <a:pt x="1777839" y="296044"/>
                  </a:lnTo>
                  <a:lnTo>
                    <a:pt x="1723354" y="290989"/>
                  </a:lnTo>
                  <a:lnTo>
                    <a:pt x="1669019" y="285921"/>
                  </a:lnTo>
                  <a:lnTo>
                    <a:pt x="1614872" y="280835"/>
                  </a:lnTo>
                  <a:lnTo>
                    <a:pt x="1560949" y="275729"/>
                  </a:lnTo>
                  <a:lnTo>
                    <a:pt x="1507290" y="270599"/>
                  </a:lnTo>
                  <a:lnTo>
                    <a:pt x="1453930" y="265441"/>
                  </a:lnTo>
                  <a:lnTo>
                    <a:pt x="1400909" y="260252"/>
                  </a:lnTo>
                  <a:lnTo>
                    <a:pt x="1348262" y="255029"/>
                  </a:lnTo>
                  <a:lnTo>
                    <a:pt x="1296029" y="249767"/>
                  </a:lnTo>
                  <a:lnTo>
                    <a:pt x="1244246" y="244464"/>
                  </a:lnTo>
                  <a:lnTo>
                    <a:pt x="1192950" y="239117"/>
                  </a:lnTo>
                  <a:lnTo>
                    <a:pt x="1142180" y="233721"/>
                  </a:lnTo>
                  <a:lnTo>
                    <a:pt x="1091973" y="228273"/>
                  </a:lnTo>
                  <a:lnTo>
                    <a:pt x="1042367" y="222770"/>
                  </a:lnTo>
                  <a:lnTo>
                    <a:pt x="993398" y="217209"/>
                  </a:lnTo>
                  <a:lnTo>
                    <a:pt x="945105" y="211585"/>
                  </a:lnTo>
                  <a:lnTo>
                    <a:pt x="897525" y="205896"/>
                  </a:lnTo>
                  <a:lnTo>
                    <a:pt x="850696" y="200138"/>
                  </a:lnTo>
                  <a:lnTo>
                    <a:pt x="804655" y="194307"/>
                  </a:lnTo>
                  <a:lnTo>
                    <a:pt x="759439" y="188400"/>
                  </a:lnTo>
                  <a:lnTo>
                    <a:pt x="715086" y="182414"/>
                  </a:lnTo>
                  <a:lnTo>
                    <a:pt x="671635" y="176345"/>
                  </a:lnTo>
                  <a:lnTo>
                    <a:pt x="629121" y="170190"/>
                  </a:lnTo>
                  <a:lnTo>
                    <a:pt x="587583" y="163945"/>
                  </a:lnTo>
                  <a:lnTo>
                    <a:pt x="527188" y="154402"/>
                  </a:lnTo>
                  <a:lnTo>
                    <a:pt x="469199" y="144638"/>
                  </a:lnTo>
                  <a:lnTo>
                    <a:pt x="413744" y="134640"/>
                  </a:lnTo>
                  <a:lnTo>
                    <a:pt x="360948" y="124398"/>
                  </a:lnTo>
                  <a:lnTo>
                    <a:pt x="310939" y="113900"/>
                  </a:lnTo>
                  <a:lnTo>
                    <a:pt x="263843" y="103133"/>
                  </a:lnTo>
                  <a:lnTo>
                    <a:pt x="219787" y="92087"/>
                  </a:lnTo>
                  <a:lnTo>
                    <a:pt x="178897" y="80750"/>
                  </a:lnTo>
                  <a:lnTo>
                    <a:pt x="141300" y="69110"/>
                  </a:lnTo>
                  <a:lnTo>
                    <a:pt x="103098" y="55638"/>
                  </a:lnTo>
                  <a:lnTo>
                    <a:pt x="40400" y="27434"/>
                  </a:lnTo>
                  <a:lnTo>
                    <a:pt x="6078" y="5112"/>
                  </a:lnTo>
                  <a:lnTo>
                    <a:pt x="1466" y="1290"/>
                  </a:lnTo>
                  <a:lnTo>
                    <a:pt x="0" y="0"/>
                  </a:lnTo>
                </a:path>
              </a:pathLst>
            </a:custGeom>
            <a:ln w="9724">
              <a:solidFill>
                <a:srgbClr val="B45F06"/>
              </a:solidFill>
            </a:ln>
          </p:spPr>
          <p:txBody>
            <a:bodyPr wrap="square" lIns="0" tIns="0" rIns="0" bIns="0" rtlCol="0"/>
            <a:lstStyle/>
            <a:p>
              <a:endParaRPr sz="2400"/>
            </a:p>
          </p:txBody>
        </p:sp>
        <p:sp>
          <p:nvSpPr>
            <p:cNvPr id="97" name="object 97"/>
            <p:cNvSpPr/>
            <p:nvPr/>
          </p:nvSpPr>
          <p:spPr>
            <a:xfrm>
              <a:off x="2731557" y="1953101"/>
              <a:ext cx="35560" cy="46990"/>
            </a:xfrm>
            <a:custGeom>
              <a:avLst/>
              <a:gdLst/>
              <a:ahLst/>
              <a:cxnLst/>
              <a:rect l="l" t="t" r="r" b="b"/>
              <a:pathLst>
                <a:path w="35560" h="46989">
                  <a:moveTo>
                    <a:pt x="7065" y="46430"/>
                  </a:moveTo>
                  <a:lnTo>
                    <a:pt x="0" y="0"/>
                  </a:lnTo>
                  <a:lnTo>
                    <a:pt x="35257" y="31026"/>
                  </a:lnTo>
                  <a:lnTo>
                    <a:pt x="7065" y="46430"/>
                  </a:lnTo>
                  <a:close/>
                </a:path>
              </a:pathLst>
            </a:custGeom>
            <a:solidFill>
              <a:srgbClr val="B45F06"/>
            </a:solidFill>
          </p:spPr>
          <p:txBody>
            <a:bodyPr wrap="square" lIns="0" tIns="0" rIns="0" bIns="0" rtlCol="0"/>
            <a:lstStyle/>
            <a:p>
              <a:endParaRPr sz="2400"/>
            </a:p>
          </p:txBody>
        </p:sp>
        <p:sp>
          <p:nvSpPr>
            <p:cNvPr id="98" name="object 98"/>
            <p:cNvSpPr/>
            <p:nvPr/>
          </p:nvSpPr>
          <p:spPr>
            <a:xfrm>
              <a:off x="2731557" y="1953101"/>
              <a:ext cx="35560" cy="46990"/>
            </a:xfrm>
            <a:custGeom>
              <a:avLst/>
              <a:gdLst/>
              <a:ahLst/>
              <a:cxnLst/>
              <a:rect l="l" t="t" r="r" b="b"/>
              <a:pathLst>
                <a:path w="35560" h="46989">
                  <a:moveTo>
                    <a:pt x="35257" y="31026"/>
                  </a:moveTo>
                  <a:lnTo>
                    <a:pt x="0" y="0"/>
                  </a:lnTo>
                  <a:lnTo>
                    <a:pt x="7065" y="46430"/>
                  </a:lnTo>
                  <a:lnTo>
                    <a:pt x="35257" y="31026"/>
                  </a:lnTo>
                  <a:close/>
                </a:path>
              </a:pathLst>
            </a:custGeom>
            <a:ln w="9724">
              <a:solidFill>
                <a:srgbClr val="B45F06"/>
              </a:solidFill>
            </a:ln>
          </p:spPr>
          <p:txBody>
            <a:bodyPr wrap="square" lIns="0" tIns="0" rIns="0" bIns="0" rtlCol="0"/>
            <a:lstStyle/>
            <a:p>
              <a:endParaRPr sz="2400"/>
            </a:p>
          </p:txBody>
        </p:sp>
        <p:sp>
          <p:nvSpPr>
            <p:cNvPr id="99" name="object 99"/>
            <p:cNvSpPr/>
            <p:nvPr/>
          </p:nvSpPr>
          <p:spPr>
            <a:xfrm>
              <a:off x="3551608" y="1993781"/>
              <a:ext cx="3112770" cy="671830"/>
            </a:xfrm>
            <a:custGeom>
              <a:avLst/>
              <a:gdLst/>
              <a:ahLst/>
              <a:cxnLst/>
              <a:rect l="l" t="t" r="r" b="b"/>
              <a:pathLst>
                <a:path w="3112770" h="671830">
                  <a:moveTo>
                    <a:pt x="3112733" y="671644"/>
                  </a:moveTo>
                  <a:lnTo>
                    <a:pt x="3095942" y="626985"/>
                  </a:lnTo>
                  <a:lnTo>
                    <a:pt x="3067007" y="599262"/>
                  </a:lnTo>
                  <a:lnTo>
                    <a:pt x="3024902" y="573061"/>
                  </a:lnTo>
                  <a:lnTo>
                    <a:pt x="2970507" y="548279"/>
                  </a:lnTo>
                  <a:lnTo>
                    <a:pt x="2904698" y="524817"/>
                  </a:lnTo>
                  <a:lnTo>
                    <a:pt x="2867788" y="513548"/>
                  </a:lnTo>
                  <a:lnTo>
                    <a:pt x="2828354" y="502571"/>
                  </a:lnTo>
                  <a:lnTo>
                    <a:pt x="2786505" y="491873"/>
                  </a:lnTo>
                  <a:lnTo>
                    <a:pt x="2742352" y="481442"/>
                  </a:lnTo>
                  <a:lnTo>
                    <a:pt x="2696005" y="471264"/>
                  </a:lnTo>
                  <a:lnTo>
                    <a:pt x="2647572" y="461327"/>
                  </a:lnTo>
                  <a:lnTo>
                    <a:pt x="2597163" y="451618"/>
                  </a:lnTo>
                  <a:lnTo>
                    <a:pt x="2544889" y="442124"/>
                  </a:lnTo>
                  <a:lnTo>
                    <a:pt x="2490860" y="432834"/>
                  </a:lnTo>
                  <a:lnTo>
                    <a:pt x="2435184" y="423734"/>
                  </a:lnTo>
                  <a:lnTo>
                    <a:pt x="2377971" y="414811"/>
                  </a:lnTo>
                  <a:lnTo>
                    <a:pt x="2319332" y="406054"/>
                  </a:lnTo>
                  <a:lnTo>
                    <a:pt x="2259376" y="397448"/>
                  </a:lnTo>
                  <a:lnTo>
                    <a:pt x="2198213" y="388982"/>
                  </a:lnTo>
                  <a:lnTo>
                    <a:pt x="2135953" y="380643"/>
                  </a:lnTo>
                  <a:lnTo>
                    <a:pt x="2072705" y="372418"/>
                  </a:lnTo>
                  <a:lnTo>
                    <a:pt x="2008579" y="364295"/>
                  </a:lnTo>
                  <a:lnTo>
                    <a:pt x="1943684" y="356260"/>
                  </a:lnTo>
                  <a:lnTo>
                    <a:pt x="1878132" y="348302"/>
                  </a:lnTo>
                  <a:lnTo>
                    <a:pt x="1812030" y="340407"/>
                  </a:lnTo>
                  <a:lnTo>
                    <a:pt x="1745490" y="332563"/>
                  </a:lnTo>
                  <a:lnTo>
                    <a:pt x="1678620" y="324757"/>
                  </a:lnTo>
                  <a:lnTo>
                    <a:pt x="1611531" y="316976"/>
                  </a:lnTo>
                  <a:lnTo>
                    <a:pt x="1544332" y="309208"/>
                  </a:lnTo>
                  <a:lnTo>
                    <a:pt x="1488329" y="302736"/>
                  </a:lnTo>
                  <a:lnTo>
                    <a:pt x="1432388" y="296256"/>
                  </a:lnTo>
                  <a:lnTo>
                    <a:pt x="1376575" y="289761"/>
                  </a:lnTo>
                  <a:lnTo>
                    <a:pt x="1320953" y="283245"/>
                  </a:lnTo>
                  <a:lnTo>
                    <a:pt x="1265584" y="276699"/>
                  </a:lnTo>
                  <a:lnTo>
                    <a:pt x="1210533" y="270116"/>
                  </a:lnTo>
                  <a:lnTo>
                    <a:pt x="1155863" y="263490"/>
                  </a:lnTo>
                  <a:lnTo>
                    <a:pt x="1101637" y="256812"/>
                  </a:lnTo>
                  <a:lnTo>
                    <a:pt x="1047920" y="250076"/>
                  </a:lnTo>
                  <a:lnTo>
                    <a:pt x="994774" y="243274"/>
                  </a:lnTo>
                  <a:lnTo>
                    <a:pt x="942263" y="236398"/>
                  </a:lnTo>
                  <a:lnTo>
                    <a:pt x="890451" y="229442"/>
                  </a:lnTo>
                  <a:lnTo>
                    <a:pt x="839401" y="222398"/>
                  </a:lnTo>
                  <a:lnTo>
                    <a:pt x="789177" y="215258"/>
                  </a:lnTo>
                  <a:lnTo>
                    <a:pt x="739841" y="208016"/>
                  </a:lnTo>
                  <a:lnTo>
                    <a:pt x="691459" y="200663"/>
                  </a:lnTo>
                  <a:lnTo>
                    <a:pt x="644092" y="193194"/>
                  </a:lnTo>
                  <a:lnTo>
                    <a:pt x="597805" y="185599"/>
                  </a:lnTo>
                  <a:lnTo>
                    <a:pt x="552661" y="177873"/>
                  </a:lnTo>
                  <a:lnTo>
                    <a:pt x="508724" y="170007"/>
                  </a:lnTo>
                  <a:lnTo>
                    <a:pt x="466057" y="161994"/>
                  </a:lnTo>
                  <a:lnTo>
                    <a:pt x="404577" y="149685"/>
                  </a:lnTo>
                  <a:lnTo>
                    <a:pt x="346312" y="137003"/>
                  </a:lnTo>
                  <a:lnTo>
                    <a:pt x="291477" y="123926"/>
                  </a:lnTo>
                  <a:lnTo>
                    <a:pt x="240285" y="110427"/>
                  </a:lnTo>
                  <a:lnTo>
                    <a:pt x="192952" y="96483"/>
                  </a:lnTo>
                  <a:lnTo>
                    <a:pt x="149691" y="82069"/>
                  </a:lnTo>
                  <a:lnTo>
                    <a:pt x="110717" y="67159"/>
                  </a:lnTo>
                  <a:lnTo>
                    <a:pt x="53472" y="39801"/>
                  </a:lnTo>
                  <a:lnTo>
                    <a:pt x="11160" y="10717"/>
                  </a:lnTo>
                  <a:lnTo>
                    <a:pt x="1182" y="1254"/>
                  </a:lnTo>
                  <a:lnTo>
                    <a:pt x="0" y="0"/>
                  </a:lnTo>
                </a:path>
              </a:pathLst>
            </a:custGeom>
            <a:ln w="9724">
              <a:solidFill>
                <a:srgbClr val="B45F06"/>
              </a:solidFill>
            </a:ln>
          </p:spPr>
          <p:txBody>
            <a:bodyPr wrap="square" lIns="0" tIns="0" rIns="0" bIns="0" rtlCol="0"/>
            <a:lstStyle/>
            <a:p>
              <a:endParaRPr sz="2400"/>
            </a:p>
          </p:txBody>
        </p:sp>
        <p:sp>
          <p:nvSpPr>
            <p:cNvPr id="100" name="object 100"/>
            <p:cNvSpPr/>
            <p:nvPr/>
          </p:nvSpPr>
          <p:spPr>
            <a:xfrm>
              <a:off x="3533404" y="1953577"/>
              <a:ext cx="33020" cy="46990"/>
            </a:xfrm>
            <a:custGeom>
              <a:avLst/>
              <a:gdLst/>
              <a:ahLst/>
              <a:cxnLst/>
              <a:rect l="l" t="t" r="r" b="b"/>
              <a:pathLst>
                <a:path w="33020" h="46989">
                  <a:moveTo>
                    <a:pt x="3570" y="46829"/>
                  </a:moveTo>
                  <a:lnTo>
                    <a:pt x="0" y="0"/>
                  </a:lnTo>
                  <a:lnTo>
                    <a:pt x="32836" y="33578"/>
                  </a:lnTo>
                  <a:lnTo>
                    <a:pt x="3570" y="46829"/>
                  </a:lnTo>
                  <a:close/>
                </a:path>
              </a:pathLst>
            </a:custGeom>
            <a:solidFill>
              <a:srgbClr val="B45F06"/>
            </a:solidFill>
          </p:spPr>
          <p:txBody>
            <a:bodyPr wrap="square" lIns="0" tIns="0" rIns="0" bIns="0" rtlCol="0"/>
            <a:lstStyle/>
            <a:p>
              <a:endParaRPr sz="2400"/>
            </a:p>
          </p:txBody>
        </p:sp>
        <p:sp>
          <p:nvSpPr>
            <p:cNvPr id="101" name="object 101"/>
            <p:cNvSpPr/>
            <p:nvPr/>
          </p:nvSpPr>
          <p:spPr>
            <a:xfrm>
              <a:off x="3533404" y="1953577"/>
              <a:ext cx="33020" cy="46990"/>
            </a:xfrm>
            <a:custGeom>
              <a:avLst/>
              <a:gdLst/>
              <a:ahLst/>
              <a:cxnLst/>
              <a:rect l="l" t="t" r="r" b="b"/>
              <a:pathLst>
                <a:path w="33020" h="46989">
                  <a:moveTo>
                    <a:pt x="32836" y="33578"/>
                  </a:moveTo>
                  <a:lnTo>
                    <a:pt x="0" y="0"/>
                  </a:lnTo>
                  <a:lnTo>
                    <a:pt x="3570" y="46829"/>
                  </a:lnTo>
                  <a:lnTo>
                    <a:pt x="32836" y="33578"/>
                  </a:lnTo>
                  <a:close/>
                </a:path>
              </a:pathLst>
            </a:custGeom>
            <a:ln w="9724">
              <a:solidFill>
                <a:srgbClr val="B45F06"/>
              </a:solidFill>
            </a:ln>
          </p:spPr>
          <p:txBody>
            <a:bodyPr wrap="square" lIns="0" tIns="0" rIns="0" bIns="0" rtlCol="0"/>
            <a:lstStyle/>
            <a:p>
              <a:endParaRPr sz="2400"/>
            </a:p>
          </p:txBody>
        </p:sp>
        <p:sp>
          <p:nvSpPr>
            <p:cNvPr id="102" name="object 102"/>
            <p:cNvSpPr/>
            <p:nvPr/>
          </p:nvSpPr>
          <p:spPr>
            <a:xfrm>
              <a:off x="4345142" y="1995690"/>
              <a:ext cx="2319655" cy="669925"/>
            </a:xfrm>
            <a:custGeom>
              <a:avLst/>
              <a:gdLst/>
              <a:ahLst/>
              <a:cxnLst/>
              <a:rect l="l" t="t" r="r" b="b"/>
              <a:pathLst>
                <a:path w="2319654" h="669925">
                  <a:moveTo>
                    <a:pt x="2319198" y="669734"/>
                  </a:moveTo>
                  <a:lnTo>
                    <a:pt x="2309812" y="630918"/>
                  </a:lnTo>
                  <a:lnTo>
                    <a:pt x="2282605" y="594864"/>
                  </a:lnTo>
                  <a:lnTo>
                    <a:pt x="2239002" y="561351"/>
                  </a:lnTo>
                  <a:lnTo>
                    <a:pt x="2180430" y="530157"/>
                  </a:lnTo>
                  <a:lnTo>
                    <a:pt x="2108313" y="501063"/>
                  </a:lnTo>
                  <a:lnTo>
                    <a:pt x="2067622" y="487234"/>
                  </a:lnTo>
                  <a:lnTo>
                    <a:pt x="2024078" y="473847"/>
                  </a:lnTo>
                  <a:lnTo>
                    <a:pt x="1977862" y="460874"/>
                  </a:lnTo>
                  <a:lnTo>
                    <a:pt x="1929151" y="448288"/>
                  </a:lnTo>
                  <a:lnTo>
                    <a:pt x="1878123" y="436061"/>
                  </a:lnTo>
                  <a:lnTo>
                    <a:pt x="1824956" y="424166"/>
                  </a:lnTo>
                  <a:lnTo>
                    <a:pt x="1769829" y="412575"/>
                  </a:lnTo>
                  <a:lnTo>
                    <a:pt x="1712920" y="401259"/>
                  </a:lnTo>
                  <a:lnTo>
                    <a:pt x="1654407" y="390193"/>
                  </a:lnTo>
                  <a:lnTo>
                    <a:pt x="1594468" y="379347"/>
                  </a:lnTo>
                  <a:lnTo>
                    <a:pt x="1533282" y="368695"/>
                  </a:lnTo>
                  <a:lnTo>
                    <a:pt x="1471026" y="358209"/>
                  </a:lnTo>
                  <a:lnTo>
                    <a:pt x="1407880" y="347861"/>
                  </a:lnTo>
                  <a:lnTo>
                    <a:pt x="1344021" y="337623"/>
                  </a:lnTo>
                  <a:lnTo>
                    <a:pt x="1279627" y="327469"/>
                  </a:lnTo>
                  <a:lnTo>
                    <a:pt x="1214876" y="317370"/>
                  </a:lnTo>
                  <a:lnTo>
                    <a:pt x="1149947" y="307298"/>
                  </a:lnTo>
                  <a:lnTo>
                    <a:pt x="1095157" y="298802"/>
                  </a:lnTo>
                  <a:lnTo>
                    <a:pt x="1040473" y="290289"/>
                  </a:lnTo>
                  <a:lnTo>
                    <a:pt x="986003" y="281743"/>
                  </a:lnTo>
                  <a:lnTo>
                    <a:pt x="931855" y="273147"/>
                  </a:lnTo>
                  <a:lnTo>
                    <a:pt x="878135" y="264485"/>
                  </a:lnTo>
                  <a:lnTo>
                    <a:pt x="824950" y="255740"/>
                  </a:lnTo>
                  <a:lnTo>
                    <a:pt x="772407" y="246896"/>
                  </a:lnTo>
                  <a:lnTo>
                    <a:pt x="720614" y="237936"/>
                  </a:lnTo>
                  <a:lnTo>
                    <a:pt x="669677" y="228843"/>
                  </a:lnTo>
                  <a:lnTo>
                    <a:pt x="619703" y="219601"/>
                  </a:lnTo>
                  <a:lnTo>
                    <a:pt x="570800" y="210193"/>
                  </a:lnTo>
                  <a:lnTo>
                    <a:pt x="523074" y="200602"/>
                  </a:lnTo>
                  <a:lnTo>
                    <a:pt x="476633" y="190813"/>
                  </a:lnTo>
                  <a:lnTo>
                    <a:pt x="431584" y="180808"/>
                  </a:lnTo>
                  <a:lnTo>
                    <a:pt x="388033" y="170571"/>
                  </a:lnTo>
                  <a:lnTo>
                    <a:pt x="346088" y="160085"/>
                  </a:lnTo>
                  <a:lnTo>
                    <a:pt x="292844" y="145688"/>
                  </a:lnTo>
                  <a:lnTo>
                    <a:pt x="242899" y="130780"/>
                  </a:lnTo>
                  <a:lnTo>
                    <a:pt x="196506" y="115321"/>
                  </a:lnTo>
                  <a:lnTo>
                    <a:pt x="153920" y="99273"/>
                  </a:lnTo>
                  <a:lnTo>
                    <a:pt x="115393" y="82595"/>
                  </a:lnTo>
                  <a:lnTo>
                    <a:pt x="81180" y="65249"/>
                  </a:lnTo>
                  <a:lnTo>
                    <a:pt x="38503" y="37891"/>
                  </a:lnTo>
                  <a:lnTo>
                    <a:pt x="6960" y="8808"/>
                  </a:lnTo>
                  <a:lnTo>
                    <a:pt x="914" y="1252"/>
                  </a:lnTo>
                  <a:lnTo>
                    <a:pt x="0" y="0"/>
                  </a:lnTo>
                </a:path>
              </a:pathLst>
            </a:custGeom>
            <a:ln w="9724">
              <a:solidFill>
                <a:srgbClr val="B45F06"/>
              </a:solidFill>
            </a:ln>
          </p:spPr>
          <p:txBody>
            <a:bodyPr wrap="square" lIns="0" tIns="0" rIns="0" bIns="0" rtlCol="0"/>
            <a:lstStyle/>
            <a:p>
              <a:endParaRPr sz="2400"/>
            </a:p>
          </p:txBody>
        </p:sp>
        <p:sp>
          <p:nvSpPr>
            <p:cNvPr id="103" name="object 103"/>
            <p:cNvSpPr/>
            <p:nvPr/>
          </p:nvSpPr>
          <p:spPr>
            <a:xfrm>
              <a:off x="4329984" y="1954042"/>
              <a:ext cx="30480" cy="46990"/>
            </a:xfrm>
            <a:custGeom>
              <a:avLst/>
              <a:gdLst/>
              <a:ahLst/>
              <a:cxnLst/>
              <a:rect l="l" t="t" r="r" b="b"/>
              <a:pathLst>
                <a:path w="30479" h="46989">
                  <a:moveTo>
                    <a:pt x="0" y="46962"/>
                  </a:moveTo>
                  <a:lnTo>
                    <a:pt x="559" y="0"/>
                  </a:lnTo>
                  <a:lnTo>
                    <a:pt x="30317" y="36334"/>
                  </a:lnTo>
                  <a:lnTo>
                    <a:pt x="0" y="46962"/>
                  </a:lnTo>
                  <a:close/>
                </a:path>
              </a:pathLst>
            </a:custGeom>
            <a:solidFill>
              <a:srgbClr val="B45F06"/>
            </a:solidFill>
          </p:spPr>
          <p:txBody>
            <a:bodyPr wrap="square" lIns="0" tIns="0" rIns="0" bIns="0" rtlCol="0"/>
            <a:lstStyle/>
            <a:p>
              <a:endParaRPr sz="2400"/>
            </a:p>
          </p:txBody>
        </p:sp>
        <p:sp>
          <p:nvSpPr>
            <p:cNvPr id="104" name="object 104"/>
            <p:cNvSpPr/>
            <p:nvPr/>
          </p:nvSpPr>
          <p:spPr>
            <a:xfrm>
              <a:off x="4329984" y="1954042"/>
              <a:ext cx="30480" cy="46990"/>
            </a:xfrm>
            <a:custGeom>
              <a:avLst/>
              <a:gdLst/>
              <a:ahLst/>
              <a:cxnLst/>
              <a:rect l="l" t="t" r="r" b="b"/>
              <a:pathLst>
                <a:path w="30479" h="46989">
                  <a:moveTo>
                    <a:pt x="30317" y="36334"/>
                  </a:moveTo>
                  <a:lnTo>
                    <a:pt x="559" y="0"/>
                  </a:lnTo>
                  <a:lnTo>
                    <a:pt x="0" y="46962"/>
                  </a:lnTo>
                  <a:lnTo>
                    <a:pt x="30317" y="36334"/>
                  </a:lnTo>
                  <a:close/>
                </a:path>
              </a:pathLst>
            </a:custGeom>
            <a:ln w="9724">
              <a:solidFill>
                <a:srgbClr val="B45F06"/>
              </a:solidFill>
            </a:ln>
          </p:spPr>
          <p:txBody>
            <a:bodyPr wrap="square" lIns="0" tIns="0" rIns="0" bIns="0" rtlCol="0"/>
            <a:lstStyle/>
            <a:p>
              <a:endParaRPr sz="2400"/>
            </a:p>
          </p:txBody>
        </p:sp>
        <p:sp>
          <p:nvSpPr>
            <p:cNvPr id="105" name="object 105"/>
            <p:cNvSpPr/>
            <p:nvPr/>
          </p:nvSpPr>
          <p:spPr>
            <a:xfrm>
              <a:off x="5146311" y="1997399"/>
              <a:ext cx="1518285" cy="668020"/>
            </a:xfrm>
            <a:custGeom>
              <a:avLst/>
              <a:gdLst/>
              <a:ahLst/>
              <a:cxnLst/>
              <a:rect l="l" t="t" r="r" b="b"/>
              <a:pathLst>
                <a:path w="1518284" h="668019">
                  <a:moveTo>
                    <a:pt x="1518029" y="668026"/>
                  </a:moveTo>
                  <a:lnTo>
                    <a:pt x="1505749" y="613705"/>
                  </a:lnTo>
                  <a:lnTo>
                    <a:pt x="1470693" y="564773"/>
                  </a:lnTo>
                  <a:lnTo>
                    <a:pt x="1415542" y="520598"/>
                  </a:lnTo>
                  <a:lnTo>
                    <a:pt x="1381268" y="500095"/>
                  </a:lnTo>
                  <a:lnTo>
                    <a:pt x="1342975" y="480543"/>
                  </a:lnTo>
                  <a:lnTo>
                    <a:pt x="1300998" y="461863"/>
                  </a:lnTo>
                  <a:lnTo>
                    <a:pt x="1255671" y="443976"/>
                  </a:lnTo>
                  <a:lnTo>
                    <a:pt x="1207330" y="426803"/>
                  </a:lnTo>
                  <a:lnTo>
                    <a:pt x="1156310" y="410263"/>
                  </a:lnTo>
                  <a:lnTo>
                    <a:pt x="1102945" y="394279"/>
                  </a:lnTo>
                  <a:lnTo>
                    <a:pt x="1047571" y="378770"/>
                  </a:lnTo>
                  <a:lnTo>
                    <a:pt x="990522" y="363658"/>
                  </a:lnTo>
                  <a:lnTo>
                    <a:pt x="932133" y="348863"/>
                  </a:lnTo>
                  <a:lnTo>
                    <a:pt x="872740" y="334306"/>
                  </a:lnTo>
                  <a:lnTo>
                    <a:pt x="812677" y="319908"/>
                  </a:lnTo>
                  <a:lnTo>
                    <a:pt x="752279" y="305590"/>
                  </a:lnTo>
                  <a:lnTo>
                    <a:pt x="700104" y="293227"/>
                  </a:lnTo>
                  <a:lnTo>
                    <a:pt x="648146" y="280813"/>
                  </a:lnTo>
                  <a:lnTo>
                    <a:pt x="596619" y="268297"/>
                  </a:lnTo>
                  <a:lnTo>
                    <a:pt x="545739" y="255628"/>
                  </a:lnTo>
                  <a:lnTo>
                    <a:pt x="495722" y="242756"/>
                  </a:lnTo>
                  <a:lnTo>
                    <a:pt x="446784" y="229628"/>
                  </a:lnTo>
                  <a:lnTo>
                    <a:pt x="399141" y="216194"/>
                  </a:lnTo>
                  <a:lnTo>
                    <a:pt x="353007" y="202403"/>
                  </a:lnTo>
                  <a:lnTo>
                    <a:pt x="308600" y="188204"/>
                  </a:lnTo>
                  <a:lnTo>
                    <a:pt x="266134" y="173545"/>
                  </a:lnTo>
                  <a:lnTo>
                    <a:pt x="225826" y="158376"/>
                  </a:lnTo>
                  <a:lnTo>
                    <a:pt x="174321" y="136591"/>
                  </a:lnTo>
                  <a:lnTo>
                    <a:pt x="127863" y="113612"/>
                  </a:lnTo>
                  <a:lnTo>
                    <a:pt x="87015" y="89306"/>
                  </a:lnTo>
                  <a:lnTo>
                    <a:pt x="52335" y="63541"/>
                  </a:lnTo>
                  <a:lnTo>
                    <a:pt x="24386" y="36182"/>
                  </a:lnTo>
                  <a:lnTo>
                    <a:pt x="2347" y="4595"/>
                  </a:lnTo>
                  <a:lnTo>
                    <a:pt x="1686" y="3336"/>
                  </a:lnTo>
                  <a:lnTo>
                    <a:pt x="0" y="0"/>
                  </a:lnTo>
                </a:path>
              </a:pathLst>
            </a:custGeom>
            <a:ln w="9724">
              <a:solidFill>
                <a:srgbClr val="B45F06"/>
              </a:solidFill>
            </a:ln>
          </p:spPr>
          <p:txBody>
            <a:bodyPr wrap="square" lIns="0" tIns="0" rIns="0" bIns="0" rtlCol="0"/>
            <a:lstStyle/>
            <a:p>
              <a:endParaRPr sz="2400"/>
            </a:p>
          </p:txBody>
        </p:sp>
        <p:sp>
          <p:nvSpPr>
            <p:cNvPr id="106" name="object 106"/>
            <p:cNvSpPr/>
            <p:nvPr/>
          </p:nvSpPr>
          <p:spPr>
            <a:xfrm>
              <a:off x="5130682" y="1954458"/>
              <a:ext cx="31750" cy="46990"/>
            </a:xfrm>
            <a:custGeom>
              <a:avLst/>
              <a:gdLst/>
              <a:ahLst/>
              <a:cxnLst/>
              <a:rect l="l" t="t" r="r" b="b"/>
              <a:pathLst>
                <a:path w="31750" h="46989">
                  <a:moveTo>
                    <a:pt x="0" y="46648"/>
                  </a:moveTo>
                  <a:lnTo>
                    <a:pt x="5440" y="0"/>
                  </a:lnTo>
                  <a:lnTo>
                    <a:pt x="31258" y="39232"/>
                  </a:lnTo>
                  <a:lnTo>
                    <a:pt x="0" y="46648"/>
                  </a:lnTo>
                  <a:close/>
                </a:path>
              </a:pathLst>
            </a:custGeom>
            <a:solidFill>
              <a:srgbClr val="B45F06"/>
            </a:solidFill>
          </p:spPr>
          <p:txBody>
            <a:bodyPr wrap="square" lIns="0" tIns="0" rIns="0" bIns="0" rtlCol="0"/>
            <a:lstStyle/>
            <a:p>
              <a:endParaRPr sz="2400"/>
            </a:p>
          </p:txBody>
        </p:sp>
        <p:sp>
          <p:nvSpPr>
            <p:cNvPr id="107" name="object 107"/>
            <p:cNvSpPr/>
            <p:nvPr/>
          </p:nvSpPr>
          <p:spPr>
            <a:xfrm>
              <a:off x="5130682" y="1954458"/>
              <a:ext cx="31750" cy="46990"/>
            </a:xfrm>
            <a:custGeom>
              <a:avLst/>
              <a:gdLst/>
              <a:ahLst/>
              <a:cxnLst/>
              <a:rect l="l" t="t" r="r" b="b"/>
              <a:pathLst>
                <a:path w="31750" h="46989">
                  <a:moveTo>
                    <a:pt x="31258" y="39232"/>
                  </a:moveTo>
                  <a:lnTo>
                    <a:pt x="5440" y="0"/>
                  </a:lnTo>
                  <a:lnTo>
                    <a:pt x="0" y="46648"/>
                  </a:lnTo>
                  <a:lnTo>
                    <a:pt x="31258" y="39232"/>
                  </a:lnTo>
                  <a:close/>
                </a:path>
              </a:pathLst>
            </a:custGeom>
            <a:ln w="9724">
              <a:solidFill>
                <a:srgbClr val="B45F06"/>
              </a:solidFill>
            </a:ln>
          </p:spPr>
          <p:txBody>
            <a:bodyPr wrap="square" lIns="0" tIns="0" rIns="0" bIns="0" rtlCol="0"/>
            <a:lstStyle/>
            <a:p>
              <a:endParaRPr sz="2400"/>
            </a:p>
          </p:txBody>
        </p:sp>
        <p:sp>
          <p:nvSpPr>
            <p:cNvPr id="108" name="object 108"/>
            <p:cNvSpPr/>
            <p:nvPr/>
          </p:nvSpPr>
          <p:spPr>
            <a:xfrm>
              <a:off x="5941742" y="1998589"/>
              <a:ext cx="722630" cy="667385"/>
            </a:xfrm>
            <a:custGeom>
              <a:avLst/>
              <a:gdLst/>
              <a:ahLst/>
              <a:cxnLst/>
              <a:rect l="l" t="t" r="r" b="b"/>
              <a:pathLst>
                <a:path w="722629" h="667385">
                  <a:moveTo>
                    <a:pt x="722599" y="666836"/>
                  </a:moveTo>
                  <a:lnTo>
                    <a:pt x="718906" y="623366"/>
                  </a:lnTo>
                  <a:lnTo>
                    <a:pt x="708249" y="583357"/>
                  </a:lnTo>
                  <a:lnTo>
                    <a:pt x="691262" y="546494"/>
                  </a:lnTo>
                  <a:lnTo>
                    <a:pt x="668576" y="512463"/>
                  </a:lnTo>
                  <a:lnTo>
                    <a:pt x="640827" y="480948"/>
                  </a:lnTo>
                  <a:lnTo>
                    <a:pt x="608645" y="451636"/>
                  </a:lnTo>
                  <a:lnTo>
                    <a:pt x="572666" y="424211"/>
                  </a:lnTo>
                  <a:lnTo>
                    <a:pt x="533521" y="398360"/>
                  </a:lnTo>
                  <a:lnTo>
                    <a:pt x="491843" y="373768"/>
                  </a:lnTo>
                  <a:lnTo>
                    <a:pt x="448267" y="350120"/>
                  </a:lnTo>
                  <a:lnTo>
                    <a:pt x="403424" y="327102"/>
                  </a:lnTo>
                  <a:lnTo>
                    <a:pt x="357948" y="304399"/>
                  </a:lnTo>
                  <a:lnTo>
                    <a:pt x="312473" y="281697"/>
                  </a:lnTo>
                  <a:lnTo>
                    <a:pt x="267630" y="258681"/>
                  </a:lnTo>
                  <a:lnTo>
                    <a:pt x="224053" y="235037"/>
                  </a:lnTo>
                  <a:lnTo>
                    <a:pt x="182376" y="210449"/>
                  </a:lnTo>
                  <a:lnTo>
                    <a:pt x="143231" y="184604"/>
                  </a:lnTo>
                  <a:lnTo>
                    <a:pt x="107251" y="157186"/>
                  </a:lnTo>
                  <a:lnTo>
                    <a:pt x="60602" y="112422"/>
                  </a:lnTo>
                  <a:lnTo>
                    <a:pt x="24635" y="62350"/>
                  </a:lnTo>
                  <a:lnTo>
                    <a:pt x="5957" y="20675"/>
                  </a:lnTo>
                  <a:lnTo>
                    <a:pt x="516" y="2146"/>
                  </a:lnTo>
                  <a:lnTo>
                    <a:pt x="0" y="0"/>
                  </a:lnTo>
                </a:path>
              </a:pathLst>
            </a:custGeom>
            <a:ln w="9724">
              <a:solidFill>
                <a:srgbClr val="B45F06"/>
              </a:solidFill>
            </a:ln>
          </p:spPr>
          <p:txBody>
            <a:bodyPr wrap="square" lIns="0" tIns="0" rIns="0" bIns="0" rtlCol="0"/>
            <a:lstStyle/>
            <a:p>
              <a:endParaRPr sz="2400"/>
            </a:p>
          </p:txBody>
        </p:sp>
        <p:sp>
          <p:nvSpPr>
            <p:cNvPr id="109" name="object 109"/>
            <p:cNvSpPr/>
            <p:nvPr/>
          </p:nvSpPr>
          <p:spPr>
            <a:xfrm>
              <a:off x="5925785" y="1954748"/>
              <a:ext cx="32384" cy="45720"/>
            </a:xfrm>
            <a:custGeom>
              <a:avLst/>
              <a:gdLst/>
              <a:ahLst/>
              <a:cxnLst/>
              <a:rect l="l" t="t" r="r" b="b"/>
              <a:pathLst>
                <a:path w="32385" h="45719">
                  <a:moveTo>
                    <a:pt x="0" y="45685"/>
                  </a:moveTo>
                  <a:lnTo>
                    <a:pt x="10888" y="0"/>
                  </a:lnTo>
                  <a:lnTo>
                    <a:pt x="31913" y="41996"/>
                  </a:lnTo>
                  <a:lnTo>
                    <a:pt x="0" y="45685"/>
                  </a:lnTo>
                  <a:close/>
                </a:path>
              </a:pathLst>
            </a:custGeom>
            <a:solidFill>
              <a:srgbClr val="B45F06"/>
            </a:solidFill>
          </p:spPr>
          <p:txBody>
            <a:bodyPr wrap="square" lIns="0" tIns="0" rIns="0" bIns="0" rtlCol="0"/>
            <a:lstStyle/>
            <a:p>
              <a:endParaRPr sz="2400"/>
            </a:p>
          </p:txBody>
        </p:sp>
        <p:sp>
          <p:nvSpPr>
            <p:cNvPr id="110" name="object 110"/>
            <p:cNvSpPr/>
            <p:nvPr/>
          </p:nvSpPr>
          <p:spPr>
            <a:xfrm>
              <a:off x="5925785" y="1954748"/>
              <a:ext cx="32384" cy="45720"/>
            </a:xfrm>
            <a:custGeom>
              <a:avLst/>
              <a:gdLst/>
              <a:ahLst/>
              <a:cxnLst/>
              <a:rect l="l" t="t" r="r" b="b"/>
              <a:pathLst>
                <a:path w="32385" h="45719">
                  <a:moveTo>
                    <a:pt x="31913" y="41996"/>
                  </a:moveTo>
                  <a:lnTo>
                    <a:pt x="10888" y="0"/>
                  </a:lnTo>
                  <a:lnTo>
                    <a:pt x="0" y="45685"/>
                  </a:lnTo>
                  <a:lnTo>
                    <a:pt x="31913" y="41996"/>
                  </a:lnTo>
                  <a:close/>
                </a:path>
              </a:pathLst>
            </a:custGeom>
            <a:ln w="9724">
              <a:solidFill>
                <a:srgbClr val="B45F06"/>
              </a:solidFill>
            </a:ln>
          </p:spPr>
          <p:txBody>
            <a:bodyPr wrap="square" lIns="0" tIns="0" rIns="0" bIns="0" rtlCol="0"/>
            <a:lstStyle/>
            <a:p>
              <a:endParaRPr sz="2400"/>
            </a:p>
          </p:txBody>
        </p:sp>
        <p:sp>
          <p:nvSpPr>
            <p:cNvPr id="111" name="object 111"/>
            <p:cNvSpPr/>
            <p:nvPr/>
          </p:nvSpPr>
          <p:spPr>
            <a:xfrm>
              <a:off x="6664341" y="1998971"/>
              <a:ext cx="70485" cy="666750"/>
            </a:xfrm>
            <a:custGeom>
              <a:avLst/>
              <a:gdLst/>
              <a:ahLst/>
              <a:cxnLst/>
              <a:rect l="l" t="t" r="r" b="b"/>
              <a:pathLst>
                <a:path w="70484" h="666750">
                  <a:moveTo>
                    <a:pt x="0" y="666453"/>
                  </a:moveTo>
                  <a:lnTo>
                    <a:pt x="1036" y="594071"/>
                  </a:lnTo>
                  <a:lnTo>
                    <a:pt x="3938" y="531199"/>
                  </a:lnTo>
                  <a:lnTo>
                    <a:pt x="8395" y="476251"/>
                  </a:lnTo>
                  <a:lnTo>
                    <a:pt x="14095" y="427643"/>
                  </a:lnTo>
                  <a:lnTo>
                    <a:pt x="20728" y="383792"/>
                  </a:lnTo>
                  <a:lnTo>
                    <a:pt x="27983" y="343111"/>
                  </a:lnTo>
                  <a:lnTo>
                    <a:pt x="35549" y="304017"/>
                  </a:lnTo>
                  <a:lnTo>
                    <a:pt x="42180" y="269866"/>
                  </a:lnTo>
                  <a:lnTo>
                    <a:pt x="48603" y="234655"/>
                  </a:lnTo>
                  <a:lnTo>
                    <a:pt x="59990" y="156804"/>
                  </a:lnTo>
                  <a:lnTo>
                    <a:pt x="64538" y="112040"/>
                  </a:lnTo>
                  <a:lnTo>
                    <a:pt x="68044" y="61968"/>
                  </a:lnTo>
                  <a:lnTo>
                    <a:pt x="69865" y="20292"/>
                  </a:lnTo>
                  <a:lnTo>
                    <a:pt x="70301" y="5527"/>
                  </a:lnTo>
                  <a:lnTo>
                    <a:pt x="70426" y="0"/>
                  </a:lnTo>
                </a:path>
              </a:pathLst>
            </a:custGeom>
            <a:ln w="9724">
              <a:solidFill>
                <a:srgbClr val="B45F06"/>
              </a:solidFill>
            </a:ln>
          </p:spPr>
          <p:txBody>
            <a:bodyPr wrap="square" lIns="0" tIns="0" rIns="0" bIns="0" rtlCol="0"/>
            <a:lstStyle/>
            <a:p>
              <a:endParaRPr sz="2400"/>
            </a:p>
          </p:txBody>
        </p:sp>
        <p:sp>
          <p:nvSpPr>
            <p:cNvPr id="112" name="object 112"/>
            <p:cNvSpPr/>
            <p:nvPr/>
          </p:nvSpPr>
          <p:spPr>
            <a:xfrm>
              <a:off x="6718706" y="1954841"/>
              <a:ext cx="32384" cy="44450"/>
            </a:xfrm>
            <a:custGeom>
              <a:avLst/>
              <a:gdLst/>
              <a:ahLst/>
              <a:cxnLst/>
              <a:rect l="l" t="t" r="r" b="b"/>
              <a:pathLst>
                <a:path w="32384" h="44450">
                  <a:moveTo>
                    <a:pt x="32123" y="44315"/>
                  </a:moveTo>
                  <a:lnTo>
                    <a:pt x="0" y="43944"/>
                  </a:lnTo>
                  <a:lnTo>
                    <a:pt x="16571" y="0"/>
                  </a:lnTo>
                  <a:lnTo>
                    <a:pt x="32123" y="44315"/>
                  </a:lnTo>
                  <a:close/>
                </a:path>
              </a:pathLst>
            </a:custGeom>
            <a:solidFill>
              <a:srgbClr val="B45F06"/>
            </a:solidFill>
          </p:spPr>
          <p:txBody>
            <a:bodyPr wrap="square" lIns="0" tIns="0" rIns="0" bIns="0" rtlCol="0"/>
            <a:lstStyle/>
            <a:p>
              <a:endParaRPr sz="2400"/>
            </a:p>
          </p:txBody>
        </p:sp>
        <p:sp>
          <p:nvSpPr>
            <p:cNvPr id="113" name="object 113"/>
            <p:cNvSpPr/>
            <p:nvPr/>
          </p:nvSpPr>
          <p:spPr>
            <a:xfrm>
              <a:off x="6718706" y="1954841"/>
              <a:ext cx="32384" cy="44450"/>
            </a:xfrm>
            <a:custGeom>
              <a:avLst/>
              <a:gdLst/>
              <a:ahLst/>
              <a:cxnLst/>
              <a:rect l="l" t="t" r="r" b="b"/>
              <a:pathLst>
                <a:path w="32384" h="44450">
                  <a:moveTo>
                    <a:pt x="32123" y="44315"/>
                  </a:moveTo>
                  <a:lnTo>
                    <a:pt x="16571" y="0"/>
                  </a:lnTo>
                  <a:lnTo>
                    <a:pt x="0" y="43944"/>
                  </a:lnTo>
                  <a:lnTo>
                    <a:pt x="32123" y="44315"/>
                  </a:lnTo>
                  <a:close/>
                </a:path>
              </a:pathLst>
            </a:custGeom>
            <a:ln w="9724">
              <a:solidFill>
                <a:srgbClr val="B45F06"/>
              </a:solidFill>
            </a:ln>
          </p:spPr>
          <p:txBody>
            <a:bodyPr wrap="square" lIns="0" tIns="0" rIns="0" bIns="0" rtlCol="0"/>
            <a:lstStyle/>
            <a:p>
              <a:endParaRPr sz="2400"/>
            </a:p>
          </p:txBody>
        </p:sp>
        <p:sp>
          <p:nvSpPr>
            <p:cNvPr id="114" name="object 114"/>
            <p:cNvSpPr/>
            <p:nvPr/>
          </p:nvSpPr>
          <p:spPr>
            <a:xfrm>
              <a:off x="6664341" y="1998426"/>
              <a:ext cx="866775" cy="667385"/>
            </a:xfrm>
            <a:custGeom>
              <a:avLst/>
              <a:gdLst/>
              <a:ahLst/>
              <a:cxnLst/>
              <a:rect l="l" t="t" r="r" b="b"/>
              <a:pathLst>
                <a:path w="866775" h="667385">
                  <a:moveTo>
                    <a:pt x="0" y="666999"/>
                  </a:moveTo>
                  <a:lnTo>
                    <a:pt x="3781" y="626746"/>
                  </a:lnTo>
                  <a:lnTo>
                    <a:pt x="14727" y="589463"/>
                  </a:lnTo>
                  <a:lnTo>
                    <a:pt x="32241" y="554902"/>
                  </a:lnTo>
                  <a:lnTo>
                    <a:pt x="55725" y="522814"/>
                  </a:lnTo>
                  <a:lnTo>
                    <a:pt x="84584" y="492954"/>
                  </a:lnTo>
                  <a:lnTo>
                    <a:pt x="118218" y="465074"/>
                  </a:lnTo>
                  <a:lnTo>
                    <a:pt x="156032" y="438926"/>
                  </a:lnTo>
                  <a:lnTo>
                    <a:pt x="197429" y="414263"/>
                  </a:lnTo>
                  <a:lnTo>
                    <a:pt x="241810" y="390837"/>
                  </a:lnTo>
                  <a:lnTo>
                    <a:pt x="288581" y="368402"/>
                  </a:lnTo>
                  <a:lnTo>
                    <a:pt x="337142" y="346709"/>
                  </a:lnTo>
                  <a:lnTo>
                    <a:pt x="386897" y="325512"/>
                  </a:lnTo>
                  <a:lnTo>
                    <a:pt x="437249" y="304563"/>
                  </a:lnTo>
                  <a:lnTo>
                    <a:pt x="484018" y="285116"/>
                  </a:lnTo>
                  <a:lnTo>
                    <a:pt x="530309" y="265471"/>
                  </a:lnTo>
                  <a:lnTo>
                    <a:pt x="575643" y="245431"/>
                  </a:lnTo>
                  <a:lnTo>
                    <a:pt x="619543" y="224797"/>
                  </a:lnTo>
                  <a:lnTo>
                    <a:pt x="661531" y="203370"/>
                  </a:lnTo>
                  <a:lnTo>
                    <a:pt x="701129" y="180954"/>
                  </a:lnTo>
                  <a:lnTo>
                    <a:pt x="737859" y="157349"/>
                  </a:lnTo>
                  <a:lnTo>
                    <a:pt x="793796" y="112585"/>
                  </a:lnTo>
                  <a:lnTo>
                    <a:pt x="836923" y="62514"/>
                  </a:lnTo>
                  <a:lnTo>
                    <a:pt x="859321" y="20838"/>
                  </a:lnTo>
                  <a:lnTo>
                    <a:pt x="865844" y="2309"/>
                  </a:lnTo>
                  <a:lnTo>
                    <a:pt x="866511" y="0"/>
                  </a:lnTo>
                </a:path>
              </a:pathLst>
            </a:custGeom>
            <a:ln w="9724">
              <a:solidFill>
                <a:srgbClr val="B45F06"/>
              </a:solidFill>
            </a:ln>
          </p:spPr>
          <p:txBody>
            <a:bodyPr wrap="square" lIns="0" tIns="0" rIns="0" bIns="0" rtlCol="0"/>
            <a:lstStyle/>
            <a:p>
              <a:endParaRPr sz="2400"/>
            </a:p>
          </p:txBody>
        </p:sp>
        <p:sp>
          <p:nvSpPr>
            <p:cNvPr id="115" name="object 115"/>
            <p:cNvSpPr/>
            <p:nvPr/>
          </p:nvSpPr>
          <p:spPr>
            <a:xfrm>
              <a:off x="7514941" y="1954709"/>
              <a:ext cx="32384" cy="46355"/>
            </a:xfrm>
            <a:custGeom>
              <a:avLst/>
              <a:gdLst/>
              <a:ahLst/>
              <a:cxnLst/>
              <a:rect l="l" t="t" r="r" b="b"/>
              <a:pathLst>
                <a:path w="32384" h="46355">
                  <a:moveTo>
                    <a:pt x="31823" y="45916"/>
                  </a:moveTo>
                  <a:lnTo>
                    <a:pt x="0" y="41518"/>
                  </a:lnTo>
                  <a:lnTo>
                    <a:pt x="21953" y="0"/>
                  </a:lnTo>
                  <a:lnTo>
                    <a:pt x="31823" y="45916"/>
                  </a:lnTo>
                  <a:close/>
                </a:path>
              </a:pathLst>
            </a:custGeom>
            <a:solidFill>
              <a:srgbClr val="B45F06"/>
            </a:solidFill>
          </p:spPr>
          <p:txBody>
            <a:bodyPr wrap="square" lIns="0" tIns="0" rIns="0" bIns="0" rtlCol="0"/>
            <a:lstStyle/>
            <a:p>
              <a:endParaRPr sz="2400"/>
            </a:p>
          </p:txBody>
        </p:sp>
        <p:sp>
          <p:nvSpPr>
            <p:cNvPr id="116" name="object 116"/>
            <p:cNvSpPr/>
            <p:nvPr/>
          </p:nvSpPr>
          <p:spPr>
            <a:xfrm>
              <a:off x="7514941" y="1954709"/>
              <a:ext cx="32384" cy="46355"/>
            </a:xfrm>
            <a:custGeom>
              <a:avLst/>
              <a:gdLst/>
              <a:ahLst/>
              <a:cxnLst/>
              <a:rect l="l" t="t" r="r" b="b"/>
              <a:pathLst>
                <a:path w="32384" h="46355">
                  <a:moveTo>
                    <a:pt x="31823" y="45916"/>
                  </a:moveTo>
                  <a:lnTo>
                    <a:pt x="21953" y="0"/>
                  </a:lnTo>
                  <a:lnTo>
                    <a:pt x="0" y="41518"/>
                  </a:lnTo>
                  <a:lnTo>
                    <a:pt x="31823" y="45916"/>
                  </a:lnTo>
                  <a:close/>
                </a:path>
              </a:pathLst>
            </a:custGeom>
            <a:ln w="9724">
              <a:solidFill>
                <a:srgbClr val="B45F06"/>
              </a:solidFill>
            </a:ln>
          </p:spPr>
          <p:txBody>
            <a:bodyPr wrap="square" lIns="0" tIns="0" rIns="0" bIns="0" rtlCol="0"/>
            <a:lstStyle/>
            <a:p>
              <a:endParaRPr sz="2400"/>
            </a:p>
          </p:txBody>
        </p:sp>
      </p:grpSp>
      <p:sp>
        <p:nvSpPr>
          <p:cNvPr id="117" name="object 117"/>
          <p:cNvSpPr txBox="1"/>
          <p:nvPr/>
        </p:nvSpPr>
        <p:spPr>
          <a:xfrm>
            <a:off x="8276387" y="3553900"/>
            <a:ext cx="1219200" cy="782137"/>
          </a:xfrm>
          <a:prstGeom prst="rect">
            <a:avLst/>
          </a:prstGeom>
          <a:solidFill>
            <a:srgbClr val="FFFFFF"/>
          </a:solidFill>
          <a:ln w="45724">
            <a:solidFill>
              <a:srgbClr val="B45F06"/>
            </a:solidFill>
          </a:ln>
        </p:spPr>
        <p:txBody>
          <a:bodyPr vert="horz" wrap="square" lIns="0" tIns="124460" rIns="0" bIns="0" rtlCol="0">
            <a:spAutoFit/>
          </a:bodyPr>
          <a:lstStyle/>
          <a:p>
            <a:pPr>
              <a:spcBef>
                <a:spcPts val="980"/>
              </a:spcBef>
            </a:pPr>
            <a:endParaRPr sz="2133">
              <a:latin typeface="Times New Roman"/>
              <a:cs typeface="Times New Roman"/>
            </a:endParaRPr>
          </a:p>
          <a:p>
            <a:pPr algn="ctr">
              <a:lnSpc>
                <a:spcPct val="100000"/>
              </a:lnSpc>
            </a:pPr>
            <a:r>
              <a:rPr sz="2133" spc="-67" dirty="0">
                <a:latin typeface="Lucida Sans Unicode"/>
                <a:cs typeface="Lucida Sans Unicode"/>
              </a:rPr>
              <a:t>A</a:t>
            </a:r>
            <a:endParaRPr sz="2133">
              <a:latin typeface="Lucida Sans Unicode"/>
              <a:cs typeface="Lucida Sans Unicode"/>
            </a:endParaRPr>
          </a:p>
        </p:txBody>
      </p:sp>
      <p:sp>
        <p:nvSpPr>
          <p:cNvPr id="118" name="TextBox 117">
            <a:extLst>
              <a:ext uri="{FF2B5EF4-FFF2-40B4-BE49-F238E27FC236}">
                <a16:creationId xmlns:a16="http://schemas.microsoft.com/office/drawing/2014/main" id="{2070D154-F3CD-0548-522E-7C539731E1E0}"/>
              </a:ext>
            </a:extLst>
          </p:cNvPr>
          <p:cNvSpPr txBox="1"/>
          <p:nvPr/>
        </p:nvSpPr>
        <p:spPr>
          <a:xfrm>
            <a:off x="3256550" y="5934372"/>
            <a:ext cx="7061485" cy="461665"/>
          </a:xfrm>
          <a:prstGeom prst="rect">
            <a:avLst/>
          </a:prstGeom>
          <a:noFill/>
        </p:spPr>
        <p:txBody>
          <a:bodyPr wrap="none" rtlCol="0">
            <a:spAutoFit/>
          </a:bodyPr>
          <a:lstStyle/>
          <a:p>
            <a:r>
              <a:rPr lang="en-US" sz="2400" dirty="0"/>
              <a:t>Load A back in compute unit to calculate Final output O</a:t>
            </a:r>
            <a:endParaRPr lang="en-IN" sz="2400" dirty="0"/>
          </a:p>
        </p:txBody>
      </p:sp>
    </p:spTree>
    <p:extLst>
      <p:ext uri="{BB962C8B-B14F-4D97-AF65-F5344CB8AC3E}">
        <p14:creationId xmlns:p14="http://schemas.microsoft.com/office/powerpoint/2010/main" val="3136316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Attention</a:t>
            </a:r>
            <a:r>
              <a:rPr spc="-152" dirty="0"/>
              <a:t> </a:t>
            </a:r>
            <a:r>
              <a:rPr spc="213" dirty="0"/>
              <a:t>data</a:t>
            </a:r>
            <a:r>
              <a:rPr spc="-147" dirty="0"/>
              <a:t> </a:t>
            </a:r>
            <a:r>
              <a:rPr spc="-27" dirty="0"/>
              <a:t>flow</a:t>
            </a:r>
          </a:p>
        </p:txBody>
      </p:sp>
      <p:sp>
        <p:nvSpPr>
          <p:cNvPr id="3" name="object 3"/>
          <p:cNvSpPr/>
          <p:nvPr/>
        </p:nvSpPr>
        <p:spPr>
          <a:xfrm>
            <a:off x="1431063" y="1548384"/>
            <a:ext cx="9338733" cy="4060613"/>
          </a:xfrm>
          <a:custGeom>
            <a:avLst/>
            <a:gdLst/>
            <a:ahLst/>
            <a:cxnLst/>
            <a:rect l="l" t="t" r="r" b="b"/>
            <a:pathLst>
              <a:path w="7004050" h="3045460">
                <a:moveTo>
                  <a:pt x="0" y="0"/>
                </a:moveTo>
                <a:lnTo>
                  <a:pt x="7003499" y="0"/>
                </a:lnTo>
                <a:lnTo>
                  <a:pt x="7003499" y="3044999"/>
                </a:lnTo>
                <a:lnTo>
                  <a:pt x="0" y="3044999"/>
                </a:lnTo>
                <a:lnTo>
                  <a:pt x="0" y="0"/>
                </a:lnTo>
                <a:close/>
              </a:path>
            </a:pathLst>
          </a:custGeom>
          <a:ln w="19049">
            <a:solidFill>
              <a:srgbClr val="237A94"/>
            </a:solidFill>
          </a:ln>
        </p:spPr>
        <p:txBody>
          <a:bodyPr wrap="square" lIns="0" tIns="0" rIns="0" bIns="0" rtlCol="0"/>
          <a:lstStyle/>
          <a:p>
            <a:endParaRPr sz="2400"/>
          </a:p>
        </p:txBody>
      </p:sp>
      <p:sp>
        <p:nvSpPr>
          <p:cNvPr id="4" name="object 4"/>
          <p:cNvSpPr txBox="1"/>
          <p:nvPr/>
        </p:nvSpPr>
        <p:spPr>
          <a:xfrm>
            <a:off x="1519351" y="5238451"/>
            <a:ext cx="513080" cy="304421"/>
          </a:xfrm>
          <a:prstGeom prst="rect">
            <a:avLst/>
          </a:prstGeom>
        </p:spPr>
        <p:txBody>
          <a:bodyPr vert="horz" wrap="square" lIns="0" tIns="16933" rIns="0" bIns="0" rtlCol="0">
            <a:spAutoFit/>
          </a:bodyPr>
          <a:lstStyle/>
          <a:p>
            <a:pPr>
              <a:spcBef>
                <a:spcPts val="133"/>
              </a:spcBef>
            </a:pPr>
            <a:r>
              <a:rPr sz="1867" spc="-167" dirty="0">
                <a:solidFill>
                  <a:srgbClr val="999999"/>
                </a:solidFill>
                <a:latin typeface="Arial Black"/>
                <a:cs typeface="Arial Black"/>
              </a:rPr>
              <a:t>GPU</a:t>
            </a:r>
            <a:endParaRPr sz="1867">
              <a:latin typeface="Arial Black"/>
              <a:cs typeface="Arial Black"/>
            </a:endParaRPr>
          </a:p>
        </p:txBody>
      </p:sp>
      <p:sp>
        <p:nvSpPr>
          <p:cNvPr id="5" name="object 5"/>
          <p:cNvSpPr txBox="1"/>
          <p:nvPr/>
        </p:nvSpPr>
        <p:spPr>
          <a:xfrm>
            <a:off x="1945434" y="1710578"/>
            <a:ext cx="1555327" cy="256480"/>
          </a:xfrm>
          <a:prstGeom prst="rect">
            <a:avLst/>
          </a:prstGeom>
        </p:spPr>
        <p:txBody>
          <a:bodyPr vert="horz" wrap="square" lIns="0" tIns="10160" rIns="0" bIns="0" rtlCol="0">
            <a:spAutoFit/>
          </a:bodyPr>
          <a:lstStyle/>
          <a:p>
            <a:pPr>
              <a:spcBef>
                <a:spcPts val="80"/>
              </a:spcBef>
            </a:pPr>
            <a:r>
              <a:rPr sz="1600" spc="-33" dirty="0">
                <a:solidFill>
                  <a:srgbClr val="666666"/>
                </a:solidFill>
                <a:latin typeface="Arial Black"/>
                <a:cs typeface="Arial Black"/>
              </a:rPr>
              <a:t>Compute</a:t>
            </a:r>
            <a:r>
              <a:rPr sz="1600" spc="-127" dirty="0">
                <a:solidFill>
                  <a:srgbClr val="666666"/>
                </a:solidFill>
                <a:latin typeface="Arial Black"/>
                <a:cs typeface="Arial Black"/>
              </a:rPr>
              <a:t> </a:t>
            </a:r>
            <a:r>
              <a:rPr sz="1600" spc="-47" dirty="0">
                <a:solidFill>
                  <a:srgbClr val="666666"/>
                </a:solidFill>
                <a:latin typeface="Arial Black"/>
                <a:cs typeface="Arial Black"/>
              </a:rPr>
              <a:t>units</a:t>
            </a:r>
            <a:endParaRPr sz="1600">
              <a:latin typeface="Arial Black"/>
              <a:cs typeface="Arial Black"/>
            </a:endParaRPr>
          </a:p>
        </p:txBody>
      </p:sp>
      <p:grpSp>
        <p:nvGrpSpPr>
          <p:cNvPr id="6" name="object 6"/>
          <p:cNvGrpSpPr/>
          <p:nvPr/>
        </p:nvGrpSpPr>
        <p:grpSpPr>
          <a:xfrm>
            <a:off x="1813796" y="1711599"/>
            <a:ext cx="8573347" cy="988060"/>
            <a:chOff x="1360347" y="1283699"/>
            <a:chExt cx="6430010" cy="741045"/>
          </a:xfrm>
        </p:grpSpPr>
        <p:sp>
          <p:nvSpPr>
            <p:cNvPr id="7" name="object 7"/>
            <p:cNvSpPr/>
            <p:nvPr/>
          </p:nvSpPr>
          <p:spPr>
            <a:xfrm>
              <a:off x="1365110" y="1288461"/>
              <a:ext cx="6420485" cy="731520"/>
            </a:xfrm>
            <a:custGeom>
              <a:avLst/>
              <a:gdLst/>
              <a:ahLst/>
              <a:cxnLst/>
              <a:rect l="l" t="t" r="r" b="b"/>
              <a:pathLst>
                <a:path w="6420484" h="731519">
                  <a:moveTo>
                    <a:pt x="6419999" y="731400"/>
                  </a:moveTo>
                  <a:lnTo>
                    <a:pt x="0" y="731400"/>
                  </a:lnTo>
                  <a:lnTo>
                    <a:pt x="0" y="0"/>
                  </a:lnTo>
                  <a:lnTo>
                    <a:pt x="6419999" y="0"/>
                  </a:lnTo>
                  <a:lnTo>
                    <a:pt x="6419999" y="731400"/>
                  </a:lnTo>
                  <a:close/>
                </a:path>
              </a:pathLst>
            </a:custGeom>
            <a:solidFill>
              <a:srgbClr val="FFECED"/>
            </a:solidFill>
          </p:spPr>
          <p:txBody>
            <a:bodyPr wrap="square" lIns="0" tIns="0" rIns="0" bIns="0" rtlCol="0"/>
            <a:lstStyle/>
            <a:p>
              <a:endParaRPr sz="2400"/>
            </a:p>
          </p:txBody>
        </p:sp>
        <p:sp>
          <p:nvSpPr>
            <p:cNvPr id="8" name="object 8"/>
            <p:cNvSpPr/>
            <p:nvPr/>
          </p:nvSpPr>
          <p:spPr>
            <a:xfrm>
              <a:off x="1365110" y="1288461"/>
              <a:ext cx="6420485" cy="731520"/>
            </a:xfrm>
            <a:custGeom>
              <a:avLst/>
              <a:gdLst/>
              <a:ahLst/>
              <a:cxnLst/>
              <a:rect l="l" t="t" r="r" b="b"/>
              <a:pathLst>
                <a:path w="6420484" h="731519">
                  <a:moveTo>
                    <a:pt x="0" y="0"/>
                  </a:moveTo>
                  <a:lnTo>
                    <a:pt x="6419999" y="0"/>
                  </a:lnTo>
                  <a:lnTo>
                    <a:pt x="6419999" y="731400"/>
                  </a:lnTo>
                  <a:lnTo>
                    <a:pt x="0" y="731400"/>
                  </a:lnTo>
                  <a:lnTo>
                    <a:pt x="0" y="0"/>
                  </a:lnTo>
                  <a:close/>
                </a:path>
              </a:pathLst>
            </a:custGeom>
            <a:ln w="9524">
              <a:solidFill>
                <a:srgbClr val="237A94"/>
              </a:solidFill>
            </a:ln>
          </p:spPr>
          <p:txBody>
            <a:bodyPr wrap="square" lIns="0" tIns="0" rIns="0" bIns="0" rtlCol="0"/>
            <a:lstStyle/>
            <a:p>
              <a:endParaRPr sz="2400"/>
            </a:p>
          </p:txBody>
        </p:sp>
        <p:sp>
          <p:nvSpPr>
            <p:cNvPr id="9" name="object 9"/>
            <p:cNvSpPr/>
            <p:nvPr/>
          </p:nvSpPr>
          <p:spPr>
            <a:xfrm>
              <a:off x="3853475"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0" name="object 10"/>
            <p:cNvSpPr/>
            <p:nvPr/>
          </p:nvSpPr>
          <p:spPr>
            <a:xfrm>
              <a:off x="3853475" y="1509156"/>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1" name="object 11"/>
            <p:cNvSpPr/>
            <p:nvPr/>
          </p:nvSpPr>
          <p:spPr>
            <a:xfrm>
              <a:off x="46584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2" name="object 12"/>
            <p:cNvSpPr/>
            <p:nvPr/>
          </p:nvSpPr>
          <p:spPr>
            <a:xfrm>
              <a:off x="46584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3" name="object 13"/>
            <p:cNvSpPr/>
            <p:nvPr/>
          </p:nvSpPr>
          <p:spPr>
            <a:xfrm>
              <a:off x="5460074"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4" name="object 14"/>
            <p:cNvSpPr/>
            <p:nvPr/>
          </p:nvSpPr>
          <p:spPr>
            <a:xfrm>
              <a:off x="5460074" y="1509156"/>
              <a:ext cx="650240" cy="457200"/>
            </a:xfrm>
            <a:custGeom>
              <a:avLst/>
              <a:gdLst/>
              <a:ahLst/>
              <a:cxnLst/>
              <a:rect l="l" t="t" r="r" b="b"/>
              <a:pathLst>
                <a:path w="650239"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5" name="object 15"/>
            <p:cNvSpPr/>
            <p:nvPr/>
          </p:nvSpPr>
          <p:spPr>
            <a:xfrm>
              <a:off x="6261724" y="1509157"/>
              <a:ext cx="650240" cy="226695"/>
            </a:xfrm>
            <a:custGeom>
              <a:avLst/>
              <a:gdLst/>
              <a:ahLst/>
              <a:cxnLst/>
              <a:rect l="l" t="t" r="r" b="b"/>
              <a:pathLst>
                <a:path w="650240" h="226694">
                  <a:moveTo>
                    <a:pt x="0" y="226679"/>
                  </a:moveTo>
                  <a:lnTo>
                    <a:pt x="649726" y="226679"/>
                  </a:lnTo>
                  <a:lnTo>
                    <a:pt x="649726" y="0"/>
                  </a:lnTo>
                  <a:lnTo>
                    <a:pt x="0" y="0"/>
                  </a:lnTo>
                  <a:lnTo>
                    <a:pt x="0" y="226679"/>
                  </a:lnTo>
                  <a:close/>
                </a:path>
              </a:pathLst>
            </a:custGeom>
            <a:solidFill>
              <a:srgbClr val="F4C4D1"/>
            </a:solidFill>
          </p:spPr>
          <p:txBody>
            <a:bodyPr wrap="square" lIns="0" tIns="0" rIns="0" bIns="0" rtlCol="0"/>
            <a:lstStyle/>
            <a:p>
              <a:endParaRPr sz="2400"/>
            </a:p>
          </p:txBody>
        </p:sp>
        <p:sp>
          <p:nvSpPr>
            <p:cNvPr id="16" name="object 16"/>
            <p:cNvSpPr/>
            <p:nvPr/>
          </p:nvSpPr>
          <p:spPr>
            <a:xfrm>
              <a:off x="6261724" y="1509157"/>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7" name="object 17"/>
            <p:cNvSpPr/>
            <p:nvPr/>
          </p:nvSpPr>
          <p:spPr>
            <a:xfrm>
              <a:off x="7063349" y="1509156"/>
              <a:ext cx="650240" cy="234950"/>
            </a:xfrm>
            <a:custGeom>
              <a:avLst/>
              <a:gdLst/>
              <a:ahLst/>
              <a:cxnLst/>
              <a:rect l="l" t="t" r="r" b="b"/>
              <a:pathLst>
                <a:path w="650240"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8" name="object 18"/>
            <p:cNvSpPr/>
            <p:nvPr/>
          </p:nvSpPr>
          <p:spPr>
            <a:xfrm>
              <a:off x="7063349" y="1509156"/>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9" name="object 19"/>
            <p:cNvSpPr/>
            <p:nvPr/>
          </p:nvSpPr>
          <p:spPr>
            <a:xfrm>
              <a:off x="1448749" y="1509158"/>
              <a:ext cx="650240" cy="228600"/>
            </a:xfrm>
            <a:custGeom>
              <a:avLst/>
              <a:gdLst/>
              <a:ahLst/>
              <a:cxnLst/>
              <a:rect l="l" t="t" r="r" b="b"/>
              <a:pathLst>
                <a:path w="650239" h="228600">
                  <a:moveTo>
                    <a:pt x="0" y="228477"/>
                  </a:moveTo>
                  <a:lnTo>
                    <a:pt x="649726" y="228477"/>
                  </a:lnTo>
                  <a:lnTo>
                    <a:pt x="649726" y="0"/>
                  </a:lnTo>
                  <a:lnTo>
                    <a:pt x="0" y="0"/>
                  </a:lnTo>
                  <a:lnTo>
                    <a:pt x="0" y="228477"/>
                  </a:lnTo>
                  <a:close/>
                </a:path>
              </a:pathLst>
            </a:custGeom>
            <a:solidFill>
              <a:srgbClr val="F4C4D1"/>
            </a:solidFill>
          </p:spPr>
          <p:txBody>
            <a:bodyPr wrap="square" lIns="0" tIns="0" rIns="0" bIns="0" rtlCol="0"/>
            <a:lstStyle/>
            <a:p>
              <a:endParaRPr sz="2400"/>
            </a:p>
          </p:txBody>
        </p:sp>
        <p:sp>
          <p:nvSpPr>
            <p:cNvPr id="20" name="object 20"/>
            <p:cNvSpPr/>
            <p:nvPr/>
          </p:nvSpPr>
          <p:spPr>
            <a:xfrm>
              <a:off x="1448749"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1" name="object 21"/>
            <p:cNvSpPr/>
            <p:nvPr/>
          </p:nvSpPr>
          <p:spPr>
            <a:xfrm>
              <a:off x="2250396" y="1509158"/>
              <a:ext cx="650240" cy="234950"/>
            </a:xfrm>
            <a:custGeom>
              <a:avLst/>
              <a:gdLst/>
              <a:ahLst/>
              <a:cxnLst/>
              <a:rect l="l" t="t" r="r" b="b"/>
              <a:pathLst>
                <a:path w="650239" h="234950">
                  <a:moveTo>
                    <a:pt x="0" y="234402"/>
                  </a:moveTo>
                  <a:lnTo>
                    <a:pt x="649726" y="234402"/>
                  </a:lnTo>
                  <a:lnTo>
                    <a:pt x="649726" y="0"/>
                  </a:lnTo>
                  <a:lnTo>
                    <a:pt x="0" y="0"/>
                  </a:lnTo>
                  <a:lnTo>
                    <a:pt x="0" y="234402"/>
                  </a:lnTo>
                  <a:close/>
                </a:path>
              </a:pathLst>
            </a:custGeom>
            <a:solidFill>
              <a:srgbClr val="F4C4D1"/>
            </a:solidFill>
          </p:spPr>
          <p:txBody>
            <a:bodyPr wrap="square" lIns="0" tIns="0" rIns="0" bIns="0" rtlCol="0"/>
            <a:lstStyle/>
            <a:p>
              <a:endParaRPr sz="2400"/>
            </a:p>
          </p:txBody>
        </p:sp>
        <p:sp>
          <p:nvSpPr>
            <p:cNvPr id="22" name="object 22"/>
            <p:cNvSpPr/>
            <p:nvPr/>
          </p:nvSpPr>
          <p:spPr>
            <a:xfrm>
              <a:off x="2250396"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3" name="object 23"/>
            <p:cNvSpPr/>
            <p:nvPr/>
          </p:nvSpPr>
          <p:spPr>
            <a:xfrm>
              <a:off x="30520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4" name="object 24"/>
            <p:cNvSpPr/>
            <p:nvPr/>
          </p:nvSpPr>
          <p:spPr>
            <a:xfrm>
              <a:off x="30520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grpSp>
      <p:sp>
        <p:nvSpPr>
          <p:cNvPr id="25" name="object 25"/>
          <p:cNvSpPr txBox="1"/>
          <p:nvPr/>
        </p:nvSpPr>
        <p:spPr>
          <a:xfrm>
            <a:off x="1908748" y="1715056"/>
            <a:ext cx="1532467" cy="263320"/>
          </a:xfrm>
          <a:prstGeom prst="rect">
            <a:avLst/>
          </a:prstGeom>
        </p:spPr>
        <p:txBody>
          <a:bodyPr vert="horz" wrap="square" lIns="0" tIns="16933" rIns="0" bIns="0" rtlCol="0">
            <a:spAutoFit/>
          </a:bodyPr>
          <a:lstStyle/>
          <a:p>
            <a:pPr>
              <a:spcBef>
                <a:spcPts val="133"/>
              </a:spcBef>
            </a:pPr>
            <a:r>
              <a:rPr sz="1600" spc="67" dirty="0">
                <a:solidFill>
                  <a:srgbClr val="434343"/>
                </a:solidFill>
                <a:latin typeface="Lucida Sans Unicode"/>
                <a:cs typeface="Lucida Sans Unicode"/>
              </a:rPr>
              <a:t>Compute</a:t>
            </a:r>
            <a:r>
              <a:rPr sz="1600" spc="-53" dirty="0">
                <a:solidFill>
                  <a:srgbClr val="434343"/>
                </a:solidFill>
                <a:latin typeface="Lucida Sans Unicode"/>
                <a:cs typeface="Lucida Sans Unicode"/>
              </a:rPr>
              <a:t> </a:t>
            </a:r>
            <a:r>
              <a:rPr sz="1600" spc="-13" dirty="0">
                <a:solidFill>
                  <a:srgbClr val="434343"/>
                </a:solidFill>
                <a:latin typeface="Lucida Sans Unicode"/>
                <a:cs typeface="Lucida Sans Unicode"/>
              </a:rPr>
              <a:t>Units</a:t>
            </a:r>
            <a:endParaRPr sz="1600">
              <a:latin typeface="Lucida Sans Unicode"/>
              <a:cs typeface="Lucida Sans Unicode"/>
            </a:endParaRPr>
          </a:p>
        </p:txBody>
      </p:sp>
      <p:grpSp>
        <p:nvGrpSpPr>
          <p:cNvPr id="26" name="object 26"/>
          <p:cNvGrpSpPr/>
          <p:nvPr/>
        </p:nvGrpSpPr>
        <p:grpSpPr>
          <a:xfrm>
            <a:off x="1809633" y="2843348"/>
            <a:ext cx="8573347" cy="2363893"/>
            <a:chOff x="1357225" y="2132511"/>
            <a:chExt cx="6430010" cy="1772920"/>
          </a:xfrm>
        </p:grpSpPr>
        <p:sp>
          <p:nvSpPr>
            <p:cNvPr id="27" name="object 27"/>
            <p:cNvSpPr/>
            <p:nvPr/>
          </p:nvSpPr>
          <p:spPr>
            <a:xfrm>
              <a:off x="1361987" y="2137274"/>
              <a:ext cx="6420485" cy="1763395"/>
            </a:xfrm>
            <a:custGeom>
              <a:avLst/>
              <a:gdLst/>
              <a:ahLst/>
              <a:cxnLst/>
              <a:rect l="l" t="t" r="r" b="b"/>
              <a:pathLst>
                <a:path w="6420484" h="1763395">
                  <a:moveTo>
                    <a:pt x="6419999" y="1763399"/>
                  </a:moveTo>
                  <a:lnTo>
                    <a:pt x="0" y="1763399"/>
                  </a:lnTo>
                  <a:lnTo>
                    <a:pt x="0" y="0"/>
                  </a:lnTo>
                  <a:lnTo>
                    <a:pt x="6419999" y="0"/>
                  </a:lnTo>
                  <a:lnTo>
                    <a:pt x="6419999" y="1763399"/>
                  </a:lnTo>
                  <a:close/>
                </a:path>
              </a:pathLst>
            </a:custGeom>
            <a:solidFill>
              <a:srgbClr val="EBFAFF"/>
            </a:solidFill>
          </p:spPr>
          <p:txBody>
            <a:bodyPr wrap="square" lIns="0" tIns="0" rIns="0" bIns="0" rtlCol="0"/>
            <a:lstStyle/>
            <a:p>
              <a:endParaRPr sz="2400"/>
            </a:p>
          </p:txBody>
        </p:sp>
        <p:sp>
          <p:nvSpPr>
            <p:cNvPr id="28" name="object 28"/>
            <p:cNvSpPr/>
            <p:nvPr/>
          </p:nvSpPr>
          <p:spPr>
            <a:xfrm>
              <a:off x="1361987" y="2137274"/>
              <a:ext cx="6420485" cy="1763395"/>
            </a:xfrm>
            <a:custGeom>
              <a:avLst/>
              <a:gdLst/>
              <a:ahLst/>
              <a:cxnLst/>
              <a:rect l="l" t="t" r="r" b="b"/>
              <a:pathLst>
                <a:path w="6420484" h="1763395">
                  <a:moveTo>
                    <a:pt x="0" y="0"/>
                  </a:moveTo>
                  <a:lnTo>
                    <a:pt x="6419999" y="0"/>
                  </a:lnTo>
                  <a:lnTo>
                    <a:pt x="6419999" y="1763399"/>
                  </a:lnTo>
                  <a:lnTo>
                    <a:pt x="0" y="1763399"/>
                  </a:lnTo>
                  <a:lnTo>
                    <a:pt x="0" y="0"/>
                  </a:lnTo>
                  <a:close/>
                </a:path>
              </a:pathLst>
            </a:custGeom>
            <a:ln w="9524">
              <a:solidFill>
                <a:srgbClr val="237A94"/>
              </a:solidFill>
            </a:ln>
          </p:spPr>
          <p:txBody>
            <a:bodyPr wrap="square" lIns="0" tIns="0" rIns="0" bIns="0" rtlCol="0"/>
            <a:lstStyle/>
            <a:p>
              <a:endParaRPr sz="2400"/>
            </a:p>
          </p:txBody>
        </p:sp>
      </p:grpSp>
      <p:sp>
        <p:nvSpPr>
          <p:cNvPr id="29" name="object 29"/>
          <p:cNvSpPr txBox="1"/>
          <p:nvPr/>
        </p:nvSpPr>
        <p:spPr>
          <a:xfrm>
            <a:off x="1976302" y="2984056"/>
            <a:ext cx="1474893" cy="263320"/>
          </a:xfrm>
          <a:prstGeom prst="rect">
            <a:avLst/>
          </a:prstGeom>
        </p:spPr>
        <p:txBody>
          <a:bodyPr vert="horz" wrap="square" lIns="0" tIns="16933" rIns="0" bIns="0" rtlCol="0">
            <a:spAutoFit/>
          </a:bodyPr>
          <a:lstStyle/>
          <a:p>
            <a:pPr>
              <a:spcBef>
                <a:spcPts val="133"/>
              </a:spcBef>
            </a:pPr>
            <a:r>
              <a:rPr sz="1600" dirty="0">
                <a:solidFill>
                  <a:srgbClr val="434343"/>
                </a:solidFill>
                <a:latin typeface="Lucida Sans Unicode"/>
                <a:cs typeface="Lucida Sans Unicode"/>
              </a:rPr>
              <a:t>Memory</a:t>
            </a:r>
            <a:r>
              <a:rPr sz="1600" spc="167" dirty="0">
                <a:solidFill>
                  <a:srgbClr val="434343"/>
                </a:solidFill>
                <a:latin typeface="Lucida Sans Unicode"/>
                <a:cs typeface="Lucida Sans Unicode"/>
              </a:rPr>
              <a:t> </a:t>
            </a:r>
            <a:r>
              <a:rPr sz="1600" spc="-27" dirty="0">
                <a:solidFill>
                  <a:srgbClr val="434343"/>
                </a:solidFill>
                <a:latin typeface="Lucida Sans Unicode"/>
                <a:cs typeface="Lucida Sans Unicode"/>
              </a:rPr>
              <a:t>VRAM</a:t>
            </a:r>
            <a:endParaRPr sz="1600">
              <a:latin typeface="Lucida Sans Unicode"/>
              <a:cs typeface="Lucida Sans Unicode"/>
            </a:endParaRPr>
          </a:p>
        </p:txBody>
      </p:sp>
      <p:sp>
        <p:nvSpPr>
          <p:cNvPr id="30" name="object 30"/>
          <p:cNvSpPr txBox="1"/>
          <p:nvPr/>
        </p:nvSpPr>
        <p:spPr>
          <a:xfrm>
            <a:off x="2064600" y="3552033"/>
            <a:ext cx="1441873" cy="796670"/>
          </a:xfrm>
          <a:prstGeom prst="rect">
            <a:avLst/>
          </a:prstGeom>
          <a:solidFill>
            <a:srgbClr val="FFFFFF"/>
          </a:solidFill>
          <a:ln w="9524">
            <a:solidFill>
              <a:srgbClr val="000000"/>
            </a:solidFill>
          </a:ln>
        </p:spPr>
        <p:txBody>
          <a:bodyPr vert="horz" wrap="square" lIns="0" tIns="138852" rIns="0" bIns="0" rtlCol="0">
            <a:spAutoFit/>
          </a:bodyPr>
          <a:lstStyle/>
          <a:p>
            <a:pPr>
              <a:spcBef>
                <a:spcPts val="1092"/>
              </a:spcBef>
            </a:pPr>
            <a:endParaRPr sz="2133">
              <a:latin typeface="Times New Roman"/>
              <a:cs typeface="Times New Roman"/>
            </a:endParaRPr>
          </a:p>
          <a:p>
            <a:pPr marL="466502"/>
            <a:r>
              <a:rPr sz="2133" spc="-33" dirty="0">
                <a:latin typeface="Arial Black"/>
                <a:cs typeface="Arial Black"/>
              </a:rPr>
              <a:t>LLM</a:t>
            </a:r>
            <a:endParaRPr sz="2133">
              <a:latin typeface="Arial Black"/>
              <a:cs typeface="Arial Black"/>
            </a:endParaRPr>
          </a:p>
        </p:txBody>
      </p:sp>
      <p:sp>
        <p:nvSpPr>
          <p:cNvPr id="31" name="object 31"/>
          <p:cNvSpPr txBox="1"/>
          <p:nvPr/>
        </p:nvSpPr>
        <p:spPr>
          <a:xfrm>
            <a:off x="3634633" y="3552039"/>
            <a:ext cx="1247987" cy="942010"/>
          </a:xfrm>
          <a:prstGeom prst="rect">
            <a:avLst/>
          </a:prstGeom>
          <a:solidFill>
            <a:srgbClr val="BBD4F9"/>
          </a:solidFill>
          <a:ln w="9524">
            <a:solidFill>
              <a:srgbClr val="1B73EB"/>
            </a:solidFill>
          </a:ln>
        </p:spPr>
        <p:txBody>
          <a:bodyPr vert="horz" wrap="square" lIns="0" tIns="282787" rIns="0" bIns="0" rtlCol="0">
            <a:spAutoFit/>
          </a:bodyPr>
          <a:lstStyle/>
          <a:p>
            <a:pPr algn="ctr">
              <a:spcBef>
                <a:spcPts val="2227"/>
              </a:spcBef>
            </a:pPr>
            <a:r>
              <a:rPr sz="2133" spc="-33" dirty="0">
                <a:latin typeface="Arial Black"/>
                <a:cs typeface="Arial Black"/>
              </a:rPr>
              <a:t>KV</a:t>
            </a:r>
            <a:endParaRPr sz="2133">
              <a:latin typeface="Arial Black"/>
              <a:cs typeface="Arial Black"/>
            </a:endParaRPr>
          </a:p>
          <a:p>
            <a:pPr algn="ctr">
              <a:spcBef>
                <a:spcPts val="40"/>
              </a:spcBef>
            </a:pPr>
            <a:r>
              <a:rPr sz="2133" spc="-13" dirty="0">
                <a:latin typeface="Arial Black"/>
                <a:cs typeface="Arial Black"/>
              </a:rPr>
              <a:t>cache</a:t>
            </a:r>
            <a:endParaRPr sz="2133">
              <a:latin typeface="Arial Black"/>
              <a:cs typeface="Arial Black"/>
            </a:endParaRPr>
          </a:p>
        </p:txBody>
      </p:sp>
      <p:grpSp>
        <p:nvGrpSpPr>
          <p:cNvPr id="32" name="object 32"/>
          <p:cNvGrpSpPr/>
          <p:nvPr/>
        </p:nvGrpSpPr>
        <p:grpSpPr>
          <a:xfrm>
            <a:off x="1925322" y="2308098"/>
            <a:ext cx="8369300" cy="1733127"/>
            <a:chOff x="1443991" y="1731073"/>
            <a:chExt cx="6276975" cy="1299845"/>
          </a:xfrm>
        </p:grpSpPr>
        <p:sp>
          <p:nvSpPr>
            <p:cNvPr id="33" name="object 33"/>
            <p:cNvSpPr/>
            <p:nvPr/>
          </p:nvSpPr>
          <p:spPr>
            <a:xfrm>
              <a:off x="1448753" y="1737636"/>
              <a:ext cx="650240" cy="230504"/>
            </a:xfrm>
            <a:custGeom>
              <a:avLst/>
              <a:gdLst/>
              <a:ahLst/>
              <a:cxnLst/>
              <a:rect l="l" t="t" r="r" b="b"/>
              <a:pathLst>
                <a:path w="650239" h="230505">
                  <a:moveTo>
                    <a:pt x="649800" y="230399"/>
                  </a:moveTo>
                  <a:lnTo>
                    <a:pt x="0" y="230399"/>
                  </a:lnTo>
                  <a:lnTo>
                    <a:pt x="0" y="0"/>
                  </a:lnTo>
                  <a:lnTo>
                    <a:pt x="649800" y="0"/>
                  </a:lnTo>
                  <a:lnTo>
                    <a:pt x="649800" y="230399"/>
                  </a:lnTo>
                  <a:close/>
                </a:path>
              </a:pathLst>
            </a:custGeom>
            <a:solidFill>
              <a:srgbClr val="EBFAFF"/>
            </a:solidFill>
          </p:spPr>
          <p:txBody>
            <a:bodyPr wrap="square" lIns="0" tIns="0" rIns="0" bIns="0" rtlCol="0"/>
            <a:lstStyle/>
            <a:p>
              <a:endParaRPr sz="2400"/>
            </a:p>
          </p:txBody>
        </p:sp>
        <p:sp>
          <p:nvSpPr>
            <p:cNvPr id="34" name="object 34"/>
            <p:cNvSpPr/>
            <p:nvPr/>
          </p:nvSpPr>
          <p:spPr>
            <a:xfrm>
              <a:off x="1448753" y="1737636"/>
              <a:ext cx="650240" cy="230504"/>
            </a:xfrm>
            <a:custGeom>
              <a:avLst/>
              <a:gdLst/>
              <a:ahLst/>
              <a:cxnLst/>
              <a:rect l="l" t="t" r="r" b="b"/>
              <a:pathLst>
                <a:path w="650239" h="230505">
                  <a:moveTo>
                    <a:pt x="649800" y="0"/>
                  </a:moveTo>
                  <a:lnTo>
                    <a:pt x="649800" y="230399"/>
                  </a:lnTo>
                  <a:lnTo>
                    <a:pt x="0" y="230399"/>
                  </a:lnTo>
                  <a:lnTo>
                    <a:pt x="0" y="0"/>
                  </a:lnTo>
                  <a:lnTo>
                    <a:pt x="649800" y="0"/>
                  </a:lnTo>
                  <a:close/>
                </a:path>
              </a:pathLst>
            </a:custGeom>
            <a:ln w="9524">
              <a:solidFill>
                <a:srgbClr val="237A94"/>
              </a:solidFill>
            </a:ln>
          </p:spPr>
          <p:txBody>
            <a:bodyPr wrap="square" lIns="0" tIns="0" rIns="0" bIns="0" rtlCol="0"/>
            <a:lstStyle/>
            <a:p>
              <a:endParaRPr sz="2400"/>
            </a:p>
          </p:txBody>
        </p:sp>
        <p:sp>
          <p:nvSpPr>
            <p:cNvPr id="35" name="object 35"/>
            <p:cNvSpPr/>
            <p:nvPr/>
          </p:nvSpPr>
          <p:spPr>
            <a:xfrm>
              <a:off x="22512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6" name="object 36"/>
            <p:cNvSpPr/>
            <p:nvPr/>
          </p:nvSpPr>
          <p:spPr>
            <a:xfrm>
              <a:off x="22512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7" name="object 37"/>
            <p:cNvSpPr/>
            <p:nvPr/>
          </p:nvSpPr>
          <p:spPr>
            <a:xfrm>
              <a:off x="305370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8" name="object 38"/>
            <p:cNvSpPr/>
            <p:nvPr/>
          </p:nvSpPr>
          <p:spPr>
            <a:xfrm>
              <a:off x="305370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9" name="object 39"/>
            <p:cNvSpPr/>
            <p:nvPr/>
          </p:nvSpPr>
          <p:spPr>
            <a:xfrm>
              <a:off x="385617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0" name="object 40"/>
            <p:cNvSpPr/>
            <p:nvPr/>
          </p:nvSpPr>
          <p:spPr>
            <a:xfrm>
              <a:off x="385617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1" name="object 41"/>
            <p:cNvSpPr/>
            <p:nvPr/>
          </p:nvSpPr>
          <p:spPr>
            <a:xfrm>
              <a:off x="4658653"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2" name="object 42"/>
            <p:cNvSpPr/>
            <p:nvPr/>
          </p:nvSpPr>
          <p:spPr>
            <a:xfrm>
              <a:off x="4658653"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3" name="object 43"/>
            <p:cNvSpPr/>
            <p:nvPr/>
          </p:nvSpPr>
          <p:spPr>
            <a:xfrm>
              <a:off x="54611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4" name="object 44"/>
            <p:cNvSpPr/>
            <p:nvPr/>
          </p:nvSpPr>
          <p:spPr>
            <a:xfrm>
              <a:off x="54611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5" name="object 45"/>
            <p:cNvSpPr/>
            <p:nvPr/>
          </p:nvSpPr>
          <p:spPr>
            <a:xfrm>
              <a:off x="6263603" y="1735836"/>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6" name="object 46"/>
            <p:cNvSpPr/>
            <p:nvPr/>
          </p:nvSpPr>
          <p:spPr>
            <a:xfrm>
              <a:off x="6263603" y="1735836"/>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7" name="object 47"/>
            <p:cNvSpPr/>
            <p:nvPr/>
          </p:nvSpPr>
          <p:spPr>
            <a:xfrm>
              <a:off x="7066078" y="1743561"/>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8" name="object 48"/>
            <p:cNvSpPr/>
            <p:nvPr/>
          </p:nvSpPr>
          <p:spPr>
            <a:xfrm>
              <a:off x="7066078" y="1743561"/>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9" name="object 49"/>
            <p:cNvSpPr/>
            <p:nvPr/>
          </p:nvSpPr>
          <p:spPr>
            <a:xfrm>
              <a:off x="1575750" y="1999075"/>
              <a:ext cx="6068060" cy="197485"/>
            </a:xfrm>
            <a:custGeom>
              <a:avLst/>
              <a:gdLst/>
              <a:ahLst/>
              <a:cxnLst/>
              <a:rect l="l" t="t" r="r" b="b"/>
              <a:pathLst>
                <a:path w="6068059" h="197485">
                  <a:moveTo>
                    <a:pt x="6067799" y="197099"/>
                  </a:moveTo>
                  <a:lnTo>
                    <a:pt x="0" y="197099"/>
                  </a:lnTo>
                  <a:lnTo>
                    <a:pt x="0" y="0"/>
                  </a:lnTo>
                  <a:lnTo>
                    <a:pt x="6067799" y="0"/>
                  </a:lnTo>
                  <a:lnTo>
                    <a:pt x="6067799" y="197099"/>
                  </a:lnTo>
                  <a:close/>
                </a:path>
              </a:pathLst>
            </a:custGeom>
            <a:solidFill>
              <a:srgbClr val="FFDE7E"/>
            </a:solidFill>
          </p:spPr>
          <p:txBody>
            <a:bodyPr wrap="square" lIns="0" tIns="0" rIns="0" bIns="0" rtlCol="0"/>
            <a:lstStyle/>
            <a:p>
              <a:endParaRPr sz="2400"/>
            </a:p>
          </p:txBody>
        </p:sp>
        <p:sp>
          <p:nvSpPr>
            <p:cNvPr id="50" name="object 50"/>
            <p:cNvSpPr/>
            <p:nvPr/>
          </p:nvSpPr>
          <p:spPr>
            <a:xfrm>
              <a:off x="1575750" y="1999075"/>
              <a:ext cx="6068060" cy="197485"/>
            </a:xfrm>
            <a:custGeom>
              <a:avLst/>
              <a:gdLst/>
              <a:ahLst/>
              <a:cxnLst/>
              <a:rect l="l" t="t" r="r" b="b"/>
              <a:pathLst>
                <a:path w="6068059" h="197485">
                  <a:moveTo>
                    <a:pt x="0" y="0"/>
                  </a:moveTo>
                  <a:lnTo>
                    <a:pt x="6067799" y="0"/>
                  </a:lnTo>
                  <a:lnTo>
                    <a:pt x="6067799" y="197099"/>
                  </a:lnTo>
                  <a:lnTo>
                    <a:pt x="0" y="197099"/>
                  </a:lnTo>
                  <a:lnTo>
                    <a:pt x="0" y="0"/>
                  </a:lnTo>
                  <a:close/>
                </a:path>
              </a:pathLst>
            </a:custGeom>
            <a:ln w="9524">
              <a:solidFill>
                <a:srgbClr val="595959"/>
              </a:solidFill>
            </a:ln>
          </p:spPr>
          <p:txBody>
            <a:bodyPr wrap="square" lIns="0" tIns="0" rIns="0" bIns="0" rtlCol="0"/>
            <a:lstStyle/>
            <a:p>
              <a:endParaRPr sz="2400"/>
            </a:p>
          </p:txBody>
        </p:sp>
        <p:pic>
          <p:nvPicPr>
            <p:cNvPr id="51" name="object 51"/>
            <p:cNvPicPr/>
            <p:nvPr/>
          </p:nvPicPr>
          <p:blipFill>
            <a:blip r:embed="rId2" cstate="print"/>
            <a:stretch>
              <a:fillRect/>
            </a:stretch>
          </p:blipFill>
          <p:spPr>
            <a:xfrm>
              <a:off x="4531245" y="1953098"/>
              <a:ext cx="82509" cy="287352"/>
            </a:xfrm>
            <a:prstGeom prst="rect">
              <a:avLst/>
            </a:prstGeom>
          </p:spPr>
        </p:pic>
        <p:sp>
          <p:nvSpPr>
            <p:cNvPr id="52" name="object 52"/>
            <p:cNvSpPr/>
            <p:nvPr/>
          </p:nvSpPr>
          <p:spPr>
            <a:xfrm>
              <a:off x="421616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3" name="object 53"/>
            <p:cNvSpPr/>
            <p:nvPr/>
          </p:nvSpPr>
          <p:spPr>
            <a:xfrm>
              <a:off x="421616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4696AA"/>
              </a:solidFill>
            </a:ln>
          </p:spPr>
          <p:txBody>
            <a:bodyPr wrap="square" lIns="0" tIns="0" rIns="0" bIns="0" rtlCol="0"/>
            <a:lstStyle/>
            <a:p>
              <a:endParaRPr sz="2400"/>
            </a:p>
          </p:txBody>
        </p:sp>
        <p:sp>
          <p:nvSpPr>
            <p:cNvPr id="54" name="object 54"/>
            <p:cNvSpPr/>
            <p:nvPr/>
          </p:nvSpPr>
          <p:spPr>
            <a:xfrm>
              <a:off x="372243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5" name="object 55"/>
            <p:cNvSpPr/>
            <p:nvPr/>
          </p:nvSpPr>
          <p:spPr>
            <a:xfrm>
              <a:off x="372243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F47272"/>
              </a:solidFill>
            </a:ln>
          </p:spPr>
          <p:txBody>
            <a:bodyPr wrap="square" lIns="0" tIns="0" rIns="0" bIns="0" rtlCol="0"/>
            <a:lstStyle/>
            <a:p>
              <a:endParaRPr sz="2400"/>
            </a:p>
          </p:txBody>
        </p:sp>
        <p:sp>
          <p:nvSpPr>
            <p:cNvPr id="56" name="object 56"/>
            <p:cNvSpPr/>
            <p:nvPr/>
          </p:nvSpPr>
          <p:spPr>
            <a:xfrm>
              <a:off x="4709835"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5AB46E"/>
              </a:solidFill>
            </a:ln>
          </p:spPr>
          <p:txBody>
            <a:bodyPr wrap="square" lIns="0" tIns="0" rIns="0" bIns="0" rtlCol="0"/>
            <a:lstStyle/>
            <a:p>
              <a:endParaRPr sz="2400"/>
            </a:p>
          </p:txBody>
        </p:sp>
      </p:grpSp>
      <p:sp>
        <p:nvSpPr>
          <p:cNvPr id="57" name="object 57"/>
          <p:cNvSpPr txBox="1"/>
          <p:nvPr/>
        </p:nvSpPr>
        <p:spPr>
          <a:xfrm>
            <a:off x="6432227" y="3603868"/>
            <a:ext cx="183727" cy="341911"/>
          </a:xfrm>
          <a:prstGeom prst="rect">
            <a:avLst/>
          </a:prstGeom>
        </p:spPr>
        <p:txBody>
          <a:bodyPr vert="horz" wrap="square" lIns="0" tIns="13547" rIns="0" bIns="0" rtlCol="0">
            <a:spAutoFit/>
          </a:bodyPr>
          <a:lstStyle/>
          <a:p>
            <a:pPr>
              <a:spcBef>
                <a:spcPts val="107"/>
              </a:spcBef>
            </a:pPr>
            <a:r>
              <a:rPr sz="2133" spc="-67" dirty="0">
                <a:latin typeface="Lucida Sans Unicode"/>
                <a:cs typeface="Lucida Sans Unicode"/>
              </a:rPr>
              <a:t>V</a:t>
            </a:r>
            <a:endParaRPr sz="2133">
              <a:latin typeface="Lucida Sans Unicode"/>
              <a:cs typeface="Lucida Sans Unicode"/>
            </a:endParaRPr>
          </a:p>
        </p:txBody>
      </p:sp>
      <p:sp>
        <p:nvSpPr>
          <p:cNvPr id="58" name="object 58"/>
          <p:cNvSpPr txBox="1"/>
          <p:nvPr/>
        </p:nvSpPr>
        <p:spPr>
          <a:xfrm>
            <a:off x="6934605" y="3554195"/>
            <a:ext cx="1219200" cy="782137"/>
          </a:xfrm>
          <a:prstGeom prst="rect">
            <a:avLst/>
          </a:prstGeom>
          <a:solidFill>
            <a:srgbClr val="FFFFFF"/>
          </a:solidFill>
          <a:ln w="45724">
            <a:solidFill>
              <a:srgbClr val="E6A064"/>
            </a:solidFill>
          </a:ln>
        </p:spPr>
        <p:txBody>
          <a:bodyPr vert="horz" wrap="square" lIns="0" tIns="124460" rIns="0" bIns="0" rtlCol="0">
            <a:spAutoFit/>
          </a:bodyPr>
          <a:lstStyle/>
          <a:p>
            <a:pPr>
              <a:spcBef>
                <a:spcPts val="980"/>
              </a:spcBef>
            </a:pPr>
            <a:endParaRPr sz="2133">
              <a:latin typeface="Times New Roman"/>
              <a:cs typeface="Times New Roman"/>
            </a:endParaRPr>
          </a:p>
          <a:p>
            <a:pPr algn="ctr">
              <a:lnSpc>
                <a:spcPct val="100000"/>
              </a:lnSpc>
            </a:pPr>
            <a:r>
              <a:rPr sz="2133" spc="20" dirty="0">
                <a:latin typeface="Lucida Sans Unicode"/>
                <a:cs typeface="Lucida Sans Unicode"/>
              </a:rPr>
              <a:t>S</a:t>
            </a:r>
            <a:endParaRPr sz="2133">
              <a:latin typeface="Lucida Sans Unicode"/>
              <a:cs typeface="Lucida Sans Unicode"/>
            </a:endParaRPr>
          </a:p>
        </p:txBody>
      </p:sp>
      <p:grpSp>
        <p:nvGrpSpPr>
          <p:cNvPr id="59" name="object 59"/>
          <p:cNvGrpSpPr/>
          <p:nvPr/>
        </p:nvGrpSpPr>
        <p:grpSpPr>
          <a:xfrm>
            <a:off x="2492936" y="2383057"/>
            <a:ext cx="7626773" cy="210820"/>
            <a:chOff x="1869702" y="1787292"/>
            <a:chExt cx="5720080" cy="158115"/>
          </a:xfrm>
        </p:grpSpPr>
        <p:sp>
          <p:nvSpPr>
            <p:cNvPr id="60" name="object 60"/>
            <p:cNvSpPr/>
            <p:nvPr/>
          </p:nvSpPr>
          <p:spPr>
            <a:xfrm>
              <a:off x="1874465"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1" name="object 61"/>
            <p:cNvSpPr/>
            <p:nvPr/>
          </p:nvSpPr>
          <p:spPr>
            <a:xfrm>
              <a:off x="1874465"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62" name="object 62"/>
            <p:cNvSpPr/>
            <p:nvPr/>
          </p:nvSpPr>
          <p:spPr>
            <a:xfrm>
              <a:off x="2678901"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3" name="object 63"/>
            <p:cNvSpPr/>
            <p:nvPr/>
          </p:nvSpPr>
          <p:spPr>
            <a:xfrm>
              <a:off x="2678901"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64" name="object 64"/>
            <p:cNvSpPr/>
            <p:nvPr/>
          </p:nvSpPr>
          <p:spPr>
            <a:xfrm>
              <a:off x="4280056"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5" name="object 65"/>
            <p:cNvSpPr/>
            <p:nvPr/>
          </p:nvSpPr>
          <p:spPr>
            <a:xfrm>
              <a:off x="4280056"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66" name="object 66"/>
            <p:cNvSpPr/>
            <p:nvPr/>
          </p:nvSpPr>
          <p:spPr>
            <a:xfrm>
              <a:off x="5087171"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7" name="object 67"/>
            <p:cNvSpPr/>
            <p:nvPr/>
          </p:nvSpPr>
          <p:spPr>
            <a:xfrm>
              <a:off x="5087171"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68" name="object 68"/>
            <p:cNvSpPr/>
            <p:nvPr/>
          </p:nvSpPr>
          <p:spPr>
            <a:xfrm>
              <a:off x="5889145"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9" name="object 69"/>
            <p:cNvSpPr/>
            <p:nvPr/>
          </p:nvSpPr>
          <p:spPr>
            <a:xfrm>
              <a:off x="5889145"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70" name="object 70"/>
            <p:cNvSpPr/>
            <p:nvPr/>
          </p:nvSpPr>
          <p:spPr>
            <a:xfrm>
              <a:off x="6689832"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1" name="object 71"/>
            <p:cNvSpPr/>
            <p:nvPr/>
          </p:nvSpPr>
          <p:spPr>
            <a:xfrm>
              <a:off x="6689832"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72" name="object 72"/>
            <p:cNvSpPr/>
            <p:nvPr/>
          </p:nvSpPr>
          <p:spPr>
            <a:xfrm>
              <a:off x="7493037"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3" name="object 73"/>
            <p:cNvSpPr/>
            <p:nvPr/>
          </p:nvSpPr>
          <p:spPr>
            <a:xfrm>
              <a:off x="7493037"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74" name="object 74"/>
            <p:cNvSpPr/>
            <p:nvPr/>
          </p:nvSpPr>
          <p:spPr>
            <a:xfrm>
              <a:off x="3481773"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5" name="object 75"/>
            <p:cNvSpPr/>
            <p:nvPr/>
          </p:nvSpPr>
          <p:spPr>
            <a:xfrm>
              <a:off x="3481773"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grpSp>
      <p:sp>
        <p:nvSpPr>
          <p:cNvPr id="76" name="object 76"/>
          <p:cNvSpPr txBox="1"/>
          <p:nvPr/>
        </p:nvSpPr>
        <p:spPr>
          <a:xfrm>
            <a:off x="8276387" y="3553900"/>
            <a:ext cx="1219200" cy="782137"/>
          </a:xfrm>
          <a:prstGeom prst="rect">
            <a:avLst/>
          </a:prstGeom>
          <a:solidFill>
            <a:srgbClr val="FFFFFF"/>
          </a:solidFill>
          <a:ln w="45724">
            <a:solidFill>
              <a:srgbClr val="B45F06"/>
            </a:solidFill>
          </a:ln>
        </p:spPr>
        <p:txBody>
          <a:bodyPr vert="horz" wrap="square" lIns="0" tIns="124460" rIns="0" bIns="0" rtlCol="0">
            <a:spAutoFit/>
          </a:bodyPr>
          <a:lstStyle/>
          <a:p>
            <a:pPr>
              <a:spcBef>
                <a:spcPts val="980"/>
              </a:spcBef>
            </a:pPr>
            <a:endParaRPr sz="2133">
              <a:latin typeface="Times New Roman"/>
              <a:cs typeface="Times New Roman"/>
            </a:endParaRPr>
          </a:p>
          <a:p>
            <a:pPr algn="ctr">
              <a:lnSpc>
                <a:spcPct val="100000"/>
              </a:lnSpc>
            </a:pPr>
            <a:r>
              <a:rPr sz="2133" spc="-67" dirty="0">
                <a:latin typeface="Lucida Sans Unicode"/>
                <a:cs typeface="Lucida Sans Unicode"/>
              </a:rPr>
              <a:t>A</a:t>
            </a:r>
            <a:endParaRPr sz="2133">
              <a:latin typeface="Lucida Sans Unicode"/>
              <a:cs typeface="Lucida Sans Unicode"/>
            </a:endParaRPr>
          </a:p>
        </p:txBody>
      </p:sp>
      <p:grpSp>
        <p:nvGrpSpPr>
          <p:cNvPr id="77" name="object 77"/>
          <p:cNvGrpSpPr/>
          <p:nvPr/>
        </p:nvGrpSpPr>
        <p:grpSpPr>
          <a:xfrm>
            <a:off x="6273429" y="3541324"/>
            <a:ext cx="501227" cy="501227"/>
            <a:chOff x="4705072" y="2655993"/>
            <a:chExt cx="375920" cy="375920"/>
          </a:xfrm>
        </p:grpSpPr>
        <p:sp>
          <p:nvSpPr>
            <p:cNvPr id="78" name="object 78"/>
            <p:cNvSpPr/>
            <p:nvPr/>
          </p:nvSpPr>
          <p:spPr>
            <a:xfrm>
              <a:off x="4709834" y="2660755"/>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79" name="object 79"/>
            <p:cNvSpPr/>
            <p:nvPr/>
          </p:nvSpPr>
          <p:spPr>
            <a:xfrm>
              <a:off x="4709834" y="2660755"/>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5AB46E"/>
              </a:solidFill>
            </a:ln>
          </p:spPr>
          <p:txBody>
            <a:bodyPr wrap="square" lIns="0" tIns="0" rIns="0" bIns="0" rtlCol="0"/>
            <a:lstStyle/>
            <a:p>
              <a:endParaRPr sz="2400"/>
            </a:p>
          </p:txBody>
        </p:sp>
      </p:grpSp>
      <p:sp>
        <p:nvSpPr>
          <p:cNvPr id="80" name="object 80"/>
          <p:cNvSpPr txBox="1"/>
          <p:nvPr/>
        </p:nvSpPr>
        <p:spPr>
          <a:xfrm>
            <a:off x="5100528" y="3601344"/>
            <a:ext cx="1532467" cy="345330"/>
          </a:xfrm>
          <a:prstGeom prst="rect">
            <a:avLst/>
          </a:prstGeom>
        </p:spPr>
        <p:txBody>
          <a:bodyPr vert="horz" wrap="square" lIns="0" tIns="16933" rIns="0" bIns="0" rtlCol="0">
            <a:spAutoFit/>
          </a:bodyPr>
          <a:lstStyle/>
          <a:p>
            <a:pPr>
              <a:spcBef>
                <a:spcPts val="133"/>
              </a:spcBef>
              <a:tabLst>
                <a:tab pos="683243" algn="l"/>
                <a:tab pos="1330925" algn="l"/>
              </a:tabLst>
            </a:pPr>
            <a:r>
              <a:rPr sz="2133" spc="-67" dirty="0">
                <a:latin typeface="Lucida Sans Unicode"/>
                <a:cs typeface="Lucida Sans Unicode"/>
              </a:rPr>
              <a:t>Q</a:t>
            </a:r>
            <a:r>
              <a:rPr sz="2133" dirty="0">
                <a:latin typeface="Lucida Sans Unicode"/>
                <a:cs typeface="Lucida Sans Unicode"/>
              </a:rPr>
              <a:t>	</a:t>
            </a:r>
            <a:r>
              <a:rPr sz="2133" spc="-67" dirty="0">
                <a:latin typeface="Lucida Sans Unicode"/>
                <a:cs typeface="Lucida Sans Unicode"/>
              </a:rPr>
              <a:t>K</a:t>
            </a:r>
            <a:r>
              <a:rPr sz="2133" dirty="0">
                <a:latin typeface="Lucida Sans Unicode"/>
                <a:cs typeface="Lucida Sans Unicode"/>
              </a:rPr>
              <a:t>	</a:t>
            </a:r>
            <a:r>
              <a:rPr sz="2133" spc="-67" dirty="0">
                <a:latin typeface="Lucida Sans Unicode"/>
                <a:cs typeface="Lucida Sans Unicode"/>
              </a:rPr>
              <a:t>V</a:t>
            </a:r>
            <a:endParaRPr sz="2133">
              <a:latin typeface="Lucida Sans Unicode"/>
              <a:cs typeface="Lucida Sans Unicode"/>
            </a:endParaRPr>
          </a:p>
        </p:txBody>
      </p:sp>
      <p:grpSp>
        <p:nvGrpSpPr>
          <p:cNvPr id="81" name="object 81"/>
          <p:cNvGrpSpPr/>
          <p:nvPr/>
        </p:nvGrpSpPr>
        <p:grpSpPr>
          <a:xfrm>
            <a:off x="2348483" y="2382088"/>
            <a:ext cx="7626773" cy="1172633"/>
            <a:chOff x="1761362" y="1786565"/>
            <a:chExt cx="5720080" cy="879475"/>
          </a:xfrm>
        </p:grpSpPr>
        <p:sp>
          <p:nvSpPr>
            <p:cNvPr id="82" name="object 82"/>
            <p:cNvSpPr/>
            <p:nvPr/>
          </p:nvSpPr>
          <p:spPr>
            <a:xfrm>
              <a:off x="1834922" y="1992134"/>
              <a:ext cx="3058160" cy="668655"/>
            </a:xfrm>
            <a:custGeom>
              <a:avLst/>
              <a:gdLst/>
              <a:ahLst/>
              <a:cxnLst/>
              <a:rect l="l" t="t" r="r" b="b"/>
              <a:pathLst>
                <a:path w="3058160" h="668655">
                  <a:moveTo>
                    <a:pt x="3057912" y="668620"/>
                  </a:moveTo>
                  <a:lnTo>
                    <a:pt x="3040451" y="622955"/>
                  </a:lnTo>
                  <a:lnTo>
                    <a:pt x="3010389" y="594666"/>
                  </a:lnTo>
                  <a:lnTo>
                    <a:pt x="2966687" y="567973"/>
                  </a:lnTo>
                  <a:lnTo>
                    <a:pt x="2910286" y="542766"/>
                  </a:lnTo>
                  <a:lnTo>
                    <a:pt x="2842127" y="518934"/>
                  </a:lnTo>
                  <a:lnTo>
                    <a:pt x="2803932" y="507500"/>
                  </a:lnTo>
                  <a:lnTo>
                    <a:pt x="2763150" y="496368"/>
                  </a:lnTo>
                  <a:lnTo>
                    <a:pt x="2719899" y="485526"/>
                  </a:lnTo>
                  <a:lnTo>
                    <a:pt x="2674296" y="474958"/>
                  </a:lnTo>
                  <a:lnTo>
                    <a:pt x="2626459" y="464652"/>
                  </a:lnTo>
                  <a:lnTo>
                    <a:pt x="2576506" y="454593"/>
                  </a:lnTo>
                  <a:lnTo>
                    <a:pt x="2524554" y="444769"/>
                  </a:lnTo>
                  <a:lnTo>
                    <a:pt x="2470720" y="435164"/>
                  </a:lnTo>
                  <a:lnTo>
                    <a:pt x="2415123" y="425766"/>
                  </a:lnTo>
                  <a:lnTo>
                    <a:pt x="2357879" y="416560"/>
                  </a:lnTo>
                  <a:lnTo>
                    <a:pt x="2299107" y="407533"/>
                  </a:lnTo>
                  <a:lnTo>
                    <a:pt x="2238924" y="398672"/>
                  </a:lnTo>
                  <a:lnTo>
                    <a:pt x="2177447" y="389961"/>
                  </a:lnTo>
                  <a:lnTo>
                    <a:pt x="2114795" y="381389"/>
                  </a:lnTo>
                  <a:lnTo>
                    <a:pt x="2051084" y="372940"/>
                  </a:lnTo>
                  <a:lnTo>
                    <a:pt x="1986433" y="364601"/>
                  </a:lnTo>
                  <a:lnTo>
                    <a:pt x="1920959" y="356358"/>
                  </a:lnTo>
                  <a:lnTo>
                    <a:pt x="1854779" y="348199"/>
                  </a:lnTo>
                  <a:lnTo>
                    <a:pt x="1788011" y="340107"/>
                  </a:lnTo>
                  <a:lnTo>
                    <a:pt x="1720773" y="332071"/>
                  </a:lnTo>
                  <a:lnTo>
                    <a:pt x="1653182" y="324077"/>
                  </a:lnTo>
                  <a:lnTo>
                    <a:pt x="1585356" y="316109"/>
                  </a:lnTo>
                  <a:lnTo>
                    <a:pt x="1517412" y="308156"/>
                  </a:lnTo>
                  <a:lnTo>
                    <a:pt x="1462405" y="301718"/>
                  </a:lnTo>
                  <a:lnTo>
                    <a:pt x="1407460" y="295273"/>
                  </a:lnTo>
                  <a:lnTo>
                    <a:pt x="1352639" y="288813"/>
                  </a:lnTo>
                  <a:lnTo>
                    <a:pt x="1298006" y="282332"/>
                  </a:lnTo>
                  <a:lnTo>
                    <a:pt x="1243623" y="275821"/>
                  </a:lnTo>
                  <a:lnTo>
                    <a:pt x="1189551" y="269274"/>
                  </a:lnTo>
                  <a:lnTo>
                    <a:pt x="1135853" y="262683"/>
                  </a:lnTo>
                  <a:lnTo>
                    <a:pt x="1082593" y="256041"/>
                  </a:lnTo>
                  <a:lnTo>
                    <a:pt x="1029831" y="249341"/>
                  </a:lnTo>
                  <a:lnTo>
                    <a:pt x="977630" y="242575"/>
                  </a:lnTo>
                  <a:lnTo>
                    <a:pt x="926054" y="235736"/>
                  </a:lnTo>
                  <a:lnTo>
                    <a:pt x="875163" y="228817"/>
                  </a:lnTo>
                  <a:lnTo>
                    <a:pt x="825021" y="221810"/>
                  </a:lnTo>
                  <a:lnTo>
                    <a:pt x="775690" y="214708"/>
                  </a:lnTo>
                  <a:lnTo>
                    <a:pt x="727233" y="207504"/>
                  </a:lnTo>
                  <a:lnTo>
                    <a:pt x="679711" y="200191"/>
                  </a:lnTo>
                  <a:lnTo>
                    <a:pt x="633187" y="192761"/>
                  </a:lnTo>
                  <a:lnTo>
                    <a:pt x="587723" y="185207"/>
                  </a:lnTo>
                  <a:lnTo>
                    <a:pt x="543382" y="177522"/>
                  </a:lnTo>
                  <a:lnTo>
                    <a:pt x="500227" y="169697"/>
                  </a:lnTo>
                  <a:lnTo>
                    <a:pt x="458319" y="161727"/>
                  </a:lnTo>
                  <a:lnTo>
                    <a:pt x="397932" y="149483"/>
                  </a:lnTo>
                  <a:lnTo>
                    <a:pt x="340704" y="136869"/>
                  </a:lnTo>
                  <a:lnTo>
                    <a:pt x="286844" y="123861"/>
                  </a:lnTo>
                  <a:lnTo>
                    <a:pt x="236563" y="110434"/>
                  </a:lnTo>
                  <a:lnTo>
                    <a:pt x="190072" y="96564"/>
                  </a:lnTo>
                  <a:lnTo>
                    <a:pt x="147580" y="82226"/>
                  </a:lnTo>
                  <a:lnTo>
                    <a:pt x="109299" y="67396"/>
                  </a:lnTo>
                  <a:lnTo>
                    <a:pt x="53072" y="40183"/>
                  </a:lnTo>
                  <a:lnTo>
                    <a:pt x="11513" y="11254"/>
                  </a:lnTo>
                  <a:lnTo>
                    <a:pt x="1713" y="1841"/>
                  </a:lnTo>
                  <a:lnTo>
                    <a:pt x="0" y="0"/>
                  </a:lnTo>
                </a:path>
              </a:pathLst>
            </a:custGeom>
            <a:ln w="9524">
              <a:solidFill>
                <a:srgbClr val="5AB46E"/>
              </a:solidFill>
            </a:ln>
          </p:spPr>
          <p:txBody>
            <a:bodyPr wrap="square" lIns="0" tIns="0" rIns="0" bIns="0" rtlCol="0"/>
            <a:lstStyle/>
            <a:p>
              <a:endParaRPr sz="2400"/>
            </a:p>
          </p:txBody>
        </p:sp>
        <p:sp>
          <p:nvSpPr>
            <p:cNvPr id="83" name="object 83"/>
            <p:cNvSpPr/>
            <p:nvPr/>
          </p:nvSpPr>
          <p:spPr>
            <a:xfrm>
              <a:off x="1817460" y="1952593"/>
              <a:ext cx="32384" cy="46355"/>
            </a:xfrm>
            <a:custGeom>
              <a:avLst/>
              <a:gdLst/>
              <a:ahLst/>
              <a:cxnLst/>
              <a:rect l="l" t="t" r="r" b="b"/>
              <a:pathLst>
                <a:path w="32385" h="46355">
                  <a:moveTo>
                    <a:pt x="3070" y="45896"/>
                  </a:moveTo>
                  <a:lnTo>
                    <a:pt x="0" y="0"/>
                  </a:lnTo>
                  <a:lnTo>
                    <a:pt x="31853" y="33185"/>
                  </a:lnTo>
                  <a:lnTo>
                    <a:pt x="3070" y="45896"/>
                  </a:lnTo>
                  <a:close/>
                </a:path>
              </a:pathLst>
            </a:custGeom>
            <a:solidFill>
              <a:srgbClr val="5AB46E"/>
            </a:solidFill>
          </p:spPr>
          <p:txBody>
            <a:bodyPr wrap="square" lIns="0" tIns="0" rIns="0" bIns="0" rtlCol="0"/>
            <a:lstStyle/>
            <a:p>
              <a:endParaRPr sz="2400"/>
            </a:p>
          </p:txBody>
        </p:sp>
        <p:sp>
          <p:nvSpPr>
            <p:cNvPr id="84" name="object 84"/>
            <p:cNvSpPr/>
            <p:nvPr/>
          </p:nvSpPr>
          <p:spPr>
            <a:xfrm>
              <a:off x="1817460" y="1952593"/>
              <a:ext cx="32384" cy="46355"/>
            </a:xfrm>
            <a:custGeom>
              <a:avLst/>
              <a:gdLst/>
              <a:ahLst/>
              <a:cxnLst/>
              <a:rect l="l" t="t" r="r" b="b"/>
              <a:pathLst>
                <a:path w="32385" h="46355">
                  <a:moveTo>
                    <a:pt x="31853" y="33185"/>
                  </a:moveTo>
                  <a:lnTo>
                    <a:pt x="0" y="0"/>
                  </a:lnTo>
                  <a:lnTo>
                    <a:pt x="3070" y="45896"/>
                  </a:lnTo>
                  <a:lnTo>
                    <a:pt x="31853" y="33185"/>
                  </a:lnTo>
                  <a:close/>
                </a:path>
              </a:pathLst>
            </a:custGeom>
            <a:ln w="9524">
              <a:solidFill>
                <a:srgbClr val="5AB46E"/>
              </a:solidFill>
            </a:ln>
          </p:spPr>
          <p:txBody>
            <a:bodyPr wrap="square" lIns="0" tIns="0" rIns="0" bIns="0" rtlCol="0"/>
            <a:lstStyle/>
            <a:p>
              <a:endParaRPr sz="2400"/>
            </a:p>
          </p:txBody>
        </p:sp>
        <p:sp>
          <p:nvSpPr>
            <p:cNvPr id="85" name="object 85"/>
            <p:cNvSpPr/>
            <p:nvPr/>
          </p:nvSpPr>
          <p:spPr>
            <a:xfrm>
              <a:off x="2634765" y="1993986"/>
              <a:ext cx="2258695" cy="667385"/>
            </a:xfrm>
            <a:custGeom>
              <a:avLst/>
              <a:gdLst/>
              <a:ahLst/>
              <a:cxnLst/>
              <a:rect l="l" t="t" r="r" b="b"/>
              <a:pathLst>
                <a:path w="2258695" h="667385">
                  <a:moveTo>
                    <a:pt x="2258068" y="666769"/>
                  </a:moveTo>
                  <a:lnTo>
                    <a:pt x="2248225" y="626736"/>
                  </a:lnTo>
                  <a:lnTo>
                    <a:pt x="2219731" y="589655"/>
                  </a:lnTo>
                  <a:lnTo>
                    <a:pt x="2174141" y="555282"/>
                  </a:lnTo>
                  <a:lnTo>
                    <a:pt x="2113009" y="523370"/>
                  </a:lnTo>
                  <a:lnTo>
                    <a:pt x="2077100" y="508260"/>
                  </a:lnTo>
                  <a:lnTo>
                    <a:pt x="2037889" y="493673"/>
                  </a:lnTo>
                  <a:lnTo>
                    <a:pt x="1995569" y="479578"/>
                  </a:lnTo>
                  <a:lnTo>
                    <a:pt x="1950335" y="465945"/>
                  </a:lnTo>
                  <a:lnTo>
                    <a:pt x="1902381" y="452742"/>
                  </a:lnTo>
                  <a:lnTo>
                    <a:pt x="1851902" y="439939"/>
                  </a:lnTo>
                  <a:lnTo>
                    <a:pt x="1799091" y="427506"/>
                  </a:lnTo>
                  <a:lnTo>
                    <a:pt x="1744143" y="415410"/>
                  </a:lnTo>
                  <a:lnTo>
                    <a:pt x="1687252" y="403623"/>
                  </a:lnTo>
                  <a:lnTo>
                    <a:pt x="1628613" y="392112"/>
                  </a:lnTo>
                  <a:lnTo>
                    <a:pt x="1568420" y="380848"/>
                  </a:lnTo>
                  <a:lnTo>
                    <a:pt x="1506867" y="369799"/>
                  </a:lnTo>
                  <a:lnTo>
                    <a:pt x="1444148" y="358934"/>
                  </a:lnTo>
                  <a:lnTo>
                    <a:pt x="1380458" y="348224"/>
                  </a:lnTo>
                  <a:lnTo>
                    <a:pt x="1315990" y="337636"/>
                  </a:lnTo>
                  <a:lnTo>
                    <a:pt x="1250940" y="327141"/>
                  </a:lnTo>
                  <a:lnTo>
                    <a:pt x="1185502" y="316708"/>
                  </a:lnTo>
                  <a:lnTo>
                    <a:pt x="1119868" y="306305"/>
                  </a:lnTo>
                  <a:lnTo>
                    <a:pt x="1066533" y="297854"/>
                  </a:lnTo>
                  <a:lnTo>
                    <a:pt x="1013301" y="289387"/>
                  </a:lnTo>
                  <a:lnTo>
                    <a:pt x="960278" y="280887"/>
                  </a:lnTo>
                  <a:lnTo>
                    <a:pt x="907568" y="272337"/>
                  </a:lnTo>
                  <a:lnTo>
                    <a:pt x="855274" y="263721"/>
                  </a:lnTo>
                  <a:lnTo>
                    <a:pt x="803501" y="255023"/>
                  </a:lnTo>
                  <a:lnTo>
                    <a:pt x="752354" y="246226"/>
                  </a:lnTo>
                  <a:lnTo>
                    <a:pt x="701936" y="237314"/>
                  </a:lnTo>
                  <a:lnTo>
                    <a:pt x="652351" y="228269"/>
                  </a:lnTo>
                  <a:lnTo>
                    <a:pt x="603705" y="219076"/>
                  </a:lnTo>
                  <a:lnTo>
                    <a:pt x="556101" y="209718"/>
                  </a:lnTo>
                  <a:lnTo>
                    <a:pt x="509642" y="200179"/>
                  </a:lnTo>
                  <a:lnTo>
                    <a:pt x="464435" y="190441"/>
                  </a:lnTo>
                  <a:lnTo>
                    <a:pt x="420582" y="180489"/>
                  </a:lnTo>
                  <a:lnTo>
                    <a:pt x="378187" y="170307"/>
                  </a:lnTo>
                  <a:lnTo>
                    <a:pt x="337356" y="159876"/>
                  </a:lnTo>
                  <a:lnTo>
                    <a:pt x="275538" y="142632"/>
                  </a:lnTo>
                  <a:lnTo>
                    <a:pt x="218414" y="124644"/>
                  </a:lnTo>
                  <a:lnTo>
                    <a:pt x="166413" y="105845"/>
                  </a:lnTo>
                  <a:lnTo>
                    <a:pt x="119960" y="86168"/>
                  </a:lnTo>
                  <a:lnTo>
                    <a:pt x="79483" y="65544"/>
                  </a:lnTo>
                  <a:lnTo>
                    <a:pt x="37939" y="38332"/>
                  </a:lnTo>
                  <a:lnTo>
                    <a:pt x="7234" y="9403"/>
                  </a:lnTo>
                  <a:lnTo>
                    <a:pt x="1348" y="1887"/>
                  </a:lnTo>
                  <a:lnTo>
                    <a:pt x="0" y="0"/>
                  </a:lnTo>
                </a:path>
              </a:pathLst>
            </a:custGeom>
            <a:ln w="9524">
              <a:solidFill>
                <a:srgbClr val="5AB46E"/>
              </a:solidFill>
            </a:ln>
          </p:spPr>
          <p:txBody>
            <a:bodyPr wrap="square" lIns="0" tIns="0" rIns="0" bIns="0" rtlCol="0"/>
            <a:lstStyle/>
            <a:p>
              <a:endParaRPr sz="2400"/>
            </a:p>
          </p:txBody>
        </p:sp>
        <p:sp>
          <p:nvSpPr>
            <p:cNvPr id="86" name="object 86"/>
            <p:cNvSpPr/>
            <p:nvPr/>
          </p:nvSpPr>
          <p:spPr>
            <a:xfrm>
              <a:off x="2619864" y="1953044"/>
              <a:ext cx="29845" cy="46355"/>
            </a:xfrm>
            <a:custGeom>
              <a:avLst/>
              <a:gdLst/>
              <a:ahLst/>
              <a:cxnLst/>
              <a:rect l="l" t="t" r="r" b="b"/>
              <a:pathLst>
                <a:path w="29844" h="46355">
                  <a:moveTo>
                    <a:pt x="0" y="45987"/>
                  </a:moveTo>
                  <a:lnTo>
                    <a:pt x="1036" y="0"/>
                  </a:lnTo>
                  <a:lnTo>
                    <a:pt x="29802" y="35895"/>
                  </a:lnTo>
                  <a:lnTo>
                    <a:pt x="0" y="45987"/>
                  </a:lnTo>
                  <a:close/>
                </a:path>
              </a:pathLst>
            </a:custGeom>
            <a:solidFill>
              <a:srgbClr val="5AB46E"/>
            </a:solidFill>
          </p:spPr>
          <p:txBody>
            <a:bodyPr wrap="square" lIns="0" tIns="0" rIns="0" bIns="0" rtlCol="0"/>
            <a:lstStyle/>
            <a:p>
              <a:endParaRPr sz="2400"/>
            </a:p>
          </p:txBody>
        </p:sp>
        <p:sp>
          <p:nvSpPr>
            <p:cNvPr id="87" name="object 87"/>
            <p:cNvSpPr/>
            <p:nvPr/>
          </p:nvSpPr>
          <p:spPr>
            <a:xfrm>
              <a:off x="2619864" y="1953044"/>
              <a:ext cx="29845" cy="46355"/>
            </a:xfrm>
            <a:custGeom>
              <a:avLst/>
              <a:gdLst/>
              <a:ahLst/>
              <a:cxnLst/>
              <a:rect l="l" t="t" r="r" b="b"/>
              <a:pathLst>
                <a:path w="29844" h="46355">
                  <a:moveTo>
                    <a:pt x="29802" y="35895"/>
                  </a:moveTo>
                  <a:lnTo>
                    <a:pt x="1036" y="0"/>
                  </a:lnTo>
                  <a:lnTo>
                    <a:pt x="0" y="45987"/>
                  </a:lnTo>
                  <a:lnTo>
                    <a:pt x="29802" y="35895"/>
                  </a:lnTo>
                  <a:close/>
                </a:path>
              </a:pathLst>
            </a:custGeom>
            <a:ln w="9524">
              <a:solidFill>
                <a:srgbClr val="5AB46E"/>
              </a:solidFill>
            </a:ln>
          </p:spPr>
          <p:txBody>
            <a:bodyPr wrap="square" lIns="0" tIns="0" rIns="0" bIns="0" rtlCol="0"/>
            <a:lstStyle/>
            <a:p>
              <a:endParaRPr sz="2400"/>
            </a:p>
          </p:txBody>
        </p:sp>
        <p:sp>
          <p:nvSpPr>
            <p:cNvPr id="88" name="object 88"/>
            <p:cNvSpPr/>
            <p:nvPr/>
          </p:nvSpPr>
          <p:spPr>
            <a:xfrm>
              <a:off x="4228313" y="1996692"/>
              <a:ext cx="664845" cy="664210"/>
            </a:xfrm>
            <a:custGeom>
              <a:avLst/>
              <a:gdLst/>
              <a:ahLst/>
              <a:cxnLst/>
              <a:rect l="l" t="t" r="r" b="b"/>
              <a:pathLst>
                <a:path w="664845" h="664210">
                  <a:moveTo>
                    <a:pt x="664521" y="664063"/>
                  </a:moveTo>
                  <a:lnTo>
                    <a:pt x="660491" y="617075"/>
                  </a:lnTo>
                  <a:lnTo>
                    <a:pt x="648904" y="574150"/>
                  </a:lnTo>
                  <a:lnTo>
                    <a:pt x="630517" y="534880"/>
                  </a:lnTo>
                  <a:lnTo>
                    <a:pt x="606085" y="498861"/>
                  </a:lnTo>
                  <a:lnTo>
                    <a:pt x="576363" y="465685"/>
                  </a:lnTo>
                  <a:lnTo>
                    <a:pt x="542108" y="434946"/>
                  </a:lnTo>
                  <a:lnTo>
                    <a:pt x="504074" y="406239"/>
                  </a:lnTo>
                  <a:lnTo>
                    <a:pt x="463018" y="379157"/>
                  </a:lnTo>
                  <a:lnTo>
                    <a:pt x="419695" y="353293"/>
                  </a:lnTo>
                  <a:lnTo>
                    <a:pt x="374861" y="328243"/>
                  </a:lnTo>
                  <a:lnTo>
                    <a:pt x="329271" y="303599"/>
                  </a:lnTo>
                  <a:lnTo>
                    <a:pt x="279151" y="276475"/>
                  </a:lnTo>
                  <a:lnTo>
                    <a:pt x="230037" y="248811"/>
                  </a:lnTo>
                  <a:lnTo>
                    <a:pt x="182934" y="220066"/>
                  </a:lnTo>
                  <a:lnTo>
                    <a:pt x="138849" y="189699"/>
                  </a:lnTo>
                  <a:lnTo>
                    <a:pt x="98786" y="157170"/>
                  </a:lnTo>
                  <a:lnTo>
                    <a:pt x="55898" y="112644"/>
                  </a:lnTo>
                  <a:lnTo>
                    <a:pt x="22831" y="62838"/>
                  </a:lnTo>
                  <a:lnTo>
                    <a:pt x="5659" y="21384"/>
                  </a:lnTo>
                  <a:lnTo>
                    <a:pt x="657" y="2953"/>
                  </a:lnTo>
                  <a:lnTo>
                    <a:pt x="0" y="0"/>
                  </a:lnTo>
                </a:path>
              </a:pathLst>
            </a:custGeom>
            <a:ln w="9524">
              <a:solidFill>
                <a:srgbClr val="5AB46E"/>
              </a:solidFill>
            </a:ln>
          </p:spPr>
          <p:txBody>
            <a:bodyPr wrap="square" lIns="0" tIns="0" rIns="0" bIns="0" rtlCol="0"/>
            <a:lstStyle/>
            <a:p>
              <a:endParaRPr sz="2400"/>
            </a:p>
          </p:txBody>
        </p:sp>
        <p:sp>
          <p:nvSpPr>
            <p:cNvPr id="89" name="object 89"/>
            <p:cNvSpPr/>
            <p:nvPr/>
          </p:nvSpPr>
          <p:spPr>
            <a:xfrm>
              <a:off x="4212667" y="1953704"/>
              <a:ext cx="31750" cy="45085"/>
            </a:xfrm>
            <a:custGeom>
              <a:avLst/>
              <a:gdLst/>
              <a:ahLst/>
              <a:cxnLst/>
              <a:rect l="l" t="t" r="r" b="b"/>
              <a:pathLst>
                <a:path w="31750" h="45085">
                  <a:moveTo>
                    <a:pt x="0" y="44633"/>
                  </a:moveTo>
                  <a:lnTo>
                    <a:pt x="11124" y="0"/>
                  </a:lnTo>
                  <a:lnTo>
                    <a:pt x="31292" y="41342"/>
                  </a:lnTo>
                  <a:lnTo>
                    <a:pt x="0" y="44633"/>
                  </a:lnTo>
                  <a:close/>
                </a:path>
              </a:pathLst>
            </a:custGeom>
            <a:solidFill>
              <a:srgbClr val="5AB46E"/>
            </a:solidFill>
          </p:spPr>
          <p:txBody>
            <a:bodyPr wrap="square" lIns="0" tIns="0" rIns="0" bIns="0" rtlCol="0"/>
            <a:lstStyle/>
            <a:p>
              <a:endParaRPr sz="2400"/>
            </a:p>
          </p:txBody>
        </p:sp>
        <p:sp>
          <p:nvSpPr>
            <p:cNvPr id="90" name="object 90"/>
            <p:cNvSpPr/>
            <p:nvPr/>
          </p:nvSpPr>
          <p:spPr>
            <a:xfrm>
              <a:off x="4212667" y="1953704"/>
              <a:ext cx="31750" cy="45085"/>
            </a:xfrm>
            <a:custGeom>
              <a:avLst/>
              <a:gdLst/>
              <a:ahLst/>
              <a:cxnLst/>
              <a:rect l="l" t="t" r="r" b="b"/>
              <a:pathLst>
                <a:path w="31750" h="45085">
                  <a:moveTo>
                    <a:pt x="31292" y="41342"/>
                  </a:moveTo>
                  <a:lnTo>
                    <a:pt x="11124" y="0"/>
                  </a:lnTo>
                  <a:lnTo>
                    <a:pt x="0" y="44633"/>
                  </a:lnTo>
                  <a:lnTo>
                    <a:pt x="31292" y="41342"/>
                  </a:lnTo>
                  <a:close/>
                </a:path>
              </a:pathLst>
            </a:custGeom>
            <a:ln w="9524">
              <a:solidFill>
                <a:srgbClr val="5AB46E"/>
              </a:solidFill>
            </a:ln>
          </p:spPr>
          <p:txBody>
            <a:bodyPr wrap="square" lIns="0" tIns="0" rIns="0" bIns="0" rtlCol="0"/>
            <a:lstStyle/>
            <a:p>
              <a:endParaRPr sz="2400"/>
            </a:p>
          </p:txBody>
        </p:sp>
        <p:sp>
          <p:nvSpPr>
            <p:cNvPr id="91" name="object 91"/>
            <p:cNvSpPr/>
            <p:nvPr/>
          </p:nvSpPr>
          <p:spPr>
            <a:xfrm>
              <a:off x="3431848" y="1995596"/>
              <a:ext cx="1461135" cy="665480"/>
            </a:xfrm>
            <a:custGeom>
              <a:avLst/>
              <a:gdLst/>
              <a:ahLst/>
              <a:cxnLst/>
              <a:rect l="l" t="t" r="r" b="b"/>
              <a:pathLst>
                <a:path w="1461135" h="665480">
                  <a:moveTo>
                    <a:pt x="1460986" y="665159"/>
                  </a:moveTo>
                  <a:lnTo>
                    <a:pt x="1447847" y="608295"/>
                  </a:lnTo>
                  <a:lnTo>
                    <a:pt x="1410451" y="557365"/>
                  </a:lnTo>
                  <a:lnTo>
                    <a:pt x="1351830" y="511627"/>
                  </a:lnTo>
                  <a:lnTo>
                    <a:pt x="1315508" y="490473"/>
                  </a:lnTo>
                  <a:lnTo>
                    <a:pt x="1275017" y="470339"/>
                  </a:lnTo>
                  <a:lnTo>
                    <a:pt x="1230736" y="451132"/>
                  </a:lnTo>
                  <a:lnTo>
                    <a:pt x="1183043" y="432759"/>
                  </a:lnTo>
                  <a:lnTo>
                    <a:pt x="1132319" y="415128"/>
                  </a:lnTo>
                  <a:lnTo>
                    <a:pt x="1078941" y="398147"/>
                  </a:lnTo>
                  <a:lnTo>
                    <a:pt x="1023290" y="381721"/>
                  </a:lnTo>
                  <a:lnTo>
                    <a:pt x="965743" y="365759"/>
                  </a:lnTo>
                  <a:lnTo>
                    <a:pt x="906680" y="350168"/>
                  </a:lnTo>
                  <a:lnTo>
                    <a:pt x="846480" y="334856"/>
                  </a:lnTo>
                  <a:lnTo>
                    <a:pt x="785523" y="319729"/>
                  </a:lnTo>
                  <a:lnTo>
                    <a:pt x="724186" y="304694"/>
                  </a:lnTo>
                  <a:lnTo>
                    <a:pt x="668972" y="291166"/>
                  </a:lnTo>
                  <a:lnTo>
                    <a:pt x="614034" y="277571"/>
                  </a:lnTo>
                  <a:lnTo>
                    <a:pt x="559649" y="263840"/>
                  </a:lnTo>
                  <a:lnTo>
                    <a:pt x="506093" y="249907"/>
                  </a:lnTo>
                  <a:lnTo>
                    <a:pt x="453642" y="235703"/>
                  </a:lnTo>
                  <a:lnTo>
                    <a:pt x="402573" y="221162"/>
                  </a:lnTo>
                  <a:lnTo>
                    <a:pt x="353161" y="206215"/>
                  </a:lnTo>
                  <a:lnTo>
                    <a:pt x="305683" y="190795"/>
                  </a:lnTo>
                  <a:lnTo>
                    <a:pt x="260416" y="174835"/>
                  </a:lnTo>
                  <a:lnTo>
                    <a:pt x="217636" y="158266"/>
                  </a:lnTo>
                  <a:lnTo>
                    <a:pt x="168078" y="136597"/>
                  </a:lnTo>
                  <a:lnTo>
                    <a:pt x="123377" y="113740"/>
                  </a:lnTo>
                  <a:lnTo>
                    <a:pt x="84073" y="89563"/>
                  </a:lnTo>
                  <a:lnTo>
                    <a:pt x="50705" y="63934"/>
                  </a:lnTo>
                  <a:lnTo>
                    <a:pt x="23812" y="36721"/>
                  </a:lnTo>
                  <a:lnTo>
                    <a:pt x="1316" y="2801"/>
                  </a:lnTo>
                  <a:lnTo>
                    <a:pt x="125" y="277"/>
                  </a:lnTo>
                  <a:lnTo>
                    <a:pt x="0" y="0"/>
                  </a:lnTo>
                </a:path>
              </a:pathLst>
            </a:custGeom>
            <a:ln w="9524">
              <a:solidFill>
                <a:srgbClr val="5AB46E"/>
              </a:solidFill>
            </a:ln>
          </p:spPr>
          <p:txBody>
            <a:bodyPr wrap="square" lIns="0" tIns="0" rIns="0" bIns="0" rtlCol="0"/>
            <a:lstStyle/>
            <a:p>
              <a:endParaRPr sz="2400"/>
            </a:p>
          </p:txBody>
        </p:sp>
        <p:sp>
          <p:nvSpPr>
            <p:cNvPr id="92" name="object 92"/>
            <p:cNvSpPr/>
            <p:nvPr/>
          </p:nvSpPr>
          <p:spPr>
            <a:xfrm>
              <a:off x="3416503" y="1953437"/>
              <a:ext cx="31115" cy="45720"/>
            </a:xfrm>
            <a:custGeom>
              <a:avLst/>
              <a:gdLst/>
              <a:ahLst/>
              <a:cxnLst/>
              <a:rect l="l" t="t" r="r" b="b"/>
              <a:pathLst>
                <a:path w="31114" h="45719">
                  <a:moveTo>
                    <a:pt x="0" y="45631"/>
                  </a:moveTo>
                  <a:lnTo>
                    <a:pt x="5804" y="0"/>
                  </a:lnTo>
                  <a:lnTo>
                    <a:pt x="30689" y="38687"/>
                  </a:lnTo>
                  <a:lnTo>
                    <a:pt x="0" y="45631"/>
                  </a:lnTo>
                  <a:close/>
                </a:path>
              </a:pathLst>
            </a:custGeom>
            <a:solidFill>
              <a:srgbClr val="5AB46E"/>
            </a:solidFill>
          </p:spPr>
          <p:txBody>
            <a:bodyPr wrap="square" lIns="0" tIns="0" rIns="0" bIns="0" rtlCol="0"/>
            <a:lstStyle/>
            <a:p>
              <a:endParaRPr sz="2400"/>
            </a:p>
          </p:txBody>
        </p:sp>
        <p:sp>
          <p:nvSpPr>
            <p:cNvPr id="93" name="object 93"/>
            <p:cNvSpPr/>
            <p:nvPr/>
          </p:nvSpPr>
          <p:spPr>
            <a:xfrm>
              <a:off x="3416503" y="1953437"/>
              <a:ext cx="31115" cy="45720"/>
            </a:xfrm>
            <a:custGeom>
              <a:avLst/>
              <a:gdLst/>
              <a:ahLst/>
              <a:cxnLst/>
              <a:rect l="l" t="t" r="r" b="b"/>
              <a:pathLst>
                <a:path w="31114" h="45719">
                  <a:moveTo>
                    <a:pt x="30689" y="38687"/>
                  </a:moveTo>
                  <a:lnTo>
                    <a:pt x="5804" y="0"/>
                  </a:lnTo>
                  <a:lnTo>
                    <a:pt x="0" y="45631"/>
                  </a:lnTo>
                  <a:lnTo>
                    <a:pt x="30689" y="38687"/>
                  </a:lnTo>
                  <a:close/>
                </a:path>
              </a:pathLst>
            </a:custGeom>
            <a:ln w="9524">
              <a:solidFill>
                <a:srgbClr val="5AB46E"/>
              </a:solidFill>
            </a:ln>
          </p:spPr>
          <p:txBody>
            <a:bodyPr wrap="square" lIns="0" tIns="0" rIns="0" bIns="0" rtlCol="0"/>
            <a:lstStyle/>
            <a:p>
              <a:endParaRPr sz="2400"/>
            </a:p>
          </p:txBody>
        </p:sp>
        <p:sp>
          <p:nvSpPr>
            <p:cNvPr id="94" name="object 94"/>
            <p:cNvSpPr/>
            <p:nvPr/>
          </p:nvSpPr>
          <p:spPr>
            <a:xfrm>
              <a:off x="4892834" y="1996993"/>
              <a:ext cx="130810" cy="664210"/>
            </a:xfrm>
            <a:custGeom>
              <a:avLst/>
              <a:gdLst/>
              <a:ahLst/>
              <a:cxnLst/>
              <a:rect l="l" t="t" r="r" b="b"/>
              <a:pathLst>
                <a:path w="130810" h="664210">
                  <a:moveTo>
                    <a:pt x="0" y="663762"/>
                  </a:moveTo>
                  <a:lnTo>
                    <a:pt x="1919" y="591774"/>
                  </a:lnTo>
                  <a:lnTo>
                    <a:pt x="7295" y="529244"/>
                  </a:lnTo>
                  <a:lnTo>
                    <a:pt x="15550" y="474596"/>
                  </a:lnTo>
                  <a:lnTo>
                    <a:pt x="26109" y="426253"/>
                  </a:lnTo>
                  <a:lnTo>
                    <a:pt x="38396" y="382640"/>
                  </a:lnTo>
                  <a:lnTo>
                    <a:pt x="51835" y="342180"/>
                  </a:lnTo>
                  <a:lnTo>
                    <a:pt x="65849" y="303297"/>
                  </a:lnTo>
                  <a:lnTo>
                    <a:pt x="78132" y="269330"/>
                  </a:lnTo>
                  <a:lnTo>
                    <a:pt x="90029" y="234306"/>
                  </a:lnTo>
                  <a:lnTo>
                    <a:pt x="101154" y="197171"/>
                  </a:lnTo>
                  <a:lnTo>
                    <a:pt x="111121" y="156869"/>
                  </a:lnTo>
                  <a:lnTo>
                    <a:pt x="119546" y="112343"/>
                  </a:lnTo>
                  <a:lnTo>
                    <a:pt x="126041" y="62537"/>
                  </a:lnTo>
                  <a:lnTo>
                    <a:pt x="129414" y="21083"/>
                  </a:lnTo>
                  <a:lnTo>
                    <a:pt x="130221" y="6395"/>
                  </a:lnTo>
                  <a:lnTo>
                    <a:pt x="130510" y="0"/>
                  </a:lnTo>
                </a:path>
              </a:pathLst>
            </a:custGeom>
            <a:ln w="9524">
              <a:solidFill>
                <a:srgbClr val="5AB46E"/>
              </a:solidFill>
            </a:ln>
          </p:spPr>
          <p:txBody>
            <a:bodyPr wrap="square" lIns="0" tIns="0" rIns="0" bIns="0" rtlCol="0"/>
            <a:lstStyle/>
            <a:p>
              <a:endParaRPr sz="2400"/>
            </a:p>
          </p:txBody>
        </p:sp>
        <p:sp>
          <p:nvSpPr>
            <p:cNvPr id="95" name="object 95"/>
            <p:cNvSpPr/>
            <p:nvPr/>
          </p:nvSpPr>
          <p:spPr>
            <a:xfrm>
              <a:off x="5007616" y="1953777"/>
              <a:ext cx="31750" cy="43815"/>
            </a:xfrm>
            <a:custGeom>
              <a:avLst/>
              <a:gdLst/>
              <a:ahLst/>
              <a:cxnLst/>
              <a:rect l="l" t="t" r="r" b="b"/>
              <a:pathLst>
                <a:path w="31750" h="43814">
                  <a:moveTo>
                    <a:pt x="31458" y="43543"/>
                  </a:moveTo>
                  <a:lnTo>
                    <a:pt x="0" y="42888"/>
                  </a:lnTo>
                  <a:lnTo>
                    <a:pt x="16628" y="0"/>
                  </a:lnTo>
                  <a:lnTo>
                    <a:pt x="31458" y="43543"/>
                  </a:lnTo>
                  <a:close/>
                </a:path>
              </a:pathLst>
            </a:custGeom>
            <a:solidFill>
              <a:srgbClr val="5AB46E"/>
            </a:solidFill>
          </p:spPr>
          <p:txBody>
            <a:bodyPr wrap="square" lIns="0" tIns="0" rIns="0" bIns="0" rtlCol="0"/>
            <a:lstStyle/>
            <a:p>
              <a:endParaRPr sz="2400"/>
            </a:p>
          </p:txBody>
        </p:sp>
        <p:sp>
          <p:nvSpPr>
            <p:cNvPr id="96" name="object 96"/>
            <p:cNvSpPr/>
            <p:nvPr/>
          </p:nvSpPr>
          <p:spPr>
            <a:xfrm>
              <a:off x="5007616" y="1953777"/>
              <a:ext cx="31750" cy="43815"/>
            </a:xfrm>
            <a:custGeom>
              <a:avLst/>
              <a:gdLst/>
              <a:ahLst/>
              <a:cxnLst/>
              <a:rect l="l" t="t" r="r" b="b"/>
              <a:pathLst>
                <a:path w="31750" h="43814">
                  <a:moveTo>
                    <a:pt x="31458" y="43543"/>
                  </a:moveTo>
                  <a:lnTo>
                    <a:pt x="16628" y="0"/>
                  </a:lnTo>
                  <a:lnTo>
                    <a:pt x="0" y="42888"/>
                  </a:lnTo>
                  <a:lnTo>
                    <a:pt x="31458" y="43543"/>
                  </a:lnTo>
                  <a:close/>
                </a:path>
              </a:pathLst>
            </a:custGeom>
            <a:ln w="9524">
              <a:solidFill>
                <a:srgbClr val="5AB46E"/>
              </a:solidFill>
            </a:ln>
          </p:spPr>
          <p:txBody>
            <a:bodyPr wrap="square" lIns="0" tIns="0" rIns="0" bIns="0" rtlCol="0"/>
            <a:lstStyle/>
            <a:p>
              <a:endParaRPr sz="2400"/>
            </a:p>
          </p:txBody>
        </p:sp>
        <p:sp>
          <p:nvSpPr>
            <p:cNvPr id="97" name="object 97"/>
            <p:cNvSpPr/>
            <p:nvPr/>
          </p:nvSpPr>
          <p:spPr>
            <a:xfrm>
              <a:off x="4892834" y="1996409"/>
              <a:ext cx="925830" cy="664845"/>
            </a:xfrm>
            <a:custGeom>
              <a:avLst/>
              <a:gdLst/>
              <a:ahLst/>
              <a:cxnLst/>
              <a:rect l="l" t="t" r="r" b="b"/>
              <a:pathLst>
                <a:path w="925829" h="664844">
                  <a:moveTo>
                    <a:pt x="0" y="664346"/>
                  </a:moveTo>
                  <a:lnTo>
                    <a:pt x="4036" y="624313"/>
                  </a:lnTo>
                  <a:lnTo>
                    <a:pt x="15722" y="587232"/>
                  </a:lnTo>
                  <a:lnTo>
                    <a:pt x="34420" y="552859"/>
                  </a:lnTo>
                  <a:lnTo>
                    <a:pt x="59492" y="520947"/>
                  </a:lnTo>
                  <a:lnTo>
                    <a:pt x="90300" y="491250"/>
                  </a:lnTo>
                  <a:lnTo>
                    <a:pt x="126208" y="463522"/>
                  </a:lnTo>
                  <a:lnTo>
                    <a:pt x="166577" y="437516"/>
                  </a:lnTo>
                  <a:lnTo>
                    <a:pt x="210771" y="412987"/>
                  </a:lnTo>
                  <a:lnTo>
                    <a:pt x="258152" y="389689"/>
                  </a:lnTo>
                  <a:lnTo>
                    <a:pt x="308083" y="367376"/>
                  </a:lnTo>
                  <a:lnTo>
                    <a:pt x="359926" y="345801"/>
                  </a:lnTo>
                  <a:lnTo>
                    <a:pt x="413044" y="324718"/>
                  </a:lnTo>
                  <a:lnTo>
                    <a:pt x="466799" y="303882"/>
                  </a:lnTo>
                  <a:lnTo>
                    <a:pt x="516729" y="284539"/>
                  </a:lnTo>
                  <a:lnTo>
                    <a:pt x="566148" y="265000"/>
                  </a:lnTo>
                  <a:lnTo>
                    <a:pt x="614546" y="245066"/>
                  </a:lnTo>
                  <a:lnTo>
                    <a:pt x="661413" y="224542"/>
                  </a:lnTo>
                  <a:lnTo>
                    <a:pt x="706239" y="203230"/>
                  </a:lnTo>
                  <a:lnTo>
                    <a:pt x="748513" y="180933"/>
                  </a:lnTo>
                  <a:lnTo>
                    <a:pt x="787724" y="157453"/>
                  </a:lnTo>
                  <a:lnTo>
                    <a:pt x="819122" y="135784"/>
                  </a:lnTo>
                  <a:lnTo>
                    <a:pt x="872344" y="88750"/>
                  </a:lnTo>
                  <a:lnTo>
                    <a:pt x="902537" y="49721"/>
                  </a:lnTo>
                  <a:lnTo>
                    <a:pt x="923115" y="6980"/>
                  </a:lnTo>
                  <a:lnTo>
                    <a:pt x="924359" y="3236"/>
                  </a:lnTo>
                  <a:lnTo>
                    <a:pt x="925362" y="0"/>
                  </a:lnTo>
                </a:path>
              </a:pathLst>
            </a:custGeom>
            <a:ln w="9524">
              <a:solidFill>
                <a:srgbClr val="5AB46E"/>
              </a:solidFill>
            </a:ln>
          </p:spPr>
          <p:txBody>
            <a:bodyPr wrap="square" lIns="0" tIns="0" rIns="0" bIns="0" rtlCol="0"/>
            <a:lstStyle/>
            <a:p>
              <a:endParaRPr sz="2400"/>
            </a:p>
          </p:txBody>
        </p:sp>
        <p:sp>
          <p:nvSpPr>
            <p:cNvPr id="98" name="object 98"/>
            <p:cNvSpPr/>
            <p:nvPr/>
          </p:nvSpPr>
          <p:spPr>
            <a:xfrm>
              <a:off x="5802629" y="1953635"/>
              <a:ext cx="31750" cy="45085"/>
            </a:xfrm>
            <a:custGeom>
              <a:avLst/>
              <a:gdLst/>
              <a:ahLst/>
              <a:cxnLst/>
              <a:rect l="l" t="t" r="r" b="b"/>
              <a:pathLst>
                <a:path w="31750" h="45085">
                  <a:moveTo>
                    <a:pt x="31136" y="45041"/>
                  </a:moveTo>
                  <a:lnTo>
                    <a:pt x="0" y="40506"/>
                  </a:lnTo>
                  <a:lnTo>
                    <a:pt x="21798" y="0"/>
                  </a:lnTo>
                  <a:lnTo>
                    <a:pt x="31136" y="45041"/>
                  </a:lnTo>
                  <a:close/>
                </a:path>
              </a:pathLst>
            </a:custGeom>
            <a:solidFill>
              <a:srgbClr val="5AB46E"/>
            </a:solidFill>
          </p:spPr>
          <p:txBody>
            <a:bodyPr wrap="square" lIns="0" tIns="0" rIns="0" bIns="0" rtlCol="0"/>
            <a:lstStyle/>
            <a:p>
              <a:endParaRPr sz="2400"/>
            </a:p>
          </p:txBody>
        </p:sp>
        <p:sp>
          <p:nvSpPr>
            <p:cNvPr id="99" name="object 99"/>
            <p:cNvSpPr/>
            <p:nvPr/>
          </p:nvSpPr>
          <p:spPr>
            <a:xfrm>
              <a:off x="5802629" y="1953635"/>
              <a:ext cx="31750" cy="45085"/>
            </a:xfrm>
            <a:custGeom>
              <a:avLst/>
              <a:gdLst/>
              <a:ahLst/>
              <a:cxnLst/>
              <a:rect l="l" t="t" r="r" b="b"/>
              <a:pathLst>
                <a:path w="31750" h="45085">
                  <a:moveTo>
                    <a:pt x="31136" y="45041"/>
                  </a:moveTo>
                  <a:lnTo>
                    <a:pt x="21798" y="0"/>
                  </a:lnTo>
                  <a:lnTo>
                    <a:pt x="0" y="40506"/>
                  </a:lnTo>
                  <a:lnTo>
                    <a:pt x="31136" y="45041"/>
                  </a:lnTo>
                  <a:close/>
                </a:path>
              </a:pathLst>
            </a:custGeom>
            <a:ln w="9524">
              <a:solidFill>
                <a:srgbClr val="5AB46E"/>
              </a:solidFill>
            </a:ln>
          </p:spPr>
          <p:txBody>
            <a:bodyPr wrap="square" lIns="0" tIns="0" rIns="0" bIns="0" rtlCol="0"/>
            <a:lstStyle/>
            <a:p>
              <a:endParaRPr sz="2400"/>
            </a:p>
          </p:txBody>
        </p:sp>
        <p:sp>
          <p:nvSpPr>
            <p:cNvPr id="100" name="object 100"/>
            <p:cNvSpPr/>
            <p:nvPr/>
          </p:nvSpPr>
          <p:spPr>
            <a:xfrm>
              <a:off x="4892834" y="1995112"/>
              <a:ext cx="1720214" cy="666115"/>
            </a:xfrm>
            <a:custGeom>
              <a:avLst/>
              <a:gdLst/>
              <a:ahLst/>
              <a:cxnLst/>
              <a:rect l="l" t="t" r="r" b="b"/>
              <a:pathLst>
                <a:path w="1720215" h="666114">
                  <a:moveTo>
                    <a:pt x="0" y="665642"/>
                  </a:moveTo>
                  <a:lnTo>
                    <a:pt x="11423" y="616522"/>
                  </a:lnTo>
                  <a:lnTo>
                    <a:pt x="44195" y="571838"/>
                  </a:lnTo>
                  <a:lnTo>
                    <a:pt x="96069" y="531124"/>
                  </a:lnTo>
                  <a:lnTo>
                    <a:pt x="164796" y="493914"/>
                  </a:lnTo>
                  <a:lnTo>
                    <a:pt x="204778" y="476476"/>
                  </a:lnTo>
                  <a:lnTo>
                    <a:pt x="248131" y="459739"/>
                  </a:lnTo>
                  <a:lnTo>
                    <a:pt x="294574" y="443645"/>
                  </a:lnTo>
                  <a:lnTo>
                    <a:pt x="343826" y="428134"/>
                  </a:lnTo>
                  <a:lnTo>
                    <a:pt x="395606" y="413148"/>
                  </a:lnTo>
                  <a:lnTo>
                    <a:pt x="449633" y="398630"/>
                  </a:lnTo>
                  <a:lnTo>
                    <a:pt x="505626" y="384521"/>
                  </a:lnTo>
                  <a:lnTo>
                    <a:pt x="563305" y="370762"/>
                  </a:lnTo>
                  <a:lnTo>
                    <a:pt x="622389" y="357294"/>
                  </a:lnTo>
                  <a:lnTo>
                    <a:pt x="682596" y="344061"/>
                  </a:lnTo>
                  <a:lnTo>
                    <a:pt x="743645" y="331003"/>
                  </a:lnTo>
                  <a:lnTo>
                    <a:pt x="805257" y="318061"/>
                  </a:lnTo>
                  <a:lnTo>
                    <a:pt x="867149" y="305178"/>
                  </a:lnTo>
                  <a:lnTo>
                    <a:pt x="921315" y="293908"/>
                  </a:lnTo>
                  <a:lnTo>
                    <a:pt x="975292" y="282598"/>
                  </a:lnTo>
                  <a:lnTo>
                    <a:pt x="1028893" y="271210"/>
                  </a:lnTo>
                  <a:lnTo>
                    <a:pt x="1081930" y="259705"/>
                  </a:lnTo>
                  <a:lnTo>
                    <a:pt x="1134213" y="248044"/>
                  </a:lnTo>
                  <a:lnTo>
                    <a:pt x="1185556" y="236187"/>
                  </a:lnTo>
                  <a:lnTo>
                    <a:pt x="1235770" y="224095"/>
                  </a:lnTo>
                  <a:lnTo>
                    <a:pt x="1284666" y="211730"/>
                  </a:lnTo>
                  <a:lnTo>
                    <a:pt x="1332057" y="199052"/>
                  </a:lnTo>
                  <a:lnTo>
                    <a:pt x="1377754" y="186022"/>
                  </a:lnTo>
                  <a:lnTo>
                    <a:pt x="1421570" y="172601"/>
                  </a:lnTo>
                  <a:lnTo>
                    <a:pt x="1463315" y="158750"/>
                  </a:lnTo>
                  <a:lnTo>
                    <a:pt x="1521640" y="137081"/>
                  </a:lnTo>
                  <a:lnTo>
                    <a:pt x="1574249" y="114224"/>
                  </a:lnTo>
                  <a:lnTo>
                    <a:pt x="1620507" y="90047"/>
                  </a:lnTo>
                  <a:lnTo>
                    <a:pt x="1659779" y="64418"/>
                  </a:lnTo>
                  <a:lnTo>
                    <a:pt x="1691429" y="37205"/>
                  </a:lnTo>
                  <a:lnTo>
                    <a:pt x="1716410" y="5790"/>
                  </a:lnTo>
                  <a:lnTo>
                    <a:pt x="1719307" y="760"/>
                  </a:lnTo>
                  <a:lnTo>
                    <a:pt x="1719713" y="0"/>
                  </a:lnTo>
                </a:path>
              </a:pathLst>
            </a:custGeom>
            <a:ln w="9524">
              <a:solidFill>
                <a:srgbClr val="5AB46E"/>
              </a:solidFill>
            </a:ln>
          </p:spPr>
          <p:txBody>
            <a:bodyPr wrap="square" lIns="0" tIns="0" rIns="0" bIns="0" rtlCol="0"/>
            <a:lstStyle/>
            <a:p>
              <a:endParaRPr sz="2400"/>
            </a:p>
          </p:txBody>
        </p:sp>
        <p:sp>
          <p:nvSpPr>
            <p:cNvPr id="101" name="object 101"/>
            <p:cNvSpPr/>
            <p:nvPr/>
          </p:nvSpPr>
          <p:spPr>
            <a:xfrm>
              <a:off x="6597336" y="1953319"/>
              <a:ext cx="30480" cy="46355"/>
            </a:xfrm>
            <a:custGeom>
              <a:avLst/>
              <a:gdLst/>
              <a:ahLst/>
              <a:cxnLst/>
              <a:rect l="l" t="t" r="r" b="b"/>
              <a:pathLst>
                <a:path w="30479" h="46355">
                  <a:moveTo>
                    <a:pt x="30423" y="45809"/>
                  </a:moveTo>
                  <a:lnTo>
                    <a:pt x="0" y="37778"/>
                  </a:lnTo>
                  <a:lnTo>
                    <a:pt x="26244" y="0"/>
                  </a:lnTo>
                  <a:lnTo>
                    <a:pt x="30423" y="45809"/>
                  </a:lnTo>
                  <a:close/>
                </a:path>
              </a:pathLst>
            </a:custGeom>
            <a:solidFill>
              <a:srgbClr val="5AB46E"/>
            </a:solidFill>
          </p:spPr>
          <p:txBody>
            <a:bodyPr wrap="square" lIns="0" tIns="0" rIns="0" bIns="0" rtlCol="0"/>
            <a:lstStyle/>
            <a:p>
              <a:endParaRPr sz="2400"/>
            </a:p>
          </p:txBody>
        </p:sp>
        <p:sp>
          <p:nvSpPr>
            <p:cNvPr id="102" name="object 102"/>
            <p:cNvSpPr/>
            <p:nvPr/>
          </p:nvSpPr>
          <p:spPr>
            <a:xfrm>
              <a:off x="6597336" y="1953319"/>
              <a:ext cx="30480" cy="46355"/>
            </a:xfrm>
            <a:custGeom>
              <a:avLst/>
              <a:gdLst/>
              <a:ahLst/>
              <a:cxnLst/>
              <a:rect l="l" t="t" r="r" b="b"/>
              <a:pathLst>
                <a:path w="30479" h="46355">
                  <a:moveTo>
                    <a:pt x="30423" y="45809"/>
                  </a:moveTo>
                  <a:lnTo>
                    <a:pt x="26244" y="0"/>
                  </a:lnTo>
                  <a:lnTo>
                    <a:pt x="0" y="37778"/>
                  </a:lnTo>
                  <a:lnTo>
                    <a:pt x="30423" y="45809"/>
                  </a:lnTo>
                  <a:close/>
                </a:path>
              </a:pathLst>
            </a:custGeom>
            <a:ln w="9524">
              <a:solidFill>
                <a:srgbClr val="5AB46E"/>
              </a:solidFill>
            </a:ln>
          </p:spPr>
          <p:txBody>
            <a:bodyPr wrap="square" lIns="0" tIns="0" rIns="0" bIns="0" rtlCol="0"/>
            <a:lstStyle/>
            <a:p>
              <a:endParaRPr sz="2400"/>
            </a:p>
          </p:txBody>
        </p:sp>
        <p:sp>
          <p:nvSpPr>
            <p:cNvPr id="103" name="object 103"/>
            <p:cNvSpPr/>
            <p:nvPr/>
          </p:nvSpPr>
          <p:spPr>
            <a:xfrm>
              <a:off x="4892834" y="1993397"/>
              <a:ext cx="2517775" cy="667385"/>
            </a:xfrm>
            <a:custGeom>
              <a:avLst/>
              <a:gdLst/>
              <a:ahLst/>
              <a:cxnLst/>
              <a:rect l="l" t="t" r="r" b="b"/>
              <a:pathLst>
                <a:path w="2517775" h="667385">
                  <a:moveTo>
                    <a:pt x="0" y="667357"/>
                  </a:moveTo>
                  <a:lnTo>
                    <a:pt x="19665" y="614216"/>
                  </a:lnTo>
                  <a:lnTo>
                    <a:pt x="53326" y="581708"/>
                  </a:lnTo>
                  <a:lnTo>
                    <a:pt x="101969" y="551328"/>
                  </a:lnTo>
                  <a:lnTo>
                    <a:pt x="164348" y="522899"/>
                  </a:lnTo>
                  <a:lnTo>
                    <a:pt x="200298" y="509361"/>
                  </a:lnTo>
                  <a:lnTo>
                    <a:pt x="239213" y="496243"/>
                  </a:lnTo>
                  <a:lnTo>
                    <a:pt x="280937" y="483525"/>
                  </a:lnTo>
                  <a:lnTo>
                    <a:pt x="325315" y="471184"/>
                  </a:lnTo>
                  <a:lnTo>
                    <a:pt x="372190" y="459197"/>
                  </a:lnTo>
                  <a:lnTo>
                    <a:pt x="421406" y="447543"/>
                  </a:lnTo>
                  <a:lnTo>
                    <a:pt x="472807" y="436200"/>
                  </a:lnTo>
                  <a:lnTo>
                    <a:pt x="526237" y="425145"/>
                  </a:lnTo>
                  <a:lnTo>
                    <a:pt x="581541" y="414355"/>
                  </a:lnTo>
                  <a:lnTo>
                    <a:pt x="638561" y="403810"/>
                  </a:lnTo>
                  <a:lnTo>
                    <a:pt x="697141" y="393486"/>
                  </a:lnTo>
                  <a:lnTo>
                    <a:pt x="757127" y="383362"/>
                  </a:lnTo>
                  <a:lnTo>
                    <a:pt x="818361" y="373415"/>
                  </a:lnTo>
                  <a:lnTo>
                    <a:pt x="880687" y="363624"/>
                  </a:lnTo>
                  <a:lnTo>
                    <a:pt x="943950" y="353965"/>
                  </a:lnTo>
                  <a:lnTo>
                    <a:pt x="1007994" y="344418"/>
                  </a:lnTo>
                  <a:lnTo>
                    <a:pt x="1072661" y="334959"/>
                  </a:lnTo>
                  <a:lnTo>
                    <a:pt x="1137797" y="325567"/>
                  </a:lnTo>
                  <a:lnTo>
                    <a:pt x="1203245" y="316219"/>
                  </a:lnTo>
                  <a:lnTo>
                    <a:pt x="1268849" y="306893"/>
                  </a:lnTo>
                  <a:lnTo>
                    <a:pt x="1324812" y="298940"/>
                  </a:lnTo>
                  <a:lnTo>
                    <a:pt x="1380678" y="290973"/>
                  </a:lnTo>
                  <a:lnTo>
                    <a:pt x="1436350" y="282978"/>
                  </a:lnTo>
                  <a:lnTo>
                    <a:pt x="1491731" y="274942"/>
                  </a:lnTo>
                  <a:lnTo>
                    <a:pt x="1546725" y="266851"/>
                  </a:lnTo>
                  <a:lnTo>
                    <a:pt x="1601235" y="258692"/>
                  </a:lnTo>
                  <a:lnTo>
                    <a:pt x="1655164" y="250450"/>
                  </a:lnTo>
                  <a:lnTo>
                    <a:pt x="1708414" y="242111"/>
                  </a:lnTo>
                  <a:lnTo>
                    <a:pt x="1760890" y="233663"/>
                  </a:lnTo>
                  <a:lnTo>
                    <a:pt x="1812495" y="225091"/>
                  </a:lnTo>
                  <a:lnTo>
                    <a:pt x="1863131" y="216381"/>
                  </a:lnTo>
                  <a:lnTo>
                    <a:pt x="1912701" y="207520"/>
                  </a:lnTo>
                  <a:lnTo>
                    <a:pt x="1961109" y="198494"/>
                  </a:lnTo>
                  <a:lnTo>
                    <a:pt x="2008259" y="189289"/>
                  </a:lnTo>
                  <a:lnTo>
                    <a:pt x="2054052" y="179892"/>
                  </a:lnTo>
                  <a:lnTo>
                    <a:pt x="2098393" y="170288"/>
                  </a:lnTo>
                  <a:lnTo>
                    <a:pt x="2141184" y="160464"/>
                  </a:lnTo>
                  <a:lnTo>
                    <a:pt x="2198963" y="146144"/>
                  </a:lnTo>
                  <a:lnTo>
                    <a:pt x="2253163" y="131315"/>
                  </a:lnTo>
                  <a:lnTo>
                    <a:pt x="2303508" y="115939"/>
                  </a:lnTo>
                  <a:lnTo>
                    <a:pt x="2349722" y="99975"/>
                  </a:lnTo>
                  <a:lnTo>
                    <a:pt x="2391531" y="83387"/>
                  </a:lnTo>
                  <a:lnTo>
                    <a:pt x="2428658" y="66133"/>
                  </a:lnTo>
                  <a:lnTo>
                    <a:pt x="2474970" y="38920"/>
                  </a:lnTo>
                  <a:lnTo>
                    <a:pt x="2509200" y="9991"/>
                  </a:lnTo>
                  <a:lnTo>
                    <a:pt x="2515761" y="2475"/>
                  </a:lnTo>
                  <a:lnTo>
                    <a:pt x="2516274" y="1844"/>
                  </a:lnTo>
                  <a:lnTo>
                    <a:pt x="2516778" y="1212"/>
                  </a:lnTo>
                  <a:lnTo>
                    <a:pt x="2517272" y="578"/>
                  </a:lnTo>
                  <a:lnTo>
                    <a:pt x="2517716" y="0"/>
                  </a:lnTo>
                </a:path>
              </a:pathLst>
            </a:custGeom>
            <a:ln w="9524">
              <a:solidFill>
                <a:srgbClr val="5AB46E"/>
              </a:solidFill>
            </a:ln>
          </p:spPr>
          <p:txBody>
            <a:bodyPr wrap="square" lIns="0" tIns="0" rIns="0" bIns="0" rtlCol="0"/>
            <a:lstStyle/>
            <a:p>
              <a:endParaRPr sz="2400"/>
            </a:p>
          </p:txBody>
        </p:sp>
        <p:sp>
          <p:nvSpPr>
            <p:cNvPr id="104" name="object 104"/>
            <p:cNvSpPr/>
            <p:nvPr/>
          </p:nvSpPr>
          <p:spPr>
            <a:xfrm>
              <a:off x="7395811" y="1952901"/>
              <a:ext cx="30480" cy="46355"/>
            </a:xfrm>
            <a:custGeom>
              <a:avLst/>
              <a:gdLst/>
              <a:ahLst/>
              <a:cxnLst/>
              <a:rect l="l" t="t" r="r" b="b"/>
              <a:pathLst>
                <a:path w="30479" h="46355">
                  <a:moveTo>
                    <a:pt x="29478" y="45998"/>
                  </a:moveTo>
                  <a:lnTo>
                    <a:pt x="0" y="34995"/>
                  </a:lnTo>
                  <a:lnTo>
                    <a:pt x="29854" y="0"/>
                  </a:lnTo>
                  <a:lnTo>
                    <a:pt x="29478" y="45998"/>
                  </a:lnTo>
                  <a:close/>
                </a:path>
              </a:pathLst>
            </a:custGeom>
            <a:solidFill>
              <a:srgbClr val="5AB46E"/>
            </a:solidFill>
          </p:spPr>
          <p:txBody>
            <a:bodyPr wrap="square" lIns="0" tIns="0" rIns="0" bIns="0" rtlCol="0"/>
            <a:lstStyle/>
            <a:p>
              <a:endParaRPr sz="2400"/>
            </a:p>
          </p:txBody>
        </p:sp>
        <p:sp>
          <p:nvSpPr>
            <p:cNvPr id="105" name="object 105"/>
            <p:cNvSpPr/>
            <p:nvPr/>
          </p:nvSpPr>
          <p:spPr>
            <a:xfrm>
              <a:off x="7395811" y="1952901"/>
              <a:ext cx="30480" cy="46355"/>
            </a:xfrm>
            <a:custGeom>
              <a:avLst/>
              <a:gdLst/>
              <a:ahLst/>
              <a:cxnLst/>
              <a:rect l="l" t="t" r="r" b="b"/>
              <a:pathLst>
                <a:path w="30479" h="46355">
                  <a:moveTo>
                    <a:pt x="29478" y="45998"/>
                  </a:moveTo>
                  <a:lnTo>
                    <a:pt x="29854" y="0"/>
                  </a:lnTo>
                  <a:lnTo>
                    <a:pt x="0" y="34995"/>
                  </a:lnTo>
                  <a:lnTo>
                    <a:pt x="29478" y="45998"/>
                  </a:lnTo>
                  <a:close/>
                </a:path>
              </a:pathLst>
            </a:custGeom>
            <a:ln w="9524">
              <a:solidFill>
                <a:srgbClr val="5AB46E"/>
              </a:solidFill>
            </a:ln>
          </p:spPr>
          <p:txBody>
            <a:bodyPr wrap="square" lIns="0" tIns="0" rIns="0" bIns="0" rtlCol="0"/>
            <a:lstStyle/>
            <a:p>
              <a:endParaRPr sz="2400"/>
            </a:p>
          </p:txBody>
        </p:sp>
        <p:sp>
          <p:nvSpPr>
            <p:cNvPr id="106" name="object 106"/>
            <p:cNvSpPr/>
            <p:nvPr/>
          </p:nvSpPr>
          <p:spPr>
            <a:xfrm>
              <a:off x="3373420"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7" name="object 107"/>
            <p:cNvSpPr/>
            <p:nvPr/>
          </p:nvSpPr>
          <p:spPr>
            <a:xfrm>
              <a:off x="3373420"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108" name="object 108"/>
            <p:cNvSpPr/>
            <p:nvPr/>
          </p:nvSpPr>
          <p:spPr>
            <a:xfrm>
              <a:off x="4978818"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9" name="object 109"/>
            <p:cNvSpPr/>
            <p:nvPr/>
          </p:nvSpPr>
          <p:spPr>
            <a:xfrm>
              <a:off x="4978818"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110" name="object 110"/>
            <p:cNvSpPr/>
            <p:nvPr/>
          </p:nvSpPr>
          <p:spPr>
            <a:xfrm>
              <a:off x="5780793"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1" name="object 111"/>
            <p:cNvSpPr/>
            <p:nvPr/>
          </p:nvSpPr>
          <p:spPr>
            <a:xfrm>
              <a:off x="5780793"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112" name="object 112"/>
            <p:cNvSpPr/>
            <p:nvPr/>
          </p:nvSpPr>
          <p:spPr>
            <a:xfrm>
              <a:off x="6581479"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3" name="object 113"/>
            <p:cNvSpPr/>
            <p:nvPr/>
          </p:nvSpPr>
          <p:spPr>
            <a:xfrm>
              <a:off x="6581479"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114" name="object 114"/>
            <p:cNvSpPr/>
            <p:nvPr/>
          </p:nvSpPr>
          <p:spPr>
            <a:xfrm>
              <a:off x="7384685"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5" name="object 115"/>
            <p:cNvSpPr/>
            <p:nvPr/>
          </p:nvSpPr>
          <p:spPr>
            <a:xfrm>
              <a:off x="7384685"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116" name="object 116"/>
            <p:cNvSpPr/>
            <p:nvPr/>
          </p:nvSpPr>
          <p:spPr>
            <a:xfrm>
              <a:off x="4176628"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7" name="object 117"/>
            <p:cNvSpPr/>
            <p:nvPr/>
          </p:nvSpPr>
          <p:spPr>
            <a:xfrm>
              <a:off x="4176628"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118" name="object 118"/>
            <p:cNvSpPr/>
            <p:nvPr/>
          </p:nvSpPr>
          <p:spPr>
            <a:xfrm>
              <a:off x="1766124"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9" name="object 119"/>
            <p:cNvSpPr/>
            <p:nvPr/>
          </p:nvSpPr>
          <p:spPr>
            <a:xfrm>
              <a:off x="1766124"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120" name="object 120"/>
            <p:cNvSpPr/>
            <p:nvPr/>
          </p:nvSpPr>
          <p:spPr>
            <a:xfrm>
              <a:off x="2570560"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1" name="object 121"/>
            <p:cNvSpPr/>
            <p:nvPr/>
          </p:nvSpPr>
          <p:spPr>
            <a:xfrm>
              <a:off x="2570560"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122" name="object 122"/>
            <p:cNvSpPr/>
            <p:nvPr/>
          </p:nvSpPr>
          <p:spPr>
            <a:xfrm>
              <a:off x="1981857" y="1791919"/>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3" name="object 123"/>
            <p:cNvSpPr/>
            <p:nvPr/>
          </p:nvSpPr>
          <p:spPr>
            <a:xfrm>
              <a:off x="1981857" y="1791919"/>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24" name="object 124"/>
          <p:cNvSpPr txBox="1"/>
          <p:nvPr/>
        </p:nvSpPr>
        <p:spPr>
          <a:xfrm>
            <a:off x="2364321" y="2373936"/>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20"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25" name="object 125"/>
          <p:cNvGrpSpPr/>
          <p:nvPr/>
        </p:nvGrpSpPr>
        <p:grpSpPr>
          <a:xfrm>
            <a:off x="3708708" y="2382875"/>
            <a:ext cx="135467" cy="210820"/>
            <a:chOff x="2781531" y="1787156"/>
            <a:chExt cx="101600" cy="158115"/>
          </a:xfrm>
        </p:grpSpPr>
        <p:sp>
          <p:nvSpPr>
            <p:cNvPr id="126" name="object 126"/>
            <p:cNvSpPr/>
            <p:nvPr/>
          </p:nvSpPr>
          <p:spPr>
            <a:xfrm>
              <a:off x="2786293" y="1791919"/>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7" name="object 127"/>
            <p:cNvSpPr/>
            <p:nvPr/>
          </p:nvSpPr>
          <p:spPr>
            <a:xfrm>
              <a:off x="2786293" y="1791919"/>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28" name="object 128"/>
          <p:cNvSpPr txBox="1"/>
          <p:nvPr/>
        </p:nvSpPr>
        <p:spPr>
          <a:xfrm>
            <a:off x="3436903" y="2373936"/>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20"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29" name="object 129"/>
          <p:cNvGrpSpPr/>
          <p:nvPr/>
        </p:nvGrpSpPr>
        <p:grpSpPr>
          <a:xfrm>
            <a:off x="4779204" y="2382875"/>
            <a:ext cx="135467" cy="210820"/>
            <a:chOff x="3584403" y="1787156"/>
            <a:chExt cx="101600" cy="158115"/>
          </a:xfrm>
        </p:grpSpPr>
        <p:sp>
          <p:nvSpPr>
            <p:cNvPr id="130" name="object 130"/>
            <p:cNvSpPr/>
            <p:nvPr/>
          </p:nvSpPr>
          <p:spPr>
            <a:xfrm>
              <a:off x="3589165" y="1791919"/>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31" name="object 131"/>
            <p:cNvSpPr/>
            <p:nvPr/>
          </p:nvSpPr>
          <p:spPr>
            <a:xfrm>
              <a:off x="3589165" y="1791919"/>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32" name="object 132"/>
          <p:cNvSpPr txBox="1"/>
          <p:nvPr/>
        </p:nvSpPr>
        <p:spPr>
          <a:xfrm>
            <a:off x="4507383" y="2373936"/>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20"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33" name="object 133"/>
          <p:cNvGrpSpPr/>
          <p:nvPr/>
        </p:nvGrpSpPr>
        <p:grpSpPr>
          <a:xfrm>
            <a:off x="5843581" y="2382875"/>
            <a:ext cx="135467" cy="210820"/>
            <a:chOff x="4382686" y="1787156"/>
            <a:chExt cx="101600" cy="158115"/>
          </a:xfrm>
        </p:grpSpPr>
        <p:sp>
          <p:nvSpPr>
            <p:cNvPr id="134" name="object 134"/>
            <p:cNvSpPr/>
            <p:nvPr/>
          </p:nvSpPr>
          <p:spPr>
            <a:xfrm>
              <a:off x="4387448" y="1791919"/>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35" name="object 135"/>
            <p:cNvSpPr/>
            <p:nvPr/>
          </p:nvSpPr>
          <p:spPr>
            <a:xfrm>
              <a:off x="4387448" y="1791919"/>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36" name="object 136"/>
          <p:cNvSpPr txBox="1"/>
          <p:nvPr/>
        </p:nvSpPr>
        <p:spPr>
          <a:xfrm>
            <a:off x="5578325" y="2373936"/>
            <a:ext cx="409787"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93" dirty="0">
                <a:latin typeface="Lucida Sans Unicode"/>
                <a:cs typeface="Lucida Sans Unicode"/>
              </a:rPr>
              <a:t> </a:t>
            </a:r>
            <a:r>
              <a:rPr sz="1200" spc="-33" dirty="0">
                <a:latin typeface="Lucida Sans Unicode"/>
                <a:cs typeface="Lucida Sans Unicode"/>
              </a:rPr>
              <a:t>A</a:t>
            </a:r>
            <a:r>
              <a:rPr sz="1200" spc="-120"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37" name="object 137"/>
          <p:cNvGrpSpPr/>
          <p:nvPr/>
        </p:nvGrpSpPr>
        <p:grpSpPr>
          <a:xfrm>
            <a:off x="6919735" y="2382875"/>
            <a:ext cx="135467" cy="210820"/>
            <a:chOff x="5189801" y="1787156"/>
            <a:chExt cx="101600" cy="158115"/>
          </a:xfrm>
        </p:grpSpPr>
        <p:sp>
          <p:nvSpPr>
            <p:cNvPr id="138" name="object 138"/>
            <p:cNvSpPr/>
            <p:nvPr/>
          </p:nvSpPr>
          <p:spPr>
            <a:xfrm>
              <a:off x="5194563" y="1791919"/>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39" name="object 139"/>
            <p:cNvSpPr/>
            <p:nvPr/>
          </p:nvSpPr>
          <p:spPr>
            <a:xfrm>
              <a:off x="5194563" y="1791919"/>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40" name="object 140"/>
          <p:cNvSpPr txBox="1"/>
          <p:nvPr/>
        </p:nvSpPr>
        <p:spPr>
          <a:xfrm>
            <a:off x="6647912" y="2373936"/>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20"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41" name="object 141"/>
          <p:cNvGrpSpPr/>
          <p:nvPr/>
        </p:nvGrpSpPr>
        <p:grpSpPr>
          <a:xfrm>
            <a:off x="7989035" y="2382875"/>
            <a:ext cx="135467" cy="210820"/>
            <a:chOff x="5991776" y="1787156"/>
            <a:chExt cx="101600" cy="158115"/>
          </a:xfrm>
        </p:grpSpPr>
        <p:sp>
          <p:nvSpPr>
            <p:cNvPr id="142" name="object 142"/>
            <p:cNvSpPr/>
            <p:nvPr/>
          </p:nvSpPr>
          <p:spPr>
            <a:xfrm>
              <a:off x="5996538" y="1791919"/>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43" name="object 143"/>
            <p:cNvSpPr/>
            <p:nvPr/>
          </p:nvSpPr>
          <p:spPr>
            <a:xfrm>
              <a:off x="5996538" y="1791919"/>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44" name="object 144"/>
          <p:cNvSpPr txBox="1"/>
          <p:nvPr/>
        </p:nvSpPr>
        <p:spPr>
          <a:xfrm>
            <a:off x="7717212" y="2373936"/>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20"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45" name="object 145"/>
          <p:cNvGrpSpPr/>
          <p:nvPr/>
        </p:nvGrpSpPr>
        <p:grpSpPr>
          <a:xfrm>
            <a:off x="9056616" y="2382875"/>
            <a:ext cx="135467" cy="210820"/>
            <a:chOff x="6792462" y="1787156"/>
            <a:chExt cx="101600" cy="158115"/>
          </a:xfrm>
        </p:grpSpPr>
        <p:sp>
          <p:nvSpPr>
            <p:cNvPr id="146" name="object 146"/>
            <p:cNvSpPr/>
            <p:nvPr/>
          </p:nvSpPr>
          <p:spPr>
            <a:xfrm>
              <a:off x="6797224" y="1791919"/>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47" name="object 147"/>
            <p:cNvSpPr/>
            <p:nvPr/>
          </p:nvSpPr>
          <p:spPr>
            <a:xfrm>
              <a:off x="6797224" y="1791919"/>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48" name="object 148"/>
          <p:cNvSpPr txBox="1"/>
          <p:nvPr/>
        </p:nvSpPr>
        <p:spPr>
          <a:xfrm>
            <a:off x="8784795" y="2373936"/>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20"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49" name="object 149"/>
          <p:cNvGrpSpPr/>
          <p:nvPr/>
        </p:nvGrpSpPr>
        <p:grpSpPr>
          <a:xfrm>
            <a:off x="10127557" y="2382875"/>
            <a:ext cx="135467" cy="210820"/>
            <a:chOff x="7595668" y="1787156"/>
            <a:chExt cx="101600" cy="158115"/>
          </a:xfrm>
        </p:grpSpPr>
        <p:sp>
          <p:nvSpPr>
            <p:cNvPr id="150" name="object 150"/>
            <p:cNvSpPr/>
            <p:nvPr/>
          </p:nvSpPr>
          <p:spPr>
            <a:xfrm>
              <a:off x="7600430" y="1791919"/>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51" name="object 151"/>
            <p:cNvSpPr/>
            <p:nvPr/>
          </p:nvSpPr>
          <p:spPr>
            <a:xfrm>
              <a:off x="7600430" y="1791919"/>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52" name="object 152"/>
          <p:cNvSpPr txBox="1"/>
          <p:nvPr/>
        </p:nvSpPr>
        <p:spPr>
          <a:xfrm>
            <a:off x="9855735" y="2373936"/>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20"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sp>
        <p:nvSpPr>
          <p:cNvPr id="153" name="TextBox 152">
            <a:extLst>
              <a:ext uri="{FF2B5EF4-FFF2-40B4-BE49-F238E27FC236}">
                <a16:creationId xmlns:a16="http://schemas.microsoft.com/office/drawing/2014/main" id="{9423334E-AD47-850A-BEA5-991364C420E9}"/>
              </a:ext>
            </a:extLst>
          </p:cNvPr>
          <p:cNvSpPr txBox="1"/>
          <p:nvPr/>
        </p:nvSpPr>
        <p:spPr>
          <a:xfrm>
            <a:off x="3256550" y="5934372"/>
            <a:ext cx="6505242" cy="461665"/>
          </a:xfrm>
          <a:prstGeom prst="rect">
            <a:avLst/>
          </a:prstGeom>
          <a:noFill/>
        </p:spPr>
        <p:txBody>
          <a:bodyPr wrap="none" rtlCol="0">
            <a:spAutoFit/>
          </a:bodyPr>
          <a:lstStyle/>
          <a:p>
            <a:r>
              <a:rPr lang="en-US" sz="2400" dirty="0"/>
              <a:t>Load V  in compute unit to calculate Final output O</a:t>
            </a:r>
            <a:endParaRPr lang="en-IN" sz="2400" dirty="0"/>
          </a:p>
        </p:txBody>
      </p:sp>
    </p:spTree>
    <p:extLst>
      <p:ext uri="{BB962C8B-B14F-4D97-AF65-F5344CB8AC3E}">
        <p14:creationId xmlns:p14="http://schemas.microsoft.com/office/powerpoint/2010/main" val="2542324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Attention</a:t>
            </a:r>
            <a:r>
              <a:rPr spc="-152" dirty="0"/>
              <a:t> </a:t>
            </a:r>
            <a:r>
              <a:rPr spc="213" dirty="0"/>
              <a:t>data</a:t>
            </a:r>
            <a:r>
              <a:rPr spc="-147" dirty="0"/>
              <a:t> </a:t>
            </a:r>
            <a:r>
              <a:rPr spc="-27" dirty="0"/>
              <a:t>flow</a:t>
            </a:r>
          </a:p>
        </p:txBody>
      </p:sp>
      <p:sp>
        <p:nvSpPr>
          <p:cNvPr id="3" name="object 3"/>
          <p:cNvSpPr/>
          <p:nvPr/>
        </p:nvSpPr>
        <p:spPr>
          <a:xfrm>
            <a:off x="1431063" y="1548384"/>
            <a:ext cx="9338733" cy="4060613"/>
          </a:xfrm>
          <a:custGeom>
            <a:avLst/>
            <a:gdLst/>
            <a:ahLst/>
            <a:cxnLst/>
            <a:rect l="l" t="t" r="r" b="b"/>
            <a:pathLst>
              <a:path w="7004050" h="3045460">
                <a:moveTo>
                  <a:pt x="0" y="0"/>
                </a:moveTo>
                <a:lnTo>
                  <a:pt x="7003499" y="0"/>
                </a:lnTo>
                <a:lnTo>
                  <a:pt x="7003499" y="3044999"/>
                </a:lnTo>
                <a:lnTo>
                  <a:pt x="0" y="3044999"/>
                </a:lnTo>
                <a:lnTo>
                  <a:pt x="0" y="0"/>
                </a:lnTo>
                <a:close/>
              </a:path>
            </a:pathLst>
          </a:custGeom>
          <a:ln w="19049">
            <a:solidFill>
              <a:srgbClr val="237A94"/>
            </a:solidFill>
          </a:ln>
        </p:spPr>
        <p:txBody>
          <a:bodyPr wrap="square" lIns="0" tIns="0" rIns="0" bIns="0" rtlCol="0"/>
          <a:lstStyle/>
          <a:p>
            <a:endParaRPr sz="2400"/>
          </a:p>
        </p:txBody>
      </p:sp>
      <p:sp>
        <p:nvSpPr>
          <p:cNvPr id="4" name="object 4"/>
          <p:cNvSpPr txBox="1"/>
          <p:nvPr/>
        </p:nvSpPr>
        <p:spPr>
          <a:xfrm>
            <a:off x="1519351" y="5238451"/>
            <a:ext cx="513080" cy="304421"/>
          </a:xfrm>
          <a:prstGeom prst="rect">
            <a:avLst/>
          </a:prstGeom>
        </p:spPr>
        <p:txBody>
          <a:bodyPr vert="horz" wrap="square" lIns="0" tIns="16933" rIns="0" bIns="0" rtlCol="0">
            <a:spAutoFit/>
          </a:bodyPr>
          <a:lstStyle/>
          <a:p>
            <a:pPr>
              <a:spcBef>
                <a:spcPts val="133"/>
              </a:spcBef>
            </a:pPr>
            <a:r>
              <a:rPr sz="1867" spc="-167" dirty="0">
                <a:solidFill>
                  <a:srgbClr val="999999"/>
                </a:solidFill>
                <a:latin typeface="Arial Black"/>
                <a:cs typeface="Arial Black"/>
              </a:rPr>
              <a:t>GPU</a:t>
            </a:r>
            <a:endParaRPr sz="1867">
              <a:latin typeface="Arial Black"/>
              <a:cs typeface="Arial Black"/>
            </a:endParaRPr>
          </a:p>
        </p:txBody>
      </p:sp>
      <p:sp>
        <p:nvSpPr>
          <p:cNvPr id="5" name="object 5"/>
          <p:cNvSpPr txBox="1"/>
          <p:nvPr/>
        </p:nvSpPr>
        <p:spPr>
          <a:xfrm>
            <a:off x="1945434" y="1710578"/>
            <a:ext cx="1555327" cy="256480"/>
          </a:xfrm>
          <a:prstGeom prst="rect">
            <a:avLst/>
          </a:prstGeom>
        </p:spPr>
        <p:txBody>
          <a:bodyPr vert="horz" wrap="square" lIns="0" tIns="10160" rIns="0" bIns="0" rtlCol="0">
            <a:spAutoFit/>
          </a:bodyPr>
          <a:lstStyle/>
          <a:p>
            <a:pPr>
              <a:spcBef>
                <a:spcPts val="80"/>
              </a:spcBef>
            </a:pPr>
            <a:r>
              <a:rPr sz="1600" spc="-33" dirty="0">
                <a:solidFill>
                  <a:srgbClr val="666666"/>
                </a:solidFill>
                <a:latin typeface="Arial Black"/>
                <a:cs typeface="Arial Black"/>
              </a:rPr>
              <a:t>Compute</a:t>
            </a:r>
            <a:r>
              <a:rPr sz="1600" spc="-127" dirty="0">
                <a:solidFill>
                  <a:srgbClr val="666666"/>
                </a:solidFill>
                <a:latin typeface="Arial Black"/>
                <a:cs typeface="Arial Black"/>
              </a:rPr>
              <a:t> </a:t>
            </a:r>
            <a:r>
              <a:rPr sz="1600" spc="-47" dirty="0">
                <a:solidFill>
                  <a:srgbClr val="666666"/>
                </a:solidFill>
                <a:latin typeface="Arial Black"/>
                <a:cs typeface="Arial Black"/>
              </a:rPr>
              <a:t>units</a:t>
            </a:r>
            <a:endParaRPr sz="1600">
              <a:latin typeface="Arial Black"/>
              <a:cs typeface="Arial Black"/>
            </a:endParaRPr>
          </a:p>
        </p:txBody>
      </p:sp>
      <p:grpSp>
        <p:nvGrpSpPr>
          <p:cNvPr id="6" name="object 6"/>
          <p:cNvGrpSpPr/>
          <p:nvPr/>
        </p:nvGrpSpPr>
        <p:grpSpPr>
          <a:xfrm>
            <a:off x="1813796" y="1711599"/>
            <a:ext cx="8573347" cy="988060"/>
            <a:chOff x="1360347" y="1283699"/>
            <a:chExt cx="6430010" cy="741045"/>
          </a:xfrm>
        </p:grpSpPr>
        <p:sp>
          <p:nvSpPr>
            <p:cNvPr id="7" name="object 7"/>
            <p:cNvSpPr/>
            <p:nvPr/>
          </p:nvSpPr>
          <p:spPr>
            <a:xfrm>
              <a:off x="1365110" y="1288461"/>
              <a:ext cx="6420485" cy="731520"/>
            </a:xfrm>
            <a:custGeom>
              <a:avLst/>
              <a:gdLst/>
              <a:ahLst/>
              <a:cxnLst/>
              <a:rect l="l" t="t" r="r" b="b"/>
              <a:pathLst>
                <a:path w="6420484" h="731519">
                  <a:moveTo>
                    <a:pt x="6419999" y="731400"/>
                  </a:moveTo>
                  <a:lnTo>
                    <a:pt x="0" y="731400"/>
                  </a:lnTo>
                  <a:lnTo>
                    <a:pt x="0" y="0"/>
                  </a:lnTo>
                  <a:lnTo>
                    <a:pt x="6419999" y="0"/>
                  </a:lnTo>
                  <a:lnTo>
                    <a:pt x="6419999" y="731400"/>
                  </a:lnTo>
                  <a:close/>
                </a:path>
              </a:pathLst>
            </a:custGeom>
            <a:solidFill>
              <a:srgbClr val="FFECED"/>
            </a:solidFill>
          </p:spPr>
          <p:txBody>
            <a:bodyPr wrap="square" lIns="0" tIns="0" rIns="0" bIns="0" rtlCol="0"/>
            <a:lstStyle/>
            <a:p>
              <a:endParaRPr sz="2400"/>
            </a:p>
          </p:txBody>
        </p:sp>
        <p:sp>
          <p:nvSpPr>
            <p:cNvPr id="8" name="object 8"/>
            <p:cNvSpPr/>
            <p:nvPr/>
          </p:nvSpPr>
          <p:spPr>
            <a:xfrm>
              <a:off x="1365110" y="1288461"/>
              <a:ext cx="6420485" cy="731520"/>
            </a:xfrm>
            <a:custGeom>
              <a:avLst/>
              <a:gdLst/>
              <a:ahLst/>
              <a:cxnLst/>
              <a:rect l="l" t="t" r="r" b="b"/>
              <a:pathLst>
                <a:path w="6420484" h="731519">
                  <a:moveTo>
                    <a:pt x="0" y="0"/>
                  </a:moveTo>
                  <a:lnTo>
                    <a:pt x="6419999" y="0"/>
                  </a:lnTo>
                  <a:lnTo>
                    <a:pt x="6419999" y="731400"/>
                  </a:lnTo>
                  <a:lnTo>
                    <a:pt x="0" y="731400"/>
                  </a:lnTo>
                  <a:lnTo>
                    <a:pt x="0" y="0"/>
                  </a:lnTo>
                  <a:close/>
                </a:path>
              </a:pathLst>
            </a:custGeom>
            <a:ln w="9524">
              <a:solidFill>
                <a:srgbClr val="237A94"/>
              </a:solidFill>
            </a:ln>
          </p:spPr>
          <p:txBody>
            <a:bodyPr wrap="square" lIns="0" tIns="0" rIns="0" bIns="0" rtlCol="0"/>
            <a:lstStyle/>
            <a:p>
              <a:endParaRPr sz="2400"/>
            </a:p>
          </p:txBody>
        </p:sp>
        <p:sp>
          <p:nvSpPr>
            <p:cNvPr id="9" name="object 9"/>
            <p:cNvSpPr/>
            <p:nvPr/>
          </p:nvSpPr>
          <p:spPr>
            <a:xfrm>
              <a:off x="3853475"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0" name="object 10"/>
            <p:cNvSpPr/>
            <p:nvPr/>
          </p:nvSpPr>
          <p:spPr>
            <a:xfrm>
              <a:off x="3853475" y="1509156"/>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1" name="object 11"/>
            <p:cNvSpPr/>
            <p:nvPr/>
          </p:nvSpPr>
          <p:spPr>
            <a:xfrm>
              <a:off x="46584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2" name="object 12"/>
            <p:cNvSpPr/>
            <p:nvPr/>
          </p:nvSpPr>
          <p:spPr>
            <a:xfrm>
              <a:off x="46584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3" name="object 13"/>
            <p:cNvSpPr/>
            <p:nvPr/>
          </p:nvSpPr>
          <p:spPr>
            <a:xfrm>
              <a:off x="5460074"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4" name="object 14"/>
            <p:cNvSpPr/>
            <p:nvPr/>
          </p:nvSpPr>
          <p:spPr>
            <a:xfrm>
              <a:off x="5460074" y="1509156"/>
              <a:ext cx="650240" cy="457200"/>
            </a:xfrm>
            <a:custGeom>
              <a:avLst/>
              <a:gdLst/>
              <a:ahLst/>
              <a:cxnLst/>
              <a:rect l="l" t="t" r="r" b="b"/>
              <a:pathLst>
                <a:path w="650239"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5" name="object 15"/>
            <p:cNvSpPr/>
            <p:nvPr/>
          </p:nvSpPr>
          <p:spPr>
            <a:xfrm>
              <a:off x="6261724" y="1509157"/>
              <a:ext cx="650240" cy="226695"/>
            </a:xfrm>
            <a:custGeom>
              <a:avLst/>
              <a:gdLst/>
              <a:ahLst/>
              <a:cxnLst/>
              <a:rect l="l" t="t" r="r" b="b"/>
              <a:pathLst>
                <a:path w="650240" h="226694">
                  <a:moveTo>
                    <a:pt x="0" y="226679"/>
                  </a:moveTo>
                  <a:lnTo>
                    <a:pt x="649726" y="226679"/>
                  </a:lnTo>
                  <a:lnTo>
                    <a:pt x="649726" y="0"/>
                  </a:lnTo>
                  <a:lnTo>
                    <a:pt x="0" y="0"/>
                  </a:lnTo>
                  <a:lnTo>
                    <a:pt x="0" y="226679"/>
                  </a:lnTo>
                  <a:close/>
                </a:path>
              </a:pathLst>
            </a:custGeom>
            <a:solidFill>
              <a:srgbClr val="F4C4D1"/>
            </a:solidFill>
          </p:spPr>
          <p:txBody>
            <a:bodyPr wrap="square" lIns="0" tIns="0" rIns="0" bIns="0" rtlCol="0"/>
            <a:lstStyle/>
            <a:p>
              <a:endParaRPr sz="2400"/>
            </a:p>
          </p:txBody>
        </p:sp>
        <p:sp>
          <p:nvSpPr>
            <p:cNvPr id="16" name="object 16"/>
            <p:cNvSpPr/>
            <p:nvPr/>
          </p:nvSpPr>
          <p:spPr>
            <a:xfrm>
              <a:off x="6261724" y="1509157"/>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7" name="object 17"/>
            <p:cNvSpPr/>
            <p:nvPr/>
          </p:nvSpPr>
          <p:spPr>
            <a:xfrm>
              <a:off x="7063349" y="1509156"/>
              <a:ext cx="650240" cy="234950"/>
            </a:xfrm>
            <a:custGeom>
              <a:avLst/>
              <a:gdLst/>
              <a:ahLst/>
              <a:cxnLst/>
              <a:rect l="l" t="t" r="r" b="b"/>
              <a:pathLst>
                <a:path w="650240"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8" name="object 18"/>
            <p:cNvSpPr/>
            <p:nvPr/>
          </p:nvSpPr>
          <p:spPr>
            <a:xfrm>
              <a:off x="7063349" y="1509156"/>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9" name="object 19"/>
            <p:cNvSpPr/>
            <p:nvPr/>
          </p:nvSpPr>
          <p:spPr>
            <a:xfrm>
              <a:off x="1448749" y="1509158"/>
              <a:ext cx="650240" cy="228600"/>
            </a:xfrm>
            <a:custGeom>
              <a:avLst/>
              <a:gdLst/>
              <a:ahLst/>
              <a:cxnLst/>
              <a:rect l="l" t="t" r="r" b="b"/>
              <a:pathLst>
                <a:path w="650239" h="228600">
                  <a:moveTo>
                    <a:pt x="0" y="228477"/>
                  </a:moveTo>
                  <a:lnTo>
                    <a:pt x="649726" y="228477"/>
                  </a:lnTo>
                  <a:lnTo>
                    <a:pt x="649726" y="0"/>
                  </a:lnTo>
                  <a:lnTo>
                    <a:pt x="0" y="0"/>
                  </a:lnTo>
                  <a:lnTo>
                    <a:pt x="0" y="228477"/>
                  </a:lnTo>
                  <a:close/>
                </a:path>
              </a:pathLst>
            </a:custGeom>
            <a:solidFill>
              <a:srgbClr val="F4C4D1"/>
            </a:solidFill>
          </p:spPr>
          <p:txBody>
            <a:bodyPr wrap="square" lIns="0" tIns="0" rIns="0" bIns="0" rtlCol="0"/>
            <a:lstStyle/>
            <a:p>
              <a:endParaRPr sz="2400"/>
            </a:p>
          </p:txBody>
        </p:sp>
        <p:sp>
          <p:nvSpPr>
            <p:cNvPr id="20" name="object 20"/>
            <p:cNvSpPr/>
            <p:nvPr/>
          </p:nvSpPr>
          <p:spPr>
            <a:xfrm>
              <a:off x="1448749"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1" name="object 21"/>
            <p:cNvSpPr/>
            <p:nvPr/>
          </p:nvSpPr>
          <p:spPr>
            <a:xfrm>
              <a:off x="2250396" y="1509158"/>
              <a:ext cx="650240" cy="234950"/>
            </a:xfrm>
            <a:custGeom>
              <a:avLst/>
              <a:gdLst/>
              <a:ahLst/>
              <a:cxnLst/>
              <a:rect l="l" t="t" r="r" b="b"/>
              <a:pathLst>
                <a:path w="650239" h="234950">
                  <a:moveTo>
                    <a:pt x="0" y="234402"/>
                  </a:moveTo>
                  <a:lnTo>
                    <a:pt x="649726" y="234402"/>
                  </a:lnTo>
                  <a:lnTo>
                    <a:pt x="649726" y="0"/>
                  </a:lnTo>
                  <a:lnTo>
                    <a:pt x="0" y="0"/>
                  </a:lnTo>
                  <a:lnTo>
                    <a:pt x="0" y="234402"/>
                  </a:lnTo>
                  <a:close/>
                </a:path>
              </a:pathLst>
            </a:custGeom>
            <a:solidFill>
              <a:srgbClr val="F4C4D1"/>
            </a:solidFill>
          </p:spPr>
          <p:txBody>
            <a:bodyPr wrap="square" lIns="0" tIns="0" rIns="0" bIns="0" rtlCol="0"/>
            <a:lstStyle/>
            <a:p>
              <a:endParaRPr sz="2400"/>
            </a:p>
          </p:txBody>
        </p:sp>
        <p:sp>
          <p:nvSpPr>
            <p:cNvPr id="22" name="object 22"/>
            <p:cNvSpPr/>
            <p:nvPr/>
          </p:nvSpPr>
          <p:spPr>
            <a:xfrm>
              <a:off x="2250396"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3" name="object 23"/>
            <p:cNvSpPr/>
            <p:nvPr/>
          </p:nvSpPr>
          <p:spPr>
            <a:xfrm>
              <a:off x="30520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4" name="object 24"/>
            <p:cNvSpPr/>
            <p:nvPr/>
          </p:nvSpPr>
          <p:spPr>
            <a:xfrm>
              <a:off x="30520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grpSp>
      <p:sp>
        <p:nvSpPr>
          <p:cNvPr id="25" name="object 25"/>
          <p:cNvSpPr txBox="1"/>
          <p:nvPr/>
        </p:nvSpPr>
        <p:spPr>
          <a:xfrm>
            <a:off x="1908748" y="1715056"/>
            <a:ext cx="1532467" cy="263320"/>
          </a:xfrm>
          <a:prstGeom prst="rect">
            <a:avLst/>
          </a:prstGeom>
        </p:spPr>
        <p:txBody>
          <a:bodyPr vert="horz" wrap="square" lIns="0" tIns="16933" rIns="0" bIns="0" rtlCol="0">
            <a:spAutoFit/>
          </a:bodyPr>
          <a:lstStyle/>
          <a:p>
            <a:pPr>
              <a:spcBef>
                <a:spcPts val="133"/>
              </a:spcBef>
            </a:pPr>
            <a:r>
              <a:rPr sz="1600" spc="67" dirty="0">
                <a:solidFill>
                  <a:srgbClr val="434343"/>
                </a:solidFill>
                <a:latin typeface="Lucida Sans Unicode"/>
                <a:cs typeface="Lucida Sans Unicode"/>
              </a:rPr>
              <a:t>Compute</a:t>
            </a:r>
            <a:r>
              <a:rPr sz="1600" spc="-53" dirty="0">
                <a:solidFill>
                  <a:srgbClr val="434343"/>
                </a:solidFill>
                <a:latin typeface="Lucida Sans Unicode"/>
                <a:cs typeface="Lucida Sans Unicode"/>
              </a:rPr>
              <a:t> </a:t>
            </a:r>
            <a:r>
              <a:rPr sz="1600" spc="-13" dirty="0">
                <a:solidFill>
                  <a:srgbClr val="434343"/>
                </a:solidFill>
                <a:latin typeface="Lucida Sans Unicode"/>
                <a:cs typeface="Lucida Sans Unicode"/>
              </a:rPr>
              <a:t>Units</a:t>
            </a:r>
            <a:endParaRPr sz="1600">
              <a:latin typeface="Lucida Sans Unicode"/>
              <a:cs typeface="Lucida Sans Unicode"/>
            </a:endParaRPr>
          </a:p>
        </p:txBody>
      </p:sp>
      <p:grpSp>
        <p:nvGrpSpPr>
          <p:cNvPr id="26" name="object 26"/>
          <p:cNvGrpSpPr/>
          <p:nvPr/>
        </p:nvGrpSpPr>
        <p:grpSpPr>
          <a:xfrm>
            <a:off x="1809633" y="2843348"/>
            <a:ext cx="8573347" cy="2363893"/>
            <a:chOff x="1357225" y="2132511"/>
            <a:chExt cx="6430010" cy="1772920"/>
          </a:xfrm>
        </p:grpSpPr>
        <p:sp>
          <p:nvSpPr>
            <p:cNvPr id="27" name="object 27"/>
            <p:cNvSpPr/>
            <p:nvPr/>
          </p:nvSpPr>
          <p:spPr>
            <a:xfrm>
              <a:off x="1361987" y="2137274"/>
              <a:ext cx="6420485" cy="1763395"/>
            </a:xfrm>
            <a:custGeom>
              <a:avLst/>
              <a:gdLst/>
              <a:ahLst/>
              <a:cxnLst/>
              <a:rect l="l" t="t" r="r" b="b"/>
              <a:pathLst>
                <a:path w="6420484" h="1763395">
                  <a:moveTo>
                    <a:pt x="6419999" y="1763399"/>
                  </a:moveTo>
                  <a:lnTo>
                    <a:pt x="0" y="1763399"/>
                  </a:lnTo>
                  <a:lnTo>
                    <a:pt x="0" y="0"/>
                  </a:lnTo>
                  <a:lnTo>
                    <a:pt x="6419999" y="0"/>
                  </a:lnTo>
                  <a:lnTo>
                    <a:pt x="6419999" y="1763399"/>
                  </a:lnTo>
                  <a:close/>
                </a:path>
              </a:pathLst>
            </a:custGeom>
            <a:solidFill>
              <a:srgbClr val="EBFAFF"/>
            </a:solidFill>
          </p:spPr>
          <p:txBody>
            <a:bodyPr wrap="square" lIns="0" tIns="0" rIns="0" bIns="0" rtlCol="0"/>
            <a:lstStyle/>
            <a:p>
              <a:endParaRPr sz="2400"/>
            </a:p>
          </p:txBody>
        </p:sp>
        <p:sp>
          <p:nvSpPr>
            <p:cNvPr id="28" name="object 28"/>
            <p:cNvSpPr/>
            <p:nvPr/>
          </p:nvSpPr>
          <p:spPr>
            <a:xfrm>
              <a:off x="1361987" y="2137274"/>
              <a:ext cx="6420485" cy="1763395"/>
            </a:xfrm>
            <a:custGeom>
              <a:avLst/>
              <a:gdLst/>
              <a:ahLst/>
              <a:cxnLst/>
              <a:rect l="l" t="t" r="r" b="b"/>
              <a:pathLst>
                <a:path w="6420484" h="1763395">
                  <a:moveTo>
                    <a:pt x="0" y="0"/>
                  </a:moveTo>
                  <a:lnTo>
                    <a:pt x="6419999" y="0"/>
                  </a:lnTo>
                  <a:lnTo>
                    <a:pt x="6419999" y="1763399"/>
                  </a:lnTo>
                  <a:lnTo>
                    <a:pt x="0" y="1763399"/>
                  </a:lnTo>
                  <a:lnTo>
                    <a:pt x="0" y="0"/>
                  </a:lnTo>
                  <a:close/>
                </a:path>
              </a:pathLst>
            </a:custGeom>
            <a:ln w="9524">
              <a:solidFill>
                <a:srgbClr val="237A94"/>
              </a:solidFill>
            </a:ln>
          </p:spPr>
          <p:txBody>
            <a:bodyPr wrap="square" lIns="0" tIns="0" rIns="0" bIns="0" rtlCol="0"/>
            <a:lstStyle/>
            <a:p>
              <a:endParaRPr sz="2400"/>
            </a:p>
          </p:txBody>
        </p:sp>
      </p:grpSp>
      <p:sp>
        <p:nvSpPr>
          <p:cNvPr id="29" name="object 29"/>
          <p:cNvSpPr txBox="1"/>
          <p:nvPr/>
        </p:nvSpPr>
        <p:spPr>
          <a:xfrm>
            <a:off x="1976302" y="2984056"/>
            <a:ext cx="1474893" cy="263320"/>
          </a:xfrm>
          <a:prstGeom prst="rect">
            <a:avLst/>
          </a:prstGeom>
        </p:spPr>
        <p:txBody>
          <a:bodyPr vert="horz" wrap="square" lIns="0" tIns="16933" rIns="0" bIns="0" rtlCol="0">
            <a:spAutoFit/>
          </a:bodyPr>
          <a:lstStyle/>
          <a:p>
            <a:pPr>
              <a:spcBef>
                <a:spcPts val="133"/>
              </a:spcBef>
            </a:pPr>
            <a:r>
              <a:rPr sz="1600" dirty="0">
                <a:solidFill>
                  <a:srgbClr val="434343"/>
                </a:solidFill>
                <a:latin typeface="Lucida Sans Unicode"/>
                <a:cs typeface="Lucida Sans Unicode"/>
              </a:rPr>
              <a:t>Memory</a:t>
            </a:r>
            <a:r>
              <a:rPr sz="1600" spc="167" dirty="0">
                <a:solidFill>
                  <a:srgbClr val="434343"/>
                </a:solidFill>
                <a:latin typeface="Lucida Sans Unicode"/>
                <a:cs typeface="Lucida Sans Unicode"/>
              </a:rPr>
              <a:t> </a:t>
            </a:r>
            <a:r>
              <a:rPr sz="1600" spc="-27" dirty="0">
                <a:solidFill>
                  <a:srgbClr val="434343"/>
                </a:solidFill>
                <a:latin typeface="Lucida Sans Unicode"/>
                <a:cs typeface="Lucida Sans Unicode"/>
              </a:rPr>
              <a:t>VRAM</a:t>
            </a:r>
            <a:endParaRPr sz="1600">
              <a:latin typeface="Lucida Sans Unicode"/>
              <a:cs typeface="Lucida Sans Unicode"/>
            </a:endParaRPr>
          </a:p>
        </p:txBody>
      </p:sp>
      <p:sp>
        <p:nvSpPr>
          <p:cNvPr id="30" name="object 30"/>
          <p:cNvSpPr txBox="1"/>
          <p:nvPr/>
        </p:nvSpPr>
        <p:spPr>
          <a:xfrm>
            <a:off x="2064600" y="3552033"/>
            <a:ext cx="1441873" cy="796670"/>
          </a:xfrm>
          <a:prstGeom prst="rect">
            <a:avLst/>
          </a:prstGeom>
          <a:solidFill>
            <a:srgbClr val="FFFFFF"/>
          </a:solidFill>
          <a:ln w="9524">
            <a:solidFill>
              <a:srgbClr val="000000"/>
            </a:solidFill>
          </a:ln>
        </p:spPr>
        <p:txBody>
          <a:bodyPr vert="horz" wrap="square" lIns="0" tIns="138852" rIns="0" bIns="0" rtlCol="0">
            <a:spAutoFit/>
          </a:bodyPr>
          <a:lstStyle/>
          <a:p>
            <a:pPr>
              <a:spcBef>
                <a:spcPts val="1092"/>
              </a:spcBef>
            </a:pPr>
            <a:endParaRPr sz="2133">
              <a:latin typeface="Times New Roman"/>
              <a:cs typeface="Times New Roman"/>
            </a:endParaRPr>
          </a:p>
          <a:p>
            <a:pPr marL="466502"/>
            <a:r>
              <a:rPr sz="2133" spc="-33" dirty="0">
                <a:latin typeface="Arial Black"/>
                <a:cs typeface="Arial Black"/>
              </a:rPr>
              <a:t>LLM</a:t>
            </a:r>
            <a:endParaRPr sz="2133">
              <a:latin typeface="Arial Black"/>
              <a:cs typeface="Arial Black"/>
            </a:endParaRPr>
          </a:p>
        </p:txBody>
      </p:sp>
      <p:sp>
        <p:nvSpPr>
          <p:cNvPr id="31" name="object 31"/>
          <p:cNvSpPr txBox="1"/>
          <p:nvPr/>
        </p:nvSpPr>
        <p:spPr>
          <a:xfrm>
            <a:off x="3634633" y="3552039"/>
            <a:ext cx="1247987" cy="942010"/>
          </a:xfrm>
          <a:prstGeom prst="rect">
            <a:avLst/>
          </a:prstGeom>
          <a:solidFill>
            <a:srgbClr val="BBD4F9"/>
          </a:solidFill>
          <a:ln w="9524">
            <a:solidFill>
              <a:srgbClr val="1B73EB"/>
            </a:solidFill>
          </a:ln>
        </p:spPr>
        <p:txBody>
          <a:bodyPr vert="horz" wrap="square" lIns="0" tIns="282787" rIns="0" bIns="0" rtlCol="0">
            <a:spAutoFit/>
          </a:bodyPr>
          <a:lstStyle/>
          <a:p>
            <a:pPr algn="ctr">
              <a:spcBef>
                <a:spcPts val="2227"/>
              </a:spcBef>
            </a:pPr>
            <a:r>
              <a:rPr sz="2133" spc="-33" dirty="0">
                <a:latin typeface="Arial Black"/>
                <a:cs typeface="Arial Black"/>
              </a:rPr>
              <a:t>KV</a:t>
            </a:r>
            <a:endParaRPr sz="2133">
              <a:latin typeface="Arial Black"/>
              <a:cs typeface="Arial Black"/>
            </a:endParaRPr>
          </a:p>
          <a:p>
            <a:pPr algn="ctr">
              <a:spcBef>
                <a:spcPts val="40"/>
              </a:spcBef>
            </a:pPr>
            <a:r>
              <a:rPr sz="2133" spc="-13" dirty="0">
                <a:latin typeface="Arial Black"/>
                <a:cs typeface="Arial Black"/>
              </a:rPr>
              <a:t>cache</a:t>
            </a:r>
            <a:endParaRPr sz="2133">
              <a:latin typeface="Arial Black"/>
              <a:cs typeface="Arial Black"/>
            </a:endParaRPr>
          </a:p>
        </p:txBody>
      </p:sp>
      <p:grpSp>
        <p:nvGrpSpPr>
          <p:cNvPr id="32" name="object 32"/>
          <p:cNvGrpSpPr/>
          <p:nvPr/>
        </p:nvGrpSpPr>
        <p:grpSpPr>
          <a:xfrm>
            <a:off x="1925322" y="2308098"/>
            <a:ext cx="8369300" cy="1733127"/>
            <a:chOff x="1443991" y="1731073"/>
            <a:chExt cx="6276975" cy="1299845"/>
          </a:xfrm>
        </p:grpSpPr>
        <p:sp>
          <p:nvSpPr>
            <p:cNvPr id="33" name="object 33"/>
            <p:cNvSpPr/>
            <p:nvPr/>
          </p:nvSpPr>
          <p:spPr>
            <a:xfrm>
              <a:off x="1448753" y="1737636"/>
              <a:ext cx="650240" cy="230504"/>
            </a:xfrm>
            <a:custGeom>
              <a:avLst/>
              <a:gdLst/>
              <a:ahLst/>
              <a:cxnLst/>
              <a:rect l="l" t="t" r="r" b="b"/>
              <a:pathLst>
                <a:path w="650239" h="230505">
                  <a:moveTo>
                    <a:pt x="649800" y="230399"/>
                  </a:moveTo>
                  <a:lnTo>
                    <a:pt x="0" y="230399"/>
                  </a:lnTo>
                  <a:lnTo>
                    <a:pt x="0" y="0"/>
                  </a:lnTo>
                  <a:lnTo>
                    <a:pt x="649800" y="0"/>
                  </a:lnTo>
                  <a:lnTo>
                    <a:pt x="649800" y="230399"/>
                  </a:lnTo>
                  <a:close/>
                </a:path>
              </a:pathLst>
            </a:custGeom>
            <a:solidFill>
              <a:srgbClr val="EBFAFF"/>
            </a:solidFill>
          </p:spPr>
          <p:txBody>
            <a:bodyPr wrap="square" lIns="0" tIns="0" rIns="0" bIns="0" rtlCol="0"/>
            <a:lstStyle/>
            <a:p>
              <a:endParaRPr sz="2400"/>
            </a:p>
          </p:txBody>
        </p:sp>
        <p:sp>
          <p:nvSpPr>
            <p:cNvPr id="34" name="object 34"/>
            <p:cNvSpPr/>
            <p:nvPr/>
          </p:nvSpPr>
          <p:spPr>
            <a:xfrm>
              <a:off x="1448753" y="1737636"/>
              <a:ext cx="650240" cy="230504"/>
            </a:xfrm>
            <a:custGeom>
              <a:avLst/>
              <a:gdLst/>
              <a:ahLst/>
              <a:cxnLst/>
              <a:rect l="l" t="t" r="r" b="b"/>
              <a:pathLst>
                <a:path w="650239" h="230505">
                  <a:moveTo>
                    <a:pt x="649800" y="0"/>
                  </a:moveTo>
                  <a:lnTo>
                    <a:pt x="649800" y="230399"/>
                  </a:lnTo>
                  <a:lnTo>
                    <a:pt x="0" y="230399"/>
                  </a:lnTo>
                  <a:lnTo>
                    <a:pt x="0" y="0"/>
                  </a:lnTo>
                  <a:lnTo>
                    <a:pt x="649800" y="0"/>
                  </a:lnTo>
                  <a:close/>
                </a:path>
              </a:pathLst>
            </a:custGeom>
            <a:ln w="9524">
              <a:solidFill>
                <a:srgbClr val="237A94"/>
              </a:solidFill>
            </a:ln>
          </p:spPr>
          <p:txBody>
            <a:bodyPr wrap="square" lIns="0" tIns="0" rIns="0" bIns="0" rtlCol="0"/>
            <a:lstStyle/>
            <a:p>
              <a:endParaRPr sz="2400"/>
            </a:p>
          </p:txBody>
        </p:sp>
        <p:sp>
          <p:nvSpPr>
            <p:cNvPr id="35" name="object 35"/>
            <p:cNvSpPr/>
            <p:nvPr/>
          </p:nvSpPr>
          <p:spPr>
            <a:xfrm>
              <a:off x="22512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6" name="object 36"/>
            <p:cNvSpPr/>
            <p:nvPr/>
          </p:nvSpPr>
          <p:spPr>
            <a:xfrm>
              <a:off x="22512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7" name="object 37"/>
            <p:cNvSpPr/>
            <p:nvPr/>
          </p:nvSpPr>
          <p:spPr>
            <a:xfrm>
              <a:off x="305370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8" name="object 38"/>
            <p:cNvSpPr/>
            <p:nvPr/>
          </p:nvSpPr>
          <p:spPr>
            <a:xfrm>
              <a:off x="305370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9" name="object 39"/>
            <p:cNvSpPr/>
            <p:nvPr/>
          </p:nvSpPr>
          <p:spPr>
            <a:xfrm>
              <a:off x="385617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0" name="object 40"/>
            <p:cNvSpPr/>
            <p:nvPr/>
          </p:nvSpPr>
          <p:spPr>
            <a:xfrm>
              <a:off x="385617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1" name="object 41"/>
            <p:cNvSpPr/>
            <p:nvPr/>
          </p:nvSpPr>
          <p:spPr>
            <a:xfrm>
              <a:off x="4658653"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2" name="object 42"/>
            <p:cNvSpPr/>
            <p:nvPr/>
          </p:nvSpPr>
          <p:spPr>
            <a:xfrm>
              <a:off x="4658653"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3" name="object 43"/>
            <p:cNvSpPr/>
            <p:nvPr/>
          </p:nvSpPr>
          <p:spPr>
            <a:xfrm>
              <a:off x="54611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4" name="object 44"/>
            <p:cNvSpPr/>
            <p:nvPr/>
          </p:nvSpPr>
          <p:spPr>
            <a:xfrm>
              <a:off x="54611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5" name="object 45"/>
            <p:cNvSpPr/>
            <p:nvPr/>
          </p:nvSpPr>
          <p:spPr>
            <a:xfrm>
              <a:off x="6263603" y="1735836"/>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6" name="object 46"/>
            <p:cNvSpPr/>
            <p:nvPr/>
          </p:nvSpPr>
          <p:spPr>
            <a:xfrm>
              <a:off x="6263603" y="1735836"/>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7" name="object 47"/>
            <p:cNvSpPr/>
            <p:nvPr/>
          </p:nvSpPr>
          <p:spPr>
            <a:xfrm>
              <a:off x="7066078" y="1743561"/>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8" name="object 48"/>
            <p:cNvSpPr/>
            <p:nvPr/>
          </p:nvSpPr>
          <p:spPr>
            <a:xfrm>
              <a:off x="7066078" y="1743561"/>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9" name="object 49"/>
            <p:cNvSpPr/>
            <p:nvPr/>
          </p:nvSpPr>
          <p:spPr>
            <a:xfrm>
              <a:off x="1575750" y="1999075"/>
              <a:ext cx="6068060" cy="197485"/>
            </a:xfrm>
            <a:custGeom>
              <a:avLst/>
              <a:gdLst/>
              <a:ahLst/>
              <a:cxnLst/>
              <a:rect l="l" t="t" r="r" b="b"/>
              <a:pathLst>
                <a:path w="6068059" h="197485">
                  <a:moveTo>
                    <a:pt x="6067799" y="197099"/>
                  </a:moveTo>
                  <a:lnTo>
                    <a:pt x="0" y="197099"/>
                  </a:lnTo>
                  <a:lnTo>
                    <a:pt x="0" y="0"/>
                  </a:lnTo>
                  <a:lnTo>
                    <a:pt x="6067799" y="0"/>
                  </a:lnTo>
                  <a:lnTo>
                    <a:pt x="6067799" y="197099"/>
                  </a:lnTo>
                  <a:close/>
                </a:path>
              </a:pathLst>
            </a:custGeom>
            <a:solidFill>
              <a:srgbClr val="FFDE7E"/>
            </a:solidFill>
          </p:spPr>
          <p:txBody>
            <a:bodyPr wrap="square" lIns="0" tIns="0" rIns="0" bIns="0" rtlCol="0"/>
            <a:lstStyle/>
            <a:p>
              <a:endParaRPr sz="2400"/>
            </a:p>
          </p:txBody>
        </p:sp>
        <p:sp>
          <p:nvSpPr>
            <p:cNvPr id="50" name="object 50"/>
            <p:cNvSpPr/>
            <p:nvPr/>
          </p:nvSpPr>
          <p:spPr>
            <a:xfrm>
              <a:off x="1575750" y="1999075"/>
              <a:ext cx="6068060" cy="197485"/>
            </a:xfrm>
            <a:custGeom>
              <a:avLst/>
              <a:gdLst/>
              <a:ahLst/>
              <a:cxnLst/>
              <a:rect l="l" t="t" r="r" b="b"/>
              <a:pathLst>
                <a:path w="6068059" h="197485">
                  <a:moveTo>
                    <a:pt x="0" y="0"/>
                  </a:moveTo>
                  <a:lnTo>
                    <a:pt x="6067799" y="0"/>
                  </a:lnTo>
                  <a:lnTo>
                    <a:pt x="6067799" y="197099"/>
                  </a:lnTo>
                  <a:lnTo>
                    <a:pt x="0" y="197099"/>
                  </a:lnTo>
                  <a:lnTo>
                    <a:pt x="0" y="0"/>
                  </a:lnTo>
                  <a:close/>
                </a:path>
              </a:pathLst>
            </a:custGeom>
            <a:ln w="9524">
              <a:solidFill>
                <a:srgbClr val="595959"/>
              </a:solidFill>
            </a:ln>
          </p:spPr>
          <p:txBody>
            <a:bodyPr wrap="square" lIns="0" tIns="0" rIns="0" bIns="0" rtlCol="0"/>
            <a:lstStyle/>
            <a:p>
              <a:endParaRPr sz="2400"/>
            </a:p>
          </p:txBody>
        </p:sp>
        <p:pic>
          <p:nvPicPr>
            <p:cNvPr id="51" name="object 51"/>
            <p:cNvPicPr/>
            <p:nvPr/>
          </p:nvPicPr>
          <p:blipFill>
            <a:blip r:embed="rId2" cstate="print"/>
            <a:stretch>
              <a:fillRect/>
            </a:stretch>
          </p:blipFill>
          <p:spPr>
            <a:xfrm>
              <a:off x="4531245" y="1953098"/>
              <a:ext cx="82509" cy="287352"/>
            </a:xfrm>
            <a:prstGeom prst="rect">
              <a:avLst/>
            </a:prstGeom>
          </p:spPr>
        </p:pic>
        <p:sp>
          <p:nvSpPr>
            <p:cNvPr id="52" name="object 52"/>
            <p:cNvSpPr/>
            <p:nvPr/>
          </p:nvSpPr>
          <p:spPr>
            <a:xfrm>
              <a:off x="421616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3" name="object 53"/>
            <p:cNvSpPr/>
            <p:nvPr/>
          </p:nvSpPr>
          <p:spPr>
            <a:xfrm>
              <a:off x="421616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4696AA"/>
              </a:solidFill>
            </a:ln>
          </p:spPr>
          <p:txBody>
            <a:bodyPr wrap="square" lIns="0" tIns="0" rIns="0" bIns="0" rtlCol="0"/>
            <a:lstStyle/>
            <a:p>
              <a:endParaRPr sz="2400"/>
            </a:p>
          </p:txBody>
        </p:sp>
        <p:sp>
          <p:nvSpPr>
            <p:cNvPr id="54" name="object 54"/>
            <p:cNvSpPr/>
            <p:nvPr/>
          </p:nvSpPr>
          <p:spPr>
            <a:xfrm>
              <a:off x="372243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5" name="object 55"/>
            <p:cNvSpPr/>
            <p:nvPr/>
          </p:nvSpPr>
          <p:spPr>
            <a:xfrm>
              <a:off x="372243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F47272"/>
              </a:solidFill>
            </a:ln>
          </p:spPr>
          <p:txBody>
            <a:bodyPr wrap="square" lIns="0" tIns="0" rIns="0" bIns="0" rtlCol="0"/>
            <a:lstStyle/>
            <a:p>
              <a:endParaRPr sz="2400"/>
            </a:p>
          </p:txBody>
        </p:sp>
        <p:sp>
          <p:nvSpPr>
            <p:cNvPr id="56" name="object 56"/>
            <p:cNvSpPr/>
            <p:nvPr/>
          </p:nvSpPr>
          <p:spPr>
            <a:xfrm>
              <a:off x="4709835"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5AB46E"/>
              </a:solidFill>
            </a:ln>
          </p:spPr>
          <p:txBody>
            <a:bodyPr wrap="square" lIns="0" tIns="0" rIns="0" bIns="0" rtlCol="0"/>
            <a:lstStyle/>
            <a:p>
              <a:endParaRPr sz="2400"/>
            </a:p>
          </p:txBody>
        </p:sp>
      </p:grpSp>
      <p:sp>
        <p:nvSpPr>
          <p:cNvPr id="57" name="object 57"/>
          <p:cNvSpPr txBox="1"/>
          <p:nvPr/>
        </p:nvSpPr>
        <p:spPr>
          <a:xfrm>
            <a:off x="6432227" y="3603868"/>
            <a:ext cx="183727" cy="341911"/>
          </a:xfrm>
          <a:prstGeom prst="rect">
            <a:avLst/>
          </a:prstGeom>
        </p:spPr>
        <p:txBody>
          <a:bodyPr vert="horz" wrap="square" lIns="0" tIns="13547" rIns="0" bIns="0" rtlCol="0">
            <a:spAutoFit/>
          </a:bodyPr>
          <a:lstStyle/>
          <a:p>
            <a:pPr>
              <a:spcBef>
                <a:spcPts val="107"/>
              </a:spcBef>
            </a:pPr>
            <a:r>
              <a:rPr sz="2133" spc="-67" dirty="0">
                <a:latin typeface="Lucida Sans Unicode"/>
                <a:cs typeface="Lucida Sans Unicode"/>
              </a:rPr>
              <a:t>V</a:t>
            </a:r>
            <a:endParaRPr sz="2133">
              <a:latin typeface="Lucida Sans Unicode"/>
              <a:cs typeface="Lucida Sans Unicode"/>
            </a:endParaRPr>
          </a:p>
        </p:txBody>
      </p:sp>
      <p:sp>
        <p:nvSpPr>
          <p:cNvPr id="58" name="object 58"/>
          <p:cNvSpPr txBox="1"/>
          <p:nvPr/>
        </p:nvSpPr>
        <p:spPr>
          <a:xfrm>
            <a:off x="6934605" y="3554195"/>
            <a:ext cx="1219200" cy="782137"/>
          </a:xfrm>
          <a:prstGeom prst="rect">
            <a:avLst/>
          </a:prstGeom>
          <a:solidFill>
            <a:srgbClr val="FFFFFF"/>
          </a:solidFill>
          <a:ln w="45724">
            <a:solidFill>
              <a:srgbClr val="E6A064"/>
            </a:solidFill>
          </a:ln>
        </p:spPr>
        <p:txBody>
          <a:bodyPr vert="horz" wrap="square" lIns="0" tIns="124460" rIns="0" bIns="0" rtlCol="0">
            <a:spAutoFit/>
          </a:bodyPr>
          <a:lstStyle/>
          <a:p>
            <a:pPr>
              <a:spcBef>
                <a:spcPts val="980"/>
              </a:spcBef>
            </a:pPr>
            <a:endParaRPr sz="2133">
              <a:latin typeface="Times New Roman"/>
              <a:cs typeface="Times New Roman"/>
            </a:endParaRPr>
          </a:p>
          <a:p>
            <a:pPr algn="ctr">
              <a:lnSpc>
                <a:spcPct val="100000"/>
              </a:lnSpc>
            </a:pPr>
            <a:r>
              <a:rPr sz="2133" spc="20" dirty="0">
                <a:latin typeface="Lucida Sans Unicode"/>
                <a:cs typeface="Lucida Sans Unicode"/>
              </a:rPr>
              <a:t>S</a:t>
            </a:r>
            <a:endParaRPr sz="2133">
              <a:latin typeface="Lucida Sans Unicode"/>
              <a:cs typeface="Lucida Sans Unicode"/>
            </a:endParaRPr>
          </a:p>
        </p:txBody>
      </p:sp>
      <p:grpSp>
        <p:nvGrpSpPr>
          <p:cNvPr id="59" name="object 59"/>
          <p:cNvGrpSpPr/>
          <p:nvPr/>
        </p:nvGrpSpPr>
        <p:grpSpPr>
          <a:xfrm>
            <a:off x="8245909" y="3523421"/>
            <a:ext cx="1280159" cy="1281007"/>
            <a:chOff x="6184431" y="2642565"/>
            <a:chExt cx="960119" cy="960755"/>
          </a:xfrm>
        </p:grpSpPr>
        <p:sp>
          <p:nvSpPr>
            <p:cNvPr id="60" name="object 60"/>
            <p:cNvSpPr/>
            <p:nvPr/>
          </p:nvSpPr>
          <p:spPr>
            <a:xfrm>
              <a:off x="6207291" y="2665425"/>
              <a:ext cx="914400" cy="915035"/>
            </a:xfrm>
            <a:custGeom>
              <a:avLst/>
              <a:gdLst/>
              <a:ahLst/>
              <a:cxnLst/>
              <a:rect l="l" t="t" r="r" b="b"/>
              <a:pathLst>
                <a:path w="914400" h="915035">
                  <a:moveTo>
                    <a:pt x="914100" y="914699"/>
                  </a:moveTo>
                  <a:lnTo>
                    <a:pt x="0" y="914699"/>
                  </a:lnTo>
                  <a:lnTo>
                    <a:pt x="0" y="0"/>
                  </a:lnTo>
                  <a:lnTo>
                    <a:pt x="914100" y="0"/>
                  </a:lnTo>
                  <a:lnTo>
                    <a:pt x="914100" y="914699"/>
                  </a:lnTo>
                  <a:close/>
                </a:path>
              </a:pathLst>
            </a:custGeom>
            <a:solidFill>
              <a:srgbClr val="FFFFFF"/>
            </a:solidFill>
          </p:spPr>
          <p:txBody>
            <a:bodyPr wrap="square" lIns="0" tIns="0" rIns="0" bIns="0" rtlCol="0"/>
            <a:lstStyle/>
            <a:p>
              <a:endParaRPr sz="2400"/>
            </a:p>
          </p:txBody>
        </p:sp>
        <p:sp>
          <p:nvSpPr>
            <p:cNvPr id="61" name="object 61"/>
            <p:cNvSpPr/>
            <p:nvPr/>
          </p:nvSpPr>
          <p:spPr>
            <a:xfrm>
              <a:off x="6207291" y="2665425"/>
              <a:ext cx="914400" cy="915035"/>
            </a:xfrm>
            <a:custGeom>
              <a:avLst/>
              <a:gdLst/>
              <a:ahLst/>
              <a:cxnLst/>
              <a:rect l="l" t="t" r="r" b="b"/>
              <a:pathLst>
                <a:path w="914400" h="915035">
                  <a:moveTo>
                    <a:pt x="0" y="0"/>
                  </a:moveTo>
                  <a:lnTo>
                    <a:pt x="914100" y="0"/>
                  </a:lnTo>
                  <a:lnTo>
                    <a:pt x="914100" y="914699"/>
                  </a:lnTo>
                  <a:lnTo>
                    <a:pt x="0" y="914699"/>
                  </a:lnTo>
                  <a:lnTo>
                    <a:pt x="0" y="0"/>
                  </a:lnTo>
                  <a:close/>
                </a:path>
              </a:pathLst>
            </a:custGeom>
            <a:ln w="45724">
              <a:solidFill>
                <a:srgbClr val="B45F06"/>
              </a:solidFill>
            </a:ln>
          </p:spPr>
          <p:txBody>
            <a:bodyPr wrap="square" lIns="0" tIns="0" rIns="0" bIns="0" rtlCol="0"/>
            <a:lstStyle/>
            <a:p>
              <a:endParaRPr sz="2400"/>
            </a:p>
          </p:txBody>
        </p:sp>
      </p:grpSp>
      <p:sp>
        <p:nvSpPr>
          <p:cNvPr id="62" name="object 62"/>
          <p:cNvSpPr txBox="1"/>
          <p:nvPr/>
        </p:nvSpPr>
        <p:spPr>
          <a:xfrm>
            <a:off x="8794506" y="3973371"/>
            <a:ext cx="199813" cy="345330"/>
          </a:xfrm>
          <a:prstGeom prst="rect">
            <a:avLst/>
          </a:prstGeom>
        </p:spPr>
        <p:txBody>
          <a:bodyPr vert="horz" wrap="square" lIns="0" tIns="16933" rIns="0" bIns="0" rtlCol="0">
            <a:spAutoFit/>
          </a:bodyPr>
          <a:lstStyle/>
          <a:p>
            <a:pPr>
              <a:spcBef>
                <a:spcPts val="133"/>
              </a:spcBef>
            </a:pPr>
            <a:r>
              <a:rPr sz="2133" spc="-67" dirty="0">
                <a:latin typeface="Lucida Sans Unicode"/>
                <a:cs typeface="Lucida Sans Unicode"/>
              </a:rPr>
              <a:t>A</a:t>
            </a:r>
            <a:endParaRPr sz="2133">
              <a:latin typeface="Lucida Sans Unicode"/>
              <a:cs typeface="Lucida Sans Unicode"/>
            </a:endParaRPr>
          </a:p>
        </p:txBody>
      </p:sp>
      <p:grpSp>
        <p:nvGrpSpPr>
          <p:cNvPr id="63" name="object 63"/>
          <p:cNvGrpSpPr/>
          <p:nvPr/>
        </p:nvGrpSpPr>
        <p:grpSpPr>
          <a:xfrm>
            <a:off x="6273429" y="3541324"/>
            <a:ext cx="501227" cy="501227"/>
            <a:chOff x="4705072" y="2655993"/>
            <a:chExt cx="375920" cy="375920"/>
          </a:xfrm>
        </p:grpSpPr>
        <p:sp>
          <p:nvSpPr>
            <p:cNvPr id="64" name="object 64"/>
            <p:cNvSpPr/>
            <p:nvPr/>
          </p:nvSpPr>
          <p:spPr>
            <a:xfrm>
              <a:off x="4709834" y="2660755"/>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65" name="object 65"/>
            <p:cNvSpPr/>
            <p:nvPr/>
          </p:nvSpPr>
          <p:spPr>
            <a:xfrm>
              <a:off x="4709834" y="2660755"/>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5AB46E"/>
              </a:solidFill>
            </a:ln>
          </p:spPr>
          <p:txBody>
            <a:bodyPr wrap="square" lIns="0" tIns="0" rIns="0" bIns="0" rtlCol="0"/>
            <a:lstStyle/>
            <a:p>
              <a:endParaRPr sz="2400"/>
            </a:p>
          </p:txBody>
        </p:sp>
      </p:grpSp>
      <p:sp>
        <p:nvSpPr>
          <p:cNvPr id="66" name="object 66"/>
          <p:cNvSpPr txBox="1"/>
          <p:nvPr/>
        </p:nvSpPr>
        <p:spPr>
          <a:xfrm>
            <a:off x="5100528" y="3601344"/>
            <a:ext cx="1532467" cy="345330"/>
          </a:xfrm>
          <a:prstGeom prst="rect">
            <a:avLst/>
          </a:prstGeom>
        </p:spPr>
        <p:txBody>
          <a:bodyPr vert="horz" wrap="square" lIns="0" tIns="16933" rIns="0" bIns="0" rtlCol="0">
            <a:spAutoFit/>
          </a:bodyPr>
          <a:lstStyle/>
          <a:p>
            <a:pPr>
              <a:spcBef>
                <a:spcPts val="133"/>
              </a:spcBef>
              <a:tabLst>
                <a:tab pos="683243" algn="l"/>
                <a:tab pos="1330925" algn="l"/>
              </a:tabLst>
            </a:pPr>
            <a:r>
              <a:rPr sz="2133" spc="-67" dirty="0">
                <a:latin typeface="Lucida Sans Unicode"/>
                <a:cs typeface="Lucida Sans Unicode"/>
              </a:rPr>
              <a:t>Q</a:t>
            </a:r>
            <a:r>
              <a:rPr sz="2133" dirty="0">
                <a:latin typeface="Lucida Sans Unicode"/>
                <a:cs typeface="Lucida Sans Unicode"/>
              </a:rPr>
              <a:t>	</a:t>
            </a:r>
            <a:r>
              <a:rPr sz="2133" spc="-67" dirty="0">
                <a:latin typeface="Lucida Sans Unicode"/>
                <a:cs typeface="Lucida Sans Unicode"/>
              </a:rPr>
              <a:t>K</a:t>
            </a:r>
            <a:r>
              <a:rPr sz="2133" dirty="0">
                <a:latin typeface="Lucida Sans Unicode"/>
                <a:cs typeface="Lucida Sans Unicode"/>
              </a:rPr>
              <a:t>	</a:t>
            </a:r>
            <a:r>
              <a:rPr sz="2133" spc="-67" dirty="0">
                <a:latin typeface="Lucida Sans Unicode"/>
                <a:cs typeface="Lucida Sans Unicode"/>
              </a:rPr>
              <a:t>V</a:t>
            </a:r>
            <a:endParaRPr sz="2133">
              <a:latin typeface="Lucida Sans Unicode"/>
              <a:cs typeface="Lucida Sans Unicode"/>
            </a:endParaRPr>
          </a:p>
        </p:txBody>
      </p:sp>
      <p:grpSp>
        <p:nvGrpSpPr>
          <p:cNvPr id="67" name="object 67"/>
          <p:cNvGrpSpPr/>
          <p:nvPr/>
        </p:nvGrpSpPr>
        <p:grpSpPr>
          <a:xfrm>
            <a:off x="2348483" y="2382087"/>
            <a:ext cx="7770707" cy="213360"/>
            <a:chOff x="1761362" y="1786565"/>
            <a:chExt cx="5828030" cy="160020"/>
          </a:xfrm>
        </p:grpSpPr>
        <p:sp>
          <p:nvSpPr>
            <p:cNvPr id="68" name="object 68"/>
            <p:cNvSpPr/>
            <p:nvPr/>
          </p:nvSpPr>
          <p:spPr>
            <a:xfrm>
              <a:off x="1874464"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69" name="object 69"/>
            <p:cNvSpPr/>
            <p:nvPr/>
          </p:nvSpPr>
          <p:spPr>
            <a:xfrm>
              <a:off x="1874464"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70" name="object 70"/>
            <p:cNvSpPr/>
            <p:nvPr/>
          </p:nvSpPr>
          <p:spPr>
            <a:xfrm>
              <a:off x="2678900"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1" name="object 71"/>
            <p:cNvSpPr/>
            <p:nvPr/>
          </p:nvSpPr>
          <p:spPr>
            <a:xfrm>
              <a:off x="2678900"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72" name="object 72"/>
            <p:cNvSpPr/>
            <p:nvPr/>
          </p:nvSpPr>
          <p:spPr>
            <a:xfrm>
              <a:off x="4280056"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3" name="object 73"/>
            <p:cNvSpPr/>
            <p:nvPr/>
          </p:nvSpPr>
          <p:spPr>
            <a:xfrm>
              <a:off x="4280056"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74" name="object 74"/>
            <p:cNvSpPr/>
            <p:nvPr/>
          </p:nvSpPr>
          <p:spPr>
            <a:xfrm>
              <a:off x="5087171"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5" name="object 75"/>
            <p:cNvSpPr/>
            <p:nvPr/>
          </p:nvSpPr>
          <p:spPr>
            <a:xfrm>
              <a:off x="5087171"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76" name="object 76"/>
            <p:cNvSpPr/>
            <p:nvPr/>
          </p:nvSpPr>
          <p:spPr>
            <a:xfrm>
              <a:off x="6689832"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7" name="object 77"/>
            <p:cNvSpPr/>
            <p:nvPr/>
          </p:nvSpPr>
          <p:spPr>
            <a:xfrm>
              <a:off x="6689832"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78" name="object 78"/>
            <p:cNvSpPr/>
            <p:nvPr/>
          </p:nvSpPr>
          <p:spPr>
            <a:xfrm>
              <a:off x="7493037"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79" name="object 79"/>
            <p:cNvSpPr/>
            <p:nvPr/>
          </p:nvSpPr>
          <p:spPr>
            <a:xfrm>
              <a:off x="7493037"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80" name="object 80"/>
            <p:cNvSpPr/>
            <p:nvPr/>
          </p:nvSpPr>
          <p:spPr>
            <a:xfrm>
              <a:off x="3481772"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1" name="object 81"/>
            <p:cNvSpPr/>
            <p:nvPr/>
          </p:nvSpPr>
          <p:spPr>
            <a:xfrm>
              <a:off x="3481772"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82" name="object 82"/>
            <p:cNvSpPr/>
            <p:nvPr/>
          </p:nvSpPr>
          <p:spPr>
            <a:xfrm>
              <a:off x="5889145" y="1792054"/>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3" name="object 83"/>
            <p:cNvSpPr/>
            <p:nvPr/>
          </p:nvSpPr>
          <p:spPr>
            <a:xfrm>
              <a:off x="5889145" y="1792054"/>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B45F06"/>
              </a:solidFill>
            </a:ln>
          </p:spPr>
          <p:txBody>
            <a:bodyPr wrap="square" lIns="0" tIns="0" rIns="0" bIns="0" rtlCol="0"/>
            <a:lstStyle/>
            <a:p>
              <a:endParaRPr sz="2400"/>
            </a:p>
          </p:txBody>
        </p:sp>
        <p:sp>
          <p:nvSpPr>
            <p:cNvPr id="84" name="object 84"/>
            <p:cNvSpPr/>
            <p:nvPr/>
          </p:nvSpPr>
          <p:spPr>
            <a:xfrm>
              <a:off x="3373420"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5" name="object 85"/>
            <p:cNvSpPr/>
            <p:nvPr/>
          </p:nvSpPr>
          <p:spPr>
            <a:xfrm>
              <a:off x="3373420"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86" name="object 86"/>
            <p:cNvSpPr/>
            <p:nvPr/>
          </p:nvSpPr>
          <p:spPr>
            <a:xfrm>
              <a:off x="4978818"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7" name="object 87"/>
            <p:cNvSpPr/>
            <p:nvPr/>
          </p:nvSpPr>
          <p:spPr>
            <a:xfrm>
              <a:off x="4978818"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88" name="object 88"/>
            <p:cNvSpPr/>
            <p:nvPr/>
          </p:nvSpPr>
          <p:spPr>
            <a:xfrm>
              <a:off x="5780793"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89" name="object 89"/>
            <p:cNvSpPr/>
            <p:nvPr/>
          </p:nvSpPr>
          <p:spPr>
            <a:xfrm>
              <a:off x="5780793"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90" name="object 90"/>
            <p:cNvSpPr/>
            <p:nvPr/>
          </p:nvSpPr>
          <p:spPr>
            <a:xfrm>
              <a:off x="6581479"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1" name="object 91"/>
            <p:cNvSpPr/>
            <p:nvPr/>
          </p:nvSpPr>
          <p:spPr>
            <a:xfrm>
              <a:off x="6581479"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92" name="object 92"/>
            <p:cNvSpPr/>
            <p:nvPr/>
          </p:nvSpPr>
          <p:spPr>
            <a:xfrm>
              <a:off x="7384685"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3" name="object 93"/>
            <p:cNvSpPr/>
            <p:nvPr/>
          </p:nvSpPr>
          <p:spPr>
            <a:xfrm>
              <a:off x="7384685"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94" name="object 94"/>
            <p:cNvSpPr/>
            <p:nvPr/>
          </p:nvSpPr>
          <p:spPr>
            <a:xfrm>
              <a:off x="4176628"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5" name="object 95"/>
            <p:cNvSpPr/>
            <p:nvPr/>
          </p:nvSpPr>
          <p:spPr>
            <a:xfrm>
              <a:off x="4176628"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96" name="object 96"/>
            <p:cNvSpPr/>
            <p:nvPr/>
          </p:nvSpPr>
          <p:spPr>
            <a:xfrm>
              <a:off x="1766124"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7" name="object 97"/>
            <p:cNvSpPr/>
            <p:nvPr/>
          </p:nvSpPr>
          <p:spPr>
            <a:xfrm>
              <a:off x="1766124"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98" name="object 98"/>
            <p:cNvSpPr/>
            <p:nvPr/>
          </p:nvSpPr>
          <p:spPr>
            <a:xfrm>
              <a:off x="2570560" y="1791327"/>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99" name="object 99"/>
            <p:cNvSpPr/>
            <p:nvPr/>
          </p:nvSpPr>
          <p:spPr>
            <a:xfrm>
              <a:off x="2570560" y="1791327"/>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5AB46E"/>
              </a:solidFill>
            </a:ln>
          </p:spPr>
          <p:txBody>
            <a:bodyPr wrap="square" lIns="0" tIns="0" rIns="0" bIns="0" rtlCol="0"/>
            <a:lstStyle/>
            <a:p>
              <a:endParaRPr sz="2400"/>
            </a:p>
          </p:txBody>
        </p:sp>
        <p:sp>
          <p:nvSpPr>
            <p:cNvPr id="100" name="object 100"/>
            <p:cNvSpPr/>
            <p:nvPr/>
          </p:nvSpPr>
          <p:spPr>
            <a:xfrm>
              <a:off x="1982173" y="1792761"/>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1" name="object 101"/>
            <p:cNvSpPr/>
            <p:nvPr/>
          </p:nvSpPr>
          <p:spPr>
            <a:xfrm>
              <a:off x="1982173" y="1792761"/>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02" name="object 102"/>
          <p:cNvSpPr txBox="1"/>
          <p:nvPr/>
        </p:nvSpPr>
        <p:spPr>
          <a:xfrm>
            <a:off x="2364321" y="2374879"/>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13"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03" name="object 103"/>
          <p:cNvGrpSpPr/>
          <p:nvPr/>
        </p:nvGrpSpPr>
        <p:grpSpPr>
          <a:xfrm>
            <a:off x="3709128" y="2383999"/>
            <a:ext cx="135467" cy="210820"/>
            <a:chOff x="2781846" y="1787999"/>
            <a:chExt cx="101600" cy="158115"/>
          </a:xfrm>
        </p:grpSpPr>
        <p:sp>
          <p:nvSpPr>
            <p:cNvPr id="104" name="object 104"/>
            <p:cNvSpPr/>
            <p:nvPr/>
          </p:nvSpPr>
          <p:spPr>
            <a:xfrm>
              <a:off x="2786609" y="1792762"/>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5" name="object 105"/>
            <p:cNvSpPr/>
            <p:nvPr/>
          </p:nvSpPr>
          <p:spPr>
            <a:xfrm>
              <a:off x="2786609" y="1792762"/>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06" name="object 106"/>
          <p:cNvSpPr txBox="1"/>
          <p:nvPr/>
        </p:nvSpPr>
        <p:spPr>
          <a:xfrm>
            <a:off x="3436903" y="2374879"/>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13"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07" name="object 107"/>
          <p:cNvGrpSpPr/>
          <p:nvPr/>
        </p:nvGrpSpPr>
        <p:grpSpPr>
          <a:xfrm>
            <a:off x="4779625" y="2383999"/>
            <a:ext cx="135467" cy="210820"/>
            <a:chOff x="3584719" y="1787999"/>
            <a:chExt cx="101600" cy="158115"/>
          </a:xfrm>
        </p:grpSpPr>
        <p:sp>
          <p:nvSpPr>
            <p:cNvPr id="108" name="object 108"/>
            <p:cNvSpPr/>
            <p:nvPr/>
          </p:nvSpPr>
          <p:spPr>
            <a:xfrm>
              <a:off x="3589481" y="1792762"/>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09" name="object 109"/>
            <p:cNvSpPr/>
            <p:nvPr/>
          </p:nvSpPr>
          <p:spPr>
            <a:xfrm>
              <a:off x="3589481" y="1792762"/>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10" name="object 110"/>
          <p:cNvSpPr txBox="1"/>
          <p:nvPr/>
        </p:nvSpPr>
        <p:spPr>
          <a:xfrm>
            <a:off x="4507383" y="2374879"/>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13"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11" name="object 111"/>
          <p:cNvGrpSpPr/>
          <p:nvPr/>
        </p:nvGrpSpPr>
        <p:grpSpPr>
          <a:xfrm>
            <a:off x="5844001" y="2383999"/>
            <a:ext cx="135467" cy="210820"/>
            <a:chOff x="4383001" y="1787999"/>
            <a:chExt cx="101600" cy="158115"/>
          </a:xfrm>
        </p:grpSpPr>
        <p:sp>
          <p:nvSpPr>
            <p:cNvPr id="112" name="object 112"/>
            <p:cNvSpPr/>
            <p:nvPr/>
          </p:nvSpPr>
          <p:spPr>
            <a:xfrm>
              <a:off x="4387764" y="1792762"/>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3" name="object 113"/>
            <p:cNvSpPr/>
            <p:nvPr/>
          </p:nvSpPr>
          <p:spPr>
            <a:xfrm>
              <a:off x="4387764" y="1792762"/>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14" name="object 114"/>
          <p:cNvSpPr txBox="1"/>
          <p:nvPr/>
        </p:nvSpPr>
        <p:spPr>
          <a:xfrm>
            <a:off x="5578326" y="2374879"/>
            <a:ext cx="410633"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93" dirty="0">
                <a:latin typeface="Lucida Sans Unicode"/>
                <a:cs typeface="Lucida Sans Unicode"/>
              </a:rPr>
              <a:t> </a:t>
            </a:r>
            <a:r>
              <a:rPr sz="1200" spc="-33" dirty="0">
                <a:latin typeface="Lucida Sans Unicode"/>
                <a:cs typeface="Lucida Sans Unicode"/>
              </a:rPr>
              <a:t>A</a:t>
            </a:r>
            <a:r>
              <a:rPr sz="1200" spc="-113"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15" name="object 115"/>
          <p:cNvGrpSpPr/>
          <p:nvPr/>
        </p:nvGrpSpPr>
        <p:grpSpPr>
          <a:xfrm>
            <a:off x="6920156" y="2383999"/>
            <a:ext cx="135467" cy="210820"/>
            <a:chOff x="5190117" y="1787999"/>
            <a:chExt cx="101600" cy="158115"/>
          </a:xfrm>
        </p:grpSpPr>
        <p:sp>
          <p:nvSpPr>
            <p:cNvPr id="116" name="object 116"/>
            <p:cNvSpPr/>
            <p:nvPr/>
          </p:nvSpPr>
          <p:spPr>
            <a:xfrm>
              <a:off x="5194879" y="1792762"/>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17" name="object 117"/>
            <p:cNvSpPr/>
            <p:nvPr/>
          </p:nvSpPr>
          <p:spPr>
            <a:xfrm>
              <a:off x="5194879" y="1792762"/>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18" name="object 118"/>
          <p:cNvSpPr txBox="1"/>
          <p:nvPr/>
        </p:nvSpPr>
        <p:spPr>
          <a:xfrm>
            <a:off x="6647912" y="2374879"/>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13"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19" name="object 119"/>
          <p:cNvGrpSpPr/>
          <p:nvPr/>
        </p:nvGrpSpPr>
        <p:grpSpPr>
          <a:xfrm>
            <a:off x="7989455" y="2383999"/>
            <a:ext cx="135467" cy="210820"/>
            <a:chOff x="5992091" y="1787999"/>
            <a:chExt cx="101600" cy="158115"/>
          </a:xfrm>
        </p:grpSpPr>
        <p:sp>
          <p:nvSpPr>
            <p:cNvPr id="120" name="object 120"/>
            <p:cNvSpPr/>
            <p:nvPr/>
          </p:nvSpPr>
          <p:spPr>
            <a:xfrm>
              <a:off x="5996854" y="1792762"/>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1" name="object 121"/>
            <p:cNvSpPr/>
            <p:nvPr/>
          </p:nvSpPr>
          <p:spPr>
            <a:xfrm>
              <a:off x="5996854" y="1792762"/>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22" name="object 122"/>
          <p:cNvSpPr txBox="1"/>
          <p:nvPr/>
        </p:nvSpPr>
        <p:spPr>
          <a:xfrm>
            <a:off x="7717212" y="2374879"/>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13"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23" name="object 123"/>
          <p:cNvGrpSpPr/>
          <p:nvPr/>
        </p:nvGrpSpPr>
        <p:grpSpPr>
          <a:xfrm>
            <a:off x="9057036" y="2383999"/>
            <a:ext cx="135467" cy="210820"/>
            <a:chOff x="6792777" y="1787999"/>
            <a:chExt cx="101600" cy="158115"/>
          </a:xfrm>
        </p:grpSpPr>
        <p:sp>
          <p:nvSpPr>
            <p:cNvPr id="124" name="object 124"/>
            <p:cNvSpPr/>
            <p:nvPr/>
          </p:nvSpPr>
          <p:spPr>
            <a:xfrm>
              <a:off x="6797540" y="1792762"/>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5" name="object 125"/>
            <p:cNvSpPr/>
            <p:nvPr/>
          </p:nvSpPr>
          <p:spPr>
            <a:xfrm>
              <a:off x="6797540" y="1792762"/>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26" name="object 126"/>
          <p:cNvSpPr txBox="1"/>
          <p:nvPr/>
        </p:nvSpPr>
        <p:spPr>
          <a:xfrm>
            <a:off x="8784795" y="2374879"/>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13"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27" name="object 127"/>
          <p:cNvGrpSpPr/>
          <p:nvPr/>
        </p:nvGrpSpPr>
        <p:grpSpPr>
          <a:xfrm>
            <a:off x="10127977" y="2383999"/>
            <a:ext cx="135467" cy="210820"/>
            <a:chOff x="7595983" y="1787999"/>
            <a:chExt cx="101600" cy="158115"/>
          </a:xfrm>
        </p:grpSpPr>
        <p:sp>
          <p:nvSpPr>
            <p:cNvPr id="128" name="object 128"/>
            <p:cNvSpPr/>
            <p:nvPr/>
          </p:nvSpPr>
          <p:spPr>
            <a:xfrm>
              <a:off x="7600746" y="1792762"/>
              <a:ext cx="92075" cy="148590"/>
            </a:xfrm>
            <a:custGeom>
              <a:avLst/>
              <a:gdLst/>
              <a:ahLst/>
              <a:cxnLst/>
              <a:rect l="l" t="t" r="r" b="b"/>
              <a:pathLst>
                <a:path w="92075" h="148589">
                  <a:moveTo>
                    <a:pt x="91499" y="148499"/>
                  </a:moveTo>
                  <a:lnTo>
                    <a:pt x="0" y="148499"/>
                  </a:lnTo>
                  <a:lnTo>
                    <a:pt x="0" y="0"/>
                  </a:lnTo>
                  <a:lnTo>
                    <a:pt x="91499" y="0"/>
                  </a:lnTo>
                  <a:lnTo>
                    <a:pt x="91499" y="148499"/>
                  </a:lnTo>
                  <a:close/>
                </a:path>
              </a:pathLst>
            </a:custGeom>
            <a:solidFill>
              <a:srgbClr val="FFFFFF"/>
            </a:solidFill>
          </p:spPr>
          <p:txBody>
            <a:bodyPr wrap="square" lIns="0" tIns="0" rIns="0" bIns="0" rtlCol="0"/>
            <a:lstStyle/>
            <a:p>
              <a:endParaRPr sz="2400"/>
            </a:p>
          </p:txBody>
        </p:sp>
        <p:sp>
          <p:nvSpPr>
            <p:cNvPr id="129" name="object 129"/>
            <p:cNvSpPr/>
            <p:nvPr/>
          </p:nvSpPr>
          <p:spPr>
            <a:xfrm>
              <a:off x="7600746" y="1792762"/>
              <a:ext cx="92075" cy="148590"/>
            </a:xfrm>
            <a:custGeom>
              <a:avLst/>
              <a:gdLst/>
              <a:ahLst/>
              <a:cxnLst/>
              <a:rect l="l" t="t" r="r" b="b"/>
              <a:pathLst>
                <a:path w="92075" h="148589">
                  <a:moveTo>
                    <a:pt x="0" y="0"/>
                  </a:moveTo>
                  <a:lnTo>
                    <a:pt x="91499" y="0"/>
                  </a:lnTo>
                  <a:lnTo>
                    <a:pt x="91499" y="148499"/>
                  </a:lnTo>
                  <a:lnTo>
                    <a:pt x="0" y="148499"/>
                  </a:lnTo>
                  <a:lnTo>
                    <a:pt x="0" y="0"/>
                  </a:lnTo>
                  <a:close/>
                </a:path>
              </a:pathLst>
            </a:custGeom>
            <a:ln w="9524">
              <a:solidFill>
                <a:srgbClr val="965AC8"/>
              </a:solidFill>
            </a:ln>
          </p:spPr>
          <p:txBody>
            <a:bodyPr wrap="square" lIns="0" tIns="0" rIns="0" bIns="0" rtlCol="0"/>
            <a:lstStyle/>
            <a:p>
              <a:endParaRPr sz="2400"/>
            </a:p>
          </p:txBody>
        </p:sp>
      </p:grpSp>
      <p:sp>
        <p:nvSpPr>
          <p:cNvPr id="130" name="object 130"/>
          <p:cNvSpPr txBox="1"/>
          <p:nvPr/>
        </p:nvSpPr>
        <p:spPr>
          <a:xfrm>
            <a:off x="9855735" y="2374879"/>
            <a:ext cx="416560" cy="201764"/>
          </a:xfrm>
          <a:prstGeom prst="rect">
            <a:avLst/>
          </a:prstGeom>
        </p:spPr>
        <p:txBody>
          <a:bodyPr vert="horz" wrap="square" lIns="0" tIns="16933" rIns="0" bIns="0" rtlCol="0">
            <a:spAutoFit/>
          </a:bodyPr>
          <a:lstStyle/>
          <a:p>
            <a:pPr>
              <a:spcBef>
                <a:spcPts val="133"/>
              </a:spcBef>
            </a:pPr>
            <a:r>
              <a:rPr sz="1200" dirty="0">
                <a:latin typeface="Lucida Sans Unicode"/>
                <a:cs typeface="Lucida Sans Unicode"/>
              </a:rPr>
              <a:t>V</a:t>
            </a:r>
            <a:r>
              <a:rPr sz="1200" spc="-40" dirty="0">
                <a:latin typeface="Lucida Sans Unicode"/>
                <a:cs typeface="Lucida Sans Unicode"/>
              </a:rPr>
              <a:t> </a:t>
            </a:r>
            <a:r>
              <a:rPr sz="1200" spc="-33" dirty="0">
                <a:latin typeface="Lucida Sans Unicode"/>
                <a:cs typeface="Lucida Sans Unicode"/>
              </a:rPr>
              <a:t>A</a:t>
            </a:r>
            <a:r>
              <a:rPr sz="1200" spc="-113" dirty="0">
                <a:latin typeface="Lucida Sans Unicode"/>
                <a:cs typeface="Lucida Sans Unicode"/>
              </a:rPr>
              <a:t> </a:t>
            </a:r>
            <a:r>
              <a:rPr sz="1200" spc="-67" dirty="0">
                <a:latin typeface="Lucida Sans Unicode"/>
                <a:cs typeface="Lucida Sans Unicode"/>
              </a:rPr>
              <a:t>O</a:t>
            </a:r>
            <a:endParaRPr sz="1200">
              <a:latin typeface="Lucida Sans Unicode"/>
              <a:cs typeface="Lucida Sans Unicode"/>
            </a:endParaRPr>
          </a:p>
        </p:txBody>
      </p:sp>
      <p:grpSp>
        <p:nvGrpSpPr>
          <p:cNvPr id="131" name="object 131"/>
          <p:cNvGrpSpPr/>
          <p:nvPr/>
        </p:nvGrpSpPr>
        <p:grpSpPr>
          <a:xfrm>
            <a:off x="2697470" y="2581910"/>
            <a:ext cx="7504853" cy="1464733"/>
            <a:chOff x="2023102" y="1936432"/>
            <a:chExt cx="5628640" cy="1098550"/>
          </a:xfrm>
        </p:grpSpPr>
        <p:sp>
          <p:nvSpPr>
            <p:cNvPr id="132" name="object 132"/>
            <p:cNvSpPr/>
            <p:nvPr/>
          </p:nvSpPr>
          <p:spPr>
            <a:xfrm>
              <a:off x="2027965" y="1941295"/>
              <a:ext cx="5338445" cy="715645"/>
            </a:xfrm>
            <a:custGeom>
              <a:avLst/>
              <a:gdLst/>
              <a:ahLst/>
              <a:cxnLst/>
              <a:rect l="l" t="t" r="r" b="b"/>
              <a:pathLst>
                <a:path w="5338445" h="715644">
                  <a:moveTo>
                    <a:pt x="5338199" y="715499"/>
                  </a:moveTo>
                  <a:lnTo>
                    <a:pt x="5318259" y="678504"/>
                  </a:lnTo>
                  <a:lnTo>
                    <a:pt x="5278249" y="652436"/>
                  </a:lnTo>
                  <a:lnTo>
                    <a:pt x="5240328" y="635812"/>
                  </a:lnTo>
                  <a:lnTo>
                    <a:pt x="5193836" y="619762"/>
                  </a:lnTo>
                  <a:lnTo>
                    <a:pt x="5139137" y="604261"/>
                  </a:lnTo>
                  <a:lnTo>
                    <a:pt x="5076595" y="589287"/>
                  </a:lnTo>
                  <a:lnTo>
                    <a:pt x="5006576" y="574814"/>
                  </a:lnTo>
                  <a:lnTo>
                    <a:pt x="4968876" y="567757"/>
                  </a:lnTo>
                  <a:lnTo>
                    <a:pt x="4929443" y="560817"/>
                  </a:lnTo>
                  <a:lnTo>
                    <a:pt x="4888324" y="553990"/>
                  </a:lnTo>
                  <a:lnTo>
                    <a:pt x="4845563" y="547272"/>
                  </a:lnTo>
                  <a:lnTo>
                    <a:pt x="4801206" y="540662"/>
                  </a:lnTo>
                  <a:lnTo>
                    <a:pt x="4755299" y="534156"/>
                  </a:lnTo>
                  <a:lnTo>
                    <a:pt x="4707887" y="527750"/>
                  </a:lnTo>
                  <a:lnTo>
                    <a:pt x="4659016" y="521443"/>
                  </a:lnTo>
                  <a:lnTo>
                    <a:pt x="4608732" y="515230"/>
                  </a:lnTo>
                  <a:lnTo>
                    <a:pt x="4557080" y="509108"/>
                  </a:lnTo>
                  <a:lnTo>
                    <a:pt x="4504106" y="503076"/>
                  </a:lnTo>
                  <a:lnTo>
                    <a:pt x="4449855" y="497128"/>
                  </a:lnTo>
                  <a:lnTo>
                    <a:pt x="4394372" y="491264"/>
                  </a:lnTo>
                  <a:lnTo>
                    <a:pt x="4337705" y="485479"/>
                  </a:lnTo>
                  <a:lnTo>
                    <a:pt x="4279897" y="479770"/>
                  </a:lnTo>
                  <a:lnTo>
                    <a:pt x="4220996" y="474134"/>
                  </a:lnTo>
                  <a:lnTo>
                    <a:pt x="4161045" y="468569"/>
                  </a:lnTo>
                  <a:lnTo>
                    <a:pt x="4100091" y="463071"/>
                  </a:lnTo>
                  <a:lnTo>
                    <a:pt x="4038180" y="457638"/>
                  </a:lnTo>
                  <a:lnTo>
                    <a:pt x="3975357" y="452265"/>
                  </a:lnTo>
                  <a:lnTo>
                    <a:pt x="3911668" y="446951"/>
                  </a:lnTo>
                  <a:lnTo>
                    <a:pt x="3847158" y="441691"/>
                  </a:lnTo>
                  <a:lnTo>
                    <a:pt x="3781873" y="436484"/>
                  </a:lnTo>
                  <a:lnTo>
                    <a:pt x="3715858" y="431325"/>
                  </a:lnTo>
                  <a:lnTo>
                    <a:pt x="3649160" y="426212"/>
                  </a:lnTo>
                  <a:lnTo>
                    <a:pt x="3581823" y="421142"/>
                  </a:lnTo>
                  <a:lnTo>
                    <a:pt x="3513893" y="416112"/>
                  </a:lnTo>
                  <a:lnTo>
                    <a:pt x="3445416" y="411118"/>
                  </a:lnTo>
                  <a:lnTo>
                    <a:pt x="3376438" y="406158"/>
                  </a:lnTo>
                  <a:lnTo>
                    <a:pt x="3307003" y="401229"/>
                  </a:lnTo>
                  <a:lnTo>
                    <a:pt x="3237159" y="396327"/>
                  </a:lnTo>
                  <a:lnTo>
                    <a:pt x="3166949" y="391449"/>
                  </a:lnTo>
                  <a:lnTo>
                    <a:pt x="3096421" y="386593"/>
                  </a:lnTo>
                  <a:lnTo>
                    <a:pt x="3025618" y="381756"/>
                  </a:lnTo>
                  <a:lnTo>
                    <a:pt x="2954588" y="376933"/>
                  </a:lnTo>
                  <a:lnTo>
                    <a:pt x="2883376" y="372123"/>
                  </a:lnTo>
                  <a:lnTo>
                    <a:pt x="2812026" y="367322"/>
                  </a:lnTo>
                  <a:lnTo>
                    <a:pt x="2740586" y="362527"/>
                  </a:lnTo>
                  <a:lnTo>
                    <a:pt x="2669099" y="357735"/>
                  </a:lnTo>
                  <a:lnTo>
                    <a:pt x="2597613" y="352943"/>
                  </a:lnTo>
                  <a:lnTo>
                    <a:pt x="2526173" y="348149"/>
                  </a:lnTo>
                  <a:lnTo>
                    <a:pt x="2454823" y="343348"/>
                  </a:lnTo>
                  <a:lnTo>
                    <a:pt x="2383611" y="338538"/>
                  </a:lnTo>
                  <a:lnTo>
                    <a:pt x="2312581" y="333715"/>
                  </a:lnTo>
                  <a:lnTo>
                    <a:pt x="2241778" y="328878"/>
                  </a:lnTo>
                  <a:lnTo>
                    <a:pt x="2171250" y="324022"/>
                  </a:lnTo>
                  <a:lnTo>
                    <a:pt x="2101040" y="319145"/>
                  </a:lnTo>
                  <a:lnTo>
                    <a:pt x="2031196" y="314243"/>
                  </a:lnTo>
                  <a:lnTo>
                    <a:pt x="1961761" y="309314"/>
                  </a:lnTo>
                  <a:lnTo>
                    <a:pt x="1892783" y="304354"/>
                  </a:lnTo>
                  <a:lnTo>
                    <a:pt x="1824306" y="299361"/>
                  </a:lnTo>
                  <a:lnTo>
                    <a:pt x="1756376" y="294331"/>
                  </a:lnTo>
                  <a:lnTo>
                    <a:pt x="1689039" y="289261"/>
                  </a:lnTo>
                  <a:lnTo>
                    <a:pt x="1622341" y="284148"/>
                  </a:lnTo>
                  <a:lnTo>
                    <a:pt x="1556326" y="278990"/>
                  </a:lnTo>
                  <a:lnTo>
                    <a:pt x="1491041" y="273783"/>
                  </a:lnTo>
                  <a:lnTo>
                    <a:pt x="1426531" y="268524"/>
                  </a:lnTo>
                  <a:lnTo>
                    <a:pt x="1362842" y="263210"/>
                  </a:lnTo>
                  <a:lnTo>
                    <a:pt x="1300019" y="257837"/>
                  </a:lnTo>
                  <a:lnTo>
                    <a:pt x="1238107" y="252404"/>
                  </a:lnTo>
                  <a:lnTo>
                    <a:pt x="1177154" y="246907"/>
                  </a:lnTo>
                  <a:lnTo>
                    <a:pt x="1117203" y="241342"/>
                  </a:lnTo>
                  <a:lnTo>
                    <a:pt x="1058302" y="235707"/>
                  </a:lnTo>
                  <a:lnTo>
                    <a:pt x="1000494" y="229999"/>
                  </a:lnTo>
                  <a:lnTo>
                    <a:pt x="943826" y="224214"/>
                  </a:lnTo>
                  <a:lnTo>
                    <a:pt x="888344" y="218350"/>
                  </a:lnTo>
                  <a:lnTo>
                    <a:pt x="834093" y="212404"/>
                  </a:lnTo>
                  <a:lnTo>
                    <a:pt x="781119" y="206372"/>
                  </a:lnTo>
                  <a:lnTo>
                    <a:pt x="729467" y="200251"/>
                  </a:lnTo>
                  <a:lnTo>
                    <a:pt x="679183" y="194038"/>
                  </a:lnTo>
                  <a:lnTo>
                    <a:pt x="630312" y="187731"/>
                  </a:lnTo>
                  <a:lnTo>
                    <a:pt x="582900" y="181326"/>
                  </a:lnTo>
                  <a:lnTo>
                    <a:pt x="536993" y="174821"/>
                  </a:lnTo>
                  <a:lnTo>
                    <a:pt x="492636" y="168211"/>
                  </a:lnTo>
                  <a:lnTo>
                    <a:pt x="449875" y="161495"/>
                  </a:lnTo>
                  <a:lnTo>
                    <a:pt x="408756" y="154668"/>
                  </a:lnTo>
                  <a:lnTo>
                    <a:pt x="369323" y="147728"/>
                  </a:lnTo>
                  <a:lnTo>
                    <a:pt x="331623" y="140673"/>
                  </a:lnTo>
                  <a:lnTo>
                    <a:pt x="261604" y="126201"/>
                  </a:lnTo>
                  <a:lnTo>
                    <a:pt x="199062" y="111228"/>
                  </a:lnTo>
                  <a:lnTo>
                    <a:pt x="144362" y="95729"/>
                  </a:lnTo>
                  <a:lnTo>
                    <a:pt x="97870" y="79680"/>
                  </a:lnTo>
                  <a:lnTo>
                    <a:pt x="59950" y="63057"/>
                  </a:lnTo>
                  <a:lnTo>
                    <a:pt x="19940" y="36992"/>
                  </a:lnTo>
                  <a:lnTo>
                    <a:pt x="1269" y="9497"/>
                  </a:lnTo>
                  <a:lnTo>
                    <a:pt x="0" y="0"/>
                  </a:lnTo>
                </a:path>
                <a:path w="5338445" h="715644">
                  <a:moveTo>
                    <a:pt x="5338199" y="715499"/>
                  </a:moveTo>
                  <a:lnTo>
                    <a:pt x="5315241" y="672590"/>
                  </a:lnTo>
                  <a:lnTo>
                    <a:pt x="5269397" y="642667"/>
                  </a:lnTo>
                  <a:lnTo>
                    <a:pt x="5226125" y="623722"/>
                  </a:lnTo>
                  <a:lnTo>
                    <a:pt x="5173260" y="605533"/>
                  </a:lnTo>
                  <a:lnTo>
                    <a:pt x="5111293" y="588062"/>
                  </a:lnTo>
                  <a:lnTo>
                    <a:pt x="5040717" y="571271"/>
                  </a:lnTo>
                  <a:lnTo>
                    <a:pt x="5002355" y="563118"/>
                  </a:lnTo>
                  <a:lnTo>
                    <a:pt x="4962024" y="555120"/>
                  </a:lnTo>
                  <a:lnTo>
                    <a:pt x="4919788" y="547272"/>
                  </a:lnTo>
                  <a:lnTo>
                    <a:pt x="4875706" y="539571"/>
                  </a:lnTo>
                  <a:lnTo>
                    <a:pt x="4829841" y="532010"/>
                  </a:lnTo>
                  <a:lnTo>
                    <a:pt x="4782254" y="524584"/>
                  </a:lnTo>
                  <a:lnTo>
                    <a:pt x="4733007" y="517290"/>
                  </a:lnTo>
                  <a:lnTo>
                    <a:pt x="4682161" y="510122"/>
                  </a:lnTo>
                  <a:lnTo>
                    <a:pt x="4629777" y="503076"/>
                  </a:lnTo>
                  <a:lnTo>
                    <a:pt x="4575918" y="496145"/>
                  </a:lnTo>
                  <a:lnTo>
                    <a:pt x="4520644" y="489327"/>
                  </a:lnTo>
                  <a:lnTo>
                    <a:pt x="4464018" y="482615"/>
                  </a:lnTo>
                  <a:lnTo>
                    <a:pt x="4406100" y="476005"/>
                  </a:lnTo>
                  <a:lnTo>
                    <a:pt x="4346952" y="469492"/>
                  </a:lnTo>
                  <a:lnTo>
                    <a:pt x="4286636" y="463071"/>
                  </a:lnTo>
                  <a:lnTo>
                    <a:pt x="4225212" y="456738"/>
                  </a:lnTo>
                  <a:lnTo>
                    <a:pt x="4162744" y="450487"/>
                  </a:lnTo>
                  <a:lnTo>
                    <a:pt x="4099291" y="444314"/>
                  </a:lnTo>
                  <a:lnTo>
                    <a:pt x="4034916" y="438214"/>
                  </a:lnTo>
                  <a:lnTo>
                    <a:pt x="3969680" y="432181"/>
                  </a:lnTo>
                  <a:lnTo>
                    <a:pt x="3903645" y="426212"/>
                  </a:lnTo>
                  <a:lnTo>
                    <a:pt x="3836872" y="420301"/>
                  </a:lnTo>
                  <a:lnTo>
                    <a:pt x="3769422" y="414443"/>
                  </a:lnTo>
                  <a:lnTo>
                    <a:pt x="3701358" y="408634"/>
                  </a:lnTo>
                  <a:lnTo>
                    <a:pt x="3632739" y="402869"/>
                  </a:lnTo>
                  <a:lnTo>
                    <a:pt x="3563629" y="397142"/>
                  </a:lnTo>
                  <a:lnTo>
                    <a:pt x="3494089" y="391449"/>
                  </a:lnTo>
                  <a:lnTo>
                    <a:pt x="3424179" y="385786"/>
                  </a:lnTo>
                  <a:lnTo>
                    <a:pt x="3353962" y="380147"/>
                  </a:lnTo>
                  <a:lnTo>
                    <a:pt x="3283499" y="374527"/>
                  </a:lnTo>
                  <a:lnTo>
                    <a:pt x="3212852" y="368921"/>
                  </a:lnTo>
                  <a:lnTo>
                    <a:pt x="3142081" y="363326"/>
                  </a:lnTo>
                  <a:lnTo>
                    <a:pt x="3071249" y="357735"/>
                  </a:lnTo>
                  <a:lnTo>
                    <a:pt x="3000418" y="352145"/>
                  </a:lnTo>
                  <a:lnTo>
                    <a:pt x="2929647" y="346549"/>
                  </a:lnTo>
                  <a:lnTo>
                    <a:pt x="2859000" y="340944"/>
                  </a:lnTo>
                  <a:lnTo>
                    <a:pt x="2788537" y="335324"/>
                  </a:lnTo>
                  <a:lnTo>
                    <a:pt x="2718320" y="329685"/>
                  </a:lnTo>
                  <a:lnTo>
                    <a:pt x="2648410" y="324022"/>
                  </a:lnTo>
                  <a:lnTo>
                    <a:pt x="2578870" y="318329"/>
                  </a:lnTo>
                  <a:lnTo>
                    <a:pt x="2509760" y="312603"/>
                  </a:lnTo>
                  <a:lnTo>
                    <a:pt x="2441141" y="306838"/>
                  </a:lnTo>
                  <a:lnTo>
                    <a:pt x="2373077" y="301029"/>
                  </a:lnTo>
                  <a:lnTo>
                    <a:pt x="2305627" y="295172"/>
                  </a:lnTo>
                  <a:lnTo>
                    <a:pt x="2238854" y="289261"/>
                  </a:lnTo>
                  <a:lnTo>
                    <a:pt x="2172818" y="283292"/>
                  </a:lnTo>
                  <a:lnTo>
                    <a:pt x="2107583" y="277260"/>
                  </a:lnTo>
                  <a:lnTo>
                    <a:pt x="2043208" y="271160"/>
                  </a:lnTo>
                  <a:lnTo>
                    <a:pt x="1979755" y="264987"/>
                  </a:lnTo>
                  <a:lnTo>
                    <a:pt x="1917286" y="258737"/>
                  </a:lnTo>
                  <a:lnTo>
                    <a:pt x="1855863" y="252404"/>
                  </a:lnTo>
                  <a:lnTo>
                    <a:pt x="1795547" y="245984"/>
                  </a:lnTo>
                  <a:lnTo>
                    <a:pt x="1736399" y="239472"/>
                  </a:lnTo>
                  <a:lnTo>
                    <a:pt x="1678481" y="232862"/>
                  </a:lnTo>
                  <a:lnTo>
                    <a:pt x="1621854" y="226151"/>
                  </a:lnTo>
                  <a:lnTo>
                    <a:pt x="1566581" y="219333"/>
                  </a:lnTo>
                  <a:lnTo>
                    <a:pt x="1512721" y="212404"/>
                  </a:lnTo>
                  <a:lnTo>
                    <a:pt x="1460338" y="205358"/>
                  </a:lnTo>
                  <a:lnTo>
                    <a:pt x="1409492" y="198190"/>
                  </a:lnTo>
                  <a:lnTo>
                    <a:pt x="1360245" y="190897"/>
                  </a:lnTo>
                  <a:lnTo>
                    <a:pt x="1312658" y="183473"/>
                  </a:lnTo>
                  <a:lnTo>
                    <a:pt x="1266793" y="175912"/>
                  </a:lnTo>
                  <a:lnTo>
                    <a:pt x="1222711" y="168211"/>
                  </a:lnTo>
                  <a:lnTo>
                    <a:pt x="1180474" y="160365"/>
                  </a:lnTo>
                  <a:lnTo>
                    <a:pt x="1140144" y="152368"/>
                  </a:lnTo>
                  <a:lnTo>
                    <a:pt x="1101781" y="144215"/>
                  </a:lnTo>
                  <a:lnTo>
                    <a:pt x="1031206" y="127426"/>
                  </a:lnTo>
                  <a:lnTo>
                    <a:pt x="969239" y="109957"/>
                  </a:lnTo>
                  <a:lnTo>
                    <a:pt x="916374" y="91769"/>
                  </a:lnTo>
                  <a:lnTo>
                    <a:pt x="873102" y="72825"/>
                  </a:lnTo>
                  <a:lnTo>
                    <a:pt x="839915" y="53085"/>
                  </a:lnTo>
                  <a:lnTo>
                    <a:pt x="810121" y="21899"/>
                  </a:lnTo>
                  <a:lnTo>
                    <a:pt x="805765" y="11063"/>
                  </a:lnTo>
                  <a:lnTo>
                    <a:pt x="804299" y="0"/>
                  </a:lnTo>
                </a:path>
                <a:path w="5338445" h="715644">
                  <a:moveTo>
                    <a:pt x="5338199" y="715499"/>
                  </a:moveTo>
                  <a:lnTo>
                    <a:pt x="5322853" y="676723"/>
                  </a:lnTo>
                  <a:lnTo>
                    <a:pt x="5278390" y="640738"/>
                  </a:lnTo>
                  <a:lnTo>
                    <a:pt x="5233737" y="618187"/>
                  </a:lnTo>
                  <a:lnTo>
                    <a:pt x="5177891" y="596710"/>
                  </a:lnTo>
                  <a:lnTo>
                    <a:pt x="5111553" y="576239"/>
                  </a:lnTo>
                  <a:lnTo>
                    <a:pt x="5074668" y="566360"/>
                  </a:lnTo>
                  <a:lnTo>
                    <a:pt x="5035422" y="556707"/>
                  </a:lnTo>
                  <a:lnTo>
                    <a:pt x="4993902" y="547272"/>
                  </a:lnTo>
                  <a:lnTo>
                    <a:pt x="4950196" y="538047"/>
                  </a:lnTo>
                  <a:lnTo>
                    <a:pt x="4904392" y="529024"/>
                  </a:lnTo>
                  <a:lnTo>
                    <a:pt x="4856576" y="520193"/>
                  </a:lnTo>
                  <a:lnTo>
                    <a:pt x="4806837" y="511546"/>
                  </a:lnTo>
                  <a:lnTo>
                    <a:pt x="4755262" y="503076"/>
                  </a:lnTo>
                  <a:lnTo>
                    <a:pt x="4701938" y="494773"/>
                  </a:lnTo>
                  <a:lnTo>
                    <a:pt x="4646952" y="486630"/>
                  </a:lnTo>
                  <a:lnTo>
                    <a:pt x="4590393" y="478637"/>
                  </a:lnTo>
                  <a:lnTo>
                    <a:pt x="4532347" y="470787"/>
                  </a:lnTo>
                  <a:lnTo>
                    <a:pt x="4472902" y="463071"/>
                  </a:lnTo>
                  <a:lnTo>
                    <a:pt x="4412145" y="455482"/>
                  </a:lnTo>
                  <a:lnTo>
                    <a:pt x="4350164" y="448009"/>
                  </a:lnTo>
                  <a:lnTo>
                    <a:pt x="4287047" y="440646"/>
                  </a:lnTo>
                  <a:lnTo>
                    <a:pt x="4222880" y="433383"/>
                  </a:lnTo>
                  <a:lnTo>
                    <a:pt x="4157751" y="426212"/>
                  </a:lnTo>
                  <a:lnTo>
                    <a:pt x="4091748" y="419125"/>
                  </a:lnTo>
                  <a:lnTo>
                    <a:pt x="4024958" y="412114"/>
                  </a:lnTo>
                  <a:lnTo>
                    <a:pt x="3957468" y="405170"/>
                  </a:lnTo>
                  <a:lnTo>
                    <a:pt x="3889367" y="398284"/>
                  </a:lnTo>
                  <a:lnTo>
                    <a:pt x="3820740" y="391449"/>
                  </a:lnTo>
                  <a:lnTo>
                    <a:pt x="3751677" y="384656"/>
                  </a:lnTo>
                  <a:lnTo>
                    <a:pt x="3682263" y="377897"/>
                  </a:lnTo>
                  <a:lnTo>
                    <a:pt x="3612588" y="371162"/>
                  </a:lnTo>
                  <a:lnTo>
                    <a:pt x="3542737" y="364444"/>
                  </a:lnTo>
                  <a:lnTo>
                    <a:pt x="3472799" y="357735"/>
                  </a:lnTo>
                  <a:lnTo>
                    <a:pt x="3402862" y="351026"/>
                  </a:lnTo>
                  <a:lnTo>
                    <a:pt x="3333011" y="344308"/>
                  </a:lnTo>
                  <a:lnTo>
                    <a:pt x="3263335" y="337574"/>
                  </a:lnTo>
                  <a:lnTo>
                    <a:pt x="3193922" y="330815"/>
                  </a:lnTo>
                  <a:lnTo>
                    <a:pt x="3124859" y="324022"/>
                  </a:lnTo>
                  <a:lnTo>
                    <a:pt x="3056232" y="317187"/>
                  </a:lnTo>
                  <a:lnTo>
                    <a:pt x="2988131" y="310302"/>
                  </a:lnTo>
                  <a:lnTo>
                    <a:pt x="2920641" y="303358"/>
                  </a:lnTo>
                  <a:lnTo>
                    <a:pt x="2853851" y="296347"/>
                  </a:lnTo>
                  <a:lnTo>
                    <a:pt x="2787848" y="289261"/>
                  </a:lnTo>
                  <a:lnTo>
                    <a:pt x="2722719" y="282091"/>
                  </a:lnTo>
                  <a:lnTo>
                    <a:pt x="2658552" y="274828"/>
                  </a:lnTo>
                  <a:lnTo>
                    <a:pt x="2595435" y="267465"/>
                  </a:lnTo>
                  <a:lnTo>
                    <a:pt x="2533454" y="259994"/>
                  </a:lnTo>
                  <a:lnTo>
                    <a:pt x="2472697" y="252404"/>
                  </a:lnTo>
                  <a:lnTo>
                    <a:pt x="2413252" y="244689"/>
                  </a:lnTo>
                  <a:lnTo>
                    <a:pt x="2355206" y="236840"/>
                  </a:lnTo>
                  <a:lnTo>
                    <a:pt x="2298647" y="228848"/>
                  </a:lnTo>
                  <a:lnTo>
                    <a:pt x="2243661" y="220706"/>
                  </a:lnTo>
                  <a:lnTo>
                    <a:pt x="2190337" y="212404"/>
                  </a:lnTo>
                  <a:lnTo>
                    <a:pt x="2138762" y="203934"/>
                  </a:lnTo>
                  <a:lnTo>
                    <a:pt x="2089022" y="195288"/>
                  </a:lnTo>
                  <a:lnTo>
                    <a:pt x="2041207" y="186458"/>
                  </a:lnTo>
                  <a:lnTo>
                    <a:pt x="1995403" y="177435"/>
                  </a:lnTo>
                  <a:lnTo>
                    <a:pt x="1951697" y="168211"/>
                  </a:lnTo>
                  <a:lnTo>
                    <a:pt x="1910177" y="158777"/>
                  </a:lnTo>
                  <a:lnTo>
                    <a:pt x="1870931" y="149126"/>
                  </a:lnTo>
                  <a:lnTo>
                    <a:pt x="1834046" y="139247"/>
                  </a:lnTo>
                  <a:lnTo>
                    <a:pt x="1767707" y="118778"/>
                  </a:lnTo>
                  <a:lnTo>
                    <a:pt x="1711862" y="97303"/>
                  </a:lnTo>
                  <a:lnTo>
                    <a:pt x="1667209" y="74755"/>
                  </a:lnTo>
                  <a:lnTo>
                    <a:pt x="1634448" y="51066"/>
                  </a:lnTo>
                  <a:lnTo>
                    <a:pt x="1609134" y="13248"/>
                  </a:lnTo>
                  <a:lnTo>
                    <a:pt x="1607399" y="0"/>
                  </a:lnTo>
                </a:path>
                <a:path w="5338445" h="715644">
                  <a:moveTo>
                    <a:pt x="5338199" y="715499"/>
                  </a:moveTo>
                  <a:lnTo>
                    <a:pt x="5320572" y="668864"/>
                  </a:lnTo>
                  <a:lnTo>
                    <a:pt x="5290254" y="640038"/>
                  </a:lnTo>
                  <a:lnTo>
                    <a:pt x="5246225" y="612885"/>
                  </a:lnTo>
                  <a:lnTo>
                    <a:pt x="5189466" y="587284"/>
                  </a:lnTo>
                  <a:lnTo>
                    <a:pt x="5120955" y="563118"/>
                  </a:lnTo>
                  <a:lnTo>
                    <a:pt x="5082598" y="551534"/>
                  </a:lnTo>
                  <a:lnTo>
                    <a:pt x="5041671" y="540265"/>
                  </a:lnTo>
                  <a:lnTo>
                    <a:pt x="4998296" y="529294"/>
                  </a:lnTo>
                  <a:lnTo>
                    <a:pt x="4952594" y="518607"/>
                  </a:lnTo>
                  <a:lnTo>
                    <a:pt x="4904690" y="508189"/>
                  </a:lnTo>
                  <a:lnTo>
                    <a:pt x="4854704" y="498024"/>
                  </a:lnTo>
                  <a:lnTo>
                    <a:pt x="4802759" y="488099"/>
                  </a:lnTo>
                  <a:lnTo>
                    <a:pt x="4748979" y="478397"/>
                  </a:lnTo>
                  <a:lnTo>
                    <a:pt x="4693484" y="468905"/>
                  </a:lnTo>
                  <a:lnTo>
                    <a:pt x="4636399" y="459606"/>
                  </a:lnTo>
                  <a:lnTo>
                    <a:pt x="4577844" y="450487"/>
                  </a:lnTo>
                  <a:lnTo>
                    <a:pt x="4517942" y="441533"/>
                  </a:lnTo>
                  <a:lnTo>
                    <a:pt x="4456817" y="432727"/>
                  </a:lnTo>
                  <a:lnTo>
                    <a:pt x="4394590" y="424056"/>
                  </a:lnTo>
                  <a:lnTo>
                    <a:pt x="4331383" y="415505"/>
                  </a:lnTo>
                  <a:lnTo>
                    <a:pt x="4267320" y="407058"/>
                  </a:lnTo>
                  <a:lnTo>
                    <a:pt x="4202522" y="398700"/>
                  </a:lnTo>
                  <a:lnTo>
                    <a:pt x="4137112" y="390418"/>
                  </a:lnTo>
                  <a:lnTo>
                    <a:pt x="4071212" y="382195"/>
                  </a:lnTo>
                  <a:lnTo>
                    <a:pt x="4004945" y="374017"/>
                  </a:lnTo>
                  <a:lnTo>
                    <a:pt x="3938434" y="365868"/>
                  </a:lnTo>
                  <a:lnTo>
                    <a:pt x="3871799" y="357735"/>
                  </a:lnTo>
                  <a:lnTo>
                    <a:pt x="3805165" y="349602"/>
                  </a:lnTo>
                  <a:lnTo>
                    <a:pt x="3738654" y="341454"/>
                  </a:lnTo>
                  <a:lnTo>
                    <a:pt x="3672387" y="333276"/>
                  </a:lnTo>
                  <a:lnTo>
                    <a:pt x="3606487" y="325054"/>
                  </a:lnTo>
                  <a:lnTo>
                    <a:pt x="3541077" y="316771"/>
                  </a:lnTo>
                  <a:lnTo>
                    <a:pt x="3476279" y="308414"/>
                  </a:lnTo>
                  <a:lnTo>
                    <a:pt x="3412216" y="299968"/>
                  </a:lnTo>
                  <a:lnTo>
                    <a:pt x="3349009" y="291417"/>
                  </a:lnTo>
                  <a:lnTo>
                    <a:pt x="3286782" y="282746"/>
                  </a:lnTo>
                  <a:lnTo>
                    <a:pt x="3225656" y="273941"/>
                  </a:lnTo>
                  <a:lnTo>
                    <a:pt x="3165755" y="264987"/>
                  </a:lnTo>
                  <a:lnTo>
                    <a:pt x="3107200" y="255869"/>
                  </a:lnTo>
                  <a:lnTo>
                    <a:pt x="3050114" y="246571"/>
                  </a:lnTo>
                  <a:lnTo>
                    <a:pt x="2994620" y="237080"/>
                  </a:lnTo>
                  <a:lnTo>
                    <a:pt x="2940839" y="227379"/>
                  </a:lnTo>
                  <a:lnTo>
                    <a:pt x="2888895" y="217455"/>
                  </a:lnTo>
                  <a:lnTo>
                    <a:pt x="2838909" y="207291"/>
                  </a:lnTo>
                  <a:lnTo>
                    <a:pt x="2791004" y="196874"/>
                  </a:lnTo>
                  <a:lnTo>
                    <a:pt x="2745303" y="186188"/>
                  </a:lnTo>
                  <a:lnTo>
                    <a:pt x="2701928" y="175218"/>
                  </a:lnTo>
                  <a:lnTo>
                    <a:pt x="2661000" y="163950"/>
                  </a:lnTo>
                  <a:lnTo>
                    <a:pt x="2622644" y="152368"/>
                  </a:lnTo>
                  <a:lnTo>
                    <a:pt x="2554133" y="128203"/>
                  </a:lnTo>
                  <a:lnTo>
                    <a:pt x="2497373" y="102605"/>
                  </a:lnTo>
                  <a:lnTo>
                    <a:pt x="2453345" y="75455"/>
                  </a:lnTo>
                  <a:lnTo>
                    <a:pt x="2423027" y="46631"/>
                  </a:lnTo>
                  <a:lnTo>
                    <a:pt x="2407399" y="16016"/>
                  </a:lnTo>
                  <a:lnTo>
                    <a:pt x="2405399" y="0"/>
                  </a:lnTo>
                </a:path>
                <a:path w="5338445" h="715644">
                  <a:moveTo>
                    <a:pt x="5338199" y="715499"/>
                  </a:moveTo>
                  <a:lnTo>
                    <a:pt x="5328269" y="674239"/>
                  </a:lnTo>
                  <a:lnTo>
                    <a:pt x="5299566" y="636139"/>
                  </a:lnTo>
                  <a:lnTo>
                    <a:pt x="5253723" y="600923"/>
                  </a:lnTo>
                  <a:lnTo>
                    <a:pt x="5192373" y="568317"/>
                  </a:lnTo>
                  <a:lnTo>
                    <a:pt x="5156392" y="552908"/>
                  </a:lnTo>
                  <a:lnTo>
                    <a:pt x="5117147" y="538047"/>
                  </a:lnTo>
                  <a:lnTo>
                    <a:pt x="5074841" y="523702"/>
                  </a:lnTo>
                  <a:lnTo>
                    <a:pt x="5029679" y="509838"/>
                  </a:lnTo>
                  <a:lnTo>
                    <a:pt x="4981863" y="496420"/>
                  </a:lnTo>
                  <a:lnTo>
                    <a:pt x="4931600" y="483415"/>
                  </a:lnTo>
                  <a:lnTo>
                    <a:pt x="4879091" y="470787"/>
                  </a:lnTo>
                  <a:lnTo>
                    <a:pt x="4824542" y="458503"/>
                  </a:lnTo>
                  <a:lnTo>
                    <a:pt x="4768157" y="446528"/>
                  </a:lnTo>
                  <a:lnTo>
                    <a:pt x="4710140" y="434828"/>
                  </a:lnTo>
                  <a:lnTo>
                    <a:pt x="4650694" y="423368"/>
                  </a:lnTo>
                  <a:lnTo>
                    <a:pt x="4590023" y="412114"/>
                  </a:lnTo>
                  <a:lnTo>
                    <a:pt x="4528333" y="401032"/>
                  </a:lnTo>
                  <a:lnTo>
                    <a:pt x="4465826" y="390088"/>
                  </a:lnTo>
                  <a:lnTo>
                    <a:pt x="4402707" y="379246"/>
                  </a:lnTo>
                  <a:lnTo>
                    <a:pt x="4339180" y="368474"/>
                  </a:lnTo>
                  <a:lnTo>
                    <a:pt x="4275449" y="357735"/>
                  </a:lnTo>
                  <a:lnTo>
                    <a:pt x="4211718" y="346997"/>
                  </a:lnTo>
                  <a:lnTo>
                    <a:pt x="4148192" y="336225"/>
                  </a:lnTo>
                  <a:lnTo>
                    <a:pt x="4085073" y="325383"/>
                  </a:lnTo>
                  <a:lnTo>
                    <a:pt x="4022566" y="314439"/>
                  </a:lnTo>
                  <a:lnTo>
                    <a:pt x="3960875" y="303358"/>
                  </a:lnTo>
                  <a:lnTo>
                    <a:pt x="3900205" y="292105"/>
                  </a:lnTo>
                  <a:lnTo>
                    <a:pt x="3840759" y="280646"/>
                  </a:lnTo>
                  <a:lnTo>
                    <a:pt x="3782742" y="268946"/>
                  </a:lnTo>
                  <a:lnTo>
                    <a:pt x="3726356" y="256972"/>
                  </a:lnTo>
                  <a:lnTo>
                    <a:pt x="3671807" y="244689"/>
                  </a:lnTo>
                  <a:lnTo>
                    <a:pt x="3619299" y="232063"/>
                  </a:lnTo>
                  <a:lnTo>
                    <a:pt x="3569035" y="219058"/>
                  </a:lnTo>
                  <a:lnTo>
                    <a:pt x="3521220" y="205642"/>
                  </a:lnTo>
                  <a:lnTo>
                    <a:pt x="3476057" y="191779"/>
                  </a:lnTo>
                  <a:lnTo>
                    <a:pt x="3433751" y="177435"/>
                  </a:lnTo>
                  <a:lnTo>
                    <a:pt x="3394506" y="162577"/>
                  </a:lnTo>
                  <a:lnTo>
                    <a:pt x="3358526" y="147168"/>
                  </a:lnTo>
                  <a:lnTo>
                    <a:pt x="3297175" y="114566"/>
                  </a:lnTo>
                  <a:lnTo>
                    <a:pt x="3251333" y="79354"/>
                  </a:lnTo>
                  <a:lnTo>
                    <a:pt x="3222630" y="41256"/>
                  </a:lnTo>
                  <a:lnTo>
                    <a:pt x="3215216" y="21040"/>
                  </a:lnTo>
                  <a:lnTo>
                    <a:pt x="3212699" y="0"/>
                  </a:lnTo>
                </a:path>
                <a:path w="5338445" h="715644">
                  <a:moveTo>
                    <a:pt x="5326102" y="658417"/>
                  </a:moveTo>
                  <a:lnTo>
                    <a:pt x="5305481" y="623722"/>
                  </a:lnTo>
                  <a:lnTo>
                    <a:pt x="5251354" y="571271"/>
                  </a:lnTo>
                  <a:lnTo>
                    <a:pt x="5216050" y="547272"/>
                  </a:lnTo>
                  <a:lnTo>
                    <a:pt x="5175900" y="524584"/>
                  </a:lnTo>
                  <a:lnTo>
                    <a:pt x="5131387" y="503075"/>
                  </a:lnTo>
                  <a:lnTo>
                    <a:pt x="5088549" y="484841"/>
                  </a:lnTo>
                  <a:lnTo>
                    <a:pt x="5042988" y="467342"/>
                  </a:lnTo>
                  <a:lnTo>
                    <a:pt x="4995044" y="450487"/>
                  </a:lnTo>
                  <a:lnTo>
                    <a:pt x="4945057" y="434185"/>
                  </a:lnTo>
                  <a:lnTo>
                    <a:pt x="4893368" y="418343"/>
                  </a:lnTo>
                  <a:lnTo>
                    <a:pt x="4840317" y="402869"/>
                  </a:lnTo>
                  <a:lnTo>
                    <a:pt x="4786245" y="387671"/>
                  </a:lnTo>
                  <a:lnTo>
                    <a:pt x="4731492" y="372657"/>
                  </a:lnTo>
                  <a:lnTo>
                    <a:pt x="4676399" y="357735"/>
                  </a:lnTo>
                  <a:lnTo>
                    <a:pt x="4618073" y="341934"/>
                  </a:lnTo>
                  <a:lnTo>
                    <a:pt x="4560150" y="326024"/>
                  </a:lnTo>
                  <a:lnTo>
                    <a:pt x="4503035" y="309895"/>
                  </a:lnTo>
                  <a:lnTo>
                    <a:pt x="4447133" y="293439"/>
                  </a:lnTo>
                  <a:lnTo>
                    <a:pt x="4392848" y="276546"/>
                  </a:lnTo>
                  <a:lnTo>
                    <a:pt x="4340583" y="259107"/>
                  </a:lnTo>
                  <a:lnTo>
                    <a:pt x="4290742" y="241013"/>
                  </a:lnTo>
                  <a:lnTo>
                    <a:pt x="4243731" y="222154"/>
                  </a:lnTo>
                  <a:lnTo>
                    <a:pt x="4199952" y="202421"/>
                  </a:lnTo>
                  <a:lnTo>
                    <a:pt x="4159810" y="181706"/>
                  </a:lnTo>
                  <a:lnTo>
                    <a:pt x="4123710" y="159898"/>
                  </a:lnTo>
                  <a:lnTo>
                    <a:pt x="4092054" y="136889"/>
                  </a:lnTo>
                  <a:lnTo>
                    <a:pt x="4043696" y="86830"/>
                  </a:lnTo>
                  <a:lnTo>
                    <a:pt x="4017967" y="30654"/>
                  </a:lnTo>
                  <a:lnTo>
                    <a:pt x="4014599" y="0"/>
                  </a:lnTo>
                </a:path>
              </a:pathLst>
            </a:custGeom>
            <a:ln w="9724">
              <a:solidFill>
                <a:srgbClr val="965AC8"/>
              </a:solidFill>
            </a:ln>
          </p:spPr>
          <p:txBody>
            <a:bodyPr wrap="square" lIns="0" tIns="0" rIns="0" bIns="0" rtlCol="0"/>
            <a:lstStyle/>
            <a:p>
              <a:endParaRPr sz="2400"/>
            </a:p>
          </p:txBody>
        </p:sp>
        <p:sp>
          <p:nvSpPr>
            <p:cNvPr id="133" name="object 133"/>
            <p:cNvSpPr/>
            <p:nvPr/>
          </p:nvSpPr>
          <p:spPr>
            <a:xfrm>
              <a:off x="7338353" y="2596382"/>
              <a:ext cx="31750" cy="46990"/>
            </a:xfrm>
            <a:custGeom>
              <a:avLst/>
              <a:gdLst/>
              <a:ahLst/>
              <a:cxnLst/>
              <a:rect l="l" t="t" r="r" b="b"/>
              <a:pathLst>
                <a:path w="31750" h="46989">
                  <a:moveTo>
                    <a:pt x="24864" y="46504"/>
                  </a:moveTo>
                  <a:lnTo>
                    <a:pt x="0" y="6660"/>
                  </a:lnTo>
                  <a:lnTo>
                    <a:pt x="31428" y="0"/>
                  </a:lnTo>
                  <a:lnTo>
                    <a:pt x="24864" y="46504"/>
                  </a:lnTo>
                  <a:close/>
                </a:path>
              </a:pathLst>
            </a:custGeom>
            <a:solidFill>
              <a:srgbClr val="965AC8"/>
            </a:solidFill>
          </p:spPr>
          <p:txBody>
            <a:bodyPr wrap="square" lIns="0" tIns="0" rIns="0" bIns="0" rtlCol="0"/>
            <a:lstStyle/>
            <a:p>
              <a:endParaRPr sz="2400"/>
            </a:p>
          </p:txBody>
        </p:sp>
        <p:sp>
          <p:nvSpPr>
            <p:cNvPr id="134" name="object 134"/>
            <p:cNvSpPr/>
            <p:nvPr/>
          </p:nvSpPr>
          <p:spPr>
            <a:xfrm>
              <a:off x="7338353" y="2596382"/>
              <a:ext cx="31750" cy="46990"/>
            </a:xfrm>
            <a:custGeom>
              <a:avLst/>
              <a:gdLst/>
              <a:ahLst/>
              <a:cxnLst/>
              <a:rect l="l" t="t" r="r" b="b"/>
              <a:pathLst>
                <a:path w="31750" h="46989">
                  <a:moveTo>
                    <a:pt x="0" y="6660"/>
                  </a:moveTo>
                  <a:lnTo>
                    <a:pt x="24864" y="46504"/>
                  </a:lnTo>
                  <a:lnTo>
                    <a:pt x="31428" y="0"/>
                  </a:lnTo>
                  <a:lnTo>
                    <a:pt x="0" y="6660"/>
                  </a:lnTo>
                  <a:close/>
                </a:path>
              </a:pathLst>
            </a:custGeom>
            <a:ln w="9724">
              <a:solidFill>
                <a:srgbClr val="965AC8"/>
              </a:solidFill>
            </a:ln>
          </p:spPr>
          <p:txBody>
            <a:bodyPr wrap="square" lIns="0" tIns="0" rIns="0" bIns="0" rtlCol="0"/>
            <a:lstStyle/>
            <a:p>
              <a:endParaRPr sz="2400"/>
            </a:p>
          </p:txBody>
        </p:sp>
        <p:sp>
          <p:nvSpPr>
            <p:cNvPr id="135" name="object 135"/>
            <p:cNvSpPr/>
            <p:nvPr/>
          </p:nvSpPr>
          <p:spPr>
            <a:xfrm>
              <a:off x="6843265" y="1941295"/>
              <a:ext cx="803275" cy="715645"/>
            </a:xfrm>
            <a:custGeom>
              <a:avLst/>
              <a:gdLst/>
              <a:ahLst/>
              <a:cxnLst/>
              <a:rect l="l" t="t" r="r" b="b"/>
              <a:pathLst>
                <a:path w="803275" h="715644">
                  <a:moveTo>
                    <a:pt x="522899" y="715499"/>
                  </a:moveTo>
                  <a:lnTo>
                    <a:pt x="519108" y="664429"/>
                  </a:lnTo>
                  <a:lnTo>
                    <a:pt x="508258" y="618187"/>
                  </a:lnTo>
                  <a:lnTo>
                    <a:pt x="491133" y="576239"/>
                  </a:lnTo>
                  <a:lnTo>
                    <a:pt x="468518" y="538047"/>
                  </a:lnTo>
                  <a:lnTo>
                    <a:pt x="441196" y="503076"/>
                  </a:lnTo>
                  <a:lnTo>
                    <a:pt x="409953" y="470787"/>
                  </a:lnTo>
                  <a:lnTo>
                    <a:pt x="375572" y="440646"/>
                  </a:lnTo>
                  <a:lnTo>
                    <a:pt x="338839" y="412114"/>
                  </a:lnTo>
                  <a:lnTo>
                    <a:pt x="300536" y="384656"/>
                  </a:lnTo>
                  <a:lnTo>
                    <a:pt x="261449" y="357735"/>
                  </a:lnTo>
                  <a:lnTo>
                    <a:pt x="222363" y="330815"/>
                  </a:lnTo>
                  <a:lnTo>
                    <a:pt x="184060" y="303358"/>
                  </a:lnTo>
                  <a:lnTo>
                    <a:pt x="147327" y="274828"/>
                  </a:lnTo>
                  <a:lnTo>
                    <a:pt x="112946" y="244689"/>
                  </a:lnTo>
                  <a:lnTo>
                    <a:pt x="81703" y="212404"/>
                  </a:lnTo>
                  <a:lnTo>
                    <a:pt x="54381" y="177435"/>
                  </a:lnTo>
                  <a:lnTo>
                    <a:pt x="31766" y="139247"/>
                  </a:lnTo>
                  <a:lnTo>
                    <a:pt x="14641" y="97303"/>
                  </a:lnTo>
                  <a:lnTo>
                    <a:pt x="3791" y="51066"/>
                  </a:lnTo>
                  <a:lnTo>
                    <a:pt x="0" y="0"/>
                  </a:lnTo>
                </a:path>
                <a:path w="803275" h="715644">
                  <a:moveTo>
                    <a:pt x="522899" y="715499"/>
                  </a:moveTo>
                  <a:lnTo>
                    <a:pt x="526046" y="652436"/>
                  </a:lnTo>
                  <a:lnTo>
                    <a:pt x="534939" y="596710"/>
                  </a:lnTo>
                  <a:lnTo>
                    <a:pt x="548758" y="547272"/>
                  </a:lnTo>
                  <a:lnTo>
                    <a:pt x="566681" y="503076"/>
                  </a:lnTo>
                  <a:lnTo>
                    <a:pt x="587887" y="463071"/>
                  </a:lnTo>
                  <a:lnTo>
                    <a:pt x="611557" y="426212"/>
                  </a:lnTo>
                  <a:lnTo>
                    <a:pt x="636868" y="391449"/>
                  </a:lnTo>
                  <a:lnTo>
                    <a:pt x="662999" y="357735"/>
                  </a:lnTo>
                  <a:lnTo>
                    <a:pt x="689131" y="324022"/>
                  </a:lnTo>
                  <a:lnTo>
                    <a:pt x="714442" y="289261"/>
                  </a:lnTo>
                  <a:lnTo>
                    <a:pt x="738112" y="252404"/>
                  </a:lnTo>
                  <a:lnTo>
                    <a:pt x="759318" y="212404"/>
                  </a:lnTo>
                  <a:lnTo>
                    <a:pt x="777241" y="168211"/>
                  </a:lnTo>
                  <a:lnTo>
                    <a:pt x="791060" y="118778"/>
                  </a:lnTo>
                  <a:lnTo>
                    <a:pt x="799953" y="63057"/>
                  </a:lnTo>
                  <a:lnTo>
                    <a:pt x="803099" y="0"/>
                  </a:lnTo>
                </a:path>
              </a:pathLst>
            </a:custGeom>
            <a:ln w="9724">
              <a:solidFill>
                <a:srgbClr val="965AC8"/>
              </a:solidFill>
            </a:ln>
          </p:spPr>
          <p:txBody>
            <a:bodyPr wrap="square" lIns="0" tIns="0" rIns="0" bIns="0" rtlCol="0"/>
            <a:lstStyle/>
            <a:p>
              <a:endParaRPr sz="2400"/>
            </a:p>
          </p:txBody>
        </p:sp>
        <p:sp>
          <p:nvSpPr>
            <p:cNvPr id="136" name="object 136"/>
            <p:cNvSpPr/>
            <p:nvPr/>
          </p:nvSpPr>
          <p:spPr>
            <a:xfrm>
              <a:off x="7183314" y="2656795"/>
              <a:ext cx="365760" cy="365760"/>
            </a:xfrm>
            <a:custGeom>
              <a:avLst/>
              <a:gdLst/>
              <a:ahLst/>
              <a:cxnLst/>
              <a:rect l="l" t="t" r="r" b="b"/>
              <a:pathLst>
                <a:path w="365759" h="365760">
                  <a:moveTo>
                    <a:pt x="365699" y="365699"/>
                  </a:moveTo>
                  <a:lnTo>
                    <a:pt x="0" y="365699"/>
                  </a:lnTo>
                  <a:lnTo>
                    <a:pt x="0" y="0"/>
                  </a:lnTo>
                  <a:lnTo>
                    <a:pt x="365699" y="0"/>
                  </a:lnTo>
                  <a:lnTo>
                    <a:pt x="365699" y="365699"/>
                  </a:lnTo>
                  <a:close/>
                </a:path>
              </a:pathLst>
            </a:custGeom>
            <a:solidFill>
              <a:srgbClr val="FFFFFF"/>
            </a:solidFill>
          </p:spPr>
          <p:txBody>
            <a:bodyPr wrap="square" lIns="0" tIns="0" rIns="0" bIns="0" rtlCol="0"/>
            <a:lstStyle/>
            <a:p>
              <a:endParaRPr sz="2400"/>
            </a:p>
          </p:txBody>
        </p:sp>
        <p:sp>
          <p:nvSpPr>
            <p:cNvPr id="137" name="object 137"/>
            <p:cNvSpPr/>
            <p:nvPr/>
          </p:nvSpPr>
          <p:spPr>
            <a:xfrm>
              <a:off x="7183314" y="2656795"/>
              <a:ext cx="365760" cy="365760"/>
            </a:xfrm>
            <a:custGeom>
              <a:avLst/>
              <a:gdLst/>
              <a:ahLst/>
              <a:cxnLst/>
              <a:rect l="l" t="t" r="r" b="b"/>
              <a:pathLst>
                <a:path w="365759" h="365760">
                  <a:moveTo>
                    <a:pt x="0" y="0"/>
                  </a:moveTo>
                  <a:lnTo>
                    <a:pt x="365699" y="0"/>
                  </a:lnTo>
                  <a:lnTo>
                    <a:pt x="365699" y="365699"/>
                  </a:lnTo>
                  <a:lnTo>
                    <a:pt x="0" y="365699"/>
                  </a:lnTo>
                  <a:lnTo>
                    <a:pt x="0" y="0"/>
                  </a:lnTo>
                  <a:close/>
                </a:path>
              </a:pathLst>
            </a:custGeom>
            <a:ln w="24774">
              <a:solidFill>
                <a:srgbClr val="965AC8"/>
              </a:solidFill>
            </a:ln>
          </p:spPr>
          <p:txBody>
            <a:bodyPr wrap="square" lIns="0" tIns="0" rIns="0" bIns="0" rtlCol="0"/>
            <a:lstStyle/>
            <a:p>
              <a:endParaRPr sz="2400"/>
            </a:p>
          </p:txBody>
        </p:sp>
      </p:grpSp>
      <p:sp>
        <p:nvSpPr>
          <p:cNvPr id="138" name="object 138"/>
          <p:cNvSpPr txBox="1"/>
          <p:nvPr/>
        </p:nvSpPr>
        <p:spPr>
          <a:xfrm>
            <a:off x="9715102" y="3595863"/>
            <a:ext cx="230293" cy="345330"/>
          </a:xfrm>
          <a:prstGeom prst="rect">
            <a:avLst/>
          </a:prstGeom>
        </p:spPr>
        <p:txBody>
          <a:bodyPr vert="horz" wrap="square" lIns="0" tIns="16933" rIns="0" bIns="0" rtlCol="0">
            <a:spAutoFit/>
          </a:bodyPr>
          <a:lstStyle/>
          <a:p>
            <a:pPr>
              <a:spcBef>
                <a:spcPts val="133"/>
              </a:spcBef>
            </a:pPr>
            <a:r>
              <a:rPr sz="2133" spc="-67" dirty="0">
                <a:latin typeface="Lucida Sans Unicode"/>
                <a:cs typeface="Lucida Sans Unicode"/>
              </a:rPr>
              <a:t>O</a:t>
            </a:r>
            <a:endParaRPr sz="2133">
              <a:latin typeface="Lucida Sans Unicode"/>
              <a:cs typeface="Lucida Sans Unicode"/>
            </a:endParaRPr>
          </a:p>
        </p:txBody>
      </p:sp>
      <p:sp>
        <p:nvSpPr>
          <p:cNvPr id="140" name="TextBox 139">
            <a:extLst>
              <a:ext uri="{FF2B5EF4-FFF2-40B4-BE49-F238E27FC236}">
                <a16:creationId xmlns:a16="http://schemas.microsoft.com/office/drawing/2014/main" id="{1CCABD8A-CFF5-F12F-E6F7-24616A67EFD0}"/>
              </a:ext>
            </a:extLst>
          </p:cNvPr>
          <p:cNvSpPr txBox="1"/>
          <p:nvPr/>
        </p:nvSpPr>
        <p:spPr>
          <a:xfrm>
            <a:off x="2064600" y="5869812"/>
            <a:ext cx="7164658" cy="461665"/>
          </a:xfrm>
          <a:prstGeom prst="rect">
            <a:avLst/>
          </a:prstGeom>
          <a:noFill/>
        </p:spPr>
        <p:txBody>
          <a:bodyPr wrap="square">
            <a:spAutoFit/>
          </a:bodyPr>
          <a:lstStyle/>
          <a:p>
            <a:r>
              <a:rPr lang="en-US" sz="2400" dirty="0"/>
              <a:t>Write back O back to VRAM</a:t>
            </a:r>
          </a:p>
        </p:txBody>
      </p:sp>
    </p:spTree>
    <p:extLst>
      <p:ext uri="{BB962C8B-B14F-4D97-AF65-F5344CB8AC3E}">
        <p14:creationId xmlns:p14="http://schemas.microsoft.com/office/powerpoint/2010/main" val="2063769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spc="80" dirty="0"/>
              <a:t>Memory</a:t>
            </a:r>
            <a:r>
              <a:rPr spc="-147" dirty="0"/>
              <a:t> </a:t>
            </a:r>
            <a:r>
              <a:rPr spc="-13" dirty="0"/>
              <a:t>bottlenecks</a:t>
            </a:r>
          </a:p>
        </p:txBody>
      </p:sp>
      <p:sp>
        <p:nvSpPr>
          <p:cNvPr id="3" name="object 3"/>
          <p:cNvSpPr/>
          <p:nvPr/>
        </p:nvSpPr>
        <p:spPr>
          <a:xfrm>
            <a:off x="1431063" y="1548384"/>
            <a:ext cx="9338733" cy="4060613"/>
          </a:xfrm>
          <a:custGeom>
            <a:avLst/>
            <a:gdLst/>
            <a:ahLst/>
            <a:cxnLst/>
            <a:rect l="l" t="t" r="r" b="b"/>
            <a:pathLst>
              <a:path w="7004050" h="3045460">
                <a:moveTo>
                  <a:pt x="0" y="0"/>
                </a:moveTo>
                <a:lnTo>
                  <a:pt x="7003499" y="0"/>
                </a:lnTo>
                <a:lnTo>
                  <a:pt x="7003499" y="3044999"/>
                </a:lnTo>
                <a:lnTo>
                  <a:pt x="0" y="3044999"/>
                </a:lnTo>
                <a:lnTo>
                  <a:pt x="0" y="0"/>
                </a:lnTo>
                <a:close/>
              </a:path>
            </a:pathLst>
          </a:custGeom>
          <a:ln w="19049">
            <a:solidFill>
              <a:srgbClr val="237A94"/>
            </a:solidFill>
          </a:ln>
        </p:spPr>
        <p:txBody>
          <a:bodyPr wrap="square" lIns="0" tIns="0" rIns="0" bIns="0" rtlCol="0"/>
          <a:lstStyle/>
          <a:p>
            <a:endParaRPr sz="2400"/>
          </a:p>
        </p:txBody>
      </p:sp>
      <p:sp>
        <p:nvSpPr>
          <p:cNvPr id="4" name="object 4"/>
          <p:cNvSpPr txBox="1"/>
          <p:nvPr/>
        </p:nvSpPr>
        <p:spPr>
          <a:xfrm>
            <a:off x="1519351" y="5238451"/>
            <a:ext cx="513080" cy="304421"/>
          </a:xfrm>
          <a:prstGeom prst="rect">
            <a:avLst/>
          </a:prstGeom>
        </p:spPr>
        <p:txBody>
          <a:bodyPr vert="horz" wrap="square" lIns="0" tIns="16933" rIns="0" bIns="0" rtlCol="0">
            <a:spAutoFit/>
          </a:bodyPr>
          <a:lstStyle/>
          <a:p>
            <a:pPr>
              <a:spcBef>
                <a:spcPts val="133"/>
              </a:spcBef>
            </a:pPr>
            <a:r>
              <a:rPr sz="1867" spc="-167" dirty="0">
                <a:solidFill>
                  <a:srgbClr val="999999"/>
                </a:solidFill>
                <a:latin typeface="Arial Black"/>
                <a:cs typeface="Arial Black"/>
              </a:rPr>
              <a:t>GPU</a:t>
            </a:r>
            <a:endParaRPr sz="1867">
              <a:latin typeface="Arial Black"/>
              <a:cs typeface="Arial Black"/>
            </a:endParaRPr>
          </a:p>
        </p:txBody>
      </p:sp>
      <p:sp>
        <p:nvSpPr>
          <p:cNvPr id="5" name="object 5"/>
          <p:cNvSpPr txBox="1"/>
          <p:nvPr/>
        </p:nvSpPr>
        <p:spPr>
          <a:xfrm>
            <a:off x="1945434" y="1710578"/>
            <a:ext cx="1555327" cy="256480"/>
          </a:xfrm>
          <a:prstGeom prst="rect">
            <a:avLst/>
          </a:prstGeom>
        </p:spPr>
        <p:txBody>
          <a:bodyPr vert="horz" wrap="square" lIns="0" tIns="10160" rIns="0" bIns="0" rtlCol="0">
            <a:spAutoFit/>
          </a:bodyPr>
          <a:lstStyle/>
          <a:p>
            <a:pPr>
              <a:spcBef>
                <a:spcPts val="80"/>
              </a:spcBef>
            </a:pPr>
            <a:r>
              <a:rPr sz="1600" spc="-33" dirty="0">
                <a:solidFill>
                  <a:srgbClr val="666666"/>
                </a:solidFill>
                <a:latin typeface="Arial Black"/>
                <a:cs typeface="Arial Black"/>
              </a:rPr>
              <a:t>Compute</a:t>
            </a:r>
            <a:r>
              <a:rPr sz="1600" spc="-127" dirty="0">
                <a:solidFill>
                  <a:srgbClr val="666666"/>
                </a:solidFill>
                <a:latin typeface="Arial Black"/>
                <a:cs typeface="Arial Black"/>
              </a:rPr>
              <a:t> </a:t>
            </a:r>
            <a:r>
              <a:rPr sz="1600" spc="-47" dirty="0">
                <a:solidFill>
                  <a:srgbClr val="666666"/>
                </a:solidFill>
                <a:latin typeface="Arial Black"/>
                <a:cs typeface="Arial Black"/>
              </a:rPr>
              <a:t>units</a:t>
            </a:r>
            <a:endParaRPr sz="1600">
              <a:latin typeface="Arial Black"/>
              <a:cs typeface="Arial Black"/>
            </a:endParaRPr>
          </a:p>
        </p:txBody>
      </p:sp>
      <p:grpSp>
        <p:nvGrpSpPr>
          <p:cNvPr id="6" name="object 6"/>
          <p:cNvGrpSpPr/>
          <p:nvPr/>
        </p:nvGrpSpPr>
        <p:grpSpPr>
          <a:xfrm>
            <a:off x="1813796" y="1711599"/>
            <a:ext cx="8573347" cy="988060"/>
            <a:chOff x="1360347" y="1283699"/>
            <a:chExt cx="6430010" cy="741045"/>
          </a:xfrm>
        </p:grpSpPr>
        <p:sp>
          <p:nvSpPr>
            <p:cNvPr id="7" name="object 7"/>
            <p:cNvSpPr/>
            <p:nvPr/>
          </p:nvSpPr>
          <p:spPr>
            <a:xfrm>
              <a:off x="1365110" y="1288461"/>
              <a:ext cx="6420485" cy="731520"/>
            </a:xfrm>
            <a:custGeom>
              <a:avLst/>
              <a:gdLst/>
              <a:ahLst/>
              <a:cxnLst/>
              <a:rect l="l" t="t" r="r" b="b"/>
              <a:pathLst>
                <a:path w="6420484" h="731519">
                  <a:moveTo>
                    <a:pt x="6419999" y="731400"/>
                  </a:moveTo>
                  <a:lnTo>
                    <a:pt x="0" y="731400"/>
                  </a:lnTo>
                  <a:lnTo>
                    <a:pt x="0" y="0"/>
                  </a:lnTo>
                  <a:lnTo>
                    <a:pt x="6419999" y="0"/>
                  </a:lnTo>
                  <a:lnTo>
                    <a:pt x="6419999" y="731400"/>
                  </a:lnTo>
                  <a:close/>
                </a:path>
              </a:pathLst>
            </a:custGeom>
            <a:solidFill>
              <a:srgbClr val="FFECED"/>
            </a:solidFill>
          </p:spPr>
          <p:txBody>
            <a:bodyPr wrap="square" lIns="0" tIns="0" rIns="0" bIns="0" rtlCol="0"/>
            <a:lstStyle/>
            <a:p>
              <a:endParaRPr sz="2400"/>
            </a:p>
          </p:txBody>
        </p:sp>
        <p:sp>
          <p:nvSpPr>
            <p:cNvPr id="8" name="object 8"/>
            <p:cNvSpPr/>
            <p:nvPr/>
          </p:nvSpPr>
          <p:spPr>
            <a:xfrm>
              <a:off x="1365110" y="1288461"/>
              <a:ext cx="6420485" cy="731520"/>
            </a:xfrm>
            <a:custGeom>
              <a:avLst/>
              <a:gdLst/>
              <a:ahLst/>
              <a:cxnLst/>
              <a:rect l="l" t="t" r="r" b="b"/>
              <a:pathLst>
                <a:path w="6420484" h="731519">
                  <a:moveTo>
                    <a:pt x="0" y="0"/>
                  </a:moveTo>
                  <a:lnTo>
                    <a:pt x="6419999" y="0"/>
                  </a:lnTo>
                  <a:lnTo>
                    <a:pt x="6419999" y="731400"/>
                  </a:lnTo>
                  <a:lnTo>
                    <a:pt x="0" y="731400"/>
                  </a:lnTo>
                  <a:lnTo>
                    <a:pt x="0" y="0"/>
                  </a:lnTo>
                  <a:close/>
                </a:path>
              </a:pathLst>
            </a:custGeom>
            <a:ln w="9524">
              <a:solidFill>
                <a:srgbClr val="237A94"/>
              </a:solidFill>
            </a:ln>
          </p:spPr>
          <p:txBody>
            <a:bodyPr wrap="square" lIns="0" tIns="0" rIns="0" bIns="0" rtlCol="0"/>
            <a:lstStyle/>
            <a:p>
              <a:endParaRPr sz="2400"/>
            </a:p>
          </p:txBody>
        </p:sp>
        <p:sp>
          <p:nvSpPr>
            <p:cNvPr id="9" name="object 9"/>
            <p:cNvSpPr/>
            <p:nvPr/>
          </p:nvSpPr>
          <p:spPr>
            <a:xfrm>
              <a:off x="3853475"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0" name="object 10"/>
            <p:cNvSpPr/>
            <p:nvPr/>
          </p:nvSpPr>
          <p:spPr>
            <a:xfrm>
              <a:off x="3853475" y="1509156"/>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1" name="object 11"/>
            <p:cNvSpPr/>
            <p:nvPr/>
          </p:nvSpPr>
          <p:spPr>
            <a:xfrm>
              <a:off x="46584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2" name="object 12"/>
            <p:cNvSpPr/>
            <p:nvPr/>
          </p:nvSpPr>
          <p:spPr>
            <a:xfrm>
              <a:off x="46584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13" name="object 13"/>
            <p:cNvSpPr/>
            <p:nvPr/>
          </p:nvSpPr>
          <p:spPr>
            <a:xfrm>
              <a:off x="5460074" y="1509156"/>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4" name="object 14"/>
            <p:cNvSpPr/>
            <p:nvPr/>
          </p:nvSpPr>
          <p:spPr>
            <a:xfrm>
              <a:off x="5460074" y="1509156"/>
              <a:ext cx="650240" cy="457200"/>
            </a:xfrm>
            <a:custGeom>
              <a:avLst/>
              <a:gdLst/>
              <a:ahLst/>
              <a:cxnLst/>
              <a:rect l="l" t="t" r="r" b="b"/>
              <a:pathLst>
                <a:path w="650239"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5" name="object 15"/>
            <p:cNvSpPr/>
            <p:nvPr/>
          </p:nvSpPr>
          <p:spPr>
            <a:xfrm>
              <a:off x="6261724" y="1509157"/>
              <a:ext cx="650240" cy="226695"/>
            </a:xfrm>
            <a:custGeom>
              <a:avLst/>
              <a:gdLst/>
              <a:ahLst/>
              <a:cxnLst/>
              <a:rect l="l" t="t" r="r" b="b"/>
              <a:pathLst>
                <a:path w="650240" h="226694">
                  <a:moveTo>
                    <a:pt x="0" y="226679"/>
                  </a:moveTo>
                  <a:lnTo>
                    <a:pt x="649726" y="226679"/>
                  </a:lnTo>
                  <a:lnTo>
                    <a:pt x="649726" y="0"/>
                  </a:lnTo>
                  <a:lnTo>
                    <a:pt x="0" y="0"/>
                  </a:lnTo>
                  <a:lnTo>
                    <a:pt x="0" y="226679"/>
                  </a:lnTo>
                  <a:close/>
                </a:path>
              </a:pathLst>
            </a:custGeom>
            <a:solidFill>
              <a:srgbClr val="F4C4D1"/>
            </a:solidFill>
          </p:spPr>
          <p:txBody>
            <a:bodyPr wrap="square" lIns="0" tIns="0" rIns="0" bIns="0" rtlCol="0"/>
            <a:lstStyle/>
            <a:p>
              <a:endParaRPr sz="2400"/>
            </a:p>
          </p:txBody>
        </p:sp>
        <p:sp>
          <p:nvSpPr>
            <p:cNvPr id="16" name="object 16"/>
            <p:cNvSpPr/>
            <p:nvPr/>
          </p:nvSpPr>
          <p:spPr>
            <a:xfrm>
              <a:off x="6261724" y="1509157"/>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7" name="object 17"/>
            <p:cNvSpPr/>
            <p:nvPr/>
          </p:nvSpPr>
          <p:spPr>
            <a:xfrm>
              <a:off x="7063349" y="1509156"/>
              <a:ext cx="650240" cy="234950"/>
            </a:xfrm>
            <a:custGeom>
              <a:avLst/>
              <a:gdLst/>
              <a:ahLst/>
              <a:cxnLst/>
              <a:rect l="l" t="t" r="r" b="b"/>
              <a:pathLst>
                <a:path w="650240"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18" name="object 18"/>
            <p:cNvSpPr/>
            <p:nvPr/>
          </p:nvSpPr>
          <p:spPr>
            <a:xfrm>
              <a:off x="7063349" y="1509156"/>
              <a:ext cx="650240" cy="457200"/>
            </a:xfrm>
            <a:custGeom>
              <a:avLst/>
              <a:gdLst/>
              <a:ahLst/>
              <a:cxnLst/>
              <a:rect l="l" t="t" r="r" b="b"/>
              <a:pathLst>
                <a:path w="650240" h="457200">
                  <a:moveTo>
                    <a:pt x="0" y="0"/>
                  </a:moveTo>
                  <a:lnTo>
                    <a:pt x="649726" y="0"/>
                  </a:lnTo>
                  <a:lnTo>
                    <a:pt x="649726" y="457188"/>
                  </a:lnTo>
                  <a:lnTo>
                    <a:pt x="0" y="457188"/>
                  </a:lnTo>
                  <a:lnTo>
                    <a:pt x="0" y="0"/>
                  </a:lnTo>
                  <a:close/>
                </a:path>
              </a:pathLst>
            </a:custGeom>
            <a:ln w="9524">
              <a:solidFill>
                <a:srgbClr val="F65B66"/>
              </a:solidFill>
            </a:ln>
          </p:spPr>
          <p:txBody>
            <a:bodyPr wrap="square" lIns="0" tIns="0" rIns="0" bIns="0" rtlCol="0"/>
            <a:lstStyle/>
            <a:p>
              <a:endParaRPr sz="2400"/>
            </a:p>
          </p:txBody>
        </p:sp>
        <p:sp>
          <p:nvSpPr>
            <p:cNvPr id="19" name="object 19"/>
            <p:cNvSpPr/>
            <p:nvPr/>
          </p:nvSpPr>
          <p:spPr>
            <a:xfrm>
              <a:off x="1448749" y="1509158"/>
              <a:ext cx="650240" cy="228600"/>
            </a:xfrm>
            <a:custGeom>
              <a:avLst/>
              <a:gdLst/>
              <a:ahLst/>
              <a:cxnLst/>
              <a:rect l="l" t="t" r="r" b="b"/>
              <a:pathLst>
                <a:path w="650239" h="228600">
                  <a:moveTo>
                    <a:pt x="0" y="228477"/>
                  </a:moveTo>
                  <a:lnTo>
                    <a:pt x="649726" y="228477"/>
                  </a:lnTo>
                  <a:lnTo>
                    <a:pt x="649726" y="0"/>
                  </a:lnTo>
                  <a:lnTo>
                    <a:pt x="0" y="0"/>
                  </a:lnTo>
                  <a:lnTo>
                    <a:pt x="0" y="228477"/>
                  </a:lnTo>
                  <a:close/>
                </a:path>
              </a:pathLst>
            </a:custGeom>
            <a:solidFill>
              <a:srgbClr val="F4C4D1"/>
            </a:solidFill>
          </p:spPr>
          <p:txBody>
            <a:bodyPr wrap="square" lIns="0" tIns="0" rIns="0" bIns="0" rtlCol="0"/>
            <a:lstStyle/>
            <a:p>
              <a:endParaRPr sz="2400"/>
            </a:p>
          </p:txBody>
        </p:sp>
        <p:sp>
          <p:nvSpPr>
            <p:cNvPr id="20" name="object 20"/>
            <p:cNvSpPr/>
            <p:nvPr/>
          </p:nvSpPr>
          <p:spPr>
            <a:xfrm>
              <a:off x="1448749"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1" name="object 21"/>
            <p:cNvSpPr/>
            <p:nvPr/>
          </p:nvSpPr>
          <p:spPr>
            <a:xfrm>
              <a:off x="2250396" y="1509158"/>
              <a:ext cx="650240" cy="234950"/>
            </a:xfrm>
            <a:custGeom>
              <a:avLst/>
              <a:gdLst/>
              <a:ahLst/>
              <a:cxnLst/>
              <a:rect l="l" t="t" r="r" b="b"/>
              <a:pathLst>
                <a:path w="650239" h="234950">
                  <a:moveTo>
                    <a:pt x="0" y="234402"/>
                  </a:moveTo>
                  <a:lnTo>
                    <a:pt x="649726" y="234402"/>
                  </a:lnTo>
                  <a:lnTo>
                    <a:pt x="649726" y="0"/>
                  </a:lnTo>
                  <a:lnTo>
                    <a:pt x="0" y="0"/>
                  </a:lnTo>
                  <a:lnTo>
                    <a:pt x="0" y="234402"/>
                  </a:lnTo>
                  <a:close/>
                </a:path>
              </a:pathLst>
            </a:custGeom>
            <a:solidFill>
              <a:srgbClr val="F4C4D1"/>
            </a:solidFill>
          </p:spPr>
          <p:txBody>
            <a:bodyPr wrap="square" lIns="0" tIns="0" rIns="0" bIns="0" rtlCol="0"/>
            <a:lstStyle/>
            <a:p>
              <a:endParaRPr sz="2400"/>
            </a:p>
          </p:txBody>
        </p:sp>
        <p:sp>
          <p:nvSpPr>
            <p:cNvPr id="22" name="object 22"/>
            <p:cNvSpPr/>
            <p:nvPr/>
          </p:nvSpPr>
          <p:spPr>
            <a:xfrm>
              <a:off x="2250396" y="1509158"/>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sp>
          <p:nvSpPr>
            <p:cNvPr id="23" name="object 23"/>
            <p:cNvSpPr/>
            <p:nvPr/>
          </p:nvSpPr>
          <p:spPr>
            <a:xfrm>
              <a:off x="3052024" y="1509157"/>
              <a:ext cx="650240" cy="234950"/>
            </a:xfrm>
            <a:custGeom>
              <a:avLst/>
              <a:gdLst/>
              <a:ahLst/>
              <a:cxnLst/>
              <a:rect l="l" t="t" r="r" b="b"/>
              <a:pathLst>
                <a:path w="650239" h="234950">
                  <a:moveTo>
                    <a:pt x="0" y="234404"/>
                  </a:moveTo>
                  <a:lnTo>
                    <a:pt x="649726" y="234404"/>
                  </a:lnTo>
                  <a:lnTo>
                    <a:pt x="649726" y="0"/>
                  </a:lnTo>
                  <a:lnTo>
                    <a:pt x="0" y="0"/>
                  </a:lnTo>
                  <a:lnTo>
                    <a:pt x="0" y="234404"/>
                  </a:lnTo>
                  <a:close/>
                </a:path>
              </a:pathLst>
            </a:custGeom>
            <a:solidFill>
              <a:srgbClr val="F4C4D1"/>
            </a:solidFill>
          </p:spPr>
          <p:txBody>
            <a:bodyPr wrap="square" lIns="0" tIns="0" rIns="0" bIns="0" rtlCol="0"/>
            <a:lstStyle/>
            <a:p>
              <a:endParaRPr sz="2400"/>
            </a:p>
          </p:txBody>
        </p:sp>
        <p:sp>
          <p:nvSpPr>
            <p:cNvPr id="24" name="object 24"/>
            <p:cNvSpPr/>
            <p:nvPr/>
          </p:nvSpPr>
          <p:spPr>
            <a:xfrm>
              <a:off x="3052024" y="1509157"/>
              <a:ext cx="650240" cy="455930"/>
            </a:xfrm>
            <a:custGeom>
              <a:avLst/>
              <a:gdLst/>
              <a:ahLst/>
              <a:cxnLst/>
              <a:rect l="l" t="t" r="r" b="b"/>
              <a:pathLst>
                <a:path w="650239" h="455930">
                  <a:moveTo>
                    <a:pt x="0" y="0"/>
                  </a:moveTo>
                  <a:lnTo>
                    <a:pt x="649726" y="0"/>
                  </a:lnTo>
                  <a:lnTo>
                    <a:pt x="649726" y="455921"/>
                  </a:lnTo>
                  <a:lnTo>
                    <a:pt x="0" y="455921"/>
                  </a:lnTo>
                  <a:lnTo>
                    <a:pt x="0" y="0"/>
                  </a:lnTo>
                  <a:close/>
                </a:path>
              </a:pathLst>
            </a:custGeom>
            <a:ln w="9524">
              <a:solidFill>
                <a:srgbClr val="F65B66"/>
              </a:solidFill>
            </a:ln>
          </p:spPr>
          <p:txBody>
            <a:bodyPr wrap="square" lIns="0" tIns="0" rIns="0" bIns="0" rtlCol="0"/>
            <a:lstStyle/>
            <a:p>
              <a:endParaRPr sz="2400"/>
            </a:p>
          </p:txBody>
        </p:sp>
      </p:grpSp>
      <p:sp>
        <p:nvSpPr>
          <p:cNvPr id="25" name="object 25"/>
          <p:cNvSpPr txBox="1"/>
          <p:nvPr/>
        </p:nvSpPr>
        <p:spPr>
          <a:xfrm>
            <a:off x="1908748" y="1715056"/>
            <a:ext cx="1532467" cy="263320"/>
          </a:xfrm>
          <a:prstGeom prst="rect">
            <a:avLst/>
          </a:prstGeom>
        </p:spPr>
        <p:txBody>
          <a:bodyPr vert="horz" wrap="square" lIns="0" tIns="16933" rIns="0" bIns="0" rtlCol="0">
            <a:spAutoFit/>
          </a:bodyPr>
          <a:lstStyle/>
          <a:p>
            <a:pPr>
              <a:spcBef>
                <a:spcPts val="133"/>
              </a:spcBef>
            </a:pPr>
            <a:r>
              <a:rPr sz="1600" spc="67" dirty="0">
                <a:solidFill>
                  <a:srgbClr val="434343"/>
                </a:solidFill>
                <a:latin typeface="Lucida Sans Unicode"/>
                <a:cs typeface="Lucida Sans Unicode"/>
              </a:rPr>
              <a:t>Compute</a:t>
            </a:r>
            <a:r>
              <a:rPr sz="1600" spc="-53" dirty="0">
                <a:solidFill>
                  <a:srgbClr val="434343"/>
                </a:solidFill>
                <a:latin typeface="Lucida Sans Unicode"/>
                <a:cs typeface="Lucida Sans Unicode"/>
              </a:rPr>
              <a:t> </a:t>
            </a:r>
            <a:r>
              <a:rPr sz="1600" spc="-13" dirty="0">
                <a:solidFill>
                  <a:srgbClr val="434343"/>
                </a:solidFill>
                <a:latin typeface="Lucida Sans Unicode"/>
                <a:cs typeface="Lucida Sans Unicode"/>
              </a:rPr>
              <a:t>Units</a:t>
            </a:r>
            <a:endParaRPr sz="1600">
              <a:latin typeface="Lucida Sans Unicode"/>
              <a:cs typeface="Lucida Sans Unicode"/>
            </a:endParaRPr>
          </a:p>
        </p:txBody>
      </p:sp>
      <p:grpSp>
        <p:nvGrpSpPr>
          <p:cNvPr id="26" name="object 26"/>
          <p:cNvGrpSpPr/>
          <p:nvPr/>
        </p:nvGrpSpPr>
        <p:grpSpPr>
          <a:xfrm>
            <a:off x="1809633" y="2843348"/>
            <a:ext cx="8573347" cy="2363893"/>
            <a:chOff x="1357225" y="2132511"/>
            <a:chExt cx="6430010" cy="1772920"/>
          </a:xfrm>
        </p:grpSpPr>
        <p:sp>
          <p:nvSpPr>
            <p:cNvPr id="27" name="object 27"/>
            <p:cNvSpPr/>
            <p:nvPr/>
          </p:nvSpPr>
          <p:spPr>
            <a:xfrm>
              <a:off x="1361987" y="2137274"/>
              <a:ext cx="6420485" cy="1763395"/>
            </a:xfrm>
            <a:custGeom>
              <a:avLst/>
              <a:gdLst/>
              <a:ahLst/>
              <a:cxnLst/>
              <a:rect l="l" t="t" r="r" b="b"/>
              <a:pathLst>
                <a:path w="6420484" h="1763395">
                  <a:moveTo>
                    <a:pt x="6419999" y="1763399"/>
                  </a:moveTo>
                  <a:lnTo>
                    <a:pt x="0" y="1763399"/>
                  </a:lnTo>
                  <a:lnTo>
                    <a:pt x="0" y="0"/>
                  </a:lnTo>
                  <a:lnTo>
                    <a:pt x="6419999" y="0"/>
                  </a:lnTo>
                  <a:lnTo>
                    <a:pt x="6419999" y="1763399"/>
                  </a:lnTo>
                  <a:close/>
                </a:path>
              </a:pathLst>
            </a:custGeom>
            <a:solidFill>
              <a:srgbClr val="EBFAFF"/>
            </a:solidFill>
          </p:spPr>
          <p:txBody>
            <a:bodyPr wrap="square" lIns="0" tIns="0" rIns="0" bIns="0" rtlCol="0"/>
            <a:lstStyle/>
            <a:p>
              <a:endParaRPr sz="2400"/>
            </a:p>
          </p:txBody>
        </p:sp>
        <p:sp>
          <p:nvSpPr>
            <p:cNvPr id="28" name="object 28"/>
            <p:cNvSpPr/>
            <p:nvPr/>
          </p:nvSpPr>
          <p:spPr>
            <a:xfrm>
              <a:off x="1361987" y="2137274"/>
              <a:ext cx="6420485" cy="1763395"/>
            </a:xfrm>
            <a:custGeom>
              <a:avLst/>
              <a:gdLst/>
              <a:ahLst/>
              <a:cxnLst/>
              <a:rect l="l" t="t" r="r" b="b"/>
              <a:pathLst>
                <a:path w="6420484" h="1763395">
                  <a:moveTo>
                    <a:pt x="0" y="0"/>
                  </a:moveTo>
                  <a:lnTo>
                    <a:pt x="6419999" y="0"/>
                  </a:lnTo>
                  <a:lnTo>
                    <a:pt x="6419999" y="1763399"/>
                  </a:lnTo>
                  <a:lnTo>
                    <a:pt x="0" y="1763399"/>
                  </a:lnTo>
                  <a:lnTo>
                    <a:pt x="0" y="0"/>
                  </a:lnTo>
                  <a:close/>
                </a:path>
              </a:pathLst>
            </a:custGeom>
            <a:ln w="9524">
              <a:solidFill>
                <a:srgbClr val="237A94"/>
              </a:solidFill>
            </a:ln>
          </p:spPr>
          <p:txBody>
            <a:bodyPr wrap="square" lIns="0" tIns="0" rIns="0" bIns="0" rtlCol="0"/>
            <a:lstStyle/>
            <a:p>
              <a:endParaRPr sz="2400"/>
            </a:p>
          </p:txBody>
        </p:sp>
      </p:grpSp>
      <p:sp>
        <p:nvSpPr>
          <p:cNvPr id="29" name="object 29"/>
          <p:cNvSpPr txBox="1"/>
          <p:nvPr/>
        </p:nvSpPr>
        <p:spPr>
          <a:xfrm>
            <a:off x="1976302" y="2984056"/>
            <a:ext cx="1474893" cy="263320"/>
          </a:xfrm>
          <a:prstGeom prst="rect">
            <a:avLst/>
          </a:prstGeom>
        </p:spPr>
        <p:txBody>
          <a:bodyPr vert="horz" wrap="square" lIns="0" tIns="16933" rIns="0" bIns="0" rtlCol="0">
            <a:spAutoFit/>
          </a:bodyPr>
          <a:lstStyle/>
          <a:p>
            <a:pPr>
              <a:spcBef>
                <a:spcPts val="133"/>
              </a:spcBef>
            </a:pPr>
            <a:r>
              <a:rPr sz="1600" dirty="0">
                <a:solidFill>
                  <a:srgbClr val="434343"/>
                </a:solidFill>
                <a:latin typeface="Lucida Sans Unicode"/>
                <a:cs typeface="Lucida Sans Unicode"/>
              </a:rPr>
              <a:t>Memory</a:t>
            </a:r>
            <a:r>
              <a:rPr sz="1600" spc="167" dirty="0">
                <a:solidFill>
                  <a:srgbClr val="434343"/>
                </a:solidFill>
                <a:latin typeface="Lucida Sans Unicode"/>
                <a:cs typeface="Lucida Sans Unicode"/>
              </a:rPr>
              <a:t> </a:t>
            </a:r>
            <a:r>
              <a:rPr sz="1600" spc="-27" dirty="0">
                <a:solidFill>
                  <a:srgbClr val="434343"/>
                </a:solidFill>
                <a:latin typeface="Lucida Sans Unicode"/>
                <a:cs typeface="Lucida Sans Unicode"/>
              </a:rPr>
              <a:t>VRAM</a:t>
            </a:r>
            <a:endParaRPr sz="1600">
              <a:latin typeface="Lucida Sans Unicode"/>
              <a:cs typeface="Lucida Sans Unicode"/>
            </a:endParaRPr>
          </a:p>
        </p:txBody>
      </p:sp>
      <p:sp>
        <p:nvSpPr>
          <p:cNvPr id="30" name="object 30"/>
          <p:cNvSpPr txBox="1"/>
          <p:nvPr/>
        </p:nvSpPr>
        <p:spPr>
          <a:xfrm>
            <a:off x="2064600" y="3552033"/>
            <a:ext cx="1441873" cy="796670"/>
          </a:xfrm>
          <a:prstGeom prst="rect">
            <a:avLst/>
          </a:prstGeom>
          <a:solidFill>
            <a:srgbClr val="FFFFFF"/>
          </a:solidFill>
          <a:ln w="9524">
            <a:solidFill>
              <a:srgbClr val="000000"/>
            </a:solidFill>
          </a:ln>
        </p:spPr>
        <p:txBody>
          <a:bodyPr vert="horz" wrap="square" lIns="0" tIns="138852" rIns="0" bIns="0" rtlCol="0">
            <a:spAutoFit/>
          </a:bodyPr>
          <a:lstStyle/>
          <a:p>
            <a:pPr>
              <a:spcBef>
                <a:spcPts val="1092"/>
              </a:spcBef>
            </a:pPr>
            <a:endParaRPr sz="2133">
              <a:latin typeface="Times New Roman"/>
              <a:cs typeface="Times New Roman"/>
            </a:endParaRPr>
          </a:p>
          <a:p>
            <a:pPr marL="466502"/>
            <a:r>
              <a:rPr sz="2133" spc="-33" dirty="0">
                <a:latin typeface="Arial Black"/>
                <a:cs typeface="Arial Black"/>
              </a:rPr>
              <a:t>LLM</a:t>
            </a:r>
            <a:endParaRPr sz="2133">
              <a:latin typeface="Arial Black"/>
              <a:cs typeface="Arial Black"/>
            </a:endParaRPr>
          </a:p>
        </p:txBody>
      </p:sp>
      <p:sp>
        <p:nvSpPr>
          <p:cNvPr id="31" name="object 31"/>
          <p:cNvSpPr txBox="1"/>
          <p:nvPr/>
        </p:nvSpPr>
        <p:spPr>
          <a:xfrm>
            <a:off x="3634633" y="3552039"/>
            <a:ext cx="1247987" cy="942010"/>
          </a:xfrm>
          <a:prstGeom prst="rect">
            <a:avLst/>
          </a:prstGeom>
          <a:solidFill>
            <a:srgbClr val="BBD4F9"/>
          </a:solidFill>
          <a:ln w="9524">
            <a:solidFill>
              <a:srgbClr val="1B73EB"/>
            </a:solidFill>
          </a:ln>
        </p:spPr>
        <p:txBody>
          <a:bodyPr vert="horz" wrap="square" lIns="0" tIns="282787" rIns="0" bIns="0" rtlCol="0">
            <a:spAutoFit/>
          </a:bodyPr>
          <a:lstStyle/>
          <a:p>
            <a:pPr algn="ctr">
              <a:spcBef>
                <a:spcPts val="2227"/>
              </a:spcBef>
            </a:pPr>
            <a:r>
              <a:rPr sz="2133" spc="-33" dirty="0">
                <a:latin typeface="Arial Black"/>
                <a:cs typeface="Arial Black"/>
              </a:rPr>
              <a:t>KV</a:t>
            </a:r>
            <a:endParaRPr sz="2133">
              <a:latin typeface="Arial Black"/>
              <a:cs typeface="Arial Black"/>
            </a:endParaRPr>
          </a:p>
          <a:p>
            <a:pPr algn="ctr">
              <a:spcBef>
                <a:spcPts val="40"/>
              </a:spcBef>
            </a:pPr>
            <a:r>
              <a:rPr sz="2133" spc="-13" dirty="0">
                <a:latin typeface="Arial Black"/>
                <a:cs typeface="Arial Black"/>
              </a:rPr>
              <a:t>cache</a:t>
            </a:r>
            <a:endParaRPr sz="2133">
              <a:latin typeface="Arial Black"/>
              <a:cs typeface="Arial Black"/>
            </a:endParaRPr>
          </a:p>
        </p:txBody>
      </p:sp>
      <p:grpSp>
        <p:nvGrpSpPr>
          <p:cNvPr id="32" name="object 32"/>
          <p:cNvGrpSpPr/>
          <p:nvPr/>
        </p:nvGrpSpPr>
        <p:grpSpPr>
          <a:xfrm>
            <a:off x="1925322" y="2308098"/>
            <a:ext cx="8369300" cy="1733127"/>
            <a:chOff x="1443991" y="1731073"/>
            <a:chExt cx="6276975" cy="1299845"/>
          </a:xfrm>
        </p:grpSpPr>
        <p:sp>
          <p:nvSpPr>
            <p:cNvPr id="33" name="object 33"/>
            <p:cNvSpPr/>
            <p:nvPr/>
          </p:nvSpPr>
          <p:spPr>
            <a:xfrm>
              <a:off x="1448753" y="1737636"/>
              <a:ext cx="650240" cy="230504"/>
            </a:xfrm>
            <a:custGeom>
              <a:avLst/>
              <a:gdLst/>
              <a:ahLst/>
              <a:cxnLst/>
              <a:rect l="l" t="t" r="r" b="b"/>
              <a:pathLst>
                <a:path w="650239" h="230505">
                  <a:moveTo>
                    <a:pt x="649800" y="230399"/>
                  </a:moveTo>
                  <a:lnTo>
                    <a:pt x="0" y="230399"/>
                  </a:lnTo>
                  <a:lnTo>
                    <a:pt x="0" y="0"/>
                  </a:lnTo>
                  <a:lnTo>
                    <a:pt x="649800" y="0"/>
                  </a:lnTo>
                  <a:lnTo>
                    <a:pt x="649800" y="230399"/>
                  </a:lnTo>
                  <a:close/>
                </a:path>
              </a:pathLst>
            </a:custGeom>
            <a:solidFill>
              <a:srgbClr val="EBFAFF"/>
            </a:solidFill>
          </p:spPr>
          <p:txBody>
            <a:bodyPr wrap="square" lIns="0" tIns="0" rIns="0" bIns="0" rtlCol="0"/>
            <a:lstStyle/>
            <a:p>
              <a:endParaRPr sz="2400"/>
            </a:p>
          </p:txBody>
        </p:sp>
        <p:sp>
          <p:nvSpPr>
            <p:cNvPr id="34" name="object 34"/>
            <p:cNvSpPr/>
            <p:nvPr/>
          </p:nvSpPr>
          <p:spPr>
            <a:xfrm>
              <a:off x="1448753" y="1737636"/>
              <a:ext cx="650240" cy="230504"/>
            </a:xfrm>
            <a:custGeom>
              <a:avLst/>
              <a:gdLst/>
              <a:ahLst/>
              <a:cxnLst/>
              <a:rect l="l" t="t" r="r" b="b"/>
              <a:pathLst>
                <a:path w="650239" h="230505">
                  <a:moveTo>
                    <a:pt x="649800" y="0"/>
                  </a:moveTo>
                  <a:lnTo>
                    <a:pt x="649800" y="230399"/>
                  </a:lnTo>
                  <a:lnTo>
                    <a:pt x="0" y="230399"/>
                  </a:lnTo>
                  <a:lnTo>
                    <a:pt x="0" y="0"/>
                  </a:lnTo>
                  <a:lnTo>
                    <a:pt x="649800" y="0"/>
                  </a:lnTo>
                  <a:close/>
                </a:path>
              </a:pathLst>
            </a:custGeom>
            <a:ln w="9524">
              <a:solidFill>
                <a:srgbClr val="237A94"/>
              </a:solidFill>
            </a:ln>
          </p:spPr>
          <p:txBody>
            <a:bodyPr wrap="square" lIns="0" tIns="0" rIns="0" bIns="0" rtlCol="0"/>
            <a:lstStyle/>
            <a:p>
              <a:endParaRPr sz="2400"/>
            </a:p>
          </p:txBody>
        </p:sp>
        <p:sp>
          <p:nvSpPr>
            <p:cNvPr id="35" name="object 35"/>
            <p:cNvSpPr/>
            <p:nvPr/>
          </p:nvSpPr>
          <p:spPr>
            <a:xfrm>
              <a:off x="22512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6" name="object 36"/>
            <p:cNvSpPr/>
            <p:nvPr/>
          </p:nvSpPr>
          <p:spPr>
            <a:xfrm>
              <a:off x="22512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7" name="object 37"/>
            <p:cNvSpPr/>
            <p:nvPr/>
          </p:nvSpPr>
          <p:spPr>
            <a:xfrm>
              <a:off x="3053704"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38" name="object 38"/>
            <p:cNvSpPr/>
            <p:nvPr/>
          </p:nvSpPr>
          <p:spPr>
            <a:xfrm>
              <a:off x="3053704"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39" name="object 39"/>
            <p:cNvSpPr/>
            <p:nvPr/>
          </p:nvSpPr>
          <p:spPr>
            <a:xfrm>
              <a:off x="385617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0" name="object 40"/>
            <p:cNvSpPr/>
            <p:nvPr/>
          </p:nvSpPr>
          <p:spPr>
            <a:xfrm>
              <a:off x="385617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1" name="object 41"/>
            <p:cNvSpPr/>
            <p:nvPr/>
          </p:nvSpPr>
          <p:spPr>
            <a:xfrm>
              <a:off x="4658653"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2" name="object 42"/>
            <p:cNvSpPr/>
            <p:nvPr/>
          </p:nvSpPr>
          <p:spPr>
            <a:xfrm>
              <a:off x="4658653"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3" name="object 43"/>
            <p:cNvSpPr/>
            <p:nvPr/>
          </p:nvSpPr>
          <p:spPr>
            <a:xfrm>
              <a:off x="5461129" y="1743561"/>
              <a:ext cx="650240" cy="230504"/>
            </a:xfrm>
            <a:custGeom>
              <a:avLst/>
              <a:gdLst/>
              <a:ahLst/>
              <a:cxnLst/>
              <a:rect l="l" t="t" r="r" b="b"/>
              <a:pathLst>
                <a:path w="650239"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4" name="object 44"/>
            <p:cNvSpPr/>
            <p:nvPr/>
          </p:nvSpPr>
          <p:spPr>
            <a:xfrm>
              <a:off x="5461129" y="1743561"/>
              <a:ext cx="650240" cy="230504"/>
            </a:xfrm>
            <a:custGeom>
              <a:avLst/>
              <a:gdLst/>
              <a:ahLst/>
              <a:cxnLst/>
              <a:rect l="l" t="t" r="r" b="b"/>
              <a:pathLst>
                <a:path w="650239"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5" name="object 45"/>
            <p:cNvSpPr/>
            <p:nvPr/>
          </p:nvSpPr>
          <p:spPr>
            <a:xfrm>
              <a:off x="6263603" y="1735836"/>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6" name="object 46"/>
            <p:cNvSpPr/>
            <p:nvPr/>
          </p:nvSpPr>
          <p:spPr>
            <a:xfrm>
              <a:off x="6263603" y="1735836"/>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7" name="object 47"/>
            <p:cNvSpPr/>
            <p:nvPr/>
          </p:nvSpPr>
          <p:spPr>
            <a:xfrm>
              <a:off x="7066078" y="1743561"/>
              <a:ext cx="650240" cy="230504"/>
            </a:xfrm>
            <a:custGeom>
              <a:avLst/>
              <a:gdLst/>
              <a:ahLst/>
              <a:cxnLst/>
              <a:rect l="l" t="t" r="r" b="b"/>
              <a:pathLst>
                <a:path w="650240" h="230505">
                  <a:moveTo>
                    <a:pt x="649799" y="230399"/>
                  </a:moveTo>
                  <a:lnTo>
                    <a:pt x="0" y="230399"/>
                  </a:lnTo>
                  <a:lnTo>
                    <a:pt x="0" y="0"/>
                  </a:lnTo>
                  <a:lnTo>
                    <a:pt x="649799" y="0"/>
                  </a:lnTo>
                  <a:lnTo>
                    <a:pt x="649799" y="230399"/>
                  </a:lnTo>
                  <a:close/>
                </a:path>
              </a:pathLst>
            </a:custGeom>
            <a:solidFill>
              <a:srgbClr val="EBFAFF"/>
            </a:solidFill>
          </p:spPr>
          <p:txBody>
            <a:bodyPr wrap="square" lIns="0" tIns="0" rIns="0" bIns="0" rtlCol="0"/>
            <a:lstStyle/>
            <a:p>
              <a:endParaRPr sz="2400"/>
            </a:p>
          </p:txBody>
        </p:sp>
        <p:sp>
          <p:nvSpPr>
            <p:cNvPr id="48" name="object 48"/>
            <p:cNvSpPr/>
            <p:nvPr/>
          </p:nvSpPr>
          <p:spPr>
            <a:xfrm>
              <a:off x="7066078" y="1743561"/>
              <a:ext cx="650240" cy="230504"/>
            </a:xfrm>
            <a:custGeom>
              <a:avLst/>
              <a:gdLst/>
              <a:ahLst/>
              <a:cxnLst/>
              <a:rect l="l" t="t" r="r" b="b"/>
              <a:pathLst>
                <a:path w="650240" h="230505">
                  <a:moveTo>
                    <a:pt x="649799" y="0"/>
                  </a:moveTo>
                  <a:lnTo>
                    <a:pt x="649799" y="230399"/>
                  </a:lnTo>
                  <a:lnTo>
                    <a:pt x="0" y="230399"/>
                  </a:lnTo>
                  <a:lnTo>
                    <a:pt x="0" y="0"/>
                  </a:lnTo>
                  <a:lnTo>
                    <a:pt x="649799" y="0"/>
                  </a:lnTo>
                  <a:close/>
                </a:path>
              </a:pathLst>
            </a:custGeom>
            <a:ln w="9524">
              <a:solidFill>
                <a:srgbClr val="237A94"/>
              </a:solidFill>
            </a:ln>
          </p:spPr>
          <p:txBody>
            <a:bodyPr wrap="square" lIns="0" tIns="0" rIns="0" bIns="0" rtlCol="0"/>
            <a:lstStyle/>
            <a:p>
              <a:endParaRPr sz="2400"/>
            </a:p>
          </p:txBody>
        </p:sp>
        <p:sp>
          <p:nvSpPr>
            <p:cNvPr id="49" name="object 49"/>
            <p:cNvSpPr/>
            <p:nvPr/>
          </p:nvSpPr>
          <p:spPr>
            <a:xfrm>
              <a:off x="1575750" y="1999075"/>
              <a:ext cx="6068060" cy="197485"/>
            </a:xfrm>
            <a:custGeom>
              <a:avLst/>
              <a:gdLst/>
              <a:ahLst/>
              <a:cxnLst/>
              <a:rect l="l" t="t" r="r" b="b"/>
              <a:pathLst>
                <a:path w="6068059" h="197485">
                  <a:moveTo>
                    <a:pt x="6067799" y="197099"/>
                  </a:moveTo>
                  <a:lnTo>
                    <a:pt x="0" y="197099"/>
                  </a:lnTo>
                  <a:lnTo>
                    <a:pt x="0" y="0"/>
                  </a:lnTo>
                  <a:lnTo>
                    <a:pt x="6067799" y="0"/>
                  </a:lnTo>
                  <a:lnTo>
                    <a:pt x="6067799" y="197099"/>
                  </a:lnTo>
                  <a:close/>
                </a:path>
              </a:pathLst>
            </a:custGeom>
            <a:solidFill>
              <a:srgbClr val="FFDE7E"/>
            </a:solidFill>
          </p:spPr>
          <p:txBody>
            <a:bodyPr wrap="square" lIns="0" tIns="0" rIns="0" bIns="0" rtlCol="0"/>
            <a:lstStyle/>
            <a:p>
              <a:endParaRPr sz="2400"/>
            </a:p>
          </p:txBody>
        </p:sp>
        <p:sp>
          <p:nvSpPr>
            <p:cNvPr id="50" name="object 50"/>
            <p:cNvSpPr/>
            <p:nvPr/>
          </p:nvSpPr>
          <p:spPr>
            <a:xfrm>
              <a:off x="1575750" y="1999075"/>
              <a:ext cx="6068060" cy="197485"/>
            </a:xfrm>
            <a:custGeom>
              <a:avLst/>
              <a:gdLst/>
              <a:ahLst/>
              <a:cxnLst/>
              <a:rect l="l" t="t" r="r" b="b"/>
              <a:pathLst>
                <a:path w="6068059" h="197485">
                  <a:moveTo>
                    <a:pt x="0" y="0"/>
                  </a:moveTo>
                  <a:lnTo>
                    <a:pt x="6067799" y="0"/>
                  </a:lnTo>
                  <a:lnTo>
                    <a:pt x="6067799" y="197099"/>
                  </a:lnTo>
                  <a:lnTo>
                    <a:pt x="0" y="197099"/>
                  </a:lnTo>
                  <a:lnTo>
                    <a:pt x="0" y="0"/>
                  </a:lnTo>
                  <a:close/>
                </a:path>
              </a:pathLst>
            </a:custGeom>
            <a:ln w="9524">
              <a:solidFill>
                <a:srgbClr val="595959"/>
              </a:solidFill>
            </a:ln>
          </p:spPr>
          <p:txBody>
            <a:bodyPr wrap="square" lIns="0" tIns="0" rIns="0" bIns="0" rtlCol="0"/>
            <a:lstStyle/>
            <a:p>
              <a:endParaRPr sz="2400"/>
            </a:p>
          </p:txBody>
        </p:sp>
        <p:pic>
          <p:nvPicPr>
            <p:cNvPr id="51" name="object 51"/>
            <p:cNvPicPr/>
            <p:nvPr/>
          </p:nvPicPr>
          <p:blipFill>
            <a:blip r:embed="rId2" cstate="print"/>
            <a:stretch>
              <a:fillRect/>
            </a:stretch>
          </p:blipFill>
          <p:spPr>
            <a:xfrm>
              <a:off x="4531245" y="1953098"/>
              <a:ext cx="82509" cy="287352"/>
            </a:xfrm>
            <a:prstGeom prst="rect">
              <a:avLst/>
            </a:prstGeom>
          </p:spPr>
        </p:pic>
        <p:sp>
          <p:nvSpPr>
            <p:cNvPr id="52" name="object 52"/>
            <p:cNvSpPr/>
            <p:nvPr/>
          </p:nvSpPr>
          <p:spPr>
            <a:xfrm>
              <a:off x="421616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3" name="object 53"/>
            <p:cNvSpPr/>
            <p:nvPr/>
          </p:nvSpPr>
          <p:spPr>
            <a:xfrm>
              <a:off x="421616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4696AA"/>
              </a:solidFill>
            </a:ln>
          </p:spPr>
          <p:txBody>
            <a:bodyPr wrap="square" lIns="0" tIns="0" rIns="0" bIns="0" rtlCol="0"/>
            <a:lstStyle/>
            <a:p>
              <a:endParaRPr sz="2400"/>
            </a:p>
          </p:txBody>
        </p:sp>
        <p:sp>
          <p:nvSpPr>
            <p:cNvPr id="54" name="object 54"/>
            <p:cNvSpPr/>
            <p:nvPr/>
          </p:nvSpPr>
          <p:spPr>
            <a:xfrm>
              <a:off x="3722437" y="2660109"/>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55" name="object 55"/>
            <p:cNvSpPr/>
            <p:nvPr/>
          </p:nvSpPr>
          <p:spPr>
            <a:xfrm>
              <a:off x="3722437"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F47272"/>
              </a:solidFill>
            </a:ln>
          </p:spPr>
          <p:txBody>
            <a:bodyPr wrap="square" lIns="0" tIns="0" rIns="0" bIns="0" rtlCol="0"/>
            <a:lstStyle/>
            <a:p>
              <a:endParaRPr sz="2400"/>
            </a:p>
          </p:txBody>
        </p:sp>
        <p:sp>
          <p:nvSpPr>
            <p:cNvPr id="56" name="object 56"/>
            <p:cNvSpPr/>
            <p:nvPr/>
          </p:nvSpPr>
          <p:spPr>
            <a:xfrm>
              <a:off x="4709835" y="2660109"/>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5AB46E"/>
              </a:solidFill>
            </a:ln>
          </p:spPr>
          <p:txBody>
            <a:bodyPr wrap="square" lIns="0" tIns="0" rIns="0" bIns="0" rtlCol="0"/>
            <a:lstStyle/>
            <a:p>
              <a:endParaRPr sz="2400"/>
            </a:p>
          </p:txBody>
        </p:sp>
      </p:grpSp>
      <p:sp>
        <p:nvSpPr>
          <p:cNvPr id="57" name="object 57"/>
          <p:cNvSpPr txBox="1"/>
          <p:nvPr/>
        </p:nvSpPr>
        <p:spPr>
          <a:xfrm>
            <a:off x="6432227" y="3603868"/>
            <a:ext cx="183727" cy="341911"/>
          </a:xfrm>
          <a:prstGeom prst="rect">
            <a:avLst/>
          </a:prstGeom>
        </p:spPr>
        <p:txBody>
          <a:bodyPr vert="horz" wrap="square" lIns="0" tIns="13547" rIns="0" bIns="0" rtlCol="0">
            <a:spAutoFit/>
          </a:bodyPr>
          <a:lstStyle/>
          <a:p>
            <a:pPr>
              <a:spcBef>
                <a:spcPts val="107"/>
              </a:spcBef>
            </a:pPr>
            <a:r>
              <a:rPr sz="2133" spc="-67" dirty="0">
                <a:latin typeface="Lucida Sans Unicode"/>
                <a:cs typeface="Lucida Sans Unicode"/>
              </a:rPr>
              <a:t>V</a:t>
            </a:r>
            <a:endParaRPr sz="2133">
              <a:latin typeface="Lucida Sans Unicode"/>
              <a:cs typeface="Lucida Sans Unicode"/>
            </a:endParaRPr>
          </a:p>
        </p:txBody>
      </p:sp>
      <p:grpSp>
        <p:nvGrpSpPr>
          <p:cNvPr id="58" name="object 58"/>
          <p:cNvGrpSpPr/>
          <p:nvPr/>
        </p:nvGrpSpPr>
        <p:grpSpPr>
          <a:xfrm>
            <a:off x="6904126" y="3523715"/>
            <a:ext cx="1280159" cy="1281007"/>
            <a:chOff x="5178094" y="2642786"/>
            <a:chExt cx="960119" cy="960755"/>
          </a:xfrm>
        </p:grpSpPr>
        <p:sp>
          <p:nvSpPr>
            <p:cNvPr id="59" name="object 59"/>
            <p:cNvSpPr/>
            <p:nvPr/>
          </p:nvSpPr>
          <p:spPr>
            <a:xfrm>
              <a:off x="5200954" y="2665646"/>
              <a:ext cx="914400" cy="915035"/>
            </a:xfrm>
            <a:custGeom>
              <a:avLst/>
              <a:gdLst/>
              <a:ahLst/>
              <a:cxnLst/>
              <a:rect l="l" t="t" r="r" b="b"/>
              <a:pathLst>
                <a:path w="914400" h="915035">
                  <a:moveTo>
                    <a:pt x="914099" y="914700"/>
                  </a:moveTo>
                  <a:lnTo>
                    <a:pt x="0" y="914700"/>
                  </a:lnTo>
                  <a:lnTo>
                    <a:pt x="0" y="0"/>
                  </a:lnTo>
                  <a:lnTo>
                    <a:pt x="914099" y="0"/>
                  </a:lnTo>
                  <a:lnTo>
                    <a:pt x="914099" y="914700"/>
                  </a:lnTo>
                  <a:close/>
                </a:path>
              </a:pathLst>
            </a:custGeom>
            <a:solidFill>
              <a:srgbClr val="FFFFFF"/>
            </a:solidFill>
          </p:spPr>
          <p:txBody>
            <a:bodyPr wrap="square" lIns="0" tIns="0" rIns="0" bIns="0" rtlCol="0"/>
            <a:lstStyle/>
            <a:p>
              <a:endParaRPr sz="2400"/>
            </a:p>
          </p:txBody>
        </p:sp>
        <p:sp>
          <p:nvSpPr>
            <p:cNvPr id="60" name="object 60"/>
            <p:cNvSpPr/>
            <p:nvPr/>
          </p:nvSpPr>
          <p:spPr>
            <a:xfrm>
              <a:off x="5200954" y="2665646"/>
              <a:ext cx="914400" cy="915035"/>
            </a:xfrm>
            <a:custGeom>
              <a:avLst/>
              <a:gdLst/>
              <a:ahLst/>
              <a:cxnLst/>
              <a:rect l="l" t="t" r="r" b="b"/>
              <a:pathLst>
                <a:path w="914400" h="915035">
                  <a:moveTo>
                    <a:pt x="0" y="0"/>
                  </a:moveTo>
                  <a:lnTo>
                    <a:pt x="914099" y="0"/>
                  </a:lnTo>
                  <a:lnTo>
                    <a:pt x="914099" y="914700"/>
                  </a:lnTo>
                  <a:lnTo>
                    <a:pt x="0" y="914700"/>
                  </a:lnTo>
                  <a:lnTo>
                    <a:pt x="0" y="0"/>
                  </a:lnTo>
                  <a:close/>
                </a:path>
              </a:pathLst>
            </a:custGeom>
            <a:ln w="45724">
              <a:solidFill>
                <a:srgbClr val="E6A064"/>
              </a:solidFill>
            </a:ln>
          </p:spPr>
          <p:txBody>
            <a:bodyPr wrap="square" lIns="0" tIns="0" rIns="0" bIns="0" rtlCol="0"/>
            <a:lstStyle/>
            <a:p>
              <a:endParaRPr sz="2400"/>
            </a:p>
          </p:txBody>
        </p:sp>
      </p:grpSp>
      <p:sp>
        <p:nvSpPr>
          <p:cNvPr id="61" name="object 61"/>
          <p:cNvSpPr txBox="1"/>
          <p:nvPr/>
        </p:nvSpPr>
        <p:spPr>
          <a:xfrm>
            <a:off x="6934605" y="3973665"/>
            <a:ext cx="1188720" cy="345330"/>
          </a:xfrm>
          <a:prstGeom prst="rect">
            <a:avLst/>
          </a:prstGeom>
        </p:spPr>
        <p:txBody>
          <a:bodyPr vert="horz" wrap="square" lIns="0" tIns="16933" rIns="0" bIns="0" rtlCol="0">
            <a:spAutoFit/>
          </a:bodyPr>
          <a:lstStyle/>
          <a:p>
            <a:pPr marL="30479" algn="ctr">
              <a:spcBef>
                <a:spcPts val="133"/>
              </a:spcBef>
            </a:pPr>
            <a:r>
              <a:rPr sz="2133" spc="20" dirty="0">
                <a:latin typeface="Lucida Sans Unicode"/>
                <a:cs typeface="Lucida Sans Unicode"/>
              </a:rPr>
              <a:t>S</a:t>
            </a:r>
            <a:endParaRPr sz="2133">
              <a:latin typeface="Lucida Sans Unicode"/>
              <a:cs typeface="Lucida Sans Unicode"/>
            </a:endParaRPr>
          </a:p>
        </p:txBody>
      </p:sp>
      <p:grpSp>
        <p:nvGrpSpPr>
          <p:cNvPr id="62" name="object 62"/>
          <p:cNvGrpSpPr/>
          <p:nvPr/>
        </p:nvGrpSpPr>
        <p:grpSpPr>
          <a:xfrm>
            <a:off x="8245909" y="3523421"/>
            <a:ext cx="1280159" cy="1281007"/>
            <a:chOff x="6184431" y="2642565"/>
            <a:chExt cx="960119" cy="960755"/>
          </a:xfrm>
        </p:grpSpPr>
        <p:sp>
          <p:nvSpPr>
            <p:cNvPr id="63" name="object 63"/>
            <p:cNvSpPr/>
            <p:nvPr/>
          </p:nvSpPr>
          <p:spPr>
            <a:xfrm>
              <a:off x="6207291" y="2665425"/>
              <a:ext cx="914400" cy="915035"/>
            </a:xfrm>
            <a:custGeom>
              <a:avLst/>
              <a:gdLst/>
              <a:ahLst/>
              <a:cxnLst/>
              <a:rect l="l" t="t" r="r" b="b"/>
              <a:pathLst>
                <a:path w="914400" h="915035">
                  <a:moveTo>
                    <a:pt x="914100" y="914699"/>
                  </a:moveTo>
                  <a:lnTo>
                    <a:pt x="0" y="914699"/>
                  </a:lnTo>
                  <a:lnTo>
                    <a:pt x="0" y="0"/>
                  </a:lnTo>
                  <a:lnTo>
                    <a:pt x="914100" y="0"/>
                  </a:lnTo>
                  <a:lnTo>
                    <a:pt x="914100" y="914699"/>
                  </a:lnTo>
                  <a:close/>
                </a:path>
              </a:pathLst>
            </a:custGeom>
            <a:solidFill>
              <a:srgbClr val="FFFFFF"/>
            </a:solidFill>
          </p:spPr>
          <p:txBody>
            <a:bodyPr wrap="square" lIns="0" tIns="0" rIns="0" bIns="0" rtlCol="0"/>
            <a:lstStyle/>
            <a:p>
              <a:endParaRPr sz="2400"/>
            </a:p>
          </p:txBody>
        </p:sp>
        <p:sp>
          <p:nvSpPr>
            <p:cNvPr id="64" name="object 64"/>
            <p:cNvSpPr/>
            <p:nvPr/>
          </p:nvSpPr>
          <p:spPr>
            <a:xfrm>
              <a:off x="6207291" y="2665425"/>
              <a:ext cx="914400" cy="915035"/>
            </a:xfrm>
            <a:custGeom>
              <a:avLst/>
              <a:gdLst/>
              <a:ahLst/>
              <a:cxnLst/>
              <a:rect l="l" t="t" r="r" b="b"/>
              <a:pathLst>
                <a:path w="914400" h="915035">
                  <a:moveTo>
                    <a:pt x="0" y="0"/>
                  </a:moveTo>
                  <a:lnTo>
                    <a:pt x="914100" y="0"/>
                  </a:lnTo>
                  <a:lnTo>
                    <a:pt x="914100" y="914699"/>
                  </a:lnTo>
                  <a:lnTo>
                    <a:pt x="0" y="914699"/>
                  </a:lnTo>
                  <a:lnTo>
                    <a:pt x="0" y="0"/>
                  </a:lnTo>
                  <a:close/>
                </a:path>
              </a:pathLst>
            </a:custGeom>
            <a:ln w="45724">
              <a:solidFill>
                <a:srgbClr val="B45F06"/>
              </a:solidFill>
            </a:ln>
          </p:spPr>
          <p:txBody>
            <a:bodyPr wrap="square" lIns="0" tIns="0" rIns="0" bIns="0" rtlCol="0"/>
            <a:lstStyle/>
            <a:p>
              <a:endParaRPr sz="2400"/>
            </a:p>
          </p:txBody>
        </p:sp>
      </p:grpSp>
      <p:sp>
        <p:nvSpPr>
          <p:cNvPr id="65" name="object 65"/>
          <p:cNvSpPr txBox="1"/>
          <p:nvPr/>
        </p:nvSpPr>
        <p:spPr>
          <a:xfrm>
            <a:off x="8794506" y="3973371"/>
            <a:ext cx="199813" cy="345330"/>
          </a:xfrm>
          <a:prstGeom prst="rect">
            <a:avLst/>
          </a:prstGeom>
        </p:spPr>
        <p:txBody>
          <a:bodyPr vert="horz" wrap="square" lIns="0" tIns="16933" rIns="0" bIns="0" rtlCol="0">
            <a:spAutoFit/>
          </a:bodyPr>
          <a:lstStyle/>
          <a:p>
            <a:pPr>
              <a:spcBef>
                <a:spcPts val="133"/>
              </a:spcBef>
            </a:pPr>
            <a:r>
              <a:rPr sz="2133" spc="-67" dirty="0">
                <a:latin typeface="Lucida Sans Unicode"/>
                <a:cs typeface="Lucida Sans Unicode"/>
              </a:rPr>
              <a:t>A</a:t>
            </a:r>
            <a:endParaRPr sz="2133">
              <a:latin typeface="Lucida Sans Unicode"/>
              <a:cs typeface="Lucida Sans Unicode"/>
            </a:endParaRPr>
          </a:p>
        </p:txBody>
      </p:sp>
      <p:grpSp>
        <p:nvGrpSpPr>
          <p:cNvPr id="66" name="object 66"/>
          <p:cNvGrpSpPr/>
          <p:nvPr/>
        </p:nvGrpSpPr>
        <p:grpSpPr>
          <a:xfrm>
            <a:off x="6273429" y="3541324"/>
            <a:ext cx="501227" cy="501227"/>
            <a:chOff x="4705072" y="2655993"/>
            <a:chExt cx="375920" cy="375920"/>
          </a:xfrm>
        </p:grpSpPr>
        <p:sp>
          <p:nvSpPr>
            <p:cNvPr id="67" name="object 67"/>
            <p:cNvSpPr/>
            <p:nvPr/>
          </p:nvSpPr>
          <p:spPr>
            <a:xfrm>
              <a:off x="4709834" y="2660755"/>
              <a:ext cx="366395" cy="366395"/>
            </a:xfrm>
            <a:custGeom>
              <a:avLst/>
              <a:gdLst/>
              <a:ahLst/>
              <a:cxnLst/>
              <a:rect l="l" t="t" r="r" b="b"/>
              <a:pathLst>
                <a:path w="366395" h="366394">
                  <a:moveTo>
                    <a:pt x="365999" y="365999"/>
                  </a:moveTo>
                  <a:lnTo>
                    <a:pt x="0" y="365999"/>
                  </a:lnTo>
                  <a:lnTo>
                    <a:pt x="0" y="0"/>
                  </a:lnTo>
                  <a:lnTo>
                    <a:pt x="365999" y="0"/>
                  </a:lnTo>
                  <a:lnTo>
                    <a:pt x="365999" y="365999"/>
                  </a:lnTo>
                  <a:close/>
                </a:path>
              </a:pathLst>
            </a:custGeom>
            <a:solidFill>
              <a:srgbClr val="FFFFFF"/>
            </a:solidFill>
          </p:spPr>
          <p:txBody>
            <a:bodyPr wrap="square" lIns="0" tIns="0" rIns="0" bIns="0" rtlCol="0"/>
            <a:lstStyle/>
            <a:p>
              <a:endParaRPr sz="2400"/>
            </a:p>
          </p:txBody>
        </p:sp>
        <p:sp>
          <p:nvSpPr>
            <p:cNvPr id="68" name="object 68"/>
            <p:cNvSpPr/>
            <p:nvPr/>
          </p:nvSpPr>
          <p:spPr>
            <a:xfrm>
              <a:off x="4709834" y="2660755"/>
              <a:ext cx="366395" cy="366395"/>
            </a:xfrm>
            <a:custGeom>
              <a:avLst/>
              <a:gdLst/>
              <a:ahLst/>
              <a:cxnLst/>
              <a:rect l="l" t="t" r="r" b="b"/>
              <a:pathLst>
                <a:path w="366395" h="366394">
                  <a:moveTo>
                    <a:pt x="0" y="0"/>
                  </a:moveTo>
                  <a:lnTo>
                    <a:pt x="365999" y="0"/>
                  </a:lnTo>
                  <a:lnTo>
                    <a:pt x="365999" y="365999"/>
                  </a:lnTo>
                  <a:lnTo>
                    <a:pt x="0" y="365999"/>
                  </a:lnTo>
                  <a:lnTo>
                    <a:pt x="0" y="0"/>
                  </a:lnTo>
                  <a:close/>
                </a:path>
              </a:pathLst>
            </a:custGeom>
            <a:ln w="9524">
              <a:solidFill>
                <a:srgbClr val="5AB46E"/>
              </a:solidFill>
            </a:ln>
          </p:spPr>
          <p:txBody>
            <a:bodyPr wrap="square" lIns="0" tIns="0" rIns="0" bIns="0" rtlCol="0"/>
            <a:lstStyle/>
            <a:p>
              <a:endParaRPr sz="2400"/>
            </a:p>
          </p:txBody>
        </p:sp>
      </p:grpSp>
      <p:sp>
        <p:nvSpPr>
          <p:cNvPr id="69" name="object 69"/>
          <p:cNvSpPr txBox="1"/>
          <p:nvPr/>
        </p:nvSpPr>
        <p:spPr>
          <a:xfrm>
            <a:off x="5100528" y="3601344"/>
            <a:ext cx="1532467" cy="345330"/>
          </a:xfrm>
          <a:prstGeom prst="rect">
            <a:avLst/>
          </a:prstGeom>
        </p:spPr>
        <p:txBody>
          <a:bodyPr vert="horz" wrap="square" lIns="0" tIns="16933" rIns="0" bIns="0" rtlCol="0">
            <a:spAutoFit/>
          </a:bodyPr>
          <a:lstStyle/>
          <a:p>
            <a:pPr>
              <a:spcBef>
                <a:spcPts val="133"/>
              </a:spcBef>
              <a:tabLst>
                <a:tab pos="683243" algn="l"/>
                <a:tab pos="1330925" algn="l"/>
              </a:tabLst>
            </a:pPr>
            <a:r>
              <a:rPr sz="2133" spc="-67" dirty="0">
                <a:latin typeface="Lucida Sans Unicode"/>
                <a:cs typeface="Lucida Sans Unicode"/>
              </a:rPr>
              <a:t>Q</a:t>
            </a:r>
            <a:r>
              <a:rPr sz="2133" dirty="0">
                <a:latin typeface="Lucida Sans Unicode"/>
                <a:cs typeface="Lucida Sans Unicode"/>
              </a:rPr>
              <a:t>	</a:t>
            </a:r>
            <a:r>
              <a:rPr sz="2133" spc="-67" dirty="0">
                <a:latin typeface="Lucida Sans Unicode"/>
                <a:cs typeface="Lucida Sans Unicode"/>
              </a:rPr>
              <a:t>K</a:t>
            </a:r>
            <a:r>
              <a:rPr sz="2133" dirty="0">
                <a:latin typeface="Lucida Sans Unicode"/>
                <a:cs typeface="Lucida Sans Unicode"/>
              </a:rPr>
              <a:t>	</a:t>
            </a:r>
            <a:r>
              <a:rPr sz="2133" spc="-67" dirty="0">
                <a:latin typeface="Lucida Sans Unicode"/>
                <a:cs typeface="Lucida Sans Unicode"/>
              </a:rPr>
              <a:t>V</a:t>
            </a:r>
            <a:endParaRPr sz="2133">
              <a:latin typeface="Lucida Sans Unicode"/>
              <a:cs typeface="Lucida Sans Unicode"/>
            </a:endParaRPr>
          </a:p>
        </p:txBody>
      </p:sp>
      <p:grpSp>
        <p:nvGrpSpPr>
          <p:cNvPr id="70" name="object 70"/>
          <p:cNvGrpSpPr/>
          <p:nvPr/>
        </p:nvGrpSpPr>
        <p:grpSpPr>
          <a:xfrm>
            <a:off x="9560820" y="3525460"/>
            <a:ext cx="521547" cy="521547"/>
            <a:chOff x="7170615" y="2644095"/>
            <a:chExt cx="391160" cy="391160"/>
          </a:xfrm>
        </p:grpSpPr>
        <p:sp>
          <p:nvSpPr>
            <p:cNvPr id="71" name="object 71"/>
            <p:cNvSpPr/>
            <p:nvPr/>
          </p:nvSpPr>
          <p:spPr>
            <a:xfrm>
              <a:off x="7183315" y="2656795"/>
              <a:ext cx="365760" cy="365760"/>
            </a:xfrm>
            <a:custGeom>
              <a:avLst/>
              <a:gdLst/>
              <a:ahLst/>
              <a:cxnLst/>
              <a:rect l="l" t="t" r="r" b="b"/>
              <a:pathLst>
                <a:path w="365759" h="365760">
                  <a:moveTo>
                    <a:pt x="365699" y="365699"/>
                  </a:moveTo>
                  <a:lnTo>
                    <a:pt x="0" y="365699"/>
                  </a:lnTo>
                  <a:lnTo>
                    <a:pt x="0" y="0"/>
                  </a:lnTo>
                  <a:lnTo>
                    <a:pt x="365699" y="0"/>
                  </a:lnTo>
                  <a:lnTo>
                    <a:pt x="365699" y="365699"/>
                  </a:lnTo>
                  <a:close/>
                </a:path>
              </a:pathLst>
            </a:custGeom>
            <a:solidFill>
              <a:srgbClr val="FFFFFF"/>
            </a:solidFill>
          </p:spPr>
          <p:txBody>
            <a:bodyPr wrap="square" lIns="0" tIns="0" rIns="0" bIns="0" rtlCol="0"/>
            <a:lstStyle/>
            <a:p>
              <a:endParaRPr sz="2400"/>
            </a:p>
          </p:txBody>
        </p:sp>
        <p:sp>
          <p:nvSpPr>
            <p:cNvPr id="72" name="object 72"/>
            <p:cNvSpPr/>
            <p:nvPr/>
          </p:nvSpPr>
          <p:spPr>
            <a:xfrm>
              <a:off x="7183315" y="2656795"/>
              <a:ext cx="365760" cy="365760"/>
            </a:xfrm>
            <a:custGeom>
              <a:avLst/>
              <a:gdLst/>
              <a:ahLst/>
              <a:cxnLst/>
              <a:rect l="l" t="t" r="r" b="b"/>
              <a:pathLst>
                <a:path w="365759" h="365760">
                  <a:moveTo>
                    <a:pt x="0" y="0"/>
                  </a:moveTo>
                  <a:lnTo>
                    <a:pt x="365699" y="0"/>
                  </a:lnTo>
                  <a:lnTo>
                    <a:pt x="365699" y="365699"/>
                  </a:lnTo>
                  <a:lnTo>
                    <a:pt x="0" y="365699"/>
                  </a:lnTo>
                  <a:lnTo>
                    <a:pt x="0" y="0"/>
                  </a:lnTo>
                  <a:close/>
                </a:path>
              </a:pathLst>
            </a:custGeom>
            <a:ln w="24774">
              <a:solidFill>
                <a:srgbClr val="965AC8"/>
              </a:solidFill>
            </a:ln>
          </p:spPr>
          <p:txBody>
            <a:bodyPr wrap="square" lIns="0" tIns="0" rIns="0" bIns="0" rtlCol="0"/>
            <a:lstStyle/>
            <a:p>
              <a:endParaRPr sz="2400"/>
            </a:p>
          </p:txBody>
        </p:sp>
      </p:grpSp>
      <p:sp>
        <p:nvSpPr>
          <p:cNvPr id="73" name="object 73"/>
          <p:cNvSpPr txBox="1"/>
          <p:nvPr/>
        </p:nvSpPr>
        <p:spPr>
          <a:xfrm>
            <a:off x="9715102" y="3595863"/>
            <a:ext cx="230293" cy="345330"/>
          </a:xfrm>
          <a:prstGeom prst="rect">
            <a:avLst/>
          </a:prstGeom>
        </p:spPr>
        <p:txBody>
          <a:bodyPr vert="horz" wrap="square" lIns="0" tIns="16933" rIns="0" bIns="0" rtlCol="0">
            <a:spAutoFit/>
          </a:bodyPr>
          <a:lstStyle/>
          <a:p>
            <a:pPr>
              <a:spcBef>
                <a:spcPts val="133"/>
              </a:spcBef>
            </a:pPr>
            <a:r>
              <a:rPr sz="2133" spc="-67" dirty="0">
                <a:latin typeface="Lucida Sans Unicode"/>
                <a:cs typeface="Lucida Sans Unicode"/>
              </a:rPr>
              <a:t>O</a:t>
            </a:r>
            <a:endParaRPr sz="2133">
              <a:latin typeface="Lucida Sans Unicode"/>
              <a:cs typeface="Lucida Sans Unicode"/>
            </a:endParaRPr>
          </a:p>
        </p:txBody>
      </p:sp>
      <p:sp>
        <p:nvSpPr>
          <p:cNvPr id="74" name="object 74"/>
          <p:cNvSpPr/>
          <p:nvPr/>
        </p:nvSpPr>
        <p:spPr>
          <a:xfrm>
            <a:off x="6896199" y="3494354"/>
            <a:ext cx="2664460" cy="1337733"/>
          </a:xfrm>
          <a:custGeom>
            <a:avLst/>
            <a:gdLst/>
            <a:ahLst/>
            <a:cxnLst/>
            <a:rect l="l" t="t" r="r" b="b"/>
            <a:pathLst>
              <a:path w="1998345" h="1003300">
                <a:moveTo>
                  <a:pt x="0" y="0"/>
                </a:moveTo>
                <a:lnTo>
                  <a:pt x="1997999" y="0"/>
                </a:lnTo>
                <a:lnTo>
                  <a:pt x="1997999" y="1003199"/>
                </a:lnTo>
                <a:lnTo>
                  <a:pt x="0" y="1003199"/>
                </a:lnTo>
                <a:lnTo>
                  <a:pt x="0" y="0"/>
                </a:lnTo>
                <a:close/>
              </a:path>
            </a:pathLst>
          </a:custGeom>
          <a:ln w="76199">
            <a:solidFill>
              <a:srgbClr val="F65B66"/>
            </a:solidFill>
          </a:ln>
        </p:spPr>
        <p:txBody>
          <a:bodyPr wrap="square" lIns="0" tIns="0" rIns="0" bIns="0" rtlCol="0"/>
          <a:lstStyle/>
          <a:p>
            <a:endParaRPr sz="2400"/>
          </a:p>
        </p:txBody>
      </p:sp>
      <p:sp>
        <p:nvSpPr>
          <p:cNvPr id="75" name="object 75"/>
          <p:cNvSpPr txBox="1"/>
          <p:nvPr/>
        </p:nvSpPr>
        <p:spPr>
          <a:xfrm>
            <a:off x="8056082" y="4750563"/>
            <a:ext cx="392007" cy="345393"/>
          </a:xfrm>
          <a:prstGeom prst="rect">
            <a:avLst/>
          </a:prstGeom>
        </p:spPr>
        <p:txBody>
          <a:bodyPr vert="horz" wrap="square" lIns="0" tIns="16933" rIns="0" bIns="0" rtlCol="0">
            <a:spAutoFit/>
          </a:bodyPr>
          <a:lstStyle/>
          <a:p>
            <a:pPr marL="33866">
              <a:spcBef>
                <a:spcPts val="133"/>
              </a:spcBef>
            </a:pPr>
            <a:r>
              <a:rPr sz="3200" b="1" i="1" spc="-49" baseline="-20833" dirty="0">
                <a:solidFill>
                  <a:srgbClr val="F65B66"/>
                </a:solidFill>
                <a:latin typeface="Arial"/>
                <a:cs typeface="Arial"/>
              </a:rPr>
              <a:t>N</a:t>
            </a:r>
            <a:r>
              <a:rPr sz="1400" b="1" i="1" spc="-33" dirty="0">
                <a:solidFill>
                  <a:srgbClr val="F65B66"/>
                </a:solidFill>
                <a:latin typeface="Arial"/>
                <a:cs typeface="Arial"/>
              </a:rPr>
              <a:t>2</a:t>
            </a:r>
            <a:endParaRPr sz="1400">
              <a:latin typeface="Arial"/>
              <a:cs typeface="Arial"/>
            </a:endParaRPr>
          </a:p>
        </p:txBody>
      </p:sp>
      <p:sp>
        <p:nvSpPr>
          <p:cNvPr id="76" name="TextBox 75">
            <a:extLst>
              <a:ext uri="{FF2B5EF4-FFF2-40B4-BE49-F238E27FC236}">
                <a16:creationId xmlns:a16="http://schemas.microsoft.com/office/drawing/2014/main" id="{07C9C6A0-5F79-3314-96A3-D87331EB437B}"/>
              </a:ext>
            </a:extLst>
          </p:cNvPr>
          <p:cNvSpPr txBox="1"/>
          <p:nvPr/>
        </p:nvSpPr>
        <p:spPr>
          <a:xfrm>
            <a:off x="2342858" y="5873489"/>
            <a:ext cx="8151655" cy="461665"/>
          </a:xfrm>
          <a:prstGeom prst="rect">
            <a:avLst/>
          </a:prstGeom>
          <a:noFill/>
        </p:spPr>
        <p:txBody>
          <a:bodyPr wrap="none" rtlCol="0">
            <a:spAutoFit/>
          </a:bodyPr>
          <a:lstStyle/>
          <a:p>
            <a:r>
              <a:rPr lang="en-US" sz="2400" dirty="0"/>
              <a:t>Wasting memory B.W in reloading S and A, both are huge in size</a:t>
            </a:r>
            <a:endParaRPr lang="en-IN" sz="2400" dirty="0"/>
          </a:p>
        </p:txBody>
      </p:sp>
    </p:spTree>
    <p:extLst>
      <p:ext uri="{BB962C8B-B14F-4D97-AF65-F5344CB8AC3E}">
        <p14:creationId xmlns:p14="http://schemas.microsoft.com/office/powerpoint/2010/main" val="1657838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06115" y="1458025"/>
            <a:ext cx="3165687" cy="2319019"/>
            <a:chOff x="379586" y="1093519"/>
            <a:chExt cx="2374265" cy="1739264"/>
          </a:xfrm>
        </p:grpSpPr>
        <p:sp>
          <p:nvSpPr>
            <p:cNvPr id="3" name="object 3"/>
            <p:cNvSpPr/>
            <p:nvPr/>
          </p:nvSpPr>
          <p:spPr>
            <a:xfrm>
              <a:off x="587458" y="1099869"/>
              <a:ext cx="2160270" cy="300990"/>
            </a:xfrm>
            <a:custGeom>
              <a:avLst/>
              <a:gdLst/>
              <a:ahLst/>
              <a:cxnLst/>
              <a:rect l="l" t="t" r="r" b="b"/>
              <a:pathLst>
                <a:path w="2160270" h="300990">
                  <a:moveTo>
                    <a:pt x="0" y="300380"/>
                  </a:moveTo>
                  <a:lnTo>
                    <a:pt x="2159740" y="300380"/>
                  </a:lnTo>
                  <a:lnTo>
                    <a:pt x="2159740" y="0"/>
                  </a:lnTo>
                  <a:lnTo>
                    <a:pt x="0" y="0"/>
                  </a:lnTo>
                  <a:lnTo>
                    <a:pt x="0" y="300380"/>
                  </a:lnTo>
                  <a:close/>
                </a:path>
              </a:pathLst>
            </a:custGeom>
            <a:solidFill>
              <a:srgbClr val="F4C4D1"/>
            </a:solidFill>
          </p:spPr>
          <p:txBody>
            <a:bodyPr wrap="square" lIns="0" tIns="0" rIns="0" bIns="0" rtlCol="0"/>
            <a:lstStyle/>
            <a:p>
              <a:endParaRPr sz="2400"/>
            </a:p>
          </p:txBody>
        </p:sp>
        <p:sp>
          <p:nvSpPr>
            <p:cNvPr id="4" name="object 4"/>
            <p:cNvSpPr/>
            <p:nvPr/>
          </p:nvSpPr>
          <p:spPr>
            <a:xfrm>
              <a:off x="587458" y="1099869"/>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5" name="object 5"/>
            <p:cNvSpPr/>
            <p:nvPr/>
          </p:nvSpPr>
          <p:spPr>
            <a:xfrm>
              <a:off x="2646437" y="1400249"/>
              <a:ext cx="100965" cy="1224915"/>
            </a:xfrm>
            <a:custGeom>
              <a:avLst/>
              <a:gdLst/>
              <a:ahLst/>
              <a:cxnLst/>
              <a:rect l="l" t="t" r="r" b="b"/>
              <a:pathLst>
                <a:path w="100964" h="1224914">
                  <a:moveTo>
                    <a:pt x="0" y="1224414"/>
                  </a:moveTo>
                  <a:lnTo>
                    <a:pt x="100787" y="1224414"/>
                  </a:lnTo>
                  <a:lnTo>
                    <a:pt x="100787" y="0"/>
                  </a:lnTo>
                  <a:lnTo>
                    <a:pt x="0" y="0"/>
                  </a:lnTo>
                  <a:lnTo>
                    <a:pt x="0" y="1224414"/>
                  </a:lnTo>
                  <a:close/>
                </a:path>
              </a:pathLst>
            </a:custGeom>
            <a:solidFill>
              <a:srgbClr val="EBFAFF"/>
            </a:solidFill>
          </p:spPr>
          <p:txBody>
            <a:bodyPr wrap="square" lIns="0" tIns="0" rIns="0" bIns="0" rtlCol="0"/>
            <a:lstStyle/>
            <a:p>
              <a:endParaRPr sz="2400"/>
            </a:p>
          </p:txBody>
        </p:sp>
        <p:sp>
          <p:nvSpPr>
            <p:cNvPr id="6" name="object 6"/>
            <p:cNvSpPr/>
            <p:nvPr/>
          </p:nvSpPr>
          <p:spPr>
            <a:xfrm>
              <a:off x="587484" y="1400249"/>
              <a:ext cx="2160270" cy="1224915"/>
            </a:xfrm>
            <a:custGeom>
              <a:avLst/>
              <a:gdLst/>
              <a:ahLst/>
              <a:cxnLst/>
              <a:rect l="l" t="t" r="r" b="b"/>
              <a:pathLst>
                <a:path w="2160270" h="1224914">
                  <a:moveTo>
                    <a:pt x="2159740" y="0"/>
                  </a:moveTo>
                  <a:lnTo>
                    <a:pt x="2159740" y="1224414"/>
                  </a:lnTo>
                  <a:lnTo>
                    <a:pt x="0" y="1224414"/>
                  </a:lnTo>
                  <a:lnTo>
                    <a:pt x="0" y="0"/>
                  </a:lnTo>
                  <a:lnTo>
                    <a:pt x="2159740" y="0"/>
                  </a:lnTo>
                  <a:close/>
                </a:path>
              </a:pathLst>
            </a:custGeom>
            <a:ln w="12599">
              <a:solidFill>
                <a:srgbClr val="237A94"/>
              </a:solidFill>
            </a:ln>
          </p:spPr>
          <p:txBody>
            <a:bodyPr wrap="square" lIns="0" tIns="0" rIns="0" bIns="0" rtlCol="0"/>
            <a:lstStyle/>
            <a:p>
              <a:endParaRPr sz="2400"/>
            </a:p>
          </p:txBody>
        </p:sp>
        <p:sp>
          <p:nvSpPr>
            <p:cNvPr id="7" name="object 7"/>
            <p:cNvSpPr/>
            <p:nvPr/>
          </p:nvSpPr>
          <p:spPr>
            <a:xfrm>
              <a:off x="486697" y="1200630"/>
              <a:ext cx="2160270" cy="300990"/>
            </a:xfrm>
            <a:custGeom>
              <a:avLst/>
              <a:gdLst/>
              <a:ahLst/>
              <a:cxnLst/>
              <a:rect l="l" t="t" r="r" b="b"/>
              <a:pathLst>
                <a:path w="2160270" h="300990">
                  <a:moveTo>
                    <a:pt x="0" y="300769"/>
                  </a:moveTo>
                  <a:lnTo>
                    <a:pt x="2159740" y="300769"/>
                  </a:lnTo>
                  <a:lnTo>
                    <a:pt x="2159740" y="0"/>
                  </a:lnTo>
                  <a:lnTo>
                    <a:pt x="0" y="0"/>
                  </a:lnTo>
                  <a:lnTo>
                    <a:pt x="0" y="300769"/>
                  </a:lnTo>
                  <a:close/>
                </a:path>
              </a:pathLst>
            </a:custGeom>
            <a:solidFill>
              <a:srgbClr val="F4C4D1"/>
            </a:solidFill>
          </p:spPr>
          <p:txBody>
            <a:bodyPr wrap="square" lIns="0" tIns="0" rIns="0" bIns="0" rtlCol="0"/>
            <a:lstStyle/>
            <a:p>
              <a:endParaRPr sz="2400"/>
            </a:p>
          </p:txBody>
        </p:sp>
        <p:sp>
          <p:nvSpPr>
            <p:cNvPr id="8" name="object 8"/>
            <p:cNvSpPr/>
            <p:nvPr/>
          </p:nvSpPr>
          <p:spPr>
            <a:xfrm>
              <a:off x="486697" y="1200630"/>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9" name="object 9"/>
            <p:cNvSpPr/>
            <p:nvPr/>
          </p:nvSpPr>
          <p:spPr>
            <a:xfrm>
              <a:off x="2545677" y="1501399"/>
              <a:ext cx="100965" cy="1223645"/>
            </a:xfrm>
            <a:custGeom>
              <a:avLst/>
              <a:gdLst/>
              <a:ahLst/>
              <a:cxnLst/>
              <a:rect l="l" t="t" r="r" b="b"/>
              <a:pathLst>
                <a:path w="100964" h="1223645">
                  <a:moveTo>
                    <a:pt x="0" y="1223417"/>
                  </a:moveTo>
                  <a:lnTo>
                    <a:pt x="100797" y="1223417"/>
                  </a:lnTo>
                  <a:lnTo>
                    <a:pt x="100797" y="0"/>
                  </a:lnTo>
                  <a:lnTo>
                    <a:pt x="0" y="0"/>
                  </a:lnTo>
                  <a:lnTo>
                    <a:pt x="0" y="1223417"/>
                  </a:lnTo>
                  <a:close/>
                </a:path>
              </a:pathLst>
            </a:custGeom>
            <a:solidFill>
              <a:srgbClr val="EBFAFF"/>
            </a:solidFill>
          </p:spPr>
          <p:txBody>
            <a:bodyPr wrap="square" lIns="0" tIns="0" rIns="0" bIns="0" rtlCol="0"/>
            <a:lstStyle/>
            <a:p>
              <a:endParaRPr sz="2400"/>
            </a:p>
          </p:txBody>
        </p:sp>
        <p:sp>
          <p:nvSpPr>
            <p:cNvPr id="10" name="object 10"/>
            <p:cNvSpPr/>
            <p:nvPr/>
          </p:nvSpPr>
          <p:spPr>
            <a:xfrm>
              <a:off x="486734" y="1501399"/>
              <a:ext cx="2160270" cy="1223645"/>
            </a:xfrm>
            <a:custGeom>
              <a:avLst/>
              <a:gdLst/>
              <a:ahLst/>
              <a:cxnLst/>
              <a:rect l="l" t="t" r="r" b="b"/>
              <a:pathLst>
                <a:path w="2160270" h="1223645">
                  <a:moveTo>
                    <a:pt x="2159740" y="0"/>
                  </a:moveTo>
                  <a:lnTo>
                    <a:pt x="2159740" y="1223417"/>
                  </a:lnTo>
                  <a:lnTo>
                    <a:pt x="0" y="1223417"/>
                  </a:lnTo>
                  <a:lnTo>
                    <a:pt x="0" y="0"/>
                  </a:lnTo>
                  <a:lnTo>
                    <a:pt x="2159740" y="0"/>
                  </a:lnTo>
                  <a:close/>
                </a:path>
              </a:pathLst>
            </a:custGeom>
            <a:ln w="12599">
              <a:solidFill>
                <a:srgbClr val="237A94"/>
              </a:solidFill>
            </a:ln>
          </p:spPr>
          <p:txBody>
            <a:bodyPr wrap="square" lIns="0" tIns="0" rIns="0" bIns="0" rtlCol="0"/>
            <a:lstStyle/>
            <a:p>
              <a:endParaRPr sz="2400"/>
            </a:p>
          </p:txBody>
        </p:sp>
        <p:sp>
          <p:nvSpPr>
            <p:cNvPr id="11" name="object 11"/>
            <p:cNvSpPr/>
            <p:nvPr/>
          </p:nvSpPr>
          <p:spPr>
            <a:xfrm>
              <a:off x="385936" y="1301391"/>
              <a:ext cx="2160270" cy="298450"/>
            </a:xfrm>
            <a:custGeom>
              <a:avLst/>
              <a:gdLst/>
              <a:ahLst/>
              <a:cxnLst/>
              <a:rect l="l" t="t" r="r" b="b"/>
              <a:pathLst>
                <a:path w="2160270" h="298450">
                  <a:moveTo>
                    <a:pt x="0" y="298333"/>
                  </a:moveTo>
                  <a:lnTo>
                    <a:pt x="2159740" y="298333"/>
                  </a:lnTo>
                  <a:lnTo>
                    <a:pt x="2159740" y="0"/>
                  </a:lnTo>
                  <a:lnTo>
                    <a:pt x="0" y="0"/>
                  </a:lnTo>
                  <a:lnTo>
                    <a:pt x="0" y="298333"/>
                  </a:lnTo>
                  <a:close/>
                </a:path>
              </a:pathLst>
            </a:custGeom>
            <a:solidFill>
              <a:srgbClr val="F4C4D1"/>
            </a:solidFill>
          </p:spPr>
          <p:txBody>
            <a:bodyPr wrap="square" lIns="0" tIns="0" rIns="0" bIns="0" rtlCol="0"/>
            <a:lstStyle/>
            <a:p>
              <a:endParaRPr sz="2400"/>
            </a:p>
          </p:txBody>
        </p:sp>
        <p:sp>
          <p:nvSpPr>
            <p:cNvPr id="12" name="object 12"/>
            <p:cNvSpPr/>
            <p:nvPr/>
          </p:nvSpPr>
          <p:spPr>
            <a:xfrm>
              <a:off x="385936" y="1301391"/>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13" name="object 13"/>
            <p:cNvSpPr/>
            <p:nvPr/>
          </p:nvSpPr>
          <p:spPr>
            <a:xfrm>
              <a:off x="385959" y="1599724"/>
              <a:ext cx="2160270" cy="1226820"/>
            </a:xfrm>
            <a:custGeom>
              <a:avLst/>
              <a:gdLst/>
              <a:ahLst/>
              <a:cxnLst/>
              <a:rect l="l" t="t" r="r" b="b"/>
              <a:pathLst>
                <a:path w="2160270" h="1226820">
                  <a:moveTo>
                    <a:pt x="2159740" y="1226408"/>
                  </a:moveTo>
                  <a:lnTo>
                    <a:pt x="0" y="1226408"/>
                  </a:lnTo>
                  <a:lnTo>
                    <a:pt x="0" y="0"/>
                  </a:lnTo>
                  <a:lnTo>
                    <a:pt x="2159740" y="0"/>
                  </a:lnTo>
                  <a:lnTo>
                    <a:pt x="2159740" y="1226408"/>
                  </a:lnTo>
                  <a:close/>
                </a:path>
              </a:pathLst>
            </a:custGeom>
            <a:solidFill>
              <a:srgbClr val="EBFAFF"/>
            </a:solidFill>
          </p:spPr>
          <p:txBody>
            <a:bodyPr wrap="square" lIns="0" tIns="0" rIns="0" bIns="0" rtlCol="0"/>
            <a:lstStyle/>
            <a:p>
              <a:endParaRPr sz="2400"/>
            </a:p>
          </p:txBody>
        </p:sp>
        <p:sp>
          <p:nvSpPr>
            <p:cNvPr id="14" name="object 14"/>
            <p:cNvSpPr/>
            <p:nvPr/>
          </p:nvSpPr>
          <p:spPr>
            <a:xfrm>
              <a:off x="385959" y="1599724"/>
              <a:ext cx="2160270" cy="1226820"/>
            </a:xfrm>
            <a:custGeom>
              <a:avLst/>
              <a:gdLst/>
              <a:ahLst/>
              <a:cxnLst/>
              <a:rect l="l" t="t" r="r" b="b"/>
              <a:pathLst>
                <a:path w="2160270" h="1226820">
                  <a:moveTo>
                    <a:pt x="2159740" y="0"/>
                  </a:moveTo>
                  <a:lnTo>
                    <a:pt x="2159740" y="1226408"/>
                  </a:lnTo>
                  <a:lnTo>
                    <a:pt x="0" y="1226408"/>
                  </a:lnTo>
                  <a:lnTo>
                    <a:pt x="0" y="0"/>
                  </a:lnTo>
                  <a:lnTo>
                    <a:pt x="2159740" y="0"/>
                  </a:lnTo>
                  <a:close/>
                </a:path>
              </a:pathLst>
            </a:custGeom>
            <a:ln w="12599">
              <a:solidFill>
                <a:srgbClr val="237A94"/>
              </a:solidFill>
            </a:ln>
          </p:spPr>
          <p:txBody>
            <a:bodyPr wrap="square" lIns="0" tIns="0" rIns="0" bIns="0" rtlCol="0"/>
            <a:lstStyle/>
            <a:p>
              <a:endParaRPr sz="2400"/>
            </a:p>
          </p:txBody>
        </p:sp>
      </p:grpSp>
      <p:sp>
        <p:nvSpPr>
          <p:cNvPr id="15" name="object 15"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spc="80" dirty="0"/>
              <a:t>Naive</a:t>
            </a:r>
            <a:r>
              <a:rPr spc="60" dirty="0"/>
              <a:t> </a:t>
            </a:r>
            <a:r>
              <a:rPr dirty="0"/>
              <a:t>attention</a:t>
            </a:r>
            <a:r>
              <a:rPr spc="60" dirty="0"/>
              <a:t> </a:t>
            </a:r>
            <a:r>
              <a:rPr spc="-27" dirty="0"/>
              <a:t>flow</a:t>
            </a:r>
          </a:p>
        </p:txBody>
      </p:sp>
      <p:sp>
        <p:nvSpPr>
          <p:cNvPr id="16" name="object 16"/>
          <p:cNvSpPr txBox="1"/>
          <p:nvPr/>
        </p:nvSpPr>
        <p:spPr>
          <a:xfrm>
            <a:off x="722490" y="1108986"/>
            <a:ext cx="2090420" cy="341184"/>
          </a:xfrm>
          <a:prstGeom prst="rect">
            <a:avLst/>
          </a:prstGeom>
        </p:spPr>
        <p:txBody>
          <a:bodyPr vert="horz" wrap="square" lIns="0" tIns="22860" rIns="0" bIns="0" rtlCol="0">
            <a:spAutoFit/>
          </a:bodyPr>
          <a:lstStyle/>
          <a:p>
            <a:pPr marL="16933">
              <a:spcBef>
                <a:spcPts val="180"/>
              </a:spcBef>
            </a:pPr>
            <a:r>
              <a:rPr sz="2067" dirty="0">
                <a:solidFill>
                  <a:srgbClr val="257693"/>
                </a:solidFill>
                <a:latin typeface="Arial Black"/>
                <a:cs typeface="Arial Black"/>
              </a:rPr>
              <a:t>Compute</a:t>
            </a:r>
            <a:r>
              <a:rPr sz="2067" spc="-147" dirty="0">
                <a:solidFill>
                  <a:srgbClr val="257693"/>
                </a:solidFill>
                <a:latin typeface="Arial Black"/>
                <a:cs typeface="Arial Black"/>
              </a:rPr>
              <a:t> </a:t>
            </a:r>
            <a:r>
              <a:rPr sz="2067" spc="-13" dirty="0">
                <a:solidFill>
                  <a:srgbClr val="257693"/>
                </a:solidFill>
                <a:latin typeface="Arial Black"/>
                <a:cs typeface="Arial Black"/>
              </a:rPr>
              <a:t>units</a:t>
            </a:r>
            <a:endParaRPr sz="2067">
              <a:latin typeface="Arial Black"/>
              <a:cs typeface="Arial Black"/>
            </a:endParaRPr>
          </a:p>
        </p:txBody>
      </p:sp>
      <p:grpSp>
        <p:nvGrpSpPr>
          <p:cNvPr id="17" name="object 17"/>
          <p:cNvGrpSpPr/>
          <p:nvPr/>
        </p:nvGrpSpPr>
        <p:grpSpPr>
          <a:xfrm>
            <a:off x="630800" y="2758385"/>
            <a:ext cx="904240" cy="577427"/>
            <a:chOff x="473100" y="2068789"/>
            <a:chExt cx="678180" cy="433070"/>
          </a:xfrm>
        </p:grpSpPr>
        <p:sp>
          <p:nvSpPr>
            <p:cNvPr id="18" name="object 18"/>
            <p:cNvSpPr/>
            <p:nvPr/>
          </p:nvSpPr>
          <p:spPr>
            <a:xfrm>
              <a:off x="477862" y="2073552"/>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19" name="object 19"/>
            <p:cNvSpPr/>
            <p:nvPr/>
          </p:nvSpPr>
          <p:spPr>
            <a:xfrm>
              <a:off x="477862" y="2073552"/>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F47272"/>
              </a:solidFill>
            </a:ln>
          </p:spPr>
          <p:txBody>
            <a:bodyPr wrap="square" lIns="0" tIns="0" rIns="0" bIns="0" rtlCol="0"/>
            <a:lstStyle/>
            <a:p>
              <a:endParaRPr sz="2400"/>
            </a:p>
          </p:txBody>
        </p:sp>
        <p:sp>
          <p:nvSpPr>
            <p:cNvPr id="20" name="object 20"/>
            <p:cNvSpPr/>
            <p:nvPr/>
          </p:nvSpPr>
          <p:spPr>
            <a:xfrm>
              <a:off x="814739" y="2073552"/>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21" name="object 21"/>
            <p:cNvSpPr/>
            <p:nvPr/>
          </p:nvSpPr>
          <p:spPr>
            <a:xfrm>
              <a:off x="814739" y="2073552"/>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4696AA"/>
              </a:solidFill>
            </a:ln>
          </p:spPr>
          <p:txBody>
            <a:bodyPr wrap="square" lIns="0" tIns="0" rIns="0" bIns="0" rtlCol="0"/>
            <a:lstStyle/>
            <a:p>
              <a:endParaRPr sz="2400"/>
            </a:p>
          </p:txBody>
        </p:sp>
      </p:grpSp>
      <p:sp>
        <p:nvSpPr>
          <p:cNvPr id="22" name="object 22"/>
          <p:cNvSpPr txBox="1"/>
          <p:nvPr/>
        </p:nvSpPr>
        <p:spPr>
          <a:xfrm>
            <a:off x="721943" y="2836457"/>
            <a:ext cx="800100" cy="382092"/>
          </a:xfrm>
          <a:prstGeom prst="rect">
            <a:avLst/>
          </a:prstGeom>
        </p:spPr>
        <p:txBody>
          <a:bodyPr vert="horz" wrap="square" lIns="0" tIns="22860" rIns="0" bIns="0" rtlCol="0">
            <a:spAutoFit/>
          </a:bodyPr>
          <a:lstStyle/>
          <a:p>
            <a:pPr marL="16933">
              <a:spcBef>
                <a:spcPts val="180"/>
              </a:spcBef>
              <a:tabLst>
                <a:tab pos="494441" algn="l"/>
              </a:tabLst>
            </a:pPr>
            <a:r>
              <a:rPr sz="2333" spc="-67" dirty="0">
                <a:latin typeface="Lucida Sans Unicode"/>
                <a:cs typeface="Lucida Sans Unicode"/>
              </a:rPr>
              <a:t>Q</a:t>
            </a:r>
            <a:r>
              <a:rPr sz="2333" dirty="0">
                <a:latin typeface="Lucida Sans Unicode"/>
                <a:cs typeface="Lucida Sans Unicode"/>
              </a:rPr>
              <a:t>	</a:t>
            </a:r>
            <a:r>
              <a:rPr sz="2333" spc="-67" dirty="0">
                <a:latin typeface="Lucida Sans Unicode"/>
                <a:cs typeface="Lucida Sans Unicode"/>
              </a:rPr>
              <a:t>K</a:t>
            </a:r>
            <a:endParaRPr sz="2333">
              <a:latin typeface="Lucida Sans Unicode"/>
              <a:cs typeface="Lucida Sans Unicode"/>
            </a:endParaRPr>
          </a:p>
        </p:txBody>
      </p:sp>
      <p:grpSp>
        <p:nvGrpSpPr>
          <p:cNvPr id="23" name="object 23"/>
          <p:cNvGrpSpPr/>
          <p:nvPr/>
        </p:nvGrpSpPr>
        <p:grpSpPr>
          <a:xfrm>
            <a:off x="821583" y="2759443"/>
            <a:ext cx="2045547" cy="1374140"/>
            <a:chOff x="616187" y="2069582"/>
            <a:chExt cx="1534160" cy="1030605"/>
          </a:xfrm>
        </p:grpSpPr>
        <p:sp>
          <p:nvSpPr>
            <p:cNvPr id="24" name="object 24"/>
            <p:cNvSpPr/>
            <p:nvPr/>
          </p:nvSpPr>
          <p:spPr>
            <a:xfrm>
              <a:off x="642562" y="2572452"/>
              <a:ext cx="1270" cy="521334"/>
            </a:xfrm>
            <a:custGeom>
              <a:avLst/>
              <a:gdLst/>
              <a:ahLst/>
              <a:cxnLst/>
              <a:rect l="l" t="t" r="r" b="b"/>
              <a:pathLst>
                <a:path w="1270" h="521335">
                  <a:moveTo>
                    <a:pt x="0" y="521099"/>
                  </a:moveTo>
                  <a:lnTo>
                    <a:pt x="785" y="0"/>
                  </a:lnTo>
                </a:path>
              </a:pathLst>
            </a:custGeom>
            <a:ln w="12599">
              <a:solidFill>
                <a:srgbClr val="434343"/>
              </a:solidFill>
            </a:ln>
          </p:spPr>
          <p:txBody>
            <a:bodyPr wrap="square" lIns="0" tIns="0" rIns="0" bIns="0" rtlCol="0"/>
            <a:lstStyle/>
            <a:p>
              <a:endParaRPr sz="2400"/>
            </a:p>
          </p:txBody>
        </p:sp>
        <p:sp>
          <p:nvSpPr>
            <p:cNvPr id="25" name="object 25"/>
            <p:cNvSpPr/>
            <p:nvPr/>
          </p:nvSpPr>
          <p:spPr>
            <a:xfrm>
              <a:off x="622537" y="2515271"/>
              <a:ext cx="41910" cy="57785"/>
            </a:xfrm>
            <a:custGeom>
              <a:avLst/>
              <a:gdLst/>
              <a:ahLst/>
              <a:cxnLst/>
              <a:rect l="l" t="t" r="r" b="b"/>
              <a:pathLst>
                <a:path w="41909" h="57785">
                  <a:moveTo>
                    <a:pt x="41623" y="57211"/>
                  </a:moveTo>
                  <a:lnTo>
                    <a:pt x="0" y="57148"/>
                  </a:lnTo>
                  <a:lnTo>
                    <a:pt x="20898" y="0"/>
                  </a:lnTo>
                  <a:lnTo>
                    <a:pt x="41623" y="57211"/>
                  </a:lnTo>
                  <a:close/>
                </a:path>
              </a:pathLst>
            </a:custGeom>
            <a:solidFill>
              <a:srgbClr val="434343"/>
            </a:solidFill>
          </p:spPr>
          <p:txBody>
            <a:bodyPr wrap="square" lIns="0" tIns="0" rIns="0" bIns="0" rtlCol="0"/>
            <a:lstStyle/>
            <a:p>
              <a:endParaRPr sz="2400"/>
            </a:p>
          </p:txBody>
        </p:sp>
        <p:sp>
          <p:nvSpPr>
            <p:cNvPr id="26" name="object 26"/>
            <p:cNvSpPr/>
            <p:nvPr/>
          </p:nvSpPr>
          <p:spPr>
            <a:xfrm>
              <a:off x="622537" y="2515271"/>
              <a:ext cx="41910" cy="57785"/>
            </a:xfrm>
            <a:custGeom>
              <a:avLst/>
              <a:gdLst/>
              <a:ahLst/>
              <a:cxnLst/>
              <a:rect l="l" t="t" r="r" b="b"/>
              <a:pathLst>
                <a:path w="41909" h="57785">
                  <a:moveTo>
                    <a:pt x="41623" y="57211"/>
                  </a:moveTo>
                  <a:lnTo>
                    <a:pt x="20898" y="0"/>
                  </a:lnTo>
                  <a:lnTo>
                    <a:pt x="0" y="57148"/>
                  </a:lnTo>
                  <a:lnTo>
                    <a:pt x="41623" y="57211"/>
                  </a:lnTo>
                  <a:close/>
                </a:path>
              </a:pathLst>
            </a:custGeom>
            <a:ln w="12599">
              <a:solidFill>
                <a:srgbClr val="434343"/>
              </a:solidFill>
            </a:ln>
          </p:spPr>
          <p:txBody>
            <a:bodyPr wrap="square" lIns="0" tIns="0" rIns="0" bIns="0" rtlCol="0"/>
            <a:lstStyle/>
            <a:p>
              <a:endParaRPr sz="2400"/>
            </a:p>
          </p:txBody>
        </p:sp>
        <p:sp>
          <p:nvSpPr>
            <p:cNvPr id="27" name="object 27"/>
            <p:cNvSpPr/>
            <p:nvPr/>
          </p:nvSpPr>
          <p:spPr>
            <a:xfrm>
              <a:off x="975624" y="2575745"/>
              <a:ext cx="6350" cy="508634"/>
            </a:xfrm>
            <a:custGeom>
              <a:avLst/>
              <a:gdLst/>
              <a:ahLst/>
              <a:cxnLst/>
              <a:rect l="l" t="t" r="r" b="b"/>
              <a:pathLst>
                <a:path w="6350" h="508635">
                  <a:moveTo>
                    <a:pt x="0" y="508504"/>
                  </a:moveTo>
                  <a:lnTo>
                    <a:pt x="5745" y="0"/>
                  </a:lnTo>
                </a:path>
              </a:pathLst>
            </a:custGeom>
            <a:ln w="12599">
              <a:solidFill>
                <a:srgbClr val="434343"/>
              </a:solidFill>
            </a:ln>
          </p:spPr>
          <p:txBody>
            <a:bodyPr wrap="square" lIns="0" tIns="0" rIns="0" bIns="0" rtlCol="0"/>
            <a:lstStyle/>
            <a:p>
              <a:endParaRPr sz="2400"/>
            </a:p>
          </p:txBody>
        </p:sp>
        <p:sp>
          <p:nvSpPr>
            <p:cNvPr id="28" name="object 28"/>
            <p:cNvSpPr/>
            <p:nvPr/>
          </p:nvSpPr>
          <p:spPr>
            <a:xfrm>
              <a:off x="960560" y="2518568"/>
              <a:ext cx="41910" cy="57785"/>
            </a:xfrm>
            <a:custGeom>
              <a:avLst/>
              <a:gdLst/>
              <a:ahLst/>
              <a:cxnLst/>
              <a:rect l="l" t="t" r="r" b="b"/>
              <a:pathLst>
                <a:path w="41909" h="57785">
                  <a:moveTo>
                    <a:pt x="41620" y="57411"/>
                  </a:moveTo>
                  <a:lnTo>
                    <a:pt x="0" y="56941"/>
                  </a:lnTo>
                  <a:lnTo>
                    <a:pt x="21456" y="0"/>
                  </a:lnTo>
                  <a:lnTo>
                    <a:pt x="41620" y="57411"/>
                  </a:lnTo>
                  <a:close/>
                </a:path>
              </a:pathLst>
            </a:custGeom>
            <a:solidFill>
              <a:srgbClr val="434343"/>
            </a:solidFill>
          </p:spPr>
          <p:txBody>
            <a:bodyPr wrap="square" lIns="0" tIns="0" rIns="0" bIns="0" rtlCol="0"/>
            <a:lstStyle/>
            <a:p>
              <a:endParaRPr sz="2400"/>
            </a:p>
          </p:txBody>
        </p:sp>
        <p:sp>
          <p:nvSpPr>
            <p:cNvPr id="29" name="object 29"/>
            <p:cNvSpPr/>
            <p:nvPr/>
          </p:nvSpPr>
          <p:spPr>
            <a:xfrm>
              <a:off x="960560" y="2518568"/>
              <a:ext cx="41910" cy="57785"/>
            </a:xfrm>
            <a:custGeom>
              <a:avLst/>
              <a:gdLst/>
              <a:ahLst/>
              <a:cxnLst/>
              <a:rect l="l" t="t" r="r" b="b"/>
              <a:pathLst>
                <a:path w="41909" h="57785">
                  <a:moveTo>
                    <a:pt x="41620" y="57411"/>
                  </a:moveTo>
                  <a:lnTo>
                    <a:pt x="21456" y="0"/>
                  </a:lnTo>
                  <a:lnTo>
                    <a:pt x="0" y="56941"/>
                  </a:lnTo>
                  <a:lnTo>
                    <a:pt x="41620" y="57411"/>
                  </a:lnTo>
                  <a:close/>
                </a:path>
              </a:pathLst>
            </a:custGeom>
            <a:ln w="12599">
              <a:solidFill>
                <a:srgbClr val="434343"/>
              </a:solidFill>
            </a:ln>
          </p:spPr>
          <p:txBody>
            <a:bodyPr wrap="square" lIns="0" tIns="0" rIns="0" bIns="0" rtlCol="0"/>
            <a:lstStyle/>
            <a:p>
              <a:endParaRPr sz="2400"/>
            </a:p>
          </p:txBody>
        </p:sp>
        <p:sp>
          <p:nvSpPr>
            <p:cNvPr id="30" name="object 30"/>
            <p:cNvSpPr/>
            <p:nvPr/>
          </p:nvSpPr>
          <p:spPr>
            <a:xfrm>
              <a:off x="1145939" y="2285202"/>
              <a:ext cx="593090" cy="1270"/>
            </a:xfrm>
            <a:custGeom>
              <a:avLst/>
              <a:gdLst/>
              <a:ahLst/>
              <a:cxnLst/>
              <a:rect l="l" t="t" r="r" b="b"/>
              <a:pathLst>
                <a:path w="593089" h="1269">
                  <a:moveTo>
                    <a:pt x="0" y="0"/>
                  </a:moveTo>
                  <a:lnTo>
                    <a:pt x="592799" y="798"/>
                  </a:lnTo>
                </a:path>
              </a:pathLst>
            </a:custGeom>
            <a:ln w="12599">
              <a:solidFill>
                <a:srgbClr val="595959"/>
              </a:solidFill>
            </a:ln>
          </p:spPr>
          <p:txBody>
            <a:bodyPr wrap="square" lIns="0" tIns="0" rIns="0" bIns="0" rtlCol="0"/>
            <a:lstStyle/>
            <a:p>
              <a:endParaRPr sz="2400"/>
            </a:p>
          </p:txBody>
        </p:sp>
        <p:sp>
          <p:nvSpPr>
            <p:cNvPr id="31" name="object 31"/>
            <p:cNvSpPr/>
            <p:nvPr/>
          </p:nvSpPr>
          <p:spPr>
            <a:xfrm>
              <a:off x="1738711" y="2265188"/>
              <a:ext cx="57785" cy="41910"/>
            </a:xfrm>
            <a:custGeom>
              <a:avLst/>
              <a:gdLst/>
              <a:ahLst/>
              <a:cxnLst/>
              <a:rect l="l" t="t" r="r" b="b"/>
              <a:pathLst>
                <a:path w="57785" h="41910">
                  <a:moveTo>
                    <a:pt x="0" y="41623"/>
                  </a:moveTo>
                  <a:lnTo>
                    <a:pt x="55" y="0"/>
                  </a:lnTo>
                  <a:lnTo>
                    <a:pt x="57207" y="20888"/>
                  </a:lnTo>
                  <a:lnTo>
                    <a:pt x="0" y="41623"/>
                  </a:lnTo>
                  <a:close/>
                </a:path>
              </a:pathLst>
            </a:custGeom>
            <a:solidFill>
              <a:srgbClr val="595959"/>
            </a:solidFill>
          </p:spPr>
          <p:txBody>
            <a:bodyPr wrap="square" lIns="0" tIns="0" rIns="0" bIns="0" rtlCol="0"/>
            <a:lstStyle/>
            <a:p>
              <a:endParaRPr sz="2400"/>
            </a:p>
          </p:txBody>
        </p:sp>
        <p:sp>
          <p:nvSpPr>
            <p:cNvPr id="32" name="object 32"/>
            <p:cNvSpPr/>
            <p:nvPr/>
          </p:nvSpPr>
          <p:spPr>
            <a:xfrm>
              <a:off x="1738711" y="2265188"/>
              <a:ext cx="57785" cy="41910"/>
            </a:xfrm>
            <a:custGeom>
              <a:avLst/>
              <a:gdLst/>
              <a:ahLst/>
              <a:cxnLst/>
              <a:rect l="l" t="t" r="r" b="b"/>
              <a:pathLst>
                <a:path w="57785" h="41910">
                  <a:moveTo>
                    <a:pt x="0" y="41623"/>
                  </a:moveTo>
                  <a:lnTo>
                    <a:pt x="57207" y="20888"/>
                  </a:lnTo>
                  <a:lnTo>
                    <a:pt x="55" y="0"/>
                  </a:lnTo>
                  <a:lnTo>
                    <a:pt x="0" y="41623"/>
                  </a:lnTo>
                  <a:close/>
                </a:path>
              </a:pathLst>
            </a:custGeom>
            <a:ln w="12599">
              <a:solidFill>
                <a:srgbClr val="595959"/>
              </a:solidFill>
            </a:ln>
          </p:spPr>
          <p:txBody>
            <a:bodyPr wrap="square" lIns="0" tIns="0" rIns="0" bIns="0" rtlCol="0"/>
            <a:lstStyle/>
            <a:p>
              <a:endParaRPr sz="2400"/>
            </a:p>
          </p:txBody>
        </p:sp>
        <p:sp>
          <p:nvSpPr>
            <p:cNvPr id="33" name="object 33"/>
            <p:cNvSpPr/>
            <p:nvPr/>
          </p:nvSpPr>
          <p:spPr>
            <a:xfrm>
              <a:off x="1814346" y="2074345"/>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4" name="object 34"/>
            <p:cNvSpPr/>
            <p:nvPr/>
          </p:nvSpPr>
          <p:spPr>
            <a:xfrm>
              <a:off x="1814346" y="2074345"/>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FFAB40"/>
              </a:solidFill>
            </a:ln>
          </p:spPr>
          <p:txBody>
            <a:bodyPr wrap="square" lIns="0" tIns="0" rIns="0" bIns="0" rtlCol="0"/>
            <a:lstStyle/>
            <a:p>
              <a:endParaRPr sz="2400"/>
            </a:p>
          </p:txBody>
        </p:sp>
      </p:grpSp>
      <p:sp>
        <p:nvSpPr>
          <p:cNvPr id="35" name="object 35"/>
          <p:cNvSpPr txBox="1"/>
          <p:nvPr/>
        </p:nvSpPr>
        <p:spPr>
          <a:xfrm>
            <a:off x="2425427" y="2837514"/>
            <a:ext cx="429260" cy="382092"/>
          </a:xfrm>
          <a:prstGeom prst="rect">
            <a:avLst/>
          </a:prstGeom>
        </p:spPr>
        <p:txBody>
          <a:bodyPr vert="horz" wrap="square" lIns="0" tIns="22860" rIns="0" bIns="0" rtlCol="0">
            <a:spAutoFit/>
          </a:bodyPr>
          <a:lstStyle/>
          <a:p>
            <a:pPr marL="125304">
              <a:spcBef>
                <a:spcPts val="180"/>
              </a:spcBef>
            </a:pPr>
            <a:r>
              <a:rPr sz="2333" spc="67" dirty="0">
                <a:latin typeface="Lucida Sans Unicode"/>
                <a:cs typeface="Lucida Sans Unicode"/>
              </a:rPr>
              <a:t>S</a:t>
            </a:r>
            <a:endParaRPr sz="2333">
              <a:latin typeface="Lucida Sans Unicode"/>
              <a:cs typeface="Lucida Sans Unicode"/>
            </a:endParaRPr>
          </a:p>
        </p:txBody>
      </p:sp>
      <p:grpSp>
        <p:nvGrpSpPr>
          <p:cNvPr id="36" name="object 36"/>
          <p:cNvGrpSpPr/>
          <p:nvPr/>
        </p:nvGrpSpPr>
        <p:grpSpPr>
          <a:xfrm>
            <a:off x="2603712" y="3321728"/>
            <a:ext cx="72813" cy="781473"/>
            <a:chOff x="1952784" y="2491295"/>
            <a:chExt cx="54610" cy="586105"/>
          </a:xfrm>
        </p:grpSpPr>
        <p:sp>
          <p:nvSpPr>
            <p:cNvPr id="37" name="object 37"/>
            <p:cNvSpPr/>
            <p:nvPr/>
          </p:nvSpPr>
          <p:spPr>
            <a:xfrm>
              <a:off x="1979946" y="2497645"/>
              <a:ext cx="0" cy="516255"/>
            </a:xfrm>
            <a:custGeom>
              <a:avLst/>
              <a:gdLst/>
              <a:ahLst/>
              <a:cxnLst/>
              <a:rect l="l" t="t" r="r" b="b"/>
              <a:pathLst>
                <a:path h="516255">
                  <a:moveTo>
                    <a:pt x="0" y="0"/>
                  </a:moveTo>
                  <a:lnTo>
                    <a:pt x="0" y="515999"/>
                  </a:lnTo>
                </a:path>
              </a:pathLst>
            </a:custGeom>
            <a:ln w="12599">
              <a:solidFill>
                <a:srgbClr val="434343"/>
              </a:solidFill>
            </a:ln>
          </p:spPr>
          <p:txBody>
            <a:bodyPr wrap="square" lIns="0" tIns="0" rIns="0" bIns="0" rtlCol="0"/>
            <a:lstStyle/>
            <a:p>
              <a:endParaRPr sz="2400"/>
            </a:p>
          </p:txBody>
        </p:sp>
        <p:sp>
          <p:nvSpPr>
            <p:cNvPr id="38" name="object 38"/>
            <p:cNvSpPr/>
            <p:nvPr/>
          </p:nvSpPr>
          <p:spPr>
            <a:xfrm>
              <a:off x="1959134" y="3013645"/>
              <a:ext cx="41910" cy="57785"/>
            </a:xfrm>
            <a:custGeom>
              <a:avLst/>
              <a:gdLst/>
              <a:ahLst/>
              <a:cxnLst/>
              <a:rect l="l" t="t" r="r" b="b"/>
              <a:pathLst>
                <a:path w="41910" h="57785">
                  <a:moveTo>
                    <a:pt x="20811" y="57179"/>
                  </a:moveTo>
                  <a:lnTo>
                    <a:pt x="0" y="0"/>
                  </a:lnTo>
                  <a:lnTo>
                    <a:pt x="41623" y="0"/>
                  </a:lnTo>
                  <a:lnTo>
                    <a:pt x="20811" y="57179"/>
                  </a:lnTo>
                  <a:close/>
                </a:path>
              </a:pathLst>
            </a:custGeom>
            <a:solidFill>
              <a:srgbClr val="434343"/>
            </a:solidFill>
          </p:spPr>
          <p:txBody>
            <a:bodyPr wrap="square" lIns="0" tIns="0" rIns="0" bIns="0" rtlCol="0"/>
            <a:lstStyle/>
            <a:p>
              <a:endParaRPr sz="2400"/>
            </a:p>
          </p:txBody>
        </p:sp>
        <p:sp>
          <p:nvSpPr>
            <p:cNvPr id="39" name="object 39"/>
            <p:cNvSpPr/>
            <p:nvPr/>
          </p:nvSpPr>
          <p:spPr>
            <a:xfrm>
              <a:off x="1959134" y="3013645"/>
              <a:ext cx="41910" cy="57785"/>
            </a:xfrm>
            <a:custGeom>
              <a:avLst/>
              <a:gdLst/>
              <a:ahLst/>
              <a:cxnLst/>
              <a:rect l="l" t="t" r="r" b="b"/>
              <a:pathLst>
                <a:path w="41910" h="57785">
                  <a:moveTo>
                    <a:pt x="0" y="0"/>
                  </a:moveTo>
                  <a:lnTo>
                    <a:pt x="20811" y="57179"/>
                  </a:lnTo>
                  <a:lnTo>
                    <a:pt x="41623" y="0"/>
                  </a:lnTo>
                  <a:lnTo>
                    <a:pt x="0" y="0"/>
                  </a:lnTo>
                  <a:close/>
                </a:path>
              </a:pathLst>
            </a:custGeom>
            <a:ln w="12599">
              <a:solidFill>
                <a:srgbClr val="434343"/>
              </a:solidFill>
            </a:ln>
          </p:spPr>
          <p:txBody>
            <a:bodyPr wrap="square" lIns="0" tIns="0" rIns="0" bIns="0" rtlCol="0"/>
            <a:lstStyle/>
            <a:p>
              <a:endParaRPr sz="2400"/>
            </a:p>
          </p:txBody>
        </p:sp>
      </p:grpSp>
      <p:sp>
        <p:nvSpPr>
          <p:cNvPr id="40" name="object 40"/>
          <p:cNvSpPr txBox="1"/>
          <p:nvPr/>
        </p:nvSpPr>
        <p:spPr>
          <a:xfrm>
            <a:off x="1859331" y="4119086"/>
            <a:ext cx="1561253" cy="954834"/>
          </a:xfrm>
          <a:prstGeom prst="rect">
            <a:avLst/>
          </a:prstGeom>
          <a:ln w="45724">
            <a:solidFill>
              <a:srgbClr val="E6A064"/>
            </a:solidFill>
          </a:ln>
        </p:spPr>
        <p:txBody>
          <a:bodyPr vert="horz" wrap="square" lIns="0" tIns="295487" rIns="0" bIns="0" rtlCol="0">
            <a:spAutoFit/>
          </a:bodyPr>
          <a:lstStyle/>
          <a:p>
            <a:pPr>
              <a:spcBef>
                <a:spcPts val="2327"/>
              </a:spcBef>
            </a:pPr>
            <a:endParaRPr sz="2133">
              <a:latin typeface="Times New Roman"/>
              <a:cs typeface="Times New Roman"/>
            </a:endParaRPr>
          </a:p>
          <a:p>
            <a:pPr algn="ctr">
              <a:spcBef>
                <a:spcPts val="7"/>
              </a:spcBef>
            </a:pPr>
            <a:r>
              <a:rPr sz="2133" spc="20" dirty="0">
                <a:latin typeface="Lucida Sans Unicode"/>
                <a:cs typeface="Lucida Sans Unicode"/>
              </a:rPr>
              <a:t>S</a:t>
            </a:r>
            <a:endParaRPr sz="2133">
              <a:latin typeface="Lucida Sans Unicode"/>
              <a:cs typeface="Lucida Sans Unicode"/>
            </a:endParaRPr>
          </a:p>
        </p:txBody>
      </p:sp>
      <p:pic>
        <p:nvPicPr>
          <p:cNvPr id="41" name="object 41"/>
          <p:cNvPicPr/>
          <p:nvPr/>
        </p:nvPicPr>
        <p:blipFill>
          <a:blip r:embed="rId2" cstate="print"/>
          <a:stretch>
            <a:fillRect/>
          </a:stretch>
        </p:blipFill>
        <p:spPr>
          <a:xfrm>
            <a:off x="1343817" y="2250347"/>
            <a:ext cx="1221191" cy="712351"/>
          </a:xfrm>
          <a:prstGeom prst="rect">
            <a:avLst/>
          </a:prstGeom>
        </p:spPr>
      </p:pic>
      <p:sp>
        <p:nvSpPr>
          <p:cNvPr id="42" name="object 42"/>
          <p:cNvSpPr txBox="1"/>
          <p:nvPr/>
        </p:nvSpPr>
        <p:spPr>
          <a:xfrm>
            <a:off x="1671866" y="2291890"/>
            <a:ext cx="616373" cy="243656"/>
          </a:xfrm>
          <a:prstGeom prst="rect">
            <a:avLst/>
          </a:prstGeom>
          <a:solidFill>
            <a:srgbClr val="EBFAFF"/>
          </a:solidFill>
        </p:spPr>
        <p:txBody>
          <a:bodyPr vert="horz" wrap="square" lIns="0" tIns="0" rIns="0" bIns="0" rtlCol="0">
            <a:spAutoFit/>
          </a:bodyPr>
          <a:lstStyle/>
          <a:p>
            <a:pPr marL="75351">
              <a:lnSpc>
                <a:spcPts val="1853"/>
              </a:lnSpc>
            </a:pPr>
            <a:r>
              <a:rPr sz="1600" spc="-27" dirty="0">
                <a:solidFill>
                  <a:srgbClr val="FAADB3"/>
                </a:solidFill>
                <a:latin typeface="Arial Black"/>
                <a:cs typeface="Arial Black"/>
              </a:rPr>
              <a:t>Q</a:t>
            </a:r>
            <a:r>
              <a:rPr sz="1600" spc="-27" dirty="0">
                <a:latin typeface="MS PGothic"/>
                <a:cs typeface="MS PGothic"/>
              </a:rPr>
              <a:t>⋅</a:t>
            </a:r>
            <a:r>
              <a:rPr sz="1600" spc="-27" dirty="0">
                <a:solidFill>
                  <a:srgbClr val="257693"/>
                </a:solidFill>
                <a:latin typeface="Arial Black"/>
                <a:cs typeface="Arial Black"/>
              </a:rPr>
              <a:t>K</a:t>
            </a:r>
            <a:r>
              <a:rPr sz="1600" spc="-40" baseline="31250" dirty="0">
                <a:latin typeface="Lucida Sans Unicode"/>
                <a:cs typeface="Lucida Sans Unicode"/>
              </a:rPr>
              <a:t>T</a:t>
            </a:r>
            <a:endParaRPr sz="1600" baseline="31250" dirty="0">
              <a:latin typeface="Lucida Sans Unicode"/>
              <a:cs typeface="Lucida Sans Unicode"/>
            </a:endParaRPr>
          </a:p>
        </p:txBody>
      </p:sp>
      <p:grpSp>
        <p:nvGrpSpPr>
          <p:cNvPr id="43" name="object 43"/>
          <p:cNvGrpSpPr/>
          <p:nvPr/>
        </p:nvGrpSpPr>
        <p:grpSpPr>
          <a:xfrm>
            <a:off x="3515945" y="1458025"/>
            <a:ext cx="3914987" cy="2319019"/>
            <a:chOff x="2636959" y="1093519"/>
            <a:chExt cx="2936240" cy="1739264"/>
          </a:xfrm>
        </p:grpSpPr>
        <p:sp>
          <p:nvSpPr>
            <p:cNvPr id="44" name="object 44"/>
            <p:cNvSpPr/>
            <p:nvPr/>
          </p:nvSpPr>
          <p:spPr>
            <a:xfrm>
              <a:off x="3407083" y="1099869"/>
              <a:ext cx="2160270" cy="300355"/>
            </a:xfrm>
            <a:custGeom>
              <a:avLst/>
              <a:gdLst/>
              <a:ahLst/>
              <a:cxnLst/>
              <a:rect l="l" t="t" r="r" b="b"/>
              <a:pathLst>
                <a:path w="2160270" h="300355">
                  <a:moveTo>
                    <a:pt x="0" y="299804"/>
                  </a:moveTo>
                  <a:lnTo>
                    <a:pt x="2159740" y="299804"/>
                  </a:lnTo>
                  <a:lnTo>
                    <a:pt x="2159740" y="0"/>
                  </a:lnTo>
                  <a:lnTo>
                    <a:pt x="0" y="0"/>
                  </a:lnTo>
                  <a:lnTo>
                    <a:pt x="0" y="299804"/>
                  </a:lnTo>
                  <a:close/>
                </a:path>
              </a:pathLst>
            </a:custGeom>
            <a:solidFill>
              <a:srgbClr val="F4C4D1"/>
            </a:solidFill>
          </p:spPr>
          <p:txBody>
            <a:bodyPr wrap="square" lIns="0" tIns="0" rIns="0" bIns="0" rtlCol="0"/>
            <a:lstStyle/>
            <a:p>
              <a:endParaRPr sz="2400"/>
            </a:p>
          </p:txBody>
        </p:sp>
        <p:sp>
          <p:nvSpPr>
            <p:cNvPr id="45" name="object 45"/>
            <p:cNvSpPr/>
            <p:nvPr/>
          </p:nvSpPr>
          <p:spPr>
            <a:xfrm>
              <a:off x="3407083" y="1099869"/>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46" name="object 46"/>
            <p:cNvSpPr/>
            <p:nvPr/>
          </p:nvSpPr>
          <p:spPr>
            <a:xfrm>
              <a:off x="5466063" y="1399673"/>
              <a:ext cx="100965" cy="1225550"/>
            </a:xfrm>
            <a:custGeom>
              <a:avLst/>
              <a:gdLst/>
              <a:ahLst/>
              <a:cxnLst/>
              <a:rect l="l" t="t" r="r" b="b"/>
              <a:pathLst>
                <a:path w="100964" h="1225550">
                  <a:moveTo>
                    <a:pt x="0" y="1225411"/>
                  </a:moveTo>
                  <a:lnTo>
                    <a:pt x="100786" y="1225411"/>
                  </a:lnTo>
                  <a:lnTo>
                    <a:pt x="100786" y="0"/>
                  </a:lnTo>
                  <a:lnTo>
                    <a:pt x="0" y="0"/>
                  </a:lnTo>
                  <a:lnTo>
                    <a:pt x="0" y="1225411"/>
                  </a:lnTo>
                  <a:close/>
                </a:path>
              </a:pathLst>
            </a:custGeom>
            <a:solidFill>
              <a:srgbClr val="EBFAFF"/>
            </a:solidFill>
          </p:spPr>
          <p:txBody>
            <a:bodyPr wrap="square" lIns="0" tIns="0" rIns="0" bIns="0" rtlCol="0"/>
            <a:lstStyle/>
            <a:p>
              <a:endParaRPr sz="2400"/>
            </a:p>
          </p:txBody>
        </p:sp>
        <p:sp>
          <p:nvSpPr>
            <p:cNvPr id="47" name="object 47"/>
            <p:cNvSpPr/>
            <p:nvPr/>
          </p:nvSpPr>
          <p:spPr>
            <a:xfrm>
              <a:off x="3407109" y="1399673"/>
              <a:ext cx="2160270" cy="1225550"/>
            </a:xfrm>
            <a:custGeom>
              <a:avLst/>
              <a:gdLst/>
              <a:ahLst/>
              <a:cxnLst/>
              <a:rect l="l" t="t" r="r" b="b"/>
              <a:pathLst>
                <a:path w="2160270" h="1225550">
                  <a:moveTo>
                    <a:pt x="2159740" y="0"/>
                  </a:moveTo>
                  <a:lnTo>
                    <a:pt x="2159740" y="1225411"/>
                  </a:lnTo>
                  <a:lnTo>
                    <a:pt x="0" y="1225411"/>
                  </a:lnTo>
                  <a:lnTo>
                    <a:pt x="0" y="0"/>
                  </a:lnTo>
                  <a:lnTo>
                    <a:pt x="2159740" y="0"/>
                  </a:lnTo>
                  <a:close/>
                </a:path>
              </a:pathLst>
            </a:custGeom>
            <a:ln w="12599">
              <a:solidFill>
                <a:srgbClr val="237A94"/>
              </a:solidFill>
            </a:ln>
          </p:spPr>
          <p:txBody>
            <a:bodyPr wrap="square" lIns="0" tIns="0" rIns="0" bIns="0" rtlCol="0"/>
            <a:lstStyle/>
            <a:p>
              <a:endParaRPr sz="2400"/>
            </a:p>
          </p:txBody>
        </p:sp>
        <p:sp>
          <p:nvSpPr>
            <p:cNvPr id="48" name="object 48"/>
            <p:cNvSpPr/>
            <p:nvPr/>
          </p:nvSpPr>
          <p:spPr>
            <a:xfrm>
              <a:off x="3306322" y="1200630"/>
              <a:ext cx="2160270" cy="299720"/>
            </a:xfrm>
            <a:custGeom>
              <a:avLst/>
              <a:gdLst/>
              <a:ahLst/>
              <a:cxnLst/>
              <a:rect l="l" t="t" r="r" b="b"/>
              <a:pathLst>
                <a:path w="2160270" h="299719">
                  <a:moveTo>
                    <a:pt x="0" y="299446"/>
                  </a:moveTo>
                  <a:lnTo>
                    <a:pt x="2159740" y="299446"/>
                  </a:lnTo>
                  <a:lnTo>
                    <a:pt x="2159740" y="0"/>
                  </a:lnTo>
                  <a:lnTo>
                    <a:pt x="0" y="0"/>
                  </a:lnTo>
                  <a:lnTo>
                    <a:pt x="0" y="299446"/>
                  </a:lnTo>
                  <a:close/>
                </a:path>
              </a:pathLst>
            </a:custGeom>
            <a:solidFill>
              <a:srgbClr val="F4C4D1"/>
            </a:solidFill>
          </p:spPr>
          <p:txBody>
            <a:bodyPr wrap="square" lIns="0" tIns="0" rIns="0" bIns="0" rtlCol="0"/>
            <a:lstStyle/>
            <a:p>
              <a:endParaRPr sz="2400"/>
            </a:p>
          </p:txBody>
        </p:sp>
        <p:sp>
          <p:nvSpPr>
            <p:cNvPr id="49" name="object 49"/>
            <p:cNvSpPr/>
            <p:nvPr/>
          </p:nvSpPr>
          <p:spPr>
            <a:xfrm>
              <a:off x="3306322" y="1200630"/>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50" name="object 50"/>
            <p:cNvSpPr/>
            <p:nvPr/>
          </p:nvSpPr>
          <p:spPr>
            <a:xfrm>
              <a:off x="5365301" y="1500076"/>
              <a:ext cx="100965" cy="1225550"/>
            </a:xfrm>
            <a:custGeom>
              <a:avLst/>
              <a:gdLst/>
              <a:ahLst/>
              <a:cxnLst/>
              <a:rect l="l" t="t" r="r" b="b"/>
              <a:pathLst>
                <a:path w="100964" h="1225550">
                  <a:moveTo>
                    <a:pt x="0" y="1225411"/>
                  </a:moveTo>
                  <a:lnTo>
                    <a:pt x="100797" y="1225411"/>
                  </a:lnTo>
                  <a:lnTo>
                    <a:pt x="100797" y="0"/>
                  </a:lnTo>
                  <a:lnTo>
                    <a:pt x="0" y="0"/>
                  </a:lnTo>
                  <a:lnTo>
                    <a:pt x="0" y="1225411"/>
                  </a:lnTo>
                  <a:close/>
                </a:path>
              </a:pathLst>
            </a:custGeom>
            <a:solidFill>
              <a:srgbClr val="EBFAFF"/>
            </a:solidFill>
          </p:spPr>
          <p:txBody>
            <a:bodyPr wrap="square" lIns="0" tIns="0" rIns="0" bIns="0" rtlCol="0"/>
            <a:lstStyle/>
            <a:p>
              <a:endParaRPr sz="2400"/>
            </a:p>
          </p:txBody>
        </p:sp>
        <p:sp>
          <p:nvSpPr>
            <p:cNvPr id="51" name="object 51"/>
            <p:cNvSpPr/>
            <p:nvPr/>
          </p:nvSpPr>
          <p:spPr>
            <a:xfrm>
              <a:off x="3306359" y="1500076"/>
              <a:ext cx="2160270" cy="1225550"/>
            </a:xfrm>
            <a:custGeom>
              <a:avLst/>
              <a:gdLst/>
              <a:ahLst/>
              <a:cxnLst/>
              <a:rect l="l" t="t" r="r" b="b"/>
              <a:pathLst>
                <a:path w="2160270" h="1225550">
                  <a:moveTo>
                    <a:pt x="2159740" y="0"/>
                  </a:moveTo>
                  <a:lnTo>
                    <a:pt x="2159740" y="1225411"/>
                  </a:lnTo>
                  <a:lnTo>
                    <a:pt x="0" y="1225411"/>
                  </a:lnTo>
                  <a:lnTo>
                    <a:pt x="0" y="0"/>
                  </a:lnTo>
                  <a:lnTo>
                    <a:pt x="2159740" y="0"/>
                  </a:lnTo>
                  <a:close/>
                </a:path>
              </a:pathLst>
            </a:custGeom>
            <a:ln w="12599">
              <a:solidFill>
                <a:srgbClr val="237A94"/>
              </a:solidFill>
            </a:ln>
          </p:spPr>
          <p:txBody>
            <a:bodyPr wrap="square" lIns="0" tIns="0" rIns="0" bIns="0" rtlCol="0"/>
            <a:lstStyle/>
            <a:p>
              <a:endParaRPr sz="2400"/>
            </a:p>
          </p:txBody>
        </p:sp>
        <p:sp>
          <p:nvSpPr>
            <p:cNvPr id="52" name="object 52"/>
            <p:cNvSpPr/>
            <p:nvPr/>
          </p:nvSpPr>
          <p:spPr>
            <a:xfrm>
              <a:off x="3205562" y="1301391"/>
              <a:ext cx="2160270" cy="298450"/>
            </a:xfrm>
            <a:custGeom>
              <a:avLst/>
              <a:gdLst/>
              <a:ahLst/>
              <a:cxnLst/>
              <a:rect l="l" t="t" r="r" b="b"/>
              <a:pathLst>
                <a:path w="2160270" h="298450">
                  <a:moveTo>
                    <a:pt x="0" y="298333"/>
                  </a:moveTo>
                  <a:lnTo>
                    <a:pt x="2159739" y="298333"/>
                  </a:lnTo>
                  <a:lnTo>
                    <a:pt x="2159739" y="0"/>
                  </a:lnTo>
                  <a:lnTo>
                    <a:pt x="0" y="0"/>
                  </a:lnTo>
                  <a:lnTo>
                    <a:pt x="0" y="298333"/>
                  </a:lnTo>
                  <a:close/>
                </a:path>
              </a:pathLst>
            </a:custGeom>
            <a:solidFill>
              <a:srgbClr val="F4C4D1"/>
            </a:solidFill>
          </p:spPr>
          <p:txBody>
            <a:bodyPr wrap="square" lIns="0" tIns="0" rIns="0" bIns="0" rtlCol="0"/>
            <a:lstStyle/>
            <a:p>
              <a:endParaRPr sz="2400"/>
            </a:p>
          </p:txBody>
        </p:sp>
        <p:sp>
          <p:nvSpPr>
            <p:cNvPr id="53" name="object 53"/>
            <p:cNvSpPr/>
            <p:nvPr/>
          </p:nvSpPr>
          <p:spPr>
            <a:xfrm>
              <a:off x="3205562" y="1301391"/>
              <a:ext cx="2160270" cy="1515745"/>
            </a:xfrm>
            <a:custGeom>
              <a:avLst/>
              <a:gdLst/>
              <a:ahLst/>
              <a:cxnLst/>
              <a:rect l="l" t="t" r="r" b="b"/>
              <a:pathLst>
                <a:path w="2160270" h="1515745">
                  <a:moveTo>
                    <a:pt x="0" y="0"/>
                  </a:moveTo>
                  <a:lnTo>
                    <a:pt x="2159739" y="0"/>
                  </a:lnTo>
                  <a:lnTo>
                    <a:pt x="2159739"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54" name="object 54"/>
            <p:cNvSpPr/>
            <p:nvPr/>
          </p:nvSpPr>
          <p:spPr>
            <a:xfrm>
              <a:off x="3205584" y="1599724"/>
              <a:ext cx="2160270" cy="1226820"/>
            </a:xfrm>
            <a:custGeom>
              <a:avLst/>
              <a:gdLst/>
              <a:ahLst/>
              <a:cxnLst/>
              <a:rect l="l" t="t" r="r" b="b"/>
              <a:pathLst>
                <a:path w="2160270" h="1226820">
                  <a:moveTo>
                    <a:pt x="2159740" y="1226408"/>
                  </a:moveTo>
                  <a:lnTo>
                    <a:pt x="0" y="1226408"/>
                  </a:lnTo>
                  <a:lnTo>
                    <a:pt x="0" y="0"/>
                  </a:lnTo>
                  <a:lnTo>
                    <a:pt x="2159740" y="0"/>
                  </a:lnTo>
                  <a:lnTo>
                    <a:pt x="2159740" y="1226408"/>
                  </a:lnTo>
                  <a:close/>
                </a:path>
              </a:pathLst>
            </a:custGeom>
            <a:solidFill>
              <a:srgbClr val="EBFAFF"/>
            </a:solidFill>
          </p:spPr>
          <p:txBody>
            <a:bodyPr wrap="square" lIns="0" tIns="0" rIns="0" bIns="0" rtlCol="0"/>
            <a:lstStyle/>
            <a:p>
              <a:endParaRPr sz="2400"/>
            </a:p>
          </p:txBody>
        </p:sp>
        <p:sp>
          <p:nvSpPr>
            <p:cNvPr id="55" name="object 55"/>
            <p:cNvSpPr/>
            <p:nvPr/>
          </p:nvSpPr>
          <p:spPr>
            <a:xfrm>
              <a:off x="3205584" y="1599724"/>
              <a:ext cx="2160270" cy="1226820"/>
            </a:xfrm>
            <a:custGeom>
              <a:avLst/>
              <a:gdLst/>
              <a:ahLst/>
              <a:cxnLst/>
              <a:rect l="l" t="t" r="r" b="b"/>
              <a:pathLst>
                <a:path w="2160270" h="1226820">
                  <a:moveTo>
                    <a:pt x="2159740" y="0"/>
                  </a:moveTo>
                  <a:lnTo>
                    <a:pt x="2159740" y="1226408"/>
                  </a:lnTo>
                  <a:lnTo>
                    <a:pt x="0" y="1226408"/>
                  </a:lnTo>
                  <a:lnTo>
                    <a:pt x="0" y="0"/>
                  </a:lnTo>
                  <a:lnTo>
                    <a:pt x="2159740" y="0"/>
                  </a:lnTo>
                  <a:close/>
                </a:path>
              </a:pathLst>
            </a:custGeom>
            <a:ln w="12599">
              <a:solidFill>
                <a:srgbClr val="237A94"/>
              </a:solidFill>
            </a:ln>
          </p:spPr>
          <p:txBody>
            <a:bodyPr wrap="square" lIns="0" tIns="0" rIns="0" bIns="0" rtlCol="0"/>
            <a:lstStyle/>
            <a:p>
              <a:endParaRPr sz="2400"/>
            </a:p>
          </p:txBody>
        </p:sp>
        <p:sp>
          <p:nvSpPr>
            <p:cNvPr id="56" name="object 56"/>
            <p:cNvSpPr/>
            <p:nvPr/>
          </p:nvSpPr>
          <p:spPr>
            <a:xfrm>
              <a:off x="2646484" y="2141555"/>
              <a:ext cx="453390" cy="1270"/>
            </a:xfrm>
            <a:custGeom>
              <a:avLst/>
              <a:gdLst/>
              <a:ahLst/>
              <a:cxnLst/>
              <a:rect l="l" t="t" r="r" b="b"/>
              <a:pathLst>
                <a:path w="453389" h="1269">
                  <a:moveTo>
                    <a:pt x="0" y="1197"/>
                  </a:moveTo>
                  <a:lnTo>
                    <a:pt x="453000" y="0"/>
                  </a:lnTo>
                </a:path>
              </a:pathLst>
            </a:custGeom>
            <a:ln w="19049">
              <a:solidFill>
                <a:srgbClr val="257693"/>
              </a:solidFill>
            </a:ln>
          </p:spPr>
          <p:txBody>
            <a:bodyPr wrap="square" lIns="0" tIns="0" rIns="0" bIns="0" rtlCol="0"/>
            <a:lstStyle/>
            <a:p>
              <a:endParaRPr sz="2400"/>
            </a:p>
          </p:txBody>
        </p:sp>
        <p:pic>
          <p:nvPicPr>
            <p:cNvPr id="57" name="object 57"/>
            <p:cNvPicPr/>
            <p:nvPr/>
          </p:nvPicPr>
          <p:blipFill>
            <a:blip r:embed="rId3" cstate="print"/>
            <a:stretch>
              <a:fillRect/>
            </a:stretch>
          </p:blipFill>
          <p:spPr>
            <a:xfrm>
              <a:off x="3089877" y="2100565"/>
              <a:ext cx="105583" cy="81980"/>
            </a:xfrm>
            <a:prstGeom prst="rect">
              <a:avLst/>
            </a:prstGeom>
          </p:spPr>
        </p:pic>
        <p:sp>
          <p:nvSpPr>
            <p:cNvPr id="58" name="object 58"/>
            <p:cNvSpPr/>
            <p:nvPr/>
          </p:nvSpPr>
          <p:spPr>
            <a:xfrm>
              <a:off x="3409733" y="2073545"/>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FFAB40"/>
              </a:solidFill>
            </a:ln>
          </p:spPr>
          <p:txBody>
            <a:bodyPr wrap="square" lIns="0" tIns="0" rIns="0" bIns="0" rtlCol="0"/>
            <a:lstStyle/>
            <a:p>
              <a:endParaRPr sz="2400"/>
            </a:p>
          </p:txBody>
        </p:sp>
      </p:grpSp>
      <p:sp>
        <p:nvSpPr>
          <p:cNvPr id="59" name="object 59"/>
          <p:cNvSpPr txBox="1"/>
          <p:nvPr/>
        </p:nvSpPr>
        <p:spPr>
          <a:xfrm>
            <a:off x="4546311" y="2764727"/>
            <a:ext cx="441960" cy="454762"/>
          </a:xfrm>
          <a:prstGeom prst="rect">
            <a:avLst/>
          </a:prstGeom>
          <a:solidFill>
            <a:srgbClr val="FFFFFF"/>
          </a:solidFill>
        </p:spPr>
        <p:txBody>
          <a:bodyPr vert="horz" wrap="square" lIns="0" tIns="94827" rIns="0" bIns="0" rtlCol="0">
            <a:spAutoFit/>
          </a:bodyPr>
          <a:lstStyle/>
          <a:p>
            <a:pPr marL="132077">
              <a:spcBef>
                <a:spcPts val="747"/>
              </a:spcBef>
            </a:pPr>
            <a:r>
              <a:rPr sz="2333" spc="67" dirty="0">
                <a:latin typeface="Lucida Sans Unicode"/>
                <a:cs typeface="Lucida Sans Unicode"/>
              </a:rPr>
              <a:t>S</a:t>
            </a:r>
            <a:endParaRPr sz="2333">
              <a:latin typeface="Lucida Sans Unicode"/>
              <a:cs typeface="Lucida Sans Unicode"/>
            </a:endParaRPr>
          </a:p>
        </p:txBody>
      </p:sp>
      <p:grpSp>
        <p:nvGrpSpPr>
          <p:cNvPr id="60" name="object 60"/>
          <p:cNvGrpSpPr/>
          <p:nvPr/>
        </p:nvGrpSpPr>
        <p:grpSpPr>
          <a:xfrm>
            <a:off x="3414182" y="3341302"/>
            <a:ext cx="1380913" cy="1565487"/>
            <a:chOff x="2560636" y="2505976"/>
            <a:chExt cx="1035685" cy="1174115"/>
          </a:xfrm>
        </p:grpSpPr>
        <p:sp>
          <p:nvSpPr>
            <p:cNvPr id="61" name="object 61"/>
            <p:cNvSpPr/>
            <p:nvPr/>
          </p:nvSpPr>
          <p:spPr>
            <a:xfrm>
              <a:off x="2565398" y="2553964"/>
              <a:ext cx="1010285" cy="1121410"/>
            </a:xfrm>
            <a:custGeom>
              <a:avLst/>
              <a:gdLst/>
              <a:ahLst/>
              <a:cxnLst/>
              <a:rect l="l" t="t" r="r" b="b"/>
              <a:pathLst>
                <a:path w="1010285" h="1121410">
                  <a:moveTo>
                    <a:pt x="0" y="1121249"/>
                  </a:moveTo>
                  <a:lnTo>
                    <a:pt x="1009799" y="1121249"/>
                  </a:lnTo>
                  <a:lnTo>
                    <a:pt x="1009799" y="0"/>
                  </a:lnTo>
                </a:path>
              </a:pathLst>
            </a:custGeom>
            <a:ln w="9524">
              <a:solidFill>
                <a:srgbClr val="434343"/>
              </a:solidFill>
            </a:ln>
          </p:spPr>
          <p:txBody>
            <a:bodyPr wrap="square" lIns="0" tIns="0" rIns="0" bIns="0" rtlCol="0"/>
            <a:lstStyle/>
            <a:p>
              <a:endParaRPr sz="2400"/>
            </a:p>
          </p:txBody>
        </p:sp>
        <p:sp>
          <p:nvSpPr>
            <p:cNvPr id="62" name="object 62"/>
            <p:cNvSpPr/>
            <p:nvPr/>
          </p:nvSpPr>
          <p:spPr>
            <a:xfrm>
              <a:off x="3559466" y="2510738"/>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434343"/>
            </a:solidFill>
          </p:spPr>
          <p:txBody>
            <a:bodyPr wrap="square" lIns="0" tIns="0" rIns="0" bIns="0" rtlCol="0"/>
            <a:lstStyle/>
            <a:p>
              <a:endParaRPr sz="2400"/>
            </a:p>
          </p:txBody>
        </p:sp>
        <p:sp>
          <p:nvSpPr>
            <p:cNvPr id="63" name="object 63"/>
            <p:cNvSpPr/>
            <p:nvPr/>
          </p:nvSpPr>
          <p:spPr>
            <a:xfrm>
              <a:off x="3559466" y="2510738"/>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434343"/>
              </a:solidFill>
            </a:ln>
          </p:spPr>
          <p:txBody>
            <a:bodyPr wrap="square" lIns="0" tIns="0" rIns="0" bIns="0" rtlCol="0"/>
            <a:lstStyle/>
            <a:p>
              <a:endParaRPr sz="2400"/>
            </a:p>
          </p:txBody>
        </p:sp>
      </p:grpSp>
      <p:sp>
        <p:nvSpPr>
          <p:cNvPr id="64" name="object 64"/>
          <p:cNvSpPr txBox="1"/>
          <p:nvPr/>
        </p:nvSpPr>
        <p:spPr>
          <a:xfrm>
            <a:off x="6431077" y="2764727"/>
            <a:ext cx="441960" cy="454762"/>
          </a:xfrm>
          <a:prstGeom prst="rect">
            <a:avLst/>
          </a:prstGeom>
          <a:solidFill>
            <a:srgbClr val="FFFFFF"/>
          </a:solidFill>
          <a:ln w="9449">
            <a:solidFill>
              <a:srgbClr val="E6A064"/>
            </a:solidFill>
          </a:ln>
        </p:spPr>
        <p:txBody>
          <a:bodyPr vert="horz" wrap="square" lIns="0" tIns="94827" rIns="0" bIns="0" rtlCol="0">
            <a:spAutoFit/>
          </a:bodyPr>
          <a:lstStyle/>
          <a:p>
            <a:pPr marL="118530">
              <a:spcBef>
                <a:spcPts val="747"/>
              </a:spcBef>
            </a:pPr>
            <a:r>
              <a:rPr sz="2333" spc="-67" dirty="0">
                <a:latin typeface="Lucida Sans Unicode"/>
                <a:cs typeface="Lucida Sans Unicode"/>
              </a:rPr>
              <a:t>A</a:t>
            </a:r>
            <a:endParaRPr sz="2333">
              <a:latin typeface="Lucida Sans Unicode"/>
              <a:cs typeface="Lucida Sans Unicode"/>
            </a:endParaRPr>
          </a:p>
        </p:txBody>
      </p:sp>
      <p:grpSp>
        <p:nvGrpSpPr>
          <p:cNvPr id="65" name="object 65"/>
          <p:cNvGrpSpPr/>
          <p:nvPr/>
        </p:nvGrpSpPr>
        <p:grpSpPr>
          <a:xfrm>
            <a:off x="4979444" y="3010711"/>
            <a:ext cx="1435947" cy="72813"/>
            <a:chOff x="3734583" y="2258033"/>
            <a:chExt cx="1076960" cy="54610"/>
          </a:xfrm>
        </p:grpSpPr>
        <p:sp>
          <p:nvSpPr>
            <p:cNvPr id="66" name="object 66"/>
            <p:cNvSpPr/>
            <p:nvPr/>
          </p:nvSpPr>
          <p:spPr>
            <a:xfrm>
              <a:off x="3740933" y="2285195"/>
              <a:ext cx="1007110" cy="0"/>
            </a:xfrm>
            <a:custGeom>
              <a:avLst/>
              <a:gdLst/>
              <a:ahLst/>
              <a:cxnLst/>
              <a:rect l="l" t="t" r="r" b="b"/>
              <a:pathLst>
                <a:path w="1007110">
                  <a:moveTo>
                    <a:pt x="0" y="0"/>
                  </a:moveTo>
                  <a:lnTo>
                    <a:pt x="1006799" y="0"/>
                  </a:lnTo>
                </a:path>
              </a:pathLst>
            </a:custGeom>
            <a:ln w="12599">
              <a:solidFill>
                <a:srgbClr val="595959"/>
              </a:solidFill>
            </a:ln>
          </p:spPr>
          <p:txBody>
            <a:bodyPr wrap="square" lIns="0" tIns="0" rIns="0" bIns="0" rtlCol="0"/>
            <a:lstStyle/>
            <a:p>
              <a:endParaRPr sz="2400"/>
            </a:p>
          </p:txBody>
        </p:sp>
        <p:sp>
          <p:nvSpPr>
            <p:cNvPr id="67" name="object 67"/>
            <p:cNvSpPr/>
            <p:nvPr/>
          </p:nvSpPr>
          <p:spPr>
            <a:xfrm>
              <a:off x="4747733" y="2264383"/>
              <a:ext cx="57785" cy="41910"/>
            </a:xfrm>
            <a:custGeom>
              <a:avLst/>
              <a:gdLst/>
              <a:ahLst/>
              <a:cxnLst/>
              <a:rect l="l" t="t" r="r" b="b"/>
              <a:pathLst>
                <a:path w="57785" h="41910">
                  <a:moveTo>
                    <a:pt x="0" y="41623"/>
                  </a:moveTo>
                  <a:lnTo>
                    <a:pt x="0" y="0"/>
                  </a:lnTo>
                  <a:lnTo>
                    <a:pt x="57180" y="20811"/>
                  </a:lnTo>
                  <a:lnTo>
                    <a:pt x="0" y="41623"/>
                  </a:lnTo>
                  <a:close/>
                </a:path>
              </a:pathLst>
            </a:custGeom>
            <a:solidFill>
              <a:srgbClr val="595959"/>
            </a:solidFill>
          </p:spPr>
          <p:txBody>
            <a:bodyPr wrap="square" lIns="0" tIns="0" rIns="0" bIns="0" rtlCol="0"/>
            <a:lstStyle/>
            <a:p>
              <a:endParaRPr sz="2400"/>
            </a:p>
          </p:txBody>
        </p:sp>
        <p:sp>
          <p:nvSpPr>
            <p:cNvPr id="68" name="object 68"/>
            <p:cNvSpPr/>
            <p:nvPr/>
          </p:nvSpPr>
          <p:spPr>
            <a:xfrm>
              <a:off x="4747733" y="2264383"/>
              <a:ext cx="57785" cy="41910"/>
            </a:xfrm>
            <a:custGeom>
              <a:avLst/>
              <a:gdLst/>
              <a:ahLst/>
              <a:cxnLst/>
              <a:rect l="l" t="t" r="r" b="b"/>
              <a:pathLst>
                <a:path w="57785" h="41910">
                  <a:moveTo>
                    <a:pt x="0" y="41623"/>
                  </a:moveTo>
                  <a:lnTo>
                    <a:pt x="57180" y="20811"/>
                  </a:lnTo>
                  <a:lnTo>
                    <a:pt x="0" y="0"/>
                  </a:lnTo>
                  <a:lnTo>
                    <a:pt x="0" y="41623"/>
                  </a:lnTo>
                  <a:close/>
                </a:path>
              </a:pathLst>
            </a:custGeom>
            <a:ln w="12599">
              <a:solidFill>
                <a:srgbClr val="595959"/>
              </a:solidFill>
            </a:ln>
          </p:spPr>
          <p:txBody>
            <a:bodyPr wrap="square" lIns="0" tIns="0" rIns="0" bIns="0" rtlCol="0"/>
            <a:lstStyle/>
            <a:p>
              <a:endParaRPr sz="2400"/>
            </a:p>
          </p:txBody>
        </p:sp>
      </p:grpSp>
      <p:sp>
        <p:nvSpPr>
          <p:cNvPr id="69" name="object 69"/>
          <p:cNvSpPr txBox="1"/>
          <p:nvPr/>
        </p:nvSpPr>
        <p:spPr>
          <a:xfrm>
            <a:off x="5255702" y="2746604"/>
            <a:ext cx="855133" cy="263320"/>
          </a:xfrm>
          <a:prstGeom prst="rect">
            <a:avLst/>
          </a:prstGeom>
        </p:spPr>
        <p:txBody>
          <a:bodyPr vert="horz" wrap="square" lIns="0" tIns="16933" rIns="0" bIns="0" rtlCol="0">
            <a:spAutoFit/>
          </a:bodyPr>
          <a:lstStyle/>
          <a:p>
            <a:pPr marL="16933">
              <a:spcBef>
                <a:spcPts val="133"/>
              </a:spcBef>
            </a:pPr>
            <a:r>
              <a:rPr sz="1600" spc="-13" dirty="0">
                <a:latin typeface="Lucida Sans Unicode"/>
                <a:cs typeface="Lucida Sans Unicode"/>
              </a:rPr>
              <a:t>softmax</a:t>
            </a:r>
            <a:endParaRPr sz="1600">
              <a:latin typeface="Lucida Sans Unicode"/>
              <a:cs typeface="Lucida Sans Unicode"/>
            </a:endParaRPr>
          </a:p>
        </p:txBody>
      </p:sp>
      <p:sp>
        <p:nvSpPr>
          <p:cNvPr id="70" name="object 70"/>
          <p:cNvSpPr txBox="1"/>
          <p:nvPr/>
        </p:nvSpPr>
        <p:spPr>
          <a:xfrm>
            <a:off x="581667" y="4277370"/>
            <a:ext cx="850053" cy="341184"/>
          </a:xfrm>
          <a:prstGeom prst="rect">
            <a:avLst/>
          </a:prstGeom>
        </p:spPr>
        <p:txBody>
          <a:bodyPr vert="horz" wrap="square" lIns="0" tIns="22860" rIns="0" bIns="0" rtlCol="0">
            <a:spAutoFit/>
          </a:bodyPr>
          <a:lstStyle/>
          <a:p>
            <a:pPr marL="16933">
              <a:spcBef>
                <a:spcPts val="180"/>
              </a:spcBef>
            </a:pPr>
            <a:r>
              <a:rPr sz="2067" spc="-73" dirty="0">
                <a:solidFill>
                  <a:srgbClr val="257693"/>
                </a:solidFill>
                <a:latin typeface="Arial Black"/>
                <a:cs typeface="Arial Black"/>
              </a:rPr>
              <a:t>VRAM</a:t>
            </a:r>
            <a:endParaRPr sz="2067">
              <a:latin typeface="Arial Black"/>
              <a:cs typeface="Arial Black"/>
            </a:endParaRPr>
          </a:p>
        </p:txBody>
      </p:sp>
      <p:grpSp>
        <p:nvGrpSpPr>
          <p:cNvPr id="71" name="object 71"/>
          <p:cNvGrpSpPr/>
          <p:nvPr/>
        </p:nvGrpSpPr>
        <p:grpSpPr>
          <a:xfrm>
            <a:off x="5830790" y="3320660"/>
            <a:ext cx="1622213" cy="2397760"/>
            <a:chOff x="4373092" y="2490495"/>
            <a:chExt cx="1216660" cy="1798320"/>
          </a:xfrm>
        </p:grpSpPr>
        <p:sp>
          <p:nvSpPr>
            <p:cNvPr id="72" name="object 72"/>
            <p:cNvSpPr/>
            <p:nvPr/>
          </p:nvSpPr>
          <p:spPr>
            <a:xfrm>
              <a:off x="4982358" y="2496845"/>
              <a:ext cx="6985" cy="521334"/>
            </a:xfrm>
            <a:custGeom>
              <a:avLst/>
              <a:gdLst/>
              <a:ahLst/>
              <a:cxnLst/>
              <a:rect l="l" t="t" r="r" b="b"/>
              <a:pathLst>
                <a:path w="6985" h="521335">
                  <a:moveTo>
                    <a:pt x="6549" y="0"/>
                  </a:moveTo>
                  <a:lnTo>
                    <a:pt x="0" y="521105"/>
                  </a:lnTo>
                </a:path>
              </a:pathLst>
            </a:custGeom>
            <a:ln w="12599">
              <a:solidFill>
                <a:srgbClr val="434343"/>
              </a:solidFill>
            </a:ln>
          </p:spPr>
          <p:txBody>
            <a:bodyPr wrap="square" lIns="0" tIns="0" rIns="0" bIns="0" rtlCol="0"/>
            <a:lstStyle/>
            <a:p>
              <a:endParaRPr sz="2400"/>
            </a:p>
          </p:txBody>
        </p:sp>
        <p:sp>
          <p:nvSpPr>
            <p:cNvPr id="73" name="object 73"/>
            <p:cNvSpPr/>
            <p:nvPr/>
          </p:nvSpPr>
          <p:spPr>
            <a:xfrm>
              <a:off x="4961548" y="3017689"/>
              <a:ext cx="41910" cy="57785"/>
            </a:xfrm>
            <a:custGeom>
              <a:avLst/>
              <a:gdLst/>
              <a:ahLst/>
              <a:cxnLst/>
              <a:rect l="l" t="t" r="r" b="b"/>
              <a:pathLst>
                <a:path w="41910" h="57785">
                  <a:moveTo>
                    <a:pt x="20091" y="57437"/>
                  </a:moveTo>
                  <a:lnTo>
                    <a:pt x="0" y="0"/>
                  </a:lnTo>
                  <a:lnTo>
                    <a:pt x="41620" y="523"/>
                  </a:lnTo>
                  <a:lnTo>
                    <a:pt x="20091" y="57437"/>
                  </a:lnTo>
                  <a:close/>
                </a:path>
              </a:pathLst>
            </a:custGeom>
            <a:solidFill>
              <a:srgbClr val="434343"/>
            </a:solidFill>
          </p:spPr>
          <p:txBody>
            <a:bodyPr wrap="square" lIns="0" tIns="0" rIns="0" bIns="0" rtlCol="0"/>
            <a:lstStyle/>
            <a:p>
              <a:endParaRPr sz="2400"/>
            </a:p>
          </p:txBody>
        </p:sp>
        <p:sp>
          <p:nvSpPr>
            <p:cNvPr id="74" name="object 74"/>
            <p:cNvSpPr/>
            <p:nvPr/>
          </p:nvSpPr>
          <p:spPr>
            <a:xfrm>
              <a:off x="4961548" y="3017689"/>
              <a:ext cx="41910" cy="57785"/>
            </a:xfrm>
            <a:custGeom>
              <a:avLst/>
              <a:gdLst/>
              <a:ahLst/>
              <a:cxnLst/>
              <a:rect l="l" t="t" r="r" b="b"/>
              <a:pathLst>
                <a:path w="41910" h="57785">
                  <a:moveTo>
                    <a:pt x="0" y="0"/>
                  </a:moveTo>
                  <a:lnTo>
                    <a:pt x="20091" y="57437"/>
                  </a:lnTo>
                  <a:lnTo>
                    <a:pt x="41620" y="523"/>
                  </a:lnTo>
                  <a:lnTo>
                    <a:pt x="0" y="0"/>
                  </a:lnTo>
                  <a:close/>
                </a:path>
              </a:pathLst>
            </a:custGeom>
            <a:ln w="12599">
              <a:solidFill>
                <a:srgbClr val="434343"/>
              </a:solidFill>
            </a:ln>
          </p:spPr>
          <p:txBody>
            <a:bodyPr wrap="square" lIns="0" tIns="0" rIns="0" bIns="0" rtlCol="0"/>
            <a:lstStyle/>
            <a:p>
              <a:endParaRPr sz="2400"/>
            </a:p>
          </p:txBody>
        </p:sp>
        <p:sp>
          <p:nvSpPr>
            <p:cNvPr id="75" name="object 75"/>
            <p:cNvSpPr/>
            <p:nvPr/>
          </p:nvSpPr>
          <p:spPr>
            <a:xfrm>
              <a:off x="4395952" y="3093551"/>
              <a:ext cx="1170940" cy="1172210"/>
            </a:xfrm>
            <a:custGeom>
              <a:avLst/>
              <a:gdLst/>
              <a:ahLst/>
              <a:cxnLst/>
              <a:rect l="l" t="t" r="r" b="b"/>
              <a:pathLst>
                <a:path w="1170939" h="1172210">
                  <a:moveTo>
                    <a:pt x="0" y="0"/>
                  </a:moveTo>
                  <a:lnTo>
                    <a:pt x="1170899" y="0"/>
                  </a:lnTo>
                  <a:lnTo>
                    <a:pt x="1170899" y="1171799"/>
                  </a:lnTo>
                  <a:lnTo>
                    <a:pt x="0" y="1171799"/>
                  </a:lnTo>
                  <a:lnTo>
                    <a:pt x="0" y="0"/>
                  </a:lnTo>
                  <a:close/>
                </a:path>
              </a:pathLst>
            </a:custGeom>
            <a:ln w="45724">
              <a:solidFill>
                <a:srgbClr val="B45F06"/>
              </a:solidFill>
            </a:ln>
          </p:spPr>
          <p:txBody>
            <a:bodyPr wrap="square" lIns="0" tIns="0" rIns="0" bIns="0" rtlCol="0"/>
            <a:lstStyle/>
            <a:p>
              <a:endParaRPr sz="2400"/>
            </a:p>
          </p:txBody>
        </p:sp>
      </p:grpSp>
      <p:sp>
        <p:nvSpPr>
          <p:cNvPr id="76" name="object 76"/>
          <p:cNvSpPr txBox="1"/>
          <p:nvPr/>
        </p:nvSpPr>
        <p:spPr>
          <a:xfrm>
            <a:off x="6533655" y="4715605"/>
            <a:ext cx="216747" cy="345330"/>
          </a:xfrm>
          <a:prstGeom prst="rect">
            <a:avLst/>
          </a:prstGeom>
        </p:spPr>
        <p:txBody>
          <a:bodyPr vert="horz" wrap="square" lIns="0" tIns="16933" rIns="0" bIns="0" rtlCol="0">
            <a:spAutoFit/>
          </a:bodyPr>
          <a:lstStyle/>
          <a:p>
            <a:pPr marL="16933">
              <a:spcBef>
                <a:spcPts val="133"/>
              </a:spcBef>
            </a:pPr>
            <a:r>
              <a:rPr sz="2133" spc="-67" dirty="0">
                <a:latin typeface="Lucida Sans Unicode"/>
                <a:cs typeface="Lucida Sans Unicode"/>
              </a:rPr>
              <a:t>A</a:t>
            </a:r>
            <a:endParaRPr sz="2133">
              <a:latin typeface="Lucida Sans Unicode"/>
              <a:cs typeface="Lucida Sans Unicode"/>
            </a:endParaRPr>
          </a:p>
        </p:txBody>
      </p:sp>
      <p:grpSp>
        <p:nvGrpSpPr>
          <p:cNvPr id="77" name="object 77"/>
          <p:cNvGrpSpPr/>
          <p:nvPr/>
        </p:nvGrpSpPr>
        <p:grpSpPr>
          <a:xfrm>
            <a:off x="7275146" y="1458025"/>
            <a:ext cx="3915833" cy="2319019"/>
            <a:chOff x="5456359" y="1093519"/>
            <a:chExt cx="2936875" cy="1739264"/>
          </a:xfrm>
        </p:grpSpPr>
        <p:sp>
          <p:nvSpPr>
            <p:cNvPr id="78" name="object 78"/>
            <p:cNvSpPr/>
            <p:nvPr/>
          </p:nvSpPr>
          <p:spPr>
            <a:xfrm>
              <a:off x="6226683" y="1099869"/>
              <a:ext cx="2160270" cy="299085"/>
            </a:xfrm>
            <a:custGeom>
              <a:avLst/>
              <a:gdLst/>
              <a:ahLst/>
              <a:cxnLst/>
              <a:rect l="l" t="t" r="r" b="b"/>
              <a:pathLst>
                <a:path w="2160270" h="299084">
                  <a:moveTo>
                    <a:pt x="0" y="298954"/>
                  </a:moveTo>
                  <a:lnTo>
                    <a:pt x="2159740" y="298954"/>
                  </a:lnTo>
                  <a:lnTo>
                    <a:pt x="2159740" y="0"/>
                  </a:lnTo>
                  <a:lnTo>
                    <a:pt x="0" y="0"/>
                  </a:lnTo>
                  <a:lnTo>
                    <a:pt x="0" y="298954"/>
                  </a:lnTo>
                  <a:close/>
                </a:path>
              </a:pathLst>
            </a:custGeom>
            <a:solidFill>
              <a:srgbClr val="F4C4D1"/>
            </a:solidFill>
          </p:spPr>
          <p:txBody>
            <a:bodyPr wrap="square" lIns="0" tIns="0" rIns="0" bIns="0" rtlCol="0"/>
            <a:lstStyle/>
            <a:p>
              <a:endParaRPr sz="2400"/>
            </a:p>
          </p:txBody>
        </p:sp>
        <p:sp>
          <p:nvSpPr>
            <p:cNvPr id="79" name="object 79"/>
            <p:cNvSpPr/>
            <p:nvPr/>
          </p:nvSpPr>
          <p:spPr>
            <a:xfrm>
              <a:off x="6226683" y="1099869"/>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80" name="object 80"/>
            <p:cNvSpPr/>
            <p:nvPr/>
          </p:nvSpPr>
          <p:spPr>
            <a:xfrm>
              <a:off x="8285662" y="1398823"/>
              <a:ext cx="100965" cy="1225550"/>
            </a:xfrm>
            <a:custGeom>
              <a:avLst/>
              <a:gdLst/>
              <a:ahLst/>
              <a:cxnLst/>
              <a:rect l="l" t="t" r="r" b="b"/>
              <a:pathLst>
                <a:path w="100965" h="1225550">
                  <a:moveTo>
                    <a:pt x="0" y="1225411"/>
                  </a:moveTo>
                  <a:lnTo>
                    <a:pt x="100787" y="1225411"/>
                  </a:lnTo>
                  <a:lnTo>
                    <a:pt x="100787" y="0"/>
                  </a:lnTo>
                  <a:lnTo>
                    <a:pt x="0" y="0"/>
                  </a:lnTo>
                  <a:lnTo>
                    <a:pt x="0" y="1225411"/>
                  </a:lnTo>
                  <a:close/>
                </a:path>
              </a:pathLst>
            </a:custGeom>
            <a:solidFill>
              <a:srgbClr val="EBFAFF"/>
            </a:solidFill>
          </p:spPr>
          <p:txBody>
            <a:bodyPr wrap="square" lIns="0" tIns="0" rIns="0" bIns="0" rtlCol="0"/>
            <a:lstStyle/>
            <a:p>
              <a:endParaRPr sz="2400"/>
            </a:p>
          </p:txBody>
        </p:sp>
        <p:sp>
          <p:nvSpPr>
            <p:cNvPr id="81" name="object 81"/>
            <p:cNvSpPr/>
            <p:nvPr/>
          </p:nvSpPr>
          <p:spPr>
            <a:xfrm>
              <a:off x="6226709" y="1398823"/>
              <a:ext cx="2160270" cy="1225550"/>
            </a:xfrm>
            <a:custGeom>
              <a:avLst/>
              <a:gdLst/>
              <a:ahLst/>
              <a:cxnLst/>
              <a:rect l="l" t="t" r="r" b="b"/>
              <a:pathLst>
                <a:path w="2160270" h="1225550">
                  <a:moveTo>
                    <a:pt x="2159740" y="0"/>
                  </a:moveTo>
                  <a:lnTo>
                    <a:pt x="2159740" y="1225411"/>
                  </a:lnTo>
                  <a:lnTo>
                    <a:pt x="0" y="1225411"/>
                  </a:lnTo>
                  <a:lnTo>
                    <a:pt x="0" y="0"/>
                  </a:lnTo>
                  <a:lnTo>
                    <a:pt x="2159740" y="0"/>
                  </a:lnTo>
                  <a:close/>
                </a:path>
              </a:pathLst>
            </a:custGeom>
            <a:ln w="12599">
              <a:solidFill>
                <a:srgbClr val="237A94"/>
              </a:solidFill>
            </a:ln>
          </p:spPr>
          <p:txBody>
            <a:bodyPr wrap="square" lIns="0" tIns="0" rIns="0" bIns="0" rtlCol="0"/>
            <a:lstStyle/>
            <a:p>
              <a:endParaRPr sz="2400"/>
            </a:p>
          </p:txBody>
        </p:sp>
        <p:sp>
          <p:nvSpPr>
            <p:cNvPr id="82" name="object 82"/>
            <p:cNvSpPr/>
            <p:nvPr/>
          </p:nvSpPr>
          <p:spPr>
            <a:xfrm>
              <a:off x="6125922" y="1200630"/>
              <a:ext cx="2160270" cy="300355"/>
            </a:xfrm>
            <a:custGeom>
              <a:avLst/>
              <a:gdLst/>
              <a:ahLst/>
              <a:cxnLst/>
              <a:rect l="l" t="t" r="r" b="b"/>
              <a:pathLst>
                <a:path w="2160270" h="300355">
                  <a:moveTo>
                    <a:pt x="0" y="300246"/>
                  </a:moveTo>
                  <a:lnTo>
                    <a:pt x="2159739" y="300246"/>
                  </a:lnTo>
                  <a:lnTo>
                    <a:pt x="2159739" y="0"/>
                  </a:lnTo>
                  <a:lnTo>
                    <a:pt x="0" y="0"/>
                  </a:lnTo>
                  <a:lnTo>
                    <a:pt x="0" y="300246"/>
                  </a:lnTo>
                  <a:close/>
                </a:path>
              </a:pathLst>
            </a:custGeom>
            <a:solidFill>
              <a:srgbClr val="F4C4D1"/>
            </a:solidFill>
          </p:spPr>
          <p:txBody>
            <a:bodyPr wrap="square" lIns="0" tIns="0" rIns="0" bIns="0" rtlCol="0"/>
            <a:lstStyle/>
            <a:p>
              <a:endParaRPr sz="2400"/>
            </a:p>
          </p:txBody>
        </p:sp>
        <p:sp>
          <p:nvSpPr>
            <p:cNvPr id="83" name="object 83"/>
            <p:cNvSpPr/>
            <p:nvPr/>
          </p:nvSpPr>
          <p:spPr>
            <a:xfrm>
              <a:off x="6125922" y="1200630"/>
              <a:ext cx="2160270" cy="1515745"/>
            </a:xfrm>
            <a:custGeom>
              <a:avLst/>
              <a:gdLst/>
              <a:ahLst/>
              <a:cxnLst/>
              <a:rect l="l" t="t" r="r" b="b"/>
              <a:pathLst>
                <a:path w="2160270" h="1515745">
                  <a:moveTo>
                    <a:pt x="0" y="0"/>
                  </a:moveTo>
                  <a:lnTo>
                    <a:pt x="2159739" y="0"/>
                  </a:lnTo>
                  <a:lnTo>
                    <a:pt x="2159739"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84" name="object 84"/>
            <p:cNvSpPr/>
            <p:nvPr/>
          </p:nvSpPr>
          <p:spPr>
            <a:xfrm>
              <a:off x="8184902" y="1500876"/>
              <a:ext cx="100965" cy="1224915"/>
            </a:xfrm>
            <a:custGeom>
              <a:avLst/>
              <a:gdLst/>
              <a:ahLst/>
              <a:cxnLst/>
              <a:rect l="l" t="t" r="r" b="b"/>
              <a:pathLst>
                <a:path w="100965" h="1224914">
                  <a:moveTo>
                    <a:pt x="0" y="1224414"/>
                  </a:moveTo>
                  <a:lnTo>
                    <a:pt x="100797" y="1224414"/>
                  </a:lnTo>
                  <a:lnTo>
                    <a:pt x="100797" y="0"/>
                  </a:lnTo>
                  <a:lnTo>
                    <a:pt x="0" y="0"/>
                  </a:lnTo>
                  <a:lnTo>
                    <a:pt x="0" y="1224414"/>
                  </a:lnTo>
                  <a:close/>
                </a:path>
              </a:pathLst>
            </a:custGeom>
            <a:solidFill>
              <a:srgbClr val="EBFAFF"/>
            </a:solidFill>
          </p:spPr>
          <p:txBody>
            <a:bodyPr wrap="square" lIns="0" tIns="0" rIns="0" bIns="0" rtlCol="0"/>
            <a:lstStyle/>
            <a:p>
              <a:endParaRPr sz="2400"/>
            </a:p>
          </p:txBody>
        </p:sp>
        <p:sp>
          <p:nvSpPr>
            <p:cNvPr id="85" name="object 85"/>
            <p:cNvSpPr/>
            <p:nvPr/>
          </p:nvSpPr>
          <p:spPr>
            <a:xfrm>
              <a:off x="6125959" y="1500876"/>
              <a:ext cx="2160270" cy="1224915"/>
            </a:xfrm>
            <a:custGeom>
              <a:avLst/>
              <a:gdLst/>
              <a:ahLst/>
              <a:cxnLst/>
              <a:rect l="l" t="t" r="r" b="b"/>
              <a:pathLst>
                <a:path w="2160270" h="1224914">
                  <a:moveTo>
                    <a:pt x="2159740" y="0"/>
                  </a:moveTo>
                  <a:lnTo>
                    <a:pt x="2159740" y="1224414"/>
                  </a:lnTo>
                  <a:lnTo>
                    <a:pt x="0" y="1224414"/>
                  </a:lnTo>
                  <a:lnTo>
                    <a:pt x="0" y="0"/>
                  </a:lnTo>
                  <a:lnTo>
                    <a:pt x="2159740" y="0"/>
                  </a:lnTo>
                  <a:close/>
                </a:path>
              </a:pathLst>
            </a:custGeom>
            <a:ln w="12599">
              <a:solidFill>
                <a:srgbClr val="237A94"/>
              </a:solidFill>
            </a:ln>
          </p:spPr>
          <p:txBody>
            <a:bodyPr wrap="square" lIns="0" tIns="0" rIns="0" bIns="0" rtlCol="0"/>
            <a:lstStyle/>
            <a:p>
              <a:endParaRPr sz="2400"/>
            </a:p>
          </p:txBody>
        </p:sp>
        <p:sp>
          <p:nvSpPr>
            <p:cNvPr id="86" name="object 86"/>
            <p:cNvSpPr/>
            <p:nvPr/>
          </p:nvSpPr>
          <p:spPr>
            <a:xfrm>
              <a:off x="6025161" y="1301391"/>
              <a:ext cx="2160270" cy="298450"/>
            </a:xfrm>
            <a:custGeom>
              <a:avLst/>
              <a:gdLst/>
              <a:ahLst/>
              <a:cxnLst/>
              <a:rect l="l" t="t" r="r" b="b"/>
              <a:pathLst>
                <a:path w="2160270" h="298450">
                  <a:moveTo>
                    <a:pt x="0" y="298333"/>
                  </a:moveTo>
                  <a:lnTo>
                    <a:pt x="2159740" y="298333"/>
                  </a:lnTo>
                  <a:lnTo>
                    <a:pt x="2159740" y="0"/>
                  </a:lnTo>
                  <a:lnTo>
                    <a:pt x="0" y="0"/>
                  </a:lnTo>
                  <a:lnTo>
                    <a:pt x="0" y="298333"/>
                  </a:lnTo>
                  <a:close/>
                </a:path>
              </a:pathLst>
            </a:custGeom>
            <a:solidFill>
              <a:srgbClr val="F4C4D1"/>
            </a:solidFill>
          </p:spPr>
          <p:txBody>
            <a:bodyPr wrap="square" lIns="0" tIns="0" rIns="0" bIns="0" rtlCol="0"/>
            <a:lstStyle/>
            <a:p>
              <a:endParaRPr sz="2400"/>
            </a:p>
          </p:txBody>
        </p:sp>
        <p:sp>
          <p:nvSpPr>
            <p:cNvPr id="87" name="object 87"/>
            <p:cNvSpPr/>
            <p:nvPr/>
          </p:nvSpPr>
          <p:spPr>
            <a:xfrm>
              <a:off x="6025161" y="1301391"/>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88" name="object 88"/>
            <p:cNvSpPr/>
            <p:nvPr/>
          </p:nvSpPr>
          <p:spPr>
            <a:xfrm>
              <a:off x="6025184" y="1599724"/>
              <a:ext cx="2160270" cy="1226820"/>
            </a:xfrm>
            <a:custGeom>
              <a:avLst/>
              <a:gdLst/>
              <a:ahLst/>
              <a:cxnLst/>
              <a:rect l="l" t="t" r="r" b="b"/>
              <a:pathLst>
                <a:path w="2160270" h="1226820">
                  <a:moveTo>
                    <a:pt x="2159740" y="1226408"/>
                  </a:moveTo>
                  <a:lnTo>
                    <a:pt x="0" y="1226408"/>
                  </a:lnTo>
                  <a:lnTo>
                    <a:pt x="0" y="0"/>
                  </a:lnTo>
                  <a:lnTo>
                    <a:pt x="2159740" y="0"/>
                  </a:lnTo>
                  <a:lnTo>
                    <a:pt x="2159740" y="1226408"/>
                  </a:lnTo>
                  <a:close/>
                </a:path>
              </a:pathLst>
            </a:custGeom>
            <a:solidFill>
              <a:srgbClr val="EBFAFF"/>
            </a:solidFill>
          </p:spPr>
          <p:txBody>
            <a:bodyPr wrap="square" lIns="0" tIns="0" rIns="0" bIns="0" rtlCol="0"/>
            <a:lstStyle/>
            <a:p>
              <a:endParaRPr sz="2400"/>
            </a:p>
          </p:txBody>
        </p:sp>
        <p:sp>
          <p:nvSpPr>
            <p:cNvPr id="89" name="object 89"/>
            <p:cNvSpPr/>
            <p:nvPr/>
          </p:nvSpPr>
          <p:spPr>
            <a:xfrm>
              <a:off x="6025184" y="1599724"/>
              <a:ext cx="2160270" cy="1226820"/>
            </a:xfrm>
            <a:custGeom>
              <a:avLst/>
              <a:gdLst/>
              <a:ahLst/>
              <a:cxnLst/>
              <a:rect l="l" t="t" r="r" b="b"/>
              <a:pathLst>
                <a:path w="2160270" h="1226820">
                  <a:moveTo>
                    <a:pt x="2159740" y="0"/>
                  </a:moveTo>
                  <a:lnTo>
                    <a:pt x="2159740" y="1226408"/>
                  </a:lnTo>
                  <a:lnTo>
                    <a:pt x="0" y="1226408"/>
                  </a:lnTo>
                  <a:lnTo>
                    <a:pt x="0" y="0"/>
                  </a:lnTo>
                  <a:lnTo>
                    <a:pt x="2159740" y="0"/>
                  </a:lnTo>
                  <a:close/>
                </a:path>
              </a:pathLst>
            </a:custGeom>
            <a:ln w="12599">
              <a:solidFill>
                <a:srgbClr val="237A94"/>
              </a:solidFill>
            </a:ln>
          </p:spPr>
          <p:txBody>
            <a:bodyPr wrap="square" lIns="0" tIns="0" rIns="0" bIns="0" rtlCol="0"/>
            <a:lstStyle/>
            <a:p>
              <a:endParaRPr sz="2400"/>
            </a:p>
          </p:txBody>
        </p:sp>
        <p:sp>
          <p:nvSpPr>
            <p:cNvPr id="90" name="object 90"/>
            <p:cNvSpPr/>
            <p:nvPr/>
          </p:nvSpPr>
          <p:spPr>
            <a:xfrm>
              <a:off x="5465884" y="2141555"/>
              <a:ext cx="453390" cy="1270"/>
            </a:xfrm>
            <a:custGeom>
              <a:avLst/>
              <a:gdLst/>
              <a:ahLst/>
              <a:cxnLst/>
              <a:rect l="l" t="t" r="r" b="b"/>
              <a:pathLst>
                <a:path w="453389" h="1269">
                  <a:moveTo>
                    <a:pt x="0" y="1197"/>
                  </a:moveTo>
                  <a:lnTo>
                    <a:pt x="453000" y="0"/>
                  </a:lnTo>
                </a:path>
              </a:pathLst>
            </a:custGeom>
            <a:ln w="19049">
              <a:solidFill>
                <a:srgbClr val="257693"/>
              </a:solidFill>
            </a:ln>
          </p:spPr>
          <p:txBody>
            <a:bodyPr wrap="square" lIns="0" tIns="0" rIns="0" bIns="0" rtlCol="0"/>
            <a:lstStyle/>
            <a:p>
              <a:endParaRPr sz="2400"/>
            </a:p>
          </p:txBody>
        </p:sp>
        <p:pic>
          <p:nvPicPr>
            <p:cNvPr id="91" name="object 91"/>
            <p:cNvPicPr/>
            <p:nvPr/>
          </p:nvPicPr>
          <p:blipFill>
            <a:blip r:embed="rId3" cstate="print"/>
            <a:stretch>
              <a:fillRect/>
            </a:stretch>
          </p:blipFill>
          <p:spPr>
            <a:xfrm>
              <a:off x="5909276" y="2100565"/>
              <a:ext cx="105583" cy="81980"/>
            </a:xfrm>
            <a:prstGeom prst="rect">
              <a:avLst/>
            </a:prstGeom>
          </p:spPr>
        </p:pic>
        <p:sp>
          <p:nvSpPr>
            <p:cNvPr id="92" name="object 92"/>
            <p:cNvSpPr/>
            <p:nvPr/>
          </p:nvSpPr>
          <p:spPr>
            <a:xfrm>
              <a:off x="6192862" y="2073552"/>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93" name="object 93"/>
            <p:cNvSpPr/>
            <p:nvPr/>
          </p:nvSpPr>
          <p:spPr>
            <a:xfrm>
              <a:off x="6192862" y="2073552"/>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E6A064"/>
              </a:solidFill>
            </a:ln>
          </p:spPr>
          <p:txBody>
            <a:bodyPr wrap="square" lIns="0" tIns="0" rIns="0" bIns="0" rtlCol="0"/>
            <a:lstStyle/>
            <a:p>
              <a:endParaRPr sz="2400"/>
            </a:p>
          </p:txBody>
        </p:sp>
        <p:sp>
          <p:nvSpPr>
            <p:cNvPr id="94" name="object 94"/>
            <p:cNvSpPr/>
            <p:nvPr/>
          </p:nvSpPr>
          <p:spPr>
            <a:xfrm>
              <a:off x="6529739" y="2073552"/>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95" name="object 95"/>
            <p:cNvSpPr/>
            <p:nvPr/>
          </p:nvSpPr>
          <p:spPr>
            <a:xfrm>
              <a:off x="6529739" y="2073552"/>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5AB46E"/>
              </a:solidFill>
            </a:ln>
          </p:spPr>
          <p:txBody>
            <a:bodyPr wrap="square" lIns="0" tIns="0" rIns="0" bIns="0" rtlCol="0"/>
            <a:lstStyle/>
            <a:p>
              <a:endParaRPr sz="2400"/>
            </a:p>
          </p:txBody>
        </p:sp>
      </p:grpSp>
      <p:sp>
        <p:nvSpPr>
          <p:cNvPr id="96" name="object 96"/>
          <p:cNvSpPr txBox="1"/>
          <p:nvPr/>
        </p:nvSpPr>
        <p:spPr>
          <a:xfrm>
            <a:off x="8359168" y="2836457"/>
            <a:ext cx="687493" cy="382092"/>
          </a:xfrm>
          <a:prstGeom prst="rect">
            <a:avLst/>
          </a:prstGeom>
        </p:spPr>
        <p:txBody>
          <a:bodyPr vert="horz" wrap="square" lIns="0" tIns="22860" rIns="0" bIns="0" rtlCol="0">
            <a:spAutoFit/>
          </a:bodyPr>
          <a:lstStyle/>
          <a:p>
            <a:pPr marL="16933">
              <a:spcBef>
                <a:spcPts val="180"/>
              </a:spcBef>
              <a:tabLst>
                <a:tab pos="465655" algn="l"/>
              </a:tabLst>
            </a:pPr>
            <a:r>
              <a:rPr sz="2333" spc="-67" dirty="0">
                <a:latin typeface="Lucida Sans Unicode"/>
                <a:cs typeface="Lucida Sans Unicode"/>
              </a:rPr>
              <a:t>A</a:t>
            </a:r>
            <a:r>
              <a:rPr sz="2333" dirty="0">
                <a:latin typeface="Lucida Sans Unicode"/>
                <a:cs typeface="Lucida Sans Unicode"/>
              </a:rPr>
              <a:t>	</a:t>
            </a:r>
            <a:r>
              <a:rPr sz="2333" spc="-67" dirty="0">
                <a:latin typeface="Lucida Sans Unicode"/>
                <a:cs typeface="Lucida Sans Unicode"/>
              </a:rPr>
              <a:t>V</a:t>
            </a:r>
            <a:endParaRPr sz="2333">
              <a:latin typeface="Lucida Sans Unicode"/>
              <a:cs typeface="Lucida Sans Unicode"/>
            </a:endParaRPr>
          </a:p>
        </p:txBody>
      </p:sp>
      <p:grpSp>
        <p:nvGrpSpPr>
          <p:cNvPr id="97" name="object 97"/>
          <p:cNvGrpSpPr/>
          <p:nvPr/>
        </p:nvGrpSpPr>
        <p:grpSpPr>
          <a:xfrm>
            <a:off x="7416121" y="2758377"/>
            <a:ext cx="3086100" cy="2153920"/>
            <a:chOff x="5562090" y="2068783"/>
            <a:chExt cx="2314575" cy="1615440"/>
          </a:xfrm>
        </p:grpSpPr>
        <p:sp>
          <p:nvSpPr>
            <p:cNvPr id="98" name="object 98"/>
            <p:cNvSpPr/>
            <p:nvPr/>
          </p:nvSpPr>
          <p:spPr>
            <a:xfrm>
              <a:off x="6686000" y="2575838"/>
              <a:ext cx="10160" cy="568960"/>
            </a:xfrm>
            <a:custGeom>
              <a:avLst/>
              <a:gdLst/>
              <a:ahLst/>
              <a:cxnLst/>
              <a:rect l="l" t="t" r="r" b="b"/>
              <a:pathLst>
                <a:path w="10159" h="568960">
                  <a:moveTo>
                    <a:pt x="0" y="568511"/>
                  </a:moveTo>
                  <a:lnTo>
                    <a:pt x="9797" y="0"/>
                  </a:lnTo>
                </a:path>
              </a:pathLst>
            </a:custGeom>
            <a:ln w="12599">
              <a:solidFill>
                <a:srgbClr val="434343"/>
              </a:solidFill>
            </a:ln>
          </p:spPr>
          <p:txBody>
            <a:bodyPr wrap="square" lIns="0" tIns="0" rIns="0" bIns="0" rtlCol="0"/>
            <a:lstStyle/>
            <a:p>
              <a:endParaRPr sz="2400"/>
            </a:p>
          </p:txBody>
        </p:sp>
        <p:sp>
          <p:nvSpPr>
            <p:cNvPr id="99" name="object 99"/>
            <p:cNvSpPr/>
            <p:nvPr/>
          </p:nvSpPr>
          <p:spPr>
            <a:xfrm>
              <a:off x="6674988" y="2518667"/>
              <a:ext cx="41910" cy="57785"/>
            </a:xfrm>
            <a:custGeom>
              <a:avLst/>
              <a:gdLst/>
              <a:ahLst/>
              <a:cxnLst/>
              <a:rect l="l" t="t" r="r" b="b"/>
              <a:pathLst>
                <a:path w="41909" h="57785">
                  <a:moveTo>
                    <a:pt x="41617" y="57530"/>
                  </a:moveTo>
                  <a:lnTo>
                    <a:pt x="0" y="56812"/>
                  </a:lnTo>
                  <a:lnTo>
                    <a:pt x="21794" y="0"/>
                  </a:lnTo>
                  <a:lnTo>
                    <a:pt x="41617" y="57530"/>
                  </a:lnTo>
                  <a:close/>
                </a:path>
              </a:pathLst>
            </a:custGeom>
            <a:solidFill>
              <a:srgbClr val="434343"/>
            </a:solidFill>
          </p:spPr>
          <p:txBody>
            <a:bodyPr wrap="square" lIns="0" tIns="0" rIns="0" bIns="0" rtlCol="0"/>
            <a:lstStyle/>
            <a:p>
              <a:endParaRPr sz="2400"/>
            </a:p>
          </p:txBody>
        </p:sp>
        <p:sp>
          <p:nvSpPr>
            <p:cNvPr id="100" name="object 100"/>
            <p:cNvSpPr/>
            <p:nvPr/>
          </p:nvSpPr>
          <p:spPr>
            <a:xfrm>
              <a:off x="6674988" y="2518667"/>
              <a:ext cx="41910" cy="57785"/>
            </a:xfrm>
            <a:custGeom>
              <a:avLst/>
              <a:gdLst/>
              <a:ahLst/>
              <a:cxnLst/>
              <a:rect l="l" t="t" r="r" b="b"/>
              <a:pathLst>
                <a:path w="41909" h="57785">
                  <a:moveTo>
                    <a:pt x="41617" y="57530"/>
                  </a:moveTo>
                  <a:lnTo>
                    <a:pt x="21794" y="0"/>
                  </a:lnTo>
                  <a:lnTo>
                    <a:pt x="0" y="56812"/>
                  </a:lnTo>
                  <a:lnTo>
                    <a:pt x="41617" y="57530"/>
                  </a:lnTo>
                  <a:close/>
                </a:path>
              </a:pathLst>
            </a:custGeom>
            <a:ln w="12599">
              <a:solidFill>
                <a:srgbClr val="434343"/>
              </a:solidFill>
            </a:ln>
          </p:spPr>
          <p:txBody>
            <a:bodyPr wrap="square" lIns="0" tIns="0" rIns="0" bIns="0" rtlCol="0"/>
            <a:lstStyle/>
            <a:p>
              <a:endParaRPr sz="2400"/>
            </a:p>
          </p:txBody>
        </p:sp>
        <p:sp>
          <p:nvSpPr>
            <p:cNvPr id="101" name="object 101"/>
            <p:cNvSpPr/>
            <p:nvPr/>
          </p:nvSpPr>
          <p:spPr>
            <a:xfrm>
              <a:off x="5566852" y="2554002"/>
              <a:ext cx="791845" cy="1125855"/>
            </a:xfrm>
            <a:custGeom>
              <a:avLst/>
              <a:gdLst/>
              <a:ahLst/>
              <a:cxnLst/>
              <a:rect l="l" t="t" r="r" b="b"/>
              <a:pathLst>
                <a:path w="791845" h="1125854">
                  <a:moveTo>
                    <a:pt x="0" y="1125449"/>
                  </a:moveTo>
                  <a:lnTo>
                    <a:pt x="791699" y="1125449"/>
                  </a:lnTo>
                  <a:lnTo>
                    <a:pt x="791699" y="0"/>
                  </a:lnTo>
                </a:path>
              </a:pathLst>
            </a:custGeom>
            <a:ln w="9524">
              <a:solidFill>
                <a:srgbClr val="434343"/>
              </a:solidFill>
            </a:ln>
          </p:spPr>
          <p:txBody>
            <a:bodyPr wrap="square" lIns="0" tIns="0" rIns="0" bIns="0" rtlCol="0"/>
            <a:lstStyle/>
            <a:p>
              <a:endParaRPr sz="2400"/>
            </a:p>
          </p:txBody>
        </p:sp>
        <p:sp>
          <p:nvSpPr>
            <p:cNvPr id="102" name="object 102"/>
            <p:cNvSpPr/>
            <p:nvPr/>
          </p:nvSpPr>
          <p:spPr>
            <a:xfrm>
              <a:off x="6342820" y="2510776"/>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434343"/>
            </a:solidFill>
          </p:spPr>
          <p:txBody>
            <a:bodyPr wrap="square" lIns="0" tIns="0" rIns="0" bIns="0" rtlCol="0"/>
            <a:lstStyle/>
            <a:p>
              <a:endParaRPr sz="2400"/>
            </a:p>
          </p:txBody>
        </p:sp>
        <p:sp>
          <p:nvSpPr>
            <p:cNvPr id="103" name="object 103"/>
            <p:cNvSpPr/>
            <p:nvPr/>
          </p:nvSpPr>
          <p:spPr>
            <a:xfrm>
              <a:off x="6342820" y="2510776"/>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434343"/>
              </a:solidFill>
            </a:ln>
          </p:spPr>
          <p:txBody>
            <a:bodyPr wrap="square" lIns="0" tIns="0" rIns="0" bIns="0" rtlCol="0"/>
            <a:lstStyle/>
            <a:p>
              <a:endParaRPr sz="2400"/>
            </a:p>
          </p:txBody>
        </p:sp>
        <p:sp>
          <p:nvSpPr>
            <p:cNvPr id="104" name="object 104"/>
            <p:cNvSpPr/>
            <p:nvPr/>
          </p:nvSpPr>
          <p:spPr>
            <a:xfrm>
              <a:off x="6866615" y="2284752"/>
              <a:ext cx="593090" cy="1270"/>
            </a:xfrm>
            <a:custGeom>
              <a:avLst/>
              <a:gdLst/>
              <a:ahLst/>
              <a:cxnLst/>
              <a:rect l="l" t="t" r="r" b="b"/>
              <a:pathLst>
                <a:path w="593090" h="1269">
                  <a:moveTo>
                    <a:pt x="0" y="0"/>
                  </a:moveTo>
                  <a:lnTo>
                    <a:pt x="592799" y="798"/>
                  </a:lnTo>
                </a:path>
              </a:pathLst>
            </a:custGeom>
            <a:ln w="12599">
              <a:solidFill>
                <a:srgbClr val="595959"/>
              </a:solidFill>
            </a:ln>
          </p:spPr>
          <p:txBody>
            <a:bodyPr wrap="square" lIns="0" tIns="0" rIns="0" bIns="0" rtlCol="0"/>
            <a:lstStyle/>
            <a:p>
              <a:endParaRPr sz="2400"/>
            </a:p>
          </p:txBody>
        </p:sp>
        <p:sp>
          <p:nvSpPr>
            <p:cNvPr id="105" name="object 105"/>
            <p:cNvSpPr/>
            <p:nvPr/>
          </p:nvSpPr>
          <p:spPr>
            <a:xfrm>
              <a:off x="7459386" y="2264738"/>
              <a:ext cx="57785" cy="41910"/>
            </a:xfrm>
            <a:custGeom>
              <a:avLst/>
              <a:gdLst/>
              <a:ahLst/>
              <a:cxnLst/>
              <a:rect l="l" t="t" r="r" b="b"/>
              <a:pathLst>
                <a:path w="57784" h="41910">
                  <a:moveTo>
                    <a:pt x="0" y="41623"/>
                  </a:moveTo>
                  <a:lnTo>
                    <a:pt x="56" y="0"/>
                  </a:lnTo>
                  <a:lnTo>
                    <a:pt x="57207" y="20888"/>
                  </a:lnTo>
                  <a:lnTo>
                    <a:pt x="0" y="41623"/>
                  </a:lnTo>
                  <a:close/>
                </a:path>
              </a:pathLst>
            </a:custGeom>
            <a:solidFill>
              <a:srgbClr val="595959"/>
            </a:solidFill>
          </p:spPr>
          <p:txBody>
            <a:bodyPr wrap="square" lIns="0" tIns="0" rIns="0" bIns="0" rtlCol="0"/>
            <a:lstStyle/>
            <a:p>
              <a:endParaRPr sz="2400"/>
            </a:p>
          </p:txBody>
        </p:sp>
        <p:sp>
          <p:nvSpPr>
            <p:cNvPr id="106" name="object 106"/>
            <p:cNvSpPr/>
            <p:nvPr/>
          </p:nvSpPr>
          <p:spPr>
            <a:xfrm>
              <a:off x="7459386" y="2264738"/>
              <a:ext cx="57785" cy="41910"/>
            </a:xfrm>
            <a:custGeom>
              <a:avLst/>
              <a:gdLst/>
              <a:ahLst/>
              <a:cxnLst/>
              <a:rect l="l" t="t" r="r" b="b"/>
              <a:pathLst>
                <a:path w="57784" h="41910">
                  <a:moveTo>
                    <a:pt x="0" y="41623"/>
                  </a:moveTo>
                  <a:lnTo>
                    <a:pt x="57207" y="20888"/>
                  </a:lnTo>
                  <a:lnTo>
                    <a:pt x="56" y="0"/>
                  </a:lnTo>
                  <a:lnTo>
                    <a:pt x="0" y="41623"/>
                  </a:lnTo>
                  <a:close/>
                </a:path>
              </a:pathLst>
            </a:custGeom>
            <a:ln w="12599">
              <a:solidFill>
                <a:srgbClr val="595959"/>
              </a:solidFill>
            </a:ln>
          </p:spPr>
          <p:txBody>
            <a:bodyPr wrap="square" lIns="0" tIns="0" rIns="0" bIns="0" rtlCol="0"/>
            <a:lstStyle/>
            <a:p>
              <a:endParaRPr sz="2400"/>
            </a:p>
          </p:txBody>
        </p:sp>
        <p:sp>
          <p:nvSpPr>
            <p:cNvPr id="107" name="object 107"/>
            <p:cNvSpPr/>
            <p:nvPr/>
          </p:nvSpPr>
          <p:spPr>
            <a:xfrm>
              <a:off x="7540696" y="2073545"/>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108" name="object 108"/>
            <p:cNvSpPr/>
            <p:nvPr/>
          </p:nvSpPr>
          <p:spPr>
            <a:xfrm>
              <a:off x="7540696" y="2073545"/>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A12F9D"/>
              </a:solidFill>
            </a:ln>
          </p:spPr>
          <p:txBody>
            <a:bodyPr wrap="square" lIns="0" tIns="0" rIns="0" bIns="0" rtlCol="0"/>
            <a:lstStyle/>
            <a:p>
              <a:endParaRPr sz="2400"/>
            </a:p>
          </p:txBody>
        </p:sp>
      </p:grpSp>
      <p:sp>
        <p:nvSpPr>
          <p:cNvPr id="109" name="object 109"/>
          <p:cNvSpPr txBox="1"/>
          <p:nvPr/>
        </p:nvSpPr>
        <p:spPr>
          <a:xfrm>
            <a:off x="10139357" y="2836449"/>
            <a:ext cx="271780" cy="382092"/>
          </a:xfrm>
          <a:prstGeom prst="rect">
            <a:avLst/>
          </a:prstGeom>
        </p:spPr>
        <p:txBody>
          <a:bodyPr vert="horz" wrap="square" lIns="0" tIns="22860" rIns="0" bIns="0" rtlCol="0">
            <a:spAutoFit/>
          </a:bodyPr>
          <a:lstStyle/>
          <a:p>
            <a:pPr marL="16933">
              <a:spcBef>
                <a:spcPts val="180"/>
              </a:spcBef>
            </a:pPr>
            <a:r>
              <a:rPr sz="2333" spc="-67" dirty="0">
                <a:latin typeface="Lucida Sans Unicode"/>
                <a:cs typeface="Lucida Sans Unicode"/>
              </a:rPr>
              <a:t>O</a:t>
            </a:r>
            <a:endParaRPr sz="2333">
              <a:latin typeface="Lucida Sans Unicode"/>
              <a:cs typeface="Lucida Sans Unicode"/>
            </a:endParaRPr>
          </a:p>
        </p:txBody>
      </p:sp>
      <p:grpSp>
        <p:nvGrpSpPr>
          <p:cNvPr id="110" name="object 110"/>
          <p:cNvGrpSpPr/>
          <p:nvPr/>
        </p:nvGrpSpPr>
        <p:grpSpPr>
          <a:xfrm>
            <a:off x="10257022" y="3329142"/>
            <a:ext cx="72813" cy="947420"/>
            <a:chOff x="7692766" y="2496856"/>
            <a:chExt cx="54610" cy="710565"/>
          </a:xfrm>
        </p:grpSpPr>
        <p:sp>
          <p:nvSpPr>
            <p:cNvPr id="111" name="object 111"/>
            <p:cNvSpPr/>
            <p:nvPr/>
          </p:nvSpPr>
          <p:spPr>
            <a:xfrm>
              <a:off x="7719877" y="2496856"/>
              <a:ext cx="0" cy="647065"/>
            </a:xfrm>
            <a:custGeom>
              <a:avLst/>
              <a:gdLst/>
              <a:ahLst/>
              <a:cxnLst/>
              <a:rect l="l" t="t" r="r" b="b"/>
              <a:pathLst>
                <a:path h="647064">
                  <a:moveTo>
                    <a:pt x="0" y="0"/>
                  </a:moveTo>
                  <a:lnTo>
                    <a:pt x="0" y="646799"/>
                  </a:lnTo>
                </a:path>
              </a:pathLst>
            </a:custGeom>
            <a:ln w="12599">
              <a:solidFill>
                <a:srgbClr val="434343"/>
              </a:solidFill>
            </a:ln>
          </p:spPr>
          <p:txBody>
            <a:bodyPr wrap="square" lIns="0" tIns="0" rIns="0" bIns="0" rtlCol="0"/>
            <a:lstStyle/>
            <a:p>
              <a:endParaRPr sz="2400"/>
            </a:p>
          </p:txBody>
        </p:sp>
        <p:sp>
          <p:nvSpPr>
            <p:cNvPr id="112" name="object 112"/>
            <p:cNvSpPr/>
            <p:nvPr/>
          </p:nvSpPr>
          <p:spPr>
            <a:xfrm>
              <a:off x="7699066" y="3143656"/>
              <a:ext cx="41910" cy="57785"/>
            </a:xfrm>
            <a:custGeom>
              <a:avLst/>
              <a:gdLst/>
              <a:ahLst/>
              <a:cxnLst/>
              <a:rect l="l" t="t" r="r" b="b"/>
              <a:pathLst>
                <a:path w="41909" h="57785">
                  <a:moveTo>
                    <a:pt x="20811" y="57180"/>
                  </a:moveTo>
                  <a:lnTo>
                    <a:pt x="0" y="0"/>
                  </a:lnTo>
                  <a:lnTo>
                    <a:pt x="41623" y="0"/>
                  </a:lnTo>
                  <a:lnTo>
                    <a:pt x="20811" y="57180"/>
                  </a:lnTo>
                  <a:close/>
                </a:path>
              </a:pathLst>
            </a:custGeom>
            <a:solidFill>
              <a:srgbClr val="434343"/>
            </a:solidFill>
          </p:spPr>
          <p:txBody>
            <a:bodyPr wrap="square" lIns="0" tIns="0" rIns="0" bIns="0" rtlCol="0"/>
            <a:lstStyle/>
            <a:p>
              <a:endParaRPr sz="2400"/>
            </a:p>
          </p:txBody>
        </p:sp>
        <p:sp>
          <p:nvSpPr>
            <p:cNvPr id="113" name="object 113"/>
            <p:cNvSpPr/>
            <p:nvPr/>
          </p:nvSpPr>
          <p:spPr>
            <a:xfrm>
              <a:off x="7699066" y="3143656"/>
              <a:ext cx="41910" cy="57785"/>
            </a:xfrm>
            <a:custGeom>
              <a:avLst/>
              <a:gdLst/>
              <a:ahLst/>
              <a:cxnLst/>
              <a:rect l="l" t="t" r="r" b="b"/>
              <a:pathLst>
                <a:path w="41909" h="57785">
                  <a:moveTo>
                    <a:pt x="0" y="0"/>
                  </a:moveTo>
                  <a:lnTo>
                    <a:pt x="20811" y="57180"/>
                  </a:lnTo>
                  <a:lnTo>
                    <a:pt x="41623" y="0"/>
                  </a:lnTo>
                  <a:lnTo>
                    <a:pt x="0" y="0"/>
                  </a:lnTo>
                  <a:close/>
                </a:path>
              </a:pathLst>
            </a:custGeom>
            <a:ln w="12599">
              <a:solidFill>
                <a:srgbClr val="434343"/>
              </a:solidFill>
            </a:ln>
          </p:spPr>
          <p:txBody>
            <a:bodyPr wrap="square" lIns="0" tIns="0" rIns="0" bIns="0" rtlCol="0"/>
            <a:lstStyle/>
            <a:p>
              <a:endParaRPr sz="2400"/>
            </a:p>
          </p:txBody>
        </p:sp>
      </p:grpSp>
    </p:spTree>
    <p:extLst>
      <p:ext uri="{BB962C8B-B14F-4D97-AF65-F5344CB8AC3E}">
        <p14:creationId xmlns:p14="http://schemas.microsoft.com/office/powerpoint/2010/main" val="4095558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spc="80" dirty="0"/>
              <a:t>Naive</a:t>
            </a:r>
            <a:r>
              <a:rPr spc="60" dirty="0"/>
              <a:t> </a:t>
            </a:r>
            <a:r>
              <a:rPr dirty="0"/>
              <a:t>attention</a:t>
            </a:r>
            <a:r>
              <a:rPr spc="60" dirty="0"/>
              <a:t> </a:t>
            </a:r>
            <a:r>
              <a:rPr spc="-27" dirty="0"/>
              <a:t>flow</a:t>
            </a:r>
          </a:p>
        </p:txBody>
      </p:sp>
      <p:sp>
        <p:nvSpPr>
          <p:cNvPr id="3" name="object 3"/>
          <p:cNvSpPr txBox="1"/>
          <p:nvPr/>
        </p:nvSpPr>
        <p:spPr>
          <a:xfrm>
            <a:off x="598600" y="1112484"/>
            <a:ext cx="9795933" cy="3151545"/>
          </a:xfrm>
          <a:prstGeom prst="rect">
            <a:avLst/>
          </a:prstGeom>
        </p:spPr>
        <p:txBody>
          <a:bodyPr vert="horz" wrap="square" lIns="0" tIns="19472" rIns="0" bIns="0" rtlCol="0">
            <a:spAutoFit/>
          </a:bodyPr>
          <a:lstStyle/>
          <a:p>
            <a:pPr marL="140543">
              <a:spcBef>
                <a:spcPts val="152"/>
              </a:spcBef>
            </a:pPr>
            <a:r>
              <a:rPr sz="2067" dirty="0">
                <a:solidFill>
                  <a:srgbClr val="257693"/>
                </a:solidFill>
                <a:latin typeface="Arial Black"/>
                <a:cs typeface="Arial Black"/>
              </a:rPr>
              <a:t>Compute</a:t>
            </a:r>
            <a:r>
              <a:rPr sz="2067" spc="-147" dirty="0">
                <a:solidFill>
                  <a:srgbClr val="257693"/>
                </a:solidFill>
                <a:latin typeface="Arial Black"/>
                <a:cs typeface="Arial Black"/>
              </a:rPr>
              <a:t> </a:t>
            </a:r>
            <a:r>
              <a:rPr sz="2067" spc="-13" dirty="0">
                <a:solidFill>
                  <a:srgbClr val="257693"/>
                </a:solidFill>
                <a:latin typeface="Arial Black"/>
                <a:cs typeface="Arial Black"/>
              </a:rPr>
              <a:t>units</a:t>
            </a:r>
            <a:endParaRPr sz="2067">
              <a:latin typeface="Arial Black"/>
              <a:cs typeface="Arial Black"/>
            </a:endParaRPr>
          </a:p>
          <a:p>
            <a:pPr>
              <a:lnSpc>
                <a:spcPct val="100000"/>
              </a:lnSpc>
            </a:pPr>
            <a:endParaRPr sz="2067">
              <a:latin typeface="Arial Black"/>
              <a:cs typeface="Arial Black"/>
            </a:endParaRPr>
          </a:p>
          <a:p>
            <a:pPr>
              <a:spcBef>
                <a:spcPts val="753"/>
              </a:spcBef>
            </a:pPr>
            <a:endParaRPr sz="2067">
              <a:latin typeface="Arial Black"/>
              <a:cs typeface="Arial Black"/>
            </a:endParaRPr>
          </a:p>
          <a:p>
            <a:pPr marL="1148897"/>
            <a:r>
              <a:rPr sz="1600" spc="-27" dirty="0">
                <a:solidFill>
                  <a:srgbClr val="FAADB3"/>
                </a:solidFill>
                <a:latin typeface="Arial Black"/>
                <a:cs typeface="Arial Black"/>
              </a:rPr>
              <a:t>Q</a:t>
            </a:r>
            <a:r>
              <a:rPr sz="1600" spc="-27" dirty="0">
                <a:latin typeface="MS PGothic"/>
                <a:cs typeface="MS PGothic"/>
              </a:rPr>
              <a:t>⋅</a:t>
            </a:r>
            <a:r>
              <a:rPr sz="1600" spc="-27" dirty="0">
                <a:solidFill>
                  <a:srgbClr val="257693"/>
                </a:solidFill>
                <a:latin typeface="Arial Black"/>
                <a:cs typeface="Arial Black"/>
              </a:rPr>
              <a:t>K</a:t>
            </a:r>
            <a:r>
              <a:rPr sz="1600" spc="-40" baseline="31250" dirty="0">
                <a:latin typeface="Lucida Sans Unicode"/>
                <a:cs typeface="Lucida Sans Unicode"/>
              </a:rPr>
              <a:t>T</a:t>
            </a:r>
            <a:endParaRPr sz="1600" baseline="31250">
              <a:latin typeface="Lucida Sans Unicode"/>
              <a:cs typeface="Lucida Sans Unicode"/>
            </a:endParaRPr>
          </a:p>
          <a:p>
            <a:pPr marL="139697">
              <a:spcBef>
                <a:spcPts val="1125"/>
              </a:spcBef>
              <a:tabLst>
                <a:tab pos="617205" algn="l"/>
                <a:tab pos="4673483" algn="l"/>
                <a:tab pos="8226008" algn="l"/>
                <a:tab pos="9556934" algn="l"/>
              </a:tabLst>
            </a:pPr>
            <a:r>
              <a:rPr sz="3500" spc="-100" baseline="-34920" dirty="0">
                <a:latin typeface="Lucida Sans Unicode"/>
                <a:cs typeface="Lucida Sans Unicode"/>
              </a:rPr>
              <a:t>Q</a:t>
            </a:r>
            <a:r>
              <a:rPr sz="3500" baseline="-34920" dirty="0">
                <a:latin typeface="Lucida Sans Unicode"/>
                <a:cs typeface="Lucida Sans Unicode"/>
              </a:rPr>
              <a:t>	</a:t>
            </a:r>
            <a:r>
              <a:rPr sz="3500" spc="-100" baseline="-34920" dirty="0">
                <a:latin typeface="Lucida Sans Unicode"/>
                <a:cs typeface="Lucida Sans Unicode"/>
              </a:rPr>
              <a:t>K</a:t>
            </a:r>
            <a:r>
              <a:rPr sz="3500" baseline="-34920" dirty="0">
                <a:latin typeface="Lucida Sans Unicode"/>
                <a:cs typeface="Lucida Sans Unicode"/>
              </a:rPr>
              <a:t>	</a:t>
            </a:r>
            <a:r>
              <a:rPr sz="1600" spc="-13" dirty="0">
                <a:latin typeface="Lucida Sans Unicode"/>
                <a:cs typeface="Lucida Sans Unicode"/>
              </a:rPr>
              <a:t>softmax</a:t>
            </a:r>
            <a:r>
              <a:rPr sz="1600" dirty="0">
                <a:latin typeface="Lucida Sans Unicode"/>
                <a:cs typeface="Lucida Sans Unicode"/>
              </a:rPr>
              <a:t>	</a:t>
            </a:r>
            <a:r>
              <a:rPr sz="3500" spc="-100" baseline="-34920" dirty="0">
                <a:latin typeface="Lucida Sans Unicode"/>
                <a:cs typeface="Lucida Sans Unicode"/>
              </a:rPr>
              <a:t>V</a:t>
            </a:r>
            <a:r>
              <a:rPr sz="3500" baseline="-34920" dirty="0">
                <a:latin typeface="Lucida Sans Unicode"/>
                <a:cs typeface="Lucida Sans Unicode"/>
              </a:rPr>
              <a:t>	</a:t>
            </a:r>
            <a:r>
              <a:rPr sz="3500" spc="-100" baseline="-34920" dirty="0">
                <a:latin typeface="Lucida Sans Unicode"/>
                <a:cs typeface="Lucida Sans Unicode"/>
              </a:rPr>
              <a:t>O</a:t>
            </a:r>
            <a:endParaRPr sz="3500" baseline="-34920">
              <a:latin typeface="Lucida Sans Unicode"/>
              <a:cs typeface="Lucida Sans Unicode"/>
            </a:endParaRPr>
          </a:p>
          <a:p>
            <a:pPr>
              <a:lnSpc>
                <a:spcPct val="100000"/>
              </a:lnSpc>
            </a:pPr>
            <a:endParaRPr sz="1600">
              <a:latin typeface="Lucida Sans Unicode"/>
              <a:cs typeface="Lucida Sans Unicode"/>
            </a:endParaRPr>
          </a:p>
          <a:p>
            <a:pPr>
              <a:lnSpc>
                <a:spcPct val="100000"/>
              </a:lnSpc>
            </a:pPr>
            <a:endParaRPr sz="1600">
              <a:latin typeface="Lucida Sans Unicode"/>
              <a:cs typeface="Lucida Sans Unicode"/>
            </a:endParaRPr>
          </a:p>
          <a:p>
            <a:pPr>
              <a:lnSpc>
                <a:spcPct val="100000"/>
              </a:lnSpc>
            </a:pPr>
            <a:endParaRPr sz="1600">
              <a:latin typeface="Lucida Sans Unicode"/>
              <a:cs typeface="Lucida Sans Unicode"/>
            </a:endParaRPr>
          </a:p>
          <a:p>
            <a:pPr>
              <a:spcBef>
                <a:spcPts val="200"/>
              </a:spcBef>
            </a:pPr>
            <a:endParaRPr sz="1600">
              <a:latin typeface="Lucida Sans Unicode"/>
              <a:cs typeface="Lucida Sans Unicode"/>
            </a:endParaRPr>
          </a:p>
          <a:p>
            <a:pPr>
              <a:spcBef>
                <a:spcPts val="7"/>
              </a:spcBef>
            </a:pPr>
            <a:r>
              <a:rPr sz="2067" spc="-27" dirty="0">
                <a:solidFill>
                  <a:srgbClr val="257693"/>
                </a:solidFill>
                <a:latin typeface="Arial Black"/>
                <a:cs typeface="Arial Black"/>
              </a:rPr>
              <a:t>VRAM</a:t>
            </a:r>
            <a:endParaRPr sz="2067">
              <a:latin typeface="Arial Black"/>
              <a:cs typeface="Arial Black"/>
            </a:endParaRPr>
          </a:p>
        </p:txBody>
      </p:sp>
      <p:grpSp>
        <p:nvGrpSpPr>
          <p:cNvPr id="4" name="object 4"/>
          <p:cNvGrpSpPr/>
          <p:nvPr/>
        </p:nvGrpSpPr>
        <p:grpSpPr>
          <a:xfrm>
            <a:off x="506115" y="1458025"/>
            <a:ext cx="10684933" cy="2743200"/>
            <a:chOff x="379586" y="1093519"/>
            <a:chExt cx="8013700" cy="2057400"/>
          </a:xfrm>
        </p:grpSpPr>
        <p:sp>
          <p:nvSpPr>
            <p:cNvPr id="5" name="object 5"/>
            <p:cNvSpPr/>
            <p:nvPr/>
          </p:nvSpPr>
          <p:spPr>
            <a:xfrm>
              <a:off x="587458" y="1099869"/>
              <a:ext cx="2160270" cy="300990"/>
            </a:xfrm>
            <a:custGeom>
              <a:avLst/>
              <a:gdLst/>
              <a:ahLst/>
              <a:cxnLst/>
              <a:rect l="l" t="t" r="r" b="b"/>
              <a:pathLst>
                <a:path w="2160270" h="300990">
                  <a:moveTo>
                    <a:pt x="0" y="300380"/>
                  </a:moveTo>
                  <a:lnTo>
                    <a:pt x="2159700" y="300380"/>
                  </a:lnTo>
                  <a:lnTo>
                    <a:pt x="2159700" y="0"/>
                  </a:lnTo>
                  <a:lnTo>
                    <a:pt x="0" y="0"/>
                  </a:lnTo>
                  <a:lnTo>
                    <a:pt x="0" y="300380"/>
                  </a:lnTo>
                  <a:close/>
                </a:path>
              </a:pathLst>
            </a:custGeom>
            <a:solidFill>
              <a:srgbClr val="F4C4D1"/>
            </a:solidFill>
          </p:spPr>
          <p:txBody>
            <a:bodyPr wrap="square" lIns="0" tIns="0" rIns="0" bIns="0" rtlCol="0"/>
            <a:lstStyle/>
            <a:p>
              <a:endParaRPr sz="2400"/>
            </a:p>
          </p:txBody>
        </p:sp>
        <p:sp>
          <p:nvSpPr>
            <p:cNvPr id="6" name="object 6"/>
            <p:cNvSpPr/>
            <p:nvPr/>
          </p:nvSpPr>
          <p:spPr>
            <a:xfrm>
              <a:off x="587458" y="1099869"/>
              <a:ext cx="2160270" cy="1515745"/>
            </a:xfrm>
            <a:custGeom>
              <a:avLst/>
              <a:gdLst/>
              <a:ahLst/>
              <a:cxnLst/>
              <a:rect l="l" t="t" r="r" b="b"/>
              <a:pathLst>
                <a:path w="2160270" h="1515745">
                  <a:moveTo>
                    <a:pt x="0" y="0"/>
                  </a:moveTo>
                  <a:lnTo>
                    <a:pt x="2159700" y="0"/>
                  </a:lnTo>
                  <a:lnTo>
                    <a:pt x="2159700"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7" name="object 7"/>
            <p:cNvSpPr/>
            <p:nvPr/>
          </p:nvSpPr>
          <p:spPr>
            <a:xfrm>
              <a:off x="2646397" y="1400249"/>
              <a:ext cx="100965" cy="1224915"/>
            </a:xfrm>
            <a:custGeom>
              <a:avLst/>
              <a:gdLst/>
              <a:ahLst/>
              <a:cxnLst/>
              <a:rect l="l" t="t" r="r" b="b"/>
              <a:pathLst>
                <a:path w="100964" h="1224914">
                  <a:moveTo>
                    <a:pt x="0" y="1224299"/>
                  </a:moveTo>
                  <a:lnTo>
                    <a:pt x="100827" y="1224299"/>
                  </a:lnTo>
                  <a:lnTo>
                    <a:pt x="100827" y="0"/>
                  </a:lnTo>
                  <a:lnTo>
                    <a:pt x="0" y="0"/>
                  </a:lnTo>
                  <a:lnTo>
                    <a:pt x="0" y="1224299"/>
                  </a:lnTo>
                  <a:close/>
                </a:path>
              </a:pathLst>
            </a:custGeom>
            <a:solidFill>
              <a:srgbClr val="EBFAFF"/>
            </a:solidFill>
          </p:spPr>
          <p:txBody>
            <a:bodyPr wrap="square" lIns="0" tIns="0" rIns="0" bIns="0" rtlCol="0"/>
            <a:lstStyle/>
            <a:p>
              <a:endParaRPr sz="2400"/>
            </a:p>
          </p:txBody>
        </p:sp>
        <p:sp>
          <p:nvSpPr>
            <p:cNvPr id="8" name="object 8"/>
            <p:cNvSpPr/>
            <p:nvPr/>
          </p:nvSpPr>
          <p:spPr>
            <a:xfrm>
              <a:off x="587525" y="1400249"/>
              <a:ext cx="2160270" cy="1224915"/>
            </a:xfrm>
            <a:custGeom>
              <a:avLst/>
              <a:gdLst/>
              <a:ahLst/>
              <a:cxnLst/>
              <a:rect l="l" t="t" r="r" b="b"/>
              <a:pathLst>
                <a:path w="2160270" h="1224914">
                  <a:moveTo>
                    <a:pt x="2159699" y="0"/>
                  </a:moveTo>
                  <a:lnTo>
                    <a:pt x="2159699" y="1224299"/>
                  </a:lnTo>
                  <a:lnTo>
                    <a:pt x="0" y="12242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9" name="object 9"/>
            <p:cNvSpPr/>
            <p:nvPr/>
          </p:nvSpPr>
          <p:spPr>
            <a:xfrm>
              <a:off x="486697" y="1200630"/>
              <a:ext cx="2160270" cy="300990"/>
            </a:xfrm>
            <a:custGeom>
              <a:avLst/>
              <a:gdLst/>
              <a:ahLst/>
              <a:cxnLst/>
              <a:rect l="l" t="t" r="r" b="b"/>
              <a:pathLst>
                <a:path w="2160270" h="300990">
                  <a:moveTo>
                    <a:pt x="0" y="300769"/>
                  </a:moveTo>
                  <a:lnTo>
                    <a:pt x="2159699" y="300769"/>
                  </a:lnTo>
                  <a:lnTo>
                    <a:pt x="2159699" y="0"/>
                  </a:lnTo>
                  <a:lnTo>
                    <a:pt x="0" y="0"/>
                  </a:lnTo>
                  <a:lnTo>
                    <a:pt x="0" y="300769"/>
                  </a:lnTo>
                  <a:close/>
                </a:path>
              </a:pathLst>
            </a:custGeom>
            <a:solidFill>
              <a:srgbClr val="F4C4D1"/>
            </a:solidFill>
          </p:spPr>
          <p:txBody>
            <a:bodyPr wrap="square" lIns="0" tIns="0" rIns="0" bIns="0" rtlCol="0"/>
            <a:lstStyle/>
            <a:p>
              <a:endParaRPr sz="2400"/>
            </a:p>
          </p:txBody>
        </p:sp>
        <p:sp>
          <p:nvSpPr>
            <p:cNvPr id="10" name="object 10"/>
            <p:cNvSpPr/>
            <p:nvPr/>
          </p:nvSpPr>
          <p:spPr>
            <a:xfrm>
              <a:off x="486697" y="1200630"/>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11" name="object 11"/>
            <p:cNvSpPr/>
            <p:nvPr/>
          </p:nvSpPr>
          <p:spPr>
            <a:xfrm>
              <a:off x="2545637" y="1501399"/>
              <a:ext cx="100965" cy="1223645"/>
            </a:xfrm>
            <a:custGeom>
              <a:avLst/>
              <a:gdLst/>
              <a:ahLst/>
              <a:cxnLst/>
              <a:rect l="l" t="t" r="r" b="b"/>
              <a:pathLst>
                <a:path w="100964" h="1223645">
                  <a:moveTo>
                    <a:pt x="0" y="1223399"/>
                  </a:moveTo>
                  <a:lnTo>
                    <a:pt x="100837" y="1223399"/>
                  </a:lnTo>
                  <a:lnTo>
                    <a:pt x="100837" y="0"/>
                  </a:lnTo>
                  <a:lnTo>
                    <a:pt x="0" y="0"/>
                  </a:lnTo>
                  <a:lnTo>
                    <a:pt x="0" y="1223399"/>
                  </a:lnTo>
                  <a:close/>
                </a:path>
              </a:pathLst>
            </a:custGeom>
            <a:solidFill>
              <a:srgbClr val="EBFAFF"/>
            </a:solidFill>
          </p:spPr>
          <p:txBody>
            <a:bodyPr wrap="square" lIns="0" tIns="0" rIns="0" bIns="0" rtlCol="0"/>
            <a:lstStyle/>
            <a:p>
              <a:endParaRPr sz="2400"/>
            </a:p>
          </p:txBody>
        </p:sp>
        <p:sp>
          <p:nvSpPr>
            <p:cNvPr id="12" name="object 12"/>
            <p:cNvSpPr/>
            <p:nvPr/>
          </p:nvSpPr>
          <p:spPr>
            <a:xfrm>
              <a:off x="486775" y="1501399"/>
              <a:ext cx="2160270" cy="1223645"/>
            </a:xfrm>
            <a:custGeom>
              <a:avLst/>
              <a:gdLst/>
              <a:ahLst/>
              <a:cxnLst/>
              <a:rect l="l" t="t" r="r" b="b"/>
              <a:pathLst>
                <a:path w="2160270" h="1223645">
                  <a:moveTo>
                    <a:pt x="2159699" y="0"/>
                  </a:moveTo>
                  <a:lnTo>
                    <a:pt x="2159699" y="1223399"/>
                  </a:lnTo>
                  <a:lnTo>
                    <a:pt x="0" y="12233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13" name="object 13"/>
            <p:cNvSpPr/>
            <p:nvPr/>
          </p:nvSpPr>
          <p:spPr>
            <a:xfrm>
              <a:off x="385936" y="1301391"/>
              <a:ext cx="2160270" cy="298450"/>
            </a:xfrm>
            <a:custGeom>
              <a:avLst/>
              <a:gdLst/>
              <a:ahLst/>
              <a:cxnLst/>
              <a:rect l="l" t="t" r="r" b="b"/>
              <a:pathLst>
                <a:path w="2160270" h="298450">
                  <a:moveTo>
                    <a:pt x="0" y="298333"/>
                  </a:moveTo>
                  <a:lnTo>
                    <a:pt x="2159700" y="298333"/>
                  </a:lnTo>
                  <a:lnTo>
                    <a:pt x="2159700" y="0"/>
                  </a:lnTo>
                  <a:lnTo>
                    <a:pt x="0" y="0"/>
                  </a:lnTo>
                  <a:lnTo>
                    <a:pt x="0" y="298333"/>
                  </a:lnTo>
                  <a:close/>
                </a:path>
              </a:pathLst>
            </a:custGeom>
            <a:solidFill>
              <a:srgbClr val="F4C4D1"/>
            </a:solidFill>
          </p:spPr>
          <p:txBody>
            <a:bodyPr wrap="square" lIns="0" tIns="0" rIns="0" bIns="0" rtlCol="0"/>
            <a:lstStyle/>
            <a:p>
              <a:endParaRPr sz="2400"/>
            </a:p>
          </p:txBody>
        </p:sp>
        <p:sp>
          <p:nvSpPr>
            <p:cNvPr id="14" name="object 14"/>
            <p:cNvSpPr/>
            <p:nvPr/>
          </p:nvSpPr>
          <p:spPr>
            <a:xfrm>
              <a:off x="385936" y="1301391"/>
              <a:ext cx="2160270" cy="1515745"/>
            </a:xfrm>
            <a:custGeom>
              <a:avLst/>
              <a:gdLst/>
              <a:ahLst/>
              <a:cxnLst/>
              <a:rect l="l" t="t" r="r" b="b"/>
              <a:pathLst>
                <a:path w="2160270" h="1515745">
                  <a:moveTo>
                    <a:pt x="0" y="0"/>
                  </a:moveTo>
                  <a:lnTo>
                    <a:pt x="2159700" y="0"/>
                  </a:lnTo>
                  <a:lnTo>
                    <a:pt x="2159700"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15" name="object 15"/>
            <p:cNvSpPr/>
            <p:nvPr/>
          </p:nvSpPr>
          <p:spPr>
            <a:xfrm>
              <a:off x="386000" y="1599724"/>
              <a:ext cx="2160270" cy="1226820"/>
            </a:xfrm>
            <a:custGeom>
              <a:avLst/>
              <a:gdLst/>
              <a:ahLst/>
              <a:cxnLst/>
              <a:rect l="l" t="t" r="r" b="b"/>
              <a:pathLst>
                <a:path w="2160270" h="1226820">
                  <a:moveTo>
                    <a:pt x="2159699" y="1226400"/>
                  </a:moveTo>
                  <a:lnTo>
                    <a:pt x="0" y="1226400"/>
                  </a:lnTo>
                  <a:lnTo>
                    <a:pt x="0" y="0"/>
                  </a:lnTo>
                  <a:lnTo>
                    <a:pt x="2159699" y="0"/>
                  </a:lnTo>
                  <a:lnTo>
                    <a:pt x="2159699" y="1226400"/>
                  </a:lnTo>
                  <a:close/>
                </a:path>
              </a:pathLst>
            </a:custGeom>
            <a:solidFill>
              <a:srgbClr val="EBFAFF"/>
            </a:solidFill>
          </p:spPr>
          <p:txBody>
            <a:bodyPr wrap="square" lIns="0" tIns="0" rIns="0" bIns="0" rtlCol="0"/>
            <a:lstStyle/>
            <a:p>
              <a:endParaRPr sz="2400"/>
            </a:p>
          </p:txBody>
        </p:sp>
        <p:sp>
          <p:nvSpPr>
            <p:cNvPr id="16" name="object 16"/>
            <p:cNvSpPr/>
            <p:nvPr/>
          </p:nvSpPr>
          <p:spPr>
            <a:xfrm>
              <a:off x="386000" y="1599724"/>
              <a:ext cx="2160270" cy="1226820"/>
            </a:xfrm>
            <a:custGeom>
              <a:avLst/>
              <a:gdLst/>
              <a:ahLst/>
              <a:cxnLst/>
              <a:rect l="l" t="t" r="r" b="b"/>
              <a:pathLst>
                <a:path w="2160270" h="1226820">
                  <a:moveTo>
                    <a:pt x="2159699" y="0"/>
                  </a:moveTo>
                  <a:lnTo>
                    <a:pt x="2159699" y="1226400"/>
                  </a:lnTo>
                  <a:lnTo>
                    <a:pt x="0" y="1226400"/>
                  </a:lnTo>
                  <a:lnTo>
                    <a:pt x="0" y="0"/>
                  </a:lnTo>
                  <a:lnTo>
                    <a:pt x="2159699" y="0"/>
                  </a:lnTo>
                  <a:close/>
                </a:path>
              </a:pathLst>
            </a:custGeom>
            <a:ln w="12599">
              <a:solidFill>
                <a:srgbClr val="237A94"/>
              </a:solidFill>
            </a:ln>
          </p:spPr>
          <p:txBody>
            <a:bodyPr wrap="square" lIns="0" tIns="0" rIns="0" bIns="0" rtlCol="0"/>
            <a:lstStyle/>
            <a:p>
              <a:endParaRPr sz="2400"/>
            </a:p>
          </p:txBody>
        </p:sp>
        <p:sp>
          <p:nvSpPr>
            <p:cNvPr id="17" name="object 17"/>
            <p:cNvSpPr/>
            <p:nvPr/>
          </p:nvSpPr>
          <p:spPr>
            <a:xfrm>
              <a:off x="477862" y="2073552"/>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18" name="object 18"/>
            <p:cNvSpPr/>
            <p:nvPr/>
          </p:nvSpPr>
          <p:spPr>
            <a:xfrm>
              <a:off x="477862" y="2073552"/>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F47272"/>
              </a:solidFill>
            </a:ln>
          </p:spPr>
          <p:txBody>
            <a:bodyPr wrap="square" lIns="0" tIns="0" rIns="0" bIns="0" rtlCol="0"/>
            <a:lstStyle/>
            <a:p>
              <a:endParaRPr sz="2400"/>
            </a:p>
          </p:txBody>
        </p:sp>
        <p:sp>
          <p:nvSpPr>
            <p:cNvPr id="19" name="object 19"/>
            <p:cNvSpPr/>
            <p:nvPr/>
          </p:nvSpPr>
          <p:spPr>
            <a:xfrm>
              <a:off x="814739" y="2073552"/>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20" name="object 20"/>
            <p:cNvSpPr/>
            <p:nvPr/>
          </p:nvSpPr>
          <p:spPr>
            <a:xfrm>
              <a:off x="814739" y="2073552"/>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4696AA"/>
              </a:solidFill>
            </a:ln>
          </p:spPr>
          <p:txBody>
            <a:bodyPr wrap="square" lIns="0" tIns="0" rIns="0" bIns="0" rtlCol="0"/>
            <a:lstStyle/>
            <a:p>
              <a:endParaRPr sz="2400"/>
            </a:p>
          </p:txBody>
        </p:sp>
        <p:sp>
          <p:nvSpPr>
            <p:cNvPr id="21" name="object 21"/>
            <p:cNvSpPr/>
            <p:nvPr/>
          </p:nvSpPr>
          <p:spPr>
            <a:xfrm>
              <a:off x="642562" y="2572452"/>
              <a:ext cx="1270" cy="521334"/>
            </a:xfrm>
            <a:custGeom>
              <a:avLst/>
              <a:gdLst/>
              <a:ahLst/>
              <a:cxnLst/>
              <a:rect l="l" t="t" r="r" b="b"/>
              <a:pathLst>
                <a:path w="1270" h="521335">
                  <a:moveTo>
                    <a:pt x="0" y="521099"/>
                  </a:moveTo>
                  <a:lnTo>
                    <a:pt x="785" y="0"/>
                  </a:lnTo>
                </a:path>
              </a:pathLst>
            </a:custGeom>
            <a:ln w="12599">
              <a:solidFill>
                <a:srgbClr val="434343"/>
              </a:solidFill>
            </a:ln>
          </p:spPr>
          <p:txBody>
            <a:bodyPr wrap="square" lIns="0" tIns="0" rIns="0" bIns="0" rtlCol="0"/>
            <a:lstStyle/>
            <a:p>
              <a:endParaRPr sz="2400"/>
            </a:p>
          </p:txBody>
        </p:sp>
        <p:sp>
          <p:nvSpPr>
            <p:cNvPr id="22" name="object 22"/>
            <p:cNvSpPr/>
            <p:nvPr/>
          </p:nvSpPr>
          <p:spPr>
            <a:xfrm>
              <a:off x="622537" y="2515271"/>
              <a:ext cx="41910" cy="57785"/>
            </a:xfrm>
            <a:custGeom>
              <a:avLst/>
              <a:gdLst/>
              <a:ahLst/>
              <a:cxnLst/>
              <a:rect l="l" t="t" r="r" b="b"/>
              <a:pathLst>
                <a:path w="41909" h="57785">
                  <a:moveTo>
                    <a:pt x="41623" y="57211"/>
                  </a:moveTo>
                  <a:lnTo>
                    <a:pt x="0" y="57148"/>
                  </a:lnTo>
                  <a:lnTo>
                    <a:pt x="20898" y="0"/>
                  </a:lnTo>
                  <a:lnTo>
                    <a:pt x="41623" y="57211"/>
                  </a:lnTo>
                  <a:close/>
                </a:path>
              </a:pathLst>
            </a:custGeom>
            <a:solidFill>
              <a:srgbClr val="434343"/>
            </a:solidFill>
          </p:spPr>
          <p:txBody>
            <a:bodyPr wrap="square" lIns="0" tIns="0" rIns="0" bIns="0" rtlCol="0"/>
            <a:lstStyle/>
            <a:p>
              <a:endParaRPr sz="2400"/>
            </a:p>
          </p:txBody>
        </p:sp>
        <p:sp>
          <p:nvSpPr>
            <p:cNvPr id="23" name="object 23"/>
            <p:cNvSpPr/>
            <p:nvPr/>
          </p:nvSpPr>
          <p:spPr>
            <a:xfrm>
              <a:off x="622537" y="2515271"/>
              <a:ext cx="41910" cy="57785"/>
            </a:xfrm>
            <a:custGeom>
              <a:avLst/>
              <a:gdLst/>
              <a:ahLst/>
              <a:cxnLst/>
              <a:rect l="l" t="t" r="r" b="b"/>
              <a:pathLst>
                <a:path w="41909" h="57785">
                  <a:moveTo>
                    <a:pt x="41623" y="57211"/>
                  </a:moveTo>
                  <a:lnTo>
                    <a:pt x="20898" y="0"/>
                  </a:lnTo>
                  <a:lnTo>
                    <a:pt x="0" y="57148"/>
                  </a:lnTo>
                  <a:lnTo>
                    <a:pt x="41623" y="57211"/>
                  </a:lnTo>
                  <a:close/>
                </a:path>
              </a:pathLst>
            </a:custGeom>
            <a:ln w="12599">
              <a:solidFill>
                <a:srgbClr val="434343"/>
              </a:solidFill>
            </a:ln>
          </p:spPr>
          <p:txBody>
            <a:bodyPr wrap="square" lIns="0" tIns="0" rIns="0" bIns="0" rtlCol="0"/>
            <a:lstStyle/>
            <a:p>
              <a:endParaRPr sz="2400"/>
            </a:p>
          </p:txBody>
        </p:sp>
        <p:sp>
          <p:nvSpPr>
            <p:cNvPr id="24" name="object 24"/>
            <p:cNvSpPr/>
            <p:nvPr/>
          </p:nvSpPr>
          <p:spPr>
            <a:xfrm>
              <a:off x="975625" y="2575745"/>
              <a:ext cx="6350" cy="508634"/>
            </a:xfrm>
            <a:custGeom>
              <a:avLst/>
              <a:gdLst/>
              <a:ahLst/>
              <a:cxnLst/>
              <a:rect l="l" t="t" r="r" b="b"/>
              <a:pathLst>
                <a:path w="6350" h="508635">
                  <a:moveTo>
                    <a:pt x="0" y="508504"/>
                  </a:moveTo>
                  <a:lnTo>
                    <a:pt x="5745" y="0"/>
                  </a:lnTo>
                </a:path>
              </a:pathLst>
            </a:custGeom>
            <a:ln w="12599">
              <a:solidFill>
                <a:srgbClr val="434343"/>
              </a:solidFill>
            </a:ln>
          </p:spPr>
          <p:txBody>
            <a:bodyPr wrap="square" lIns="0" tIns="0" rIns="0" bIns="0" rtlCol="0"/>
            <a:lstStyle/>
            <a:p>
              <a:endParaRPr sz="2400"/>
            </a:p>
          </p:txBody>
        </p:sp>
        <p:sp>
          <p:nvSpPr>
            <p:cNvPr id="25" name="object 25"/>
            <p:cNvSpPr/>
            <p:nvPr/>
          </p:nvSpPr>
          <p:spPr>
            <a:xfrm>
              <a:off x="960560" y="2518568"/>
              <a:ext cx="41910" cy="57785"/>
            </a:xfrm>
            <a:custGeom>
              <a:avLst/>
              <a:gdLst/>
              <a:ahLst/>
              <a:cxnLst/>
              <a:rect l="l" t="t" r="r" b="b"/>
              <a:pathLst>
                <a:path w="41909" h="57785">
                  <a:moveTo>
                    <a:pt x="41620" y="57411"/>
                  </a:moveTo>
                  <a:lnTo>
                    <a:pt x="0" y="56941"/>
                  </a:lnTo>
                  <a:lnTo>
                    <a:pt x="21456" y="0"/>
                  </a:lnTo>
                  <a:lnTo>
                    <a:pt x="41620" y="57411"/>
                  </a:lnTo>
                  <a:close/>
                </a:path>
              </a:pathLst>
            </a:custGeom>
            <a:solidFill>
              <a:srgbClr val="434343"/>
            </a:solidFill>
          </p:spPr>
          <p:txBody>
            <a:bodyPr wrap="square" lIns="0" tIns="0" rIns="0" bIns="0" rtlCol="0"/>
            <a:lstStyle/>
            <a:p>
              <a:endParaRPr sz="2400"/>
            </a:p>
          </p:txBody>
        </p:sp>
        <p:sp>
          <p:nvSpPr>
            <p:cNvPr id="26" name="object 26"/>
            <p:cNvSpPr/>
            <p:nvPr/>
          </p:nvSpPr>
          <p:spPr>
            <a:xfrm>
              <a:off x="960560" y="2518568"/>
              <a:ext cx="41910" cy="57785"/>
            </a:xfrm>
            <a:custGeom>
              <a:avLst/>
              <a:gdLst/>
              <a:ahLst/>
              <a:cxnLst/>
              <a:rect l="l" t="t" r="r" b="b"/>
              <a:pathLst>
                <a:path w="41909" h="57785">
                  <a:moveTo>
                    <a:pt x="41620" y="57411"/>
                  </a:moveTo>
                  <a:lnTo>
                    <a:pt x="21456" y="0"/>
                  </a:lnTo>
                  <a:lnTo>
                    <a:pt x="0" y="56941"/>
                  </a:lnTo>
                  <a:lnTo>
                    <a:pt x="41620" y="57411"/>
                  </a:lnTo>
                  <a:close/>
                </a:path>
              </a:pathLst>
            </a:custGeom>
            <a:ln w="12599">
              <a:solidFill>
                <a:srgbClr val="434343"/>
              </a:solidFill>
            </a:ln>
          </p:spPr>
          <p:txBody>
            <a:bodyPr wrap="square" lIns="0" tIns="0" rIns="0" bIns="0" rtlCol="0"/>
            <a:lstStyle/>
            <a:p>
              <a:endParaRPr sz="2400"/>
            </a:p>
          </p:txBody>
        </p:sp>
        <p:sp>
          <p:nvSpPr>
            <p:cNvPr id="27" name="object 27"/>
            <p:cNvSpPr/>
            <p:nvPr/>
          </p:nvSpPr>
          <p:spPr>
            <a:xfrm>
              <a:off x="1145939" y="2285202"/>
              <a:ext cx="593090" cy="1270"/>
            </a:xfrm>
            <a:custGeom>
              <a:avLst/>
              <a:gdLst/>
              <a:ahLst/>
              <a:cxnLst/>
              <a:rect l="l" t="t" r="r" b="b"/>
              <a:pathLst>
                <a:path w="593089" h="1269">
                  <a:moveTo>
                    <a:pt x="0" y="0"/>
                  </a:moveTo>
                  <a:lnTo>
                    <a:pt x="592799" y="798"/>
                  </a:lnTo>
                </a:path>
              </a:pathLst>
            </a:custGeom>
            <a:ln w="12599">
              <a:solidFill>
                <a:srgbClr val="595959"/>
              </a:solidFill>
            </a:ln>
          </p:spPr>
          <p:txBody>
            <a:bodyPr wrap="square" lIns="0" tIns="0" rIns="0" bIns="0" rtlCol="0"/>
            <a:lstStyle/>
            <a:p>
              <a:endParaRPr sz="2400"/>
            </a:p>
          </p:txBody>
        </p:sp>
        <p:sp>
          <p:nvSpPr>
            <p:cNvPr id="28" name="object 28"/>
            <p:cNvSpPr/>
            <p:nvPr/>
          </p:nvSpPr>
          <p:spPr>
            <a:xfrm>
              <a:off x="1738711" y="2265188"/>
              <a:ext cx="57785" cy="41910"/>
            </a:xfrm>
            <a:custGeom>
              <a:avLst/>
              <a:gdLst/>
              <a:ahLst/>
              <a:cxnLst/>
              <a:rect l="l" t="t" r="r" b="b"/>
              <a:pathLst>
                <a:path w="57785" h="41910">
                  <a:moveTo>
                    <a:pt x="0" y="41623"/>
                  </a:moveTo>
                  <a:lnTo>
                    <a:pt x="55" y="0"/>
                  </a:lnTo>
                  <a:lnTo>
                    <a:pt x="57207" y="20888"/>
                  </a:lnTo>
                  <a:lnTo>
                    <a:pt x="0" y="41623"/>
                  </a:lnTo>
                  <a:close/>
                </a:path>
              </a:pathLst>
            </a:custGeom>
            <a:solidFill>
              <a:srgbClr val="595959"/>
            </a:solidFill>
          </p:spPr>
          <p:txBody>
            <a:bodyPr wrap="square" lIns="0" tIns="0" rIns="0" bIns="0" rtlCol="0"/>
            <a:lstStyle/>
            <a:p>
              <a:endParaRPr sz="2400"/>
            </a:p>
          </p:txBody>
        </p:sp>
        <p:sp>
          <p:nvSpPr>
            <p:cNvPr id="29" name="object 29"/>
            <p:cNvSpPr/>
            <p:nvPr/>
          </p:nvSpPr>
          <p:spPr>
            <a:xfrm>
              <a:off x="1738711" y="2265188"/>
              <a:ext cx="57785" cy="41910"/>
            </a:xfrm>
            <a:custGeom>
              <a:avLst/>
              <a:gdLst/>
              <a:ahLst/>
              <a:cxnLst/>
              <a:rect l="l" t="t" r="r" b="b"/>
              <a:pathLst>
                <a:path w="57785" h="41910">
                  <a:moveTo>
                    <a:pt x="0" y="41623"/>
                  </a:moveTo>
                  <a:lnTo>
                    <a:pt x="57207" y="20888"/>
                  </a:lnTo>
                  <a:lnTo>
                    <a:pt x="55" y="0"/>
                  </a:lnTo>
                  <a:lnTo>
                    <a:pt x="0" y="41623"/>
                  </a:lnTo>
                  <a:close/>
                </a:path>
              </a:pathLst>
            </a:custGeom>
            <a:ln w="12599">
              <a:solidFill>
                <a:srgbClr val="595959"/>
              </a:solidFill>
            </a:ln>
          </p:spPr>
          <p:txBody>
            <a:bodyPr wrap="square" lIns="0" tIns="0" rIns="0" bIns="0" rtlCol="0"/>
            <a:lstStyle/>
            <a:p>
              <a:endParaRPr sz="2400"/>
            </a:p>
          </p:txBody>
        </p:sp>
        <p:pic>
          <p:nvPicPr>
            <p:cNvPr id="30" name="object 30"/>
            <p:cNvPicPr/>
            <p:nvPr/>
          </p:nvPicPr>
          <p:blipFill>
            <a:blip r:embed="rId2" cstate="print"/>
            <a:stretch>
              <a:fillRect/>
            </a:stretch>
          </p:blipFill>
          <p:spPr>
            <a:xfrm>
              <a:off x="1007862" y="1687760"/>
              <a:ext cx="915893" cy="534263"/>
            </a:xfrm>
            <a:prstGeom prst="rect">
              <a:avLst/>
            </a:prstGeom>
          </p:spPr>
        </p:pic>
        <p:sp>
          <p:nvSpPr>
            <p:cNvPr id="31" name="object 31"/>
            <p:cNvSpPr/>
            <p:nvPr/>
          </p:nvSpPr>
          <p:spPr>
            <a:xfrm>
              <a:off x="1253899" y="1718917"/>
              <a:ext cx="462280" cy="203200"/>
            </a:xfrm>
            <a:custGeom>
              <a:avLst/>
              <a:gdLst/>
              <a:ahLst/>
              <a:cxnLst/>
              <a:rect l="l" t="t" r="r" b="b"/>
              <a:pathLst>
                <a:path w="462280" h="203200">
                  <a:moveTo>
                    <a:pt x="461999" y="203099"/>
                  </a:moveTo>
                  <a:lnTo>
                    <a:pt x="0" y="203099"/>
                  </a:lnTo>
                  <a:lnTo>
                    <a:pt x="0" y="0"/>
                  </a:lnTo>
                  <a:lnTo>
                    <a:pt x="461999" y="0"/>
                  </a:lnTo>
                  <a:lnTo>
                    <a:pt x="461999" y="203099"/>
                  </a:lnTo>
                  <a:close/>
                </a:path>
              </a:pathLst>
            </a:custGeom>
            <a:solidFill>
              <a:srgbClr val="EBFAFF"/>
            </a:solidFill>
          </p:spPr>
          <p:txBody>
            <a:bodyPr wrap="square" lIns="0" tIns="0" rIns="0" bIns="0" rtlCol="0"/>
            <a:lstStyle/>
            <a:p>
              <a:endParaRPr sz="2400"/>
            </a:p>
          </p:txBody>
        </p:sp>
        <p:sp>
          <p:nvSpPr>
            <p:cNvPr id="32" name="object 32"/>
            <p:cNvSpPr/>
            <p:nvPr/>
          </p:nvSpPr>
          <p:spPr>
            <a:xfrm>
              <a:off x="3407083" y="1099869"/>
              <a:ext cx="2160270" cy="300355"/>
            </a:xfrm>
            <a:custGeom>
              <a:avLst/>
              <a:gdLst/>
              <a:ahLst/>
              <a:cxnLst/>
              <a:rect l="l" t="t" r="r" b="b"/>
              <a:pathLst>
                <a:path w="2160270" h="300355">
                  <a:moveTo>
                    <a:pt x="0" y="299804"/>
                  </a:moveTo>
                  <a:lnTo>
                    <a:pt x="2159699" y="299804"/>
                  </a:lnTo>
                  <a:lnTo>
                    <a:pt x="2159699" y="0"/>
                  </a:lnTo>
                  <a:lnTo>
                    <a:pt x="0" y="0"/>
                  </a:lnTo>
                  <a:lnTo>
                    <a:pt x="0" y="299804"/>
                  </a:lnTo>
                  <a:close/>
                </a:path>
              </a:pathLst>
            </a:custGeom>
            <a:solidFill>
              <a:srgbClr val="F4C4D1"/>
            </a:solidFill>
          </p:spPr>
          <p:txBody>
            <a:bodyPr wrap="square" lIns="0" tIns="0" rIns="0" bIns="0" rtlCol="0"/>
            <a:lstStyle/>
            <a:p>
              <a:endParaRPr sz="2400"/>
            </a:p>
          </p:txBody>
        </p:sp>
        <p:sp>
          <p:nvSpPr>
            <p:cNvPr id="33" name="object 33"/>
            <p:cNvSpPr/>
            <p:nvPr/>
          </p:nvSpPr>
          <p:spPr>
            <a:xfrm>
              <a:off x="3407083" y="1099869"/>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34" name="object 34"/>
            <p:cNvSpPr/>
            <p:nvPr/>
          </p:nvSpPr>
          <p:spPr>
            <a:xfrm>
              <a:off x="5466022" y="1399673"/>
              <a:ext cx="100965" cy="1225550"/>
            </a:xfrm>
            <a:custGeom>
              <a:avLst/>
              <a:gdLst/>
              <a:ahLst/>
              <a:cxnLst/>
              <a:rect l="l" t="t" r="r" b="b"/>
              <a:pathLst>
                <a:path w="100964" h="1225550">
                  <a:moveTo>
                    <a:pt x="0" y="1225499"/>
                  </a:moveTo>
                  <a:lnTo>
                    <a:pt x="100827" y="1225499"/>
                  </a:lnTo>
                  <a:lnTo>
                    <a:pt x="100827" y="0"/>
                  </a:lnTo>
                  <a:lnTo>
                    <a:pt x="0" y="0"/>
                  </a:lnTo>
                  <a:lnTo>
                    <a:pt x="0" y="1225499"/>
                  </a:lnTo>
                  <a:close/>
                </a:path>
              </a:pathLst>
            </a:custGeom>
            <a:solidFill>
              <a:srgbClr val="EBFAFF"/>
            </a:solidFill>
          </p:spPr>
          <p:txBody>
            <a:bodyPr wrap="square" lIns="0" tIns="0" rIns="0" bIns="0" rtlCol="0"/>
            <a:lstStyle/>
            <a:p>
              <a:endParaRPr sz="2400"/>
            </a:p>
          </p:txBody>
        </p:sp>
        <p:sp>
          <p:nvSpPr>
            <p:cNvPr id="35" name="object 35"/>
            <p:cNvSpPr/>
            <p:nvPr/>
          </p:nvSpPr>
          <p:spPr>
            <a:xfrm>
              <a:off x="3407149" y="1399673"/>
              <a:ext cx="2160270" cy="1225550"/>
            </a:xfrm>
            <a:custGeom>
              <a:avLst/>
              <a:gdLst/>
              <a:ahLst/>
              <a:cxnLst/>
              <a:rect l="l" t="t" r="r" b="b"/>
              <a:pathLst>
                <a:path w="2160270" h="1225550">
                  <a:moveTo>
                    <a:pt x="2159699" y="0"/>
                  </a:moveTo>
                  <a:lnTo>
                    <a:pt x="2159699" y="1225499"/>
                  </a:lnTo>
                  <a:lnTo>
                    <a:pt x="0" y="12254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36" name="object 36"/>
            <p:cNvSpPr/>
            <p:nvPr/>
          </p:nvSpPr>
          <p:spPr>
            <a:xfrm>
              <a:off x="3306322" y="1200630"/>
              <a:ext cx="2160270" cy="299720"/>
            </a:xfrm>
            <a:custGeom>
              <a:avLst/>
              <a:gdLst/>
              <a:ahLst/>
              <a:cxnLst/>
              <a:rect l="l" t="t" r="r" b="b"/>
              <a:pathLst>
                <a:path w="2160270" h="299719">
                  <a:moveTo>
                    <a:pt x="0" y="299446"/>
                  </a:moveTo>
                  <a:lnTo>
                    <a:pt x="2159699" y="299446"/>
                  </a:lnTo>
                  <a:lnTo>
                    <a:pt x="2159699" y="0"/>
                  </a:lnTo>
                  <a:lnTo>
                    <a:pt x="0" y="0"/>
                  </a:lnTo>
                  <a:lnTo>
                    <a:pt x="0" y="299446"/>
                  </a:lnTo>
                  <a:close/>
                </a:path>
              </a:pathLst>
            </a:custGeom>
            <a:solidFill>
              <a:srgbClr val="F4C4D1"/>
            </a:solidFill>
          </p:spPr>
          <p:txBody>
            <a:bodyPr wrap="square" lIns="0" tIns="0" rIns="0" bIns="0" rtlCol="0"/>
            <a:lstStyle/>
            <a:p>
              <a:endParaRPr sz="2400"/>
            </a:p>
          </p:txBody>
        </p:sp>
        <p:sp>
          <p:nvSpPr>
            <p:cNvPr id="37" name="object 37"/>
            <p:cNvSpPr/>
            <p:nvPr/>
          </p:nvSpPr>
          <p:spPr>
            <a:xfrm>
              <a:off x="3306322" y="1200630"/>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38" name="object 38"/>
            <p:cNvSpPr/>
            <p:nvPr/>
          </p:nvSpPr>
          <p:spPr>
            <a:xfrm>
              <a:off x="5365261" y="1500076"/>
              <a:ext cx="100965" cy="1225550"/>
            </a:xfrm>
            <a:custGeom>
              <a:avLst/>
              <a:gdLst/>
              <a:ahLst/>
              <a:cxnLst/>
              <a:rect l="l" t="t" r="r" b="b"/>
              <a:pathLst>
                <a:path w="100964" h="1225550">
                  <a:moveTo>
                    <a:pt x="0" y="1225499"/>
                  </a:moveTo>
                  <a:lnTo>
                    <a:pt x="100838" y="1225499"/>
                  </a:lnTo>
                  <a:lnTo>
                    <a:pt x="100838" y="0"/>
                  </a:lnTo>
                  <a:lnTo>
                    <a:pt x="0" y="0"/>
                  </a:lnTo>
                  <a:lnTo>
                    <a:pt x="0" y="1225499"/>
                  </a:lnTo>
                  <a:close/>
                </a:path>
              </a:pathLst>
            </a:custGeom>
            <a:solidFill>
              <a:srgbClr val="EBFAFF"/>
            </a:solidFill>
          </p:spPr>
          <p:txBody>
            <a:bodyPr wrap="square" lIns="0" tIns="0" rIns="0" bIns="0" rtlCol="0"/>
            <a:lstStyle/>
            <a:p>
              <a:endParaRPr sz="2400"/>
            </a:p>
          </p:txBody>
        </p:sp>
        <p:sp>
          <p:nvSpPr>
            <p:cNvPr id="39" name="object 39"/>
            <p:cNvSpPr/>
            <p:nvPr/>
          </p:nvSpPr>
          <p:spPr>
            <a:xfrm>
              <a:off x="3306399" y="1500076"/>
              <a:ext cx="2160270" cy="1225550"/>
            </a:xfrm>
            <a:custGeom>
              <a:avLst/>
              <a:gdLst/>
              <a:ahLst/>
              <a:cxnLst/>
              <a:rect l="l" t="t" r="r" b="b"/>
              <a:pathLst>
                <a:path w="2160270" h="1225550">
                  <a:moveTo>
                    <a:pt x="2159699" y="0"/>
                  </a:moveTo>
                  <a:lnTo>
                    <a:pt x="2159699" y="1225499"/>
                  </a:lnTo>
                  <a:lnTo>
                    <a:pt x="0" y="12254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40" name="object 40"/>
            <p:cNvSpPr/>
            <p:nvPr/>
          </p:nvSpPr>
          <p:spPr>
            <a:xfrm>
              <a:off x="3205562" y="1301391"/>
              <a:ext cx="2160270" cy="298450"/>
            </a:xfrm>
            <a:custGeom>
              <a:avLst/>
              <a:gdLst/>
              <a:ahLst/>
              <a:cxnLst/>
              <a:rect l="l" t="t" r="r" b="b"/>
              <a:pathLst>
                <a:path w="2160270" h="298450">
                  <a:moveTo>
                    <a:pt x="0" y="298333"/>
                  </a:moveTo>
                  <a:lnTo>
                    <a:pt x="2159699" y="298333"/>
                  </a:lnTo>
                  <a:lnTo>
                    <a:pt x="2159699" y="0"/>
                  </a:lnTo>
                  <a:lnTo>
                    <a:pt x="0" y="0"/>
                  </a:lnTo>
                  <a:lnTo>
                    <a:pt x="0" y="298333"/>
                  </a:lnTo>
                  <a:close/>
                </a:path>
              </a:pathLst>
            </a:custGeom>
            <a:solidFill>
              <a:srgbClr val="F4C4D1"/>
            </a:solidFill>
          </p:spPr>
          <p:txBody>
            <a:bodyPr wrap="square" lIns="0" tIns="0" rIns="0" bIns="0" rtlCol="0"/>
            <a:lstStyle/>
            <a:p>
              <a:endParaRPr sz="2400"/>
            </a:p>
          </p:txBody>
        </p:sp>
        <p:sp>
          <p:nvSpPr>
            <p:cNvPr id="41" name="object 41"/>
            <p:cNvSpPr/>
            <p:nvPr/>
          </p:nvSpPr>
          <p:spPr>
            <a:xfrm>
              <a:off x="3205562" y="1301391"/>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42" name="object 42"/>
            <p:cNvSpPr/>
            <p:nvPr/>
          </p:nvSpPr>
          <p:spPr>
            <a:xfrm>
              <a:off x="3205625" y="1599724"/>
              <a:ext cx="2160270" cy="1226820"/>
            </a:xfrm>
            <a:custGeom>
              <a:avLst/>
              <a:gdLst/>
              <a:ahLst/>
              <a:cxnLst/>
              <a:rect l="l" t="t" r="r" b="b"/>
              <a:pathLst>
                <a:path w="2160270" h="1226820">
                  <a:moveTo>
                    <a:pt x="2159699" y="1226400"/>
                  </a:moveTo>
                  <a:lnTo>
                    <a:pt x="0" y="1226400"/>
                  </a:lnTo>
                  <a:lnTo>
                    <a:pt x="0" y="0"/>
                  </a:lnTo>
                  <a:lnTo>
                    <a:pt x="2159699" y="0"/>
                  </a:lnTo>
                  <a:lnTo>
                    <a:pt x="2159699" y="1226400"/>
                  </a:lnTo>
                  <a:close/>
                </a:path>
              </a:pathLst>
            </a:custGeom>
            <a:solidFill>
              <a:srgbClr val="EBFAFF"/>
            </a:solidFill>
          </p:spPr>
          <p:txBody>
            <a:bodyPr wrap="square" lIns="0" tIns="0" rIns="0" bIns="0" rtlCol="0"/>
            <a:lstStyle/>
            <a:p>
              <a:endParaRPr sz="2400"/>
            </a:p>
          </p:txBody>
        </p:sp>
        <p:sp>
          <p:nvSpPr>
            <p:cNvPr id="43" name="object 43"/>
            <p:cNvSpPr/>
            <p:nvPr/>
          </p:nvSpPr>
          <p:spPr>
            <a:xfrm>
              <a:off x="3205625" y="1599724"/>
              <a:ext cx="2160270" cy="1226820"/>
            </a:xfrm>
            <a:custGeom>
              <a:avLst/>
              <a:gdLst/>
              <a:ahLst/>
              <a:cxnLst/>
              <a:rect l="l" t="t" r="r" b="b"/>
              <a:pathLst>
                <a:path w="2160270" h="1226820">
                  <a:moveTo>
                    <a:pt x="2159699" y="0"/>
                  </a:moveTo>
                  <a:lnTo>
                    <a:pt x="2159699" y="1226400"/>
                  </a:lnTo>
                  <a:lnTo>
                    <a:pt x="0" y="1226400"/>
                  </a:lnTo>
                  <a:lnTo>
                    <a:pt x="0" y="0"/>
                  </a:lnTo>
                  <a:lnTo>
                    <a:pt x="2159699" y="0"/>
                  </a:lnTo>
                  <a:close/>
                </a:path>
              </a:pathLst>
            </a:custGeom>
            <a:ln w="12599">
              <a:solidFill>
                <a:srgbClr val="237A94"/>
              </a:solidFill>
            </a:ln>
          </p:spPr>
          <p:txBody>
            <a:bodyPr wrap="square" lIns="0" tIns="0" rIns="0" bIns="0" rtlCol="0"/>
            <a:lstStyle/>
            <a:p>
              <a:endParaRPr sz="2400"/>
            </a:p>
          </p:txBody>
        </p:sp>
        <p:sp>
          <p:nvSpPr>
            <p:cNvPr id="44" name="object 44"/>
            <p:cNvSpPr/>
            <p:nvPr/>
          </p:nvSpPr>
          <p:spPr>
            <a:xfrm>
              <a:off x="2646484" y="2141555"/>
              <a:ext cx="453390" cy="1270"/>
            </a:xfrm>
            <a:custGeom>
              <a:avLst/>
              <a:gdLst/>
              <a:ahLst/>
              <a:cxnLst/>
              <a:rect l="l" t="t" r="r" b="b"/>
              <a:pathLst>
                <a:path w="453389" h="1269">
                  <a:moveTo>
                    <a:pt x="0" y="1197"/>
                  </a:moveTo>
                  <a:lnTo>
                    <a:pt x="453000" y="0"/>
                  </a:lnTo>
                </a:path>
              </a:pathLst>
            </a:custGeom>
            <a:ln w="19049">
              <a:solidFill>
                <a:srgbClr val="257693"/>
              </a:solidFill>
            </a:ln>
          </p:spPr>
          <p:txBody>
            <a:bodyPr wrap="square" lIns="0" tIns="0" rIns="0" bIns="0" rtlCol="0"/>
            <a:lstStyle/>
            <a:p>
              <a:endParaRPr sz="2400"/>
            </a:p>
          </p:txBody>
        </p:sp>
        <p:pic>
          <p:nvPicPr>
            <p:cNvPr id="45" name="object 45"/>
            <p:cNvPicPr/>
            <p:nvPr/>
          </p:nvPicPr>
          <p:blipFill>
            <a:blip r:embed="rId3" cstate="print"/>
            <a:stretch>
              <a:fillRect/>
            </a:stretch>
          </p:blipFill>
          <p:spPr>
            <a:xfrm>
              <a:off x="3089877" y="2100565"/>
              <a:ext cx="105583" cy="81980"/>
            </a:xfrm>
            <a:prstGeom prst="rect">
              <a:avLst/>
            </a:prstGeom>
          </p:spPr>
        </p:pic>
        <p:sp>
          <p:nvSpPr>
            <p:cNvPr id="46" name="object 46"/>
            <p:cNvSpPr/>
            <p:nvPr/>
          </p:nvSpPr>
          <p:spPr>
            <a:xfrm>
              <a:off x="3740933" y="2285195"/>
              <a:ext cx="1007110" cy="0"/>
            </a:xfrm>
            <a:custGeom>
              <a:avLst/>
              <a:gdLst/>
              <a:ahLst/>
              <a:cxnLst/>
              <a:rect l="l" t="t" r="r" b="b"/>
              <a:pathLst>
                <a:path w="1007110">
                  <a:moveTo>
                    <a:pt x="0" y="0"/>
                  </a:moveTo>
                  <a:lnTo>
                    <a:pt x="1006799" y="0"/>
                  </a:lnTo>
                </a:path>
              </a:pathLst>
            </a:custGeom>
            <a:ln w="12599">
              <a:solidFill>
                <a:srgbClr val="595959"/>
              </a:solidFill>
            </a:ln>
          </p:spPr>
          <p:txBody>
            <a:bodyPr wrap="square" lIns="0" tIns="0" rIns="0" bIns="0" rtlCol="0"/>
            <a:lstStyle/>
            <a:p>
              <a:endParaRPr sz="2400"/>
            </a:p>
          </p:txBody>
        </p:sp>
        <p:sp>
          <p:nvSpPr>
            <p:cNvPr id="47" name="object 47"/>
            <p:cNvSpPr/>
            <p:nvPr/>
          </p:nvSpPr>
          <p:spPr>
            <a:xfrm>
              <a:off x="4747733" y="2264383"/>
              <a:ext cx="57785" cy="41910"/>
            </a:xfrm>
            <a:custGeom>
              <a:avLst/>
              <a:gdLst/>
              <a:ahLst/>
              <a:cxnLst/>
              <a:rect l="l" t="t" r="r" b="b"/>
              <a:pathLst>
                <a:path w="57785" h="41910">
                  <a:moveTo>
                    <a:pt x="0" y="41623"/>
                  </a:moveTo>
                  <a:lnTo>
                    <a:pt x="0" y="0"/>
                  </a:lnTo>
                  <a:lnTo>
                    <a:pt x="57180" y="20811"/>
                  </a:lnTo>
                  <a:lnTo>
                    <a:pt x="0" y="41623"/>
                  </a:lnTo>
                  <a:close/>
                </a:path>
              </a:pathLst>
            </a:custGeom>
            <a:solidFill>
              <a:srgbClr val="595959"/>
            </a:solidFill>
          </p:spPr>
          <p:txBody>
            <a:bodyPr wrap="square" lIns="0" tIns="0" rIns="0" bIns="0" rtlCol="0"/>
            <a:lstStyle/>
            <a:p>
              <a:endParaRPr sz="2400"/>
            </a:p>
          </p:txBody>
        </p:sp>
        <p:sp>
          <p:nvSpPr>
            <p:cNvPr id="48" name="object 48"/>
            <p:cNvSpPr/>
            <p:nvPr/>
          </p:nvSpPr>
          <p:spPr>
            <a:xfrm>
              <a:off x="4747733" y="2264383"/>
              <a:ext cx="57785" cy="41910"/>
            </a:xfrm>
            <a:custGeom>
              <a:avLst/>
              <a:gdLst/>
              <a:ahLst/>
              <a:cxnLst/>
              <a:rect l="l" t="t" r="r" b="b"/>
              <a:pathLst>
                <a:path w="57785" h="41910">
                  <a:moveTo>
                    <a:pt x="0" y="41623"/>
                  </a:moveTo>
                  <a:lnTo>
                    <a:pt x="57180" y="20811"/>
                  </a:lnTo>
                  <a:lnTo>
                    <a:pt x="0" y="0"/>
                  </a:lnTo>
                  <a:lnTo>
                    <a:pt x="0" y="41623"/>
                  </a:lnTo>
                  <a:close/>
                </a:path>
              </a:pathLst>
            </a:custGeom>
            <a:ln w="12599">
              <a:solidFill>
                <a:srgbClr val="595959"/>
              </a:solidFill>
            </a:ln>
          </p:spPr>
          <p:txBody>
            <a:bodyPr wrap="square" lIns="0" tIns="0" rIns="0" bIns="0" rtlCol="0"/>
            <a:lstStyle/>
            <a:p>
              <a:endParaRPr sz="2400"/>
            </a:p>
          </p:txBody>
        </p:sp>
        <p:sp>
          <p:nvSpPr>
            <p:cNvPr id="49" name="object 49"/>
            <p:cNvSpPr/>
            <p:nvPr/>
          </p:nvSpPr>
          <p:spPr>
            <a:xfrm>
              <a:off x="6226683" y="1099869"/>
              <a:ext cx="2160270" cy="299085"/>
            </a:xfrm>
            <a:custGeom>
              <a:avLst/>
              <a:gdLst/>
              <a:ahLst/>
              <a:cxnLst/>
              <a:rect l="l" t="t" r="r" b="b"/>
              <a:pathLst>
                <a:path w="2160270" h="299084">
                  <a:moveTo>
                    <a:pt x="0" y="298954"/>
                  </a:moveTo>
                  <a:lnTo>
                    <a:pt x="2159699" y="298954"/>
                  </a:lnTo>
                  <a:lnTo>
                    <a:pt x="2159699" y="0"/>
                  </a:lnTo>
                  <a:lnTo>
                    <a:pt x="0" y="0"/>
                  </a:lnTo>
                  <a:lnTo>
                    <a:pt x="0" y="298954"/>
                  </a:lnTo>
                  <a:close/>
                </a:path>
              </a:pathLst>
            </a:custGeom>
            <a:solidFill>
              <a:srgbClr val="F4C4D1"/>
            </a:solidFill>
          </p:spPr>
          <p:txBody>
            <a:bodyPr wrap="square" lIns="0" tIns="0" rIns="0" bIns="0" rtlCol="0"/>
            <a:lstStyle/>
            <a:p>
              <a:endParaRPr sz="2400"/>
            </a:p>
          </p:txBody>
        </p:sp>
        <p:sp>
          <p:nvSpPr>
            <p:cNvPr id="50" name="object 50"/>
            <p:cNvSpPr/>
            <p:nvPr/>
          </p:nvSpPr>
          <p:spPr>
            <a:xfrm>
              <a:off x="6226683" y="1099869"/>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51" name="object 51"/>
            <p:cNvSpPr/>
            <p:nvPr/>
          </p:nvSpPr>
          <p:spPr>
            <a:xfrm>
              <a:off x="8285622" y="1398823"/>
              <a:ext cx="100965" cy="1225550"/>
            </a:xfrm>
            <a:custGeom>
              <a:avLst/>
              <a:gdLst/>
              <a:ahLst/>
              <a:cxnLst/>
              <a:rect l="l" t="t" r="r" b="b"/>
              <a:pathLst>
                <a:path w="100965" h="1225550">
                  <a:moveTo>
                    <a:pt x="0" y="1225499"/>
                  </a:moveTo>
                  <a:lnTo>
                    <a:pt x="100827" y="1225499"/>
                  </a:lnTo>
                  <a:lnTo>
                    <a:pt x="100827" y="0"/>
                  </a:lnTo>
                  <a:lnTo>
                    <a:pt x="0" y="0"/>
                  </a:lnTo>
                  <a:lnTo>
                    <a:pt x="0" y="1225499"/>
                  </a:lnTo>
                  <a:close/>
                </a:path>
              </a:pathLst>
            </a:custGeom>
            <a:solidFill>
              <a:srgbClr val="EBFAFF"/>
            </a:solidFill>
          </p:spPr>
          <p:txBody>
            <a:bodyPr wrap="square" lIns="0" tIns="0" rIns="0" bIns="0" rtlCol="0"/>
            <a:lstStyle/>
            <a:p>
              <a:endParaRPr sz="2400"/>
            </a:p>
          </p:txBody>
        </p:sp>
        <p:sp>
          <p:nvSpPr>
            <p:cNvPr id="52" name="object 52"/>
            <p:cNvSpPr/>
            <p:nvPr/>
          </p:nvSpPr>
          <p:spPr>
            <a:xfrm>
              <a:off x="6226750" y="1398823"/>
              <a:ext cx="2160270" cy="1225550"/>
            </a:xfrm>
            <a:custGeom>
              <a:avLst/>
              <a:gdLst/>
              <a:ahLst/>
              <a:cxnLst/>
              <a:rect l="l" t="t" r="r" b="b"/>
              <a:pathLst>
                <a:path w="2160270" h="1225550">
                  <a:moveTo>
                    <a:pt x="2159699" y="0"/>
                  </a:moveTo>
                  <a:lnTo>
                    <a:pt x="2159699" y="1225499"/>
                  </a:lnTo>
                  <a:lnTo>
                    <a:pt x="0" y="12254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53" name="object 53"/>
            <p:cNvSpPr/>
            <p:nvPr/>
          </p:nvSpPr>
          <p:spPr>
            <a:xfrm>
              <a:off x="6125922" y="1200630"/>
              <a:ext cx="2160270" cy="300355"/>
            </a:xfrm>
            <a:custGeom>
              <a:avLst/>
              <a:gdLst/>
              <a:ahLst/>
              <a:cxnLst/>
              <a:rect l="l" t="t" r="r" b="b"/>
              <a:pathLst>
                <a:path w="2160270" h="300355">
                  <a:moveTo>
                    <a:pt x="0" y="300246"/>
                  </a:moveTo>
                  <a:lnTo>
                    <a:pt x="2159699" y="300246"/>
                  </a:lnTo>
                  <a:lnTo>
                    <a:pt x="2159699" y="0"/>
                  </a:lnTo>
                  <a:lnTo>
                    <a:pt x="0" y="0"/>
                  </a:lnTo>
                  <a:lnTo>
                    <a:pt x="0" y="300246"/>
                  </a:lnTo>
                  <a:close/>
                </a:path>
              </a:pathLst>
            </a:custGeom>
            <a:solidFill>
              <a:srgbClr val="F4C4D1"/>
            </a:solidFill>
          </p:spPr>
          <p:txBody>
            <a:bodyPr wrap="square" lIns="0" tIns="0" rIns="0" bIns="0" rtlCol="0"/>
            <a:lstStyle/>
            <a:p>
              <a:endParaRPr sz="2400"/>
            </a:p>
          </p:txBody>
        </p:sp>
        <p:sp>
          <p:nvSpPr>
            <p:cNvPr id="54" name="object 54"/>
            <p:cNvSpPr/>
            <p:nvPr/>
          </p:nvSpPr>
          <p:spPr>
            <a:xfrm>
              <a:off x="6125922" y="1200630"/>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55" name="object 55"/>
            <p:cNvSpPr/>
            <p:nvPr/>
          </p:nvSpPr>
          <p:spPr>
            <a:xfrm>
              <a:off x="8184861" y="1500876"/>
              <a:ext cx="100965" cy="1224915"/>
            </a:xfrm>
            <a:custGeom>
              <a:avLst/>
              <a:gdLst/>
              <a:ahLst/>
              <a:cxnLst/>
              <a:rect l="l" t="t" r="r" b="b"/>
              <a:pathLst>
                <a:path w="100965" h="1224914">
                  <a:moveTo>
                    <a:pt x="0" y="1224299"/>
                  </a:moveTo>
                  <a:lnTo>
                    <a:pt x="100838" y="1224299"/>
                  </a:lnTo>
                  <a:lnTo>
                    <a:pt x="100838" y="0"/>
                  </a:lnTo>
                  <a:lnTo>
                    <a:pt x="0" y="0"/>
                  </a:lnTo>
                  <a:lnTo>
                    <a:pt x="0" y="1224299"/>
                  </a:lnTo>
                  <a:close/>
                </a:path>
              </a:pathLst>
            </a:custGeom>
            <a:solidFill>
              <a:srgbClr val="EBFAFF"/>
            </a:solidFill>
          </p:spPr>
          <p:txBody>
            <a:bodyPr wrap="square" lIns="0" tIns="0" rIns="0" bIns="0" rtlCol="0"/>
            <a:lstStyle/>
            <a:p>
              <a:endParaRPr sz="2400"/>
            </a:p>
          </p:txBody>
        </p:sp>
        <p:sp>
          <p:nvSpPr>
            <p:cNvPr id="56" name="object 56"/>
            <p:cNvSpPr/>
            <p:nvPr/>
          </p:nvSpPr>
          <p:spPr>
            <a:xfrm>
              <a:off x="6126000" y="1500876"/>
              <a:ext cx="2160270" cy="1224915"/>
            </a:xfrm>
            <a:custGeom>
              <a:avLst/>
              <a:gdLst/>
              <a:ahLst/>
              <a:cxnLst/>
              <a:rect l="l" t="t" r="r" b="b"/>
              <a:pathLst>
                <a:path w="2160270" h="1224914">
                  <a:moveTo>
                    <a:pt x="2159699" y="0"/>
                  </a:moveTo>
                  <a:lnTo>
                    <a:pt x="2159699" y="1224299"/>
                  </a:lnTo>
                  <a:lnTo>
                    <a:pt x="0" y="12242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57" name="object 57"/>
            <p:cNvSpPr/>
            <p:nvPr/>
          </p:nvSpPr>
          <p:spPr>
            <a:xfrm>
              <a:off x="6025161" y="1301391"/>
              <a:ext cx="2160270" cy="298450"/>
            </a:xfrm>
            <a:custGeom>
              <a:avLst/>
              <a:gdLst/>
              <a:ahLst/>
              <a:cxnLst/>
              <a:rect l="l" t="t" r="r" b="b"/>
              <a:pathLst>
                <a:path w="2160270" h="298450">
                  <a:moveTo>
                    <a:pt x="0" y="298333"/>
                  </a:moveTo>
                  <a:lnTo>
                    <a:pt x="2159699" y="298333"/>
                  </a:lnTo>
                  <a:lnTo>
                    <a:pt x="2159699" y="0"/>
                  </a:lnTo>
                  <a:lnTo>
                    <a:pt x="0" y="0"/>
                  </a:lnTo>
                  <a:lnTo>
                    <a:pt x="0" y="298333"/>
                  </a:lnTo>
                  <a:close/>
                </a:path>
              </a:pathLst>
            </a:custGeom>
            <a:solidFill>
              <a:srgbClr val="F4C4D1"/>
            </a:solidFill>
          </p:spPr>
          <p:txBody>
            <a:bodyPr wrap="square" lIns="0" tIns="0" rIns="0" bIns="0" rtlCol="0"/>
            <a:lstStyle/>
            <a:p>
              <a:endParaRPr sz="2400"/>
            </a:p>
          </p:txBody>
        </p:sp>
        <p:sp>
          <p:nvSpPr>
            <p:cNvPr id="58" name="object 58"/>
            <p:cNvSpPr/>
            <p:nvPr/>
          </p:nvSpPr>
          <p:spPr>
            <a:xfrm>
              <a:off x="6025161" y="1301391"/>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59" name="object 59"/>
            <p:cNvSpPr/>
            <p:nvPr/>
          </p:nvSpPr>
          <p:spPr>
            <a:xfrm>
              <a:off x="6025224" y="1599724"/>
              <a:ext cx="2160270" cy="1226820"/>
            </a:xfrm>
            <a:custGeom>
              <a:avLst/>
              <a:gdLst/>
              <a:ahLst/>
              <a:cxnLst/>
              <a:rect l="l" t="t" r="r" b="b"/>
              <a:pathLst>
                <a:path w="2160270" h="1226820">
                  <a:moveTo>
                    <a:pt x="2159699" y="1226400"/>
                  </a:moveTo>
                  <a:lnTo>
                    <a:pt x="0" y="1226400"/>
                  </a:lnTo>
                  <a:lnTo>
                    <a:pt x="0" y="0"/>
                  </a:lnTo>
                  <a:lnTo>
                    <a:pt x="2159699" y="0"/>
                  </a:lnTo>
                  <a:lnTo>
                    <a:pt x="2159699" y="1226400"/>
                  </a:lnTo>
                  <a:close/>
                </a:path>
              </a:pathLst>
            </a:custGeom>
            <a:solidFill>
              <a:srgbClr val="EBFAFF"/>
            </a:solidFill>
          </p:spPr>
          <p:txBody>
            <a:bodyPr wrap="square" lIns="0" tIns="0" rIns="0" bIns="0" rtlCol="0"/>
            <a:lstStyle/>
            <a:p>
              <a:endParaRPr sz="2400"/>
            </a:p>
          </p:txBody>
        </p:sp>
        <p:sp>
          <p:nvSpPr>
            <p:cNvPr id="60" name="object 60"/>
            <p:cNvSpPr/>
            <p:nvPr/>
          </p:nvSpPr>
          <p:spPr>
            <a:xfrm>
              <a:off x="6025224" y="1599724"/>
              <a:ext cx="2160270" cy="1226820"/>
            </a:xfrm>
            <a:custGeom>
              <a:avLst/>
              <a:gdLst/>
              <a:ahLst/>
              <a:cxnLst/>
              <a:rect l="l" t="t" r="r" b="b"/>
              <a:pathLst>
                <a:path w="2160270" h="1226820">
                  <a:moveTo>
                    <a:pt x="2159699" y="0"/>
                  </a:moveTo>
                  <a:lnTo>
                    <a:pt x="2159699" y="1226400"/>
                  </a:lnTo>
                  <a:lnTo>
                    <a:pt x="0" y="1226400"/>
                  </a:lnTo>
                  <a:lnTo>
                    <a:pt x="0" y="0"/>
                  </a:lnTo>
                  <a:lnTo>
                    <a:pt x="2159699" y="0"/>
                  </a:lnTo>
                  <a:close/>
                </a:path>
              </a:pathLst>
            </a:custGeom>
            <a:ln w="12599">
              <a:solidFill>
                <a:srgbClr val="237A94"/>
              </a:solidFill>
            </a:ln>
          </p:spPr>
          <p:txBody>
            <a:bodyPr wrap="square" lIns="0" tIns="0" rIns="0" bIns="0" rtlCol="0"/>
            <a:lstStyle/>
            <a:p>
              <a:endParaRPr sz="2400"/>
            </a:p>
          </p:txBody>
        </p:sp>
        <p:sp>
          <p:nvSpPr>
            <p:cNvPr id="61" name="object 61"/>
            <p:cNvSpPr/>
            <p:nvPr/>
          </p:nvSpPr>
          <p:spPr>
            <a:xfrm>
              <a:off x="5465884" y="2141555"/>
              <a:ext cx="453390" cy="1270"/>
            </a:xfrm>
            <a:custGeom>
              <a:avLst/>
              <a:gdLst/>
              <a:ahLst/>
              <a:cxnLst/>
              <a:rect l="l" t="t" r="r" b="b"/>
              <a:pathLst>
                <a:path w="453389" h="1269">
                  <a:moveTo>
                    <a:pt x="0" y="1197"/>
                  </a:moveTo>
                  <a:lnTo>
                    <a:pt x="453000" y="0"/>
                  </a:lnTo>
                </a:path>
              </a:pathLst>
            </a:custGeom>
            <a:ln w="19049">
              <a:solidFill>
                <a:srgbClr val="257693"/>
              </a:solidFill>
            </a:ln>
          </p:spPr>
          <p:txBody>
            <a:bodyPr wrap="square" lIns="0" tIns="0" rIns="0" bIns="0" rtlCol="0"/>
            <a:lstStyle/>
            <a:p>
              <a:endParaRPr sz="2400"/>
            </a:p>
          </p:txBody>
        </p:sp>
        <p:pic>
          <p:nvPicPr>
            <p:cNvPr id="62" name="object 62"/>
            <p:cNvPicPr/>
            <p:nvPr/>
          </p:nvPicPr>
          <p:blipFill>
            <a:blip r:embed="rId3" cstate="print"/>
            <a:stretch>
              <a:fillRect/>
            </a:stretch>
          </p:blipFill>
          <p:spPr>
            <a:xfrm>
              <a:off x="5909276" y="2100565"/>
              <a:ext cx="105583" cy="81980"/>
            </a:xfrm>
            <a:prstGeom prst="rect">
              <a:avLst/>
            </a:prstGeom>
          </p:spPr>
        </p:pic>
        <p:sp>
          <p:nvSpPr>
            <p:cNvPr id="63" name="object 63"/>
            <p:cNvSpPr/>
            <p:nvPr/>
          </p:nvSpPr>
          <p:spPr>
            <a:xfrm>
              <a:off x="6529740" y="2073552"/>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64" name="object 64"/>
            <p:cNvSpPr/>
            <p:nvPr/>
          </p:nvSpPr>
          <p:spPr>
            <a:xfrm>
              <a:off x="6529740" y="2073552"/>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5AB46E"/>
              </a:solidFill>
            </a:ln>
          </p:spPr>
          <p:txBody>
            <a:bodyPr wrap="square" lIns="0" tIns="0" rIns="0" bIns="0" rtlCol="0"/>
            <a:lstStyle/>
            <a:p>
              <a:endParaRPr sz="2400"/>
            </a:p>
          </p:txBody>
        </p:sp>
        <p:sp>
          <p:nvSpPr>
            <p:cNvPr id="65" name="object 65"/>
            <p:cNvSpPr/>
            <p:nvPr/>
          </p:nvSpPr>
          <p:spPr>
            <a:xfrm>
              <a:off x="6686000" y="2575838"/>
              <a:ext cx="10160" cy="568960"/>
            </a:xfrm>
            <a:custGeom>
              <a:avLst/>
              <a:gdLst/>
              <a:ahLst/>
              <a:cxnLst/>
              <a:rect l="l" t="t" r="r" b="b"/>
              <a:pathLst>
                <a:path w="10159" h="568960">
                  <a:moveTo>
                    <a:pt x="0" y="568511"/>
                  </a:moveTo>
                  <a:lnTo>
                    <a:pt x="9797" y="0"/>
                  </a:lnTo>
                </a:path>
              </a:pathLst>
            </a:custGeom>
            <a:ln w="12599">
              <a:solidFill>
                <a:srgbClr val="434343"/>
              </a:solidFill>
            </a:ln>
          </p:spPr>
          <p:txBody>
            <a:bodyPr wrap="square" lIns="0" tIns="0" rIns="0" bIns="0" rtlCol="0"/>
            <a:lstStyle/>
            <a:p>
              <a:endParaRPr sz="2400"/>
            </a:p>
          </p:txBody>
        </p:sp>
        <p:sp>
          <p:nvSpPr>
            <p:cNvPr id="66" name="object 66"/>
            <p:cNvSpPr/>
            <p:nvPr/>
          </p:nvSpPr>
          <p:spPr>
            <a:xfrm>
              <a:off x="6674988" y="2518667"/>
              <a:ext cx="41910" cy="57785"/>
            </a:xfrm>
            <a:custGeom>
              <a:avLst/>
              <a:gdLst/>
              <a:ahLst/>
              <a:cxnLst/>
              <a:rect l="l" t="t" r="r" b="b"/>
              <a:pathLst>
                <a:path w="41909" h="57785">
                  <a:moveTo>
                    <a:pt x="41617" y="57530"/>
                  </a:moveTo>
                  <a:lnTo>
                    <a:pt x="0" y="56812"/>
                  </a:lnTo>
                  <a:lnTo>
                    <a:pt x="21794" y="0"/>
                  </a:lnTo>
                  <a:lnTo>
                    <a:pt x="41617" y="57530"/>
                  </a:lnTo>
                  <a:close/>
                </a:path>
              </a:pathLst>
            </a:custGeom>
            <a:solidFill>
              <a:srgbClr val="434343"/>
            </a:solidFill>
          </p:spPr>
          <p:txBody>
            <a:bodyPr wrap="square" lIns="0" tIns="0" rIns="0" bIns="0" rtlCol="0"/>
            <a:lstStyle/>
            <a:p>
              <a:endParaRPr sz="2400"/>
            </a:p>
          </p:txBody>
        </p:sp>
        <p:sp>
          <p:nvSpPr>
            <p:cNvPr id="67" name="object 67"/>
            <p:cNvSpPr/>
            <p:nvPr/>
          </p:nvSpPr>
          <p:spPr>
            <a:xfrm>
              <a:off x="6674988" y="2518667"/>
              <a:ext cx="41910" cy="57785"/>
            </a:xfrm>
            <a:custGeom>
              <a:avLst/>
              <a:gdLst/>
              <a:ahLst/>
              <a:cxnLst/>
              <a:rect l="l" t="t" r="r" b="b"/>
              <a:pathLst>
                <a:path w="41909" h="57785">
                  <a:moveTo>
                    <a:pt x="41617" y="57530"/>
                  </a:moveTo>
                  <a:lnTo>
                    <a:pt x="21794" y="0"/>
                  </a:lnTo>
                  <a:lnTo>
                    <a:pt x="0" y="56812"/>
                  </a:lnTo>
                  <a:lnTo>
                    <a:pt x="41617" y="57530"/>
                  </a:lnTo>
                  <a:close/>
                </a:path>
              </a:pathLst>
            </a:custGeom>
            <a:ln w="12599">
              <a:solidFill>
                <a:srgbClr val="434343"/>
              </a:solidFill>
            </a:ln>
          </p:spPr>
          <p:txBody>
            <a:bodyPr wrap="square" lIns="0" tIns="0" rIns="0" bIns="0" rtlCol="0"/>
            <a:lstStyle/>
            <a:p>
              <a:endParaRPr sz="2400"/>
            </a:p>
          </p:txBody>
        </p:sp>
        <p:sp>
          <p:nvSpPr>
            <p:cNvPr id="68" name="object 68"/>
            <p:cNvSpPr/>
            <p:nvPr/>
          </p:nvSpPr>
          <p:spPr>
            <a:xfrm>
              <a:off x="6866614" y="2284752"/>
              <a:ext cx="593090" cy="1270"/>
            </a:xfrm>
            <a:custGeom>
              <a:avLst/>
              <a:gdLst/>
              <a:ahLst/>
              <a:cxnLst/>
              <a:rect l="l" t="t" r="r" b="b"/>
              <a:pathLst>
                <a:path w="593090" h="1269">
                  <a:moveTo>
                    <a:pt x="0" y="0"/>
                  </a:moveTo>
                  <a:lnTo>
                    <a:pt x="592799" y="798"/>
                  </a:lnTo>
                </a:path>
              </a:pathLst>
            </a:custGeom>
            <a:ln w="12599">
              <a:solidFill>
                <a:srgbClr val="595959"/>
              </a:solidFill>
            </a:ln>
          </p:spPr>
          <p:txBody>
            <a:bodyPr wrap="square" lIns="0" tIns="0" rIns="0" bIns="0" rtlCol="0"/>
            <a:lstStyle/>
            <a:p>
              <a:endParaRPr sz="2400"/>
            </a:p>
          </p:txBody>
        </p:sp>
        <p:sp>
          <p:nvSpPr>
            <p:cNvPr id="69" name="object 69"/>
            <p:cNvSpPr/>
            <p:nvPr/>
          </p:nvSpPr>
          <p:spPr>
            <a:xfrm>
              <a:off x="7459386" y="2264738"/>
              <a:ext cx="57785" cy="41910"/>
            </a:xfrm>
            <a:custGeom>
              <a:avLst/>
              <a:gdLst/>
              <a:ahLst/>
              <a:cxnLst/>
              <a:rect l="l" t="t" r="r" b="b"/>
              <a:pathLst>
                <a:path w="57784" h="41910">
                  <a:moveTo>
                    <a:pt x="0" y="41623"/>
                  </a:moveTo>
                  <a:lnTo>
                    <a:pt x="56" y="0"/>
                  </a:lnTo>
                  <a:lnTo>
                    <a:pt x="57207" y="20888"/>
                  </a:lnTo>
                  <a:lnTo>
                    <a:pt x="0" y="41623"/>
                  </a:lnTo>
                  <a:close/>
                </a:path>
              </a:pathLst>
            </a:custGeom>
            <a:solidFill>
              <a:srgbClr val="595959"/>
            </a:solidFill>
          </p:spPr>
          <p:txBody>
            <a:bodyPr wrap="square" lIns="0" tIns="0" rIns="0" bIns="0" rtlCol="0"/>
            <a:lstStyle/>
            <a:p>
              <a:endParaRPr sz="2400"/>
            </a:p>
          </p:txBody>
        </p:sp>
        <p:sp>
          <p:nvSpPr>
            <p:cNvPr id="70" name="object 70"/>
            <p:cNvSpPr/>
            <p:nvPr/>
          </p:nvSpPr>
          <p:spPr>
            <a:xfrm>
              <a:off x="7459386" y="2264738"/>
              <a:ext cx="57785" cy="41910"/>
            </a:xfrm>
            <a:custGeom>
              <a:avLst/>
              <a:gdLst/>
              <a:ahLst/>
              <a:cxnLst/>
              <a:rect l="l" t="t" r="r" b="b"/>
              <a:pathLst>
                <a:path w="57784" h="41910">
                  <a:moveTo>
                    <a:pt x="0" y="41623"/>
                  </a:moveTo>
                  <a:lnTo>
                    <a:pt x="57207" y="20888"/>
                  </a:lnTo>
                  <a:lnTo>
                    <a:pt x="56" y="0"/>
                  </a:lnTo>
                  <a:lnTo>
                    <a:pt x="0" y="41623"/>
                  </a:lnTo>
                  <a:close/>
                </a:path>
              </a:pathLst>
            </a:custGeom>
            <a:ln w="12599">
              <a:solidFill>
                <a:srgbClr val="595959"/>
              </a:solidFill>
            </a:ln>
          </p:spPr>
          <p:txBody>
            <a:bodyPr wrap="square" lIns="0" tIns="0" rIns="0" bIns="0" rtlCol="0"/>
            <a:lstStyle/>
            <a:p>
              <a:endParaRPr sz="2400"/>
            </a:p>
          </p:txBody>
        </p:sp>
        <p:sp>
          <p:nvSpPr>
            <p:cNvPr id="71" name="object 71"/>
            <p:cNvSpPr/>
            <p:nvPr/>
          </p:nvSpPr>
          <p:spPr>
            <a:xfrm>
              <a:off x="7540696" y="2073545"/>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72" name="object 72"/>
            <p:cNvSpPr/>
            <p:nvPr/>
          </p:nvSpPr>
          <p:spPr>
            <a:xfrm>
              <a:off x="7540696" y="2073545"/>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A12F9D"/>
              </a:solidFill>
            </a:ln>
          </p:spPr>
          <p:txBody>
            <a:bodyPr wrap="square" lIns="0" tIns="0" rIns="0" bIns="0" rtlCol="0"/>
            <a:lstStyle/>
            <a:p>
              <a:endParaRPr sz="2400"/>
            </a:p>
          </p:txBody>
        </p:sp>
      </p:grpSp>
      <p:grpSp>
        <p:nvGrpSpPr>
          <p:cNvPr id="73" name="object 73"/>
          <p:cNvGrpSpPr/>
          <p:nvPr/>
        </p:nvGrpSpPr>
        <p:grpSpPr>
          <a:xfrm>
            <a:off x="294385" y="1005565"/>
            <a:ext cx="11603567" cy="4707467"/>
            <a:chOff x="220788" y="754174"/>
            <a:chExt cx="8702675" cy="3530600"/>
          </a:xfrm>
        </p:grpSpPr>
        <p:sp>
          <p:nvSpPr>
            <p:cNvPr id="74" name="object 74"/>
            <p:cNvSpPr/>
            <p:nvPr/>
          </p:nvSpPr>
          <p:spPr>
            <a:xfrm>
              <a:off x="7719877" y="2496856"/>
              <a:ext cx="0" cy="647065"/>
            </a:xfrm>
            <a:custGeom>
              <a:avLst/>
              <a:gdLst/>
              <a:ahLst/>
              <a:cxnLst/>
              <a:rect l="l" t="t" r="r" b="b"/>
              <a:pathLst>
                <a:path h="647064">
                  <a:moveTo>
                    <a:pt x="0" y="0"/>
                  </a:moveTo>
                  <a:lnTo>
                    <a:pt x="0" y="646799"/>
                  </a:lnTo>
                </a:path>
              </a:pathLst>
            </a:custGeom>
            <a:ln w="12599">
              <a:solidFill>
                <a:srgbClr val="434343"/>
              </a:solidFill>
            </a:ln>
          </p:spPr>
          <p:txBody>
            <a:bodyPr wrap="square" lIns="0" tIns="0" rIns="0" bIns="0" rtlCol="0"/>
            <a:lstStyle/>
            <a:p>
              <a:endParaRPr sz="2400"/>
            </a:p>
          </p:txBody>
        </p:sp>
        <p:sp>
          <p:nvSpPr>
            <p:cNvPr id="75" name="object 75"/>
            <p:cNvSpPr/>
            <p:nvPr/>
          </p:nvSpPr>
          <p:spPr>
            <a:xfrm>
              <a:off x="7699066" y="3143657"/>
              <a:ext cx="41910" cy="57785"/>
            </a:xfrm>
            <a:custGeom>
              <a:avLst/>
              <a:gdLst/>
              <a:ahLst/>
              <a:cxnLst/>
              <a:rect l="l" t="t" r="r" b="b"/>
              <a:pathLst>
                <a:path w="41909" h="57785">
                  <a:moveTo>
                    <a:pt x="20811" y="57180"/>
                  </a:moveTo>
                  <a:lnTo>
                    <a:pt x="0" y="0"/>
                  </a:lnTo>
                  <a:lnTo>
                    <a:pt x="41623" y="0"/>
                  </a:lnTo>
                  <a:lnTo>
                    <a:pt x="20811" y="57180"/>
                  </a:lnTo>
                  <a:close/>
                </a:path>
              </a:pathLst>
            </a:custGeom>
            <a:solidFill>
              <a:srgbClr val="434343"/>
            </a:solidFill>
          </p:spPr>
          <p:txBody>
            <a:bodyPr wrap="square" lIns="0" tIns="0" rIns="0" bIns="0" rtlCol="0"/>
            <a:lstStyle/>
            <a:p>
              <a:endParaRPr sz="2400"/>
            </a:p>
          </p:txBody>
        </p:sp>
        <p:sp>
          <p:nvSpPr>
            <p:cNvPr id="76" name="object 76"/>
            <p:cNvSpPr/>
            <p:nvPr/>
          </p:nvSpPr>
          <p:spPr>
            <a:xfrm>
              <a:off x="7699066" y="3143657"/>
              <a:ext cx="41910" cy="57785"/>
            </a:xfrm>
            <a:custGeom>
              <a:avLst/>
              <a:gdLst/>
              <a:ahLst/>
              <a:cxnLst/>
              <a:rect l="l" t="t" r="r" b="b"/>
              <a:pathLst>
                <a:path w="41909" h="57785">
                  <a:moveTo>
                    <a:pt x="0" y="0"/>
                  </a:moveTo>
                  <a:lnTo>
                    <a:pt x="20811" y="57180"/>
                  </a:lnTo>
                  <a:lnTo>
                    <a:pt x="41623" y="0"/>
                  </a:lnTo>
                  <a:lnTo>
                    <a:pt x="0" y="0"/>
                  </a:lnTo>
                  <a:close/>
                </a:path>
              </a:pathLst>
            </a:custGeom>
            <a:ln w="12599">
              <a:solidFill>
                <a:srgbClr val="434343"/>
              </a:solidFill>
            </a:ln>
          </p:spPr>
          <p:txBody>
            <a:bodyPr wrap="square" lIns="0" tIns="0" rIns="0" bIns="0" rtlCol="0"/>
            <a:lstStyle/>
            <a:p>
              <a:endParaRPr sz="2400"/>
            </a:p>
          </p:txBody>
        </p:sp>
        <p:sp>
          <p:nvSpPr>
            <p:cNvPr id="77" name="object 77"/>
            <p:cNvSpPr/>
            <p:nvPr/>
          </p:nvSpPr>
          <p:spPr>
            <a:xfrm>
              <a:off x="220788" y="754174"/>
              <a:ext cx="8702675" cy="3530600"/>
            </a:xfrm>
            <a:custGeom>
              <a:avLst/>
              <a:gdLst/>
              <a:ahLst/>
              <a:cxnLst/>
              <a:rect l="l" t="t" r="r" b="b"/>
              <a:pathLst>
                <a:path w="8702675" h="3530600">
                  <a:moveTo>
                    <a:pt x="8702400" y="3530399"/>
                  </a:moveTo>
                  <a:lnTo>
                    <a:pt x="0" y="3530399"/>
                  </a:lnTo>
                  <a:lnTo>
                    <a:pt x="0" y="0"/>
                  </a:lnTo>
                  <a:lnTo>
                    <a:pt x="8702400" y="0"/>
                  </a:lnTo>
                  <a:lnTo>
                    <a:pt x="8702400" y="3530399"/>
                  </a:lnTo>
                  <a:close/>
                </a:path>
              </a:pathLst>
            </a:custGeom>
            <a:solidFill>
              <a:srgbClr val="FFFFFF">
                <a:alpha val="79748"/>
              </a:srgbClr>
            </a:solidFill>
          </p:spPr>
          <p:txBody>
            <a:bodyPr wrap="square" lIns="0" tIns="0" rIns="0" bIns="0" rtlCol="0"/>
            <a:lstStyle/>
            <a:p>
              <a:endParaRPr sz="2400"/>
            </a:p>
          </p:txBody>
        </p:sp>
        <p:sp>
          <p:nvSpPr>
            <p:cNvPr id="78" name="object 78"/>
            <p:cNvSpPr/>
            <p:nvPr/>
          </p:nvSpPr>
          <p:spPr>
            <a:xfrm>
              <a:off x="1814346" y="2074345"/>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grpSp>
      <p:sp>
        <p:nvSpPr>
          <p:cNvPr id="79" name="object 79"/>
          <p:cNvSpPr txBox="1"/>
          <p:nvPr/>
        </p:nvSpPr>
        <p:spPr>
          <a:xfrm>
            <a:off x="2419128" y="2765793"/>
            <a:ext cx="441960" cy="454762"/>
          </a:xfrm>
          <a:prstGeom prst="rect">
            <a:avLst/>
          </a:prstGeom>
          <a:ln w="28574">
            <a:solidFill>
              <a:srgbClr val="FFAB40"/>
            </a:solidFill>
          </a:ln>
        </p:spPr>
        <p:txBody>
          <a:bodyPr vert="horz" wrap="square" lIns="0" tIns="94827" rIns="0" bIns="0" rtlCol="0">
            <a:spAutoFit/>
          </a:bodyPr>
          <a:lstStyle/>
          <a:p>
            <a:pPr marL="132077">
              <a:spcBef>
                <a:spcPts val="747"/>
              </a:spcBef>
            </a:pPr>
            <a:r>
              <a:rPr sz="2333" spc="67" dirty="0">
                <a:latin typeface="Lucida Sans Unicode"/>
                <a:cs typeface="Lucida Sans Unicode"/>
              </a:rPr>
              <a:t>S</a:t>
            </a:r>
            <a:endParaRPr sz="2333">
              <a:latin typeface="Lucida Sans Unicode"/>
              <a:cs typeface="Lucida Sans Unicode"/>
            </a:endParaRPr>
          </a:p>
        </p:txBody>
      </p:sp>
      <p:grpSp>
        <p:nvGrpSpPr>
          <p:cNvPr id="80" name="object 80"/>
          <p:cNvGrpSpPr/>
          <p:nvPr/>
        </p:nvGrpSpPr>
        <p:grpSpPr>
          <a:xfrm>
            <a:off x="1828851" y="3323843"/>
            <a:ext cx="1622213" cy="2388447"/>
            <a:chOff x="1371638" y="2492882"/>
            <a:chExt cx="1216660" cy="1791335"/>
          </a:xfrm>
        </p:grpSpPr>
        <p:sp>
          <p:nvSpPr>
            <p:cNvPr id="81" name="object 81"/>
            <p:cNvSpPr/>
            <p:nvPr/>
          </p:nvSpPr>
          <p:spPr>
            <a:xfrm>
              <a:off x="1979946" y="2497645"/>
              <a:ext cx="0" cy="534670"/>
            </a:xfrm>
            <a:custGeom>
              <a:avLst/>
              <a:gdLst/>
              <a:ahLst/>
              <a:cxnLst/>
              <a:rect l="l" t="t" r="r" b="b"/>
              <a:pathLst>
                <a:path h="534669">
                  <a:moveTo>
                    <a:pt x="0" y="0"/>
                  </a:moveTo>
                  <a:lnTo>
                    <a:pt x="0" y="534449"/>
                  </a:lnTo>
                </a:path>
              </a:pathLst>
            </a:custGeom>
            <a:ln w="9524">
              <a:solidFill>
                <a:srgbClr val="434343"/>
              </a:solidFill>
            </a:ln>
          </p:spPr>
          <p:txBody>
            <a:bodyPr wrap="square" lIns="0" tIns="0" rIns="0" bIns="0" rtlCol="0"/>
            <a:lstStyle/>
            <a:p>
              <a:endParaRPr sz="2400"/>
            </a:p>
          </p:txBody>
        </p:sp>
        <p:sp>
          <p:nvSpPr>
            <p:cNvPr id="82" name="object 82"/>
            <p:cNvSpPr/>
            <p:nvPr/>
          </p:nvSpPr>
          <p:spPr>
            <a:xfrm>
              <a:off x="1964213" y="3032095"/>
              <a:ext cx="31750" cy="43815"/>
            </a:xfrm>
            <a:custGeom>
              <a:avLst/>
              <a:gdLst/>
              <a:ahLst/>
              <a:cxnLst/>
              <a:rect l="l" t="t" r="r" b="b"/>
              <a:pathLst>
                <a:path w="31750" h="43814">
                  <a:moveTo>
                    <a:pt x="15732" y="43225"/>
                  </a:moveTo>
                  <a:lnTo>
                    <a:pt x="0" y="0"/>
                  </a:lnTo>
                  <a:lnTo>
                    <a:pt x="31465" y="0"/>
                  </a:lnTo>
                  <a:lnTo>
                    <a:pt x="15732" y="43225"/>
                  </a:lnTo>
                  <a:close/>
                </a:path>
              </a:pathLst>
            </a:custGeom>
            <a:solidFill>
              <a:srgbClr val="434343"/>
            </a:solidFill>
          </p:spPr>
          <p:txBody>
            <a:bodyPr wrap="square" lIns="0" tIns="0" rIns="0" bIns="0" rtlCol="0"/>
            <a:lstStyle/>
            <a:p>
              <a:endParaRPr sz="2400"/>
            </a:p>
          </p:txBody>
        </p:sp>
        <p:sp>
          <p:nvSpPr>
            <p:cNvPr id="83" name="object 83"/>
            <p:cNvSpPr/>
            <p:nvPr/>
          </p:nvSpPr>
          <p:spPr>
            <a:xfrm>
              <a:off x="1964213" y="3032095"/>
              <a:ext cx="31750" cy="43815"/>
            </a:xfrm>
            <a:custGeom>
              <a:avLst/>
              <a:gdLst/>
              <a:ahLst/>
              <a:cxnLst/>
              <a:rect l="l" t="t" r="r" b="b"/>
              <a:pathLst>
                <a:path w="31750" h="43814">
                  <a:moveTo>
                    <a:pt x="0" y="0"/>
                  </a:moveTo>
                  <a:lnTo>
                    <a:pt x="15732" y="43225"/>
                  </a:lnTo>
                  <a:lnTo>
                    <a:pt x="31465" y="0"/>
                  </a:lnTo>
                  <a:lnTo>
                    <a:pt x="0" y="0"/>
                  </a:lnTo>
                  <a:close/>
                </a:path>
              </a:pathLst>
            </a:custGeom>
            <a:ln w="9524">
              <a:solidFill>
                <a:srgbClr val="434343"/>
              </a:solidFill>
            </a:ln>
          </p:spPr>
          <p:txBody>
            <a:bodyPr wrap="square" lIns="0" tIns="0" rIns="0" bIns="0" rtlCol="0"/>
            <a:lstStyle/>
            <a:p>
              <a:endParaRPr sz="2400"/>
            </a:p>
          </p:txBody>
        </p:sp>
        <p:sp>
          <p:nvSpPr>
            <p:cNvPr id="84" name="object 84"/>
            <p:cNvSpPr/>
            <p:nvPr/>
          </p:nvSpPr>
          <p:spPr>
            <a:xfrm>
              <a:off x="1394498" y="3089314"/>
              <a:ext cx="1170940" cy="1172210"/>
            </a:xfrm>
            <a:custGeom>
              <a:avLst/>
              <a:gdLst/>
              <a:ahLst/>
              <a:cxnLst/>
              <a:rect l="l" t="t" r="r" b="b"/>
              <a:pathLst>
                <a:path w="1170939" h="1172210">
                  <a:moveTo>
                    <a:pt x="1170899" y="1171799"/>
                  </a:moveTo>
                  <a:lnTo>
                    <a:pt x="0" y="1171799"/>
                  </a:lnTo>
                  <a:lnTo>
                    <a:pt x="0" y="0"/>
                  </a:lnTo>
                  <a:lnTo>
                    <a:pt x="1170899" y="0"/>
                  </a:lnTo>
                  <a:lnTo>
                    <a:pt x="1170899" y="1171799"/>
                  </a:lnTo>
                  <a:close/>
                </a:path>
              </a:pathLst>
            </a:custGeom>
            <a:solidFill>
              <a:srgbClr val="FFFFFF"/>
            </a:solidFill>
          </p:spPr>
          <p:txBody>
            <a:bodyPr wrap="square" lIns="0" tIns="0" rIns="0" bIns="0" rtlCol="0"/>
            <a:lstStyle/>
            <a:p>
              <a:endParaRPr sz="2400"/>
            </a:p>
          </p:txBody>
        </p:sp>
        <p:sp>
          <p:nvSpPr>
            <p:cNvPr id="85" name="object 85"/>
            <p:cNvSpPr/>
            <p:nvPr/>
          </p:nvSpPr>
          <p:spPr>
            <a:xfrm>
              <a:off x="1394498" y="3089314"/>
              <a:ext cx="1170940" cy="1172210"/>
            </a:xfrm>
            <a:custGeom>
              <a:avLst/>
              <a:gdLst/>
              <a:ahLst/>
              <a:cxnLst/>
              <a:rect l="l" t="t" r="r" b="b"/>
              <a:pathLst>
                <a:path w="1170939" h="1172210">
                  <a:moveTo>
                    <a:pt x="0" y="0"/>
                  </a:moveTo>
                  <a:lnTo>
                    <a:pt x="1170899" y="0"/>
                  </a:lnTo>
                  <a:lnTo>
                    <a:pt x="1170899" y="1171799"/>
                  </a:lnTo>
                  <a:lnTo>
                    <a:pt x="0" y="1171799"/>
                  </a:lnTo>
                  <a:lnTo>
                    <a:pt x="0" y="0"/>
                  </a:lnTo>
                  <a:close/>
                </a:path>
              </a:pathLst>
            </a:custGeom>
            <a:ln w="45724">
              <a:solidFill>
                <a:srgbClr val="E6A064"/>
              </a:solidFill>
            </a:ln>
          </p:spPr>
          <p:txBody>
            <a:bodyPr wrap="square" lIns="0" tIns="0" rIns="0" bIns="0" rtlCol="0"/>
            <a:lstStyle/>
            <a:p>
              <a:endParaRPr sz="2400"/>
            </a:p>
          </p:txBody>
        </p:sp>
      </p:grpSp>
      <p:sp>
        <p:nvSpPr>
          <p:cNvPr id="86" name="object 86"/>
          <p:cNvSpPr txBox="1"/>
          <p:nvPr/>
        </p:nvSpPr>
        <p:spPr>
          <a:xfrm>
            <a:off x="2543499" y="4709955"/>
            <a:ext cx="193040" cy="345330"/>
          </a:xfrm>
          <a:prstGeom prst="rect">
            <a:avLst/>
          </a:prstGeom>
        </p:spPr>
        <p:txBody>
          <a:bodyPr vert="horz" wrap="square" lIns="0" tIns="16933" rIns="0" bIns="0" rtlCol="0">
            <a:spAutoFit/>
          </a:bodyPr>
          <a:lstStyle/>
          <a:p>
            <a:pPr marL="16933">
              <a:spcBef>
                <a:spcPts val="133"/>
              </a:spcBef>
            </a:pPr>
            <a:r>
              <a:rPr sz="2133" spc="20" dirty="0">
                <a:latin typeface="Lucida Sans Unicode"/>
                <a:cs typeface="Lucida Sans Unicode"/>
              </a:rPr>
              <a:t>S</a:t>
            </a:r>
            <a:endParaRPr sz="2133">
              <a:latin typeface="Lucida Sans Unicode"/>
              <a:cs typeface="Lucida Sans Unicode"/>
            </a:endParaRPr>
          </a:p>
        </p:txBody>
      </p:sp>
      <p:grpSp>
        <p:nvGrpSpPr>
          <p:cNvPr id="87" name="object 87"/>
          <p:cNvGrpSpPr/>
          <p:nvPr/>
        </p:nvGrpSpPr>
        <p:grpSpPr>
          <a:xfrm>
            <a:off x="4527261" y="2745677"/>
            <a:ext cx="480060" cy="602827"/>
            <a:chOff x="3395445" y="2059258"/>
            <a:chExt cx="360045" cy="452120"/>
          </a:xfrm>
        </p:grpSpPr>
        <p:sp>
          <p:nvSpPr>
            <p:cNvPr id="88" name="object 88"/>
            <p:cNvSpPr/>
            <p:nvPr/>
          </p:nvSpPr>
          <p:spPr>
            <a:xfrm>
              <a:off x="3409733" y="2073545"/>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89" name="object 89"/>
            <p:cNvSpPr/>
            <p:nvPr/>
          </p:nvSpPr>
          <p:spPr>
            <a:xfrm>
              <a:off x="3409733" y="2073545"/>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28574">
              <a:solidFill>
                <a:srgbClr val="FFAB40"/>
              </a:solidFill>
            </a:ln>
          </p:spPr>
          <p:txBody>
            <a:bodyPr wrap="square" lIns="0" tIns="0" rIns="0" bIns="0" rtlCol="0"/>
            <a:lstStyle/>
            <a:p>
              <a:endParaRPr sz="2400"/>
            </a:p>
          </p:txBody>
        </p:sp>
      </p:grpSp>
      <p:sp>
        <p:nvSpPr>
          <p:cNvPr id="90" name="object 90"/>
          <p:cNvSpPr txBox="1"/>
          <p:nvPr/>
        </p:nvSpPr>
        <p:spPr>
          <a:xfrm>
            <a:off x="4661476" y="2836449"/>
            <a:ext cx="211667" cy="382092"/>
          </a:xfrm>
          <a:prstGeom prst="rect">
            <a:avLst/>
          </a:prstGeom>
        </p:spPr>
        <p:txBody>
          <a:bodyPr vert="horz" wrap="square" lIns="0" tIns="22860" rIns="0" bIns="0" rtlCol="0">
            <a:spAutoFit/>
          </a:bodyPr>
          <a:lstStyle/>
          <a:p>
            <a:pPr marL="16933">
              <a:spcBef>
                <a:spcPts val="180"/>
              </a:spcBef>
            </a:pPr>
            <a:r>
              <a:rPr sz="2333" spc="67" dirty="0">
                <a:latin typeface="Lucida Sans Unicode"/>
                <a:cs typeface="Lucida Sans Unicode"/>
              </a:rPr>
              <a:t>S</a:t>
            </a:r>
            <a:endParaRPr sz="2333">
              <a:latin typeface="Lucida Sans Unicode"/>
              <a:cs typeface="Lucida Sans Unicode"/>
            </a:endParaRPr>
          </a:p>
        </p:txBody>
      </p:sp>
      <p:grpSp>
        <p:nvGrpSpPr>
          <p:cNvPr id="91" name="object 91"/>
          <p:cNvGrpSpPr/>
          <p:nvPr/>
        </p:nvGrpSpPr>
        <p:grpSpPr>
          <a:xfrm>
            <a:off x="3414181" y="2745678"/>
            <a:ext cx="3478107" cy="2161540"/>
            <a:chOff x="2560636" y="2059258"/>
            <a:chExt cx="2608580" cy="1621155"/>
          </a:xfrm>
        </p:grpSpPr>
        <p:sp>
          <p:nvSpPr>
            <p:cNvPr id="92" name="object 92"/>
            <p:cNvSpPr/>
            <p:nvPr/>
          </p:nvSpPr>
          <p:spPr>
            <a:xfrm>
              <a:off x="2565398" y="2553964"/>
              <a:ext cx="1010285" cy="1121410"/>
            </a:xfrm>
            <a:custGeom>
              <a:avLst/>
              <a:gdLst/>
              <a:ahLst/>
              <a:cxnLst/>
              <a:rect l="l" t="t" r="r" b="b"/>
              <a:pathLst>
                <a:path w="1010285" h="1121410">
                  <a:moveTo>
                    <a:pt x="0" y="1121249"/>
                  </a:moveTo>
                  <a:lnTo>
                    <a:pt x="1009799" y="1121249"/>
                  </a:lnTo>
                  <a:lnTo>
                    <a:pt x="1009799" y="0"/>
                  </a:lnTo>
                </a:path>
              </a:pathLst>
            </a:custGeom>
            <a:ln w="9524">
              <a:solidFill>
                <a:srgbClr val="434343"/>
              </a:solidFill>
            </a:ln>
          </p:spPr>
          <p:txBody>
            <a:bodyPr wrap="square" lIns="0" tIns="0" rIns="0" bIns="0" rtlCol="0"/>
            <a:lstStyle/>
            <a:p>
              <a:endParaRPr sz="2400"/>
            </a:p>
          </p:txBody>
        </p:sp>
        <p:sp>
          <p:nvSpPr>
            <p:cNvPr id="93" name="object 93"/>
            <p:cNvSpPr/>
            <p:nvPr/>
          </p:nvSpPr>
          <p:spPr>
            <a:xfrm>
              <a:off x="3559466" y="2510738"/>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434343"/>
            </a:solidFill>
          </p:spPr>
          <p:txBody>
            <a:bodyPr wrap="square" lIns="0" tIns="0" rIns="0" bIns="0" rtlCol="0"/>
            <a:lstStyle/>
            <a:p>
              <a:endParaRPr sz="2400"/>
            </a:p>
          </p:txBody>
        </p:sp>
        <p:sp>
          <p:nvSpPr>
            <p:cNvPr id="94" name="object 94"/>
            <p:cNvSpPr/>
            <p:nvPr/>
          </p:nvSpPr>
          <p:spPr>
            <a:xfrm>
              <a:off x="3559466" y="2510738"/>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434343"/>
              </a:solidFill>
            </a:ln>
          </p:spPr>
          <p:txBody>
            <a:bodyPr wrap="square" lIns="0" tIns="0" rIns="0" bIns="0" rtlCol="0"/>
            <a:lstStyle/>
            <a:p>
              <a:endParaRPr sz="2400"/>
            </a:p>
          </p:txBody>
        </p:sp>
        <p:sp>
          <p:nvSpPr>
            <p:cNvPr id="95" name="object 95"/>
            <p:cNvSpPr/>
            <p:nvPr/>
          </p:nvSpPr>
          <p:spPr>
            <a:xfrm>
              <a:off x="4823308" y="2073545"/>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96" name="object 96"/>
            <p:cNvSpPr/>
            <p:nvPr/>
          </p:nvSpPr>
          <p:spPr>
            <a:xfrm>
              <a:off x="4823308" y="2073545"/>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28574">
              <a:solidFill>
                <a:srgbClr val="E6A064"/>
              </a:solidFill>
            </a:ln>
          </p:spPr>
          <p:txBody>
            <a:bodyPr wrap="square" lIns="0" tIns="0" rIns="0" bIns="0" rtlCol="0"/>
            <a:lstStyle/>
            <a:p>
              <a:endParaRPr sz="2400"/>
            </a:p>
          </p:txBody>
        </p:sp>
      </p:grpSp>
      <p:sp>
        <p:nvSpPr>
          <p:cNvPr id="97" name="object 97"/>
          <p:cNvSpPr txBox="1"/>
          <p:nvPr/>
        </p:nvSpPr>
        <p:spPr>
          <a:xfrm>
            <a:off x="6533098" y="2836449"/>
            <a:ext cx="237913" cy="382092"/>
          </a:xfrm>
          <a:prstGeom prst="rect">
            <a:avLst/>
          </a:prstGeom>
        </p:spPr>
        <p:txBody>
          <a:bodyPr vert="horz" wrap="square" lIns="0" tIns="22860" rIns="0" bIns="0" rtlCol="0">
            <a:spAutoFit/>
          </a:bodyPr>
          <a:lstStyle/>
          <a:p>
            <a:pPr marL="16933">
              <a:spcBef>
                <a:spcPts val="180"/>
              </a:spcBef>
            </a:pPr>
            <a:r>
              <a:rPr sz="2333" spc="-67" dirty="0">
                <a:latin typeface="Lucida Sans Unicode"/>
                <a:cs typeface="Lucida Sans Unicode"/>
              </a:rPr>
              <a:t>A</a:t>
            </a:r>
            <a:endParaRPr sz="2333">
              <a:latin typeface="Lucida Sans Unicode"/>
              <a:cs typeface="Lucida Sans Unicode"/>
            </a:endParaRPr>
          </a:p>
        </p:txBody>
      </p:sp>
      <p:grpSp>
        <p:nvGrpSpPr>
          <p:cNvPr id="98" name="object 98"/>
          <p:cNvGrpSpPr/>
          <p:nvPr/>
        </p:nvGrpSpPr>
        <p:grpSpPr>
          <a:xfrm>
            <a:off x="5830790" y="3322776"/>
            <a:ext cx="1622213" cy="2395219"/>
            <a:chOff x="4373092" y="2492082"/>
            <a:chExt cx="1216660" cy="1796414"/>
          </a:xfrm>
        </p:grpSpPr>
        <p:sp>
          <p:nvSpPr>
            <p:cNvPr id="99" name="object 99"/>
            <p:cNvSpPr/>
            <p:nvPr/>
          </p:nvSpPr>
          <p:spPr>
            <a:xfrm>
              <a:off x="4982127" y="2496845"/>
              <a:ext cx="6985" cy="539750"/>
            </a:xfrm>
            <a:custGeom>
              <a:avLst/>
              <a:gdLst/>
              <a:ahLst/>
              <a:cxnLst/>
              <a:rect l="l" t="t" r="r" b="b"/>
              <a:pathLst>
                <a:path w="6985" h="539750">
                  <a:moveTo>
                    <a:pt x="6781" y="0"/>
                  </a:moveTo>
                  <a:lnTo>
                    <a:pt x="0" y="539554"/>
                  </a:lnTo>
                </a:path>
              </a:pathLst>
            </a:custGeom>
            <a:ln w="9524">
              <a:solidFill>
                <a:srgbClr val="434343"/>
              </a:solidFill>
            </a:ln>
          </p:spPr>
          <p:txBody>
            <a:bodyPr wrap="square" lIns="0" tIns="0" rIns="0" bIns="0" rtlCol="0"/>
            <a:lstStyle/>
            <a:p>
              <a:endParaRPr sz="2400"/>
            </a:p>
          </p:txBody>
        </p:sp>
        <p:sp>
          <p:nvSpPr>
            <p:cNvPr id="100" name="object 100"/>
            <p:cNvSpPr/>
            <p:nvPr/>
          </p:nvSpPr>
          <p:spPr>
            <a:xfrm>
              <a:off x="4966395" y="3036202"/>
              <a:ext cx="31750" cy="43815"/>
            </a:xfrm>
            <a:custGeom>
              <a:avLst/>
              <a:gdLst/>
              <a:ahLst/>
              <a:cxnLst/>
              <a:rect l="l" t="t" r="r" b="b"/>
              <a:pathLst>
                <a:path w="31750" h="43814">
                  <a:moveTo>
                    <a:pt x="15188" y="43419"/>
                  </a:moveTo>
                  <a:lnTo>
                    <a:pt x="0" y="0"/>
                  </a:lnTo>
                  <a:lnTo>
                    <a:pt x="31462" y="395"/>
                  </a:lnTo>
                  <a:lnTo>
                    <a:pt x="15188" y="43419"/>
                  </a:lnTo>
                  <a:close/>
                </a:path>
              </a:pathLst>
            </a:custGeom>
            <a:solidFill>
              <a:srgbClr val="434343"/>
            </a:solidFill>
          </p:spPr>
          <p:txBody>
            <a:bodyPr wrap="square" lIns="0" tIns="0" rIns="0" bIns="0" rtlCol="0"/>
            <a:lstStyle/>
            <a:p>
              <a:endParaRPr sz="2400"/>
            </a:p>
          </p:txBody>
        </p:sp>
        <p:sp>
          <p:nvSpPr>
            <p:cNvPr id="101" name="object 101"/>
            <p:cNvSpPr/>
            <p:nvPr/>
          </p:nvSpPr>
          <p:spPr>
            <a:xfrm>
              <a:off x="4966395" y="3036202"/>
              <a:ext cx="31750" cy="43815"/>
            </a:xfrm>
            <a:custGeom>
              <a:avLst/>
              <a:gdLst/>
              <a:ahLst/>
              <a:cxnLst/>
              <a:rect l="l" t="t" r="r" b="b"/>
              <a:pathLst>
                <a:path w="31750" h="43814">
                  <a:moveTo>
                    <a:pt x="0" y="0"/>
                  </a:moveTo>
                  <a:lnTo>
                    <a:pt x="15188" y="43419"/>
                  </a:lnTo>
                  <a:lnTo>
                    <a:pt x="31462" y="395"/>
                  </a:lnTo>
                  <a:lnTo>
                    <a:pt x="0" y="0"/>
                  </a:lnTo>
                  <a:close/>
                </a:path>
              </a:pathLst>
            </a:custGeom>
            <a:ln w="9524">
              <a:solidFill>
                <a:srgbClr val="434343"/>
              </a:solidFill>
            </a:ln>
          </p:spPr>
          <p:txBody>
            <a:bodyPr wrap="square" lIns="0" tIns="0" rIns="0" bIns="0" rtlCol="0"/>
            <a:lstStyle/>
            <a:p>
              <a:endParaRPr sz="2400"/>
            </a:p>
          </p:txBody>
        </p:sp>
        <p:sp>
          <p:nvSpPr>
            <p:cNvPr id="102" name="object 102"/>
            <p:cNvSpPr/>
            <p:nvPr/>
          </p:nvSpPr>
          <p:spPr>
            <a:xfrm>
              <a:off x="4395952" y="3093551"/>
              <a:ext cx="1170940" cy="1172210"/>
            </a:xfrm>
            <a:custGeom>
              <a:avLst/>
              <a:gdLst/>
              <a:ahLst/>
              <a:cxnLst/>
              <a:rect l="l" t="t" r="r" b="b"/>
              <a:pathLst>
                <a:path w="1170939" h="1172210">
                  <a:moveTo>
                    <a:pt x="1170899" y="1171799"/>
                  </a:moveTo>
                  <a:lnTo>
                    <a:pt x="0" y="1171799"/>
                  </a:lnTo>
                  <a:lnTo>
                    <a:pt x="0" y="0"/>
                  </a:lnTo>
                  <a:lnTo>
                    <a:pt x="1170899" y="0"/>
                  </a:lnTo>
                  <a:lnTo>
                    <a:pt x="1170899" y="1171799"/>
                  </a:lnTo>
                  <a:close/>
                </a:path>
              </a:pathLst>
            </a:custGeom>
            <a:solidFill>
              <a:srgbClr val="FFFFFF"/>
            </a:solidFill>
          </p:spPr>
          <p:txBody>
            <a:bodyPr wrap="square" lIns="0" tIns="0" rIns="0" bIns="0" rtlCol="0"/>
            <a:lstStyle/>
            <a:p>
              <a:endParaRPr sz="2400"/>
            </a:p>
          </p:txBody>
        </p:sp>
        <p:sp>
          <p:nvSpPr>
            <p:cNvPr id="103" name="object 103"/>
            <p:cNvSpPr/>
            <p:nvPr/>
          </p:nvSpPr>
          <p:spPr>
            <a:xfrm>
              <a:off x="4395952" y="3093551"/>
              <a:ext cx="1170940" cy="1172210"/>
            </a:xfrm>
            <a:custGeom>
              <a:avLst/>
              <a:gdLst/>
              <a:ahLst/>
              <a:cxnLst/>
              <a:rect l="l" t="t" r="r" b="b"/>
              <a:pathLst>
                <a:path w="1170939" h="1172210">
                  <a:moveTo>
                    <a:pt x="0" y="0"/>
                  </a:moveTo>
                  <a:lnTo>
                    <a:pt x="1170899" y="0"/>
                  </a:lnTo>
                  <a:lnTo>
                    <a:pt x="1170899" y="1171799"/>
                  </a:lnTo>
                  <a:lnTo>
                    <a:pt x="0" y="1171799"/>
                  </a:lnTo>
                  <a:lnTo>
                    <a:pt x="0" y="0"/>
                  </a:lnTo>
                  <a:close/>
                </a:path>
              </a:pathLst>
            </a:custGeom>
            <a:ln w="45724">
              <a:solidFill>
                <a:srgbClr val="B45F06"/>
              </a:solidFill>
            </a:ln>
          </p:spPr>
          <p:txBody>
            <a:bodyPr wrap="square" lIns="0" tIns="0" rIns="0" bIns="0" rtlCol="0"/>
            <a:lstStyle/>
            <a:p>
              <a:endParaRPr sz="2400"/>
            </a:p>
          </p:txBody>
        </p:sp>
      </p:grpSp>
      <p:sp>
        <p:nvSpPr>
          <p:cNvPr id="104" name="object 104"/>
          <p:cNvSpPr txBox="1"/>
          <p:nvPr/>
        </p:nvSpPr>
        <p:spPr>
          <a:xfrm>
            <a:off x="6533655" y="4715605"/>
            <a:ext cx="216747" cy="345330"/>
          </a:xfrm>
          <a:prstGeom prst="rect">
            <a:avLst/>
          </a:prstGeom>
        </p:spPr>
        <p:txBody>
          <a:bodyPr vert="horz" wrap="square" lIns="0" tIns="16933" rIns="0" bIns="0" rtlCol="0">
            <a:spAutoFit/>
          </a:bodyPr>
          <a:lstStyle/>
          <a:p>
            <a:pPr marL="16933">
              <a:spcBef>
                <a:spcPts val="133"/>
              </a:spcBef>
            </a:pPr>
            <a:r>
              <a:rPr sz="2133" spc="-67" dirty="0">
                <a:latin typeface="Lucida Sans Unicode"/>
                <a:cs typeface="Lucida Sans Unicode"/>
              </a:rPr>
              <a:t>A</a:t>
            </a:r>
            <a:endParaRPr sz="2133">
              <a:latin typeface="Lucida Sans Unicode"/>
              <a:cs typeface="Lucida Sans Unicode"/>
            </a:endParaRPr>
          </a:p>
        </p:txBody>
      </p:sp>
      <p:sp>
        <p:nvSpPr>
          <p:cNvPr id="105" name="object 105"/>
          <p:cNvSpPr/>
          <p:nvPr/>
        </p:nvSpPr>
        <p:spPr>
          <a:xfrm>
            <a:off x="8257151" y="2764737"/>
            <a:ext cx="441960" cy="564727"/>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106" name="object 106"/>
          <p:cNvSpPr txBox="1"/>
          <p:nvPr/>
        </p:nvSpPr>
        <p:spPr>
          <a:xfrm>
            <a:off x="8257151" y="2764736"/>
            <a:ext cx="441960" cy="454762"/>
          </a:xfrm>
          <a:prstGeom prst="rect">
            <a:avLst/>
          </a:prstGeom>
          <a:ln w="28574">
            <a:solidFill>
              <a:srgbClr val="E6A064"/>
            </a:solidFill>
          </a:ln>
        </p:spPr>
        <p:txBody>
          <a:bodyPr vert="horz" wrap="square" lIns="0" tIns="94827" rIns="0" bIns="0" rtlCol="0">
            <a:spAutoFit/>
          </a:bodyPr>
          <a:lstStyle/>
          <a:p>
            <a:pPr marL="118530">
              <a:spcBef>
                <a:spcPts val="747"/>
              </a:spcBef>
            </a:pPr>
            <a:r>
              <a:rPr sz="2333" spc="-67" dirty="0">
                <a:latin typeface="Lucida Sans Unicode"/>
                <a:cs typeface="Lucida Sans Unicode"/>
              </a:rPr>
              <a:t>A</a:t>
            </a:r>
            <a:endParaRPr sz="2333">
              <a:latin typeface="Lucida Sans Unicode"/>
              <a:cs typeface="Lucida Sans Unicode"/>
            </a:endParaRPr>
          </a:p>
        </p:txBody>
      </p:sp>
      <p:grpSp>
        <p:nvGrpSpPr>
          <p:cNvPr id="107" name="object 107"/>
          <p:cNvGrpSpPr/>
          <p:nvPr/>
        </p:nvGrpSpPr>
        <p:grpSpPr>
          <a:xfrm>
            <a:off x="7416120" y="3341351"/>
            <a:ext cx="1089659" cy="1571413"/>
            <a:chOff x="5562090" y="2506013"/>
            <a:chExt cx="817244" cy="1178560"/>
          </a:xfrm>
        </p:grpSpPr>
        <p:sp>
          <p:nvSpPr>
            <p:cNvPr id="108" name="object 108"/>
            <p:cNvSpPr/>
            <p:nvPr/>
          </p:nvSpPr>
          <p:spPr>
            <a:xfrm>
              <a:off x="5566852" y="2554001"/>
              <a:ext cx="791845" cy="1125855"/>
            </a:xfrm>
            <a:custGeom>
              <a:avLst/>
              <a:gdLst/>
              <a:ahLst/>
              <a:cxnLst/>
              <a:rect l="l" t="t" r="r" b="b"/>
              <a:pathLst>
                <a:path w="791845" h="1125854">
                  <a:moveTo>
                    <a:pt x="0" y="1125449"/>
                  </a:moveTo>
                  <a:lnTo>
                    <a:pt x="791699" y="1125449"/>
                  </a:lnTo>
                  <a:lnTo>
                    <a:pt x="791699" y="0"/>
                  </a:lnTo>
                </a:path>
              </a:pathLst>
            </a:custGeom>
            <a:ln w="9524">
              <a:solidFill>
                <a:srgbClr val="434343"/>
              </a:solidFill>
            </a:ln>
          </p:spPr>
          <p:txBody>
            <a:bodyPr wrap="square" lIns="0" tIns="0" rIns="0" bIns="0" rtlCol="0"/>
            <a:lstStyle/>
            <a:p>
              <a:endParaRPr sz="2400"/>
            </a:p>
          </p:txBody>
        </p:sp>
        <p:sp>
          <p:nvSpPr>
            <p:cNvPr id="109" name="object 109"/>
            <p:cNvSpPr/>
            <p:nvPr/>
          </p:nvSpPr>
          <p:spPr>
            <a:xfrm>
              <a:off x="6342820" y="2510776"/>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434343"/>
            </a:solidFill>
          </p:spPr>
          <p:txBody>
            <a:bodyPr wrap="square" lIns="0" tIns="0" rIns="0" bIns="0" rtlCol="0"/>
            <a:lstStyle/>
            <a:p>
              <a:endParaRPr sz="2400"/>
            </a:p>
          </p:txBody>
        </p:sp>
        <p:sp>
          <p:nvSpPr>
            <p:cNvPr id="110" name="object 110"/>
            <p:cNvSpPr/>
            <p:nvPr/>
          </p:nvSpPr>
          <p:spPr>
            <a:xfrm>
              <a:off x="6342820" y="2510776"/>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434343"/>
              </a:solidFill>
            </a:ln>
          </p:spPr>
          <p:txBody>
            <a:bodyPr wrap="square" lIns="0" tIns="0" rIns="0" bIns="0" rtlCol="0"/>
            <a:lstStyle/>
            <a:p>
              <a:endParaRPr sz="2400"/>
            </a:p>
          </p:txBody>
        </p:sp>
      </p:grpSp>
    </p:spTree>
    <p:extLst>
      <p:ext uri="{BB962C8B-B14F-4D97-AF65-F5344CB8AC3E}">
        <p14:creationId xmlns:p14="http://schemas.microsoft.com/office/powerpoint/2010/main" val="678453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0472" y="348172"/>
            <a:ext cx="8288032" cy="509541"/>
          </a:xfrm>
          <a:prstGeom prst="rect">
            <a:avLst/>
          </a:prstGeom>
        </p:spPr>
        <p:txBody>
          <a:bodyPr vert="horz" wrap="square" lIns="0" tIns="16933" rIns="0" bIns="0" rtlCol="0" anchor="ctr">
            <a:spAutoFit/>
          </a:bodyPr>
          <a:lstStyle/>
          <a:p>
            <a:pPr marL="279393">
              <a:spcBef>
                <a:spcPts val="133"/>
              </a:spcBef>
            </a:pPr>
            <a:r>
              <a:rPr spc="80" dirty="0"/>
              <a:t>Naive</a:t>
            </a:r>
            <a:r>
              <a:rPr spc="60" dirty="0"/>
              <a:t> </a:t>
            </a:r>
            <a:r>
              <a:rPr dirty="0"/>
              <a:t>attention</a:t>
            </a:r>
            <a:r>
              <a:rPr spc="60" dirty="0"/>
              <a:t> </a:t>
            </a:r>
            <a:r>
              <a:rPr spc="-27" dirty="0"/>
              <a:t>flow</a:t>
            </a:r>
          </a:p>
        </p:txBody>
      </p:sp>
      <p:sp>
        <p:nvSpPr>
          <p:cNvPr id="3" name="object 3"/>
          <p:cNvSpPr txBox="1"/>
          <p:nvPr/>
        </p:nvSpPr>
        <p:spPr>
          <a:xfrm>
            <a:off x="598600" y="1112484"/>
            <a:ext cx="9795933" cy="3169307"/>
          </a:xfrm>
          <a:prstGeom prst="rect">
            <a:avLst/>
          </a:prstGeom>
        </p:spPr>
        <p:txBody>
          <a:bodyPr vert="horz" wrap="square" lIns="0" tIns="19472" rIns="0" bIns="0" rtlCol="0">
            <a:spAutoFit/>
          </a:bodyPr>
          <a:lstStyle/>
          <a:p>
            <a:pPr marL="140543">
              <a:spcBef>
                <a:spcPts val="152"/>
              </a:spcBef>
            </a:pPr>
            <a:r>
              <a:rPr sz="2067" dirty="0">
                <a:solidFill>
                  <a:srgbClr val="257693"/>
                </a:solidFill>
                <a:latin typeface="Arial Black"/>
                <a:cs typeface="Arial Black"/>
              </a:rPr>
              <a:t>Compute</a:t>
            </a:r>
            <a:r>
              <a:rPr sz="2067" spc="-147" dirty="0">
                <a:solidFill>
                  <a:srgbClr val="257693"/>
                </a:solidFill>
                <a:latin typeface="Arial Black"/>
                <a:cs typeface="Arial Black"/>
              </a:rPr>
              <a:t> </a:t>
            </a:r>
            <a:r>
              <a:rPr sz="2067" spc="-13" dirty="0">
                <a:solidFill>
                  <a:srgbClr val="257693"/>
                </a:solidFill>
                <a:latin typeface="Arial Black"/>
                <a:cs typeface="Arial Black"/>
              </a:rPr>
              <a:t>units</a:t>
            </a:r>
            <a:endParaRPr sz="2067">
              <a:latin typeface="Arial Black"/>
              <a:cs typeface="Arial Black"/>
            </a:endParaRPr>
          </a:p>
          <a:p>
            <a:pPr>
              <a:lnSpc>
                <a:spcPct val="100000"/>
              </a:lnSpc>
            </a:pPr>
            <a:endParaRPr sz="2067">
              <a:latin typeface="Arial Black"/>
              <a:cs typeface="Arial Black"/>
            </a:endParaRPr>
          </a:p>
          <a:p>
            <a:pPr>
              <a:spcBef>
                <a:spcPts val="753"/>
              </a:spcBef>
            </a:pPr>
            <a:endParaRPr sz="2067">
              <a:latin typeface="Arial Black"/>
              <a:cs typeface="Arial Black"/>
            </a:endParaRPr>
          </a:p>
          <a:p>
            <a:pPr marL="1148897"/>
            <a:r>
              <a:rPr sz="1600" spc="-27" dirty="0">
                <a:solidFill>
                  <a:srgbClr val="FAADB3"/>
                </a:solidFill>
                <a:latin typeface="Arial Black"/>
                <a:cs typeface="Arial Black"/>
              </a:rPr>
              <a:t>Q</a:t>
            </a:r>
            <a:r>
              <a:rPr sz="1600" spc="-27" dirty="0">
                <a:latin typeface="MS PGothic"/>
                <a:cs typeface="MS PGothic"/>
              </a:rPr>
              <a:t>⋅</a:t>
            </a:r>
            <a:r>
              <a:rPr sz="1600" spc="-27" dirty="0">
                <a:solidFill>
                  <a:srgbClr val="257693"/>
                </a:solidFill>
                <a:latin typeface="Arial Black"/>
                <a:cs typeface="Arial Black"/>
              </a:rPr>
              <a:t>K</a:t>
            </a:r>
            <a:r>
              <a:rPr sz="1600" spc="-40" baseline="31250" dirty="0">
                <a:latin typeface="Lucida Sans Unicode"/>
                <a:cs typeface="Lucida Sans Unicode"/>
              </a:rPr>
              <a:t>T</a:t>
            </a:r>
            <a:endParaRPr sz="1600" baseline="31250">
              <a:latin typeface="Lucida Sans Unicode"/>
              <a:cs typeface="Lucida Sans Unicode"/>
            </a:endParaRPr>
          </a:p>
          <a:p>
            <a:pPr>
              <a:spcBef>
                <a:spcPts val="160"/>
              </a:spcBef>
            </a:pPr>
            <a:endParaRPr sz="1600">
              <a:latin typeface="Lucida Sans Unicode"/>
              <a:cs typeface="Lucida Sans Unicode"/>
            </a:endParaRPr>
          </a:p>
          <a:p>
            <a:pPr marL="139697">
              <a:tabLst>
                <a:tab pos="617205" algn="l"/>
                <a:tab pos="8226008" algn="l"/>
                <a:tab pos="9556934" algn="l"/>
              </a:tabLst>
            </a:pPr>
            <a:r>
              <a:rPr sz="2333" spc="-67" dirty="0">
                <a:latin typeface="Lucida Sans Unicode"/>
                <a:cs typeface="Lucida Sans Unicode"/>
              </a:rPr>
              <a:t>Q</a:t>
            </a:r>
            <a:r>
              <a:rPr sz="2333" dirty="0">
                <a:latin typeface="Lucida Sans Unicode"/>
                <a:cs typeface="Lucida Sans Unicode"/>
              </a:rPr>
              <a:t>	</a:t>
            </a:r>
            <a:r>
              <a:rPr sz="2333" spc="-67" dirty="0">
                <a:latin typeface="Lucida Sans Unicode"/>
                <a:cs typeface="Lucida Sans Unicode"/>
              </a:rPr>
              <a:t>K</a:t>
            </a:r>
            <a:r>
              <a:rPr sz="2333" dirty="0">
                <a:latin typeface="Lucida Sans Unicode"/>
                <a:cs typeface="Lucida Sans Unicode"/>
              </a:rPr>
              <a:t>	</a:t>
            </a:r>
            <a:r>
              <a:rPr sz="2333" spc="-67" dirty="0">
                <a:latin typeface="Lucida Sans Unicode"/>
                <a:cs typeface="Lucida Sans Unicode"/>
              </a:rPr>
              <a:t>V</a:t>
            </a:r>
            <a:r>
              <a:rPr sz="2333" dirty="0">
                <a:latin typeface="Lucida Sans Unicode"/>
                <a:cs typeface="Lucida Sans Unicode"/>
              </a:rPr>
              <a:t>	</a:t>
            </a:r>
            <a:r>
              <a:rPr sz="2333" spc="-67" dirty="0">
                <a:latin typeface="Lucida Sans Unicode"/>
                <a:cs typeface="Lucida Sans Unicode"/>
              </a:rPr>
              <a:t>O</a:t>
            </a:r>
            <a:endParaRPr sz="2333">
              <a:latin typeface="Lucida Sans Unicode"/>
              <a:cs typeface="Lucida Sans Unicode"/>
            </a:endParaRPr>
          </a:p>
          <a:p>
            <a:pPr>
              <a:lnSpc>
                <a:spcPct val="100000"/>
              </a:lnSpc>
            </a:pPr>
            <a:endParaRPr sz="2333">
              <a:latin typeface="Lucida Sans Unicode"/>
              <a:cs typeface="Lucida Sans Unicode"/>
            </a:endParaRPr>
          </a:p>
          <a:p>
            <a:pPr>
              <a:spcBef>
                <a:spcPts val="1373"/>
              </a:spcBef>
            </a:pPr>
            <a:endParaRPr sz="2333">
              <a:latin typeface="Lucida Sans Unicode"/>
              <a:cs typeface="Lucida Sans Unicode"/>
            </a:endParaRPr>
          </a:p>
          <a:p>
            <a:pPr>
              <a:lnSpc>
                <a:spcPct val="100000"/>
              </a:lnSpc>
            </a:pPr>
            <a:r>
              <a:rPr sz="2067" spc="-27" dirty="0">
                <a:solidFill>
                  <a:srgbClr val="257693"/>
                </a:solidFill>
                <a:latin typeface="Arial Black"/>
                <a:cs typeface="Arial Black"/>
              </a:rPr>
              <a:t>VRAM</a:t>
            </a:r>
            <a:endParaRPr sz="2067">
              <a:latin typeface="Arial Black"/>
              <a:cs typeface="Arial Black"/>
            </a:endParaRPr>
          </a:p>
        </p:txBody>
      </p:sp>
      <p:grpSp>
        <p:nvGrpSpPr>
          <p:cNvPr id="4" name="object 4"/>
          <p:cNvGrpSpPr/>
          <p:nvPr/>
        </p:nvGrpSpPr>
        <p:grpSpPr>
          <a:xfrm>
            <a:off x="506115" y="1458025"/>
            <a:ext cx="10684933" cy="2743200"/>
            <a:chOff x="379586" y="1093519"/>
            <a:chExt cx="8013700" cy="2057400"/>
          </a:xfrm>
        </p:grpSpPr>
        <p:sp>
          <p:nvSpPr>
            <p:cNvPr id="5" name="object 5"/>
            <p:cNvSpPr/>
            <p:nvPr/>
          </p:nvSpPr>
          <p:spPr>
            <a:xfrm>
              <a:off x="587458" y="1099869"/>
              <a:ext cx="2160270" cy="300990"/>
            </a:xfrm>
            <a:custGeom>
              <a:avLst/>
              <a:gdLst/>
              <a:ahLst/>
              <a:cxnLst/>
              <a:rect l="l" t="t" r="r" b="b"/>
              <a:pathLst>
                <a:path w="2160270" h="300990">
                  <a:moveTo>
                    <a:pt x="0" y="300380"/>
                  </a:moveTo>
                  <a:lnTo>
                    <a:pt x="2159700" y="300380"/>
                  </a:lnTo>
                  <a:lnTo>
                    <a:pt x="2159700" y="0"/>
                  </a:lnTo>
                  <a:lnTo>
                    <a:pt x="0" y="0"/>
                  </a:lnTo>
                  <a:lnTo>
                    <a:pt x="0" y="300380"/>
                  </a:lnTo>
                  <a:close/>
                </a:path>
              </a:pathLst>
            </a:custGeom>
            <a:solidFill>
              <a:srgbClr val="F4C4D1"/>
            </a:solidFill>
          </p:spPr>
          <p:txBody>
            <a:bodyPr wrap="square" lIns="0" tIns="0" rIns="0" bIns="0" rtlCol="0"/>
            <a:lstStyle/>
            <a:p>
              <a:endParaRPr sz="2400"/>
            </a:p>
          </p:txBody>
        </p:sp>
        <p:sp>
          <p:nvSpPr>
            <p:cNvPr id="6" name="object 6"/>
            <p:cNvSpPr/>
            <p:nvPr/>
          </p:nvSpPr>
          <p:spPr>
            <a:xfrm>
              <a:off x="587458" y="1099869"/>
              <a:ext cx="2160270" cy="1515745"/>
            </a:xfrm>
            <a:custGeom>
              <a:avLst/>
              <a:gdLst/>
              <a:ahLst/>
              <a:cxnLst/>
              <a:rect l="l" t="t" r="r" b="b"/>
              <a:pathLst>
                <a:path w="2160270" h="1515745">
                  <a:moveTo>
                    <a:pt x="0" y="0"/>
                  </a:moveTo>
                  <a:lnTo>
                    <a:pt x="2159700" y="0"/>
                  </a:lnTo>
                  <a:lnTo>
                    <a:pt x="2159700"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7" name="object 7"/>
            <p:cNvSpPr/>
            <p:nvPr/>
          </p:nvSpPr>
          <p:spPr>
            <a:xfrm>
              <a:off x="2646397" y="1400249"/>
              <a:ext cx="100965" cy="1224915"/>
            </a:xfrm>
            <a:custGeom>
              <a:avLst/>
              <a:gdLst/>
              <a:ahLst/>
              <a:cxnLst/>
              <a:rect l="l" t="t" r="r" b="b"/>
              <a:pathLst>
                <a:path w="100964" h="1224914">
                  <a:moveTo>
                    <a:pt x="0" y="1224299"/>
                  </a:moveTo>
                  <a:lnTo>
                    <a:pt x="100827" y="1224299"/>
                  </a:lnTo>
                  <a:lnTo>
                    <a:pt x="100827" y="0"/>
                  </a:lnTo>
                  <a:lnTo>
                    <a:pt x="0" y="0"/>
                  </a:lnTo>
                  <a:lnTo>
                    <a:pt x="0" y="1224299"/>
                  </a:lnTo>
                  <a:close/>
                </a:path>
              </a:pathLst>
            </a:custGeom>
            <a:solidFill>
              <a:srgbClr val="EBFAFF"/>
            </a:solidFill>
          </p:spPr>
          <p:txBody>
            <a:bodyPr wrap="square" lIns="0" tIns="0" rIns="0" bIns="0" rtlCol="0"/>
            <a:lstStyle/>
            <a:p>
              <a:endParaRPr sz="2400"/>
            </a:p>
          </p:txBody>
        </p:sp>
        <p:sp>
          <p:nvSpPr>
            <p:cNvPr id="8" name="object 8"/>
            <p:cNvSpPr/>
            <p:nvPr/>
          </p:nvSpPr>
          <p:spPr>
            <a:xfrm>
              <a:off x="587525" y="1400249"/>
              <a:ext cx="2160270" cy="1224915"/>
            </a:xfrm>
            <a:custGeom>
              <a:avLst/>
              <a:gdLst/>
              <a:ahLst/>
              <a:cxnLst/>
              <a:rect l="l" t="t" r="r" b="b"/>
              <a:pathLst>
                <a:path w="2160270" h="1224914">
                  <a:moveTo>
                    <a:pt x="2159699" y="0"/>
                  </a:moveTo>
                  <a:lnTo>
                    <a:pt x="2159699" y="1224299"/>
                  </a:lnTo>
                  <a:lnTo>
                    <a:pt x="0" y="12242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9" name="object 9"/>
            <p:cNvSpPr/>
            <p:nvPr/>
          </p:nvSpPr>
          <p:spPr>
            <a:xfrm>
              <a:off x="486697" y="1200630"/>
              <a:ext cx="2160270" cy="300990"/>
            </a:xfrm>
            <a:custGeom>
              <a:avLst/>
              <a:gdLst/>
              <a:ahLst/>
              <a:cxnLst/>
              <a:rect l="l" t="t" r="r" b="b"/>
              <a:pathLst>
                <a:path w="2160270" h="300990">
                  <a:moveTo>
                    <a:pt x="0" y="300769"/>
                  </a:moveTo>
                  <a:lnTo>
                    <a:pt x="2159699" y="300769"/>
                  </a:lnTo>
                  <a:lnTo>
                    <a:pt x="2159699" y="0"/>
                  </a:lnTo>
                  <a:lnTo>
                    <a:pt x="0" y="0"/>
                  </a:lnTo>
                  <a:lnTo>
                    <a:pt x="0" y="300769"/>
                  </a:lnTo>
                  <a:close/>
                </a:path>
              </a:pathLst>
            </a:custGeom>
            <a:solidFill>
              <a:srgbClr val="F4C4D1"/>
            </a:solidFill>
          </p:spPr>
          <p:txBody>
            <a:bodyPr wrap="square" lIns="0" tIns="0" rIns="0" bIns="0" rtlCol="0"/>
            <a:lstStyle/>
            <a:p>
              <a:endParaRPr sz="2400"/>
            </a:p>
          </p:txBody>
        </p:sp>
        <p:sp>
          <p:nvSpPr>
            <p:cNvPr id="10" name="object 10"/>
            <p:cNvSpPr/>
            <p:nvPr/>
          </p:nvSpPr>
          <p:spPr>
            <a:xfrm>
              <a:off x="486697" y="1200630"/>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11" name="object 11"/>
            <p:cNvSpPr/>
            <p:nvPr/>
          </p:nvSpPr>
          <p:spPr>
            <a:xfrm>
              <a:off x="2545637" y="1501399"/>
              <a:ext cx="100965" cy="1223645"/>
            </a:xfrm>
            <a:custGeom>
              <a:avLst/>
              <a:gdLst/>
              <a:ahLst/>
              <a:cxnLst/>
              <a:rect l="l" t="t" r="r" b="b"/>
              <a:pathLst>
                <a:path w="100964" h="1223645">
                  <a:moveTo>
                    <a:pt x="0" y="1223399"/>
                  </a:moveTo>
                  <a:lnTo>
                    <a:pt x="100837" y="1223399"/>
                  </a:lnTo>
                  <a:lnTo>
                    <a:pt x="100837" y="0"/>
                  </a:lnTo>
                  <a:lnTo>
                    <a:pt x="0" y="0"/>
                  </a:lnTo>
                  <a:lnTo>
                    <a:pt x="0" y="1223399"/>
                  </a:lnTo>
                  <a:close/>
                </a:path>
              </a:pathLst>
            </a:custGeom>
            <a:solidFill>
              <a:srgbClr val="EBFAFF"/>
            </a:solidFill>
          </p:spPr>
          <p:txBody>
            <a:bodyPr wrap="square" lIns="0" tIns="0" rIns="0" bIns="0" rtlCol="0"/>
            <a:lstStyle/>
            <a:p>
              <a:endParaRPr sz="2400"/>
            </a:p>
          </p:txBody>
        </p:sp>
        <p:sp>
          <p:nvSpPr>
            <p:cNvPr id="12" name="object 12"/>
            <p:cNvSpPr/>
            <p:nvPr/>
          </p:nvSpPr>
          <p:spPr>
            <a:xfrm>
              <a:off x="486775" y="1501399"/>
              <a:ext cx="2160270" cy="1223645"/>
            </a:xfrm>
            <a:custGeom>
              <a:avLst/>
              <a:gdLst/>
              <a:ahLst/>
              <a:cxnLst/>
              <a:rect l="l" t="t" r="r" b="b"/>
              <a:pathLst>
                <a:path w="2160270" h="1223645">
                  <a:moveTo>
                    <a:pt x="2159699" y="0"/>
                  </a:moveTo>
                  <a:lnTo>
                    <a:pt x="2159699" y="1223399"/>
                  </a:lnTo>
                  <a:lnTo>
                    <a:pt x="0" y="12233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13" name="object 13"/>
            <p:cNvSpPr/>
            <p:nvPr/>
          </p:nvSpPr>
          <p:spPr>
            <a:xfrm>
              <a:off x="385936" y="1301391"/>
              <a:ext cx="2160270" cy="298450"/>
            </a:xfrm>
            <a:custGeom>
              <a:avLst/>
              <a:gdLst/>
              <a:ahLst/>
              <a:cxnLst/>
              <a:rect l="l" t="t" r="r" b="b"/>
              <a:pathLst>
                <a:path w="2160270" h="298450">
                  <a:moveTo>
                    <a:pt x="0" y="298333"/>
                  </a:moveTo>
                  <a:lnTo>
                    <a:pt x="2159700" y="298333"/>
                  </a:lnTo>
                  <a:lnTo>
                    <a:pt x="2159700" y="0"/>
                  </a:lnTo>
                  <a:lnTo>
                    <a:pt x="0" y="0"/>
                  </a:lnTo>
                  <a:lnTo>
                    <a:pt x="0" y="298333"/>
                  </a:lnTo>
                  <a:close/>
                </a:path>
              </a:pathLst>
            </a:custGeom>
            <a:solidFill>
              <a:srgbClr val="F4C4D1"/>
            </a:solidFill>
          </p:spPr>
          <p:txBody>
            <a:bodyPr wrap="square" lIns="0" tIns="0" rIns="0" bIns="0" rtlCol="0"/>
            <a:lstStyle/>
            <a:p>
              <a:endParaRPr sz="2400"/>
            </a:p>
          </p:txBody>
        </p:sp>
        <p:sp>
          <p:nvSpPr>
            <p:cNvPr id="14" name="object 14"/>
            <p:cNvSpPr/>
            <p:nvPr/>
          </p:nvSpPr>
          <p:spPr>
            <a:xfrm>
              <a:off x="385936" y="1301391"/>
              <a:ext cx="2160270" cy="1515745"/>
            </a:xfrm>
            <a:custGeom>
              <a:avLst/>
              <a:gdLst/>
              <a:ahLst/>
              <a:cxnLst/>
              <a:rect l="l" t="t" r="r" b="b"/>
              <a:pathLst>
                <a:path w="2160270" h="1515745">
                  <a:moveTo>
                    <a:pt x="0" y="0"/>
                  </a:moveTo>
                  <a:lnTo>
                    <a:pt x="2159700" y="0"/>
                  </a:lnTo>
                  <a:lnTo>
                    <a:pt x="2159700"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15" name="object 15"/>
            <p:cNvSpPr/>
            <p:nvPr/>
          </p:nvSpPr>
          <p:spPr>
            <a:xfrm>
              <a:off x="386000" y="1599724"/>
              <a:ext cx="2160270" cy="1226820"/>
            </a:xfrm>
            <a:custGeom>
              <a:avLst/>
              <a:gdLst/>
              <a:ahLst/>
              <a:cxnLst/>
              <a:rect l="l" t="t" r="r" b="b"/>
              <a:pathLst>
                <a:path w="2160270" h="1226820">
                  <a:moveTo>
                    <a:pt x="2159699" y="1226400"/>
                  </a:moveTo>
                  <a:lnTo>
                    <a:pt x="0" y="1226400"/>
                  </a:lnTo>
                  <a:lnTo>
                    <a:pt x="0" y="0"/>
                  </a:lnTo>
                  <a:lnTo>
                    <a:pt x="2159699" y="0"/>
                  </a:lnTo>
                  <a:lnTo>
                    <a:pt x="2159699" y="1226400"/>
                  </a:lnTo>
                  <a:close/>
                </a:path>
              </a:pathLst>
            </a:custGeom>
            <a:solidFill>
              <a:srgbClr val="EBFAFF"/>
            </a:solidFill>
          </p:spPr>
          <p:txBody>
            <a:bodyPr wrap="square" lIns="0" tIns="0" rIns="0" bIns="0" rtlCol="0"/>
            <a:lstStyle/>
            <a:p>
              <a:endParaRPr sz="2400"/>
            </a:p>
          </p:txBody>
        </p:sp>
        <p:sp>
          <p:nvSpPr>
            <p:cNvPr id="16" name="object 16"/>
            <p:cNvSpPr/>
            <p:nvPr/>
          </p:nvSpPr>
          <p:spPr>
            <a:xfrm>
              <a:off x="386000" y="1599724"/>
              <a:ext cx="2160270" cy="1226820"/>
            </a:xfrm>
            <a:custGeom>
              <a:avLst/>
              <a:gdLst/>
              <a:ahLst/>
              <a:cxnLst/>
              <a:rect l="l" t="t" r="r" b="b"/>
              <a:pathLst>
                <a:path w="2160270" h="1226820">
                  <a:moveTo>
                    <a:pt x="2159699" y="0"/>
                  </a:moveTo>
                  <a:lnTo>
                    <a:pt x="2159699" y="1226400"/>
                  </a:lnTo>
                  <a:lnTo>
                    <a:pt x="0" y="1226400"/>
                  </a:lnTo>
                  <a:lnTo>
                    <a:pt x="0" y="0"/>
                  </a:lnTo>
                  <a:lnTo>
                    <a:pt x="2159699" y="0"/>
                  </a:lnTo>
                  <a:close/>
                </a:path>
              </a:pathLst>
            </a:custGeom>
            <a:ln w="12599">
              <a:solidFill>
                <a:srgbClr val="237A94"/>
              </a:solidFill>
            </a:ln>
          </p:spPr>
          <p:txBody>
            <a:bodyPr wrap="square" lIns="0" tIns="0" rIns="0" bIns="0" rtlCol="0"/>
            <a:lstStyle/>
            <a:p>
              <a:endParaRPr sz="2400"/>
            </a:p>
          </p:txBody>
        </p:sp>
        <p:sp>
          <p:nvSpPr>
            <p:cNvPr id="17" name="object 17"/>
            <p:cNvSpPr/>
            <p:nvPr/>
          </p:nvSpPr>
          <p:spPr>
            <a:xfrm>
              <a:off x="477862" y="2073552"/>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18" name="object 18"/>
            <p:cNvSpPr/>
            <p:nvPr/>
          </p:nvSpPr>
          <p:spPr>
            <a:xfrm>
              <a:off x="477862" y="2073552"/>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F47272"/>
              </a:solidFill>
            </a:ln>
          </p:spPr>
          <p:txBody>
            <a:bodyPr wrap="square" lIns="0" tIns="0" rIns="0" bIns="0" rtlCol="0"/>
            <a:lstStyle/>
            <a:p>
              <a:endParaRPr sz="2400"/>
            </a:p>
          </p:txBody>
        </p:sp>
        <p:sp>
          <p:nvSpPr>
            <p:cNvPr id="19" name="object 19"/>
            <p:cNvSpPr/>
            <p:nvPr/>
          </p:nvSpPr>
          <p:spPr>
            <a:xfrm>
              <a:off x="814739" y="2073552"/>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20" name="object 20"/>
            <p:cNvSpPr/>
            <p:nvPr/>
          </p:nvSpPr>
          <p:spPr>
            <a:xfrm>
              <a:off x="814739" y="2073552"/>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4696AA"/>
              </a:solidFill>
            </a:ln>
          </p:spPr>
          <p:txBody>
            <a:bodyPr wrap="square" lIns="0" tIns="0" rIns="0" bIns="0" rtlCol="0"/>
            <a:lstStyle/>
            <a:p>
              <a:endParaRPr sz="2400"/>
            </a:p>
          </p:txBody>
        </p:sp>
        <p:sp>
          <p:nvSpPr>
            <p:cNvPr id="21" name="object 21"/>
            <p:cNvSpPr/>
            <p:nvPr/>
          </p:nvSpPr>
          <p:spPr>
            <a:xfrm>
              <a:off x="642562" y="2572452"/>
              <a:ext cx="1270" cy="521334"/>
            </a:xfrm>
            <a:custGeom>
              <a:avLst/>
              <a:gdLst/>
              <a:ahLst/>
              <a:cxnLst/>
              <a:rect l="l" t="t" r="r" b="b"/>
              <a:pathLst>
                <a:path w="1270" h="521335">
                  <a:moveTo>
                    <a:pt x="0" y="521099"/>
                  </a:moveTo>
                  <a:lnTo>
                    <a:pt x="785" y="0"/>
                  </a:lnTo>
                </a:path>
              </a:pathLst>
            </a:custGeom>
            <a:ln w="12599">
              <a:solidFill>
                <a:srgbClr val="434343"/>
              </a:solidFill>
            </a:ln>
          </p:spPr>
          <p:txBody>
            <a:bodyPr wrap="square" lIns="0" tIns="0" rIns="0" bIns="0" rtlCol="0"/>
            <a:lstStyle/>
            <a:p>
              <a:endParaRPr sz="2400"/>
            </a:p>
          </p:txBody>
        </p:sp>
        <p:sp>
          <p:nvSpPr>
            <p:cNvPr id="22" name="object 22"/>
            <p:cNvSpPr/>
            <p:nvPr/>
          </p:nvSpPr>
          <p:spPr>
            <a:xfrm>
              <a:off x="622537" y="2515271"/>
              <a:ext cx="41910" cy="57785"/>
            </a:xfrm>
            <a:custGeom>
              <a:avLst/>
              <a:gdLst/>
              <a:ahLst/>
              <a:cxnLst/>
              <a:rect l="l" t="t" r="r" b="b"/>
              <a:pathLst>
                <a:path w="41909" h="57785">
                  <a:moveTo>
                    <a:pt x="41623" y="57211"/>
                  </a:moveTo>
                  <a:lnTo>
                    <a:pt x="0" y="57148"/>
                  </a:lnTo>
                  <a:lnTo>
                    <a:pt x="20898" y="0"/>
                  </a:lnTo>
                  <a:lnTo>
                    <a:pt x="41623" y="57211"/>
                  </a:lnTo>
                  <a:close/>
                </a:path>
              </a:pathLst>
            </a:custGeom>
            <a:solidFill>
              <a:srgbClr val="434343"/>
            </a:solidFill>
          </p:spPr>
          <p:txBody>
            <a:bodyPr wrap="square" lIns="0" tIns="0" rIns="0" bIns="0" rtlCol="0"/>
            <a:lstStyle/>
            <a:p>
              <a:endParaRPr sz="2400"/>
            </a:p>
          </p:txBody>
        </p:sp>
        <p:sp>
          <p:nvSpPr>
            <p:cNvPr id="23" name="object 23"/>
            <p:cNvSpPr/>
            <p:nvPr/>
          </p:nvSpPr>
          <p:spPr>
            <a:xfrm>
              <a:off x="622537" y="2515271"/>
              <a:ext cx="41910" cy="57785"/>
            </a:xfrm>
            <a:custGeom>
              <a:avLst/>
              <a:gdLst/>
              <a:ahLst/>
              <a:cxnLst/>
              <a:rect l="l" t="t" r="r" b="b"/>
              <a:pathLst>
                <a:path w="41909" h="57785">
                  <a:moveTo>
                    <a:pt x="41623" y="57211"/>
                  </a:moveTo>
                  <a:lnTo>
                    <a:pt x="20898" y="0"/>
                  </a:lnTo>
                  <a:lnTo>
                    <a:pt x="0" y="57148"/>
                  </a:lnTo>
                  <a:lnTo>
                    <a:pt x="41623" y="57211"/>
                  </a:lnTo>
                  <a:close/>
                </a:path>
              </a:pathLst>
            </a:custGeom>
            <a:ln w="12599">
              <a:solidFill>
                <a:srgbClr val="434343"/>
              </a:solidFill>
            </a:ln>
          </p:spPr>
          <p:txBody>
            <a:bodyPr wrap="square" lIns="0" tIns="0" rIns="0" bIns="0" rtlCol="0"/>
            <a:lstStyle/>
            <a:p>
              <a:endParaRPr sz="2400"/>
            </a:p>
          </p:txBody>
        </p:sp>
        <p:sp>
          <p:nvSpPr>
            <p:cNvPr id="24" name="object 24"/>
            <p:cNvSpPr/>
            <p:nvPr/>
          </p:nvSpPr>
          <p:spPr>
            <a:xfrm>
              <a:off x="975625" y="2575745"/>
              <a:ext cx="6350" cy="508634"/>
            </a:xfrm>
            <a:custGeom>
              <a:avLst/>
              <a:gdLst/>
              <a:ahLst/>
              <a:cxnLst/>
              <a:rect l="l" t="t" r="r" b="b"/>
              <a:pathLst>
                <a:path w="6350" h="508635">
                  <a:moveTo>
                    <a:pt x="0" y="508504"/>
                  </a:moveTo>
                  <a:lnTo>
                    <a:pt x="5745" y="0"/>
                  </a:lnTo>
                </a:path>
              </a:pathLst>
            </a:custGeom>
            <a:ln w="12599">
              <a:solidFill>
                <a:srgbClr val="434343"/>
              </a:solidFill>
            </a:ln>
          </p:spPr>
          <p:txBody>
            <a:bodyPr wrap="square" lIns="0" tIns="0" rIns="0" bIns="0" rtlCol="0"/>
            <a:lstStyle/>
            <a:p>
              <a:endParaRPr sz="2400"/>
            </a:p>
          </p:txBody>
        </p:sp>
        <p:sp>
          <p:nvSpPr>
            <p:cNvPr id="25" name="object 25"/>
            <p:cNvSpPr/>
            <p:nvPr/>
          </p:nvSpPr>
          <p:spPr>
            <a:xfrm>
              <a:off x="960560" y="2518568"/>
              <a:ext cx="41910" cy="57785"/>
            </a:xfrm>
            <a:custGeom>
              <a:avLst/>
              <a:gdLst/>
              <a:ahLst/>
              <a:cxnLst/>
              <a:rect l="l" t="t" r="r" b="b"/>
              <a:pathLst>
                <a:path w="41909" h="57785">
                  <a:moveTo>
                    <a:pt x="41620" y="57411"/>
                  </a:moveTo>
                  <a:lnTo>
                    <a:pt x="0" y="56941"/>
                  </a:lnTo>
                  <a:lnTo>
                    <a:pt x="21456" y="0"/>
                  </a:lnTo>
                  <a:lnTo>
                    <a:pt x="41620" y="57411"/>
                  </a:lnTo>
                  <a:close/>
                </a:path>
              </a:pathLst>
            </a:custGeom>
            <a:solidFill>
              <a:srgbClr val="434343"/>
            </a:solidFill>
          </p:spPr>
          <p:txBody>
            <a:bodyPr wrap="square" lIns="0" tIns="0" rIns="0" bIns="0" rtlCol="0"/>
            <a:lstStyle/>
            <a:p>
              <a:endParaRPr sz="2400"/>
            </a:p>
          </p:txBody>
        </p:sp>
        <p:sp>
          <p:nvSpPr>
            <p:cNvPr id="26" name="object 26"/>
            <p:cNvSpPr/>
            <p:nvPr/>
          </p:nvSpPr>
          <p:spPr>
            <a:xfrm>
              <a:off x="960560" y="2518568"/>
              <a:ext cx="41910" cy="57785"/>
            </a:xfrm>
            <a:custGeom>
              <a:avLst/>
              <a:gdLst/>
              <a:ahLst/>
              <a:cxnLst/>
              <a:rect l="l" t="t" r="r" b="b"/>
              <a:pathLst>
                <a:path w="41909" h="57785">
                  <a:moveTo>
                    <a:pt x="41620" y="57411"/>
                  </a:moveTo>
                  <a:lnTo>
                    <a:pt x="21456" y="0"/>
                  </a:lnTo>
                  <a:lnTo>
                    <a:pt x="0" y="56941"/>
                  </a:lnTo>
                  <a:lnTo>
                    <a:pt x="41620" y="57411"/>
                  </a:lnTo>
                  <a:close/>
                </a:path>
              </a:pathLst>
            </a:custGeom>
            <a:ln w="12599">
              <a:solidFill>
                <a:srgbClr val="434343"/>
              </a:solidFill>
            </a:ln>
          </p:spPr>
          <p:txBody>
            <a:bodyPr wrap="square" lIns="0" tIns="0" rIns="0" bIns="0" rtlCol="0"/>
            <a:lstStyle/>
            <a:p>
              <a:endParaRPr sz="2400"/>
            </a:p>
          </p:txBody>
        </p:sp>
        <p:sp>
          <p:nvSpPr>
            <p:cNvPr id="27" name="object 27"/>
            <p:cNvSpPr/>
            <p:nvPr/>
          </p:nvSpPr>
          <p:spPr>
            <a:xfrm>
              <a:off x="1145939" y="2285202"/>
              <a:ext cx="593090" cy="1270"/>
            </a:xfrm>
            <a:custGeom>
              <a:avLst/>
              <a:gdLst/>
              <a:ahLst/>
              <a:cxnLst/>
              <a:rect l="l" t="t" r="r" b="b"/>
              <a:pathLst>
                <a:path w="593089" h="1269">
                  <a:moveTo>
                    <a:pt x="0" y="0"/>
                  </a:moveTo>
                  <a:lnTo>
                    <a:pt x="592799" y="798"/>
                  </a:lnTo>
                </a:path>
              </a:pathLst>
            </a:custGeom>
            <a:ln w="12599">
              <a:solidFill>
                <a:srgbClr val="595959"/>
              </a:solidFill>
            </a:ln>
          </p:spPr>
          <p:txBody>
            <a:bodyPr wrap="square" lIns="0" tIns="0" rIns="0" bIns="0" rtlCol="0"/>
            <a:lstStyle/>
            <a:p>
              <a:endParaRPr sz="2400"/>
            </a:p>
          </p:txBody>
        </p:sp>
        <p:sp>
          <p:nvSpPr>
            <p:cNvPr id="28" name="object 28"/>
            <p:cNvSpPr/>
            <p:nvPr/>
          </p:nvSpPr>
          <p:spPr>
            <a:xfrm>
              <a:off x="1738711" y="2265188"/>
              <a:ext cx="57785" cy="41910"/>
            </a:xfrm>
            <a:custGeom>
              <a:avLst/>
              <a:gdLst/>
              <a:ahLst/>
              <a:cxnLst/>
              <a:rect l="l" t="t" r="r" b="b"/>
              <a:pathLst>
                <a:path w="57785" h="41910">
                  <a:moveTo>
                    <a:pt x="0" y="41623"/>
                  </a:moveTo>
                  <a:lnTo>
                    <a:pt x="55" y="0"/>
                  </a:lnTo>
                  <a:lnTo>
                    <a:pt x="57207" y="20888"/>
                  </a:lnTo>
                  <a:lnTo>
                    <a:pt x="0" y="41623"/>
                  </a:lnTo>
                  <a:close/>
                </a:path>
              </a:pathLst>
            </a:custGeom>
            <a:solidFill>
              <a:srgbClr val="595959"/>
            </a:solidFill>
          </p:spPr>
          <p:txBody>
            <a:bodyPr wrap="square" lIns="0" tIns="0" rIns="0" bIns="0" rtlCol="0"/>
            <a:lstStyle/>
            <a:p>
              <a:endParaRPr sz="2400"/>
            </a:p>
          </p:txBody>
        </p:sp>
        <p:sp>
          <p:nvSpPr>
            <p:cNvPr id="29" name="object 29"/>
            <p:cNvSpPr/>
            <p:nvPr/>
          </p:nvSpPr>
          <p:spPr>
            <a:xfrm>
              <a:off x="1738711" y="2265188"/>
              <a:ext cx="57785" cy="41910"/>
            </a:xfrm>
            <a:custGeom>
              <a:avLst/>
              <a:gdLst/>
              <a:ahLst/>
              <a:cxnLst/>
              <a:rect l="l" t="t" r="r" b="b"/>
              <a:pathLst>
                <a:path w="57785" h="41910">
                  <a:moveTo>
                    <a:pt x="0" y="41623"/>
                  </a:moveTo>
                  <a:lnTo>
                    <a:pt x="57207" y="20888"/>
                  </a:lnTo>
                  <a:lnTo>
                    <a:pt x="55" y="0"/>
                  </a:lnTo>
                  <a:lnTo>
                    <a:pt x="0" y="41623"/>
                  </a:lnTo>
                  <a:close/>
                </a:path>
              </a:pathLst>
            </a:custGeom>
            <a:ln w="12599">
              <a:solidFill>
                <a:srgbClr val="595959"/>
              </a:solidFill>
            </a:ln>
          </p:spPr>
          <p:txBody>
            <a:bodyPr wrap="square" lIns="0" tIns="0" rIns="0" bIns="0" rtlCol="0"/>
            <a:lstStyle/>
            <a:p>
              <a:endParaRPr sz="2400"/>
            </a:p>
          </p:txBody>
        </p:sp>
        <p:pic>
          <p:nvPicPr>
            <p:cNvPr id="30" name="object 30"/>
            <p:cNvPicPr/>
            <p:nvPr/>
          </p:nvPicPr>
          <p:blipFill>
            <a:blip r:embed="rId2" cstate="print"/>
            <a:stretch>
              <a:fillRect/>
            </a:stretch>
          </p:blipFill>
          <p:spPr>
            <a:xfrm>
              <a:off x="1007862" y="1687760"/>
              <a:ext cx="915893" cy="534263"/>
            </a:xfrm>
            <a:prstGeom prst="rect">
              <a:avLst/>
            </a:prstGeom>
          </p:spPr>
        </p:pic>
        <p:sp>
          <p:nvSpPr>
            <p:cNvPr id="31" name="object 31"/>
            <p:cNvSpPr/>
            <p:nvPr/>
          </p:nvSpPr>
          <p:spPr>
            <a:xfrm>
              <a:off x="1253899" y="1718917"/>
              <a:ext cx="462280" cy="203200"/>
            </a:xfrm>
            <a:custGeom>
              <a:avLst/>
              <a:gdLst/>
              <a:ahLst/>
              <a:cxnLst/>
              <a:rect l="l" t="t" r="r" b="b"/>
              <a:pathLst>
                <a:path w="462280" h="203200">
                  <a:moveTo>
                    <a:pt x="461999" y="203099"/>
                  </a:moveTo>
                  <a:lnTo>
                    <a:pt x="0" y="203099"/>
                  </a:lnTo>
                  <a:lnTo>
                    <a:pt x="0" y="0"/>
                  </a:lnTo>
                  <a:lnTo>
                    <a:pt x="461999" y="0"/>
                  </a:lnTo>
                  <a:lnTo>
                    <a:pt x="461999" y="203099"/>
                  </a:lnTo>
                  <a:close/>
                </a:path>
              </a:pathLst>
            </a:custGeom>
            <a:solidFill>
              <a:srgbClr val="EBFAFF"/>
            </a:solidFill>
          </p:spPr>
          <p:txBody>
            <a:bodyPr wrap="square" lIns="0" tIns="0" rIns="0" bIns="0" rtlCol="0"/>
            <a:lstStyle/>
            <a:p>
              <a:endParaRPr sz="2400"/>
            </a:p>
          </p:txBody>
        </p:sp>
        <p:sp>
          <p:nvSpPr>
            <p:cNvPr id="32" name="object 32"/>
            <p:cNvSpPr/>
            <p:nvPr/>
          </p:nvSpPr>
          <p:spPr>
            <a:xfrm>
              <a:off x="3407083" y="1099869"/>
              <a:ext cx="2160270" cy="300355"/>
            </a:xfrm>
            <a:custGeom>
              <a:avLst/>
              <a:gdLst/>
              <a:ahLst/>
              <a:cxnLst/>
              <a:rect l="l" t="t" r="r" b="b"/>
              <a:pathLst>
                <a:path w="2160270" h="300355">
                  <a:moveTo>
                    <a:pt x="0" y="299804"/>
                  </a:moveTo>
                  <a:lnTo>
                    <a:pt x="2159699" y="299804"/>
                  </a:lnTo>
                  <a:lnTo>
                    <a:pt x="2159699" y="0"/>
                  </a:lnTo>
                  <a:lnTo>
                    <a:pt x="0" y="0"/>
                  </a:lnTo>
                  <a:lnTo>
                    <a:pt x="0" y="299804"/>
                  </a:lnTo>
                  <a:close/>
                </a:path>
              </a:pathLst>
            </a:custGeom>
            <a:solidFill>
              <a:srgbClr val="F4C4D1"/>
            </a:solidFill>
          </p:spPr>
          <p:txBody>
            <a:bodyPr wrap="square" lIns="0" tIns="0" rIns="0" bIns="0" rtlCol="0"/>
            <a:lstStyle/>
            <a:p>
              <a:endParaRPr sz="2400"/>
            </a:p>
          </p:txBody>
        </p:sp>
        <p:sp>
          <p:nvSpPr>
            <p:cNvPr id="33" name="object 33"/>
            <p:cNvSpPr/>
            <p:nvPr/>
          </p:nvSpPr>
          <p:spPr>
            <a:xfrm>
              <a:off x="3407083" y="1099869"/>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34" name="object 34"/>
            <p:cNvSpPr/>
            <p:nvPr/>
          </p:nvSpPr>
          <p:spPr>
            <a:xfrm>
              <a:off x="5466022" y="1399673"/>
              <a:ext cx="100965" cy="1225550"/>
            </a:xfrm>
            <a:custGeom>
              <a:avLst/>
              <a:gdLst/>
              <a:ahLst/>
              <a:cxnLst/>
              <a:rect l="l" t="t" r="r" b="b"/>
              <a:pathLst>
                <a:path w="100964" h="1225550">
                  <a:moveTo>
                    <a:pt x="0" y="1225499"/>
                  </a:moveTo>
                  <a:lnTo>
                    <a:pt x="100827" y="1225499"/>
                  </a:lnTo>
                  <a:lnTo>
                    <a:pt x="100827" y="0"/>
                  </a:lnTo>
                  <a:lnTo>
                    <a:pt x="0" y="0"/>
                  </a:lnTo>
                  <a:lnTo>
                    <a:pt x="0" y="1225499"/>
                  </a:lnTo>
                  <a:close/>
                </a:path>
              </a:pathLst>
            </a:custGeom>
            <a:solidFill>
              <a:srgbClr val="EBFAFF"/>
            </a:solidFill>
          </p:spPr>
          <p:txBody>
            <a:bodyPr wrap="square" lIns="0" tIns="0" rIns="0" bIns="0" rtlCol="0"/>
            <a:lstStyle/>
            <a:p>
              <a:endParaRPr sz="2400"/>
            </a:p>
          </p:txBody>
        </p:sp>
        <p:sp>
          <p:nvSpPr>
            <p:cNvPr id="35" name="object 35"/>
            <p:cNvSpPr/>
            <p:nvPr/>
          </p:nvSpPr>
          <p:spPr>
            <a:xfrm>
              <a:off x="3407149" y="1399673"/>
              <a:ext cx="2160270" cy="1225550"/>
            </a:xfrm>
            <a:custGeom>
              <a:avLst/>
              <a:gdLst/>
              <a:ahLst/>
              <a:cxnLst/>
              <a:rect l="l" t="t" r="r" b="b"/>
              <a:pathLst>
                <a:path w="2160270" h="1225550">
                  <a:moveTo>
                    <a:pt x="2159699" y="0"/>
                  </a:moveTo>
                  <a:lnTo>
                    <a:pt x="2159699" y="1225499"/>
                  </a:lnTo>
                  <a:lnTo>
                    <a:pt x="0" y="12254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36" name="object 36"/>
            <p:cNvSpPr/>
            <p:nvPr/>
          </p:nvSpPr>
          <p:spPr>
            <a:xfrm>
              <a:off x="3306322" y="1200630"/>
              <a:ext cx="2160270" cy="299720"/>
            </a:xfrm>
            <a:custGeom>
              <a:avLst/>
              <a:gdLst/>
              <a:ahLst/>
              <a:cxnLst/>
              <a:rect l="l" t="t" r="r" b="b"/>
              <a:pathLst>
                <a:path w="2160270" h="299719">
                  <a:moveTo>
                    <a:pt x="0" y="299446"/>
                  </a:moveTo>
                  <a:lnTo>
                    <a:pt x="2159699" y="299446"/>
                  </a:lnTo>
                  <a:lnTo>
                    <a:pt x="2159699" y="0"/>
                  </a:lnTo>
                  <a:lnTo>
                    <a:pt x="0" y="0"/>
                  </a:lnTo>
                  <a:lnTo>
                    <a:pt x="0" y="299446"/>
                  </a:lnTo>
                  <a:close/>
                </a:path>
              </a:pathLst>
            </a:custGeom>
            <a:solidFill>
              <a:srgbClr val="F4C4D1"/>
            </a:solidFill>
          </p:spPr>
          <p:txBody>
            <a:bodyPr wrap="square" lIns="0" tIns="0" rIns="0" bIns="0" rtlCol="0"/>
            <a:lstStyle/>
            <a:p>
              <a:endParaRPr sz="2400"/>
            </a:p>
          </p:txBody>
        </p:sp>
        <p:sp>
          <p:nvSpPr>
            <p:cNvPr id="37" name="object 37"/>
            <p:cNvSpPr/>
            <p:nvPr/>
          </p:nvSpPr>
          <p:spPr>
            <a:xfrm>
              <a:off x="3306322" y="1200630"/>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38" name="object 38"/>
            <p:cNvSpPr/>
            <p:nvPr/>
          </p:nvSpPr>
          <p:spPr>
            <a:xfrm>
              <a:off x="5365261" y="1500076"/>
              <a:ext cx="100965" cy="1225550"/>
            </a:xfrm>
            <a:custGeom>
              <a:avLst/>
              <a:gdLst/>
              <a:ahLst/>
              <a:cxnLst/>
              <a:rect l="l" t="t" r="r" b="b"/>
              <a:pathLst>
                <a:path w="100964" h="1225550">
                  <a:moveTo>
                    <a:pt x="0" y="1225499"/>
                  </a:moveTo>
                  <a:lnTo>
                    <a:pt x="100838" y="1225499"/>
                  </a:lnTo>
                  <a:lnTo>
                    <a:pt x="100838" y="0"/>
                  </a:lnTo>
                  <a:lnTo>
                    <a:pt x="0" y="0"/>
                  </a:lnTo>
                  <a:lnTo>
                    <a:pt x="0" y="1225499"/>
                  </a:lnTo>
                  <a:close/>
                </a:path>
              </a:pathLst>
            </a:custGeom>
            <a:solidFill>
              <a:srgbClr val="EBFAFF"/>
            </a:solidFill>
          </p:spPr>
          <p:txBody>
            <a:bodyPr wrap="square" lIns="0" tIns="0" rIns="0" bIns="0" rtlCol="0"/>
            <a:lstStyle/>
            <a:p>
              <a:endParaRPr sz="2400"/>
            </a:p>
          </p:txBody>
        </p:sp>
        <p:sp>
          <p:nvSpPr>
            <p:cNvPr id="39" name="object 39"/>
            <p:cNvSpPr/>
            <p:nvPr/>
          </p:nvSpPr>
          <p:spPr>
            <a:xfrm>
              <a:off x="3306399" y="1500076"/>
              <a:ext cx="2160270" cy="1225550"/>
            </a:xfrm>
            <a:custGeom>
              <a:avLst/>
              <a:gdLst/>
              <a:ahLst/>
              <a:cxnLst/>
              <a:rect l="l" t="t" r="r" b="b"/>
              <a:pathLst>
                <a:path w="2160270" h="1225550">
                  <a:moveTo>
                    <a:pt x="2159699" y="0"/>
                  </a:moveTo>
                  <a:lnTo>
                    <a:pt x="2159699" y="1225499"/>
                  </a:lnTo>
                  <a:lnTo>
                    <a:pt x="0" y="12254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40" name="object 40"/>
            <p:cNvSpPr/>
            <p:nvPr/>
          </p:nvSpPr>
          <p:spPr>
            <a:xfrm>
              <a:off x="3205562" y="1301391"/>
              <a:ext cx="2160270" cy="298450"/>
            </a:xfrm>
            <a:custGeom>
              <a:avLst/>
              <a:gdLst/>
              <a:ahLst/>
              <a:cxnLst/>
              <a:rect l="l" t="t" r="r" b="b"/>
              <a:pathLst>
                <a:path w="2160270" h="298450">
                  <a:moveTo>
                    <a:pt x="0" y="298333"/>
                  </a:moveTo>
                  <a:lnTo>
                    <a:pt x="2159699" y="298333"/>
                  </a:lnTo>
                  <a:lnTo>
                    <a:pt x="2159699" y="0"/>
                  </a:lnTo>
                  <a:lnTo>
                    <a:pt x="0" y="0"/>
                  </a:lnTo>
                  <a:lnTo>
                    <a:pt x="0" y="298333"/>
                  </a:lnTo>
                  <a:close/>
                </a:path>
              </a:pathLst>
            </a:custGeom>
            <a:solidFill>
              <a:srgbClr val="F4C4D1"/>
            </a:solidFill>
          </p:spPr>
          <p:txBody>
            <a:bodyPr wrap="square" lIns="0" tIns="0" rIns="0" bIns="0" rtlCol="0"/>
            <a:lstStyle/>
            <a:p>
              <a:endParaRPr sz="2400"/>
            </a:p>
          </p:txBody>
        </p:sp>
        <p:sp>
          <p:nvSpPr>
            <p:cNvPr id="41" name="object 41"/>
            <p:cNvSpPr/>
            <p:nvPr/>
          </p:nvSpPr>
          <p:spPr>
            <a:xfrm>
              <a:off x="3205562" y="1301391"/>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42" name="object 42"/>
            <p:cNvSpPr/>
            <p:nvPr/>
          </p:nvSpPr>
          <p:spPr>
            <a:xfrm>
              <a:off x="3205625" y="1599724"/>
              <a:ext cx="2160270" cy="1226820"/>
            </a:xfrm>
            <a:custGeom>
              <a:avLst/>
              <a:gdLst/>
              <a:ahLst/>
              <a:cxnLst/>
              <a:rect l="l" t="t" r="r" b="b"/>
              <a:pathLst>
                <a:path w="2160270" h="1226820">
                  <a:moveTo>
                    <a:pt x="2159699" y="1226400"/>
                  </a:moveTo>
                  <a:lnTo>
                    <a:pt x="0" y="1226400"/>
                  </a:lnTo>
                  <a:lnTo>
                    <a:pt x="0" y="0"/>
                  </a:lnTo>
                  <a:lnTo>
                    <a:pt x="2159699" y="0"/>
                  </a:lnTo>
                  <a:lnTo>
                    <a:pt x="2159699" y="1226400"/>
                  </a:lnTo>
                  <a:close/>
                </a:path>
              </a:pathLst>
            </a:custGeom>
            <a:solidFill>
              <a:srgbClr val="EBFAFF"/>
            </a:solidFill>
          </p:spPr>
          <p:txBody>
            <a:bodyPr wrap="square" lIns="0" tIns="0" rIns="0" bIns="0" rtlCol="0"/>
            <a:lstStyle/>
            <a:p>
              <a:endParaRPr sz="2400"/>
            </a:p>
          </p:txBody>
        </p:sp>
        <p:sp>
          <p:nvSpPr>
            <p:cNvPr id="43" name="object 43"/>
            <p:cNvSpPr/>
            <p:nvPr/>
          </p:nvSpPr>
          <p:spPr>
            <a:xfrm>
              <a:off x="3205625" y="1599724"/>
              <a:ext cx="2160270" cy="1226820"/>
            </a:xfrm>
            <a:custGeom>
              <a:avLst/>
              <a:gdLst/>
              <a:ahLst/>
              <a:cxnLst/>
              <a:rect l="l" t="t" r="r" b="b"/>
              <a:pathLst>
                <a:path w="2160270" h="1226820">
                  <a:moveTo>
                    <a:pt x="2159699" y="0"/>
                  </a:moveTo>
                  <a:lnTo>
                    <a:pt x="2159699" y="1226400"/>
                  </a:lnTo>
                  <a:lnTo>
                    <a:pt x="0" y="1226400"/>
                  </a:lnTo>
                  <a:lnTo>
                    <a:pt x="0" y="0"/>
                  </a:lnTo>
                  <a:lnTo>
                    <a:pt x="2159699" y="0"/>
                  </a:lnTo>
                  <a:close/>
                </a:path>
              </a:pathLst>
            </a:custGeom>
            <a:ln w="12599">
              <a:solidFill>
                <a:srgbClr val="237A94"/>
              </a:solidFill>
            </a:ln>
          </p:spPr>
          <p:txBody>
            <a:bodyPr wrap="square" lIns="0" tIns="0" rIns="0" bIns="0" rtlCol="0"/>
            <a:lstStyle/>
            <a:p>
              <a:endParaRPr sz="2400"/>
            </a:p>
          </p:txBody>
        </p:sp>
        <p:sp>
          <p:nvSpPr>
            <p:cNvPr id="44" name="object 44"/>
            <p:cNvSpPr/>
            <p:nvPr/>
          </p:nvSpPr>
          <p:spPr>
            <a:xfrm>
              <a:off x="2646484" y="2141555"/>
              <a:ext cx="453390" cy="1270"/>
            </a:xfrm>
            <a:custGeom>
              <a:avLst/>
              <a:gdLst/>
              <a:ahLst/>
              <a:cxnLst/>
              <a:rect l="l" t="t" r="r" b="b"/>
              <a:pathLst>
                <a:path w="453389" h="1269">
                  <a:moveTo>
                    <a:pt x="0" y="1197"/>
                  </a:moveTo>
                  <a:lnTo>
                    <a:pt x="453000" y="0"/>
                  </a:lnTo>
                </a:path>
              </a:pathLst>
            </a:custGeom>
            <a:ln w="19049">
              <a:solidFill>
                <a:srgbClr val="257693"/>
              </a:solidFill>
            </a:ln>
          </p:spPr>
          <p:txBody>
            <a:bodyPr wrap="square" lIns="0" tIns="0" rIns="0" bIns="0" rtlCol="0"/>
            <a:lstStyle/>
            <a:p>
              <a:endParaRPr sz="2400"/>
            </a:p>
          </p:txBody>
        </p:sp>
        <p:pic>
          <p:nvPicPr>
            <p:cNvPr id="45" name="object 45"/>
            <p:cNvPicPr/>
            <p:nvPr/>
          </p:nvPicPr>
          <p:blipFill>
            <a:blip r:embed="rId3" cstate="print"/>
            <a:stretch>
              <a:fillRect/>
            </a:stretch>
          </p:blipFill>
          <p:spPr>
            <a:xfrm>
              <a:off x="3089877" y="2100565"/>
              <a:ext cx="105583" cy="81980"/>
            </a:xfrm>
            <a:prstGeom prst="rect">
              <a:avLst/>
            </a:prstGeom>
          </p:spPr>
        </p:pic>
        <p:sp>
          <p:nvSpPr>
            <p:cNvPr id="46" name="object 46"/>
            <p:cNvSpPr/>
            <p:nvPr/>
          </p:nvSpPr>
          <p:spPr>
            <a:xfrm>
              <a:off x="6226683" y="1099869"/>
              <a:ext cx="2160270" cy="299085"/>
            </a:xfrm>
            <a:custGeom>
              <a:avLst/>
              <a:gdLst/>
              <a:ahLst/>
              <a:cxnLst/>
              <a:rect l="l" t="t" r="r" b="b"/>
              <a:pathLst>
                <a:path w="2160270" h="299084">
                  <a:moveTo>
                    <a:pt x="0" y="298954"/>
                  </a:moveTo>
                  <a:lnTo>
                    <a:pt x="2159699" y="298954"/>
                  </a:lnTo>
                  <a:lnTo>
                    <a:pt x="2159699" y="0"/>
                  </a:lnTo>
                  <a:lnTo>
                    <a:pt x="0" y="0"/>
                  </a:lnTo>
                  <a:lnTo>
                    <a:pt x="0" y="298954"/>
                  </a:lnTo>
                  <a:close/>
                </a:path>
              </a:pathLst>
            </a:custGeom>
            <a:solidFill>
              <a:srgbClr val="F4C4D1"/>
            </a:solidFill>
          </p:spPr>
          <p:txBody>
            <a:bodyPr wrap="square" lIns="0" tIns="0" rIns="0" bIns="0" rtlCol="0"/>
            <a:lstStyle/>
            <a:p>
              <a:endParaRPr sz="2400"/>
            </a:p>
          </p:txBody>
        </p:sp>
        <p:sp>
          <p:nvSpPr>
            <p:cNvPr id="47" name="object 47"/>
            <p:cNvSpPr/>
            <p:nvPr/>
          </p:nvSpPr>
          <p:spPr>
            <a:xfrm>
              <a:off x="6226683" y="1099869"/>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48" name="object 48"/>
            <p:cNvSpPr/>
            <p:nvPr/>
          </p:nvSpPr>
          <p:spPr>
            <a:xfrm>
              <a:off x="8285622" y="1398823"/>
              <a:ext cx="100965" cy="1225550"/>
            </a:xfrm>
            <a:custGeom>
              <a:avLst/>
              <a:gdLst/>
              <a:ahLst/>
              <a:cxnLst/>
              <a:rect l="l" t="t" r="r" b="b"/>
              <a:pathLst>
                <a:path w="100965" h="1225550">
                  <a:moveTo>
                    <a:pt x="0" y="1225499"/>
                  </a:moveTo>
                  <a:lnTo>
                    <a:pt x="100827" y="1225499"/>
                  </a:lnTo>
                  <a:lnTo>
                    <a:pt x="100827" y="0"/>
                  </a:lnTo>
                  <a:lnTo>
                    <a:pt x="0" y="0"/>
                  </a:lnTo>
                  <a:lnTo>
                    <a:pt x="0" y="1225499"/>
                  </a:lnTo>
                  <a:close/>
                </a:path>
              </a:pathLst>
            </a:custGeom>
            <a:solidFill>
              <a:srgbClr val="EBFAFF"/>
            </a:solidFill>
          </p:spPr>
          <p:txBody>
            <a:bodyPr wrap="square" lIns="0" tIns="0" rIns="0" bIns="0" rtlCol="0"/>
            <a:lstStyle/>
            <a:p>
              <a:endParaRPr sz="2400"/>
            </a:p>
          </p:txBody>
        </p:sp>
        <p:sp>
          <p:nvSpPr>
            <p:cNvPr id="49" name="object 49"/>
            <p:cNvSpPr/>
            <p:nvPr/>
          </p:nvSpPr>
          <p:spPr>
            <a:xfrm>
              <a:off x="6226750" y="1398823"/>
              <a:ext cx="2160270" cy="1225550"/>
            </a:xfrm>
            <a:custGeom>
              <a:avLst/>
              <a:gdLst/>
              <a:ahLst/>
              <a:cxnLst/>
              <a:rect l="l" t="t" r="r" b="b"/>
              <a:pathLst>
                <a:path w="2160270" h="1225550">
                  <a:moveTo>
                    <a:pt x="2159699" y="0"/>
                  </a:moveTo>
                  <a:lnTo>
                    <a:pt x="2159699" y="1225499"/>
                  </a:lnTo>
                  <a:lnTo>
                    <a:pt x="0" y="12254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50" name="object 50"/>
            <p:cNvSpPr/>
            <p:nvPr/>
          </p:nvSpPr>
          <p:spPr>
            <a:xfrm>
              <a:off x="6125922" y="1200630"/>
              <a:ext cx="2160270" cy="300355"/>
            </a:xfrm>
            <a:custGeom>
              <a:avLst/>
              <a:gdLst/>
              <a:ahLst/>
              <a:cxnLst/>
              <a:rect l="l" t="t" r="r" b="b"/>
              <a:pathLst>
                <a:path w="2160270" h="300355">
                  <a:moveTo>
                    <a:pt x="0" y="300246"/>
                  </a:moveTo>
                  <a:lnTo>
                    <a:pt x="2159699" y="300246"/>
                  </a:lnTo>
                  <a:lnTo>
                    <a:pt x="2159699" y="0"/>
                  </a:lnTo>
                  <a:lnTo>
                    <a:pt x="0" y="0"/>
                  </a:lnTo>
                  <a:lnTo>
                    <a:pt x="0" y="300246"/>
                  </a:lnTo>
                  <a:close/>
                </a:path>
              </a:pathLst>
            </a:custGeom>
            <a:solidFill>
              <a:srgbClr val="F4C4D1"/>
            </a:solidFill>
          </p:spPr>
          <p:txBody>
            <a:bodyPr wrap="square" lIns="0" tIns="0" rIns="0" bIns="0" rtlCol="0"/>
            <a:lstStyle/>
            <a:p>
              <a:endParaRPr sz="2400"/>
            </a:p>
          </p:txBody>
        </p:sp>
        <p:sp>
          <p:nvSpPr>
            <p:cNvPr id="51" name="object 51"/>
            <p:cNvSpPr/>
            <p:nvPr/>
          </p:nvSpPr>
          <p:spPr>
            <a:xfrm>
              <a:off x="6125922" y="1200630"/>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52" name="object 52"/>
            <p:cNvSpPr/>
            <p:nvPr/>
          </p:nvSpPr>
          <p:spPr>
            <a:xfrm>
              <a:off x="8184861" y="1500876"/>
              <a:ext cx="100965" cy="1224915"/>
            </a:xfrm>
            <a:custGeom>
              <a:avLst/>
              <a:gdLst/>
              <a:ahLst/>
              <a:cxnLst/>
              <a:rect l="l" t="t" r="r" b="b"/>
              <a:pathLst>
                <a:path w="100965" h="1224914">
                  <a:moveTo>
                    <a:pt x="0" y="1224299"/>
                  </a:moveTo>
                  <a:lnTo>
                    <a:pt x="100838" y="1224299"/>
                  </a:lnTo>
                  <a:lnTo>
                    <a:pt x="100838" y="0"/>
                  </a:lnTo>
                  <a:lnTo>
                    <a:pt x="0" y="0"/>
                  </a:lnTo>
                  <a:lnTo>
                    <a:pt x="0" y="1224299"/>
                  </a:lnTo>
                  <a:close/>
                </a:path>
              </a:pathLst>
            </a:custGeom>
            <a:solidFill>
              <a:srgbClr val="EBFAFF"/>
            </a:solidFill>
          </p:spPr>
          <p:txBody>
            <a:bodyPr wrap="square" lIns="0" tIns="0" rIns="0" bIns="0" rtlCol="0"/>
            <a:lstStyle/>
            <a:p>
              <a:endParaRPr sz="2400"/>
            </a:p>
          </p:txBody>
        </p:sp>
        <p:sp>
          <p:nvSpPr>
            <p:cNvPr id="53" name="object 53"/>
            <p:cNvSpPr/>
            <p:nvPr/>
          </p:nvSpPr>
          <p:spPr>
            <a:xfrm>
              <a:off x="6126000" y="1500876"/>
              <a:ext cx="2160270" cy="1224915"/>
            </a:xfrm>
            <a:custGeom>
              <a:avLst/>
              <a:gdLst/>
              <a:ahLst/>
              <a:cxnLst/>
              <a:rect l="l" t="t" r="r" b="b"/>
              <a:pathLst>
                <a:path w="2160270" h="1224914">
                  <a:moveTo>
                    <a:pt x="2159699" y="0"/>
                  </a:moveTo>
                  <a:lnTo>
                    <a:pt x="2159699" y="1224299"/>
                  </a:lnTo>
                  <a:lnTo>
                    <a:pt x="0" y="1224299"/>
                  </a:lnTo>
                  <a:lnTo>
                    <a:pt x="0" y="0"/>
                  </a:lnTo>
                  <a:lnTo>
                    <a:pt x="2159699" y="0"/>
                  </a:lnTo>
                  <a:close/>
                </a:path>
              </a:pathLst>
            </a:custGeom>
            <a:ln w="12599">
              <a:solidFill>
                <a:srgbClr val="237A94"/>
              </a:solidFill>
            </a:ln>
          </p:spPr>
          <p:txBody>
            <a:bodyPr wrap="square" lIns="0" tIns="0" rIns="0" bIns="0" rtlCol="0"/>
            <a:lstStyle/>
            <a:p>
              <a:endParaRPr sz="2400"/>
            </a:p>
          </p:txBody>
        </p:sp>
        <p:sp>
          <p:nvSpPr>
            <p:cNvPr id="54" name="object 54"/>
            <p:cNvSpPr/>
            <p:nvPr/>
          </p:nvSpPr>
          <p:spPr>
            <a:xfrm>
              <a:off x="6025161" y="1301391"/>
              <a:ext cx="2160270" cy="298450"/>
            </a:xfrm>
            <a:custGeom>
              <a:avLst/>
              <a:gdLst/>
              <a:ahLst/>
              <a:cxnLst/>
              <a:rect l="l" t="t" r="r" b="b"/>
              <a:pathLst>
                <a:path w="2160270" h="298450">
                  <a:moveTo>
                    <a:pt x="0" y="298333"/>
                  </a:moveTo>
                  <a:lnTo>
                    <a:pt x="2159699" y="298333"/>
                  </a:lnTo>
                  <a:lnTo>
                    <a:pt x="2159699" y="0"/>
                  </a:lnTo>
                  <a:lnTo>
                    <a:pt x="0" y="0"/>
                  </a:lnTo>
                  <a:lnTo>
                    <a:pt x="0" y="298333"/>
                  </a:lnTo>
                  <a:close/>
                </a:path>
              </a:pathLst>
            </a:custGeom>
            <a:solidFill>
              <a:srgbClr val="F4C4D1"/>
            </a:solidFill>
          </p:spPr>
          <p:txBody>
            <a:bodyPr wrap="square" lIns="0" tIns="0" rIns="0" bIns="0" rtlCol="0"/>
            <a:lstStyle/>
            <a:p>
              <a:endParaRPr sz="2400"/>
            </a:p>
          </p:txBody>
        </p:sp>
        <p:sp>
          <p:nvSpPr>
            <p:cNvPr id="55" name="object 55"/>
            <p:cNvSpPr/>
            <p:nvPr/>
          </p:nvSpPr>
          <p:spPr>
            <a:xfrm>
              <a:off x="6025161" y="1301391"/>
              <a:ext cx="2160270" cy="1515745"/>
            </a:xfrm>
            <a:custGeom>
              <a:avLst/>
              <a:gdLst/>
              <a:ahLst/>
              <a:cxnLst/>
              <a:rect l="l" t="t" r="r" b="b"/>
              <a:pathLst>
                <a:path w="2160270" h="1515745">
                  <a:moveTo>
                    <a:pt x="0" y="0"/>
                  </a:moveTo>
                  <a:lnTo>
                    <a:pt x="2159699" y="0"/>
                  </a:lnTo>
                  <a:lnTo>
                    <a:pt x="2159699" y="1515599"/>
                  </a:lnTo>
                  <a:lnTo>
                    <a:pt x="0" y="1515599"/>
                  </a:lnTo>
                  <a:lnTo>
                    <a:pt x="0" y="0"/>
                  </a:lnTo>
                  <a:close/>
                </a:path>
              </a:pathLst>
            </a:custGeom>
            <a:ln w="12599">
              <a:solidFill>
                <a:srgbClr val="F65B66"/>
              </a:solidFill>
            </a:ln>
          </p:spPr>
          <p:txBody>
            <a:bodyPr wrap="square" lIns="0" tIns="0" rIns="0" bIns="0" rtlCol="0"/>
            <a:lstStyle/>
            <a:p>
              <a:endParaRPr sz="2400"/>
            </a:p>
          </p:txBody>
        </p:sp>
        <p:sp>
          <p:nvSpPr>
            <p:cNvPr id="56" name="object 56"/>
            <p:cNvSpPr/>
            <p:nvPr/>
          </p:nvSpPr>
          <p:spPr>
            <a:xfrm>
              <a:off x="6025224" y="1599724"/>
              <a:ext cx="2160270" cy="1226820"/>
            </a:xfrm>
            <a:custGeom>
              <a:avLst/>
              <a:gdLst/>
              <a:ahLst/>
              <a:cxnLst/>
              <a:rect l="l" t="t" r="r" b="b"/>
              <a:pathLst>
                <a:path w="2160270" h="1226820">
                  <a:moveTo>
                    <a:pt x="2159699" y="1226400"/>
                  </a:moveTo>
                  <a:lnTo>
                    <a:pt x="0" y="1226400"/>
                  </a:lnTo>
                  <a:lnTo>
                    <a:pt x="0" y="0"/>
                  </a:lnTo>
                  <a:lnTo>
                    <a:pt x="2159699" y="0"/>
                  </a:lnTo>
                  <a:lnTo>
                    <a:pt x="2159699" y="1226400"/>
                  </a:lnTo>
                  <a:close/>
                </a:path>
              </a:pathLst>
            </a:custGeom>
            <a:solidFill>
              <a:srgbClr val="EBFAFF"/>
            </a:solidFill>
          </p:spPr>
          <p:txBody>
            <a:bodyPr wrap="square" lIns="0" tIns="0" rIns="0" bIns="0" rtlCol="0"/>
            <a:lstStyle/>
            <a:p>
              <a:endParaRPr sz="2400"/>
            </a:p>
          </p:txBody>
        </p:sp>
        <p:sp>
          <p:nvSpPr>
            <p:cNvPr id="57" name="object 57"/>
            <p:cNvSpPr/>
            <p:nvPr/>
          </p:nvSpPr>
          <p:spPr>
            <a:xfrm>
              <a:off x="6025224" y="1599724"/>
              <a:ext cx="2160270" cy="1226820"/>
            </a:xfrm>
            <a:custGeom>
              <a:avLst/>
              <a:gdLst/>
              <a:ahLst/>
              <a:cxnLst/>
              <a:rect l="l" t="t" r="r" b="b"/>
              <a:pathLst>
                <a:path w="2160270" h="1226820">
                  <a:moveTo>
                    <a:pt x="2159699" y="0"/>
                  </a:moveTo>
                  <a:lnTo>
                    <a:pt x="2159699" y="1226400"/>
                  </a:lnTo>
                  <a:lnTo>
                    <a:pt x="0" y="1226400"/>
                  </a:lnTo>
                  <a:lnTo>
                    <a:pt x="0" y="0"/>
                  </a:lnTo>
                  <a:lnTo>
                    <a:pt x="2159699" y="0"/>
                  </a:lnTo>
                  <a:close/>
                </a:path>
              </a:pathLst>
            </a:custGeom>
            <a:ln w="12599">
              <a:solidFill>
                <a:srgbClr val="237A94"/>
              </a:solidFill>
            </a:ln>
          </p:spPr>
          <p:txBody>
            <a:bodyPr wrap="square" lIns="0" tIns="0" rIns="0" bIns="0" rtlCol="0"/>
            <a:lstStyle/>
            <a:p>
              <a:endParaRPr sz="2400"/>
            </a:p>
          </p:txBody>
        </p:sp>
        <p:sp>
          <p:nvSpPr>
            <p:cNvPr id="58" name="object 58"/>
            <p:cNvSpPr/>
            <p:nvPr/>
          </p:nvSpPr>
          <p:spPr>
            <a:xfrm>
              <a:off x="5465884" y="2141555"/>
              <a:ext cx="453390" cy="1270"/>
            </a:xfrm>
            <a:custGeom>
              <a:avLst/>
              <a:gdLst/>
              <a:ahLst/>
              <a:cxnLst/>
              <a:rect l="l" t="t" r="r" b="b"/>
              <a:pathLst>
                <a:path w="453389" h="1269">
                  <a:moveTo>
                    <a:pt x="0" y="1197"/>
                  </a:moveTo>
                  <a:lnTo>
                    <a:pt x="453000" y="0"/>
                  </a:lnTo>
                </a:path>
              </a:pathLst>
            </a:custGeom>
            <a:ln w="19049">
              <a:solidFill>
                <a:srgbClr val="257693"/>
              </a:solidFill>
            </a:ln>
          </p:spPr>
          <p:txBody>
            <a:bodyPr wrap="square" lIns="0" tIns="0" rIns="0" bIns="0" rtlCol="0"/>
            <a:lstStyle/>
            <a:p>
              <a:endParaRPr sz="2400"/>
            </a:p>
          </p:txBody>
        </p:sp>
        <p:pic>
          <p:nvPicPr>
            <p:cNvPr id="59" name="object 59"/>
            <p:cNvPicPr/>
            <p:nvPr/>
          </p:nvPicPr>
          <p:blipFill>
            <a:blip r:embed="rId3" cstate="print"/>
            <a:stretch>
              <a:fillRect/>
            </a:stretch>
          </p:blipFill>
          <p:spPr>
            <a:xfrm>
              <a:off x="5909276" y="2100565"/>
              <a:ext cx="105583" cy="81980"/>
            </a:xfrm>
            <a:prstGeom prst="rect">
              <a:avLst/>
            </a:prstGeom>
          </p:spPr>
        </p:pic>
        <p:sp>
          <p:nvSpPr>
            <p:cNvPr id="60" name="object 60"/>
            <p:cNvSpPr/>
            <p:nvPr/>
          </p:nvSpPr>
          <p:spPr>
            <a:xfrm>
              <a:off x="6529740" y="2073552"/>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61" name="object 61"/>
            <p:cNvSpPr/>
            <p:nvPr/>
          </p:nvSpPr>
          <p:spPr>
            <a:xfrm>
              <a:off x="6529740" y="2073552"/>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5AB46E"/>
              </a:solidFill>
            </a:ln>
          </p:spPr>
          <p:txBody>
            <a:bodyPr wrap="square" lIns="0" tIns="0" rIns="0" bIns="0" rtlCol="0"/>
            <a:lstStyle/>
            <a:p>
              <a:endParaRPr sz="2400"/>
            </a:p>
          </p:txBody>
        </p:sp>
        <p:sp>
          <p:nvSpPr>
            <p:cNvPr id="62" name="object 62"/>
            <p:cNvSpPr/>
            <p:nvPr/>
          </p:nvSpPr>
          <p:spPr>
            <a:xfrm>
              <a:off x="6686000" y="2575838"/>
              <a:ext cx="10160" cy="568960"/>
            </a:xfrm>
            <a:custGeom>
              <a:avLst/>
              <a:gdLst/>
              <a:ahLst/>
              <a:cxnLst/>
              <a:rect l="l" t="t" r="r" b="b"/>
              <a:pathLst>
                <a:path w="10159" h="568960">
                  <a:moveTo>
                    <a:pt x="0" y="568511"/>
                  </a:moveTo>
                  <a:lnTo>
                    <a:pt x="9797" y="0"/>
                  </a:lnTo>
                </a:path>
              </a:pathLst>
            </a:custGeom>
            <a:ln w="12599">
              <a:solidFill>
                <a:srgbClr val="434343"/>
              </a:solidFill>
            </a:ln>
          </p:spPr>
          <p:txBody>
            <a:bodyPr wrap="square" lIns="0" tIns="0" rIns="0" bIns="0" rtlCol="0"/>
            <a:lstStyle/>
            <a:p>
              <a:endParaRPr sz="2400"/>
            </a:p>
          </p:txBody>
        </p:sp>
        <p:sp>
          <p:nvSpPr>
            <p:cNvPr id="63" name="object 63"/>
            <p:cNvSpPr/>
            <p:nvPr/>
          </p:nvSpPr>
          <p:spPr>
            <a:xfrm>
              <a:off x="6674988" y="2518667"/>
              <a:ext cx="41910" cy="57785"/>
            </a:xfrm>
            <a:custGeom>
              <a:avLst/>
              <a:gdLst/>
              <a:ahLst/>
              <a:cxnLst/>
              <a:rect l="l" t="t" r="r" b="b"/>
              <a:pathLst>
                <a:path w="41909" h="57785">
                  <a:moveTo>
                    <a:pt x="41617" y="57530"/>
                  </a:moveTo>
                  <a:lnTo>
                    <a:pt x="0" y="56812"/>
                  </a:lnTo>
                  <a:lnTo>
                    <a:pt x="21794" y="0"/>
                  </a:lnTo>
                  <a:lnTo>
                    <a:pt x="41617" y="57530"/>
                  </a:lnTo>
                  <a:close/>
                </a:path>
              </a:pathLst>
            </a:custGeom>
            <a:solidFill>
              <a:srgbClr val="434343"/>
            </a:solidFill>
          </p:spPr>
          <p:txBody>
            <a:bodyPr wrap="square" lIns="0" tIns="0" rIns="0" bIns="0" rtlCol="0"/>
            <a:lstStyle/>
            <a:p>
              <a:endParaRPr sz="2400"/>
            </a:p>
          </p:txBody>
        </p:sp>
        <p:sp>
          <p:nvSpPr>
            <p:cNvPr id="64" name="object 64"/>
            <p:cNvSpPr/>
            <p:nvPr/>
          </p:nvSpPr>
          <p:spPr>
            <a:xfrm>
              <a:off x="6674988" y="2518667"/>
              <a:ext cx="41910" cy="57785"/>
            </a:xfrm>
            <a:custGeom>
              <a:avLst/>
              <a:gdLst/>
              <a:ahLst/>
              <a:cxnLst/>
              <a:rect l="l" t="t" r="r" b="b"/>
              <a:pathLst>
                <a:path w="41909" h="57785">
                  <a:moveTo>
                    <a:pt x="41617" y="57530"/>
                  </a:moveTo>
                  <a:lnTo>
                    <a:pt x="21794" y="0"/>
                  </a:lnTo>
                  <a:lnTo>
                    <a:pt x="0" y="56812"/>
                  </a:lnTo>
                  <a:lnTo>
                    <a:pt x="41617" y="57530"/>
                  </a:lnTo>
                  <a:close/>
                </a:path>
              </a:pathLst>
            </a:custGeom>
            <a:ln w="12599">
              <a:solidFill>
                <a:srgbClr val="434343"/>
              </a:solidFill>
            </a:ln>
          </p:spPr>
          <p:txBody>
            <a:bodyPr wrap="square" lIns="0" tIns="0" rIns="0" bIns="0" rtlCol="0"/>
            <a:lstStyle/>
            <a:p>
              <a:endParaRPr sz="2400"/>
            </a:p>
          </p:txBody>
        </p:sp>
        <p:sp>
          <p:nvSpPr>
            <p:cNvPr id="65" name="object 65"/>
            <p:cNvSpPr/>
            <p:nvPr/>
          </p:nvSpPr>
          <p:spPr>
            <a:xfrm>
              <a:off x="6866614" y="2284752"/>
              <a:ext cx="593090" cy="1270"/>
            </a:xfrm>
            <a:custGeom>
              <a:avLst/>
              <a:gdLst/>
              <a:ahLst/>
              <a:cxnLst/>
              <a:rect l="l" t="t" r="r" b="b"/>
              <a:pathLst>
                <a:path w="593090" h="1269">
                  <a:moveTo>
                    <a:pt x="0" y="0"/>
                  </a:moveTo>
                  <a:lnTo>
                    <a:pt x="592799" y="798"/>
                  </a:lnTo>
                </a:path>
              </a:pathLst>
            </a:custGeom>
            <a:ln w="12599">
              <a:solidFill>
                <a:srgbClr val="595959"/>
              </a:solidFill>
            </a:ln>
          </p:spPr>
          <p:txBody>
            <a:bodyPr wrap="square" lIns="0" tIns="0" rIns="0" bIns="0" rtlCol="0"/>
            <a:lstStyle/>
            <a:p>
              <a:endParaRPr sz="2400"/>
            </a:p>
          </p:txBody>
        </p:sp>
        <p:sp>
          <p:nvSpPr>
            <p:cNvPr id="66" name="object 66"/>
            <p:cNvSpPr/>
            <p:nvPr/>
          </p:nvSpPr>
          <p:spPr>
            <a:xfrm>
              <a:off x="7459386" y="2264738"/>
              <a:ext cx="57785" cy="41910"/>
            </a:xfrm>
            <a:custGeom>
              <a:avLst/>
              <a:gdLst/>
              <a:ahLst/>
              <a:cxnLst/>
              <a:rect l="l" t="t" r="r" b="b"/>
              <a:pathLst>
                <a:path w="57784" h="41910">
                  <a:moveTo>
                    <a:pt x="0" y="41623"/>
                  </a:moveTo>
                  <a:lnTo>
                    <a:pt x="56" y="0"/>
                  </a:lnTo>
                  <a:lnTo>
                    <a:pt x="57207" y="20888"/>
                  </a:lnTo>
                  <a:lnTo>
                    <a:pt x="0" y="41623"/>
                  </a:lnTo>
                  <a:close/>
                </a:path>
              </a:pathLst>
            </a:custGeom>
            <a:solidFill>
              <a:srgbClr val="595959"/>
            </a:solidFill>
          </p:spPr>
          <p:txBody>
            <a:bodyPr wrap="square" lIns="0" tIns="0" rIns="0" bIns="0" rtlCol="0"/>
            <a:lstStyle/>
            <a:p>
              <a:endParaRPr sz="2400"/>
            </a:p>
          </p:txBody>
        </p:sp>
        <p:sp>
          <p:nvSpPr>
            <p:cNvPr id="67" name="object 67"/>
            <p:cNvSpPr/>
            <p:nvPr/>
          </p:nvSpPr>
          <p:spPr>
            <a:xfrm>
              <a:off x="7459386" y="2264738"/>
              <a:ext cx="57785" cy="41910"/>
            </a:xfrm>
            <a:custGeom>
              <a:avLst/>
              <a:gdLst/>
              <a:ahLst/>
              <a:cxnLst/>
              <a:rect l="l" t="t" r="r" b="b"/>
              <a:pathLst>
                <a:path w="57784" h="41910">
                  <a:moveTo>
                    <a:pt x="0" y="41623"/>
                  </a:moveTo>
                  <a:lnTo>
                    <a:pt x="57207" y="20888"/>
                  </a:lnTo>
                  <a:lnTo>
                    <a:pt x="56" y="0"/>
                  </a:lnTo>
                  <a:lnTo>
                    <a:pt x="0" y="41623"/>
                  </a:lnTo>
                  <a:close/>
                </a:path>
              </a:pathLst>
            </a:custGeom>
            <a:ln w="12599">
              <a:solidFill>
                <a:srgbClr val="595959"/>
              </a:solidFill>
            </a:ln>
          </p:spPr>
          <p:txBody>
            <a:bodyPr wrap="square" lIns="0" tIns="0" rIns="0" bIns="0" rtlCol="0"/>
            <a:lstStyle/>
            <a:p>
              <a:endParaRPr sz="2400"/>
            </a:p>
          </p:txBody>
        </p:sp>
        <p:sp>
          <p:nvSpPr>
            <p:cNvPr id="68" name="object 68"/>
            <p:cNvSpPr/>
            <p:nvPr/>
          </p:nvSpPr>
          <p:spPr>
            <a:xfrm>
              <a:off x="7540696" y="2073545"/>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69" name="object 69"/>
            <p:cNvSpPr/>
            <p:nvPr/>
          </p:nvSpPr>
          <p:spPr>
            <a:xfrm>
              <a:off x="7540696" y="2073545"/>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A12F9D"/>
              </a:solidFill>
            </a:ln>
          </p:spPr>
          <p:txBody>
            <a:bodyPr wrap="square" lIns="0" tIns="0" rIns="0" bIns="0" rtlCol="0"/>
            <a:lstStyle/>
            <a:p>
              <a:endParaRPr sz="2400"/>
            </a:p>
          </p:txBody>
        </p:sp>
      </p:grpSp>
      <p:grpSp>
        <p:nvGrpSpPr>
          <p:cNvPr id="70" name="object 70"/>
          <p:cNvGrpSpPr/>
          <p:nvPr/>
        </p:nvGrpSpPr>
        <p:grpSpPr>
          <a:xfrm>
            <a:off x="180951" y="1173767"/>
            <a:ext cx="11603567" cy="4707467"/>
            <a:chOff x="135713" y="880325"/>
            <a:chExt cx="8702675" cy="3530600"/>
          </a:xfrm>
        </p:grpSpPr>
        <p:sp>
          <p:nvSpPr>
            <p:cNvPr id="71" name="object 71"/>
            <p:cNvSpPr/>
            <p:nvPr/>
          </p:nvSpPr>
          <p:spPr>
            <a:xfrm>
              <a:off x="7719878" y="2496856"/>
              <a:ext cx="0" cy="647065"/>
            </a:xfrm>
            <a:custGeom>
              <a:avLst/>
              <a:gdLst/>
              <a:ahLst/>
              <a:cxnLst/>
              <a:rect l="l" t="t" r="r" b="b"/>
              <a:pathLst>
                <a:path h="647064">
                  <a:moveTo>
                    <a:pt x="0" y="0"/>
                  </a:moveTo>
                  <a:lnTo>
                    <a:pt x="0" y="646799"/>
                  </a:lnTo>
                </a:path>
              </a:pathLst>
            </a:custGeom>
            <a:ln w="12599">
              <a:solidFill>
                <a:srgbClr val="434343"/>
              </a:solidFill>
            </a:ln>
          </p:spPr>
          <p:txBody>
            <a:bodyPr wrap="square" lIns="0" tIns="0" rIns="0" bIns="0" rtlCol="0"/>
            <a:lstStyle/>
            <a:p>
              <a:endParaRPr sz="2400"/>
            </a:p>
          </p:txBody>
        </p:sp>
        <p:sp>
          <p:nvSpPr>
            <p:cNvPr id="72" name="object 72"/>
            <p:cNvSpPr/>
            <p:nvPr/>
          </p:nvSpPr>
          <p:spPr>
            <a:xfrm>
              <a:off x="7699066" y="3143657"/>
              <a:ext cx="41910" cy="57785"/>
            </a:xfrm>
            <a:custGeom>
              <a:avLst/>
              <a:gdLst/>
              <a:ahLst/>
              <a:cxnLst/>
              <a:rect l="l" t="t" r="r" b="b"/>
              <a:pathLst>
                <a:path w="41909" h="57785">
                  <a:moveTo>
                    <a:pt x="20811" y="57180"/>
                  </a:moveTo>
                  <a:lnTo>
                    <a:pt x="0" y="0"/>
                  </a:lnTo>
                  <a:lnTo>
                    <a:pt x="41623" y="0"/>
                  </a:lnTo>
                  <a:lnTo>
                    <a:pt x="20811" y="57180"/>
                  </a:lnTo>
                  <a:close/>
                </a:path>
              </a:pathLst>
            </a:custGeom>
            <a:solidFill>
              <a:srgbClr val="434343"/>
            </a:solidFill>
          </p:spPr>
          <p:txBody>
            <a:bodyPr wrap="square" lIns="0" tIns="0" rIns="0" bIns="0" rtlCol="0"/>
            <a:lstStyle/>
            <a:p>
              <a:endParaRPr sz="2400"/>
            </a:p>
          </p:txBody>
        </p:sp>
        <p:sp>
          <p:nvSpPr>
            <p:cNvPr id="73" name="object 73"/>
            <p:cNvSpPr/>
            <p:nvPr/>
          </p:nvSpPr>
          <p:spPr>
            <a:xfrm>
              <a:off x="7699066" y="3143657"/>
              <a:ext cx="41910" cy="57785"/>
            </a:xfrm>
            <a:custGeom>
              <a:avLst/>
              <a:gdLst/>
              <a:ahLst/>
              <a:cxnLst/>
              <a:rect l="l" t="t" r="r" b="b"/>
              <a:pathLst>
                <a:path w="41909" h="57785">
                  <a:moveTo>
                    <a:pt x="0" y="0"/>
                  </a:moveTo>
                  <a:lnTo>
                    <a:pt x="20811" y="57180"/>
                  </a:lnTo>
                  <a:lnTo>
                    <a:pt x="41623" y="0"/>
                  </a:lnTo>
                  <a:lnTo>
                    <a:pt x="0" y="0"/>
                  </a:lnTo>
                  <a:close/>
                </a:path>
              </a:pathLst>
            </a:custGeom>
            <a:ln w="12599">
              <a:solidFill>
                <a:srgbClr val="434343"/>
              </a:solidFill>
            </a:ln>
          </p:spPr>
          <p:txBody>
            <a:bodyPr wrap="square" lIns="0" tIns="0" rIns="0" bIns="0" rtlCol="0"/>
            <a:lstStyle/>
            <a:p>
              <a:endParaRPr sz="2400"/>
            </a:p>
          </p:txBody>
        </p:sp>
        <p:sp>
          <p:nvSpPr>
            <p:cNvPr id="74" name="object 74"/>
            <p:cNvSpPr/>
            <p:nvPr/>
          </p:nvSpPr>
          <p:spPr>
            <a:xfrm>
              <a:off x="135713" y="880325"/>
              <a:ext cx="8702675" cy="3530600"/>
            </a:xfrm>
            <a:custGeom>
              <a:avLst/>
              <a:gdLst/>
              <a:ahLst/>
              <a:cxnLst/>
              <a:rect l="l" t="t" r="r" b="b"/>
              <a:pathLst>
                <a:path w="8702675" h="3530600">
                  <a:moveTo>
                    <a:pt x="8702400" y="3530399"/>
                  </a:moveTo>
                  <a:lnTo>
                    <a:pt x="0" y="3530399"/>
                  </a:lnTo>
                  <a:lnTo>
                    <a:pt x="0" y="0"/>
                  </a:lnTo>
                  <a:lnTo>
                    <a:pt x="8702400" y="0"/>
                  </a:lnTo>
                  <a:lnTo>
                    <a:pt x="8702400" y="3530399"/>
                  </a:lnTo>
                  <a:close/>
                </a:path>
              </a:pathLst>
            </a:custGeom>
            <a:solidFill>
              <a:srgbClr val="FFFFFF">
                <a:alpha val="79748"/>
              </a:srgbClr>
            </a:solidFill>
          </p:spPr>
          <p:txBody>
            <a:bodyPr wrap="square" lIns="0" tIns="0" rIns="0" bIns="0" rtlCol="0"/>
            <a:lstStyle/>
            <a:p>
              <a:endParaRPr sz="2400"/>
            </a:p>
          </p:txBody>
        </p:sp>
        <p:sp>
          <p:nvSpPr>
            <p:cNvPr id="75" name="object 75"/>
            <p:cNvSpPr/>
            <p:nvPr/>
          </p:nvSpPr>
          <p:spPr>
            <a:xfrm>
              <a:off x="1814346" y="2074345"/>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grpSp>
      <p:sp>
        <p:nvSpPr>
          <p:cNvPr id="76" name="object 76"/>
          <p:cNvSpPr txBox="1"/>
          <p:nvPr/>
        </p:nvSpPr>
        <p:spPr>
          <a:xfrm>
            <a:off x="2419128" y="2765793"/>
            <a:ext cx="441960" cy="454762"/>
          </a:xfrm>
          <a:prstGeom prst="rect">
            <a:avLst/>
          </a:prstGeom>
          <a:ln w="28574">
            <a:solidFill>
              <a:srgbClr val="FFAB40"/>
            </a:solidFill>
          </a:ln>
        </p:spPr>
        <p:txBody>
          <a:bodyPr vert="horz" wrap="square" lIns="0" tIns="94827" rIns="0" bIns="0" rtlCol="0">
            <a:spAutoFit/>
          </a:bodyPr>
          <a:lstStyle/>
          <a:p>
            <a:pPr marL="132077">
              <a:spcBef>
                <a:spcPts val="747"/>
              </a:spcBef>
            </a:pPr>
            <a:r>
              <a:rPr sz="2333" spc="67" dirty="0">
                <a:latin typeface="Lucida Sans Unicode"/>
                <a:cs typeface="Lucida Sans Unicode"/>
              </a:rPr>
              <a:t>S</a:t>
            </a:r>
            <a:endParaRPr sz="2333">
              <a:latin typeface="Lucida Sans Unicode"/>
              <a:cs typeface="Lucida Sans Unicode"/>
            </a:endParaRPr>
          </a:p>
        </p:txBody>
      </p:sp>
      <p:grpSp>
        <p:nvGrpSpPr>
          <p:cNvPr id="77" name="object 77"/>
          <p:cNvGrpSpPr/>
          <p:nvPr/>
        </p:nvGrpSpPr>
        <p:grpSpPr>
          <a:xfrm>
            <a:off x="1828851" y="3323843"/>
            <a:ext cx="1622213" cy="2388447"/>
            <a:chOff x="1371638" y="2492882"/>
            <a:chExt cx="1216660" cy="1791335"/>
          </a:xfrm>
        </p:grpSpPr>
        <p:sp>
          <p:nvSpPr>
            <p:cNvPr id="78" name="object 78"/>
            <p:cNvSpPr/>
            <p:nvPr/>
          </p:nvSpPr>
          <p:spPr>
            <a:xfrm>
              <a:off x="1979946" y="2497645"/>
              <a:ext cx="0" cy="534670"/>
            </a:xfrm>
            <a:custGeom>
              <a:avLst/>
              <a:gdLst/>
              <a:ahLst/>
              <a:cxnLst/>
              <a:rect l="l" t="t" r="r" b="b"/>
              <a:pathLst>
                <a:path h="534669">
                  <a:moveTo>
                    <a:pt x="0" y="0"/>
                  </a:moveTo>
                  <a:lnTo>
                    <a:pt x="0" y="534449"/>
                  </a:lnTo>
                </a:path>
              </a:pathLst>
            </a:custGeom>
            <a:ln w="9524">
              <a:solidFill>
                <a:srgbClr val="434343"/>
              </a:solidFill>
            </a:ln>
          </p:spPr>
          <p:txBody>
            <a:bodyPr wrap="square" lIns="0" tIns="0" rIns="0" bIns="0" rtlCol="0"/>
            <a:lstStyle/>
            <a:p>
              <a:endParaRPr sz="2400"/>
            </a:p>
          </p:txBody>
        </p:sp>
        <p:sp>
          <p:nvSpPr>
            <p:cNvPr id="79" name="object 79"/>
            <p:cNvSpPr/>
            <p:nvPr/>
          </p:nvSpPr>
          <p:spPr>
            <a:xfrm>
              <a:off x="1964213" y="3032095"/>
              <a:ext cx="31750" cy="43815"/>
            </a:xfrm>
            <a:custGeom>
              <a:avLst/>
              <a:gdLst/>
              <a:ahLst/>
              <a:cxnLst/>
              <a:rect l="l" t="t" r="r" b="b"/>
              <a:pathLst>
                <a:path w="31750" h="43814">
                  <a:moveTo>
                    <a:pt x="15732" y="43225"/>
                  </a:moveTo>
                  <a:lnTo>
                    <a:pt x="0" y="0"/>
                  </a:lnTo>
                  <a:lnTo>
                    <a:pt x="31465" y="0"/>
                  </a:lnTo>
                  <a:lnTo>
                    <a:pt x="15732" y="43225"/>
                  </a:lnTo>
                  <a:close/>
                </a:path>
              </a:pathLst>
            </a:custGeom>
            <a:solidFill>
              <a:srgbClr val="434343"/>
            </a:solidFill>
          </p:spPr>
          <p:txBody>
            <a:bodyPr wrap="square" lIns="0" tIns="0" rIns="0" bIns="0" rtlCol="0"/>
            <a:lstStyle/>
            <a:p>
              <a:endParaRPr sz="2400"/>
            </a:p>
          </p:txBody>
        </p:sp>
        <p:sp>
          <p:nvSpPr>
            <p:cNvPr id="80" name="object 80"/>
            <p:cNvSpPr/>
            <p:nvPr/>
          </p:nvSpPr>
          <p:spPr>
            <a:xfrm>
              <a:off x="1964213" y="3032095"/>
              <a:ext cx="31750" cy="43815"/>
            </a:xfrm>
            <a:custGeom>
              <a:avLst/>
              <a:gdLst/>
              <a:ahLst/>
              <a:cxnLst/>
              <a:rect l="l" t="t" r="r" b="b"/>
              <a:pathLst>
                <a:path w="31750" h="43814">
                  <a:moveTo>
                    <a:pt x="0" y="0"/>
                  </a:moveTo>
                  <a:lnTo>
                    <a:pt x="15732" y="43225"/>
                  </a:lnTo>
                  <a:lnTo>
                    <a:pt x="31465" y="0"/>
                  </a:lnTo>
                  <a:lnTo>
                    <a:pt x="0" y="0"/>
                  </a:lnTo>
                  <a:close/>
                </a:path>
              </a:pathLst>
            </a:custGeom>
            <a:ln w="9524">
              <a:solidFill>
                <a:srgbClr val="434343"/>
              </a:solidFill>
            </a:ln>
          </p:spPr>
          <p:txBody>
            <a:bodyPr wrap="square" lIns="0" tIns="0" rIns="0" bIns="0" rtlCol="0"/>
            <a:lstStyle/>
            <a:p>
              <a:endParaRPr sz="2400"/>
            </a:p>
          </p:txBody>
        </p:sp>
        <p:sp>
          <p:nvSpPr>
            <p:cNvPr id="81" name="object 81"/>
            <p:cNvSpPr/>
            <p:nvPr/>
          </p:nvSpPr>
          <p:spPr>
            <a:xfrm>
              <a:off x="1394498" y="3089314"/>
              <a:ext cx="1170940" cy="1172210"/>
            </a:xfrm>
            <a:custGeom>
              <a:avLst/>
              <a:gdLst/>
              <a:ahLst/>
              <a:cxnLst/>
              <a:rect l="l" t="t" r="r" b="b"/>
              <a:pathLst>
                <a:path w="1170939" h="1172210">
                  <a:moveTo>
                    <a:pt x="1170899" y="1171799"/>
                  </a:moveTo>
                  <a:lnTo>
                    <a:pt x="0" y="1171799"/>
                  </a:lnTo>
                  <a:lnTo>
                    <a:pt x="0" y="0"/>
                  </a:lnTo>
                  <a:lnTo>
                    <a:pt x="1170899" y="0"/>
                  </a:lnTo>
                  <a:lnTo>
                    <a:pt x="1170899" y="1171799"/>
                  </a:lnTo>
                  <a:close/>
                </a:path>
              </a:pathLst>
            </a:custGeom>
            <a:solidFill>
              <a:srgbClr val="FFFFFF"/>
            </a:solidFill>
          </p:spPr>
          <p:txBody>
            <a:bodyPr wrap="square" lIns="0" tIns="0" rIns="0" bIns="0" rtlCol="0"/>
            <a:lstStyle/>
            <a:p>
              <a:endParaRPr sz="2400"/>
            </a:p>
          </p:txBody>
        </p:sp>
        <p:sp>
          <p:nvSpPr>
            <p:cNvPr id="82" name="object 82"/>
            <p:cNvSpPr/>
            <p:nvPr/>
          </p:nvSpPr>
          <p:spPr>
            <a:xfrm>
              <a:off x="1394498" y="3089314"/>
              <a:ext cx="1170940" cy="1172210"/>
            </a:xfrm>
            <a:custGeom>
              <a:avLst/>
              <a:gdLst/>
              <a:ahLst/>
              <a:cxnLst/>
              <a:rect l="l" t="t" r="r" b="b"/>
              <a:pathLst>
                <a:path w="1170939" h="1172210">
                  <a:moveTo>
                    <a:pt x="0" y="0"/>
                  </a:moveTo>
                  <a:lnTo>
                    <a:pt x="1170899" y="0"/>
                  </a:lnTo>
                  <a:lnTo>
                    <a:pt x="1170899" y="1171799"/>
                  </a:lnTo>
                  <a:lnTo>
                    <a:pt x="0" y="1171799"/>
                  </a:lnTo>
                  <a:lnTo>
                    <a:pt x="0" y="0"/>
                  </a:lnTo>
                  <a:close/>
                </a:path>
              </a:pathLst>
            </a:custGeom>
            <a:ln w="45724">
              <a:solidFill>
                <a:srgbClr val="E6A064"/>
              </a:solidFill>
            </a:ln>
          </p:spPr>
          <p:txBody>
            <a:bodyPr wrap="square" lIns="0" tIns="0" rIns="0" bIns="0" rtlCol="0"/>
            <a:lstStyle/>
            <a:p>
              <a:endParaRPr sz="2400"/>
            </a:p>
          </p:txBody>
        </p:sp>
      </p:grpSp>
      <p:sp>
        <p:nvSpPr>
          <p:cNvPr id="83" name="object 83"/>
          <p:cNvSpPr txBox="1"/>
          <p:nvPr/>
        </p:nvSpPr>
        <p:spPr>
          <a:xfrm>
            <a:off x="2543499" y="4709955"/>
            <a:ext cx="193040" cy="345330"/>
          </a:xfrm>
          <a:prstGeom prst="rect">
            <a:avLst/>
          </a:prstGeom>
        </p:spPr>
        <p:txBody>
          <a:bodyPr vert="horz" wrap="square" lIns="0" tIns="16933" rIns="0" bIns="0" rtlCol="0">
            <a:spAutoFit/>
          </a:bodyPr>
          <a:lstStyle/>
          <a:p>
            <a:pPr marL="16933">
              <a:spcBef>
                <a:spcPts val="133"/>
              </a:spcBef>
            </a:pPr>
            <a:r>
              <a:rPr sz="2133" spc="20" dirty="0">
                <a:latin typeface="Lucida Sans Unicode"/>
                <a:cs typeface="Lucida Sans Unicode"/>
              </a:rPr>
              <a:t>S</a:t>
            </a:r>
            <a:endParaRPr sz="2133">
              <a:latin typeface="Lucida Sans Unicode"/>
              <a:cs typeface="Lucida Sans Unicode"/>
            </a:endParaRPr>
          </a:p>
        </p:txBody>
      </p:sp>
      <p:grpSp>
        <p:nvGrpSpPr>
          <p:cNvPr id="84" name="object 84"/>
          <p:cNvGrpSpPr/>
          <p:nvPr/>
        </p:nvGrpSpPr>
        <p:grpSpPr>
          <a:xfrm>
            <a:off x="4527261" y="2745677"/>
            <a:ext cx="480060" cy="602827"/>
            <a:chOff x="3395445" y="2059258"/>
            <a:chExt cx="360045" cy="452120"/>
          </a:xfrm>
        </p:grpSpPr>
        <p:sp>
          <p:nvSpPr>
            <p:cNvPr id="85" name="object 85"/>
            <p:cNvSpPr/>
            <p:nvPr/>
          </p:nvSpPr>
          <p:spPr>
            <a:xfrm>
              <a:off x="3409733" y="2073545"/>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86" name="object 86"/>
            <p:cNvSpPr/>
            <p:nvPr/>
          </p:nvSpPr>
          <p:spPr>
            <a:xfrm>
              <a:off x="3409733" y="2073545"/>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28574">
              <a:solidFill>
                <a:srgbClr val="FFAB40"/>
              </a:solidFill>
            </a:ln>
          </p:spPr>
          <p:txBody>
            <a:bodyPr wrap="square" lIns="0" tIns="0" rIns="0" bIns="0" rtlCol="0"/>
            <a:lstStyle/>
            <a:p>
              <a:endParaRPr sz="2400"/>
            </a:p>
          </p:txBody>
        </p:sp>
      </p:grpSp>
      <p:sp>
        <p:nvSpPr>
          <p:cNvPr id="87" name="object 87"/>
          <p:cNvSpPr txBox="1"/>
          <p:nvPr/>
        </p:nvSpPr>
        <p:spPr>
          <a:xfrm>
            <a:off x="4661476" y="2836449"/>
            <a:ext cx="211667" cy="382092"/>
          </a:xfrm>
          <a:prstGeom prst="rect">
            <a:avLst/>
          </a:prstGeom>
        </p:spPr>
        <p:txBody>
          <a:bodyPr vert="horz" wrap="square" lIns="0" tIns="22860" rIns="0" bIns="0" rtlCol="0">
            <a:spAutoFit/>
          </a:bodyPr>
          <a:lstStyle/>
          <a:p>
            <a:pPr marL="16933">
              <a:spcBef>
                <a:spcPts val="180"/>
              </a:spcBef>
            </a:pPr>
            <a:r>
              <a:rPr sz="2333" spc="67" dirty="0">
                <a:latin typeface="Lucida Sans Unicode"/>
                <a:cs typeface="Lucida Sans Unicode"/>
              </a:rPr>
              <a:t>S</a:t>
            </a:r>
            <a:endParaRPr sz="2333">
              <a:latin typeface="Lucida Sans Unicode"/>
              <a:cs typeface="Lucida Sans Unicode"/>
            </a:endParaRPr>
          </a:p>
        </p:txBody>
      </p:sp>
      <p:grpSp>
        <p:nvGrpSpPr>
          <p:cNvPr id="88" name="object 88"/>
          <p:cNvGrpSpPr/>
          <p:nvPr/>
        </p:nvGrpSpPr>
        <p:grpSpPr>
          <a:xfrm>
            <a:off x="3414181" y="2745678"/>
            <a:ext cx="3478107" cy="2161540"/>
            <a:chOff x="2560636" y="2059258"/>
            <a:chExt cx="2608580" cy="1621155"/>
          </a:xfrm>
        </p:grpSpPr>
        <p:sp>
          <p:nvSpPr>
            <p:cNvPr id="89" name="object 89"/>
            <p:cNvSpPr/>
            <p:nvPr/>
          </p:nvSpPr>
          <p:spPr>
            <a:xfrm>
              <a:off x="2565398" y="2553964"/>
              <a:ext cx="1010285" cy="1121410"/>
            </a:xfrm>
            <a:custGeom>
              <a:avLst/>
              <a:gdLst/>
              <a:ahLst/>
              <a:cxnLst/>
              <a:rect l="l" t="t" r="r" b="b"/>
              <a:pathLst>
                <a:path w="1010285" h="1121410">
                  <a:moveTo>
                    <a:pt x="0" y="1121249"/>
                  </a:moveTo>
                  <a:lnTo>
                    <a:pt x="1009799" y="1121249"/>
                  </a:lnTo>
                  <a:lnTo>
                    <a:pt x="1009799" y="0"/>
                  </a:lnTo>
                </a:path>
              </a:pathLst>
            </a:custGeom>
            <a:ln w="9524">
              <a:solidFill>
                <a:srgbClr val="434343"/>
              </a:solidFill>
            </a:ln>
          </p:spPr>
          <p:txBody>
            <a:bodyPr wrap="square" lIns="0" tIns="0" rIns="0" bIns="0" rtlCol="0"/>
            <a:lstStyle/>
            <a:p>
              <a:endParaRPr sz="2400"/>
            </a:p>
          </p:txBody>
        </p:sp>
        <p:sp>
          <p:nvSpPr>
            <p:cNvPr id="90" name="object 90"/>
            <p:cNvSpPr/>
            <p:nvPr/>
          </p:nvSpPr>
          <p:spPr>
            <a:xfrm>
              <a:off x="3559466" y="2510738"/>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434343"/>
            </a:solidFill>
          </p:spPr>
          <p:txBody>
            <a:bodyPr wrap="square" lIns="0" tIns="0" rIns="0" bIns="0" rtlCol="0"/>
            <a:lstStyle/>
            <a:p>
              <a:endParaRPr sz="2400"/>
            </a:p>
          </p:txBody>
        </p:sp>
        <p:sp>
          <p:nvSpPr>
            <p:cNvPr id="91" name="object 91"/>
            <p:cNvSpPr/>
            <p:nvPr/>
          </p:nvSpPr>
          <p:spPr>
            <a:xfrm>
              <a:off x="3559466" y="2510738"/>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434343"/>
              </a:solidFill>
            </a:ln>
          </p:spPr>
          <p:txBody>
            <a:bodyPr wrap="square" lIns="0" tIns="0" rIns="0" bIns="0" rtlCol="0"/>
            <a:lstStyle/>
            <a:p>
              <a:endParaRPr sz="2400"/>
            </a:p>
          </p:txBody>
        </p:sp>
        <p:sp>
          <p:nvSpPr>
            <p:cNvPr id="92" name="object 92"/>
            <p:cNvSpPr/>
            <p:nvPr/>
          </p:nvSpPr>
          <p:spPr>
            <a:xfrm>
              <a:off x="4823308" y="2073545"/>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93" name="object 93"/>
            <p:cNvSpPr/>
            <p:nvPr/>
          </p:nvSpPr>
          <p:spPr>
            <a:xfrm>
              <a:off x="4823308" y="2073545"/>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28574">
              <a:solidFill>
                <a:srgbClr val="E6A064"/>
              </a:solidFill>
            </a:ln>
          </p:spPr>
          <p:txBody>
            <a:bodyPr wrap="square" lIns="0" tIns="0" rIns="0" bIns="0" rtlCol="0"/>
            <a:lstStyle/>
            <a:p>
              <a:endParaRPr sz="2400"/>
            </a:p>
          </p:txBody>
        </p:sp>
      </p:grpSp>
      <p:sp>
        <p:nvSpPr>
          <p:cNvPr id="94" name="object 94"/>
          <p:cNvSpPr txBox="1"/>
          <p:nvPr/>
        </p:nvSpPr>
        <p:spPr>
          <a:xfrm>
            <a:off x="6533098" y="2836449"/>
            <a:ext cx="237913" cy="382092"/>
          </a:xfrm>
          <a:prstGeom prst="rect">
            <a:avLst/>
          </a:prstGeom>
        </p:spPr>
        <p:txBody>
          <a:bodyPr vert="horz" wrap="square" lIns="0" tIns="22860" rIns="0" bIns="0" rtlCol="0">
            <a:spAutoFit/>
          </a:bodyPr>
          <a:lstStyle/>
          <a:p>
            <a:pPr marL="16933">
              <a:spcBef>
                <a:spcPts val="180"/>
              </a:spcBef>
            </a:pPr>
            <a:r>
              <a:rPr sz="2333" spc="-67" dirty="0">
                <a:latin typeface="Lucida Sans Unicode"/>
                <a:cs typeface="Lucida Sans Unicode"/>
              </a:rPr>
              <a:t>A</a:t>
            </a:r>
            <a:endParaRPr sz="2333">
              <a:latin typeface="Lucida Sans Unicode"/>
              <a:cs typeface="Lucida Sans Unicode"/>
            </a:endParaRPr>
          </a:p>
        </p:txBody>
      </p:sp>
      <p:grpSp>
        <p:nvGrpSpPr>
          <p:cNvPr id="95" name="object 95"/>
          <p:cNvGrpSpPr/>
          <p:nvPr/>
        </p:nvGrpSpPr>
        <p:grpSpPr>
          <a:xfrm>
            <a:off x="5830790" y="3322776"/>
            <a:ext cx="1622213" cy="2395219"/>
            <a:chOff x="4373092" y="2492082"/>
            <a:chExt cx="1216660" cy="1796414"/>
          </a:xfrm>
        </p:grpSpPr>
        <p:sp>
          <p:nvSpPr>
            <p:cNvPr id="96" name="object 96"/>
            <p:cNvSpPr/>
            <p:nvPr/>
          </p:nvSpPr>
          <p:spPr>
            <a:xfrm>
              <a:off x="4982127" y="2496845"/>
              <a:ext cx="6985" cy="539750"/>
            </a:xfrm>
            <a:custGeom>
              <a:avLst/>
              <a:gdLst/>
              <a:ahLst/>
              <a:cxnLst/>
              <a:rect l="l" t="t" r="r" b="b"/>
              <a:pathLst>
                <a:path w="6985" h="539750">
                  <a:moveTo>
                    <a:pt x="6781" y="0"/>
                  </a:moveTo>
                  <a:lnTo>
                    <a:pt x="0" y="539554"/>
                  </a:lnTo>
                </a:path>
              </a:pathLst>
            </a:custGeom>
            <a:ln w="9524">
              <a:solidFill>
                <a:srgbClr val="434343"/>
              </a:solidFill>
            </a:ln>
          </p:spPr>
          <p:txBody>
            <a:bodyPr wrap="square" lIns="0" tIns="0" rIns="0" bIns="0" rtlCol="0"/>
            <a:lstStyle/>
            <a:p>
              <a:endParaRPr sz="2400"/>
            </a:p>
          </p:txBody>
        </p:sp>
        <p:sp>
          <p:nvSpPr>
            <p:cNvPr id="97" name="object 97"/>
            <p:cNvSpPr/>
            <p:nvPr/>
          </p:nvSpPr>
          <p:spPr>
            <a:xfrm>
              <a:off x="4966395" y="3036202"/>
              <a:ext cx="31750" cy="43815"/>
            </a:xfrm>
            <a:custGeom>
              <a:avLst/>
              <a:gdLst/>
              <a:ahLst/>
              <a:cxnLst/>
              <a:rect l="l" t="t" r="r" b="b"/>
              <a:pathLst>
                <a:path w="31750" h="43814">
                  <a:moveTo>
                    <a:pt x="15188" y="43419"/>
                  </a:moveTo>
                  <a:lnTo>
                    <a:pt x="0" y="0"/>
                  </a:lnTo>
                  <a:lnTo>
                    <a:pt x="31462" y="395"/>
                  </a:lnTo>
                  <a:lnTo>
                    <a:pt x="15188" y="43419"/>
                  </a:lnTo>
                  <a:close/>
                </a:path>
              </a:pathLst>
            </a:custGeom>
            <a:solidFill>
              <a:srgbClr val="434343"/>
            </a:solidFill>
          </p:spPr>
          <p:txBody>
            <a:bodyPr wrap="square" lIns="0" tIns="0" rIns="0" bIns="0" rtlCol="0"/>
            <a:lstStyle/>
            <a:p>
              <a:endParaRPr sz="2400"/>
            </a:p>
          </p:txBody>
        </p:sp>
        <p:sp>
          <p:nvSpPr>
            <p:cNvPr id="98" name="object 98"/>
            <p:cNvSpPr/>
            <p:nvPr/>
          </p:nvSpPr>
          <p:spPr>
            <a:xfrm>
              <a:off x="4966395" y="3036202"/>
              <a:ext cx="31750" cy="43815"/>
            </a:xfrm>
            <a:custGeom>
              <a:avLst/>
              <a:gdLst/>
              <a:ahLst/>
              <a:cxnLst/>
              <a:rect l="l" t="t" r="r" b="b"/>
              <a:pathLst>
                <a:path w="31750" h="43814">
                  <a:moveTo>
                    <a:pt x="0" y="0"/>
                  </a:moveTo>
                  <a:lnTo>
                    <a:pt x="15188" y="43419"/>
                  </a:lnTo>
                  <a:lnTo>
                    <a:pt x="31462" y="395"/>
                  </a:lnTo>
                  <a:lnTo>
                    <a:pt x="0" y="0"/>
                  </a:lnTo>
                  <a:close/>
                </a:path>
              </a:pathLst>
            </a:custGeom>
            <a:ln w="9524">
              <a:solidFill>
                <a:srgbClr val="434343"/>
              </a:solidFill>
            </a:ln>
          </p:spPr>
          <p:txBody>
            <a:bodyPr wrap="square" lIns="0" tIns="0" rIns="0" bIns="0" rtlCol="0"/>
            <a:lstStyle/>
            <a:p>
              <a:endParaRPr sz="2400"/>
            </a:p>
          </p:txBody>
        </p:sp>
        <p:sp>
          <p:nvSpPr>
            <p:cNvPr id="99" name="object 99"/>
            <p:cNvSpPr/>
            <p:nvPr/>
          </p:nvSpPr>
          <p:spPr>
            <a:xfrm>
              <a:off x="4395952" y="3093551"/>
              <a:ext cx="1170940" cy="1172210"/>
            </a:xfrm>
            <a:custGeom>
              <a:avLst/>
              <a:gdLst/>
              <a:ahLst/>
              <a:cxnLst/>
              <a:rect l="l" t="t" r="r" b="b"/>
              <a:pathLst>
                <a:path w="1170939" h="1172210">
                  <a:moveTo>
                    <a:pt x="1170899" y="1171799"/>
                  </a:moveTo>
                  <a:lnTo>
                    <a:pt x="0" y="1171799"/>
                  </a:lnTo>
                  <a:lnTo>
                    <a:pt x="0" y="0"/>
                  </a:lnTo>
                  <a:lnTo>
                    <a:pt x="1170899" y="0"/>
                  </a:lnTo>
                  <a:lnTo>
                    <a:pt x="1170899" y="1171799"/>
                  </a:lnTo>
                  <a:close/>
                </a:path>
              </a:pathLst>
            </a:custGeom>
            <a:solidFill>
              <a:srgbClr val="FFFFFF"/>
            </a:solidFill>
          </p:spPr>
          <p:txBody>
            <a:bodyPr wrap="square" lIns="0" tIns="0" rIns="0" bIns="0" rtlCol="0"/>
            <a:lstStyle/>
            <a:p>
              <a:endParaRPr sz="2400"/>
            </a:p>
          </p:txBody>
        </p:sp>
        <p:sp>
          <p:nvSpPr>
            <p:cNvPr id="100" name="object 100"/>
            <p:cNvSpPr/>
            <p:nvPr/>
          </p:nvSpPr>
          <p:spPr>
            <a:xfrm>
              <a:off x="4395952" y="3093551"/>
              <a:ext cx="1170940" cy="1172210"/>
            </a:xfrm>
            <a:custGeom>
              <a:avLst/>
              <a:gdLst/>
              <a:ahLst/>
              <a:cxnLst/>
              <a:rect l="l" t="t" r="r" b="b"/>
              <a:pathLst>
                <a:path w="1170939" h="1172210">
                  <a:moveTo>
                    <a:pt x="0" y="0"/>
                  </a:moveTo>
                  <a:lnTo>
                    <a:pt x="1170899" y="0"/>
                  </a:lnTo>
                  <a:lnTo>
                    <a:pt x="1170899" y="1171799"/>
                  </a:lnTo>
                  <a:lnTo>
                    <a:pt x="0" y="1171799"/>
                  </a:lnTo>
                  <a:lnTo>
                    <a:pt x="0" y="0"/>
                  </a:lnTo>
                  <a:close/>
                </a:path>
              </a:pathLst>
            </a:custGeom>
            <a:ln w="45724">
              <a:solidFill>
                <a:srgbClr val="B45F06"/>
              </a:solidFill>
            </a:ln>
          </p:spPr>
          <p:txBody>
            <a:bodyPr wrap="square" lIns="0" tIns="0" rIns="0" bIns="0" rtlCol="0"/>
            <a:lstStyle/>
            <a:p>
              <a:endParaRPr sz="2400"/>
            </a:p>
          </p:txBody>
        </p:sp>
      </p:grpSp>
      <p:sp>
        <p:nvSpPr>
          <p:cNvPr id="101" name="object 101"/>
          <p:cNvSpPr txBox="1"/>
          <p:nvPr/>
        </p:nvSpPr>
        <p:spPr>
          <a:xfrm>
            <a:off x="6533655" y="4715605"/>
            <a:ext cx="216747" cy="345330"/>
          </a:xfrm>
          <a:prstGeom prst="rect">
            <a:avLst/>
          </a:prstGeom>
        </p:spPr>
        <p:txBody>
          <a:bodyPr vert="horz" wrap="square" lIns="0" tIns="16933" rIns="0" bIns="0" rtlCol="0">
            <a:spAutoFit/>
          </a:bodyPr>
          <a:lstStyle/>
          <a:p>
            <a:pPr marL="16933">
              <a:spcBef>
                <a:spcPts val="133"/>
              </a:spcBef>
            </a:pPr>
            <a:r>
              <a:rPr sz="2133" spc="-67" dirty="0">
                <a:latin typeface="Lucida Sans Unicode"/>
                <a:cs typeface="Lucida Sans Unicode"/>
              </a:rPr>
              <a:t>A</a:t>
            </a:r>
            <a:endParaRPr sz="2133">
              <a:latin typeface="Lucida Sans Unicode"/>
              <a:cs typeface="Lucida Sans Unicode"/>
            </a:endParaRPr>
          </a:p>
        </p:txBody>
      </p:sp>
      <p:sp>
        <p:nvSpPr>
          <p:cNvPr id="102" name="object 102"/>
          <p:cNvSpPr/>
          <p:nvPr/>
        </p:nvSpPr>
        <p:spPr>
          <a:xfrm>
            <a:off x="8257151" y="2764737"/>
            <a:ext cx="441960" cy="564727"/>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103" name="object 103"/>
          <p:cNvSpPr txBox="1"/>
          <p:nvPr/>
        </p:nvSpPr>
        <p:spPr>
          <a:xfrm>
            <a:off x="8257151" y="2764736"/>
            <a:ext cx="441960" cy="454762"/>
          </a:xfrm>
          <a:prstGeom prst="rect">
            <a:avLst/>
          </a:prstGeom>
          <a:ln w="28574">
            <a:solidFill>
              <a:srgbClr val="E6A064"/>
            </a:solidFill>
          </a:ln>
        </p:spPr>
        <p:txBody>
          <a:bodyPr vert="horz" wrap="square" lIns="0" tIns="94827" rIns="0" bIns="0" rtlCol="0">
            <a:spAutoFit/>
          </a:bodyPr>
          <a:lstStyle/>
          <a:p>
            <a:pPr marL="118530">
              <a:spcBef>
                <a:spcPts val="747"/>
              </a:spcBef>
            </a:pPr>
            <a:r>
              <a:rPr sz="2333" spc="-67" dirty="0">
                <a:latin typeface="Lucida Sans Unicode"/>
                <a:cs typeface="Lucida Sans Unicode"/>
              </a:rPr>
              <a:t>A</a:t>
            </a:r>
            <a:endParaRPr sz="2333">
              <a:latin typeface="Lucida Sans Unicode"/>
              <a:cs typeface="Lucida Sans Unicode"/>
            </a:endParaRPr>
          </a:p>
        </p:txBody>
      </p:sp>
      <p:grpSp>
        <p:nvGrpSpPr>
          <p:cNvPr id="104" name="object 104"/>
          <p:cNvGrpSpPr/>
          <p:nvPr/>
        </p:nvGrpSpPr>
        <p:grpSpPr>
          <a:xfrm>
            <a:off x="4987911" y="3010778"/>
            <a:ext cx="3517900" cy="1901613"/>
            <a:chOff x="3740933" y="2258083"/>
            <a:chExt cx="2638425" cy="1426210"/>
          </a:xfrm>
        </p:grpSpPr>
        <p:sp>
          <p:nvSpPr>
            <p:cNvPr id="105" name="object 105"/>
            <p:cNvSpPr/>
            <p:nvPr/>
          </p:nvSpPr>
          <p:spPr>
            <a:xfrm>
              <a:off x="5566852" y="2554001"/>
              <a:ext cx="791845" cy="1125855"/>
            </a:xfrm>
            <a:custGeom>
              <a:avLst/>
              <a:gdLst/>
              <a:ahLst/>
              <a:cxnLst/>
              <a:rect l="l" t="t" r="r" b="b"/>
              <a:pathLst>
                <a:path w="791845" h="1125854">
                  <a:moveTo>
                    <a:pt x="0" y="1125449"/>
                  </a:moveTo>
                  <a:lnTo>
                    <a:pt x="791699" y="1125449"/>
                  </a:lnTo>
                  <a:lnTo>
                    <a:pt x="791699" y="0"/>
                  </a:lnTo>
                </a:path>
              </a:pathLst>
            </a:custGeom>
            <a:ln w="9524">
              <a:solidFill>
                <a:srgbClr val="434343"/>
              </a:solidFill>
            </a:ln>
          </p:spPr>
          <p:txBody>
            <a:bodyPr wrap="square" lIns="0" tIns="0" rIns="0" bIns="0" rtlCol="0"/>
            <a:lstStyle/>
            <a:p>
              <a:endParaRPr sz="2400"/>
            </a:p>
          </p:txBody>
        </p:sp>
        <p:sp>
          <p:nvSpPr>
            <p:cNvPr id="106" name="object 106"/>
            <p:cNvSpPr/>
            <p:nvPr/>
          </p:nvSpPr>
          <p:spPr>
            <a:xfrm>
              <a:off x="6342820" y="2510776"/>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434343"/>
            </a:solidFill>
          </p:spPr>
          <p:txBody>
            <a:bodyPr wrap="square" lIns="0" tIns="0" rIns="0" bIns="0" rtlCol="0"/>
            <a:lstStyle/>
            <a:p>
              <a:endParaRPr sz="2400"/>
            </a:p>
          </p:txBody>
        </p:sp>
        <p:sp>
          <p:nvSpPr>
            <p:cNvPr id="107" name="object 107"/>
            <p:cNvSpPr/>
            <p:nvPr/>
          </p:nvSpPr>
          <p:spPr>
            <a:xfrm>
              <a:off x="6342820" y="2510776"/>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434343"/>
              </a:solidFill>
            </a:ln>
          </p:spPr>
          <p:txBody>
            <a:bodyPr wrap="square" lIns="0" tIns="0" rIns="0" bIns="0" rtlCol="0"/>
            <a:lstStyle/>
            <a:p>
              <a:endParaRPr sz="2400"/>
            </a:p>
          </p:txBody>
        </p:sp>
        <p:sp>
          <p:nvSpPr>
            <p:cNvPr id="108" name="object 108"/>
            <p:cNvSpPr/>
            <p:nvPr/>
          </p:nvSpPr>
          <p:spPr>
            <a:xfrm>
              <a:off x="3740933" y="2285195"/>
              <a:ext cx="1007110" cy="0"/>
            </a:xfrm>
            <a:custGeom>
              <a:avLst/>
              <a:gdLst/>
              <a:ahLst/>
              <a:cxnLst/>
              <a:rect l="l" t="t" r="r" b="b"/>
              <a:pathLst>
                <a:path w="1007110">
                  <a:moveTo>
                    <a:pt x="0" y="0"/>
                  </a:moveTo>
                  <a:lnTo>
                    <a:pt x="1006799" y="0"/>
                  </a:lnTo>
                </a:path>
              </a:pathLst>
            </a:custGeom>
            <a:ln w="12599">
              <a:solidFill>
                <a:srgbClr val="595959"/>
              </a:solidFill>
            </a:ln>
          </p:spPr>
          <p:txBody>
            <a:bodyPr wrap="square" lIns="0" tIns="0" rIns="0" bIns="0" rtlCol="0"/>
            <a:lstStyle/>
            <a:p>
              <a:endParaRPr sz="2400"/>
            </a:p>
          </p:txBody>
        </p:sp>
        <p:sp>
          <p:nvSpPr>
            <p:cNvPr id="109" name="object 109"/>
            <p:cNvSpPr/>
            <p:nvPr/>
          </p:nvSpPr>
          <p:spPr>
            <a:xfrm>
              <a:off x="4747733" y="2264383"/>
              <a:ext cx="57785" cy="41910"/>
            </a:xfrm>
            <a:custGeom>
              <a:avLst/>
              <a:gdLst/>
              <a:ahLst/>
              <a:cxnLst/>
              <a:rect l="l" t="t" r="r" b="b"/>
              <a:pathLst>
                <a:path w="57785" h="41910">
                  <a:moveTo>
                    <a:pt x="0" y="41623"/>
                  </a:moveTo>
                  <a:lnTo>
                    <a:pt x="0" y="0"/>
                  </a:lnTo>
                  <a:lnTo>
                    <a:pt x="57180" y="20811"/>
                  </a:lnTo>
                  <a:lnTo>
                    <a:pt x="0" y="41623"/>
                  </a:lnTo>
                  <a:close/>
                </a:path>
              </a:pathLst>
            </a:custGeom>
            <a:solidFill>
              <a:srgbClr val="595959"/>
            </a:solidFill>
          </p:spPr>
          <p:txBody>
            <a:bodyPr wrap="square" lIns="0" tIns="0" rIns="0" bIns="0" rtlCol="0"/>
            <a:lstStyle/>
            <a:p>
              <a:endParaRPr sz="2400"/>
            </a:p>
          </p:txBody>
        </p:sp>
        <p:sp>
          <p:nvSpPr>
            <p:cNvPr id="110" name="object 110"/>
            <p:cNvSpPr/>
            <p:nvPr/>
          </p:nvSpPr>
          <p:spPr>
            <a:xfrm>
              <a:off x="4747733" y="2264383"/>
              <a:ext cx="57785" cy="41910"/>
            </a:xfrm>
            <a:custGeom>
              <a:avLst/>
              <a:gdLst/>
              <a:ahLst/>
              <a:cxnLst/>
              <a:rect l="l" t="t" r="r" b="b"/>
              <a:pathLst>
                <a:path w="57785" h="41910">
                  <a:moveTo>
                    <a:pt x="0" y="41623"/>
                  </a:moveTo>
                  <a:lnTo>
                    <a:pt x="57180" y="20811"/>
                  </a:lnTo>
                  <a:lnTo>
                    <a:pt x="0" y="0"/>
                  </a:lnTo>
                  <a:lnTo>
                    <a:pt x="0" y="41623"/>
                  </a:lnTo>
                  <a:close/>
                </a:path>
              </a:pathLst>
            </a:custGeom>
            <a:ln w="12599">
              <a:solidFill>
                <a:srgbClr val="595959"/>
              </a:solidFill>
            </a:ln>
          </p:spPr>
          <p:txBody>
            <a:bodyPr wrap="square" lIns="0" tIns="0" rIns="0" bIns="0" rtlCol="0"/>
            <a:lstStyle/>
            <a:p>
              <a:endParaRPr sz="2400"/>
            </a:p>
          </p:txBody>
        </p:sp>
      </p:grpSp>
      <p:sp>
        <p:nvSpPr>
          <p:cNvPr id="111" name="object 111"/>
          <p:cNvSpPr txBox="1"/>
          <p:nvPr/>
        </p:nvSpPr>
        <p:spPr>
          <a:xfrm>
            <a:off x="5230607" y="2746604"/>
            <a:ext cx="905087" cy="263320"/>
          </a:xfrm>
          <a:prstGeom prst="rect">
            <a:avLst/>
          </a:prstGeom>
        </p:spPr>
        <p:txBody>
          <a:bodyPr vert="horz" wrap="square" lIns="0" tIns="16933" rIns="0" bIns="0" rtlCol="0">
            <a:spAutoFit/>
          </a:bodyPr>
          <a:lstStyle/>
          <a:p>
            <a:pPr marL="16933">
              <a:spcBef>
                <a:spcPts val="133"/>
              </a:spcBef>
            </a:pPr>
            <a:r>
              <a:rPr sz="1600" spc="-40" dirty="0">
                <a:latin typeface="Arial Black"/>
                <a:cs typeface="Arial Black"/>
              </a:rPr>
              <a:t>softmax</a:t>
            </a:r>
            <a:endParaRPr sz="1600">
              <a:latin typeface="Arial Black"/>
              <a:cs typeface="Arial Black"/>
            </a:endParaRPr>
          </a:p>
        </p:txBody>
      </p:sp>
    </p:spTree>
    <p:extLst>
      <p:ext uri="{BB962C8B-B14F-4D97-AF65-F5344CB8AC3E}">
        <p14:creationId xmlns:p14="http://schemas.microsoft.com/office/powerpoint/2010/main" val="1025134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705277"/>
            <a:ext cx="14020800" cy="509541"/>
          </a:xfrm>
          <a:prstGeom prst="rect">
            <a:avLst/>
          </a:prstGeom>
        </p:spPr>
        <p:txBody>
          <a:bodyPr vert="horz" wrap="square" lIns="0" tIns="16933" rIns="0" bIns="0" rtlCol="0" anchor="ctr">
            <a:spAutoFit/>
          </a:bodyPr>
          <a:lstStyle/>
          <a:p>
            <a:pPr marL="279393">
              <a:spcBef>
                <a:spcPts val="133"/>
              </a:spcBef>
            </a:pPr>
            <a:r>
              <a:rPr spc="-13" dirty="0"/>
              <a:t>Softmax</a:t>
            </a:r>
          </a:p>
        </p:txBody>
      </p:sp>
      <p:graphicFrame>
        <p:nvGraphicFramePr>
          <p:cNvPr id="3" name="object 3"/>
          <p:cNvGraphicFramePr>
            <a:graphicFrameLocks noGrp="1"/>
          </p:cNvGraphicFramePr>
          <p:nvPr/>
        </p:nvGraphicFramePr>
        <p:xfrm>
          <a:off x="2968321" y="2691295"/>
          <a:ext cx="2420618" cy="2106507"/>
        </p:xfrm>
        <a:graphic>
          <a:graphicData uri="http://schemas.openxmlformats.org/drawingml/2006/table">
            <a:tbl>
              <a:tblPr firstRow="1" bandRow="1">
                <a:tableStyleId>{2D5ABB26-0587-4C30-8999-92F81FD0307C}</a:tableStyleId>
              </a:tblPr>
              <a:tblGrid>
                <a:gridCol w="806873">
                  <a:extLst>
                    <a:ext uri="{9D8B030D-6E8A-4147-A177-3AD203B41FA5}">
                      <a16:colId xmlns:a16="http://schemas.microsoft.com/office/drawing/2014/main" val="20000"/>
                    </a:ext>
                  </a:extLst>
                </a:gridCol>
                <a:gridCol w="806873">
                  <a:extLst>
                    <a:ext uri="{9D8B030D-6E8A-4147-A177-3AD203B41FA5}">
                      <a16:colId xmlns:a16="http://schemas.microsoft.com/office/drawing/2014/main" val="20001"/>
                    </a:ext>
                  </a:extLst>
                </a:gridCol>
                <a:gridCol w="806872">
                  <a:extLst>
                    <a:ext uri="{9D8B030D-6E8A-4147-A177-3AD203B41FA5}">
                      <a16:colId xmlns:a16="http://schemas.microsoft.com/office/drawing/2014/main" val="20002"/>
                    </a:ext>
                  </a:extLst>
                </a:gridCol>
              </a:tblGrid>
              <a:tr h="703580">
                <a:tc>
                  <a:txBody>
                    <a:bodyPr/>
                    <a:lstStyle/>
                    <a:p>
                      <a:pPr>
                        <a:lnSpc>
                          <a:spcPct val="100000"/>
                        </a:lnSpc>
                        <a:spcBef>
                          <a:spcPts val="675"/>
                        </a:spcBef>
                      </a:pPr>
                      <a:endParaRPr sz="1200">
                        <a:latin typeface="Times New Roman"/>
                        <a:cs typeface="Times New Roman"/>
                      </a:endParaRPr>
                    </a:p>
                    <a:p>
                      <a:pPr algn="ctr">
                        <a:lnSpc>
                          <a:spcPct val="100000"/>
                        </a:lnSpc>
                      </a:pPr>
                      <a:r>
                        <a:rPr sz="2800" spc="-37" baseline="19841" dirty="0">
                          <a:solidFill>
                            <a:srgbClr val="BE9000"/>
                          </a:solidFill>
                          <a:latin typeface="Lucida Sans Unicode"/>
                          <a:cs typeface="Lucida Sans Unicode"/>
                        </a:rPr>
                        <a:t>s</a:t>
                      </a:r>
                      <a:r>
                        <a:rPr sz="1200" spc="-25" dirty="0">
                          <a:solidFill>
                            <a:srgbClr val="BE9000"/>
                          </a:solidFill>
                          <a:latin typeface="Lucida Sans Unicode"/>
                          <a:cs typeface="Lucida Sans Unicode"/>
                        </a:rPr>
                        <a:t>11</a:t>
                      </a:r>
                      <a:endParaRPr sz="1200">
                        <a:latin typeface="Lucida Sans Unicode"/>
                        <a:cs typeface="Lucida Sans Unicode"/>
                      </a:endParaRPr>
                    </a:p>
                  </a:txBody>
                  <a:tcPr marL="0" marR="0" marT="114300" marB="0">
                    <a:lnL w="9525">
                      <a:solidFill>
                        <a:srgbClr val="FAB901"/>
                      </a:solidFill>
                      <a:prstDash val="solid"/>
                    </a:lnL>
                    <a:lnR w="9525">
                      <a:solidFill>
                        <a:srgbClr val="FAB901"/>
                      </a:solidFill>
                      <a:prstDash val="solid"/>
                    </a:lnR>
                    <a:lnT w="9525">
                      <a:solidFill>
                        <a:srgbClr val="FAB901"/>
                      </a:solidFill>
                      <a:prstDash val="solid"/>
                    </a:lnT>
                    <a:lnB w="19050">
                      <a:solidFill>
                        <a:srgbClr val="FAB901"/>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FAB901"/>
                      </a:solidFill>
                      <a:prstDash val="solid"/>
                    </a:lnL>
                    <a:lnR w="9525">
                      <a:solidFill>
                        <a:srgbClr val="FAB901"/>
                      </a:solidFill>
                      <a:prstDash val="solid"/>
                    </a:lnR>
                    <a:lnT w="9525">
                      <a:solidFill>
                        <a:srgbClr val="FAB901"/>
                      </a:solidFill>
                      <a:prstDash val="solid"/>
                    </a:lnT>
                    <a:lnB w="19050">
                      <a:solidFill>
                        <a:srgbClr val="FAB901"/>
                      </a:solidFill>
                      <a:prstDash val="solid"/>
                    </a:lnB>
                    <a:solidFill>
                      <a:srgbClr val="EEEEEE"/>
                    </a:solidFill>
                  </a:tcPr>
                </a:tc>
                <a:tc>
                  <a:txBody>
                    <a:bodyPr/>
                    <a:lstStyle/>
                    <a:p>
                      <a:pPr>
                        <a:lnSpc>
                          <a:spcPct val="100000"/>
                        </a:lnSpc>
                      </a:pPr>
                      <a:endParaRPr sz="1700">
                        <a:latin typeface="Times New Roman"/>
                        <a:cs typeface="Times New Roman"/>
                      </a:endParaRPr>
                    </a:p>
                  </a:txBody>
                  <a:tcPr marL="0" marR="0" marT="0" marB="0">
                    <a:lnL w="9525">
                      <a:solidFill>
                        <a:srgbClr val="FAB901"/>
                      </a:solidFill>
                      <a:prstDash val="solid"/>
                    </a:lnL>
                    <a:lnR w="9525">
                      <a:solidFill>
                        <a:srgbClr val="FAB901"/>
                      </a:solidFill>
                      <a:prstDash val="solid"/>
                    </a:lnR>
                    <a:lnT w="9525">
                      <a:solidFill>
                        <a:srgbClr val="FAB901"/>
                      </a:solidFill>
                      <a:prstDash val="solid"/>
                    </a:lnT>
                    <a:lnB w="19050">
                      <a:solidFill>
                        <a:srgbClr val="FAB901"/>
                      </a:solidFill>
                      <a:prstDash val="solid"/>
                    </a:lnB>
                    <a:solidFill>
                      <a:srgbClr val="EEEEEE"/>
                    </a:solidFill>
                  </a:tcPr>
                </a:tc>
                <a:extLst>
                  <a:ext uri="{0D108BD9-81ED-4DB2-BD59-A6C34878D82A}">
                    <a16:rowId xmlns:a16="http://schemas.microsoft.com/office/drawing/2014/main" val="10000"/>
                  </a:ext>
                </a:extLst>
              </a:tr>
              <a:tr h="703580">
                <a:tc>
                  <a:txBody>
                    <a:bodyPr/>
                    <a:lstStyle/>
                    <a:p>
                      <a:pPr>
                        <a:lnSpc>
                          <a:spcPct val="100000"/>
                        </a:lnSpc>
                        <a:spcBef>
                          <a:spcPts val="700"/>
                        </a:spcBef>
                      </a:pPr>
                      <a:endParaRPr sz="1200" dirty="0">
                        <a:latin typeface="Times New Roman"/>
                        <a:cs typeface="Times New Roman"/>
                      </a:endParaRPr>
                    </a:p>
                    <a:p>
                      <a:pPr algn="ctr">
                        <a:lnSpc>
                          <a:spcPct val="100000"/>
                        </a:lnSpc>
                      </a:pPr>
                      <a:r>
                        <a:rPr sz="2800" spc="-37" baseline="19841" dirty="0">
                          <a:solidFill>
                            <a:srgbClr val="BE9000"/>
                          </a:solidFill>
                          <a:latin typeface="Lucida Sans Unicode"/>
                          <a:cs typeface="Lucida Sans Unicode"/>
                        </a:rPr>
                        <a:t>s</a:t>
                      </a:r>
                      <a:r>
                        <a:rPr sz="1200" spc="-25" dirty="0">
                          <a:solidFill>
                            <a:srgbClr val="BE9000"/>
                          </a:solidFill>
                          <a:latin typeface="Lucida Sans Unicode"/>
                          <a:cs typeface="Lucida Sans Unicode"/>
                        </a:rPr>
                        <a:t>21</a:t>
                      </a:r>
                      <a:endParaRPr sz="1200" dirty="0">
                        <a:latin typeface="Lucida Sans Unicode"/>
                        <a:cs typeface="Lucida Sans Unicode"/>
                      </a:endParaRPr>
                    </a:p>
                  </a:txBody>
                  <a:tcPr marL="0" marR="0" marT="118533" marB="0">
                    <a:lnL w="9525">
                      <a:solidFill>
                        <a:srgbClr val="FAB901"/>
                      </a:solidFill>
                      <a:prstDash val="solid"/>
                    </a:lnL>
                    <a:lnR w="9525">
                      <a:solidFill>
                        <a:srgbClr val="FAB901"/>
                      </a:solidFill>
                      <a:prstDash val="solid"/>
                    </a:lnR>
                    <a:lnT w="19050">
                      <a:solidFill>
                        <a:srgbClr val="FAB901"/>
                      </a:solidFill>
                      <a:prstDash val="solid"/>
                    </a:lnT>
                    <a:lnB w="28575">
                      <a:solidFill>
                        <a:srgbClr val="F65B66"/>
                      </a:solidFill>
                      <a:prstDash val="solid"/>
                    </a:lnB>
                  </a:tcPr>
                </a:tc>
                <a:tc>
                  <a:txBody>
                    <a:bodyPr/>
                    <a:lstStyle/>
                    <a:p>
                      <a:pPr>
                        <a:lnSpc>
                          <a:spcPct val="100000"/>
                        </a:lnSpc>
                        <a:spcBef>
                          <a:spcPts val="700"/>
                        </a:spcBef>
                      </a:pPr>
                      <a:endParaRPr sz="1200">
                        <a:latin typeface="Times New Roman"/>
                        <a:cs typeface="Times New Roman"/>
                      </a:endParaRPr>
                    </a:p>
                    <a:p>
                      <a:pPr algn="ctr">
                        <a:lnSpc>
                          <a:spcPct val="100000"/>
                        </a:lnSpc>
                      </a:pPr>
                      <a:r>
                        <a:rPr sz="2800" spc="-37" baseline="19841" dirty="0">
                          <a:solidFill>
                            <a:srgbClr val="BE9000"/>
                          </a:solidFill>
                          <a:latin typeface="Lucida Sans Unicode"/>
                          <a:cs typeface="Lucida Sans Unicode"/>
                        </a:rPr>
                        <a:t>s</a:t>
                      </a:r>
                      <a:r>
                        <a:rPr sz="1200" spc="-25" dirty="0">
                          <a:solidFill>
                            <a:srgbClr val="BE9000"/>
                          </a:solidFill>
                          <a:latin typeface="Lucida Sans Unicode"/>
                          <a:cs typeface="Lucida Sans Unicode"/>
                        </a:rPr>
                        <a:t>22</a:t>
                      </a:r>
                      <a:endParaRPr sz="1200">
                        <a:latin typeface="Lucida Sans Unicode"/>
                        <a:cs typeface="Lucida Sans Unicode"/>
                      </a:endParaRPr>
                    </a:p>
                  </a:txBody>
                  <a:tcPr marL="0" marR="0" marT="118533" marB="0">
                    <a:lnL w="9525">
                      <a:solidFill>
                        <a:srgbClr val="FAB901"/>
                      </a:solidFill>
                      <a:prstDash val="solid"/>
                    </a:lnL>
                    <a:lnR w="9525">
                      <a:solidFill>
                        <a:srgbClr val="FAB901"/>
                      </a:solidFill>
                      <a:prstDash val="solid"/>
                    </a:lnR>
                    <a:lnT w="19050">
                      <a:solidFill>
                        <a:srgbClr val="FAB901"/>
                      </a:solidFill>
                      <a:prstDash val="solid"/>
                    </a:lnT>
                    <a:lnB w="28575">
                      <a:solidFill>
                        <a:srgbClr val="F65B66"/>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FAB901"/>
                      </a:solidFill>
                      <a:prstDash val="solid"/>
                    </a:lnL>
                    <a:lnR w="9525">
                      <a:solidFill>
                        <a:srgbClr val="FAB901"/>
                      </a:solidFill>
                      <a:prstDash val="solid"/>
                    </a:lnR>
                    <a:lnT w="19050">
                      <a:solidFill>
                        <a:srgbClr val="FAB901"/>
                      </a:solidFill>
                      <a:prstDash val="solid"/>
                    </a:lnT>
                    <a:lnB w="28575">
                      <a:solidFill>
                        <a:srgbClr val="F65B66"/>
                      </a:solidFill>
                      <a:prstDash val="solid"/>
                    </a:lnB>
                    <a:solidFill>
                      <a:srgbClr val="EEEEEE"/>
                    </a:solidFill>
                  </a:tcPr>
                </a:tc>
                <a:extLst>
                  <a:ext uri="{0D108BD9-81ED-4DB2-BD59-A6C34878D82A}">
                    <a16:rowId xmlns:a16="http://schemas.microsoft.com/office/drawing/2014/main" val="10001"/>
                  </a:ext>
                </a:extLst>
              </a:tr>
              <a:tr h="699347">
                <a:tc>
                  <a:txBody>
                    <a:bodyPr/>
                    <a:lstStyle/>
                    <a:p>
                      <a:pPr>
                        <a:lnSpc>
                          <a:spcPct val="100000"/>
                        </a:lnSpc>
                        <a:spcBef>
                          <a:spcPts val="725"/>
                        </a:spcBef>
                      </a:pPr>
                      <a:endParaRPr sz="1200">
                        <a:latin typeface="Times New Roman"/>
                        <a:cs typeface="Times New Roman"/>
                      </a:endParaRPr>
                    </a:p>
                    <a:p>
                      <a:pPr algn="ctr">
                        <a:lnSpc>
                          <a:spcPct val="100000"/>
                        </a:lnSpc>
                      </a:pPr>
                      <a:r>
                        <a:rPr sz="2800" spc="-37" baseline="19841" dirty="0">
                          <a:solidFill>
                            <a:srgbClr val="BE9000"/>
                          </a:solidFill>
                          <a:latin typeface="Lucida Sans Unicode"/>
                          <a:cs typeface="Lucida Sans Unicode"/>
                        </a:rPr>
                        <a:t>s</a:t>
                      </a:r>
                      <a:r>
                        <a:rPr sz="1200" spc="-25" dirty="0">
                          <a:solidFill>
                            <a:srgbClr val="BE9000"/>
                          </a:solidFill>
                          <a:latin typeface="Lucida Sans Unicode"/>
                          <a:cs typeface="Lucida Sans Unicode"/>
                        </a:rPr>
                        <a:t>31</a:t>
                      </a:r>
                      <a:endParaRPr sz="1200">
                        <a:latin typeface="Lucida Sans Unicode"/>
                        <a:cs typeface="Lucida Sans Unicode"/>
                      </a:endParaRPr>
                    </a:p>
                  </a:txBody>
                  <a:tcPr marL="0" marR="0" marT="122767" marB="0">
                    <a:lnL w="9525">
                      <a:solidFill>
                        <a:srgbClr val="F65B66"/>
                      </a:solidFill>
                      <a:prstDash val="solid"/>
                    </a:lnL>
                    <a:lnR w="9525">
                      <a:solidFill>
                        <a:srgbClr val="FAB901"/>
                      </a:solidFill>
                      <a:prstDash val="solid"/>
                    </a:lnR>
                    <a:lnT w="28575">
                      <a:solidFill>
                        <a:srgbClr val="F65B66"/>
                      </a:solidFill>
                      <a:prstDash val="solid"/>
                    </a:lnT>
                    <a:lnB w="28575">
                      <a:solidFill>
                        <a:srgbClr val="F65B66"/>
                      </a:solidFill>
                      <a:prstDash val="solid"/>
                    </a:lnB>
                  </a:tcPr>
                </a:tc>
                <a:tc>
                  <a:txBody>
                    <a:bodyPr/>
                    <a:lstStyle/>
                    <a:p>
                      <a:pPr>
                        <a:lnSpc>
                          <a:spcPct val="100000"/>
                        </a:lnSpc>
                        <a:spcBef>
                          <a:spcPts val="725"/>
                        </a:spcBef>
                      </a:pPr>
                      <a:endParaRPr sz="1200">
                        <a:latin typeface="Times New Roman"/>
                        <a:cs typeface="Times New Roman"/>
                      </a:endParaRPr>
                    </a:p>
                    <a:p>
                      <a:pPr algn="ctr">
                        <a:lnSpc>
                          <a:spcPct val="100000"/>
                        </a:lnSpc>
                      </a:pPr>
                      <a:r>
                        <a:rPr sz="2800" spc="-37" baseline="19841" dirty="0">
                          <a:solidFill>
                            <a:srgbClr val="BE9000"/>
                          </a:solidFill>
                          <a:latin typeface="Lucida Sans Unicode"/>
                          <a:cs typeface="Lucida Sans Unicode"/>
                        </a:rPr>
                        <a:t>s</a:t>
                      </a:r>
                      <a:r>
                        <a:rPr sz="1200" spc="-25" dirty="0">
                          <a:solidFill>
                            <a:srgbClr val="BE9000"/>
                          </a:solidFill>
                          <a:latin typeface="Lucida Sans Unicode"/>
                          <a:cs typeface="Lucida Sans Unicode"/>
                        </a:rPr>
                        <a:t>32</a:t>
                      </a:r>
                      <a:endParaRPr sz="1200">
                        <a:latin typeface="Lucida Sans Unicode"/>
                        <a:cs typeface="Lucida Sans Unicode"/>
                      </a:endParaRPr>
                    </a:p>
                  </a:txBody>
                  <a:tcPr marL="0" marR="0" marT="122767" marB="0">
                    <a:lnL w="9525">
                      <a:solidFill>
                        <a:srgbClr val="FAB901"/>
                      </a:solidFill>
                      <a:prstDash val="solid"/>
                    </a:lnL>
                    <a:lnR w="9525">
                      <a:solidFill>
                        <a:srgbClr val="FAB901"/>
                      </a:solidFill>
                      <a:prstDash val="solid"/>
                    </a:lnR>
                    <a:lnT w="28575">
                      <a:solidFill>
                        <a:srgbClr val="F65B66"/>
                      </a:solidFill>
                      <a:prstDash val="solid"/>
                    </a:lnT>
                    <a:lnB w="28575">
                      <a:solidFill>
                        <a:srgbClr val="F65B66"/>
                      </a:solidFill>
                      <a:prstDash val="solid"/>
                    </a:lnB>
                  </a:tcPr>
                </a:tc>
                <a:tc>
                  <a:txBody>
                    <a:bodyPr/>
                    <a:lstStyle/>
                    <a:p>
                      <a:pPr>
                        <a:lnSpc>
                          <a:spcPct val="100000"/>
                        </a:lnSpc>
                        <a:spcBef>
                          <a:spcPts val="725"/>
                        </a:spcBef>
                      </a:pPr>
                      <a:endParaRPr sz="1200" dirty="0">
                        <a:latin typeface="Times New Roman"/>
                        <a:cs typeface="Times New Roman"/>
                      </a:endParaRPr>
                    </a:p>
                    <a:p>
                      <a:pPr marL="186055">
                        <a:lnSpc>
                          <a:spcPct val="100000"/>
                        </a:lnSpc>
                      </a:pPr>
                      <a:r>
                        <a:rPr sz="2800" spc="-37" baseline="19841" dirty="0">
                          <a:solidFill>
                            <a:srgbClr val="BE9000"/>
                          </a:solidFill>
                          <a:latin typeface="Lucida Sans Unicode"/>
                          <a:cs typeface="Lucida Sans Unicode"/>
                        </a:rPr>
                        <a:t>s</a:t>
                      </a:r>
                      <a:r>
                        <a:rPr sz="1200" spc="-25" dirty="0">
                          <a:solidFill>
                            <a:srgbClr val="BE9000"/>
                          </a:solidFill>
                          <a:latin typeface="Lucida Sans Unicode"/>
                          <a:cs typeface="Lucida Sans Unicode"/>
                        </a:rPr>
                        <a:t>33</a:t>
                      </a:r>
                      <a:endParaRPr sz="1200" dirty="0">
                        <a:latin typeface="Lucida Sans Unicode"/>
                        <a:cs typeface="Lucida Sans Unicode"/>
                      </a:endParaRPr>
                    </a:p>
                  </a:txBody>
                  <a:tcPr marL="0" marR="0" marT="122767" marB="0">
                    <a:lnL w="9525">
                      <a:solidFill>
                        <a:srgbClr val="FAB901"/>
                      </a:solidFill>
                      <a:prstDash val="solid"/>
                    </a:lnL>
                    <a:lnR w="9525">
                      <a:solidFill>
                        <a:srgbClr val="F65B66"/>
                      </a:solidFill>
                      <a:prstDash val="solid"/>
                    </a:lnR>
                    <a:lnT w="28575">
                      <a:solidFill>
                        <a:srgbClr val="F65B66"/>
                      </a:solidFill>
                      <a:prstDash val="solid"/>
                    </a:lnT>
                    <a:lnB w="28575">
                      <a:solidFill>
                        <a:srgbClr val="F65B66"/>
                      </a:solidFill>
                      <a:prstDash val="solid"/>
                    </a:lnB>
                  </a:tcPr>
                </a:tc>
                <a:extLst>
                  <a:ext uri="{0D108BD9-81ED-4DB2-BD59-A6C34878D82A}">
                    <a16:rowId xmlns:a16="http://schemas.microsoft.com/office/drawing/2014/main" val="10002"/>
                  </a:ext>
                </a:extLst>
              </a:tr>
            </a:tbl>
          </a:graphicData>
        </a:graphic>
      </p:graphicFrame>
      <p:grpSp>
        <p:nvGrpSpPr>
          <p:cNvPr id="4" name="object 4"/>
          <p:cNvGrpSpPr/>
          <p:nvPr/>
        </p:nvGrpSpPr>
        <p:grpSpPr>
          <a:xfrm>
            <a:off x="3533641" y="1445954"/>
            <a:ext cx="1600200" cy="933873"/>
            <a:chOff x="2650231" y="1059374"/>
            <a:chExt cx="1200150" cy="700405"/>
          </a:xfrm>
        </p:grpSpPr>
        <p:pic>
          <p:nvPicPr>
            <p:cNvPr id="5" name="object 5"/>
            <p:cNvPicPr/>
            <p:nvPr/>
          </p:nvPicPr>
          <p:blipFill>
            <a:blip r:embed="rId2" cstate="print"/>
            <a:stretch>
              <a:fillRect/>
            </a:stretch>
          </p:blipFill>
          <p:spPr>
            <a:xfrm>
              <a:off x="2650231" y="1059374"/>
              <a:ext cx="1200100" cy="700050"/>
            </a:xfrm>
            <a:prstGeom prst="rect">
              <a:avLst/>
            </a:prstGeom>
          </p:spPr>
        </p:pic>
        <p:sp>
          <p:nvSpPr>
            <p:cNvPr id="6" name="object 6"/>
            <p:cNvSpPr/>
            <p:nvPr/>
          </p:nvSpPr>
          <p:spPr>
            <a:xfrm>
              <a:off x="2972609" y="1100199"/>
              <a:ext cx="605790" cy="266700"/>
            </a:xfrm>
            <a:custGeom>
              <a:avLst/>
              <a:gdLst/>
              <a:ahLst/>
              <a:cxnLst/>
              <a:rect l="l" t="t" r="r" b="b"/>
              <a:pathLst>
                <a:path w="605789" h="266700">
                  <a:moveTo>
                    <a:pt x="605399" y="266399"/>
                  </a:moveTo>
                  <a:lnTo>
                    <a:pt x="0" y="266399"/>
                  </a:lnTo>
                  <a:lnTo>
                    <a:pt x="0" y="0"/>
                  </a:lnTo>
                  <a:lnTo>
                    <a:pt x="605399" y="0"/>
                  </a:lnTo>
                  <a:lnTo>
                    <a:pt x="605399" y="266399"/>
                  </a:lnTo>
                  <a:close/>
                </a:path>
              </a:pathLst>
            </a:custGeom>
            <a:solidFill>
              <a:srgbClr val="FFFFFF"/>
            </a:solidFill>
          </p:spPr>
          <p:txBody>
            <a:bodyPr wrap="square" lIns="0" tIns="0" rIns="0" bIns="0" rtlCol="0"/>
            <a:lstStyle/>
            <a:p>
              <a:endParaRPr sz="2400"/>
            </a:p>
          </p:txBody>
        </p:sp>
      </p:grpSp>
      <p:sp>
        <p:nvSpPr>
          <p:cNvPr id="7" name="object 7"/>
          <p:cNvSpPr txBox="1"/>
          <p:nvPr/>
        </p:nvSpPr>
        <p:spPr>
          <a:xfrm>
            <a:off x="3291867" y="1367908"/>
            <a:ext cx="1455420" cy="426613"/>
          </a:xfrm>
          <a:prstGeom prst="rect">
            <a:avLst/>
          </a:prstGeom>
        </p:spPr>
        <p:txBody>
          <a:bodyPr vert="horz" wrap="square" lIns="0" tIns="16087" rIns="0" bIns="0" rtlCol="0">
            <a:spAutoFit/>
          </a:bodyPr>
          <a:lstStyle/>
          <a:p>
            <a:pPr marL="50799">
              <a:spcBef>
                <a:spcPts val="127"/>
              </a:spcBef>
            </a:pPr>
            <a:r>
              <a:rPr sz="4000" spc="-479" baseline="-43055" dirty="0">
                <a:solidFill>
                  <a:srgbClr val="FAB901"/>
                </a:solidFill>
                <a:latin typeface="Arial Black"/>
                <a:cs typeface="Arial Black"/>
              </a:rPr>
              <a:t>S</a:t>
            </a:r>
            <a:r>
              <a:rPr sz="4000" spc="-489" baseline="-43055" dirty="0">
                <a:solidFill>
                  <a:srgbClr val="FAB901"/>
                </a:solidFill>
                <a:latin typeface="Arial Black"/>
                <a:cs typeface="Arial Black"/>
              </a:rPr>
              <a:t> </a:t>
            </a:r>
            <a:r>
              <a:rPr sz="4000" baseline="-43055" dirty="0">
                <a:latin typeface="Lucida Sans Unicode"/>
                <a:cs typeface="Lucida Sans Unicode"/>
              </a:rPr>
              <a:t>=</a:t>
            </a:r>
            <a:r>
              <a:rPr sz="4000" spc="740" baseline="-43055" dirty="0">
                <a:latin typeface="Lucida Sans Unicode"/>
                <a:cs typeface="Lucida Sans Unicode"/>
              </a:rPr>
              <a:t> </a:t>
            </a:r>
            <a:r>
              <a:rPr sz="2133" spc="-47" dirty="0">
                <a:solidFill>
                  <a:srgbClr val="FFAB40"/>
                </a:solidFill>
                <a:latin typeface="Arial Black"/>
                <a:cs typeface="Arial Black"/>
              </a:rPr>
              <a:t>Q</a:t>
            </a:r>
            <a:r>
              <a:rPr sz="2133" spc="-47" dirty="0">
                <a:latin typeface="MS PGothic"/>
                <a:cs typeface="MS PGothic"/>
              </a:rPr>
              <a:t>⋅</a:t>
            </a:r>
            <a:r>
              <a:rPr sz="2133" spc="-47" dirty="0">
                <a:solidFill>
                  <a:srgbClr val="257693"/>
                </a:solidFill>
                <a:latin typeface="Arial Black"/>
                <a:cs typeface="Arial Black"/>
              </a:rPr>
              <a:t>K</a:t>
            </a:r>
            <a:r>
              <a:rPr sz="2100" spc="-69" baseline="31746" dirty="0">
                <a:latin typeface="Lucida Sans Unicode"/>
                <a:cs typeface="Lucida Sans Unicode"/>
              </a:rPr>
              <a:t>T</a:t>
            </a:r>
            <a:endParaRPr sz="2100" baseline="31746">
              <a:latin typeface="Lucida Sans Unicode"/>
              <a:cs typeface="Lucida Sans Unicode"/>
            </a:endParaRPr>
          </a:p>
        </p:txBody>
      </p:sp>
      <p:sp>
        <p:nvSpPr>
          <p:cNvPr id="8" name="object 8"/>
          <p:cNvSpPr txBox="1"/>
          <p:nvPr/>
        </p:nvSpPr>
        <p:spPr>
          <a:xfrm>
            <a:off x="2911929" y="2392639"/>
            <a:ext cx="2026920" cy="304421"/>
          </a:xfrm>
          <a:prstGeom prst="rect">
            <a:avLst/>
          </a:prstGeom>
        </p:spPr>
        <p:txBody>
          <a:bodyPr vert="horz" wrap="square" lIns="0" tIns="16933" rIns="0" bIns="0" rtlCol="0">
            <a:spAutoFit/>
          </a:bodyPr>
          <a:lstStyle/>
          <a:p>
            <a:pPr marL="16933">
              <a:spcBef>
                <a:spcPts val="133"/>
              </a:spcBef>
            </a:pPr>
            <a:r>
              <a:rPr sz="1867" spc="-60" dirty="0">
                <a:solidFill>
                  <a:srgbClr val="FFAB40"/>
                </a:solidFill>
                <a:latin typeface="Arial Black"/>
                <a:cs typeface="Arial Black"/>
              </a:rPr>
              <a:t>attention</a:t>
            </a:r>
            <a:r>
              <a:rPr sz="1867" spc="-167" dirty="0">
                <a:solidFill>
                  <a:srgbClr val="FFAB40"/>
                </a:solidFill>
                <a:latin typeface="Arial Black"/>
                <a:cs typeface="Arial Black"/>
              </a:rPr>
              <a:t> </a:t>
            </a:r>
            <a:r>
              <a:rPr sz="1867" spc="-73" dirty="0">
                <a:solidFill>
                  <a:srgbClr val="FFAB40"/>
                </a:solidFill>
                <a:latin typeface="Arial Black"/>
                <a:cs typeface="Arial Black"/>
              </a:rPr>
              <a:t>scores</a:t>
            </a:r>
            <a:endParaRPr sz="1867">
              <a:latin typeface="Arial Black"/>
              <a:cs typeface="Arial Black"/>
            </a:endParaRPr>
          </a:p>
        </p:txBody>
      </p:sp>
      <p:grpSp>
        <p:nvGrpSpPr>
          <p:cNvPr id="9" name="object 9"/>
          <p:cNvGrpSpPr/>
          <p:nvPr/>
        </p:nvGrpSpPr>
        <p:grpSpPr>
          <a:xfrm>
            <a:off x="5588260" y="3677095"/>
            <a:ext cx="1393613" cy="164252"/>
            <a:chOff x="4191195" y="2732730"/>
            <a:chExt cx="1045210" cy="123189"/>
          </a:xfrm>
        </p:grpSpPr>
        <p:sp>
          <p:nvSpPr>
            <p:cNvPr id="10" name="object 10"/>
            <p:cNvSpPr/>
            <p:nvPr/>
          </p:nvSpPr>
          <p:spPr>
            <a:xfrm>
              <a:off x="4205483" y="2794215"/>
              <a:ext cx="887094" cy="6985"/>
            </a:xfrm>
            <a:custGeom>
              <a:avLst/>
              <a:gdLst/>
              <a:ahLst/>
              <a:cxnLst/>
              <a:rect l="l" t="t" r="r" b="b"/>
              <a:pathLst>
                <a:path w="887095" h="6985">
                  <a:moveTo>
                    <a:pt x="0" y="6787"/>
                  </a:moveTo>
                  <a:lnTo>
                    <a:pt x="886954" y="0"/>
                  </a:lnTo>
                </a:path>
              </a:pathLst>
            </a:custGeom>
            <a:ln w="28574">
              <a:solidFill>
                <a:srgbClr val="257693"/>
              </a:solidFill>
            </a:ln>
          </p:spPr>
          <p:txBody>
            <a:bodyPr wrap="square" lIns="0" tIns="0" rIns="0" bIns="0" rtlCol="0"/>
            <a:lstStyle/>
            <a:p>
              <a:endParaRPr sz="2400"/>
            </a:p>
          </p:txBody>
        </p:sp>
        <p:pic>
          <p:nvPicPr>
            <p:cNvPr id="11" name="object 11"/>
            <p:cNvPicPr/>
            <p:nvPr/>
          </p:nvPicPr>
          <p:blipFill>
            <a:blip r:embed="rId3" cstate="print"/>
            <a:stretch>
              <a:fillRect/>
            </a:stretch>
          </p:blipFill>
          <p:spPr>
            <a:xfrm>
              <a:off x="5077789" y="2732730"/>
              <a:ext cx="158608" cy="122968"/>
            </a:xfrm>
            <a:prstGeom prst="rect">
              <a:avLst/>
            </a:prstGeom>
          </p:spPr>
        </p:pic>
      </p:grpSp>
      <p:sp>
        <p:nvSpPr>
          <p:cNvPr id="12" name="object 12"/>
          <p:cNvSpPr txBox="1"/>
          <p:nvPr/>
        </p:nvSpPr>
        <p:spPr>
          <a:xfrm>
            <a:off x="7172330" y="2392623"/>
            <a:ext cx="2191173" cy="304421"/>
          </a:xfrm>
          <a:prstGeom prst="rect">
            <a:avLst/>
          </a:prstGeom>
        </p:spPr>
        <p:txBody>
          <a:bodyPr vert="horz" wrap="square" lIns="0" tIns="16933" rIns="0" bIns="0" rtlCol="0">
            <a:spAutoFit/>
          </a:bodyPr>
          <a:lstStyle/>
          <a:p>
            <a:pPr marL="16933">
              <a:spcBef>
                <a:spcPts val="133"/>
              </a:spcBef>
            </a:pPr>
            <a:r>
              <a:rPr sz="1867" spc="-60" dirty="0">
                <a:solidFill>
                  <a:srgbClr val="B45F06"/>
                </a:solidFill>
                <a:latin typeface="Arial Black"/>
                <a:cs typeface="Arial Black"/>
              </a:rPr>
              <a:t>attention</a:t>
            </a:r>
            <a:r>
              <a:rPr sz="1867" spc="-167" dirty="0">
                <a:solidFill>
                  <a:srgbClr val="B45F06"/>
                </a:solidFill>
                <a:latin typeface="Arial Black"/>
                <a:cs typeface="Arial Black"/>
              </a:rPr>
              <a:t> </a:t>
            </a:r>
            <a:r>
              <a:rPr sz="1867" spc="-60" dirty="0">
                <a:solidFill>
                  <a:srgbClr val="B45F06"/>
                </a:solidFill>
                <a:latin typeface="Arial Black"/>
                <a:cs typeface="Arial Black"/>
              </a:rPr>
              <a:t>weights</a:t>
            </a:r>
            <a:endParaRPr sz="1867">
              <a:latin typeface="Arial Black"/>
              <a:cs typeface="Arial Black"/>
            </a:endParaRPr>
          </a:p>
        </p:txBody>
      </p:sp>
      <p:graphicFrame>
        <p:nvGraphicFramePr>
          <p:cNvPr id="13" name="object 13"/>
          <p:cNvGraphicFramePr>
            <a:graphicFrameLocks noGrp="1"/>
          </p:cNvGraphicFramePr>
          <p:nvPr/>
        </p:nvGraphicFramePr>
        <p:xfrm>
          <a:off x="7216689" y="2705645"/>
          <a:ext cx="2422313" cy="2114973"/>
        </p:xfrm>
        <a:graphic>
          <a:graphicData uri="http://schemas.openxmlformats.org/drawingml/2006/table">
            <a:tbl>
              <a:tblPr firstRow="1" bandRow="1">
                <a:tableStyleId>{2D5ABB26-0587-4C30-8999-92F81FD0307C}</a:tableStyleId>
              </a:tblPr>
              <a:tblGrid>
                <a:gridCol w="802640">
                  <a:extLst>
                    <a:ext uri="{9D8B030D-6E8A-4147-A177-3AD203B41FA5}">
                      <a16:colId xmlns:a16="http://schemas.microsoft.com/office/drawing/2014/main" val="20000"/>
                    </a:ext>
                  </a:extLst>
                </a:gridCol>
                <a:gridCol w="811953">
                  <a:extLst>
                    <a:ext uri="{9D8B030D-6E8A-4147-A177-3AD203B41FA5}">
                      <a16:colId xmlns:a16="http://schemas.microsoft.com/office/drawing/2014/main" val="20001"/>
                    </a:ext>
                  </a:extLst>
                </a:gridCol>
                <a:gridCol w="807720">
                  <a:extLst>
                    <a:ext uri="{9D8B030D-6E8A-4147-A177-3AD203B41FA5}">
                      <a16:colId xmlns:a16="http://schemas.microsoft.com/office/drawing/2014/main" val="20002"/>
                    </a:ext>
                  </a:extLst>
                </a:gridCol>
              </a:tblGrid>
              <a:tr h="703580">
                <a:tc>
                  <a:txBody>
                    <a:bodyPr/>
                    <a:lstStyle/>
                    <a:p>
                      <a:pPr>
                        <a:lnSpc>
                          <a:spcPct val="100000"/>
                        </a:lnSpc>
                        <a:spcBef>
                          <a:spcPts val="675"/>
                        </a:spcBef>
                      </a:pPr>
                      <a:endParaRPr sz="1200">
                        <a:latin typeface="Times New Roman"/>
                        <a:cs typeface="Times New Roman"/>
                      </a:endParaRPr>
                    </a:p>
                    <a:p>
                      <a:pPr algn="ctr">
                        <a:lnSpc>
                          <a:spcPct val="100000"/>
                        </a:lnSpc>
                      </a:pPr>
                      <a:r>
                        <a:rPr sz="2800" spc="-37" baseline="19841" dirty="0">
                          <a:solidFill>
                            <a:srgbClr val="B45F06"/>
                          </a:solidFill>
                          <a:latin typeface="Lucida Sans Unicode"/>
                          <a:cs typeface="Lucida Sans Unicode"/>
                        </a:rPr>
                        <a:t>a</a:t>
                      </a:r>
                      <a:r>
                        <a:rPr sz="1200" spc="-25" dirty="0">
                          <a:solidFill>
                            <a:srgbClr val="B45F06"/>
                          </a:solidFill>
                          <a:latin typeface="Lucida Sans Unicode"/>
                          <a:cs typeface="Lucida Sans Unicode"/>
                        </a:rPr>
                        <a:t>11</a:t>
                      </a:r>
                      <a:endParaRPr sz="1200">
                        <a:latin typeface="Lucida Sans Unicode"/>
                        <a:cs typeface="Lucida Sans Unicode"/>
                      </a:endParaRPr>
                    </a:p>
                  </a:txBody>
                  <a:tcPr marL="0" marR="0" marT="114300" marB="0">
                    <a:lnL w="19050">
                      <a:solidFill>
                        <a:srgbClr val="B45F06"/>
                      </a:solidFill>
                      <a:prstDash val="solid"/>
                    </a:lnL>
                    <a:lnR w="9525">
                      <a:solidFill>
                        <a:srgbClr val="B45F06"/>
                      </a:solidFill>
                      <a:prstDash val="solid"/>
                    </a:lnR>
                    <a:lnT w="9525">
                      <a:solidFill>
                        <a:srgbClr val="B45F06"/>
                      </a:solidFill>
                      <a:prstDash val="solid"/>
                    </a:lnT>
                    <a:lnB w="19050">
                      <a:solidFill>
                        <a:srgbClr val="B45F06"/>
                      </a:solidFill>
                      <a:prstDash val="solid"/>
                    </a:lnB>
                  </a:tcPr>
                </a:tc>
                <a:tc>
                  <a:txBody>
                    <a:bodyPr/>
                    <a:lstStyle/>
                    <a:p>
                      <a:pPr>
                        <a:lnSpc>
                          <a:spcPct val="100000"/>
                        </a:lnSpc>
                      </a:pPr>
                      <a:endParaRPr sz="1700">
                        <a:latin typeface="Times New Roman"/>
                        <a:cs typeface="Times New Roman"/>
                      </a:endParaRPr>
                    </a:p>
                  </a:txBody>
                  <a:tcPr marL="0" marR="0" marT="0" marB="0">
                    <a:lnL w="9525">
                      <a:solidFill>
                        <a:srgbClr val="B45F06"/>
                      </a:solidFill>
                      <a:prstDash val="solid"/>
                    </a:lnL>
                    <a:lnR w="19050">
                      <a:solidFill>
                        <a:srgbClr val="B45F06"/>
                      </a:solidFill>
                      <a:prstDash val="solid"/>
                    </a:lnR>
                    <a:lnT w="9525">
                      <a:solidFill>
                        <a:srgbClr val="B45F06"/>
                      </a:solidFill>
                      <a:prstDash val="solid"/>
                    </a:lnT>
                    <a:lnB w="19050">
                      <a:solidFill>
                        <a:srgbClr val="B45F06"/>
                      </a:solidFill>
                      <a:prstDash val="solid"/>
                    </a:lnB>
                    <a:solidFill>
                      <a:srgbClr val="EEEEEE"/>
                    </a:solidFill>
                  </a:tcPr>
                </a:tc>
                <a:tc>
                  <a:txBody>
                    <a:bodyPr/>
                    <a:lstStyle/>
                    <a:p>
                      <a:pPr>
                        <a:lnSpc>
                          <a:spcPct val="100000"/>
                        </a:lnSpc>
                      </a:pPr>
                      <a:endParaRPr sz="1700">
                        <a:latin typeface="Times New Roman"/>
                        <a:cs typeface="Times New Roman"/>
                      </a:endParaRPr>
                    </a:p>
                  </a:txBody>
                  <a:tcPr marL="0" marR="0" marT="0" marB="0">
                    <a:lnL w="19050">
                      <a:solidFill>
                        <a:srgbClr val="B45F06"/>
                      </a:solidFill>
                      <a:prstDash val="solid"/>
                    </a:lnL>
                    <a:lnR w="19050">
                      <a:solidFill>
                        <a:srgbClr val="B45F06"/>
                      </a:solidFill>
                      <a:prstDash val="solid"/>
                    </a:lnR>
                    <a:lnT w="9525">
                      <a:solidFill>
                        <a:srgbClr val="B45F06"/>
                      </a:solidFill>
                      <a:prstDash val="solid"/>
                    </a:lnT>
                    <a:lnB w="19050">
                      <a:solidFill>
                        <a:srgbClr val="B45F06"/>
                      </a:solidFill>
                      <a:prstDash val="solid"/>
                    </a:lnB>
                    <a:solidFill>
                      <a:srgbClr val="EEEEEE"/>
                    </a:solidFill>
                  </a:tcPr>
                </a:tc>
                <a:extLst>
                  <a:ext uri="{0D108BD9-81ED-4DB2-BD59-A6C34878D82A}">
                    <a16:rowId xmlns:a16="http://schemas.microsoft.com/office/drawing/2014/main" val="10000"/>
                  </a:ext>
                </a:extLst>
              </a:tr>
              <a:tr h="707813">
                <a:tc>
                  <a:txBody>
                    <a:bodyPr/>
                    <a:lstStyle/>
                    <a:p>
                      <a:pPr>
                        <a:lnSpc>
                          <a:spcPct val="100000"/>
                        </a:lnSpc>
                        <a:spcBef>
                          <a:spcPts val="700"/>
                        </a:spcBef>
                      </a:pPr>
                      <a:endParaRPr sz="1200">
                        <a:latin typeface="Times New Roman"/>
                        <a:cs typeface="Times New Roman"/>
                      </a:endParaRPr>
                    </a:p>
                    <a:p>
                      <a:pPr algn="ctr">
                        <a:lnSpc>
                          <a:spcPct val="100000"/>
                        </a:lnSpc>
                      </a:pPr>
                      <a:r>
                        <a:rPr sz="2800" spc="-37" baseline="19841" dirty="0">
                          <a:solidFill>
                            <a:srgbClr val="B45F06"/>
                          </a:solidFill>
                          <a:latin typeface="Lucida Sans Unicode"/>
                          <a:cs typeface="Lucida Sans Unicode"/>
                        </a:rPr>
                        <a:t>a</a:t>
                      </a:r>
                      <a:r>
                        <a:rPr sz="1200" spc="-25" dirty="0">
                          <a:solidFill>
                            <a:srgbClr val="B45F06"/>
                          </a:solidFill>
                          <a:latin typeface="Lucida Sans Unicode"/>
                          <a:cs typeface="Lucida Sans Unicode"/>
                        </a:rPr>
                        <a:t>21</a:t>
                      </a:r>
                      <a:endParaRPr sz="1200">
                        <a:latin typeface="Lucida Sans Unicode"/>
                        <a:cs typeface="Lucida Sans Unicode"/>
                      </a:endParaRPr>
                    </a:p>
                  </a:txBody>
                  <a:tcPr marL="0" marR="0" marT="118533" marB="0">
                    <a:lnL w="19050">
                      <a:solidFill>
                        <a:srgbClr val="B45F06"/>
                      </a:solidFill>
                      <a:prstDash val="solid"/>
                    </a:lnL>
                    <a:lnR w="9525">
                      <a:solidFill>
                        <a:srgbClr val="B45F06"/>
                      </a:solidFill>
                      <a:prstDash val="solid"/>
                    </a:lnR>
                    <a:lnT w="19050">
                      <a:solidFill>
                        <a:srgbClr val="B45F06"/>
                      </a:solidFill>
                      <a:prstDash val="solid"/>
                    </a:lnT>
                    <a:lnB w="19050">
                      <a:solidFill>
                        <a:srgbClr val="F65B66"/>
                      </a:solidFill>
                      <a:prstDash val="solid"/>
                    </a:lnB>
                  </a:tcPr>
                </a:tc>
                <a:tc>
                  <a:txBody>
                    <a:bodyPr/>
                    <a:lstStyle/>
                    <a:p>
                      <a:pPr>
                        <a:lnSpc>
                          <a:spcPct val="100000"/>
                        </a:lnSpc>
                        <a:spcBef>
                          <a:spcPts val="700"/>
                        </a:spcBef>
                      </a:pPr>
                      <a:endParaRPr sz="1200">
                        <a:latin typeface="Times New Roman"/>
                        <a:cs typeface="Times New Roman"/>
                      </a:endParaRPr>
                    </a:p>
                    <a:p>
                      <a:pPr algn="ctr">
                        <a:lnSpc>
                          <a:spcPct val="100000"/>
                        </a:lnSpc>
                      </a:pPr>
                      <a:r>
                        <a:rPr sz="2800" spc="-37" baseline="19841" dirty="0">
                          <a:solidFill>
                            <a:srgbClr val="B45F06"/>
                          </a:solidFill>
                          <a:latin typeface="Lucida Sans Unicode"/>
                          <a:cs typeface="Lucida Sans Unicode"/>
                        </a:rPr>
                        <a:t>a</a:t>
                      </a:r>
                      <a:r>
                        <a:rPr sz="1200" spc="-25" dirty="0">
                          <a:solidFill>
                            <a:srgbClr val="B45F06"/>
                          </a:solidFill>
                          <a:latin typeface="Lucida Sans Unicode"/>
                          <a:cs typeface="Lucida Sans Unicode"/>
                        </a:rPr>
                        <a:t>22</a:t>
                      </a:r>
                      <a:endParaRPr sz="1200">
                        <a:latin typeface="Lucida Sans Unicode"/>
                        <a:cs typeface="Lucida Sans Unicode"/>
                      </a:endParaRPr>
                    </a:p>
                  </a:txBody>
                  <a:tcPr marL="0" marR="0" marT="118533" marB="0">
                    <a:lnL w="9525">
                      <a:solidFill>
                        <a:srgbClr val="B45F06"/>
                      </a:solidFill>
                      <a:prstDash val="solid"/>
                    </a:lnL>
                    <a:lnR w="19050">
                      <a:solidFill>
                        <a:srgbClr val="B45F06"/>
                      </a:solidFill>
                      <a:prstDash val="solid"/>
                    </a:lnR>
                    <a:lnT w="19050">
                      <a:solidFill>
                        <a:srgbClr val="B45F06"/>
                      </a:solidFill>
                      <a:prstDash val="solid"/>
                    </a:lnT>
                    <a:lnB w="19050">
                      <a:solidFill>
                        <a:srgbClr val="B45F06"/>
                      </a:solidFill>
                      <a:prstDash val="solid"/>
                    </a:lnB>
                  </a:tcPr>
                </a:tc>
                <a:tc>
                  <a:txBody>
                    <a:bodyPr/>
                    <a:lstStyle/>
                    <a:p>
                      <a:pPr>
                        <a:lnSpc>
                          <a:spcPct val="100000"/>
                        </a:lnSpc>
                      </a:pPr>
                      <a:endParaRPr sz="1700">
                        <a:latin typeface="Times New Roman"/>
                        <a:cs typeface="Times New Roman"/>
                      </a:endParaRPr>
                    </a:p>
                  </a:txBody>
                  <a:tcPr marL="0" marR="0" marT="0" marB="0">
                    <a:lnL w="19050">
                      <a:solidFill>
                        <a:srgbClr val="B45F06"/>
                      </a:solidFill>
                      <a:prstDash val="solid"/>
                    </a:lnL>
                    <a:lnR w="9525">
                      <a:solidFill>
                        <a:srgbClr val="B45F06"/>
                      </a:solidFill>
                      <a:prstDash val="solid"/>
                    </a:lnR>
                    <a:lnT w="19050">
                      <a:solidFill>
                        <a:srgbClr val="B45F06"/>
                      </a:solidFill>
                      <a:prstDash val="solid"/>
                    </a:lnT>
                    <a:lnB w="19050">
                      <a:solidFill>
                        <a:srgbClr val="B45F06"/>
                      </a:solidFill>
                      <a:prstDash val="solid"/>
                    </a:lnB>
                    <a:solidFill>
                      <a:srgbClr val="EEEEEE"/>
                    </a:solidFill>
                  </a:tcPr>
                </a:tc>
                <a:extLst>
                  <a:ext uri="{0D108BD9-81ED-4DB2-BD59-A6C34878D82A}">
                    <a16:rowId xmlns:a16="http://schemas.microsoft.com/office/drawing/2014/main" val="10001"/>
                  </a:ext>
                </a:extLst>
              </a:tr>
              <a:tr h="703580">
                <a:tc>
                  <a:txBody>
                    <a:bodyPr/>
                    <a:lstStyle/>
                    <a:p>
                      <a:pPr>
                        <a:lnSpc>
                          <a:spcPct val="100000"/>
                        </a:lnSpc>
                        <a:spcBef>
                          <a:spcPts val="700"/>
                        </a:spcBef>
                      </a:pPr>
                      <a:endParaRPr sz="1200">
                        <a:latin typeface="Times New Roman"/>
                        <a:cs typeface="Times New Roman"/>
                      </a:endParaRPr>
                    </a:p>
                    <a:p>
                      <a:pPr algn="ctr">
                        <a:lnSpc>
                          <a:spcPct val="100000"/>
                        </a:lnSpc>
                      </a:pPr>
                      <a:r>
                        <a:rPr sz="2800" spc="-37" baseline="19841" dirty="0">
                          <a:solidFill>
                            <a:srgbClr val="B45F06"/>
                          </a:solidFill>
                          <a:latin typeface="Lucida Sans Unicode"/>
                          <a:cs typeface="Lucida Sans Unicode"/>
                        </a:rPr>
                        <a:t>a</a:t>
                      </a:r>
                      <a:r>
                        <a:rPr sz="1200" spc="-25" dirty="0">
                          <a:solidFill>
                            <a:srgbClr val="B45F06"/>
                          </a:solidFill>
                          <a:latin typeface="Lucida Sans Unicode"/>
                          <a:cs typeface="Lucida Sans Unicode"/>
                        </a:rPr>
                        <a:t>31</a:t>
                      </a:r>
                      <a:endParaRPr sz="1200">
                        <a:latin typeface="Lucida Sans Unicode"/>
                        <a:cs typeface="Lucida Sans Unicode"/>
                      </a:endParaRPr>
                    </a:p>
                  </a:txBody>
                  <a:tcPr marL="0" marR="0" marT="118533" marB="0">
                    <a:lnL w="28575">
                      <a:solidFill>
                        <a:srgbClr val="F65B66"/>
                      </a:solidFill>
                      <a:prstDash val="solid"/>
                    </a:lnL>
                    <a:lnR w="9525">
                      <a:solidFill>
                        <a:srgbClr val="F65B66"/>
                      </a:solidFill>
                      <a:prstDash val="solid"/>
                    </a:lnR>
                    <a:lnT w="19050">
                      <a:solidFill>
                        <a:srgbClr val="F65B66"/>
                      </a:solidFill>
                      <a:prstDash val="solid"/>
                    </a:lnT>
                    <a:lnB w="9525">
                      <a:solidFill>
                        <a:srgbClr val="F65B66"/>
                      </a:solidFill>
                      <a:prstDash val="solid"/>
                    </a:lnB>
                  </a:tcPr>
                </a:tc>
                <a:tc>
                  <a:txBody>
                    <a:bodyPr/>
                    <a:lstStyle/>
                    <a:p>
                      <a:pPr>
                        <a:lnSpc>
                          <a:spcPct val="100000"/>
                        </a:lnSpc>
                        <a:spcBef>
                          <a:spcPts val="700"/>
                        </a:spcBef>
                      </a:pPr>
                      <a:endParaRPr sz="1200">
                        <a:latin typeface="Times New Roman"/>
                        <a:cs typeface="Times New Roman"/>
                      </a:endParaRPr>
                    </a:p>
                    <a:p>
                      <a:pPr algn="ctr">
                        <a:lnSpc>
                          <a:spcPct val="100000"/>
                        </a:lnSpc>
                      </a:pPr>
                      <a:r>
                        <a:rPr sz="2800" spc="-37" baseline="19841" dirty="0">
                          <a:solidFill>
                            <a:srgbClr val="B45F06"/>
                          </a:solidFill>
                          <a:latin typeface="Lucida Sans Unicode"/>
                          <a:cs typeface="Lucida Sans Unicode"/>
                        </a:rPr>
                        <a:t>a</a:t>
                      </a:r>
                      <a:r>
                        <a:rPr sz="1200" spc="-25" dirty="0">
                          <a:solidFill>
                            <a:srgbClr val="B45F06"/>
                          </a:solidFill>
                          <a:latin typeface="Lucida Sans Unicode"/>
                          <a:cs typeface="Lucida Sans Unicode"/>
                        </a:rPr>
                        <a:t>32</a:t>
                      </a:r>
                      <a:endParaRPr sz="1200">
                        <a:latin typeface="Lucida Sans Unicode"/>
                        <a:cs typeface="Lucida Sans Unicode"/>
                      </a:endParaRPr>
                    </a:p>
                  </a:txBody>
                  <a:tcPr marL="0" marR="0" marT="118533" marB="0">
                    <a:lnL w="9525">
                      <a:solidFill>
                        <a:srgbClr val="F65B66"/>
                      </a:solidFill>
                      <a:prstDash val="solid"/>
                    </a:lnL>
                    <a:lnR w="19050">
                      <a:solidFill>
                        <a:srgbClr val="B45F06"/>
                      </a:solidFill>
                      <a:prstDash val="solid"/>
                    </a:lnR>
                    <a:lnT w="19050">
                      <a:solidFill>
                        <a:srgbClr val="B45F06"/>
                      </a:solidFill>
                      <a:prstDash val="solid"/>
                    </a:lnT>
                    <a:lnB w="9525">
                      <a:solidFill>
                        <a:srgbClr val="B45F06"/>
                      </a:solidFill>
                      <a:prstDash val="solid"/>
                    </a:lnB>
                  </a:tcPr>
                </a:tc>
                <a:tc>
                  <a:txBody>
                    <a:bodyPr/>
                    <a:lstStyle/>
                    <a:p>
                      <a:pPr>
                        <a:lnSpc>
                          <a:spcPct val="100000"/>
                        </a:lnSpc>
                        <a:spcBef>
                          <a:spcPts val="700"/>
                        </a:spcBef>
                      </a:pPr>
                      <a:endParaRPr sz="1200" dirty="0">
                        <a:latin typeface="Times New Roman"/>
                        <a:cs typeface="Times New Roman"/>
                      </a:endParaRPr>
                    </a:p>
                    <a:p>
                      <a:pPr marL="175895">
                        <a:lnSpc>
                          <a:spcPct val="100000"/>
                        </a:lnSpc>
                      </a:pPr>
                      <a:r>
                        <a:rPr sz="2800" spc="-37" baseline="19841" dirty="0">
                          <a:solidFill>
                            <a:srgbClr val="B45F06"/>
                          </a:solidFill>
                          <a:latin typeface="Lucida Sans Unicode"/>
                          <a:cs typeface="Lucida Sans Unicode"/>
                        </a:rPr>
                        <a:t>a</a:t>
                      </a:r>
                      <a:r>
                        <a:rPr sz="1200" spc="-25" dirty="0">
                          <a:solidFill>
                            <a:srgbClr val="B45F06"/>
                          </a:solidFill>
                          <a:latin typeface="Lucida Sans Unicode"/>
                          <a:cs typeface="Lucida Sans Unicode"/>
                        </a:rPr>
                        <a:t>33</a:t>
                      </a:r>
                      <a:endParaRPr sz="1200" dirty="0">
                        <a:latin typeface="Lucida Sans Unicode"/>
                        <a:cs typeface="Lucida Sans Unicode"/>
                      </a:endParaRPr>
                    </a:p>
                  </a:txBody>
                  <a:tcPr marL="0" marR="0" marT="118533" marB="0">
                    <a:lnL w="19050">
                      <a:solidFill>
                        <a:srgbClr val="B45F06"/>
                      </a:solidFill>
                      <a:prstDash val="solid"/>
                    </a:lnL>
                    <a:lnR w="9525">
                      <a:solidFill>
                        <a:srgbClr val="B45F06"/>
                      </a:solidFill>
                      <a:prstDash val="solid"/>
                    </a:lnR>
                    <a:lnT w="19050">
                      <a:solidFill>
                        <a:srgbClr val="B45F06"/>
                      </a:solidFill>
                      <a:prstDash val="solid"/>
                    </a:lnT>
                    <a:lnB w="9525">
                      <a:solidFill>
                        <a:srgbClr val="B45F06"/>
                      </a:solidFill>
                      <a:prstDash val="solid"/>
                    </a:lnB>
                  </a:tcPr>
                </a:tc>
                <a:extLst>
                  <a:ext uri="{0D108BD9-81ED-4DB2-BD59-A6C34878D82A}">
                    <a16:rowId xmlns:a16="http://schemas.microsoft.com/office/drawing/2014/main" val="10002"/>
                  </a:ext>
                </a:extLst>
              </a:tr>
            </a:tbl>
          </a:graphicData>
        </a:graphic>
      </p:graphicFrame>
      <p:sp>
        <p:nvSpPr>
          <p:cNvPr id="14" name="object 14"/>
          <p:cNvSpPr txBox="1"/>
          <p:nvPr/>
        </p:nvSpPr>
        <p:spPr>
          <a:xfrm>
            <a:off x="5610435" y="3125483"/>
            <a:ext cx="1414780" cy="426677"/>
          </a:xfrm>
          <a:prstGeom prst="rect">
            <a:avLst/>
          </a:prstGeom>
        </p:spPr>
        <p:txBody>
          <a:bodyPr vert="horz" wrap="square" lIns="0" tIns="16087" rIns="0" bIns="0" rtlCol="0">
            <a:spAutoFit/>
          </a:bodyPr>
          <a:lstStyle/>
          <a:p>
            <a:pPr marL="16933">
              <a:spcBef>
                <a:spcPts val="127"/>
              </a:spcBef>
            </a:pPr>
            <a:r>
              <a:rPr sz="1867" spc="-13" dirty="0">
                <a:latin typeface="Lucida Sans Unicode"/>
                <a:cs typeface="Lucida Sans Unicode"/>
              </a:rPr>
              <a:t>softmax(</a:t>
            </a:r>
            <a:r>
              <a:rPr sz="2667" spc="-13" dirty="0">
                <a:solidFill>
                  <a:srgbClr val="FAB901"/>
                </a:solidFill>
                <a:latin typeface="Arial Black"/>
                <a:cs typeface="Arial Black"/>
              </a:rPr>
              <a:t>S</a:t>
            </a:r>
            <a:r>
              <a:rPr sz="1867" spc="-13" dirty="0">
                <a:latin typeface="Lucida Sans Unicode"/>
                <a:cs typeface="Lucida Sans Unicode"/>
              </a:rPr>
              <a:t>)</a:t>
            </a:r>
            <a:endParaRPr sz="1867">
              <a:latin typeface="Lucida Sans Unicode"/>
              <a:cs typeface="Lucida Sans Unicode"/>
            </a:endParaRPr>
          </a:p>
        </p:txBody>
      </p:sp>
      <p:sp>
        <p:nvSpPr>
          <p:cNvPr id="15" name="object 15"/>
          <p:cNvSpPr txBox="1"/>
          <p:nvPr/>
        </p:nvSpPr>
        <p:spPr>
          <a:xfrm>
            <a:off x="6813461" y="4834787"/>
            <a:ext cx="4088318" cy="263320"/>
          </a:xfrm>
          <a:prstGeom prst="rect">
            <a:avLst/>
          </a:prstGeom>
        </p:spPr>
        <p:txBody>
          <a:bodyPr vert="horz" wrap="square" lIns="0" tIns="16933" rIns="0" bIns="0" rtlCol="0">
            <a:spAutoFit/>
          </a:bodyPr>
          <a:lstStyle/>
          <a:p>
            <a:pPr marL="16933" marR="6773" indent="186262">
              <a:spcBef>
                <a:spcPts val="133"/>
              </a:spcBef>
            </a:pPr>
            <a:r>
              <a:rPr sz="1600" dirty="0">
                <a:solidFill>
                  <a:srgbClr val="F65B66"/>
                </a:solidFill>
                <a:latin typeface="Arial MT"/>
                <a:cs typeface="Arial MT"/>
              </a:rPr>
              <a:t>attention</a:t>
            </a:r>
            <a:r>
              <a:rPr sz="1600" spc="-60" dirty="0">
                <a:solidFill>
                  <a:srgbClr val="F65B66"/>
                </a:solidFill>
                <a:latin typeface="Arial MT"/>
                <a:cs typeface="Arial MT"/>
              </a:rPr>
              <a:t> </a:t>
            </a:r>
            <a:r>
              <a:rPr sz="1600" spc="-27" dirty="0">
                <a:solidFill>
                  <a:srgbClr val="F65B66"/>
                </a:solidFill>
                <a:latin typeface="Arial MT"/>
                <a:cs typeface="Arial MT"/>
              </a:rPr>
              <a:t>from </a:t>
            </a:r>
            <a:r>
              <a:rPr sz="1600" dirty="0">
                <a:solidFill>
                  <a:srgbClr val="F65B66"/>
                </a:solidFill>
                <a:latin typeface="Arial MT"/>
                <a:cs typeface="Arial MT"/>
              </a:rPr>
              <a:t>token</a:t>
            </a:r>
            <a:r>
              <a:rPr sz="1600" spc="-27" dirty="0">
                <a:solidFill>
                  <a:srgbClr val="F65B66"/>
                </a:solidFill>
                <a:latin typeface="Arial MT"/>
                <a:cs typeface="Arial MT"/>
              </a:rPr>
              <a:t> </a:t>
            </a:r>
            <a:r>
              <a:rPr sz="1600" dirty="0">
                <a:solidFill>
                  <a:srgbClr val="F65B66"/>
                </a:solidFill>
                <a:latin typeface="Arial MT"/>
                <a:cs typeface="Arial MT"/>
              </a:rPr>
              <a:t>3</a:t>
            </a:r>
            <a:r>
              <a:rPr sz="1600" spc="-20" dirty="0">
                <a:solidFill>
                  <a:srgbClr val="F65B66"/>
                </a:solidFill>
                <a:latin typeface="Arial MT"/>
                <a:cs typeface="Arial MT"/>
              </a:rPr>
              <a:t> </a:t>
            </a:r>
            <a:r>
              <a:rPr sz="1600" dirty="0">
                <a:solidFill>
                  <a:srgbClr val="F65B66"/>
                </a:solidFill>
                <a:latin typeface="Arial MT"/>
                <a:cs typeface="Arial MT"/>
              </a:rPr>
              <a:t>to</a:t>
            </a:r>
            <a:r>
              <a:rPr sz="1600" spc="-20" dirty="0">
                <a:solidFill>
                  <a:srgbClr val="F65B66"/>
                </a:solidFill>
                <a:latin typeface="Arial MT"/>
                <a:cs typeface="Arial MT"/>
              </a:rPr>
              <a:t> </a:t>
            </a:r>
            <a:r>
              <a:rPr sz="1600" dirty="0">
                <a:solidFill>
                  <a:srgbClr val="F65B66"/>
                </a:solidFill>
                <a:latin typeface="Arial MT"/>
                <a:cs typeface="Arial MT"/>
              </a:rPr>
              <a:t>token</a:t>
            </a:r>
            <a:r>
              <a:rPr sz="1600" spc="-20" dirty="0">
                <a:solidFill>
                  <a:srgbClr val="F65B66"/>
                </a:solidFill>
                <a:latin typeface="Arial MT"/>
                <a:cs typeface="Arial MT"/>
              </a:rPr>
              <a:t> </a:t>
            </a:r>
            <a:r>
              <a:rPr sz="1600" spc="-67" dirty="0">
                <a:solidFill>
                  <a:srgbClr val="F65B66"/>
                </a:solidFill>
                <a:latin typeface="Arial MT"/>
                <a:cs typeface="Arial MT"/>
              </a:rPr>
              <a:t>1</a:t>
            </a:r>
            <a:endParaRPr sz="1600" dirty="0">
              <a:latin typeface="Arial MT"/>
              <a:cs typeface="Arial MT"/>
            </a:endParaRPr>
          </a:p>
        </p:txBody>
      </p:sp>
      <p:graphicFrame>
        <p:nvGraphicFramePr>
          <p:cNvPr id="21" name="object 27">
            <a:extLst>
              <a:ext uri="{FF2B5EF4-FFF2-40B4-BE49-F238E27FC236}">
                <a16:creationId xmlns:a16="http://schemas.microsoft.com/office/drawing/2014/main" id="{45224E2A-E693-1FDE-9713-94F4F96938B3}"/>
              </a:ext>
            </a:extLst>
          </p:cNvPr>
          <p:cNvGraphicFramePr>
            <a:graphicFrameLocks noGrp="1"/>
          </p:cNvGraphicFramePr>
          <p:nvPr>
            <p:extLst>
              <p:ext uri="{D42A27DB-BD31-4B8C-83A1-F6EECF244321}">
                <p14:modId xmlns:p14="http://schemas.microsoft.com/office/powerpoint/2010/main" val="1533668058"/>
              </p:ext>
            </p:extLst>
          </p:nvPr>
        </p:nvGraphicFramePr>
        <p:xfrm>
          <a:off x="7209917" y="4121271"/>
          <a:ext cx="2429085" cy="699347"/>
        </p:xfrm>
        <a:graphic>
          <a:graphicData uri="http://schemas.openxmlformats.org/drawingml/2006/table">
            <a:tbl>
              <a:tblPr firstRow="1" bandRow="1">
                <a:tableStyleId>{2D5ABB26-0587-4C30-8999-92F81FD0307C}</a:tableStyleId>
              </a:tblPr>
              <a:tblGrid>
                <a:gridCol w="806873">
                  <a:extLst>
                    <a:ext uri="{9D8B030D-6E8A-4147-A177-3AD203B41FA5}">
                      <a16:colId xmlns:a16="http://schemas.microsoft.com/office/drawing/2014/main" val="20000"/>
                    </a:ext>
                  </a:extLst>
                </a:gridCol>
                <a:gridCol w="811107">
                  <a:extLst>
                    <a:ext uri="{9D8B030D-6E8A-4147-A177-3AD203B41FA5}">
                      <a16:colId xmlns:a16="http://schemas.microsoft.com/office/drawing/2014/main" val="20001"/>
                    </a:ext>
                  </a:extLst>
                </a:gridCol>
                <a:gridCol w="811105">
                  <a:extLst>
                    <a:ext uri="{9D8B030D-6E8A-4147-A177-3AD203B41FA5}">
                      <a16:colId xmlns:a16="http://schemas.microsoft.com/office/drawing/2014/main" val="20002"/>
                    </a:ext>
                  </a:extLst>
                </a:gridCol>
              </a:tblGrid>
              <a:tr h="699347">
                <a:tc>
                  <a:txBody>
                    <a:bodyPr/>
                    <a:lstStyle/>
                    <a:p>
                      <a:pPr>
                        <a:lnSpc>
                          <a:spcPct val="100000"/>
                        </a:lnSpc>
                        <a:spcBef>
                          <a:spcPts val="675"/>
                        </a:spcBef>
                      </a:pPr>
                      <a:endParaRPr sz="1200" dirty="0">
                        <a:latin typeface="Times New Roman"/>
                        <a:cs typeface="Times New Roman"/>
                      </a:endParaRPr>
                    </a:p>
                    <a:p>
                      <a:pPr marL="188595">
                        <a:lnSpc>
                          <a:spcPct val="100000"/>
                        </a:lnSpc>
                      </a:pPr>
                      <a:r>
                        <a:rPr sz="2800" spc="-37" baseline="19841" dirty="0">
                          <a:solidFill>
                            <a:srgbClr val="B45F06"/>
                          </a:solidFill>
                          <a:latin typeface="Lucida Sans Unicode"/>
                          <a:cs typeface="Lucida Sans Unicode"/>
                        </a:rPr>
                        <a:t>a</a:t>
                      </a:r>
                      <a:r>
                        <a:rPr sz="1200" spc="-25" dirty="0">
                          <a:solidFill>
                            <a:srgbClr val="B45F06"/>
                          </a:solidFill>
                          <a:latin typeface="Lucida Sans Unicode"/>
                          <a:cs typeface="Lucida Sans Unicode"/>
                        </a:rPr>
                        <a:t>31</a:t>
                      </a:r>
                      <a:endParaRPr sz="1200" dirty="0">
                        <a:latin typeface="Lucida Sans Unicode"/>
                        <a:cs typeface="Lucida Sans Unicode"/>
                      </a:endParaRPr>
                    </a:p>
                  </a:txBody>
                  <a:tcPr marL="0" marR="0" marT="114300" marB="0">
                    <a:lnL w="28575">
                      <a:solidFill>
                        <a:srgbClr val="B45F06"/>
                      </a:solidFill>
                      <a:prstDash val="solid"/>
                    </a:lnL>
                    <a:lnR w="28575">
                      <a:solidFill>
                        <a:srgbClr val="B45F06"/>
                      </a:solidFill>
                      <a:prstDash val="solid"/>
                    </a:lnR>
                    <a:lnT w="28575">
                      <a:solidFill>
                        <a:srgbClr val="B45F06"/>
                      </a:solidFill>
                      <a:prstDash val="solid"/>
                    </a:lnT>
                    <a:lnB w="28575">
                      <a:solidFill>
                        <a:srgbClr val="B45F06"/>
                      </a:solidFill>
                      <a:prstDash val="solid"/>
                    </a:lnB>
                    <a:solidFill>
                      <a:srgbClr val="FFFFFF">
                        <a:alpha val="70249"/>
                      </a:srgbClr>
                    </a:solidFill>
                  </a:tcPr>
                </a:tc>
                <a:tc>
                  <a:txBody>
                    <a:bodyPr/>
                    <a:lstStyle/>
                    <a:p>
                      <a:pPr>
                        <a:lnSpc>
                          <a:spcPct val="100000"/>
                        </a:lnSpc>
                        <a:spcBef>
                          <a:spcPts val="675"/>
                        </a:spcBef>
                      </a:pPr>
                      <a:endParaRPr sz="1200">
                        <a:latin typeface="Times New Roman"/>
                        <a:cs typeface="Times New Roman"/>
                      </a:endParaRPr>
                    </a:p>
                    <a:p>
                      <a:pPr marL="173355">
                        <a:lnSpc>
                          <a:spcPct val="100000"/>
                        </a:lnSpc>
                      </a:pPr>
                      <a:r>
                        <a:rPr sz="2800" spc="-37" baseline="19841" dirty="0">
                          <a:solidFill>
                            <a:srgbClr val="B45F06"/>
                          </a:solidFill>
                          <a:latin typeface="Lucida Sans Unicode"/>
                          <a:cs typeface="Lucida Sans Unicode"/>
                        </a:rPr>
                        <a:t>a</a:t>
                      </a:r>
                      <a:r>
                        <a:rPr sz="1200" spc="-25" dirty="0">
                          <a:solidFill>
                            <a:srgbClr val="B45F06"/>
                          </a:solidFill>
                          <a:latin typeface="Lucida Sans Unicode"/>
                          <a:cs typeface="Lucida Sans Unicode"/>
                        </a:rPr>
                        <a:t>32</a:t>
                      </a:r>
                      <a:endParaRPr sz="1200">
                        <a:latin typeface="Lucida Sans Unicode"/>
                        <a:cs typeface="Lucida Sans Unicode"/>
                      </a:endParaRPr>
                    </a:p>
                  </a:txBody>
                  <a:tcPr marL="0" marR="0" marT="114300" marB="0">
                    <a:lnL w="28575">
                      <a:solidFill>
                        <a:srgbClr val="B45F06"/>
                      </a:solidFill>
                      <a:prstDash val="solid"/>
                    </a:lnL>
                    <a:lnR w="38100">
                      <a:solidFill>
                        <a:srgbClr val="B45F06"/>
                      </a:solidFill>
                      <a:prstDash val="solid"/>
                    </a:lnR>
                    <a:lnT w="28575">
                      <a:solidFill>
                        <a:srgbClr val="B45F06"/>
                      </a:solidFill>
                      <a:prstDash val="solid"/>
                    </a:lnT>
                    <a:lnB w="28575">
                      <a:solidFill>
                        <a:srgbClr val="B45F06"/>
                      </a:solidFill>
                      <a:prstDash val="solid"/>
                    </a:lnB>
                    <a:solidFill>
                      <a:srgbClr val="FFFFFF">
                        <a:alpha val="70249"/>
                      </a:srgbClr>
                    </a:solidFill>
                  </a:tcPr>
                </a:tc>
                <a:tc>
                  <a:txBody>
                    <a:bodyPr/>
                    <a:lstStyle/>
                    <a:p>
                      <a:pPr>
                        <a:lnSpc>
                          <a:spcPct val="100000"/>
                        </a:lnSpc>
                        <a:spcBef>
                          <a:spcPts val="675"/>
                        </a:spcBef>
                      </a:pPr>
                      <a:endParaRPr sz="1200" dirty="0">
                        <a:latin typeface="Times New Roman"/>
                        <a:cs typeface="Times New Roman"/>
                      </a:endParaRPr>
                    </a:p>
                    <a:p>
                      <a:pPr marL="175895">
                        <a:lnSpc>
                          <a:spcPct val="100000"/>
                        </a:lnSpc>
                      </a:pPr>
                      <a:r>
                        <a:rPr sz="2800" spc="-37" baseline="19841" dirty="0">
                          <a:solidFill>
                            <a:srgbClr val="B45F06"/>
                          </a:solidFill>
                          <a:latin typeface="Lucida Sans Unicode"/>
                          <a:cs typeface="Lucida Sans Unicode"/>
                        </a:rPr>
                        <a:t>a</a:t>
                      </a:r>
                      <a:r>
                        <a:rPr sz="1200" spc="-25" dirty="0">
                          <a:solidFill>
                            <a:srgbClr val="B45F06"/>
                          </a:solidFill>
                          <a:latin typeface="Lucida Sans Unicode"/>
                          <a:cs typeface="Lucida Sans Unicode"/>
                        </a:rPr>
                        <a:t>33</a:t>
                      </a:r>
                      <a:endParaRPr sz="1200" dirty="0">
                        <a:latin typeface="Lucida Sans Unicode"/>
                        <a:cs typeface="Lucida Sans Unicode"/>
                      </a:endParaRPr>
                    </a:p>
                  </a:txBody>
                  <a:tcPr marL="0" marR="0" marT="114300" marB="0">
                    <a:lnL w="38100">
                      <a:solidFill>
                        <a:srgbClr val="B45F06"/>
                      </a:solidFill>
                      <a:prstDash val="solid"/>
                    </a:lnL>
                    <a:lnR w="28575">
                      <a:solidFill>
                        <a:srgbClr val="B45F06"/>
                      </a:solidFill>
                      <a:prstDash val="solid"/>
                    </a:lnR>
                    <a:lnT w="28575">
                      <a:solidFill>
                        <a:srgbClr val="B45F06"/>
                      </a:solidFill>
                      <a:prstDash val="solid"/>
                    </a:lnT>
                    <a:lnB w="28575">
                      <a:solidFill>
                        <a:srgbClr val="B45F06"/>
                      </a:solidFill>
                      <a:prstDash val="solid"/>
                    </a:lnB>
                    <a:solidFill>
                      <a:srgbClr val="FFFFFF">
                        <a:alpha val="70249"/>
                      </a:srgbClr>
                    </a:solidFill>
                  </a:tcPr>
                </a:tc>
                <a:extLst>
                  <a:ext uri="{0D108BD9-81ED-4DB2-BD59-A6C34878D82A}">
                    <a16:rowId xmlns:a16="http://schemas.microsoft.com/office/drawing/2014/main" val="10000"/>
                  </a:ext>
                </a:extLst>
              </a:tr>
            </a:tbl>
          </a:graphicData>
        </a:graphic>
      </p:graphicFrame>
      <p:sp>
        <p:nvSpPr>
          <p:cNvPr id="22" name="object 34">
            <a:extLst>
              <a:ext uri="{FF2B5EF4-FFF2-40B4-BE49-F238E27FC236}">
                <a16:creationId xmlns:a16="http://schemas.microsoft.com/office/drawing/2014/main" id="{E1CF9A9A-7523-F08F-7461-AA7E21F781CA}"/>
              </a:ext>
            </a:extLst>
          </p:cNvPr>
          <p:cNvSpPr txBox="1"/>
          <p:nvPr/>
        </p:nvSpPr>
        <p:spPr>
          <a:xfrm>
            <a:off x="698209" y="6006383"/>
            <a:ext cx="4624493" cy="612860"/>
          </a:xfrm>
          <a:prstGeom prst="rect">
            <a:avLst/>
          </a:prstGeom>
        </p:spPr>
        <p:txBody>
          <a:bodyPr vert="horz" wrap="square" lIns="0" tIns="17780" rIns="0" bIns="0" rtlCol="0">
            <a:spAutoFit/>
          </a:bodyPr>
          <a:lstStyle/>
          <a:p>
            <a:pPr marL="16933">
              <a:spcBef>
                <a:spcPts val="140"/>
              </a:spcBef>
            </a:pPr>
            <a:r>
              <a:rPr sz="1933" spc="-60" dirty="0">
                <a:solidFill>
                  <a:srgbClr val="F65B66"/>
                </a:solidFill>
                <a:latin typeface="Arial Black"/>
                <a:cs typeface="Arial Black"/>
              </a:rPr>
              <a:t>Softmax</a:t>
            </a:r>
            <a:r>
              <a:rPr sz="1933" spc="-173" dirty="0">
                <a:solidFill>
                  <a:srgbClr val="F65B66"/>
                </a:solidFill>
                <a:latin typeface="Arial Black"/>
                <a:cs typeface="Arial Black"/>
              </a:rPr>
              <a:t> </a:t>
            </a:r>
            <a:r>
              <a:rPr sz="1933" spc="-60" dirty="0">
                <a:solidFill>
                  <a:srgbClr val="F65B66"/>
                </a:solidFill>
                <a:latin typeface="Arial Black"/>
                <a:cs typeface="Arial Black"/>
              </a:rPr>
              <a:t>needs</a:t>
            </a:r>
            <a:r>
              <a:rPr sz="1933" spc="-173" dirty="0">
                <a:solidFill>
                  <a:srgbClr val="F65B66"/>
                </a:solidFill>
                <a:latin typeface="Arial Black"/>
                <a:cs typeface="Arial Black"/>
              </a:rPr>
              <a:t> </a:t>
            </a:r>
            <a:r>
              <a:rPr sz="1933" spc="-47" dirty="0">
                <a:solidFill>
                  <a:srgbClr val="F65B66"/>
                </a:solidFill>
                <a:latin typeface="Arial Black"/>
                <a:cs typeface="Arial Black"/>
              </a:rPr>
              <a:t>complete</a:t>
            </a:r>
            <a:r>
              <a:rPr sz="1933" spc="-173" dirty="0">
                <a:solidFill>
                  <a:srgbClr val="F65B66"/>
                </a:solidFill>
                <a:latin typeface="Arial Black"/>
                <a:cs typeface="Arial Black"/>
              </a:rPr>
              <a:t> </a:t>
            </a:r>
            <a:r>
              <a:rPr sz="1933" spc="-80" dirty="0">
                <a:solidFill>
                  <a:srgbClr val="F65B66"/>
                </a:solidFill>
                <a:latin typeface="Arial Black"/>
                <a:cs typeface="Arial Black"/>
              </a:rPr>
              <a:t>score</a:t>
            </a:r>
            <a:r>
              <a:rPr sz="1933" spc="-173" dirty="0">
                <a:solidFill>
                  <a:srgbClr val="F65B66"/>
                </a:solidFill>
                <a:latin typeface="Arial Black"/>
                <a:cs typeface="Arial Black"/>
              </a:rPr>
              <a:t> </a:t>
            </a:r>
            <a:r>
              <a:rPr sz="1933" spc="-53" dirty="0">
                <a:solidFill>
                  <a:srgbClr val="F65B66"/>
                </a:solidFill>
                <a:latin typeface="Arial Black"/>
                <a:cs typeface="Arial Black"/>
              </a:rPr>
              <a:t>rows</a:t>
            </a:r>
            <a:endParaRPr sz="1933" dirty="0">
              <a:latin typeface="Arial Black"/>
              <a:cs typeface="Arial Black"/>
            </a:endParaRPr>
          </a:p>
        </p:txBody>
      </p:sp>
      <p:sp>
        <p:nvSpPr>
          <p:cNvPr id="27" name="TextBox 26">
            <a:extLst>
              <a:ext uri="{FF2B5EF4-FFF2-40B4-BE49-F238E27FC236}">
                <a16:creationId xmlns:a16="http://schemas.microsoft.com/office/drawing/2014/main" id="{09150C38-9C5E-46ED-5D70-1A89E2BA13FD}"/>
              </a:ext>
            </a:extLst>
          </p:cNvPr>
          <p:cNvSpPr txBox="1"/>
          <p:nvPr/>
        </p:nvSpPr>
        <p:spPr>
          <a:xfrm>
            <a:off x="6313082" y="5225879"/>
            <a:ext cx="5503097" cy="1015663"/>
          </a:xfrm>
          <a:prstGeom prst="rect">
            <a:avLst/>
          </a:prstGeom>
          <a:solidFill>
            <a:schemeClr val="bg2">
              <a:lumMod val="90000"/>
            </a:schemeClr>
          </a:solidFill>
        </p:spPr>
        <p:txBody>
          <a:bodyPr wrap="square">
            <a:spAutoFit/>
          </a:bodyPr>
          <a:lstStyle/>
          <a:p>
            <a:r>
              <a:rPr lang="en-US" sz="2000" b="1" dirty="0"/>
              <a:t>Entire score row is needed in memory at once</a:t>
            </a:r>
            <a:r>
              <a:rPr lang="en-US" sz="2000" dirty="0"/>
              <a:t> before we can compute anything — which forces large reads/writes to slow VRAM (GPU memory)</a:t>
            </a:r>
            <a:endParaRPr lang="en-IN" sz="2000" dirty="0"/>
          </a:p>
        </p:txBody>
      </p:sp>
      <p:sp>
        <p:nvSpPr>
          <p:cNvPr id="40" name="object 35">
            <a:extLst>
              <a:ext uri="{FF2B5EF4-FFF2-40B4-BE49-F238E27FC236}">
                <a16:creationId xmlns:a16="http://schemas.microsoft.com/office/drawing/2014/main" id="{389A3BCA-93C1-4AFD-45FD-C2F5C42AA5F0}"/>
              </a:ext>
            </a:extLst>
          </p:cNvPr>
          <p:cNvSpPr txBox="1"/>
          <p:nvPr/>
        </p:nvSpPr>
        <p:spPr>
          <a:xfrm>
            <a:off x="3507107" y="5555020"/>
            <a:ext cx="1713653" cy="248145"/>
          </a:xfrm>
          <a:prstGeom prst="rect">
            <a:avLst/>
          </a:prstGeom>
          <a:ln w="23149">
            <a:solidFill>
              <a:srgbClr val="F65B66"/>
            </a:solidFill>
          </a:ln>
        </p:spPr>
        <p:txBody>
          <a:bodyPr vert="horz" wrap="square" lIns="0" tIns="0" rIns="0" bIns="0" rtlCol="0">
            <a:spAutoFit/>
          </a:bodyPr>
          <a:lstStyle/>
          <a:p>
            <a:pPr marL="62652">
              <a:lnSpc>
                <a:spcPts val="1673"/>
              </a:lnSpc>
            </a:pPr>
            <a:r>
              <a:rPr sz="3300" baseline="-33670" dirty="0">
                <a:latin typeface="Lucida Sans Unicode"/>
                <a:cs typeface="Lucida Sans Unicode"/>
              </a:rPr>
              <a:t>sum(e</a:t>
            </a:r>
            <a:r>
              <a:rPr sz="1333" dirty="0">
                <a:solidFill>
                  <a:srgbClr val="FFAB40"/>
                </a:solidFill>
                <a:latin typeface="Arial Black"/>
                <a:cs typeface="Arial Black"/>
              </a:rPr>
              <a:t>scores</a:t>
            </a:r>
            <a:r>
              <a:rPr sz="1333" spc="-27" dirty="0">
                <a:solidFill>
                  <a:srgbClr val="FFAB40"/>
                </a:solidFill>
                <a:latin typeface="Arial Black"/>
                <a:cs typeface="Arial Black"/>
              </a:rPr>
              <a:t> </a:t>
            </a:r>
            <a:r>
              <a:rPr sz="3300" spc="309" baseline="-33670" dirty="0">
                <a:latin typeface="Lucida Sans Unicode"/>
                <a:cs typeface="Lucida Sans Unicode"/>
              </a:rPr>
              <a:t>)</a:t>
            </a:r>
            <a:endParaRPr sz="3300" baseline="-33670">
              <a:latin typeface="Lucida Sans Unicode"/>
              <a:cs typeface="Lucida Sans Unicode"/>
            </a:endParaRPr>
          </a:p>
        </p:txBody>
      </p:sp>
      <p:sp>
        <p:nvSpPr>
          <p:cNvPr id="41" name="object 36">
            <a:extLst>
              <a:ext uri="{FF2B5EF4-FFF2-40B4-BE49-F238E27FC236}">
                <a16:creationId xmlns:a16="http://schemas.microsoft.com/office/drawing/2014/main" id="{2526C011-F701-1B13-4038-5940F76CF9A0}"/>
              </a:ext>
            </a:extLst>
          </p:cNvPr>
          <p:cNvSpPr txBox="1"/>
          <p:nvPr/>
        </p:nvSpPr>
        <p:spPr>
          <a:xfrm>
            <a:off x="4028626" y="4906005"/>
            <a:ext cx="747607" cy="355653"/>
          </a:xfrm>
          <a:prstGeom prst="rect">
            <a:avLst/>
          </a:prstGeom>
        </p:spPr>
        <p:txBody>
          <a:bodyPr vert="horz" wrap="square" lIns="0" tIns="16933" rIns="0" bIns="0" rtlCol="0">
            <a:spAutoFit/>
          </a:bodyPr>
          <a:lstStyle/>
          <a:p>
            <a:pPr marL="50799">
              <a:spcBef>
                <a:spcPts val="133"/>
              </a:spcBef>
            </a:pPr>
            <a:r>
              <a:rPr sz="3300" spc="-20" baseline="-31986" dirty="0">
                <a:latin typeface="Lucida Sans Unicode"/>
                <a:cs typeface="Lucida Sans Unicode"/>
              </a:rPr>
              <a:t>e</a:t>
            </a:r>
            <a:r>
              <a:rPr sz="1333" spc="-13" dirty="0">
                <a:solidFill>
                  <a:srgbClr val="FAB901"/>
                </a:solidFill>
                <a:latin typeface="Arial Black"/>
                <a:cs typeface="Arial Black"/>
              </a:rPr>
              <a:t>score</a:t>
            </a:r>
            <a:endParaRPr sz="1333" dirty="0">
              <a:latin typeface="Arial Black"/>
              <a:cs typeface="Arial Black"/>
            </a:endParaRPr>
          </a:p>
        </p:txBody>
      </p:sp>
      <p:grpSp>
        <p:nvGrpSpPr>
          <p:cNvPr id="42" name="object 37">
            <a:extLst>
              <a:ext uri="{FF2B5EF4-FFF2-40B4-BE49-F238E27FC236}">
                <a16:creationId xmlns:a16="http://schemas.microsoft.com/office/drawing/2014/main" id="{F13C9175-E56D-4B01-9911-756C3F4C8C88}"/>
              </a:ext>
            </a:extLst>
          </p:cNvPr>
          <p:cNvGrpSpPr/>
          <p:nvPr/>
        </p:nvGrpSpPr>
        <p:grpSpPr>
          <a:xfrm>
            <a:off x="3605826" y="5459204"/>
            <a:ext cx="1453727" cy="29633"/>
            <a:chOff x="2704369" y="4200938"/>
            <a:chExt cx="1090295" cy="22225"/>
          </a:xfrm>
        </p:grpSpPr>
        <p:sp>
          <p:nvSpPr>
            <p:cNvPr id="43" name="object 38">
              <a:extLst>
                <a:ext uri="{FF2B5EF4-FFF2-40B4-BE49-F238E27FC236}">
                  <a16:creationId xmlns:a16="http://schemas.microsoft.com/office/drawing/2014/main" id="{3AC34453-4B8B-2B6D-D047-DD0B352A98B3}"/>
                </a:ext>
              </a:extLst>
            </p:cNvPr>
            <p:cNvSpPr/>
            <p:nvPr/>
          </p:nvSpPr>
          <p:spPr>
            <a:xfrm>
              <a:off x="2709982" y="4206551"/>
              <a:ext cx="1078865" cy="10795"/>
            </a:xfrm>
            <a:custGeom>
              <a:avLst/>
              <a:gdLst/>
              <a:ahLst/>
              <a:cxnLst/>
              <a:rect l="l" t="t" r="r" b="b"/>
              <a:pathLst>
                <a:path w="1078864" h="10795">
                  <a:moveTo>
                    <a:pt x="1078686" y="10615"/>
                  </a:moveTo>
                  <a:lnTo>
                    <a:pt x="0" y="10615"/>
                  </a:lnTo>
                  <a:lnTo>
                    <a:pt x="0" y="0"/>
                  </a:lnTo>
                  <a:lnTo>
                    <a:pt x="1078686" y="0"/>
                  </a:lnTo>
                  <a:lnTo>
                    <a:pt x="1078686" y="10615"/>
                  </a:lnTo>
                  <a:close/>
                </a:path>
              </a:pathLst>
            </a:custGeom>
            <a:solidFill>
              <a:srgbClr val="000000"/>
            </a:solidFill>
          </p:spPr>
          <p:txBody>
            <a:bodyPr wrap="square" lIns="0" tIns="0" rIns="0" bIns="0" rtlCol="0"/>
            <a:lstStyle/>
            <a:p>
              <a:endParaRPr sz="2400"/>
            </a:p>
          </p:txBody>
        </p:sp>
        <p:sp>
          <p:nvSpPr>
            <p:cNvPr id="44" name="object 39">
              <a:extLst>
                <a:ext uri="{FF2B5EF4-FFF2-40B4-BE49-F238E27FC236}">
                  <a16:creationId xmlns:a16="http://schemas.microsoft.com/office/drawing/2014/main" id="{8AC7E294-238F-5281-B07F-2CE77104F228}"/>
                </a:ext>
              </a:extLst>
            </p:cNvPr>
            <p:cNvSpPr/>
            <p:nvPr/>
          </p:nvSpPr>
          <p:spPr>
            <a:xfrm>
              <a:off x="2709982" y="4206551"/>
              <a:ext cx="1078865" cy="10795"/>
            </a:xfrm>
            <a:custGeom>
              <a:avLst/>
              <a:gdLst/>
              <a:ahLst/>
              <a:cxnLst/>
              <a:rect l="l" t="t" r="r" b="b"/>
              <a:pathLst>
                <a:path w="1078864" h="10795">
                  <a:moveTo>
                    <a:pt x="0" y="0"/>
                  </a:moveTo>
                  <a:lnTo>
                    <a:pt x="1078686" y="0"/>
                  </a:lnTo>
                  <a:lnTo>
                    <a:pt x="1078686" y="10615"/>
                  </a:lnTo>
                  <a:lnTo>
                    <a:pt x="0" y="10615"/>
                  </a:lnTo>
                  <a:lnTo>
                    <a:pt x="0" y="0"/>
                  </a:lnTo>
                  <a:close/>
                </a:path>
              </a:pathLst>
            </a:custGeom>
            <a:ln w="11224">
              <a:solidFill>
                <a:srgbClr val="000000"/>
              </a:solidFill>
            </a:ln>
          </p:spPr>
          <p:txBody>
            <a:bodyPr wrap="square" lIns="0" tIns="0" rIns="0" bIns="0" rtlCol="0"/>
            <a:lstStyle/>
            <a:p>
              <a:endParaRPr sz="2400"/>
            </a:p>
          </p:txBody>
        </p:sp>
      </p:grpSp>
      <p:sp>
        <p:nvSpPr>
          <p:cNvPr id="45" name="object 40">
            <a:extLst>
              <a:ext uri="{FF2B5EF4-FFF2-40B4-BE49-F238E27FC236}">
                <a16:creationId xmlns:a16="http://schemas.microsoft.com/office/drawing/2014/main" id="{D9BE8E1A-48AF-59FE-7C7E-49725C3A1BDE}"/>
              </a:ext>
            </a:extLst>
          </p:cNvPr>
          <p:cNvSpPr txBox="1"/>
          <p:nvPr/>
        </p:nvSpPr>
        <p:spPr>
          <a:xfrm>
            <a:off x="2584583" y="5329834"/>
            <a:ext cx="851747" cy="215508"/>
          </a:xfrm>
          <a:prstGeom prst="rect">
            <a:avLst/>
          </a:prstGeom>
        </p:spPr>
        <p:txBody>
          <a:bodyPr vert="horz" wrap="square" lIns="0" tIns="20320" rIns="0" bIns="0" rtlCol="0">
            <a:spAutoFit/>
          </a:bodyPr>
          <a:lstStyle/>
          <a:p>
            <a:pPr marL="16933">
              <a:spcBef>
                <a:spcPts val="160"/>
              </a:spcBef>
            </a:pPr>
            <a:r>
              <a:rPr sz="1267" spc="-27" dirty="0">
                <a:solidFill>
                  <a:srgbClr val="257693"/>
                </a:solidFill>
                <a:latin typeface="Arial Black"/>
                <a:cs typeface="Arial Black"/>
              </a:rPr>
              <a:t>per</a:t>
            </a:r>
            <a:r>
              <a:rPr sz="1267" spc="-120" dirty="0">
                <a:solidFill>
                  <a:srgbClr val="257693"/>
                </a:solidFill>
                <a:latin typeface="Arial Black"/>
                <a:cs typeface="Arial Black"/>
              </a:rPr>
              <a:t> </a:t>
            </a:r>
            <a:r>
              <a:rPr sz="1267" spc="-13" dirty="0">
                <a:solidFill>
                  <a:srgbClr val="257693"/>
                </a:solidFill>
                <a:latin typeface="Arial Black"/>
                <a:cs typeface="Arial Black"/>
              </a:rPr>
              <a:t>query</a:t>
            </a:r>
            <a:endParaRPr sz="1267">
              <a:latin typeface="Arial Black"/>
              <a:cs typeface="Arial Black"/>
            </a:endParaRPr>
          </a:p>
        </p:txBody>
      </p:sp>
    </p:spTree>
    <p:extLst>
      <p:ext uri="{BB962C8B-B14F-4D97-AF65-F5344CB8AC3E}">
        <p14:creationId xmlns:p14="http://schemas.microsoft.com/office/powerpoint/2010/main" val="3478496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1667" y="4277386"/>
            <a:ext cx="850053" cy="341184"/>
          </a:xfrm>
          <a:prstGeom prst="rect">
            <a:avLst/>
          </a:prstGeom>
        </p:spPr>
        <p:txBody>
          <a:bodyPr vert="horz" wrap="square" lIns="0" tIns="22860" rIns="0" bIns="0" rtlCol="0">
            <a:spAutoFit/>
          </a:bodyPr>
          <a:lstStyle/>
          <a:p>
            <a:pPr marL="16933">
              <a:spcBef>
                <a:spcPts val="180"/>
              </a:spcBef>
            </a:pPr>
            <a:r>
              <a:rPr sz="2067" spc="-73" dirty="0">
                <a:solidFill>
                  <a:srgbClr val="257693"/>
                </a:solidFill>
                <a:latin typeface="Arial Black"/>
                <a:cs typeface="Arial Black"/>
              </a:rPr>
              <a:t>VRAM</a:t>
            </a:r>
            <a:endParaRPr sz="2067">
              <a:latin typeface="Arial Black"/>
              <a:cs typeface="Arial Black"/>
            </a:endParaRPr>
          </a:p>
        </p:txBody>
      </p:sp>
      <p:grpSp>
        <p:nvGrpSpPr>
          <p:cNvPr id="3" name="object 3"/>
          <p:cNvGrpSpPr/>
          <p:nvPr/>
        </p:nvGrpSpPr>
        <p:grpSpPr>
          <a:xfrm>
            <a:off x="1641267" y="4318235"/>
            <a:ext cx="3640667" cy="1139613"/>
            <a:chOff x="1230950" y="3238676"/>
            <a:chExt cx="2730500" cy="854710"/>
          </a:xfrm>
        </p:grpSpPr>
        <p:sp>
          <p:nvSpPr>
            <p:cNvPr id="4" name="object 4"/>
            <p:cNvSpPr/>
            <p:nvPr/>
          </p:nvSpPr>
          <p:spPr>
            <a:xfrm>
              <a:off x="2180072" y="3249801"/>
              <a:ext cx="832485" cy="832485"/>
            </a:xfrm>
            <a:custGeom>
              <a:avLst/>
              <a:gdLst/>
              <a:ahLst/>
              <a:cxnLst/>
              <a:rect l="l" t="t" r="r" b="b"/>
              <a:pathLst>
                <a:path w="832485" h="832485">
                  <a:moveTo>
                    <a:pt x="0" y="0"/>
                  </a:moveTo>
                  <a:lnTo>
                    <a:pt x="831899" y="0"/>
                  </a:lnTo>
                  <a:lnTo>
                    <a:pt x="831899" y="831899"/>
                  </a:lnTo>
                  <a:lnTo>
                    <a:pt x="0" y="831899"/>
                  </a:lnTo>
                  <a:lnTo>
                    <a:pt x="0" y="0"/>
                  </a:lnTo>
                  <a:close/>
                </a:path>
              </a:pathLst>
            </a:custGeom>
            <a:ln w="21649">
              <a:solidFill>
                <a:srgbClr val="4696AA"/>
              </a:solidFill>
            </a:ln>
          </p:spPr>
          <p:txBody>
            <a:bodyPr wrap="square" lIns="0" tIns="0" rIns="0" bIns="0" rtlCol="0"/>
            <a:lstStyle/>
            <a:p>
              <a:endParaRPr sz="2400"/>
            </a:p>
          </p:txBody>
        </p:sp>
        <p:sp>
          <p:nvSpPr>
            <p:cNvPr id="5" name="object 5"/>
            <p:cNvSpPr/>
            <p:nvPr/>
          </p:nvSpPr>
          <p:spPr>
            <a:xfrm>
              <a:off x="2291249" y="3249801"/>
              <a:ext cx="617220" cy="838200"/>
            </a:xfrm>
            <a:custGeom>
              <a:avLst/>
              <a:gdLst/>
              <a:ahLst/>
              <a:cxnLst/>
              <a:rect l="l" t="t" r="r" b="b"/>
              <a:pathLst>
                <a:path w="617219" h="838200">
                  <a:moveTo>
                    <a:pt x="304773" y="0"/>
                  </a:moveTo>
                  <a:lnTo>
                    <a:pt x="304773" y="831899"/>
                  </a:lnTo>
                </a:path>
                <a:path w="617219" h="838200">
                  <a:moveTo>
                    <a:pt x="512673" y="0"/>
                  </a:moveTo>
                  <a:lnTo>
                    <a:pt x="512673" y="831899"/>
                  </a:lnTo>
                </a:path>
                <a:path w="617219" h="838200">
                  <a:moveTo>
                    <a:pt x="206169" y="5974"/>
                  </a:moveTo>
                  <a:lnTo>
                    <a:pt x="206169" y="837874"/>
                  </a:lnTo>
                </a:path>
                <a:path w="617219" h="838200">
                  <a:moveTo>
                    <a:pt x="107623" y="5961"/>
                  </a:moveTo>
                  <a:lnTo>
                    <a:pt x="107623" y="837861"/>
                  </a:lnTo>
                </a:path>
                <a:path w="617219" h="838200">
                  <a:moveTo>
                    <a:pt x="0" y="0"/>
                  </a:moveTo>
                  <a:lnTo>
                    <a:pt x="0" y="831899"/>
                  </a:lnTo>
                </a:path>
                <a:path w="617219" h="838200">
                  <a:moveTo>
                    <a:pt x="408723" y="0"/>
                  </a:moveTo>
                  <a:lnTo>
                    <a:pt x="408723" y="831899"/>
                  </a:lnTo>
                </a:path>
                <a:path w="617219"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6" name="object 6"/>
            <p:cNvSpPr/>
            <p:nvPr/>
          </p:nvSpPr>
          <p:spPr>
            <a:xfrm>
              <a:off x="3118085" y="3249788"/>
              <a:ext cx="832485" cy="832485"/>
            </a:xfrm>
            <a:custGeom>
              <a:avLst/>
              <a:gdLst/>
              <a:ahLst/>
              <a:cxnLst/>
              <a:rect l="l" t="t" r="r" b="b"/>
              <a:pathLst>
                <a:path w="832485" h="832485">
                  <a:moveTo>
                    <a:pt x="0" y="0"/>
                  </a:moveTo>
                  <a:lnTo>
                    <a:pt x="831899" y="0"/>
                  </a:lnTo>
                  <a:lnTo>
                    <a:pt x="831899" y="831899"/>
                  </a:lnTo>
                  <a:lnTo>
                    <a:pt x="0" y="831899"/>
                  </a:lnTo>
                  <a:lnTo>
                    <a:pt x="0" y="0"/>
                  </a:lnTo>
                  <a:close/>
                </a:path>
              </a:pathLst>
            </a:custGeom>
            <a:ln w="21649">
              <a:solidFill>
                <a:srgbClr val="5AB46E"/>
              </a:solidFill>
            </a:ln>
          </p:spPr>
          <p:txBody>
            <a:bodyPr wrap="square" lIns="0" tIns="0" rIns="0" bIns="0" rtlCol="0"/>
            <a:lstStyle/>
            <a:p>
              <a:endParaRPr sz="2400"/>
            </a:p>
          </p:txBody>
        </p:sp>
        <p:sp>
          <p:nvSpPr>
            <p:cNvPr id="7" name="object 7"/>
            <p:cNvSpPr/>
            <p:nvPr/>
          </p:nvSpPr>
          <p:spPr>
            <a:xfrm>
              <a:off x="3229261" y="3249788"/>
              <a:ext cx="617220" cy="838200"/>
            </a:xfrm>
            <a:custGeom>
              <a:avLst/>
              <a:gdLst/>
              <a:ahLst/>
              <a:cxnLst/>
              <a:rect l="l" t="t" r="r" b="b"/>
              <a:pathLst>
                <a:path w="617220" h="838200">
                  <a:moveTo>
                    <a:pt x="304773" y="0"/>
                  </a:moveTo>
                  <a:lnTo>
                    <a:pt x="304773" y="831899"/>
                  </a:lnTo>
                </a:path>
                <a:path w="617220" h="838200">
                  <a:moveTo>
                    <a:pt x="512673" y="0"/>
                  </a:moveTo>
                  <a:lnTo>
                    <a:pt x="512673" y="831899"/>
                  </a:lnTo>
                </a:path>
                <a:path w="617220" h="838200">
                  <a:moveTo>
                    <a:pt x="206169" y="5974"/>
                  </a:moveTo>
                  <a:lnTo>
                    <a:pt x="206169" y="837874"/>
                  </a:lnTo>
                </a:path>
                <a:path w="617220" h="838200">
                  <a:moveTo>
                    <a:pt x="107623" y="5961"/>
                  </a:moveTo>
                  <a:lnTo>
                    <a:pt x="107623" y="837861"/>
                  </a:lnTo>
                </a:path>
                <a:path w="617220" h="838200">
                  <a:moveTo>
                    <a:pt x="0" y="0"/>
                  </a:moveTo>
                  <a:lnTo>
                    <a:pt x="0" y="831899"/>
                  </a:lnTo>
                </a:path>
                <a:path w="617220" h="838200">
                  <a:moveTo>
                    <a:pt x="408723" y="0"/>
                  </a:moveTo>
                  <a:lnTo>
                    <a:pt x="408723" y="831899"/>
                  </a:lnTo>
                </a:path>
                <a:path w="617220"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8" name="object 8"/>
            <p:cNvSpPr/>
            <p:nvPr/>
          </p:nvSpPr>
          <p:spPr>
            <a:xfrm>
              <a:off x="1242062" y="3249876"/>
              <a:ext cx="832485" cy="832485"/>
            </a:xfrm>
            <a:custGeom>
              <a:avLst/>
              <a:gdLst/>
              <a:ahLst/>
              <a:cxnLst/>
              <a:rect l="l" t="t" r="r" b="b"/>
              <a:pathLst>
                <a:path w="832485" h="832485">
                  <a:moveTo>
                    <a:pt x="0" y="0"/>
                  </a:moveTo>
                  <a:lnTo>
                    <a:pt x="831900" y="0"/>
                  </a:lnTo>
                  <a:lnTo>
                    <a:pt x="831900" y="831899"/>
                  </a:lnTo>
                  <a:lnTo>
                    <a:pt x="0" y="831899"/>
                  </a:lnTo>
                  <a:lnTo>
                    <a:pt x="0" y="0"/>
                  </a:lnTo>
                  <a:close/>
                </a:path>
              </a:pathLst>
            </a:custGeom>
            <a:ln w="21649">
              <a:solidFill>
                <a:srgbClr val="F65B66"/>
              </a:solidFill>
            </a:ln>
          </p:spPr>
          <p:txBody>
            <a:bodyPr wrap="square" lIns="0" tIns="0" rIns="0" bIns="0" rtlCol="0"/>
            <a:lstStyle/>
            <a:p>
              <a:endParaRPr sz="2400"/>
            </a:p>
          </p:txBody>
        </p:sp>
      </p:grpSp>
      <p:sp>
        <p:nvSpPr>
          <p:cNvPr id="9" name="object 9"/>
          <p:cNvSpPr txBox="1"/>
          <p:nvPr/>
        </p:nvSpPr>
        <p:spPr>
          <a:xfrm>
            <a:off x="1951145" y="4476679"/>
            <a:ext cx="2986193" cy="761747"/>
          </a:xfrm>
          <a:prstGeom prst="rect">
            <a:avLst/>
          </a:prstGeom>
        </p:spPr>
        <p:txBody>
          <a:bodyPr vert="horz" wrap="square" lIns="0" tIns="22860" rIns="0" bIns="0" rtlCol="0">
            <a:spAutoFit/>
          </a:bodyPr>
          <a:lstStyle/>
          <a:p>
            <a:pPr marL="16933">
              <a:spcBef>
                <a:spcPts val="180"/>
              </a:spcBef>
              <a:tabLst>
                <a:tab pos="1325000" algn="l"/>
                <a:tab pos="2552636" algn="l"/>
              </a:tabLst>
            </a:pPr>
            <a:r>
              <a:rPr sz="4800" spc="7" dirty="0">
                <a:latin typeface="Lucida Sans Unicode"/>
                <a:cs typeface="Lucida Sans Unicode"/>
              </a:rPr>
              <a:t>Q</a:t>
            </a:r>
            <a:r>
              <a:rPr sz="4800" dirty="0">
                <a:latin typeface="Lucida Sans Unicode"/>
                <a:cs typeface="Lucida Sans Unicode"/>
              </a:rPr>
              <a:t>	</a:t>
            </a:r>
            <a:r>
              <a:rPr sz="4800" spc="-67" dirty="0">
                <a:latin typeface="Lucida Sans Unicode"/>
                <a:cs typeface="Lucida Sans Unicode"/>
              </a:rPr>
              <a:t>K</a:t>
            </a:r>
            <a:r>
              <a:rPr sz="4800" dirty="0">
                <a:latin typeface="Lucida Sans Unicode"/>
                <a:cs typeface="Lucida Sans Unicode"/>
              </a:rPr>
              <a:t>	</a:t>
            </a:r>
            <a:r>
              <a:rPr sz="4800" spc="53" dirty="0">
                <a:latin typeface="Lucida Sans Unicode"/>
                <a:cs typeface="Lucida Sans Unicode"/>
              </a:rPr>
              <a:t>V</a:t>
            </a:r>
            <a:endParaRPr sz="4800">
              <a:latin typeface="Lucida Sans Unicode"/>
              <a:cs typeface="Lucida Sans Unicode"/>
            </a:endParaRPr>
          </a:p>
        </p:txBody>
      </p:sp>
      <p:sp>
        <p:nvSpPr>
          <p:cNvPr id="10" name="object 10"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Flash</a:t>
            </a:r>
            <a:r>
              <a:rPr spc="80" dirty="0"/>
              <a:t> </a:t>
            </a:r>
            <a:r>
              <a:rPr spc="-13" dirty="0"/>
              <a:t>attention</a:t>
            </a:r>
          </a:p>
        </p:txBody>
      </p:sp>
      <p:grpSp>
        <p:nvGrpSpPr>
          <p:cNvPr id="11" name="object 11"/>
          <p:cNvGrpSpPr/>
          <p:nvPr/>
        </p:nvGrpSpPr>
        <p:grpSpPr>
          <a:xfrm>
            <a:off x="1797969" y="1482559"/>
            <a:ext cx="3258820" cy="3974253"/>
            <a:chOff x="1348476" y="1111919"/>
            <a:chExt cx="2444115" cy="2980690"/>
          </a:xfrm>
        </p:grpSpPr>
        <p:sp>
          <p:nvSpPr>
            <p:cNvPr id="12" name="object 12"/>
            <p:cNvSpPr/>
            <p:nvPr/>
          </p:nvSpPr>
          <p:spPr>
            <a:xfrm>
              <a:off x="1353239" y="3249876"/>
              <a:ext cx="617220" cy="838200"/>
            </a:xfrm>
            <a:custGeom>
              <a:avLst/>
              <a:gdLst/>
              <a:ahLst/>
              <a:cxnLst/>
              <a:rect l="l" t="t" r="r" b="b"/>
              <a:pathLst>
                <a:path w="617219" h="838200">
                  <a:moveTo>
                    <a:pt x="304773" y="0"/>
                  </a:moveTo>
                  <a:lnTo>
                    <a:pt x="304773" y="831899"/>
                  </a:lnTo>
                </a:path>
                <a:path w="617219" h="838200">
                  <a:moveTo>
                    <a:pt x="512673" y="0"/>
                  </a:moveTo>
                  <a:lnTo>
                    <a:pt x="512673" y="831899"/>
                  </a:lnTo>
                </a:path>
                <a:path w="617219" h="838200">
                  <a:moveTo>
                    <a:pt x="206169" y="5974"/>
                  </a:moveTo>
                  <a:lnTo>
                    <a:pt x="206169" y="837874"/>
                  </a:lnTo>
                </a:path>
                <a:path w="617219" h="838200">
                  <a:moveTo>
                    <a:pt x="107623" y="5961"/>
                  </a:moveTo>
                  <a:lnTo>
                    <a:pt x="107623" y="837861"/>
                  </a:lnTo>
                </a:path>
                <a:path w="617219" h="838200">
                  <a:moveTo>
                    <a:pt x="0" y="0"/>
                  </a:moveTo>
                  <a:lnTo>
                    <a:pt x="0" y="831899"/>
                  </a:lnTo>
                </a:path>
                <a:path w="617219" h="838200">
                  <a:moveTo>
                    <a:pt x="408723" y="0"/>
                  </a:moveTo>
                  <a:lnTo>
                    <a:pt x="408723" y="831899"/>
                  </a:lnTo>
                </a:path>
                <a:path w="617219"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13" name="object 13"/>
            <p:cNvSpPr/>
            <p:nvPr/>
          </p:nvSpPr>
          <p:spPr>
            <a:xfrm>
              <a:off x="1626408" y="1118269"/>
              <a:ext cx="2160270" cy="299085"/>
            </a:xfrm>
            <a:custGeom>
              <a:avLst/>
              <a:gdLst/>
              <a:ahLst/>
              <a:cxnLst/>
              <a:rect l="l" t="t" r="r" b="b"/>
              <a:pathLst>
                <a:path w="2160270" h="299084">
                  <a:moveTo>
                    <a:pt x="0" y="298954"/>
                  </a:moveTo>
                  <a:lnTo>
                    <a:pt x="2159740" y="298954"/>
                  </a:lnTo>
                  <a:lnTo>
                    <a:pt x="2159740" y="0"/>
                  </a:lnTo>
                  <a:lnTo>
                    <a:pt x="0" y="0"/>
                  </a:lnTo>
                  <a:lnTo>
                    <a:pt x="0" y="298954"/>
                  </a:lnTo>
                  <a:close/>
                </a:path>
              </a:pathLst>
            </a:custGeom>
            <a:solidFill>
              <a:srgbClr val="F4C4D1"/>
            </a:solidFill>
          </p:spPr>
          <p:txBody>
            <a:bodyPr wrap="square" lIns="0" tIns="0" rIns="0" bIns="0" rtlCol="0"/>
            <a:lstStyle/>
            <a:p>
              <a:endParaRPr sz="2400"/>
            </a:p>
          </p:txBody>
        </p:sp>
        <p:sp>
          <p:nvSpPr>
            <p:cNvPr id="14" name="object 14"/>
            <p:cNvSpPr/>
            <p:nvPr/>
          </p:nvSpPr>
          <p:spPr>
            <a:xfrm>
              <a:off x="1626408" y="1118269"/>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15" name="object 15"/>
            <p:cNvSpPr/>
            <p:nvPr/>
          </p:nvSpPr>
          <p:spPr>
            <a:xfrm>
              <a:off x="3685387" y="1417224"/>
              <a:ext cx="100965" cy="1225550"/>
            </a:xfrm>
            <a:custGeom>
              <a:avLst/>
              <a:gdLst/>
              <a:ahLst/>
              <a:cxnLst/>
              <a:rect l="l" t="t" r="r" b="b"/>
              <a:pathLst>
                <a:path w="100964" h="1225550">
                  <a:moveTo>
                    <a:pt x="0" y="1225411"/>
                  </a:moveTo>
                  <a:lnTo>
                    <a:pt x="100786" y="1225411"/>
                  </a:lnTo>
                  <a:lnTo>
                    <a:pt x="100786" y="0"/>
                  </a:lnTo>
                  <a:lnTo>
                    <a:pt x="0" y="0"/>
                  </a:lnTo>
                  <a:lnTo>
                    <a:pt x="0" y="1225411"/>
                  </a:lnTo>
                  <a:close/>
                </a:path>
              </a:pathLst>
            </a:custGeom>
            <a:solidFill>
              <a:srgbClr val="EBFAFF"/>
            </a:solidFill>
          </p:spPr>
          <p:txBody>
            <a:bodyPr wrap="square" lIns="0" tIns="0" rIns="0" bIns="0" rtlCol="0"/>
            <a:lstStyle/>
            <a:p>
              <a:endParaRPr sz="2400"/>
            </a:p>
          </p:txBody>
        </p:sp>
        <p:sp>
          <p:nvSpPr>
            <p:cNvPr id="16" name="object 16"/>
            <p:cNvSpPr/>
            <p:nvPr/>
          </p:nvSpPr>
          <p:spPr>
            <a:xfrm>
              <a:off x="1626434" y="1417224"/>
              <a:ext cx="2160270" cy="1225550"/>
            </a:xfrm>
            <a:custGeom>
              <a:avLst/>
              <a:gdLst/>
              <a:ahLst/>
              <a:cxnLst/>
              <a:rect l="l" t="t" r="r" b="b"/>
              <a:pathLst>
                <a:path w="2160270" h="1225550">
                  <a:moveTo>
                    <a:pt x="2159740" y="0"/>
                  </a:moveTo>
                  <a:lnTo>
                    <a:pt x="2159740" y="1225411"/>
                  </a:lnTo>
                  <a:lnTo>
                    <a:pt x="0" y="1225411"/>
                  </a:lnTo>
                  <a:lnTo>
                    <a:pt x="0" y="0"/>
                  </a:lnTo>
                  <a:lnTo>
                    <a:pt x="2159740" y="0"/>
                  </a:lnTo>
                  <a:close/>
                </a:path>
              </a:pathLst>
            </a:custGeom>
            <a:ln w="12599">
              <a:solidFill>
                <a:srgbClr val="237A94"/>
              </a:solidFill>
            </a:ln>
          </p:spPr>
          <p:txBody>
            <a:bodyPr wrap="square" lIns="0" tIns="0" rIns="0" bIns="0" rtlCol="0"/>
            <a:lstStyle/>
            <a:p>
              <a:endParaRPr sz="2400"/>
            </a:p>
          </p:txBody>
        </p:sp>
        <p:sp>
          <p:nvSpPr>
            <p:cNvPr id="17" name="object 17"/>
            <p:cNvSpPr/>
            <p:nvPr/>
          </p:nvSpPr>
          <p:spPr>
            <a:xfrm>
              <a:off x="1525647" y="1219030"/>
              <a:ext cx="2160270" cy="300355"/>
            </a:xfrm>
            <a:custGeom>
              <a:avLst/>
              <a:gdLst/>
              <a:ahLst/>
              <a:cxnLst/>
              <a:rect l="l" t="t" r="r" b="b"/>
              <a:pathLst>
                <a:path w="2160270" h="300355">
                  <a:moveTo>
                    <a:pt x="0" y="300246"/>
                  </a:moveTo>
                  <a:lnTo>
                    <a:pt x="2159740" y="300246"/>
                  </a:lnTo>
                  <a:lnTo>
                    <a:pt x="2159740" y="0"/>
                  </a:lnTo>
                  <a:lnTo>
                    <a:pt x="0" y="0"/>
                  </a:lnTo>
                  <a:lnTo>
                    <a:pt x="0" y="300246"/>
                  </a:lnTo>
                  <a:close/>
                </a:path>
              </a:pathLst>
            </a:custGeom>
            <a:solidFill>
              <a:srgbClr val="F4C4D1"/>
            </a:solidFill>
          </p:spPr>
          <p:txBody>
            <a:bodyPr wrap="square" lIns="0" tIns="0" rIns="0" bIns="0" rtlCol="0"/>
            <a:lstStyle/>
            <a:p>
              <a:endParaRPr sz="2400"/>
            </a:p>
          </p:txBody>
        </p:sp>
        <p:sp>
          <p:nvSpPr>
            <p:cNvPr id="18" name="object 18"/>
            <p:cNvSpPr/>
            <p:nvPr/>
          </p:nvSpPr>
          <p:spPr>
            <a:xfrm>
              <a:off x="1525647" y="1219030"/>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19" name="object 19"/>
            <p:cNvSpPr/>
            <p:nvPr/>
          </p:nvSpPr>
          <p:spPr>
            <a:xfrm>
              <a:off x="3584627" y="1519276"/>
              <a:ext cx="100965" cy="1224915"/>
            </a:xfrm>
            <a:custGeom>
              <a:avLst/>
              <a:gdLst/>
              <a:ahLst/>
              <a:cxnLst/>
              <a:rect l="l" t="t" r="r" b="b"/>
              <a:pathLst>
                <a:path w="100964" h="1224914">
                  <a:moveTo>
                    <a:pt x="0" y="1224414"/>
                  </a:moveTo>
                  <a:lnTo>
                    <a:pt x="100797" y="1224414"/>
                  </a:lnTo>
                  <a:lnTo>
                    <a:pt x="100797" y="0"/>
                  </a:lnTo>
                  <a:lnTo>
                    <a:pt x="0" y="0"/>
                  </a:lnTo>
                  <a:lnTo>
                    <a:pt x="0" y="1224414"/>
                  </a:lnTo>
                  <a:close/>
                </a:path>
              </a:pathLst>
            </a:custGeom>
            <a:solidFill>
              <a:srgbClr val="EBFAFF"/>
            </a:solidFill>
          </p:spPr>
          <p:txBody>
            <a:bodyPr wrap="square" lIns="0" tIns="0" rIns="0" bIns="0" rtlCol="0"/>
            <a:lstStyle/>
            <a:p>
              <a:endParaRPr sz="2400"/>
            </a:p>
          </p:txBody>
        </p:sp>
        <p:sp>
          <p:nvSpPr>
            <p:cNvPr id="20" name="object 20"/>
            <p:cNvSpPr/>
            <p:nvPr/>
          </p:nvSpPr>
          <p:spPr>
            <a:xfrm>
              <a:off x="1525684" y="1519276"/>
              <a:ext cx="2160270" cy="1224915"/>
            </a:xfrm>
            <a:custGeom>
              <a:avLst/>
              <a:gdLst/>
              <a:ahLst/>
              <a:cxnLst/>
              <a:rect l="l" t="t" r="r" b="b"/>
              <a:pathLst>
                <a:path w="2160270" h="1224914">
                  <a:moveTo>
                    <a:pt x="2159740" y="0"/>
                  </a:moveTo>
                  <a:lnTo>
                    <a:pt x="2159740" y="1224414"/>
                  </a:lnTo>
                  <a:lnTo>
                    <a:pt x="0" y="1224414"/>
                  </a:lnTo>
                  <a:lnTo>
                    <a:pt x="0" y="0"/>
                  </a:lnTo>
                  <a:lnTo>
                    <a:pt x="2159740" y="0"/>
                  </a:lnTo>
                  <a:close/>
                </a:path>
              </a:pathLst>
            </a:custGeom>
            <a:ln w="12599">
              <a:solidFill>
                <a:srgbClr val="237A94"/>
              </a:solidFill>
            </a:ln>
          </p:spPr>
          <p:txBody>
            <a:bodyPr wrap="square" lIns="0" tIns="0" rIns="0" bIns="0" rtlCol="0"/>
            <a:lstStyle/>
            <a:p>
              <a:endParaRPr sz="2400"/>
            </a:p>
          </p:txBody>
        </p:sp>
        <p:sp>
          <p:nvSpPr>
            <p:cNvPr id="21" name="object 21"/>
            <p:cNvSpPr/>
            <p:nvPr/>
          </p:nvSpPr>
          <p:spPr>
            <a:xfrm>
              <a:off x="1424886" y="1319791"/>
              <a:ext cx="2160270" cy="298450"/>
            </a:xfrm>
            <a:custGeom>
              <a:avLst/>
              <a:gdLst/>
              <a:ahLst/>
              <a:cxnLst/>
              <a:rect l="l" t="t" r="r" b="b"/>
              <a:pathLst>
                <a:path w="2160270" h="298450">
                  <a:moveTo>
                    <a:pt x="0" y="298333"/>
                  </a:moveTo>
                  <a:lnTo>
                    <a:pt x="2159740" y="298333"/>
                  </a:lnTo>
                  <a:lnTo>
                    <a:pt x="2159740" y="0"/>
                  </a:lnTo>
                  <a:lnTo>
                    <a:pt x="0" y="0"/>
                  </a:lnTo>
                  <a:lnTo>
                    <a:pt x="0" y="298333"/>
                  </a:lnTo>
                  <a:close/>
                </a:path>
              </a:pathLst>
            </a:custGeom>
            <a:solidFill>
              <a:srgbClr val="F4C4D1"/>
            </a:solidFill>
          </p:spPr>
          <p:txBody>
            <a:bodyPr wrap="square" lIns="0" tIns="0" rIns="0" bIns="0" rtlCol="0"/>
            <a:lstStyle/>
            <a:p>
              <a:endParaRPr sz="2400"/>
            </a:p>
          </p:txBody>
        </p:sp>
        <p:sp>
          <p:nvSpPr>
            <p:cNvPr id="22" name="object 22"/>
            <p:cNvSpPr/>
            <p:nvPr/>
          </p:nvSpPr>
          <p:spPr>
            <a:xfrm>
              <a:off x="1424886" y="1319791"/>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23" name="object 23"/>
            <p:cNvSpPr/>
            <p:nvPr/>
          </p:nvSpPr>
          <p:spPr>
            <a:xfrm>
              <a:off x="1424909" y="1618124"/>
              <a:ext cx="2160270" cy="1226820"/>
            </a:xfrm>
            <a:custGeom>
              <a:avLst/>
              <a:gdLst/>
              <a:ahLst/>
              <a:cxnLst/>
              <a:rect l="l" t="t" r="r" b="b"/>
              <a:pathLst>
                <a:path w="2160270" h="1226820">
                  <a:moveTo>
                    <a:pt x="2159740" y="1226408"/>
                  </a:moveTo>
                  <a:lnTo>
                    <a:pt x="0" y="1226408"/>
                  </a:lnTo>
                  <a:lnTo>
                    <a:pt x="0" y="0"/>
                  </a:lnTo>
                  <a:lnTo>
                    <a:pt x="2159740" y="0"/>
                  </a:lnTo>
                  <a:lnTo>
                    <a:pt x="2159740" y="1226408"/>
                  </a:lnTo>
                  <a:close/>
                </a:path>
              </a:pathLst>
            </a:custGeom>
            <a:solidFill>
              <a:srgbClr val="EBFAFF"/>
            </a:solidFill>
          </p:spPr>
          <p:txBody>
            <a:bodyPr wrap="square" lIns="0" tIns="0" rIns="0" bIns="0" rtlCol="0"/>
            <a:lstStyle/>
            <a:p>
              <a:endParaRPr sz="2400"/>
            </a:p>
          </p:txBody>
        </p:sp>
        <p:sp>
          <p:nvSpPr>
            <p:cNvPr id="24" name="object 24"/>
            <p:cNvSpPr/>
            <p:nvPr/>
          </p:nvSpPr>
          <p:spPr>
            <a:xfrm>
              <a:off x="1424909" y="1618124"/>
              <a:ext cx="2160270" cy="1226820"/>
            </a:xfrm>
            <a:custGeom>
              <a:avLst/>
              <a:gdLst/>
              <a:ahLst/>
              <a:cxnLst/>
              <a:rect l="l" t="t" r="r" b="b"/>
              <a:pathLst>
                <a:path w="2160270" h="1226820">
                  <a:moveTo>
                    <a:pt x="2159740" y="0"/>
                  </a:moveTo>
                  <a:lnTo>
                    <a:pt x="2159740" y="1226408"/>
                  </a:lnTo>
                  <a:lnTo>
                    <a:pt x="0" y="1226408"/>
                  </a:lnTo>
                  <a:lnTo>
                    <a:pt x="0" y="0"/>
                  </a:lnTo>
                  <a:lnTo>
                    <a:pt x="2159740" y="0"/>
                  </a:lnTo>
                  <a:close/>
                </a:path>
              </a:pathLst>
            </a:custGeom>
            <a:ln w="12599">
              <a:solidFill>
                <a:srgbClr val="237A94"/>
              </a:solidFill>
            </a:ln>
          </p:spPr>
          <p:txBody>
            <a:bodyPr wrap="square" lIns="0" tIns="0" rIns="0" bIns="0" rtlCol="0"/>
            <a:lstStyle/>
            <a:p>
              <a:endParaRPr sz="2400"/>
            </a:p>
          </p:txBody>
        </p:sp>
      </p:grpSp>
      <p:sp>
        <p:nvSpPr>
          <p:cNvPr id="25" name="object 25"/>
          <p:cNvSpPr txBox="1"/>
          <p:nvPr/>
        </p:nvSpPr>
        <p:spPr>
          <a:xfrm>
            <a:off x="2100425" y="1135607"/>
            <a:ext cx="2090420" cy="341184"/>
          </a:xfrm>
          <a:prstGeom prst="rect">
            <a:avLst/>
          </a:prstGeom>
        </p:spPr>
        <p:txBody>
          <a:bodyPr vert="horz" wrap="square" lIns="0" tIns="22860" rIns="0" bIns="0" rtlCol="0">
            <a:spAutoFit/>
          </a:bodyPr>
          <a:lstStyle/>
          <a:p>
            <a:pPr marL="16933">
              <a:spcBef>
                <a:spcPts val="180"/>
              </a:spcBef>
            </a:pPr>
            <a:r>
              <a:rPr sz="2067" dirty="0">
                <a:solidFill>
                  <a:srgbClr val="257693"/>
                </a:solidFill>
                <a:latin typeface="Arial Black"/>
                <a:cs typeface="Arial Black"/>
              </a:rPr>
              <a:t>Compute</a:t>
            </a:r>
            <a:r>
              <a:rPr sz="2067" spc="-147" dirty="0">
                <a:solidFill>
                  <a:srgbClr val="257693"/>
                </a:solidFill>
                <a:latin typeface="Arial Black"/>
                <a:cs typeface="Arial Black"/>
              </a:rPr>
              <a:t> </a:t>
            </a:r>
            <a:r>
              <a:rPr sz="2067" spc="-13" dirty="0">
                <a:solidFill>
                  <a:srgbClr val="257693"/>
                </a:solidFill>
                <a:latin typeface="Arial Black"/>
                <a:cs typeface="Arial Black"/>
              </a:rPr>
              <a:t>units</a:t>
            </a:r>
            <a:endParaRPr sz="2067">
              <a:latin typeface="Arial Black"/>
              <a:cs typeface="Arial Black"/>
            </a:endParaRPr>
          </a:p>
        </p:txBody>
      </p:sp>
      <p:sp>
        <p:nvSpPr>
          <p:cNvPr id="26" name="object 26"/>
          <p:cNvSpPr/>
          <p:nvPr/>
        </p:nvSpPr>
        <p:spPr>
          <a:xfrm>
            <a:off x="4252637" y="2700294"/>
            <a:ext cx="441960" cy="564727"/>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A12F9D"/>
            </a:solidFill>
          </a:ln>
        </p:spPr>
        <p:txBody>
          <a:bodyPr wrap="square" lIns="0" tIns="0" rIns="0" bIns="0" rtlCol="0"/>
          <a:lstStyle/>
          <a:p>
            <a:endParaRPr sz="2400"/>
          </a:p>
        </p:txBody>
      </p:sp>
      <p:sp>
        <p:nvSpPr>
          <p:cNvPr id="27" name="object 27"/>
          <p:cNvSpPr txBox="1"/>
          <p:nvPr/>
        </p:nvSpPr>
        <p:spPr>
          <a:xfrm>
            <a:off x="4258939" y="2706603"/>
            <a:ext cx="487680" cy="447922"/>
          </a:xfrm>
          <a:prstGeom prst="rect">
            <a:avLst/>
          </a:prstGeom>
          <a:solidFill>
            <a:srgbClr val="FFFFFF"/>
          </a:solidFill>
        </p:spPr>
        <p:txBody>
          <a:bodyPr vert="horz" wrap="square" lIns="0" tIns="88053" rIns="0" bIns="0" rtlCol="0">
            <a:spAutoFit/>
          </a:bodyPr>
          <a:lstStyle/>
          <a:p>
            <a:pPr marL="95671">
              <a:spcBef>
                <a:spcPts val="693"/>
              </a:spcBef>
            </a:pPr>
            <a:r>
              <a:rPr sz="2333" spc="-67" dirty="0">
                <a:latin typeface="Lucida Sans Unicode"/>
                <a:cs typeface="Lucida Sans Unicode"/>
              </a:rPr>
              <a:t>O</a:t>
            </a:r>
            <a:endParaRPr sz="2333">
              <a:latin typeface="Lucida Sans Unicode"/>
              <a:cs typeface="Lucida Sans Unicode"/>
            </a:endParaRPr>
          </a:p>
        </p:txBody>
      </p:sp>
      <p:grpSp>
        <p:nvGrpSpPr>
          <p:cNvPr id="28" name="object 28"/>
          <p:cNvGrpSpPr/>
          <p:nvPr/>
        </p:nvGrpSpPr>
        <p:grpSpPr>
          <a:xfrm>
            <a:off x="1979867" y="2693952"/>
            <a:ext cx="454660" cy="577427"/>
            <a:chOff x="1484900" y="2020464"/>
            <a:chExt cx="340995" cy="433070"/>
          </a:xfrm>
        </p:grpSpPr>
        <p:sp>
          <p:nvSpPr>
            <p:cNvPr id="29" name="object 29"/>
            <p:cNvSpPr/>
            <p:nvPr/>
          </p:nvSpPr>
          <p:spPr>
            <a:xfrm>
              <a:off x="1489662" y="202522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0" name="object 30"/>
            <p:cNvSpPr/>
            <p:nvPr/>
          </p:nvSpPr>
          <p:spPr>
            <a:xfrm>
              <a:off x="1489662" y="202522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F47272"/>
              </a:solidFill>
            </a:ln>
          </p:spPr>
          <p:txBody>
            <a:bodyPr wrap="square" lIns="0" tIns="0" rIns="0" bIns="0" rtlCol="0"/>
            <a:lstStyle/>
            <a:p>
              <a:endParaRPr sz="2400"/>
            </a:p>
          </p:txBody>
        </p:sp>
      </p:grpSp>
      <p:sp>
        <p:nvSpPr>
          <p:cNvPr id="31" name="object 31"/>
          <p:cNvSpPr txBox="1"/>
          <p:nvPr/>
        </p:nvSpPr>
        <p:spPr>
          <a:xfrm>
            <a:off x="2071009" y="2772024"/>
            <a:ext cx="272627" cy="382092"/>
          </a:xfrm>
          <a:prstGeom prst="rect">
            <a:avLst/>
          </a:prstGeom>
        </p:spPr>
        <p:txBody>
          <a:bodyPr vert="horz" wrap="square" lIns="0" tIns="22860" rIns="0" bIns="0" rtlCol="0">
            <a:spAutoFit/>
          </a:bodyPr>
          <a:lstStyle/>
          <a:p>
            <a:pPr marL="16933">
              <a:spcBef>
                <a:spcPts val="180"/>
              </a:spcBef>
            </a:pPr>
            <a:r>
              <a:rPr sz="2333" spc="-67" dirty="0">
                <a:latin typeface="Lucida Sans Unicode"/>
                <a:cs typeface="Lucida Sans Unicode"/>
              </a:rPr>
              <a:t>Q</a:t>
            </a:r>
            <a:endParaRPr sz="2333">
              <a:latin typeface="Lucida Sans Unicode"/>
              <a:cs typeface="Lucida Sans Unicode"/>
            </a:endParaRPr>
          </a:p>
        </p:txBody>
      </p:sp>
      <p:sp>
        <p:nvSpPr>
          <p:cNvPr id="32" name="object 32"/>
          <p:cNvSpPr/>
          <p:nvPr/>
        </p:nvSpPr>
        <p:spPr>
          <a:xfrm>
            <a:off x="2439316" y="2699223"/>
            <a:ext cx="441960" cy="564727"/>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4696AA"/>
            </a:solidFill>
          </a:ln>
        </p:spPr>
        <p:txBody>
          <a:bodyPr wrap="square" lIns="0" tIns="0" rIns="0" bIns="0" rtlCol="0"/>
          <a:lstStyle/>
          <a:p>
            <a:endParaRPr sz="2400"/>
          </a:p>
        </p:txBody>
      </p:sp>
      <p:sp>
        <p:nvSpPr>
          <p:cNvPr id="33" name="object 33"/>
          <p:cNvSpPr txBox="1"/>
          <p:nvPr/>
        </p:nvSpPr>
        <p:spPr>
          <a:xfrm>
            <a:off x="2467025" y="2706604"/>
            <a:ext cx="427567" cy="447068"/>
          </a:xfrm>
          <a:prstGeom prst="rect">
            <a:avLst/>
          </a:prstGeom>
          <a:solidFill>
            <a:srgbClr val="FFFFFF"/>
          </a:solidFill>
        </p:spPr>
        <p:txBody>
          <a:bodyPr vert="horz" wrap="square" lIns="0" tIns="87207" rIns="0" bIns="0" rtlCol="0">
            <a:spAutoFit/>
          </a:bodyPr>
          <a:lstStyle/>
          <a:p>
            <a:pPr marL="102444">
              <a:spcBef>
                <a:spcPts val="687"/>
              </a:spcBef>
            </a:pPr>
            <a:r>
              <a:rPr sz="2333" spc="-67" dirty="0">
                <a:latin typeface="Lucida Sans Unicode"/>
                <a:cs typeface="Lucida Sans Unicode"/>
              </a:rPr>
              <a:t>K</a:t>
            </a:r>
            <a:endParaRPr sz="2333">
              <a:latin typeface="Lucida Sans Unicode"/>
              <a:cs typeface="Lucida Sans Unicode"/>
            </a:endParaRPr>
          </a:p>
        </p:txBody>
      </p:sp>
      <p:grpSp>
        <p:nvGrpSpPr>
          <p:cNvPr id="34" name="object 34"/>
          <p:cNvGrpSpPr/>
          <p:nvPr/>
        </p:nvGrpSpPr>
        <p:grpSpPr>
          <a:xfrm>
            <a:off x="1723749" y="2693953"/>
            <a:ext cx="2523067" cy="1651847"/>
            <a:chOff x="1292812" y="2020464"/>
            <a:chExt cx="1892300" cy="1238885"/>
          </a:xfrm>
        </p:grpSpPr>
        <p:sp>
          <p:nvSpPr>
            <p:cNvPr id="35" name="object 35"/>
            <p:cNvSpPr/>
            <p:nvPr/>
          </p:nvSpPr>
          <p:spPr>
            <a:xfrm>
              <a:off x="1297574" y="2505700"/>
              <a:ext cx="358140" cy="748030"/>
            </a:xfrm>
            <a:custGeom>
              <a:avLst/>
              <a:gdLst/>
              <a:ahLst/>
              <a:cxnLst/>
              <a:rect l="l" t="t" r="r" b="b"/>
              <a:pathLst>
                <a:path w="358139" h="748029">
                  <a:moveTo>
                    <a:pt x="0" y="747749"/>
                  </a:moveTo>
                  <a:lnTo>
                    <a:pt x="0" y="470872"/>
                  </a:lnTo>
                  <a:lnTo>
                    <a:pt x="357599" y="470872"/>
                  </a:lnTo>
                  <a:lnTo>
                    <a:pt x="357599" y="0"/>
                  </a:lnTo>
                </a:path>
              </a:pathLst>
            </a:custGeom>
            <a:ln w="9524">
              <a:solidFill>
                <a:srgbClr val="595959"/>
              </a:solidFill>
            </a:ln>
          </p:spPr>
          <p:txBody>
            <a:bodyPr wrap="square" lIns="0" tIns="0" rIns="0" bIns="0" rtlCol="0"/>
            <a:lstStyle/>
            <a:p>
              <a:endParaRPr sz="2400"/>
            </a:p>
          </p:txBody>
        </p:sp>
        <p:sp>
          <p:nvSpPr>
            <p:cNvPr id="36" name="object 36"/>
            <p:cNvSpPr/>
            <p:nvPr/>
          </p:nvSpPr>
          <p:spPr>
            <a:xfrm>
              <a:off x="1639442" y="2462474"/>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595959"/>
            </a:solidFill>
          </p:spPr>
          <p:txBody>
            <a:bodyPr wrap="square" lIns="0" tIns="0" rIns="0" bIns="0" rtlCol="0"/>
            <a:lstStyle/>
            <a:p>
              <a:endParaRPr sz="2400"/>
            </a:p>
          </p:txBody>
        </p:sp>
        <p:sp>
          <p:nvSpPr>
            <p:cNvPr id="37" name="object 37"/>
            <p:cNvSpPr/>
            <p:nvPr/>
          </p:nvSpPr>
          <p:spPr>
            <a:xfrm>
              <a:off x="1639442" y="2462474"/>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595959"/>
              </a:solidFill>
            </a:ln>
          </p:spPr>
          <p:txBody>
            <a:bodyPr wrap="square" lIns="0" tIns="0" rIns="0" bIns="0" rtlCol="0"/>
            <a:lstStyle/>
            <a:p>
              <a:endParaRPr sz="2400"/>
            </a:p>
          </p:txBody>
        </p:sp>
        <p:sp>
          <p:nvSpPr>
            <p:cNvPr id="38" name="object 38"/>
            <p:cNvSpPr/>
            <p:nvPr/>
          </p:nvSpPr>
          <p:spPr>
            <a:xfrm>
              <a:off x="1995224" y="2504725"/>
              <a:ext cx="241300" cy="749300"/>
            </a:xfrm>
            <a:custGeom>
              <a:avLst/>
              <a:gdLst/>
              <a:ahLst/>
              <a:cxnLst/>
              <a:rect l="l" t="t" r="r" b="b"/>
              <a:pathLst>
                <a:path w="241300" h="749300">
                  <a:moveTo>
                    <a:pt x="241199" y="749249"/>
                  </a:moveTo>
                  <a:lnTo>
                    <a:pt x="241199" y="346122"/>
                  </a:lnTo>
                  <a:lnTo>
                    <a:pt x="0" y="346122"/>
                  </a:lnTo>
                  <a:lnTo>
                    <a:pt x="0" y="0"/>
                  </a:lnTo>
                </a:path>
              </a:pathLst>
            </a:custGeom>
            <a:ln w="9524">
              <a:solidFill>
                <a:srgbClr val="595959"/>
              </a:solidFill>
            </a:ln>
          </p:spPr>
          <p:txBody>
            <a:bodyPr wrap="square" lIns="0" tIns="0" rIns="0" bIns="0" rtlCol="0"/>
            <a:lstStyle/>
            <a:p>
              <a:endParaRPr sz="2400"/>
            </a:p>
          </p:txBody>
        </p:sp>
        <p:sp>
          <p:nvSpPr>
            <p:cNvPr id="39" name="object 39"/>
            <p:cNvSpPr/>
            <p:nvPr/>
          </p:nvSpPr>
          <p:spPr>
            <a:xfrm>
              <a:off x="1979492" y="2461499"/>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595959"/>
            </a:solidFill>
          </p:spPr>
          <p:txBody>
            <a:bodyPr wrap="square" lIns="0" tIns="0" rIns="0" bIns="0" rtlCol="0"/>
            <a:lstStyle/>
            <a:p>
              <a:endParaRPr sz="2400"/>
            </a:p>
          </p:txBody>
        </p:sp>
        <p:sp>
          <p:nvSpPr>
            <p:cNvPr id="40" name="object 40"/>
            <p:cNvSpPr/>
            <p:nvPr/>
          </p:nvSpPr>
          <p:spPr>
            <a:xfrm>
              <a:off x="1979492" y="2461499"/>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595959"/>
              </a:solidFill>
            </a:ln>
          </p:spPr>
          <p:txBody>
            <a:bodyPr wrap="square" lIns="0" tIns="0" rIns="0" bIns="0" rtlCol="0"/>
            <a:lstStyle/>
            <a:p>
              <a:endParaRPr sz="2400"/>
            </a:p>
          </p:txBody>
        </p:sp>
        <p:sp>
          <p:nvSpPr>
            <p:cNvPr id="41" name="object 41"/>
            <p:cNvSpPr/>
            <p:nvPr/>
          </p:nvSpPr>
          <p:spPr>
            <a:xfrm>
              <a:off x="2848639" y="202522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5AB46E"/>
              </a:solidFill>
            </a:ln>
          </p:spPr>
          <p:txBody>
            <a:bodyPr wrap="square" lIns="0" tIns="0" rIns="0" bIns="0" rtlCol="0"/>
            <a:lstStyle/>
            <a:p>
              <a:endParaRPr sz="2400"/>
            </a:p>
          </p:txBody>
        </p:sp>
      </p:grpSp>
      <p:sp>
        <p:nvSpPr>
          <p:cNvPr id="42" name="object 42"/>
          <p:cNvSpPr txBox="1"/>
          <p:nvPr/>
        </p:nvSpPr>
        <p:spPr>
          <a:xfrm>
            <a:off x="3804486" y="2706603"/>
            <a:ext cx="429260" cy="447922"/>
          </a:xfrm>
          <a:prstGeom prst="rect">
            <a:avLst/>
          </a:prstGeom>
          <a:solidFill>
            <a:srgbClr val="FFFFFF"/>
          </a:solidFill>
        </p:spPr>
        <p:txBody>
          <a:bodyPr vert="horz" wrap="square" lIns="0" tIns="88053" rIns="0" bIns="0" rtlCol="0">
            <a:spAutoFit/>
          </a:bodyPr>
          <a:lstStyle/>
          <a:p>
            <a:pPr marL="111757">
              <a:spcBef>
                <a:spcPts val="693"/>
              </a:spcBef>
            </a:pPr>
            <a:r>
              <a:rPr sz="2333" spc="-67" dirty="0">
                <a:latin typeface="Lucida Sans Unicode"/>
                <a:cs typeface="Lucida Sans Unicode"/>
              </a:rPr>
              <a:t>V</a:t>
            </a:r>
            <a:endParaRPr sz="2333">
              <a:latin typeface="Lucida Sans Unicode"/>
              <a:cs typeface="Lucida Sans Unicode"/>
            </a:endParaRPr>
          </a:p>
        </p:txBody>
      </p:sp>
      <p:grpSp>
        <p:nvGrpSpPr>
          <p:cNvPr id="43" name="object 43"/>
          <p:cNvGrpSpPr/>
          <p:nvPr/>
        </p:nvGrpSpPr>
        <p:grpSpPr>
          <a:xfrm>
            <a:off x="1656100" y="3276883"/>
            <a:ext cx="2650913" cy="2171700"/>
            <a:chOff x="1242074" y="2457662"/>
            <a:chExt cx="1988185" cy="1628775"/>
          </a:xfrm>
        </p:grpSpPr>
        <p:sp>
          <p:nvSpPr>
            <p:cNvPr id="44" name="object 44"/>
            <p:cNvSpPr/>
            <p:nvPr/>
          </p:nvSpPr>
          <p:spPr>
            <a:xfrm>
              <a:off x="3014224" y="2505649"/>
              <a:ext cx="160655" cy="744220"/>
            </a:xfrm>
            <a:custGeom>
              <a:avLst/>
              <a:gdLst/>
              <a:ahLst/>
              <a:cxnLst/>
              <a:rect l="l" t="t" r="r" b="b"/>
              <a:pathLst>
                <a:path w="160655" h="744219">
                  <a:moveTo>
                    <a:pt x="160199" y="744149"/>
                  </a:moveTo>
                  <a:lnTo>
                    <a:pt x="160199" y="476772"/>
                  </a:lnTo>
                  <a:lnTo>
                    <a:pt x="0" y="476772"/>
                  </a:lnTo>
                  <a:lnTo>
                    <a:pt x="0" y="0"/>
                  </a:lnTo>
                </a:path>
              </a:pathLst>
            </a:custGeom>
            <a:ln w="9524">
              <a:solidFill>
                <a:srgbClr val="595959"/>
              </a:solidFill>
            </a:ln>
          </p:spPr>
          <p:txBody>
            <a:bodyPr wrap="square" lIns="0" tIns="0" rIns="0" bIns="0" rtlCol="0"/>
            <a:lstStyle/>
            <a:p>
              <a:endParaRPr sz="2400"/>
            </a:p>
          </p:txBody>
        </p:sp>
        <p:sp>
          <p:nvSpPr>
            <p:cNvPr id="45" name="object 45"/>
            <p:cNvSpPr/>
            <p:nvPr/>
          </p:nvSpPr>
          <p:spPr>
            <a:xfrm>
              <a:off x="2998492" y="2462424"/>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595959"/>
            </a:solidFill>
          </p:spPr>
          <p:txBody>
            <a:bodyPr wrap="square" lIns="0" tIns="0" rIns="0" bIns="0" rtlCol="0"/>
            <a:lstStyle/>
            <a:p>
              <a:endParaRPr sz="2400"/>
            </a:p>
          </p:txBody>
        </p:sp>
        <p:sp>
          <p:nvSpPr>
            <p:cNvPr id="46" name="object 46"/>
            <p:cNvSpPr/>
            <p:nvPr/>
          </p:nvSpPr>
          <p:spPr>
            <a:xfrm>
              <a:off x="2998492" y="2462424"/>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595959"/>
              </a:solidFill>
            </a:ln>
          </p:spPr>
          <p:txBody>
            <a:bodyPr wrap="square" lIns="0" tIns="0" rIns="0" bIns="0" rtlCol="0"/>
            <a:lstStyle/>
            <a:p>
              <a:endParaRPr sz="2400"/>
            </a:p>
          </p:txBody>
        </p:sp>
        <p:sp>
          <p:nvSpPr>
            <p:cNvPr id="47" name="object 47"/>
            <p:cNvSpPr/>
            <p:nvPr/>
          </p:nvSpPr>
          <p:spPr>
            <a:xfrm>
              <a:off x="1242074" y="325344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F65B66">
                <a:alpha val="48728"/>
              </a:srgbClr>
            </a:solidFill>
          </p:spPr>
          <p:txBody>
            <a:bodyPr wrap="square" lIns="0" tIns="0" rIns="0" bIns="0" rtlCol="0"/>
            <a:lstStyle/>
            <a:p>
              <a:endParaRPr sz="2400"/>
            </a:p>
          </p:txBody>
        </p:sp>
        <p:sp>
          <p:nvSpPr>
            <p:cNvPr id="48" name="object 48"/>
            <p:cNvSpPr/>
            <p:nvPr/>
          </p:nvSpPr>
          <p:spPr>
            <a:xfrm>
              <a:off x="2180924" y="3253974"/>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4696AA">
                <a:alpha val="50000"/>
              </a:srgbClr>
            </a:solidFill>
          </p:spPr>
          <p:txBody>
            <a:bodyPr wrap="square" lIns="0" tIns="0" rIns="0" bIns="0" rtlCol="0"/>
            <a:lstStyle/>
            <a:p>
              <a:endParaRPr sz="2400"/>
            </a:p>
          </p:txBody>
        </p:sp>
        <p:sp>
          <p:nvSpPr>
            <p:cNvPr id="49" name="object 49"/>
            <p:cNvSpPr/>
            <p:nvPr/>
          </p:nvSpPr>
          <p:spPr>
            <a:xfrm>
              <a:off x="3118924" y="324979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5AB46E">
                <a:alpha val="49369"/>
              </a:srgbClr>
            </a:solidFill>
          </p:spPr>
          <p:txBody>
            <a:bodyPr wrap="square" lIns="0" tIns="0" rIns="0" bIns="0" rtlCol="0"/>
            <a:lstStyle/>
            <a:p>
              <a:endParaRPr sz="2400"/>
            </a:p>
          </p:txBody>
        </p:sp>
      </p:grpSp>
      <p:sp>
        <p:nvSpPr>
          <p:cNvPr id="51" name="TextBox 50">
            <a:extLst>
              <a:ext uri="{FF2B5EF4-FFF2-40B4-BE49-F238E27FC236}">
                <a16:creationId xmlns:a16="http://schemas.microsoft.com/office/drawing/2014/main" id="{AEC8C31A-A673-69CB-9F66-D921104B7D6E}"/>
              </a:ext>
            </a:extLst>
          </p:cNvPr>
          <p:cNvSpPr txBox="1"/>
          <p:nvPr/>
        </p:nvSpPr>
        <p:spPr>
          <a:xfrm>
            <a:off x="6230892" y="1549650"/>
            <a:ext cx="5638145" cy="2862322"/>
          </a:xfrm>
          <a:prstGeom prst="rect">
            <a:avLst/>
          </a:prstGeom>
          <a:noFill/>
        </p:spPr>
        <p:txBody>
          <a:bodyPr wrap="square">
            <a:spAutoFit/>
          </a:bodyPr>
          <a:lstStyle/>
          <a:p>
            <a:pPr marL="342900" lvl="0" indent="-342900" algn="l" rtl="0" eaLnBrk="0" fontAlgn="base" hangingPunct="0">
              <a:spcBef>
                <a:spcPct val="0"/>
              </a:spcBef>
              <a:spcAft>
                <a:spcPct val="0"/>
              </a:spcAft>
              <a:buFont typeface="Arial" panose="020B0604020202020204" pitchFamily="34" charset="0"/>
              <a:buChar char="•"/>
            </a:pPr>
            <a:r>
              <a:rPr lang="en-US" altLang="en-US" sz="2000" dirty="0">
                <a:solidFill>
                  <a:schemeClr val="tx1"/>
                </a:solidFill>
              </a:rPr>
              <a:t>KV Cache eliminated redundant computation. But even for single-tokens attention computation, there's still a significant amount of data moving back and forth inside the GPU (Giant S and A matrices)</a:t>
            </a:r>
          </a:p>
          <a:p>
            <a:pPr marL="342900" lvl="0" indent="-342900" algn="l" rtl="0" eaLnBrk="0" fontAlgn="base" hangingPunct="0">
              <a:spcBef>
                <a:spcPct val="0"/>
              </a:spcBef>
              <a:spcAft>
                <a:spcPct val="0"/>
              </a:spcAft>
              <a:buFont typeface="Arial" panose="020B0604020202020204" pitchFamily="34" charset="0"/>
              <a:buChar char="•"/>
            </a:pPr>
            <a:endParaRPr lang="en-US" altLang="en-US" sz="2000" dirty="0">
              <a:solidFill>
                <a:schemeClr val="tx1"/>
              </a:solidFill>
            </a:endParaRPr>
          </a:p>
          <a:p>
            <a:pPr marL="342900" lvl="0" indent="-342900" algn="l" rtl="0" eaLnBrk="0" fontAlgn="base" hangingPunct="0">
              <a:spcBef>
                <a:spcPct val="0"/>
              </a:spcBef>
              <a:spcAft>
                <a:spcPct val="0"/>
              </a:spcAft>
              <a:buFont typeface="Arial" panose="020B0604020202020204" pitchFamily="34" charset="0"/>
              <a:buChar char="•"/>
            </a:pPr>
            <a:r>
              <a:rPr lang="en-US" sz="2000" dirty="0"/>
              <a:t>Flash Attention tiles the computation and never materializes the full </a:t>
            </a:r>
            <a:r>
              <a:rPr lang="en-US" sz="2000" dirty="0" err="1"/>
              <a:t>n×n</a:t>
            </a:r>
            <a:r>
              <a:rPr lang="en-US" sz="2000" dirty="0"/>
              <a:t> attention matrix in slow GPU HBM, fusing the operations in fast SRAM.</a:t>
            </a:r>
          </a:p>
        </p:txBody>
      </p:sp>
    </p:spTree>
    <p:extLst>
      <p:ext uri="{BB962C8B-B14F-4D97-AF65-F5344CB8AC3E}">
        <p14:creationId xmlns:p14="http://schemas.microsoft.com/office/powerpoint/2010/main" val="2530440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1667" y="4277386"/>
            <a:ext cx="850053" cy="341184"/>
          </a:xfrm>
          <a:prstGeom prst="rect">
            <a:avLst/>
          </a:prstGeom>
        </p:spPr>
        <p:txBody>
          <a:bodyPr vert="horz" wrap="square" lIns="0" tIns="22860" rIns="0" bIns="0" rtlCol="0">
            <a:spAutoFit/>
          </a:bodyPr>
          <a:lstStyle/>
          <a:p>
            <a:pPr marL="16933">
              <a:spcBef>
                <a:spcPts val="180"/>
              </a:spcBef>
            </a:pPr>
            <a:r>
              <a:rPr sz="2067" spc="-73" dirty="0">
                <a:solidFill>
                  <a:srgbClr val="257693"/>
                </a:solidFill>
                <a:latin typeface="Arial Black"/>
                <a:cs typeface="Arial Black"/>
              </a:rPr>
              <a:t>VRAM</a:t>
            </a:r>
            <a:endParaRPr sz="2067">
              <a:latin typeface="Arial Black"/>
              <a:cs typeface="Arial Black"/>
            </a:endParaRPr>
          </a:p>
        </p:txBody>
      </p:sp>
      <p:grpSp>
        <p:nvGrpSpPr>
          <p:cNvPr id="3" name="object 3"/>
          <p:cNvGrpSpPr/>
          <p:nvPr/>
        </p:nvGrpSpPr>
        <p:grpSpPr>
          <a:xfrm>
            <a:off x="2891947" y="4318251"/>
            <a:ext cx="1139613" cy="1139613"/>
            <a:chOff x="2168960" y="3238688"/>
            <a:chExt cx="854710" cy="854710"/>
          </a:xfrm>
        </p:grpSpPr>
        <p:sp>
          <p:nvSpPr>
            <p:cNvPr id="4" name="object 4"/>
            <p:cNvSpPr/>
            <p:nvPr/>
          </p:nvSpPr>
          <p:spPr>
            <a:xfrm>
              <a:off x="2180072" y="3249801"/>
              <a:ext cx="832485" cy="832485"/>
            </a:xfrm>
            <a:custGeom>
              <a:avLst/>
              <a:gdLst/>
              <a:ahLst/>
              <a:cxnLst/>
              <a:rect l="l" t="t" r="r" b="b"/>
              <a:pathLst>
                <a:path w="832485" h="832485">
                  <a:moveTo>
                    <a:pt x="0" y="0"/>
                  </a:moveTo>
                  <a:lnTo>
                    <a:pt x="831899" y="0"/>
                  </a:lnTo>
                  <a:lnTo>
                    <a:pt x="831899" y="831899"/>
                  </a:lnTo>
                  <a:lnTo>
                    <a:pt x="0" y="831899"/>
                  </a:lnTo>
                  <a:lnTo>
                    <a:pt x="0" y="0"/>
                  </a:lnTo>
                  <a:close/>
                </a:path>
              </a:pathLst>
            </a:custGeom>
            <a:ln w="21649">
              <a:solidFill>
                <a:srgbClr val="4696AA"/>
              </a:solidFill>
            </a:ln>
          </p:spPr>
          <p:txBody>
            <a:bodyPr wrap="square" lIns="0" tIns="0" rIns="0" bIns="0" rtlCol="0"/>
            <a:lstStyle/>
            <a:p>
              <a:endParaRPr sz="2400"/>
            </a:p>
          </p:txBody>
        </p:sp>
        <p:sp>
          <p:nvSpPr>
            <p:cNvPr id="5" name="object 5"/>
            <p:cNvSpPr/>
            <p:nvPr/>
          </p:nvSpPr>
          <p:spPr>
            <a:xfrm>
              <a:off x="2291248" y="3249801"/>
              <a:ext cx="617220" cy="838200"/>
            </a:xfrm>
            <a:custGeom>
              <a:avLst/>
              <a:gdLst/>
              <a:ahLst/>
              <a:cxnLst/>
              <a:rect l="l" t="t" r="r" b="b"/>
              <a:pathLst>
                <a:path w="617219" h="838200">
                  <a:moveTo>
                    <a:pt x="304773" y="0"/>
                  </a:moveTo>
                  <a:lnTo>
                    <a:pt x="304773" y="831899"/>
                  </a:lnTo>
                </a:path>
                <a:path w="617219" h="838200">
                  <a:moveTo>
                    <a:pt x="512673" y="0"/>
                  </a:moveTo>
                  <a:lnTo>
                    <a:pt x="512673" y="831899"/>
                  </a:lnTo>
                </a:path>
                <a:path w="617219" h="838200">
                  <a:moveTo>
                    <a:pt x="206169" y="5974"/>
                  </a:moveTo>
                  <a:lnTo>
                    <a:pt x="206169" y="837874"/>
                  </a:lnTo>
                </a:path>
                <a:path w="617219" h="838200">
                  <a:moveTo>
                    <a:pt x="107623" y="5961"/>
                  </a:moveTo>
                  <a:lnTo>
                    <a:pt x="107623" y="837861"/>
                  </a:lnTo>
                </a:path>
                <a:path w="617219" h="838200">
                  <a:moveTo>
                    <a:pt x="0" y="0"/>
                  </a:moveTo>
                  <a:lnTo>
                    <a:pt x="0" y="831899"/>
                  </a:lnTo>
                </a:path>
                <a:path w="617219" h="838200">
                  <a:moveTo>
                    <a:pt x="408723" y="0"/>
                  </a:moveTo>
                  <a:lnTo>
                    <a:pt x="408723" y="831899"/>
                  </a:lnTo>
                </a:path>
                <a:path w="617219" h="838200">
                  <a:moveTo>
                    <a:pt x="616623" y="0"/>
                  </a:moveTo>
                  <a:lnTo>
                    <a:pt x="616623" y="831899"/>
                  </a:lnTo>
                </a:path>
              </a:pathLst>
            </a:custGeom>
            <a:ln w="9524">
              <a:solidFill>
                <a:srgbClr val="595959"/>
              </a:solidFill>
            </a:ln>
          </p:spPr>
          <p:txBody>
            <a:bodyPr wrap="square" lIns="0" tIns="0" rIns="0" bIns="0" rtlCol="0"/>
            <a:lstStyle/>
            <a:p>
              <a:endParaRPr sz="2400"/>
            </a:p>
          </p:txBody>
        </p:sp>
      </p:grpSp>
      <p:sp>
        <p:nvSpPr>
          <p:cNvPr id="6" name="object 6"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Flash</a:t>
            </a:r>
            <a:r>
              <a:rPr spc="80" dirty="0"/>
              <a:t> </a:t>
            </a:r>
            <a:r>
              <a:rPr spc="-13" dirty="0"/>
              <a:t>attention</a:t>
            </a:r>
          </a:p>
        </p:txBody>
      </p:sp>
      <p:grpSp>
        <p:nvGrpSpPr>
          <p:cNvPr id="7" name="object 7"/>
          <p:cNvGrpSpPr/>
          <p:nvPr/>
        </p:nvGrpSpPr>
        <p:grpSpPr>
          <a:xfrm>
            <a:off x="4142630" y="4318235"/>
            <a:ext cx="1139613" cy="1139613"/>
            <a:chOff x="3106972" y="3238676"/>
            <a:chExt cx="854710" cy="854710"/>
          </a:xfrm>
        </p:grpSpPr>
        <p:sp>
          <p:nvSpPr>
            <p:cNvPr id="8" name="object 8"/>
            <p:cNvSpPr/>
            <p:nvPr/>
          </p:nvSpPr>
          <p:spPr>
            <a:xfrm>
              <a:off x="3118085" y="3249788"/>
              <a:ext cx="832485" cy="832485"/>
            </a:xfrm>
            <a:custGeom>
              <a:avLst/>
              <a:gdLst/>
              <a:ahLst/>
              <a:cxnLst/>
              <a:rect l="l" t="t" r="r" b="b"/>
              <a:pathLst>
                <a:path w="832485" h="832485">
                  <a:moveTo>
                    <a:pt x="0" y="0"/>
                  </a:moveTo>
                  <a:lnTo>
                    <a:pt x="831899" y="0"/>
                  </a:lnTo>
                  <a:lnTo>
                    <a:pt x="831899" y="831899"/>
                  </a:lnTo>
                  <a:lnTo>
                    <a:pt x="0" y="831899"/>
                  </a:lnTo>
                  <a:lnTo>
                    <a:pt x="0" y="0"/>
                  </a:lnTo>
                  <a:close/>
                </a:path>
              </a:pathLst>
            </a:custGeom>
            <a:ln w="21649">
              <a:solidFill>
                <a:srgbClr val="5AB46E"/>
              </a:solidFill>
            </a:ln>
          </p:spPr>
          <p:txBody>
            <a:bodyPr wrap="square" lIns="0" tIns="0" rIns="0" bIns="0" rtlCol="0"/>
            <a:lstStyle/>
            <a:p>
              <a:endParaRPr sz="2400"/>
            </a:p>
          </p:txBody>
        </p:sp>
        <p:sp>
          <p:nvSpPr>
            <p:cNvPr id="9" name="object 9"/>
            <p:cNvSpPr/>
            <p:nvPr/>
          </p:nvSpPr>
          <p:spPr>
            <a:xfrm>
              <a:off x="3229261" y="3249788"/>
              <a:ext cx="617220" cy="838200"/>
            </a:xfrm>
            <a:custGeom>
              <a:avLst/>
              <a:gdLst/>
              <a:ahLst/>
              <a:cxnLst/>
              <a:rect l="l" t="t" r="r" b="b"/>
              <a:pathLst>
                <a:path w="617220" h="838200">
                  <a:moveTo>
                    <a:pt x="304773" y="0"/>
                  </a:moveTo>
                  <a:lnTo>
                    <a:pt x="304773" y="831899"/>
                  </a:lnTo>
                </a:path>
                <a:path w="617220" h="838200">
                  <a:moveTo>
                    <a:pt x="512673" y="0"/>
                  </a:moveTo>
                  <a:lnTo>
                    <a:pt x="512673" y="831899"/>
                  </a:lnTo>
                </a:path>
                <a:path w="617220" h="838200">
                  <a:moveTo>
                    <a:pt x="206169" y="5974"/>
                  </a:moveTo>
                  <a:lnTo>
                    <a:pt x="206169" y="837874"/>
                  </a:lnTo>
                </a:path>
                <a:path w="617220" h="838200">
                  <a:moveTo>
                    <a:pt x="107623" y="5961"/>
                  </a:moveTo>
                  <a:lnTo>
                    <a:pt x="107623" y="837861"/>
                  </a:lnTo>
                </a:path>
                <a:path w="617220" h="838200">
                  <a:moveTo>
                    <a:pt x="0" y="0"/>
                  </a:moveTo>
                  <a:lnTo>
                    <a:pt x="0" y="831899"/>
                  </a:lnTo>
                </a:path>
                <a:path w="617220" h="838200">
                  <a:moveTo>
                    <a:pt x="408723" y="0"/>
                  </a:moveTo>
                  <a:lnTo>
                    <a:pt x="408723" y="831899"/>
                  </a:lnTo>
                </a:path>
                <a:path w="617220" h="838200">
                  <a:moveTo>
                    <a:pt x="616623" y="0"/>
                  </a:moveTo>
                  <a:lnTo>
                    <a:pt x="616623" y="831899"/>
                  </a:lnTo>
                </a:path>
              </a:pathLst>
            </a:custGeom>
            <a:ln w="9524">
              <a:solidFill>
                <a:srgbClr val="595959"/>
              </a:solidFill>
            </a:ln>
          </p:spPr>
          <p:txBody>
            <a:bodyPr wrap="square" lIns="0" tIns="0" rIns="0" bIns="0" rtlCol="0"/>
            <a:lstStyle/>
            <a:p>
              <a:endParaRPr sz="2400"/>
            </a:p>
          </p:txBody>
        </p:sp>
      </p:grpSp>
      <p:sp>
        <p:nvSpPr>
          <p:cNvPr id="10" name="object 10"/>
          <p:cNvSpPr/>
          <p:nvPr/>
        </p:nvSpPr>
        <p:spPr>
          <a:xfrm>
            <a:off x="1656083" y="4333169"/>
            <a:ext cx="1109980" cy="1109980"/>
          </a:xfrm>
          <a:custGeom>
            <a:avLst/>
            <a:gdLst/>
            <a:ahLst/>
            <a:cxnLst/>
            <a:rect l="l" t="t" r="r" b="b"/>
            <a:pathLst>
              <a:path w="832485" h="832485">
                <a:moveTo>
                  <a:pt x="0" y="0"/>
                </a:moveTo>
                <a:lnTo>
                  <a:pt x="831900" y="0"/>
                </a:lnTo>
                <a:lnTo>
                  <a:pt x="831900" y="831899"/>
                </a:lnTo>
                <a:lnTo>
                  <a:pt x="0" y="831899"/>
                </a:lnTo>
                <a:lnTo>
                  <a:pt x="0" y="0"/>
                </a:lnTo>
                <a:close/>
              </a:path>
            </a:pathLst>
          </a:custGeom>
          <a:ln w="21649">
            <a:solidFill>
              <a:srgbClr val="F65B66"/>
            </a:solidFill>
          </a:ln>
        </p:spPr>
        <p:txBody>
          <a:bodyPr wrap="square" lIns="0" tIns="0" rIns="0" bIns="0" rtlCol="0"/>
          <a:lstStyle/>
          <a:p>
            <a:endParaRPr sz="2400"/>
          </a:p>
        </p:txBody>
      </p:sp>
      <p:sp>
        <p:nvSpPr>
          <p:cNvPr id="11" name="object 11"/>
          <p:cNvSpPr txBox="1"/>
          <p:nvPr/>
        </p:nvSpPr>
        <p:spPr>
          <a:xfrm>
            <a:off x="1951145" y="4476679"/>
            <a:ext cx="2986193" cy="761747"/>
          </a:xfrm>
          <a:prstGeom prst="rect">
            <a:avLst/>
          </a:prstGeom>
        </p:spPr>
        <p:txBody>
          <a:bodyPr vert="horz" wrap="square" lIns="0" tIns="22860" rIns="0" bIns="0" rtlCol="0">
            <a:spAutoFit/>
          </a:bodyPr>
          <a:lstStyle/>
          <a:p>
            <a:pPr marL="16933">
              <a:spcBef>
                <a:spcPts val="180"/>
              </a:spcBef>
              <a:tabLst>
                <a:tab pos="1325000" algn="l"/>
                <a:tab pos="2552636" algn="l"/>
              </a:tabLst>
            </a:pPr>
            <a:r>
              <a:rPr sz="4800" spc="7" dirty="0">
                <a:latin typeface="Lucida Sans Unicode"/>
                <a:cs typeface="Lucida Sans Unicode"/>
              </a:rPr>
              <a:t>Q</a:t>
            </a:r>
            <a:r>
              <a:rPr sz="4800" dirty="0">
                <a:latin typeface="Lucida Sans Unicode"/>
                <a:cs typeface="Lucida Sans Unicode"/>
              </a:rPr>
              <a:t>	</a:t>
            </a:r>
            <a:r>
              <a:rPr sz="4800" spc="-67" dirty="0">
                <a:latin typeface="Lucida Sans Unicode"/>
                <a:cs typeface="Lucida Sans Unicode"/>
              </a:rPr>
              <a:t>K</a:t>
            </a:r>
            <a:r>
              <a:rPr sz="4800" dirty="0">
                <a:latin typeface="Lucida Sans Unicode"/>
                <a:cs typeface="Lucida Sans Unicode"/>
              </a:rPr>
              <a:t>	</a:t>
            </a:r>
            <a:r>
              <a:rPr sz="4800" spc="53" dirty="0">
                <a:latin typeface="Lucida Sans Unicode"/>
                <a:cs typeface="Lucida Sans Unicode"/>
              </a:rPr>
              <a:t>V</a:t>
            </a:r>
            <a:endParaRPr sz="4800">
              <a:latin typeface="Lucida Sans Unicode"/>
              <a:cs typeface="Lucida Sans Unicode"/>
            </a:endParaRPr>
          </a:p>
        </p:txBody>
      </p:sp>
      <p:grpSp>
        <p:nvGrpSpPr>
          <p:cNvPr id="12" name="object 12"/>
          <p:cNvGrpSpPr/>
          <p:nvPr/>
        </p:nvGrpSpPr>
        <p:grpSpPr>
          <a:xfrm>
            <a:off x="1656099" y="4333168"/>
            <a:ext cx="977053" cy="1117600"/>
            <a:chOff x="1242074" y="3249876"/>
            <a:chExt cx="732790" cy="838200"/>
          </a:xfrm>
        </p:grpSpPr>
        <p:sp>
          <p:nvSpPr>
            <p:cNvPr id="13" name="object 13"/>
            <p:cNvSpPr/>
            <p:nvPr/>
          </p:nvSpPr>
          <p:spPr>
            <a:xfrm>
              <a:off x="1353238" y="3249876"/>
              <a:ext cx="617220" cy="838200"/>
            </a:xfrm>
            <a:custGeom>
              <a:avLst/>
              <a:gdLst/>
              <a:ahLst/>
              <a:cxnLst/>
              <a:rect l="l" t="t" r="r" b="b"/>
              <a:pathLst>
                <a:path w="617219" h="838200">
                  <a:moveTo>
                    <a:pt x="304773" y="0"/>
                  </a:moveTo>
                  <a:lnTo>
                    <a:pt x="304773" y="831899"/>
                  </a:lnTo>
                </a:path>
                <a:path w="617219" h="838200">
                  <a:moveTo>
                    <a:pt x="512673" y="0"/>
                  </a:moveTo>
                  <a:lnTo>
                    <a:pt x="512673" y="831899"/>
                  </a:lnTo>
                </a:path>
                <a:path w="617219" h="838200">
                  <a:moveTo>
                    <a:pt x="206169" y="5974"/>
                  </a:moveTo>
                  <a:lnTo>
                    <a:pt x="206169" y="837874"/>
                  </a:lnTo>
                </a:path>
                <a:path w="617219" h="838200">
                  <a:moveTo>
                    <a:pt x="107623" y="5961"/>
                  </a:moveTo>
                  <a:lnTo>
                    <a:pt x="107623" y="837861"/>
                  </a:lnTo>
                </a:path>
                <a:path w="617219" h="838200">
                  <a:moveTo>
                    <a:pt x="0" y="0"/>
                  </a:moveTo>
                  <a:lnTo>
                    <a:pt x="0" y="831899"/>
                  </a:lnTo>
                </a:path>
                <a:path w="617219" h="838200">
                  <a:moveTo>
                    <a:pt x="408723" y="0"/>
                  </a:moveTo>
                  <a:lnTo>
                    <a:pt x="408723" y="831899"/>
                  </a:lnTo>
                </a:path>
                <a:path w="617219"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14" name="object 14"/>
            <p:cNvSpPr/>
            <p:nvPr/>
          </p:nvSpPr>
          <p:spPr>
            <a:xfrm>
              <a:off x="1242074" y="325344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F65B66">
                <a:alpha val="48728"/>
              </a:srgbClr>
            </a:solidFill>
          </p:spPr>
          <p:txBody>
            <a:bodyPr wrap="square" lIns="0" tIns="0" rIns="0" bIns="0" rtlCol="0"/>
            <a:lstStyle/>
            <a:p>
              <a:endParaRPr sz="2400"/>
            </a:p>
          </p:txBody>
        </p:sp>
      </p:grpSp>
      <p:grpSp>
        <p:nvGrpSpPr>
          <p:cNvPr id="15" name="object 15"/>
          <p:cNvGrpSpPr/>
          <p:nvPr/>
        </p:nvGrpSpPr>
        <p:grpSpPr>
          <a:xfrm>
            <a:off x="1891382" y="1482559"/>
            <a:ext cx="3165687" cy="2319019"/>
            <a:chOff x="1418536" y="1111919"/>
            <a:chExt cx="2374265" cy="1739264"/>
          </a:xfrm>
        </p:grpSpPr>
        <p:sp>
          <p:nvSpPr>
            <p:cNvPr id="16" name="object 16"/>
            <p:cNvSpPr/>
            <p:nvPr/>
          </p:nvSpPr>
          <p:spPr>
            <a:xfrm>
              <a:off x="1626408" y="1118269"/>
              <a:ext cx="2160270" cy="299085"/>
            </a:xfrm>
            <a:custGeom>
              <a:avLst/>
              <a:gdLst/>
              <a:ahLst/>
              <a:cxnLst/>
              <a:rect l="l" t="t" r="r" b="b"/>
              <a:pathLst>
                <a:path w="2160270" h="299084">
                  <a:moveTo>
                    <a:pt x="0" y="298954"/>
                  </a:moveTo>
                  <a:lnTo>
                    <a:pt x="2159740" y="298954"/>
                  </a:lnTo>
                  <a:lnTo>
                    <a:pt x="2159740" y="0"/>
                  </a:lnTo>
                  <a:lnTo>
                    <a:pt x="0" y="0"/>
                  </a:lnTo>
                  <a:lnTo>
                    <a:pt x="0" y="298954"/>
                  </a:lnTo>
                  <a:close/>
                </a:path>
              </a:pathLst>
            </a:custGeom>
            <a:solidFill>
              <a:srgbClr val="F4C4D1"/>
            </a:solidFill>
          </p:spPr>
          <p:txBody>
            <a:bodyPr wrap="square" lIns="0" tIns="0" rIns="0" bIns="0" rtlCol="0"/>
            <a:lstStyle/>
            <a:p>
              <a:endParaRPr sz="2400"/>
            </a:p>
          </p:txBody>
        </p:sp>
        <p:sp>
          <p:nvSpPr>
            <p:cNvPr id="17" name="object 17"/>
            <p:cNvSpPr/>
            <p:nvPr/>
          </p:nvSpPr>
          <p:spPr>
            <a:xfrm>
              <a:off x="1626408" y="1118269"/>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18" name="object 18"/>
            <p:cNvSpPr/>
            <p:nvPr/>
          </p:nvSpPr>
          <p:spPr>
            <a:xfrm>
              <a:off x="3685387" y="1417224"/>
              <a:ext cx="100965" cy="1225550"/>
            </a:xfrm>
            <a:custGeom>
              <a:avLst/>
              <a:gdLst/>
              <a:ahLst/>
              <a:cxnLst/>
              <a:rect l="l" t="t" r="r" b="b"/>
              <a:pathLst>
                <a:path w="100964" h="1225550">
                  <a:moveTo>
                    <a:pt x="0" y="1225411"/>
                  </a:moveTo>
                  <a:lnTo>
                    <a:pt x="100786" y="1225411"/>
                  </a:lnTo>
                  <a:lnTo>
                    <a:pt x="100786" y="0"/>
                  </a:lnTo>
                  <a:lnTo>
                    <a:pt x="0" y="0"/>
                  </a:lnTo>
                  <a:lnTo>
                    <a:pt x="0" y="1225411"/>
                  </a:lnTo>
                  <a:close/>
                </a:path>
              </a:pathLst>
            </a:custGeom>
            <a:solidFill>
              <a:srgbClr val="EBFAFF"/>
            </a:solidFill>
          </p:spPr>
          <p:txBody>
            <a:bodyPr wrap="square" lIns="0" tIns="0" rIns="0" bIns="0" rtlCol="0"/>
            <a:lstStyle/>
            <a:p>
              <a:endParaRPr sz="2400"/>
            </a:p>
          </p:txBody>
        </p:sp>
        <p:sp>
          <p:nvSpPr>
            <p:cNvPr id="19" name="object 19"/>
            <p:cNvSpPr/>
            <p:nvPr/>
          </p:nvSpPr>
          <p:spPr>
            <a:xfrm>
              <a:off x="1626434" y="1417224"/>
              <a:ext cx="2160270" cy="1225550"/>
            </a:xfrm>
            <a:custGeom>
              <a:avLst/>
              <a:gdLst/>
              <a:ahLst/>
              <a:cxnLst/>
              <a:rect l="l" t="t" r="r" b="b"/>
              <a:pathLst>
                <a:path w="2160270" h="1225550">
                  <a:moveTo>
                    <a:pt x="2159740" y="0"/>
                  </a:moveTo>
                  <a:lnTo>
                    <a:pt x="2159740" y="1225411"/>
                  </a:lnTo>
                  <a:lnTo>
                    <a:pt x="0" y="1225411"/>
                  </a:lnTo>
                  <a:lnTo>
                    <a:pt x="0" y="0"/>
                  </a:lnTo>
                  <a:lnTo>
                    <a:pt x="2159740" y="0"/>
                  </a:lnTo>
                  <a:close/>
                </a:path>
              </a:pathLst>
            </a:custGeom>
            <a:ln w="12599">
              <a:solidFill>
                <a:srgbClr val="237A94"/>
              </a:solidFill>
            </a:ln>
          </p:spPr>
          <p:txBody>
            <a:bodyPr wrap="square" lIns="0" tIns="0" rIns="0" bIns="0" rtlCol="0"/>
            <a:lstStyle/>
            <a:p>
              <a:endParaRPr sz="2400"/>
            </a:p>
          </p:txBody>
        </p:sp>
        <p:sp>
          <p:nvSpPr>
            <p:cNvPr id="20" name="object 20"/>
            <p:cNvSpPr/>
            <p:nvPr/>
          </p:nvSpPr>
          <p:spPr>
            <a:xfrm>
              <a:off x="1525647" y="1219030"/>
              <a:ext cx="2160270" cy="300355"/>
            </a:xfrm>
            <a:custGeom>
              <a:avLst/>
              <a:gdLst/>
              <a:ahLst/>
              <a:cxnLst/>
              <a:rect l="l" t="t" r="r" b="b"/>
              <a:pathLst>
                <a:path w="2160270" h="300355">
                  <a:moveTo>
                    <a:pt x="0" y="300246"/>
                  </a:moveTo>
                  <a:lnTo>
                    <a:pt x="2159740" y="300246"/>
                  </a:lnTo>
                  <a:lnTo>
                    <a:pt x="2159740" y="0"/>
                  </a:lnTo>
                  <a:lnTo>
                    <a:pt x="0" y="0"/>
                  </a:lnTo>
                  <a:lnTo>
                    <a:pt x="0" y="300246"/>
                  </a:lnTo>
                  <a:close/>
                </a:path>
              </a:pathLst>
            </a:custGeom>
            <a:solidFill>
              <a:srgbClr val="F4C4D1"/>
            </a:solidFill>
          </p:spPr>
          <p:txBody>
            <a:bodyPr wrap="square" lIns="0" tIns="0" rIns="0" bIns="0" rtlCol="0"/>
            <a:lstStyle/>
            <a:p>
              <a:endParaRPr sz="2400"/>
            </a:p>
          </p:txBody>
        </p:sp>
        <p:sp>
          <p:nvSpPr>
            <p:cNvPr id="21" name="object 21"/>
            <p:cNvSpPr/>
            <p:nvPr/>
          </p:nvSpPr>
          <p:spPr>
            <a:xfrm>
              <a:off x="1525647" y="1219030"/>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22" name="object 22"/>
            <p:cNvSpPr/>
            <p:nvPr/>
          </p:nvSpPr>
          <p:spPr>
            <a:xfrm>
              <a:off x="3584627" y="1519276"/>
              <a:ext cx="100965" cy="1224915"/>
            </a:xfrm>
            <a:custGeom>
              <a:avLst/>
              <a:gdLst/>
              <a:ahLst/>
              <a:cxnLst/>
              <a:rect l="l" t="t" r="r" b="b"/>
              <a:pathLst>
                <a:path w="100964" h="1224914">
                  <a:moveTo>
                    <a:pt x="0" y="1224414"/>
                  </a:moveTo>
                  <a:lnTo>
                    <a:pt x="100797" y="1224414"/>
                  </a:lnTo>
                  <a:lnTo>
                    <a:pt x="100797" y="0"/>
                  </a:lnTo>
                  <a:lnTo>
                    <a:pt x="0" y="0"/>
                  </a:lnTo>
                  <a:lnTo>
                    <a:pt x="0" y="1224414"/>
                  </a:lnTo>
                  <a:close/>
                </a:path>
              </a:pathLst>
            </a:custGeom>
            <a:solidFill>
              <a:srgbClr val="EBFAFF"/>
            </a:solidFill>
          </p:spPr>
          <p:txBody>
            <a:bodyPr wrap="square" lIns="0" tIns="0" rIns="0" bIns="0" rtlCol="0"/>
            <a:lstStyle/>
            <a:p>
              <a:endParaRPr sz="2400"/>
            </a:p>
          </p:txBody>
        </p:sp>
        <p:sp>
          <p:nvSpPr>
            <p:cNvPr id="23" name="object 23"/>
            <p:cNvSpPr/>
            <p:nvPr/>
          </p:nvSpPr>
          <p:spPr>
            <a:xfrm>
              <a:off x="1525684" y="1519276"/>
              <a:ext cx="2160270" cy="1224915"/>
            </a:xfrm>
            <a:custGeom>
              <a:avLst/>
              <a:gdLst/>
              <a:ahLst/>
              <a:cxnLst/>
              <a:rect l="l" t="t" r="r" b="b"/>
              <a:pathLst>
                <a:path w="2160270" h="1224914">
                  <a:moveTo>
                    <a:pt x="2159740" y="0"/>
                  </a:moveTo>
                  <a:lnTo>
                    <a:pt x="2159740" y="1224414"/>
                  </a:lnTo>
                  <a:lnTo>
                    <a:pt x="0" y="1224414"/>
                  </a:lnTo>
                  <a:lnTo>
                    <a:pt x="0" y="0"/>
                  </a:lnTo>
                  <a:lnTo>
                    <a:pt x="2159740" y="0"/>
                  </a:lnTo>
                  <a:close/>
                </a:path>
              </a:pathLst>
            </a:custGeom>
            <a:ln w="12599">
              <a:solidFill>
                <a:srgbClr val="237A94"/>
              </a:solidFill>
            </a:ln>
          </p:spPr>
          <p:txBody>
            <a:bodyPr wrap="square" lIns="0" tIns="0" rIns="0" bIns="0" rtlCol="0"/>
            <a:lstStyle/>
            <a:p>
              <a:endParaRPr sz="2400"/>
            </a:p>
          </p:txBody>
        </p:sp>
        <p:sp>
          <p:nvSpPr>
            <p:cNvPr id="24" name="object 24"/>
            <p:cNvSpPr/>
            <p:nvPr/>
          </p:nvSpPr>
          <p:spPr>
            <a:xfrm>
              <a:off x="1424886" y="1319791"/>
              <a:ext cx="2160270" cy="298450"/>
            </a:xfrm>
            <a:custGeom>
              <a:avLst/>
              <a:gdLst/>
              <a:ahLst/>
              <a:cxnLst/>
              <a:rect l="l" t="t" r="r" b="b"/>
              <a:pathLst>
                <a:path w="2160270" h="298450">
                  <a:moveTo>
                    <a:pt x="0" y="298333"/>
                  </a:moveTo>
                  <a:lnTo>
                    <a:pt x="2159740" y="298333"/>
                  </a:lnTo>
                  <a:lnTo>
                    <a:pt x="2159740" y="0"/>
                  </a:lnTo>
                  <a:lnTo>
                    <a:pt x="0" y="0"/>
                  </a:lnTo>
                  <a:lnTo>
                    <a:pt x="0" y="298333"/>
                  </a:lnTo>
                  <a:close/>
                </a:path>
              </a:pathLst>
            </a:custGeom>
            <a:solidFill>
              <a:srgbClr val="F4C4D1"/>
            </a:solidFill>
          </p:spPr>
          <p:txBody>
            <a:bodyPr wrap="square" lIns="0" tIns="0" rIns="0" bIns="0" rtlCol="0"/>
            <a:lstStyle/>
            <a:p>
              <a:endParaRPr sz="2400"/>
            </a:p>
          </p:txBody>
        </p:sp>
        <p:sp>
          <p:nvSpPr>
            <p:cNvPr id="25" name="object 25"/>
            <p:cNvSpPr/>
            <p:nvPr/>
          </p:nvSpPr>
          <p:spPr>
            <a:xfrm>
              <a:off x="1424886" y="1319791"/>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26" name="object 26"/>
            <p:cNvSpPr/>
            <p:nvPr/>
          </p:nvSpPr>
          <p:spPr>
            <a:xfrm>
              <a:off x="1424909" y="1618124"/>
              <a:ext cx="2160270" cy="1226820"/>
            </a:xfrm>
            <a:custGeom>
              <a:avLst/>
              <a:gdLst/>
              <a:ahLst/>
              <a:cxnLst/>
              <a:rect l="l" t="t" r="r" b="b"/>
              <a:pathLst>
                <a:path w="2160270" h="1226820">
                  <a:moveTo>
                    <a:pt x="2159740" y="1226408"/>
                  </a:moveTo>
                  <a:lnTo>
                    <a:pt x="0" y="1226408"/>
                  </a:lnTo>
                  <a:lnTo>
                    <a:pt x="0" y="0"/>
                  </a:lnTo>
                  <a:lnTo>
                    <a:pt x="2159740" y="0"/>
                  </a:lnTo>
                  <a:lnTo>
                    <a:pt x="2159740" y="1226408"/>
                  </a:lnTo>
                  <a:close/>
                </a:path>
              </a:pathLst>
            </a:custGeom>
            <a:solidFill>
              <a:srgbClr val="EBFAFF"/>
            </a:solidFill>
          </p:spPr>
          <p:txBody>
            <a:bodyPr wrap="square" lIns="0" tIns="0" rIns="0" bIns="0" rtlCol="0"/>
            <a:lstStyle/>
            <a:p>
              <a:endParaRPr sz="2400"/>
            </a:p>
          </p:txBody>
        </p:sp>
        <p:sp>
          <p:nvSpPr>
            <p:cNvPr id="27" name="object 27"/>
            <p:cNvSpPr/>
            <p:nvPr/>
          </p:nvSpPr>
          <p:spPr>
            <a:xfrm>
              <a:off x="1424909" y="1618124"/>
              <a:ext cx="2160270" cy="1226820"/>
            </a:xfrm>
            <a:custGeom>
              <a:avLst/>
              <a:gdLst/>
              <a:ahLst/>
              <a:cxnLst/>
              <a:rect l="l" t="t" r="r" b="b"/>
              <a:pathLst>
                <a:path w="2160270" h="1226820">
                  <a:moveTo>
                    <a:pt x="2159740" y="0"/>
                  </a:moveTo>
                  <a:lnTo>
                    <a:pt x="2159740" y="1226408"/>
                  </a:lnTo>
                  <a:lnTo>
                    <a:pt x="0" y="1226408"/>
                  </a:lnTo>
                  <a:lnTo>
                    <a:pt x="0" y="0"/>
                  </a:lnTo>
                  <a:lnTo>
                    <a:pt x="2159740" y="0"/>
                  </a:lnTo>
                  <a:close/>
                </a:path>
              </a:pathLst>
            </a:custGeom>
            <a:ln w="12599">
              <a:solidFill>
                <a:srgbClr val="237A94"/>
              </a:solidFill>
            </a:ln>
          </p:spPr>
          <p:txBody>
            <a:bodyPr wrap="square" lIns="0" tIns="0" rIns="0" bIns="0" rtlCol="0"/>
            <a:lstStyle/>
            <a:p>
              <a:endParaRPr sz="2400"/>
            </a:p>
          </p:txBody>
        </p:sp>
      </p:grpSp>
      <p:sp>
        <p:nvSpPr>
          <p:cNvPr id="28" name="object 28"/>
          <p:cNvSpPr txBox="1"/>
          <p:nvPr/>
        </p:nvSpPr>
        <p:spPr>
          <a:xfrm>
            <a:off x="2100425" y="1135607"/>
            <a:ext cx="2090420" cy="341184"/>
          </a:xfrm>
          <a:prstGeom prst="rect">
            <a:avLst/>
          </a:prstGeom>
        </p:spPr>
        <p:txBody>
          <a:bodyPr vert="horz" wrap="square" lIns="0" tIns="22860" rIns="0" bIns="0" rtlCol="0">
            <a:spAutoFit/>
          </a:bodyPr>
          <a:lstStyle/>
          <a:p>
            <a:pPr marL="16933">
              <a:spcBef>
                <a:spcPts val="180"/>
              </a:spcBef>
            </a:pPr>
            <a:r>
              <a:rPr sz="2067" dirty="0">
                <a:solidFill>
                  <a:srgbClr val="257693"/>
                </a:solidFill>
                <a:latin typeface="Arial Black"/>
                <a:cs typeface="Arial Black"/>
              </a:rPr>
              <a:t>Compute</a:t>
            </a:r>
            <a:r>
              <a:rPr sz="2067" spc="-147" dirty="0">
                <a:solidFill>
                  <a:srgbClr val="257693"/>
                </a:solidFill>
                <a:latin typeface="Arial Black"/>
                <a:cs typeface="Arial Black"/>
              </a:rPr>
              <a:t> </a:t>
            </a:r>
            <a:r>
              <a:rPr sz="2067" spc="-13" dirty="0">
                <a:solidFill>
                  <a:srgbClr val="257693"/>
                </a:solidFill>
                <a:latin typeface="Arial Black"/>
                <a:cs typeface="Arial Black"/>
              </a:rPr>
              <a:t>units</a:t>
            </a:r>
            <a:endParaRPr sz="2067">
              <a:latin typeface="Arial Black"/>
              <a:cs typeface="Arial Black"/>
            </a:endParaRPr>
          </a:p>
        </p:txBody>
      </p:sp>
      <p:sp>
        <p:nvSpPr>
          <p:cNvPr id="29" name="object 29"/>
          <p:cNvSpPr/>
          <p:nvPr/>
        </p:nvSpPr>
        <p:spPr>
          <a:xfrm>
            <a:off x="2892228" y="2700294"/>
            <a:ext cx="441960" cy="564727"/>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FFAB40"/>
            </a:solidFill>
          </a:ln>
        </p:spPr>
        <p:txBody>
          <a:bodyPr wrap="square" lIns="0" tIns="0" rIns="0" bIns="0" rtlCol="0"/>
          <a:lstStyle/>
          <a:p>
            <a:endParaRPr sz="2400"/>
          </a:p>
        </p:txBody>
      </p:sp>
      <p:sp>
        <p:nvSpPr>
          <p:cNvPr id="30" name="object 30"/>
          <p:cNvSpPr txBox="1"/>
          <p:nvPr/>
        </p:nvSpPr>
        <p:spPr>
          <a:xfrm>
            <a:off x="2898527" y="2706603"/>
            <a:ext cx="429260" cy="447922"/>
          </a:xfrm>
          <a:prstGeom prst="rect">
            <a:avLst/>
          </a:prstGeom>
          <a:solidFill>
            <a:srgbClr val="FFFFFF"/>
          </a:solidFill>
        </p:spPr>
        <p:txBody>
          <a:bodyPr vert="horz" wrap="square" lIns="0" tIns="88053" rIns="0" bIns="0" rtlCol="0">
            <a:spAutoFit/>
          </a:bodyPr>
          <a:lstStyle/>
          <a:p>
            <a:pPr marL="125304">
              <a:spcBef>
                <a:spcPts val="693"/>
              </a:spcBef>
            </a:pPr>
            <a:r>
              <a:rPr sz="2333" spc="67" dirty="0">
                <a:latin typeface="Lucida Sans Unicode"/>
                <a:cs typeface="Lucida Sans Unicode"/>
              </a:rPr>
              <a:t>S</a:t>
            </a:r>
            <a:endParaRPr sz="2333">
              <a:latin typeface="Lucida Sans Unicode"/>
              <a:cs typeface="Lucida Sans Unicode"/>
            </a:endParaRPr>
          </a:p>
        </p:txBody>
      </p:sp>
      <p:grpSp>
        <p:nvGrpSpPr>
          <p:cNvPr id="31" name="object 31"/>
          <p:cNvGrpSpPr/>
          <p:nvPr/>
        </p:nvGrpSpPr>
        <p:grpSpPr>
          <a:xfrm>
            <a:off x="1979868" y="2693953"/>
            <a:ext cx="2721185" cy="578273"/>
            <a:chOff x="1484900" y="2020464"/>
            <a:chExt cx="2040889" cy="433705"/>
          </a:xfrm>
        </p:grpSpPr>
        <p:sp>
          <p:nvSpPr>
            <p:cNvPr id="32" name="object 32"/>
            <p:cNvSpPr/>
            <p:nvPr/>
          </p:nvSpPr>
          <p:spPr>
            <a:xfrm>
              <a:off x="3189757" y="2025891"/>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3" name="object 33"/>
            <p:cNvSpPr/>
            <p:nvPr/>
          </p:nvSpPr>
          <p:spPr>
            <a:xfrm>
              <a:off x="3189757" y="2025891"/>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A12F9D"/>
              </a:solidFill>
            </a:ln>
          </p:spPr>
          <p:txBody>
            <a:bodyPr wrap="square" lIns="0" tIns="0" rIns="0" bIns="0" rtlCol="0"/>
            <a:lstStyle/>
            <a:p>
              <a:endParaRPr sz="2400"/>
            </a:p>
          </p:txBody>
        </p:sp>
        <p:sp>
          <p:nvSpPr>
            <p:cNvPr id="34" name="object 34"/>
            <p:cNvSpPr/>
            <p:nvPr/>
          </p:nvSpPr>
          <p:spPr>
            <a:xfrm>
              <a:off x="1489662" y="202522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5" name="object 35"/>
            <p:cNvSpPr/>
            <p:nvPr/>
          </p:nvSpPr>
          <p:spPr>
            <a:xfrm>
              <a:off x="1489662" y="202522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F47272"/>
              </a:solidFill>
            </a:ln>
          </p:spPr>
          <p:txBody>
            <a:bodyPr wrap="square" lIns="0" tIns="0" rIns="0" bIns="0" rtlCol="0"/>
            <a:lstStyle/>
            <a:p>
              <a:endParaRPr sz="2400"/>
            </a:p>
          </p:txBody>
        </p:sp>
      </p:grpSp>
      <p:sp>
        <p:nvSpPr>
          <p:cNvPr id="36" name="object 36"/>
          <p:cNvSpPr txBox="1"/>
          <p:nvPr/>
        </p:nvSpPr>
        <p:spPr>
          <a:xfrm>
            <a:off x="2071009" y="2772024"/>
            <a:ext cx="272627" cy="382092"/>
          </a:xfrm>
          <a:prstGeom prst="rect">
            <a:avLst/>
          </a:prstGeom>
        </p:spPr>
        <p:txBody>
          <a:bodyPr vert="horz" wrap="square" lIns="0" tIns="22860" rIns="0" bIns="0" rtlCol="0">
            <a:spAutoFit/>
          </a:bodyPr>
          <a:lstStyle/>
          <a:p>
            <a:pPr marL="16933">
              <a:spcBef>
                <a:spcPts val="180"/>
              </a:spcBef>
            </a:pPr>
            <a:r>
              <a:rPr sz="2333" spc="-67" dirty="0">
                <a:latin typeface="Lucida Sans Unicode"/>
                <a:cs typeface="Lucida Sans Unicode"/>
              </a:rPr>
              <a:t>Q</a:t>
            </a:r>
            <a:endParaRPr sz="2333">
              <a:latin typeface="Lucida Sans Unicode"/>
              <a:cs typeface="Lucida Sans Unicode"/>
            </a:endParaRPr>
          </a:p>
        </p:txBody>
      </p:sp>
      <p:sp>
        <p:nvSpPr>
          <p:cNvPr id="37" name="object 37"/>
          <p:cNvSpPr/>
          <p:nvPr/>
        </p:nvSpPr>
        <p:spPr>
          <a:xfrm>
            <a:off x="2439316" y="2699223"/>
            <a:ext cx="441960" cy="564727"/>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4696AA"/>
            </a:solidFill>
          </a:ln>
        </p:spPr>
        <p:txBody>
          <a:bodyPr wrap="square" lIns="0" tIns="0" rIns="0" bIns="0" rtlCol="0"/>
          <a:lstStyle/>
          <a:p>
            <a:endParaRPr sz="2400"/>
          </a:p>
        </p:txBody>
      </p:sp>
      <p:sp>
        <p:nvSpPr>
          <p:cNvPr id="38" name="object 38"/>
          <p:cNvSpPr txBox="1"/>
          <p:nvPr/>
        </p:nvSpPr>
        <p:spPr>
          <a:xfrm>
            <a:off x="2445617" y="2706604"/>
            <a:ext cx="429260" cy="447068"/>
          </a:xfrm>
          <a:prstGeom prst="rect">
            <a:avLst/>
          </a:prstGeom>
          <a:solidFill>
            <a:srgbClr val="FFFFFF"/>
          </a:solidFill>
        </p:spPr>
        <p:txBody>
          <a:bodyPr vert="horz" wrap="square" lIns="0" tIns="87207" rIns="0" bIns="0" rtlCol="0">
            <a:spAutoFit/>
          </a:bodyPr>
          <a:lstStyle/>
          <a:p>
            <a:pPr marL="123610">
              <a:spcBef>
                <a:spcPts val="687"/>
              </a:spcBef>
            </a:pPr>
            <a:r>
              <a:rPr sz="2333" spc="-67" dirty="0">
                <a:latin typeface="Lucida Sans Unicode"/>
                <a:cs typeface="Lucida Sans Unicode"/>
              </a:rPr>
              <a:t>K</a:t>
            </a:r>
            <a:endParaRPr sz="2333">
              <a:latin typeface="Lucida Sans Unicode"/>
              <a:cs typeface="Lucida Sans Unicode"/>
            </a:endParaRPr>
          </a:p>
        </p:txBody>
      </p:sp>
      <p:grpSp>
        <p:nvGrpSpPr>
          <p:cNvPr id="39" name="object 39"/>
          <p:cNvGrpSpPr/>
          <p:nvPr/>
        </p:nvGrpSpPr>
        <p:grpSpPr>
          <a:xfrm>
            <a:off x="3791837" y="2693952"/>
            <a:ext cx="454660" cy="577427"/>
            <a:chOff x="2843877" y="2020464"/>
            <a:chExt cx="340995" cy="433070"/>
          </a:xfrm>
        </p:grpSpPr>
        <p:sp>
          <p:nvSpPr>
            <p:cNvPr id="40" name="object 40"/>
            <p:cNvSpPr/>
            <p:nvPr/>
          </p:nvSpPr>
          <p:spPr>
            <a:xfrm>
              <a:off x="2848639" y="202522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41" name="object 41"/>
            <p:cNvSpPr/>
            <p:nvPr/>
          </p:nvSpPr>
          <p:spPr>
            <a:xfrm>
              <a:off x="2848639" y="202522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5AB46E"/>
              </a:solidFill>
            </a:ln>
          </p:spPr>
          <p:txBody>
            <a:bodyPr wrap="square" lIns="0" tIns="0" rIns="0" bIns="0" rtlCol="0"/>
            <a:lstStyle/>
            <a:p>
              <a:endParaRPr sz="2400"/>
            </a:p>
          </p:txBody>
        </p:sp>
      </p:grpSp>
      <p:sp>
        <p:nvSpPr>
          <p:cNvPr id="42" name="object 42"/>
          <p:cNvSpPr txBox="1"/>
          <p:nvPr/>
        </p:nvSpPr>
        <p:spPr>
          <a:xfrm>
            <a:off x="3804485" y="2772909"/>
            <a:ext cx="883920" cy="382092"/>
          </a:xfrm>
          <a:prstGeom prst="rect">
            <a:avLst/>
          </a:prstGeom>
        </p:spPr>
        <p:txBody>
          <a:bodyPr vert="horz" wrap="square" lIns="0" tIns="22860" rIns="0" bIns="0" rtlCol="0">
            <a:spAutoFit/>
          </a:bodyPr>
          <a:lstStyle/>
          <a:p>
            <a:pPr marL="111757">
              <a:spcBef>
                <a:spcPts val="180"/>
              </a:spcBef>
            </a:pPr>
            <a:r>
              <a:rPr sz="2333" dirty="0">
                <a:latin typeface="Lucida Sans Unicode"/>
                <a:cs typeface="Lucida Sans Unicode"/>
              </a:rPr>
              <a:t>V</a:t>
            </a:r>
            <a:r>
              <a:rPr sz="2333" spc="207" dirty="0">
                <a:latin typeface="Lucida Sans Unicode"/>
                <a:cs typeface="Lucida Sans Unicode"/>
              </a:rPr>
              <a:t>  </a:t>
            </a:r>
            <a:r>
              <a:rPr sz="2333" spc="-67" dirty="0">
                <a:latin typeface="Lucida Sans Unicode"/>
                <a:cs typeface="Lucida Sans Unicode"/>
              </a:rPr>
              <a:t>O</a:t>
            </a:r>
            <a:endParaRPr sz="2333">
              <a:latin typeface="Lucida Sans Unicode"/>
              <a:cs typeface="Lucida Sans Unicode"/>
            </a:endParaRPr>
          </a:p>
        </p:txBody>
      </p:sp>
      <p:sp>
        <p:nvSpPr>
          <p:cNvPr id="43" name="object 43"/>
          <p:cNvSpPr/>
          <p:nvPr/>
        </p:nvSpPr>
        <p:spPr>
          <a:xfrm>
            <a:off x="2907901" y="4338634"/>
            <a:ext cx="148167" cy="1109980"/>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4696AA">
              <a:alpha val="50000"/>
            </a:srgbClr>
          </a:solidFill>
        </p:spPr>
        <p:txBody>
          <a:bodyPr wrap="square" lIns="0" tIns="0" rIns="0" bIns="0" rtlCol="0"/>
          <a:lstStyle/>
          <a:p>
            <a:endParaRPr sz="2400"/>
          </a:p>
        </p:txBody>
      </p:sp>
      <p:sp>
        <p:nvSpPr>
          <p:cNvPr id="44" name="object 44"/>
          <p:cNvSpPr/>
          <p:nvPr/>
        </p:nvSpPr>
        <p:spPr>
          <a:xfrm>
            <a:off x="4158566" y="4333066"/>
            <a:ext cx="148167" cy="1109980"/>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5AB46E">
              <a:alpha val="49369"/>
            </a:srgbClr>
          </a:solidFill>
        </p:spPr>
        <p:txBody>
          <a:bodyPr wrap="square" lIns="0" tIns="0" rIns="0" bIns="0" rtlCol="0"/>
          <a:lstStyle/>
          <a:p>
            <a:endParaRPr sz="2400"/>
          </a:p>
        </p:txBody>
      </p:sp>
      <p:sp>
        <p:nvSpPr>
          <p:cNvPr id="45" name="object 45"/>
          <p:cNvSpPr/>
          <p:nvPr/>
        </p:nvSpPr>
        <p:spPr>
          <a:xfrm>
            <a:off x="3345228" y="2699214"/>
            <a:ext cx="441960" cy="564727"/>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E6A064"/>
            </a:solidFill>
          </a:ln>
        </p:spPr>
        <p:txBody>
          <a:bodyPr wrap="square" lIns="0" tIns="0" rIns="0" bIns="0" rtlCol="0"/>
          <a:lstStyle/>
          <a:p>
            <a:endParaRPr sz="2400"/>
          </a:p>
        </p:txBody>
      </p:sp>
      <p:sp>
        <p:nvSpPr>
          <p:cNvPr id="46" name="object 46"/>
          <p:cNvSpPr txBox="1"/>
          <p:nvPr/>
        </p:nvSpPr>
        <p:spPr>
          <a:xfrm>
            <a:off x="3351527" y="2706604"/>
            <a:ext cx="429260" cy="447068"/>
          </a:xfrm>
          <a:prstGeom prst="rect">
            <a:avLst/>
          </a:prstGeom>
          <a:solidFill>
            <a:srgbClr val="FFFFFF"/>
          </a:solidFill>
        </p:spPr>
        <p:txBody>
          <a:bodyPr vert="horz" wrap="square" lIns="0" tIns="87207" rIns="0" bIns="0" rtlCol="0">
            <a:spAutoFit/>
          </a:bodyPr>
          <a:lstStyle/>
          <a:p>
            <a:pPr marL="112604">
              <a:spcBef>
                <a:spcPts val="687"/>
              </a:spcBef>
            </a:pPr>
            <a:r>
              <a:rPr sz="2333" spc="-67" dirty="0">
                <a:latin typeface="Lucida Sans Unicode"/>
                <a:cs typeface="Lucida Sans Unicode"/>
              </a:rPr>
              <a:t>A</a:t>
            </a:r>
            <a:endParaRPr sz="2333">
              <a:latin typeface="Lucida Sans Unicode"/>
              <a:cs typeface="Lucida Sans Unicode"/>
            </a:endParaRPr>
          </a:p>
        </p:txBody>
      </p:sp>
      <p:sp>
        <p:nvSpPr>
          <p:cNvPr id="47" name="object 47"/>
          <p:cNvSpPr/>
          <p:nvPr/>
        </p:nvSpPr>
        <p:spPr>
          <a:xfrm>
            <a:off x="4257932" y="2701466"/>
            <a:ext cx="106680" cy="564727"/>
          </a:xfrm>
          <a:custGeom>
            <a:avLst/>
            <a:gdLst/>
            <a:ahLst/>
            <a:cxnLst/>
            <a:rect l="l" t="t" r="r" b="b"/>
            <a:pathLst>
              <a:path w="80010" h="423544">
                <a:moveTo>
                  <a:pt x="79799" y="423299"/>
                </a:moveTo>
                <a:lnTo>
                  <a:pt x="0" y="423299"/>
                </a:lnTo>
                <a:lnTo>
                  <a:pt x="0" y="0"/>
                </a:lnTo>
                <a:lnTo>
                  <a:pt x="79799" y="0"/>
                </a:lnTo>
                <a:lnTo>
                  <a:pt x="79799" y="423299"/>
                </a:lnTo>
                <a:close/>
              </a:path>
            </a:pathLst>
          </a:custGeom>
          <a:solidFill>
            <a:srgbClr val="A12F9D">
              <a:alpha val="50000"/>
            </a:srgbClr>
          </a:solidFill>
        </p:spPr>
        <p:txBody>
          <a:bodyPr wrap="square" lIns="0" tIns="0" rIns="0" bIns="0" rtlCol="0"/>
          <a:lstStyle/>
          <a:p>
            <a:endParaRPr sz="2400"/>
          </a:p>
        </p:txBody>
      </p:sp>
    </p:spTree>
    <p:extLst>
      <p:ext uri="{BB962C8B-B14F-4D97-AF65-F5344CB8AC3E}">
        <p14:creationId xmlns:p14="http://schemas.microsoft.com/office/powerpoint/2010/main" val="827326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1667" y="4277386"/>
            <a:ext cx="850053" cy="341184"/>
          </a:xfrm>
          <a:prstGeom prst="rect">
            <a:avLst/>
          </a:prstGeom>
        </p:spPr>
        <p:txBody>
          <a:bodyPr vert="horz" wrap="square" lIns="0" tIns="22860" rIns="0" bIns="0" rtlCol="0">
            <a:spAutoFit/>
          </a:bodyPr>
          <a:lstStyle/>
          <a:p>
            <a:pPr marL="16933">
              <a:spcBef>
                <a:spcPts val="180"/>
              </a:spcBef>
            </a:pPr>
            <a:r>
              <a:rPr sz="2067" spc="-73" dirty="0">
                <a:solidFill>
                  <a:srgbClr val="257693"/>
                </a:solidFill>
                <a:latin typeface="Arial Black"/>
                <a:cs typeface="Arial Black"/>
              </a:rPr>
              <a:t>VRAM</a:t>
            </a:r>
            <a:endParaRPr sz="2067">
              <a:latin typeface="Arial Black"/>
              <a:cs typeface="Arial Black"/>
            </a:endParaRPr>
          </a:p>
        </p:txBody>
      </p:sp>
      <p:grpSp>
        <p:nvGrpSpPr>
          <p:cNvPr id="3" name="object 3"/>
          <p:cNvGrpSpPr/>
          <p:nvPr/>
        </p:nvGrpSpPr>
        <p:grpSpPr>
          <a:xfrm>
            <a:off x="1641267" y="4318235"/>
            <a:ext cx="3640667" cy="1139613"/>
            <a:chOff x="1230950" y="3238676"/>
            <a:chExt cx="2730500" cy="854710"/>
          </a:xfrm>
        </p:grpSpPr>
        <p:sp>
          <p:nvSpPr>
            <p:cNvPr id="4" name="object 4"/>
            <p:cNvSpPr/>
            <p:nvPr/>
          </p:nvSpPr>
          <p:spPr>
            <a:xfrm>
              <a:off x="2180072" y="3249801"/>
              <a:ext cx="832485" cy="832485"/>
            </a:xfrm>
            <a:custGeom>
              <a:avLst/>
              <a:gdLst/>
              <a:ahLst/>
              <a:cxnLst/>
              <a:rect l="l" t="t" r="r" b="b"/>
              <a:pathLst>
                <a:path w="832485" h="832485">
                  <a:moveTo>
                    <a:pt x="0" y="0"/>
                  </a:moveTo>
                  <a:lnTo>
                    <a:pt x="831899" y="0"/>
                  </a:lnTo>
                  <a:lnTo>
                    <a:pt x="831899" y="831899"/>
                  </a:lnTo>
                  <a:lnTo>
                    <a:pt x="0" y="831899"/>
                  </a:lnTo>
                  <a:lnTo>
                    <a:pt x="0" y="0"/>
                  </a:lnTo>
                  <a:close/>
                </a:path>
              </a:pathLst>
            </a:custGeom>
            <a:ln w="21649">
              <a:solidFill>
                <a:srgbClr val="4696AA"/>
              </a:solidFill>
            </a:ln>
          </p:spPr>
          <p:txBody>
            <a:bodyPr wrap="square" lIns="0" tIns="0" rIns="0" bIns="0" rtlCol="0"/>
            <a:lstStyle/>
            <a:p>
              <a:endParaRPr sz="2400"/>
            </a:p>
          </p:txBody>
        </p:sp>
        <p:sp>
          <p:nvSpPr>
            <p:cNvPr id="5" name="object 5"/>
            <p:cNvSpPr/>
            <p:nvPr/>
          </p:nvSpPr>
          <p:spPr>
            <a:xfrm>
              <a:off x="2291249" y="3249801"/>
              <a:ext cx="617220" cy="838200"/>
            </a:xfrm>
            <a:custGeom>
              <a:avLst/>
              <a:gdLst/>
              <a:ahLst/>
              <a:cxnLst/>
              <a:rect l="l" t="t" r="r" b="b"/>
              <a:pathLst>
                <a:path w="617219" h="838200">
                  <a:moveTo>
                    <a:pt x="304773" y="0"/>
                  </a:moveTo>
                  <a:lnTo>
                    <a:pt x="304773" y="831899"/>
                  </a:lnTo>
                </a:path>
                <a:path w="617219" h="838200">
                  <a:moveTo>
                    <a:pt x="512673" y="0"/>
                  </a:moveTo>
                  <a:lnTo>
                    <a:pt x="512673" y="831899"/>
                  </a:lnTo>
                </a:path>
                <a:path w="617219" h="838200">
                  <a:moveTo>
                    <a:pt x="206169" y="5974"/>
                  </a:moveTo>
                  <a:lnTo>
                    <a:pt x="206169" y="837874"/>
                  </a:lnTo>
                </a:path>
                <a:path w="617219" h="838200">
                  <a:moveTo>
                    <a:pt x="107623" y="5961"/>
                  </a:moveTo>
                  <a:lnTo>
                    <a:pt x="107623" y="837861"/>
                  </a:lnTo>
                </a:path>
                <a:path w="617219" h="838200">
                  <a:moveTo>
                    <a:pt x="0" y="0"/>
                  </a:moveTo>
                  <a:lnTo>
                    <a:pt x="0" y="831899"/>
                  </a:lnTo>
                </a:path>
                <a:path w="617219" h="838200">
                  <a:moveTo>
                    <a:pt x="408723" y="0"/>
                  </a:moveTo>
                  <a:lnTo>
                    <a:pt x="408723" y="831899"/>
                  </a:lnTo>
                </a:path>
                <a:path w="617219"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6" name="object 6"/>
            <p:cNvSpPr/>
            <p:nvPr/>
          </p:nvSpPr>
          <p:spPr>
            <a:xfrm>
              <a:off x="3118085" y="3249788"/>
              <a:ext cx="832485" cy="832485"/>
            </a:xfrm>
            <a:custGeom>
              <a:avLst/>
              <a:gdLst/>
              <a:ahLst/>
              <a:cxnLst/>
              <a:rect l="l" t="t" r="r" b="b"/>
              <a:pathLst>
                <a:path w="832485" h="832485">
                  <a:moveTo>
                    <a:pt x="0" y="0"/>
                  </a:moveTo>
                  <a:lnTo>
                    <a:pt x="831899" y="0"/>
                  </a:lnTo>
                  <a:lnTo>
                    <a:pt x="831899" y="831899"/>
                  </a:lnTo>
                  <a:lnTo>
                    <a:pt x="0" y="831899"/>
                  </a:lnTo>
                  <a:lnTo>
                    <a:pt x="0" y="0"/>
                  </a:lnTo>
                  <a:close/>
                </a:path>
              </a:pathLst>
            </a:custGeom>
            <a:ln w="21649">
              <a:solidFill>
                <a:srgbClr val="5AB46E"/>
              </a:solidFill>
            </a:ln>
          </p:spPr>
          <p:txBody>
            <a:bodyPr wrap="square" lIns="0" tIns="0" rIns="0" bIns="0" rtlCol="0"/>
            <a:lstStyle/>
            <a:p>
              <a:endParaRPr sz="2400"/>
            </a:p>
          </p:txBody>
        </p:sp>
        <p:sp>
          <p:nvSpPr>
            <p:cNvPr id="7" name="object 7"/>
            <p:cNvSpPr/>
            <p:nvPr/>
          </p:nvSpPr>
          <p:spPr>
            <a:xfrm>
              <a:off x="3229261" y="3249788"/>
              <a:ext cx="617220" cy="838200"/>
            </a:xfrm>
            <a:custGeom>
              <a:avLst/>
              <a:gdLst/>
              <a:ahLst/>
              <a:cxnLst/>
              <a:rect l="l" t="t" r="r" b="b"/>
              <a:pathLst>
                <a:path w="617220" h="838200">
                  <a:moveTo>
                    <a:pt x="304773" y="0"/>
                  </a:moveTo>
                  <a:lnTo>
                    <a:pt x="304773" y="831899"/>
                  </a:lnTo>
                </a:path>
                <a:path w="617220" h="838200">
                  <a:moveTo>
                    <a:pt x="512673" y="0"/>
                  </a:moveTo>
                  <a:lnTo>
                    <a:pt x="512673" y="831899"/>
                  </a:lnTo>
                </a:path>
                <a:path w="617220" h="838200">
                  <a:moveTo>
                    <a:pt x="206169" y="5974"/>
                  </a:moveTo>
                  <a:lnTo>
                    <a:pt x="206169" y="837874"/>
                  </a:lnTo>
                </a:path>
                <a:path w="617220" h="838200">
                  <a:moveTo>
                    <a:pt x="107623" y="5961"/>
                  </a:moveTo>
                  <a:lnTo>
                    <a:pt x="107623" y="837861"/>
                  </a:lnTo>
                </a:path>
                <a:path w="617220" h="838200">
                  <a:moveTo>
                    <a:pt x="0" y="0"/>
                  </a:moveTo>
                  <a:lnTo>
                    <a:pt x="0" y="831899"/>
                  </a:lnTo>
                </a:path>
                <a:path w="617220" h="838200">
                  <a:moveTo>
                    <a:pt x="408723" y="0"/>
                  </a:moveTo>
                  <a:lnTo>
                    <a:pt x="408723" y="831899"/>
                  </a:lnTo>
                </a:path>
                <a:path w="617220"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8" name="object 8"/>
            <p:cNvSpPr/>
            <p:nvPr/>
          </p:nvSpPr>
          <p:spPr>
            <a:xfrm>
              <a:off x="1242062" y="3249876"/>
              <a:ext cx="832485" cy="832485"/>
            </a:xfrm>
            <a:custGeom>
              <a:avLst/>
              <a:gdLst/>
              <a:ahLst/>
              <a:cxnLst/>
              <a:rect l="l" t="t" r="r" b="b"/>
              <a:pathLst>
                <a:path w="832485" h="832485">
                  <a:moveTo>
                    <a:pt x="0" y="0"/>
                  </a:moveTo>
                  <a:lnTo>
                    <a:pt x="831900" y="0"/>
                  </a:lnTo>
                  <a:lnTo>
                    <a:pt x="831900" y="831899"/>
                  </a:lnTo>
                  <a:lnTo>
                    <a:pt x="0" y="831899"/>
                  </a:lnTo>
                  <a:lnTo>
                    <a:pt x="0" y="0"/>
                  </a:lnTo>
                  <a:close/>
                </a:path>
              </a:pathLst>
            </a:custGeom>
            <a:ln w="21649">
              <a:solidFill>
                <a:srgbClr val="F65B66"/>
              </a:solidFill>
            </a:ln>
          </p:spPr>
          <p:txBody>
            <a:bodyPr wrap="square" lIns="0" tIns="0" rIns="0" bIns="0" rtlCol="0"/>
            <a:lstStyle/>
            <a:p>
              <a:endParaRPr sz="2400"/>
            </a:p>
          </p:txBody>
        </p:sp>
      </p:grpSp>
      <p:sp>
        <p:nvSpPr>
          <p:cNvPr id="9" name="object 9"/>
          <p:cNvSpPr txBox="1"/>
          <p:nvPr/>
        </p:nvSpPr>
        <p:spPr>
          <a:xfrm>
            <a:off x="1951145" y="4476679"/>
            <a:ext cx="2986193" cy="761747"/>
          </a:xfrm>
          <a:prstGeom prst="rect">
            <a:avLst/>
          </a:prstGeom>
        </p:spPr>
        <p:txBody>
          <a:bodyPr vert="horz" wrap="square" lIns="0" tIns="22860" rIns="0" bIns="0" rtlCol="0">
            <a:spAutoFit/>
          </a:bodyPr>
          <a:lstStyle/>
          <a:p>
            <a:pPr marL="16933">
              <a:spcBef>
                <a:spcPts val="180"/>
              </a:spcBef>
              <a:tabLst>
                <a:tab pos="1325000" algn="l"/>
                <a:tab pos="2552636" algn="l"/>
              </a:tabLst>
            </a:pPr>
            <a:r>
              <a:rPr sz="4800" spc="7" dirty="0">
                <a:latin typeface="Lucida Sans Unicode"/>
                <a:cs typeface="Lucida Sans Unicode"/>
              </a:rPr>
              <a:t>Q</a:t>
            </a:r>
            <a:r>
              <a:rPr sz="4800" dirty="0">
                <a:latin typeface="Lucida Sans Unicode"/>
                <a:cs typeface="Lucida Sans Unicode"/>
              </a:rPr>
              <a:t>	</a:t>
            </a:r>
            <a:r>
              <a:rPr sz="4800" spc="-67" dirty="0">
                <a:latin typeface="Lucida Sans Unicode"/>
                <a:cs typeface="Lucida Sans Unicode"/>
              </a:rPr>
              <a:t>K</a:t>
            </a:r>
            <a:r>
              <a:rPr sz="4800" dirty="0">
                <a:latin typeface="Lucida Sans Unicode"/>
                <a:cs typeface="Lucida Sans Unicode"/>
              </a:rPr>
              <a:t>	</a:t>
            </a:r>
            <a:r>
              <a:rPr sz="4800" spc="53" dirty="0">
                <a:latin typeface="Lucida Sans Unicode"/>
                <a:cs typeface="Lucida Sans Unicode"/>
              </a:rPr>
              <a:t>V</a:t>
            </a:r>
            <a:endParaRPr sz="4800">
              <a:latin typeface="Lucida Sans Unicode"/>
              <a:cs typeface="Lucida Sans Unicode"/>
            </a:endParaRPr>
          </a:p>
        </p:txBody>
      </p:sp>
      <p:sp>
        <p:nvSpPr>
          <p:cNvPr id="10" name="object 10"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Flash</a:t>
            </a:r>
            <a:r>
              <a:rPr spc="80" dirty="0"/>
              <a:t> </a:t>
            </a:r>
            <a:r>
              <a:rPr spc="-13" dirty="0"/>
              <a:t>attention</a:t>
            </a:r>
          </a:p>
        </p:txBody>
      </p:sp>
      <p:grpSp>
        <p:nvGrpSpPr>
          <p:cNvPr id="11" name="object 11"/>
          <p:cNvGrpSpPr/>
          <p:nvPr/>
        </p:nvGrpSpPr>
        <p:grpSpPr>
          <a:xfrm>
            <a:off x="1797969" y="1482559"/>
            <a:ext cx="3258820" cy="3974253"/>
            <a:chOff x="1348476" y="1111919"/>
            <a:chExt cx="2444115" cy="2980690"/>
          </a:xfrm>
        </p:grpSpPr>
        <p:sp>
          <p:nvSpPr>
            <p:cNvPr id="12" name="object 12"/>
            <p:cNvSpPr/>
            <p:nvPr/>
          </p:nvSpPr>
          <p:spPr>
            <a:xfrm>
              <a:off x="1353239" y="3249876"/>
              <a:ext cx="617220" cy="838200"/>
            </a:xfrm>
            <a:custGeom>
              <a:avLst/>
              <a:gdLst/>
              <a:ahLst/>
              <a:cxnLst/>
              <a:rect l="l" t="t" r="r" b="b"/>
              <a:pathLst>
                <a:path w="617219" h="838200">
                  <a:moveTo>
                    <a:pt x="304773" y="0"/>
                  </a:moveTo>
                  <a:lnTo>
                    <a:pt x="304773" y="831899"/>
                  </a:lnTo>
                </a:path>
                <a:path w="617219" h="838200">
                  <a:moveTo>
                    <a:pt x="512673" y="0"/>
                  </a:moveTo>
                  <a:lnTo>
                    <a:pt x="512673" y="831899"/>
                  </a:lnTo>
                </a:path>
                <a:path w="617219" h="838200">
                  <a:moveTo>
                    <a:pt x="206169" y="5974"/>
                  </a:moveTo>
                  <a:lnTo>
                    <a:pt x="206169" y="837874"/>
                  </a:lnTo>
                </a:path>
                <a:path w="617219" h="838200">
                  <a:moveTo>
                    <a:pt x="107623" y="5961"/>
                  </a:moveTo>
                  <a:lnTo>
                    <a:pt x="107623" y="837861"/>
                  </a:lnTo>
                </a:path>
                <a:path w="617219" h="838200">
                  <a:moveTo>
                    <a:pt x="0" y="0"/>
                  </a:moveTo>
                  <a:lnTo>
                    <a:pt x="0" y="831899"/>
                  </a:lnTo>
                </a:path>
                <a:path w="617219" h="838200">
                  <a:moveTo>
                    <a:pt x="408723" y="0"/>
                  </a:moveTo>
                  <a:lnTo>
                    <a:pt x="408723" y="831899"/>
                  </a:lnTo>
                </a:path>
                <a:path w="617219"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13" name="object 13"/>
            <p:cNvSpPr/>
            <p:nvPr/>
          </p:nvSpPr>
          <p:spPr>
            <a:xfrm>
              <a:off x="1626408" y="1118269"/>
              <a:ext cx="2160270" cy="299085"/>
            </a:xfrm>
            <a:custGeom>
              <a:avLst/>
              <a:gdLst/>
              <a:ahLst/>
              <a:cxnLst/>
              <a:rect l="l" t="t" r="r" b="b"/>
              <a:pathLst>
                <a:path w="2160270" h="299084">
                  <a:moveTo>
                    <a:pt x="0" y="298954"/>
                  </a:moveTo>
                  <a:lnTo>
                    <a:pt x="2159740" y="298954"/>
                  </a:lnTo>
                  <a:lnTo>
                    <a:pt x="2159740" y="0"/>
                  </a:lnTo>
                  <a:lnTo>
                    <a:pt x="0" y="0"/>
                  </a:lnTo>
                  <a:lnTo>
                    <a:pt x="0" y="298954"/>
                  </a:lnTo>
                  <a:close/>
                </a:path>
              </a:pathLst>
            </a:custGeom>
            <a:solidFill>
              <a:srgbClr val="F4C4D1"/>
            </a:solidFill>
          </p:spPr>
          <p:txBody>
            <a:bodyPr wrap="square" lIns="0" tIns="0" rIns="0" bIns="0" rtlCol="0"/>
            <a:lstStyle/>
            <a:p>
              <a:endParaRPr sz="2400"/>
            </a:p>
          </p:txBody>
        </p:sp>
        <p:sp>
          <p:nvSpPr>
            <p:cNvPr id="14" name="object 14"/>
            <p:cNvSpPr/>
            <p:nvPr/>
          </p:nvSpPr>
          <p:spPr>
            <a:xfrm>
              <a:off x="1626408" y="1118269"/>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15" name="object 15"/>
            <p:cNvSpPr/>
            <p:nvPr/>
          </p:nvSpPr>
          <p:spPr>
            <a:xfrm>
              <a:off x="3685387" y="1417224"/>
              <a:ext cx="100965" cy="1225550"/>
            </a:xfrm>
            <a:custGeom>
              <a:avLst/>
              <a:gdLst/>
              <a:ahLst/>
              <a:cxnLst/>
              <a:rect l="l" t="t" r="r" b="b"/>
              <a:pathLst>
                <a:path w="100964" h="1225550">
                  <a:moveTo>
                    <a:pt x="0" y="1225411"/>
                  </a:moveTo>
                  <a:lnTo>
                    <a:pt x="100786" y="1225411"/>
                  </a:lnTo>
                  <a:lnTo>
                    <a:pt x="100786" y="0"/>
                  </a:lnTo>
                  <a:lnTo>
                    <a:pt x="0" y="0"/>
                  </a:lnTo>
                  <a:lnTo>
                    <a:pt x="0" y="1225411"/>
                  </a:lnTo>
                  <a:close/>
                </a:path>
              </a:pathLst>
            </a:custGeom>
            <a:solidFill>
              <a:srgbClr val="EBFAFF"/>
            </a:solidFill>
          </p:spPr>
          <p:txBody>
            <a:bodyPr wrap="square" lIns="0" tIns="0" rIns="0" bIns="0" rtlCol="0"/>
            <a:lstStyle/>
            <a:p>
              <a:endParaRPr sz="2400"/>
            </a:p>
          </p:txBody>
        </p:sp>
        <p:sp>
          <p:nvSpPr>
            <p:cNvPr id="16" name="object 16"/>
            <p:cNvSpPr/>
            <p:nvPr/>
          </p:nvSpPr>
          <p:spPr>
            <a:xfrm>
              <a:off x="1626434" y="1417224"/>
              <a:ext cx="2160270" cy="1225550"/>
            </a:xfrm>
            <a:custGeom>
              <a:avLst/>
              <a:gdLst/>
              <a:ahLst/>
              <a:cxnLst/>
              <a:rect l="l" t="t" r="r" b="b"/>
              <a:pathLst>
                <a:path w="2160270" h="1225550">
                  <a:moveTo>
                    <a:pt x="2159740" y="0"/>
                  </a:moveTo>
                  <a:lnTo>
                    <a:pt x="2159740" y="1225411"/>
                  </a:lnTo>
                  <a:lnTo>
                    <a:pt x="0" y="1225411"/>
                  </a:lnTo>
                  <a:lnTo>
                    <a:pt x="0" y="0"/>
                  </a:lnTo>
                  <a:lnTo>
                    <a:pt x="2159740" y="0"/>
                  </a:lnTo>
                  <a:close/>
                </a:path>
              </a:pathLst>
            </a:custGeom>
            <a:ln w="12599">
              <a:solidFill>
                <a:srgbClr val="237A94"/>
              </a:solidFill>
            </a:ln>
          </p:spPr>
          <p:txBody>
            <a:bodyPr wrap="square" lIns="0" tIns="0" rIns="0" bIns="0" rtlCol="0"/>
            <a:lstStyle/>
            <a:p>
              <a:endParaRPr sz="2400"/>
            </a:p>
          </p:txBody>
        </p:sp>
        <p:sp>
          <p:nvSpPr>
            <p:cNvPr id="17" name="object 17"/>
            <p:cNvSpPr/>
            <p:nvPr/>
          </p:nvSpPr>
          <p:spPr>
            <a:xfrm>
              <a:off x="1525647" y="1219030"/>
              <a:ext cx="2160270" cy="300355"/>
            </a:xfrm>
            <a:custGeom>
              <a:avLst/>
              <a:gdLst/>
              <a:ahLst/>
              <a:cxnLst/>
              <a:rect l="l" t="t" r="r" b="b"/>
              <a:pathLst>
                <a:path w="2160270" h="300355">
                  <a:moveTo>
                    <a:pt x="0" y="300246"/>
                  </a:moveTo>
                  <a:lnTo>
                    <a:pt x="2159740" y="300246"/>
                  </a:lnTo>
                  <a:lnTo>
                    <a:pt x="2159740" y="0"/>
                  </a:lnTo>
                  <a:lnTo>
                    <a:pt x="0" y="0"/>
                  </a:lnTo>
                  <a:lnTo>
                    <a:pt x="0" y="300246"/>
                  </a:lnTo>
                  <a:close/>
                </a:path>
              </a:pathLst>
            </a:custGeom>
            <a:solidFill>
              <a:srgbClr val="F4C4D1"/>
            </a:solidFill>
          </p:spPr>
          <p:txBody>
            <a:bodyPr wrap="square" lIns="0" tIns="0" rIns="0" bIns="0" rtlCol="0"/>
            <a:lstStyle/>
            <a:p>
              <a:endParaRPr sz="2400"/>
            </a:p>
          </p:txBody>
        </p:sp>
        <p:sp>
          <p:nvSpPr>
            <p:cNvPr id="18" name="object 18"/>
            <p:cNvSpPr/>
            <p:nvPr/>
          </p:nvSpPr>
          <p:spPr>
            <a:xfrm>
              <a:off x="1525647" y="1219030"/>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19" name="object 19"/>
            <p:cNvSpPr/>
            <p:nvPr/>
          </p:nvSpPr>
          <p:spPr>
            <a:xfrm>
              <a:off x="3584627" y="1519276"/>
              <a:ext cx="100965" cy="1224915"/>
            </a:xfrm>
            <a:custGeom>
              <a:avLst/>
              <a:gdLst/>
              <a:ahLst/>
              <a:cxnLst/>
              <a:rect l="l" t="t" r="r" b="b"/>
              <a:pathLst>
                <a:path w="100964" h="1224914">
                  <a:moveTo>
                    <a:pt x="0" y="1224414"/>
                  </a:moveTo>
                  <a:lnTo>
                    <a:pt x="100797" y="1224414"/>
                  </a:lnTo>
                  <a:lnTo>
                    <a:pt x="100797" y="0"/>
                  </a:lnTo>
                  <a:lnTo>
                    <a:pt x="0" y="0"/>
                  </a:lnTo>
                  <a:lnTo>
                    <a:pt x="0" y="1224414"/>
                  </a:lnTo>
                  <a:close/>
                </a:path>
              </a:pathLst>
            </a:custGeom>
            <a:solidFill>
              <a:srgbClr val="EBFAFF"/>
            </a:solidFill>
          </p:spPr>
          <p:txBody>
            <a:bodyPr wrap="square" lIns="0" tIns="0" rIns="0" bIns="0" rtlCol="0"/>
            <a:lstStyle/>
            <a:p>
              <a:endParaRPr sz="2400"/>
            </a:p>
          </p:txBody>
        </p:sp>
        <p:sp>
          <p:nvSpPr>
            <p:cNvPr id="20" name="object 20"/>
            <p:cNvSpPr/>
            <p:nvPr/>
          </p:nvSpPr>
          <p:spPr>
            <a:xfrm>
              <a:off x="1525684" y="1519276"/>
              <a:ext cx="2160270" cy="1224915"/>
            </a:xfrm>
            <a:custGeom>
              <a:avLst/>
              <a:gdLst/>
              <a:ahLst/>
              <a:cxnLst/>
              <a:rect l="l" t="t" r="r" b="b"/>
              <a:pathLst>
                <a:path w="2160270" h="1224914">
                  <a:moveTo>
                    <a:pt x="2159740" y="0"/>
                  </a:moveTo>
                  <a:lnTo>
                    <a:pt x="2159740" y="1224414"/>
                  </a:lnTo>
                  <a:lnTo>
                    <a:pt x="0" y="1224414"/>
                  </a:lnTo>
                  <a:lnTo>
                    <a:pt x="0" y="0"/>
                  </a:lnTo>
                  <a:lnTo>
                    <a:pt x="2159740" y="0"/>
                  </a:lnTo>
                  <a:close/>
                </a:path>
              </a:pathLst>
            </a:custGeom>
            <a:ln w="12599">
              <a:solidFill>
                <a:srgbClr val="237A94"/>
              </a:solidFill>
            </a:ln>
          </p:spPr>
          <p:txBody>
            <a:bodyPr wrap="square" lIns="0" tIns="0" rIns="0" bIns="0" rtlCol="0"/>
            <a:lstStyle/>
            <a:p>
              <a:endParaRPr sz="2400"/>
            </a:p>
          </p:txBody>
        </p:sp>
        <p:sp>
          <p:nvSpPr>
            <p:cNvPr id="21" name="object 21"/>
            <p:cNvSpPr/>
            <p:nvPr/>
          </p:nvSpPr>
          <p:spPr>
            <a:xfrm>
              <a:off x="1424886" y="1319791"/>
              <a:ext cx="2160270" cy="298450"/>
            </a:xfrm>
            <a:custGeom>
              <a:avLst/>
              <a:gdLst/>
              <a:ahLst/>
              <a:cxnLst/>
              <a:rect l="l" t="t" r="r" b="b"/>
              <a:pathLst>
                <a:path w="2160270" h="298450">
                  <a:moveTo>
                    <a:pt x="0" y="298333"/>
                  </a:moveTo>
                  <a:lnTo>
                    <a:pt x="2159740" y="298333"/>
                  </a:lnTo>
                  <a:lnTo>
                    <a:pt x="2159740" y="0"/>
                  </a:lnTo>
                  <a:lnTo>
                    <a:pt x="0" y="0"/>
                  </a:lnTo>
                  <a:lnTo>
                    <a:pt x="0" y="298333"/>
                  </a:lnTo>
                  <a:close/>
                </a:path>
              </a:pathLst>
            </a:custGeom>
            <a:solidFill>
              <a:srgbClr val="F4C4D1"/>
            </a:solidFill>
          </p:spPr>
          <p:txBody>
            <a:bodyPr wrap="square" lIns="0" tIns="0" rIns="0" bIns="0" rtlCol="0"/>
            <a:lstStyle/>
            <a:p>
              <a:endParaRPr sz="2400"/>
            </a:p>
          </p:txBody>
        </p:sp>
        <p:sp>
          <p:nvSpPr>
            <p:cNvPr id="22" name="object 22"/>
            <p:cNvSpPr/>
            <p:nvPr/>
          </p:nvSpPr>
          <p:spPr>
            <a:xfrm>
              <a:off x="1424886" y="1319791"/>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23" name="object 23"/>
            <p:cNvSpPr/>
            <p:nvPr/>
          </p:nvSpPr>
          <p:spPr>
            <a:xfrm>
              <a:off x="1424909" y="1618124"/>
              <a:ext cx="2160270" cy="1226820"/>
            </a:xfrm>
            <a:custGeom>
              <a:avLst/>
              <a:gdLst/>
              <a:ahLst/>
              <a:cxnLst/>
              <a:rect l="l" t="t" r="r" b="b"/>
              <a:pathLst>
                <a:path w="2160270" h="1226820">
                  <a:moveTo>
                    <a:pt x="2159740" y="1226408"/>
                  </a:moveTo>
                  <a:lnTo>
                    <a:pt x="0" y="1226408"/>
                  </a:lnTo>
                  <a:lnTo>
                    <a:pt x="0" y="0"/>
                  </a:lnTo>
                  <a:lnTo>
                    <a:pt x="2159740" y="0"/>
                  </a:lnTo>
                  <a:lnTo>
                    <a:pt x="2159740" y="1226408"/>
                  </a:lnTo>
                  <a:close/>
                </a:path>
              </a:pathLst>
            </a:custGeom>
            <a:solidFill>
              <a:srgbClr val="EBFAFF"/>
            </a:solidFill>
          </p:spPr>
          <p:txBody>
            <a:bodyPr wrap="square" lIns="0" tIns="0" rIns="0" bIns="0" rtlCol="0"/>
            <a:lstStyle/>
            <a:p>
              <a:endParaRPr sz="2400"/>
            </a:p>
          </p:txBody>
        </p:sp>
        <p:sp>
          <p:nvSpPr>
            <p:cNvPr id="24" name="object 24"/>
            <p:cNvSpPr/>
            <p:nvPr/>
          </p:nvSpPr>
          <p:spPr>
            <a:xfrm>
              <a:off x="1424909" y="1618124"/>
              <a:ext cx="2160270" cy="1226820"/>
            </a:xfrm>
            <a:custGeom>
              <a:avLst/>
              <a:gdLst/>
              <a:ahLst/>
              <a:cxnLst/>
              <a:rect l="l" t="t" r="r" b="b"/>
              <a:pathLst>
                <a:path w="2160270" h="1226820">
                  <a:moveTo>
                    <a:pt x="2159740" y="0"/>
                  </a:moveTo>
                  <a:lnTo>
                    <a:pt x="2159740" y="1226408"/>
                  </a:lnTo>
                  <a:lnTo>
                    <a:pt x="0" y="1226408"/>
                  </a:lnTo>
                  <a:lnTo>
                    <a:pt x="0" y="0"/>
                  </a:lnTo>
                  <a:lnTo>
                    <a:pt x="2159740" y="0"/>
                  </a:lnTo>
                  <a:close/>
                </a:path>
              </a:pathLst>
            </a:custGeom>
            <a:ln w="12599">
              <a:solidFill>
                <a:srgbClr val="237A94"/>
              </a:solidFill>
            </a:ln>
          </p:spPr>
          <p:txBody>
            <a:bodyPr wrap="square" lIns="0" tIns="0" rIns="0" bIns="0" rtlCol="0"/>
            <a:lstStyle/>
            <a:p>
              <a:endParaRPr sz="2400"/>
            </a:p>
          </p:txBody>
        </p:sp>
      </p:grpSp>
      <p:sp>
        <p:nvSpPr>
          <p:cNvPr id="25" name="object 25"/>
          <p:cNvSpPr txBox="1"/>
          <p:nvPr/>
        </p:nvSpPr>
        <p:spPr>
          <a:xfrm>
            <a:off x="2100425" y="1135607"/>
            <a:ext cx="2090420" cy="341184"/>
          </a:xfrm>
          <a:prstGeom prst="rect">
            <a:avLst/>
          </a:prstGeom>
        </p:spPr>
        <p:txBody>
          <a:bodyPr vert="horz" wrap="square" lIns="0" tIns="22860" rIns="0" bIns="0" rtlCol="0">
            <a:spAutoFit/>
          </a:bodyPr>
          <a:lstStyle/>
          <a:p>
            <a:pPr marL="16933">
              <a:spcBef>
                <a:spcPts val="180"/>
              </a:spcBef>
            </a:pPr>
            <a:r>
              <a:rPr sz="2067" dirty="0">
                <a:solidFill>
                  <a:srgbClr val="257693"/>
                </a:solidFill>
                <a:latin typeface="Arial Black"/>
                <a:cs typeface="Arial Black"/>
              </a:rPr>
              <a:t>Compute</a:t>
            </a:r>
            <a:r>
              <a:rPr sz="2067" spc="-147" dirty="0">
                <a:solidFill>
                  <a:srgbClr val="257693"/>
                </a:solidFill>
                <a:latin typeface="Arial Black"/>
                <a:cs typeface="Arial Black"/>
              </a:rPr>
              <a:t> </a:t>
            </a:r>
            <a:r>
              <a:rPr sz="2067" spc="-13" dirty="0">
                <a:solidFill>
                  <a:srgbClr val="257693"/>
                </a:solidFill>
                <a:latin typeface="Arial Black"/>
                <a:cs typeface="Arial Black"/>
              </a:rPr>
              <a:t>units</a:t>
            </a:r>
            <a:endParaRPr sz="2067">
              <a:latin typeface="Arial Black"/>
              <a:cs typeface="Arial Black"/>
            </a:endParaRPr>
          </a:p>
        </p:txBody>
      </p:sp>
      <p:grpSp>
        <p:nvGrpSpPr>
          <p:cNvPr id="26" name="object 26"/>
          <p:cNvGrpSpPr/>
          <p:nvPr/>
        </p:nvGrpSpPr>
        <p:grpSpPr>
          <a:xfrm>
            <a:off x="1979868" y="2692872"/>
            <a:ext cx="2721185" cy="579120"/>
            <a:chOff x="1484900" y="2019654"/>
            <a:chExt cx="2040889" cy="434340"/>
          </a:xfrm>
        </p:grpSpPr>
        <p:sp>
          <p:nvSpPr>
            <p:cNvPr id="27" name="object 27"/>
            <p:cNvSpPr/>
            <p:nvPr/>
          </p:nvSpPr>
          <p:spPr>
            <a:xfrm>
              <a:off x="3189757" y="2025891"/>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28" name="object 28"/>
            <p:cNvSpPr/>
            <p:nvPr/>
          </p:nvSpPr>
          <p:spPr>
            <a:xfrm>
              <a:off x="3189757" y="2025891"/>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A12F9D"/>
              </a:solidFill>
            </a:ln>
          </p:spPr>
          <p:txBody>
            <a:bodyPr wrap="square" lIns="0" tIns="0" rIns="0" bIns="0" rtlCol="0"/>
            <a:lstStyle/>
            <a:p>
              <a:endParaRPr sz="2400"/>
            </a:p>
          </p:txBody>
        </p:sp>
        <p:sp>
          <p:nvSpPr>
            <p:cNvPr id="29" name="object 29"/>
            <p:cNvSpPr/>
            <p:nvPr/>
          </p:nvSpPr>
          <p:spPr>
            <a:xfrm>
              <a:off x="1489662" y="202522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0" name="object 30"/>
            <p:cNvSpPr/>
            <p:nvPr/>
          </p:nvSpPr>
          <p:spPr>
            <a:xfrm>
              <a:off x="1489662" y="202522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F47272"/>
              </a:solidFill>
            </a:ln>
          </p:spPr>
          <p:txBody>
            <a:bodyPr wrap="square" lIns="0" tIns="0" rIns="0" bIns="0" rtlCol="0"/>
            <a:lstStyle/>
            <a:p>
              <a:endParaRPr sz="2400"/>
            </a:p>
          </p:txBody>
        </p:sp>
        <p:sp>
          <p:nvSpPr>
            <p:cNvPr id="31" name="object 31"/>
            <p:cNvSpPr/>
            <p:nvPr/>
          </p:nvSpPr>
          <p:spPr>
            <a:xfrm>
              <a:off x="1829487" y="202441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2" name="object 32"/>
            <p:cNvSpPr/>
            <p:nvPr/>
          </p:nvSpPr>
          <p:spPr>
            <a:xfrm>
              <a:off x="1829487" y="202441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4696AA"/>
              </a:solidFill>
            </a:ln>
          </p:spPr>
          <p:txBody>
            <a:bodyPr wrap="square" lIns="0" tIns="0" rIns="0" bIns="0" rtlCol="0"/>
            <a:lstStyle/>
            <a:p>
              <a:endParaRPr sz="2400"/>
            </a:p>
          </p:txBody>
        </p:sp>
      </p:grpSp>
      <p:sp>
        <p:nvSpPr>
          <p:cNvPr id="33" name="object 33"/>
          <p:cNvSpPr txBox="1"/>
          <p:nvPr/>
        </p:nvSpPr>
        <p:spPr>
          <a:xfrm>
            <a:off x="2071010" y="2772023"/>
            <a:ext cx="696807" cy="382092"/>
          </a:xfrm>
          <a:prstGeom prst="rect">
            <a:avLst/>
          </a:prstGeom>
        </p:spPr>
        <p:txBody>
          <a:bodyPr vert="horz" wrap="square" lIns="0" tIns="22860" rIns="0" bIns="0" rtlCol="0">
            <a:spAutoFit/>
          </a:bodyPr>
          <a:lstStyle/>
          <a:p>
            <a:pPr marL="16933">
              <a:spcBef>
                <a:spcPts val="180"/>
              </a:spcBef>
              <a:tabLst>
                <a:tab pos="497828" algn="l"/>
              </a:tabLst>
            </a:pPr>
            <a:r>
              <a:rPr sz="2333" spc="-67" dirty="0">
                <a:latin typeface="Lucida Sans Unicode"/>
                <a:cs typeface="Lucida Sans Unicode"/>
              </a:rPr>
              <a:t>Q</a:t>
            </a:r>
            <a:r>
              <a:rPr sz="2333" dirty="0">
                <a:latin typeface="Lucida Sans Unicode"/>
                <a:cs typeface="Lucida Sans Unicode"/>
              </a:rPr>
              <a:t>	</a:t>
            </a:r>
            <a:r>
              <a:rPr sz="2333" spc="-67" dirty="0">
                <a:latin typeface="Lucida Sans Unicode"/>
                <a:cs typeface="Lucida Sans Unicode"/>
              </a:rPr>
              <a:t>K</a:t>
            </a:r>
            <a:endParaRPr sz="2333">
              <a:latin typeface="Lucida Sans Unicode"/>
              <a:cs typeface="Lucida Sans Unicode"/>
            </a:endParaRPr>
          </a:p>
        </p:txBody>
      </p:sp>
      <p:grpSp>
        <p:nvGrpSpPr>
          <p:cNvPr id="34" name="object 34"/>
          <p:cNvGrpSpPr/>
          <p:nvPr/>
        </p:nvGrpSpPr>
        <p:grpSpPr>
          <a:xfrm>
            <a:off x="3791837" y="2693952"/>
            <a:ext cx="454660" cy="577427"/>
            <a:chOff x="2843877" y="2020464"/>
            <a:chExt cx="340995" cy="433070"/>
          </a:xfrm>
        </p:grpSpPr>
        <p:sp>
          <p:nvSpPr>
            <p:cNvPr id="35" name="object 35"/>
            <p:cNvSpPr/>
            <p:nvPr/>
          </p:nvSpPr>
          <p:spPr>
            <a:xfrm>
              <a:off x="2848639" y="202522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6" name="object 36"/>
            <p:cNvSpPr/>
            <p:nvPr/>
          </p:nvSpPr>
          <p:spPr>
            <a:xfrm>
              <a:off x="2848639" y="202522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5AB46E"/>
              </a:solidFill>
            </a:ln>
          </p:spPr>
          <p:txBody>
            <a:bodyPr wrap="square" lIns="0" tIns="0" rIns="0" bIns="0" rtlCol="0"/>
            <a:lstStyle/>
            <a:p>
              <a:endParaRPr sz="2400"/>
            </a:p>
          </p:txBody>
        </p:sp>
      </p:grpSp>
      <p:sp>
        <p:nvSpPr>
          <p:cNvPr id="37" name="object 37"/>
          <p:cNvSpPr txBox="1"/>
          <p:nvPr/>
        </p:nvSpPr>
        <p:spPr>
          <a:xfrm>
            <a:off x="3899904" y="2772909"/>
            <a:ext cx="710353" cy="382092"/>
          </a:xfrm>
          <a:prstGeom prst="rect">
            <a:avLst/>
          </a:prstGeom>
        </p:spPr>
        <p:txBody>
          <a:bodyPr vert="horz" wrap="square" lIns="0" tIns="22860" rIns="0" bIns="0" rtlCol="0">
            <a:spAutoFit/>
          </a:bodyPr>
          <a:lstStyle/>
          <a:p>
            <a:pPr marL="16933">
              <a:spcBef>
                <a:spcPts val="180"/>
              </a:spcBef>
            </a:pPr>
            <a:r>
              <a:rPr sz="2333" dirty="0">
                <a:latin typeface="Lucida Sans Unicode"/>
                <a:cs typeface="Lucida Sans Unicode"/>
              </a:rPr>
              <a:t>V</a:t>
            </a:r>
            <a:r>
              <a:rPr sz="2333" spc="207" dirty="0">
                <a:latin typeface="Lucida Sans Unicode"/>
                <a:cs typeface="Lucida Sans Unicode"/>
              </a:rPr>
              <a:t>  </a:t>
            </a:r>
            <a:r>
              <a:rPr sz="2333" spc="-67" dirty="0">
                <a:latin typeface="Lucida Sans Unicode"/>
                <a:cs typeface="Lucida Sans Unicode"/>
              </a:rPr>
              <a:t>O</a:t>
            </a:r>
            <a:endParaRPr sz="2333">
              <a:latin typeface="Lucida Sans Unicode"/>
              <a:cs typeface="Lucida Sans Unicode"/>
            </a:endParaRPr>
          </a:p>
        </p:txBody>
      </p:sp>
      <p:grpSp>
        <p:nvGrpSpPr>
          <p:cNvPr id="38" name="object 38"/>
          <p:cNvGrpSpPr/>
          <p:nvPr/>
        </p:nvGrpSpPr>
        <p:grpSpPr>
          <a:xfrm>
            <a:off x="1656099" y="2701466"/>
            <a:ext cx="2782147" cy="2746585"/>
            <a:chOff x="1242074" y="2026099"/>
            <a:chExt cx="2086610" cy="2059939"/>
          </a:xfrm>
        </p:grpSpPr>
        <p:sp>
          <p:nvSpPr>
            <p:cNvPr id="39" name="object 39"/>
            <p:cNvSpPr/>
            <p:nvPr/>
          </p:nvSpPr>
          <p:spPr>
            <a:xfrm>
              <a:off x="1242074" y="325344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F65B66">
                <a:alpha val="48728"/>
              </a:srgbClr>
            </a:solidFill>
          </p:spPr>
          <p:txBody>
            <a:bodyPr wrap="square" lIns="0" tIns="0" rIns="0" bIns="0" rtlCol="0"/>
            <a:lstStyle/>
            <a:p>
              <a:endParaRPr sz="2400"/>
            </a:p>
          </p:txBody>
        </p:sp>
        <p:sp>
          <p:nvSpPr>
            <p:cNvPr id="40" name="object 40"/>
            <p:cNvSpPr/>
            <p:nvPr/>
          </p:nvSpPr>
          <p:spPr>
            <a:xfrm>
              <a:off x="2180924" y="3253974"/>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4696AA">
                <a:alpha val="50000"/>
              </a:srgbClr>
            </a:solidFill>
          </p:spPr>
          <p:txBody>
            <a:bodyPr wrap="square" lIns="0" tIns="0" rIns="0" bIns="0" rtlCol="0"/>
            <a:lstStyle/>
            <a:p>
              <a:endParaRPr sz="2400"/>
            </a:p>
          </p:txBody>
        </p:sp>
        <p:sp>
          <p:nvSpPr>
            <p:cNvPr id="41" name="object 41"/>
            <p:cNvSpPr/>
            <p:nvPr/>
          </p:nvSpPr>
          <p:spPr>
            <a:xfrm>
              <a:off x="3118924" y="324979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5AB46E">
                <a:alpha val="49369"/>
              </a:srgbClr>
            </a:solidFill>
          </p:spPr>
          <p:txBody>
            <a:bodyPr wrap="square" lIns="0" tIns="0" rIns="0" bIns="0" rtlCol="0"/>
            <a:lstStyle/>
            <a:p>
              <a:endParaRPr sz="2400"/>
            </a:p>
          </p:txBody>
        </p:sp>
        <p:sp>
          <p:nvSpPr>
            <p:cNvPr id="42" name="object 42"/>
            <p:cNvSpPr/>
            <p:nvPr/>
          </p:nvSpPr>
          <p:spPr>
            <a:xfrm>
              <a:off x="3193449" y="2026099"/>
              <a:ext cx="80010" cy="423545"/>
            </a:xfrm>
            <a:custGeom>
              <a:avLst/>
              <a:gdLst/>
              <a:ahLst/>
              <a:cxnLst/>
              <a:rect l="l" t="t" r="r" b="b"/>
              <a:pathLst>
                <a:path w="80010" h="423544">
                  <a:moveTo>
                    <a:pt x="79799" y="423299"/>
                  </a:moveTo>
                  <a:lnTo>
                    <a:pt x="0" y="423299"/>
                  </a:lnTo>
                  <a:lnTo>
                    <a:pt x="0" y="0"/>
                  </a:lnTo>
                  <a:lnTo>
                    <a:pt x="79799" y="0"/>
                  </a:lnTo>
                  <a:lnTo>
                    <a:pt x="79799" y="423299"/>
                  </a:lnTo>
                  <a:close/>
                </a:path>
              </a:pathLst>
            </a:custGeom>
            <a:solidFill>
              <a:srgbClr val="A12F9D">
                <a:alpha val="50000"/>
              </a:srgbClr>
            </a:solidFill>
          </p:spPr>
          <p:txBody>
            <a:bodyPr wrap="square" lIns="0" tIns="0" rIns="0" bIns="0" rtlCol="0"/>
            <a:lstStyle/>
            <a:p>
              <a:endParaRPr sz="2400"/>
            </a:p>
          </p:txBody>
        </p:sp>
        <p:sp>
          <p:nvSpPr>
            <p:cNvPr id="43" name="object 43"/>
            <p:cNvSpPr/>
            <p:nvPr/>
          </p:nvSpPr>
          <p:spPr>
            <a:xfrm>
              <a:off x="2279499" y="324979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4696AA">
                <a:alpha val="50000"/>
              </a:srgbClr>
            </a:solidFill>
          </p:spPr>
          <p:txBody>
            <a:bodyPr wrap="square" lIns="0" tIns="0" rIns="0" bIns="0" rtlCol="0"/>
            <a:lstStyle/>
            <a:p>
              <a:endParaRPr sz="2400"/>
            </a:p>
          </p:txBody>
        </p:sp>
        <p:sp>
          <p:nvSpPr>
            <p:cNvPr id="44" name="object 44"/>
            <p:cNvSpPr/>
            <p:nvPr/>
          </p:nvSpPr>
          <p:spPr>
            <a:xfrm>
              <a:off x="3217499" y="324979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5AB46E">
                <a:alpha val="49369"/>
              </a:srgbClr>
            </a:solidFill>
          </p:spPr>
          <p:txBody>
            <a:bodyPr wrap="square" lIns="0" tIns="0" rIns="0" bIns="0" rtlCol="0"/>
            <a:lstStyle/>
            <a:p>
              <a:endParaRPr sz="2400"/>
            </a:p>
          </p:txBody>
        </p:sp>
        <p:sp>
          <p:nvSpPr>
            <p:cNvPr id="45" name="object 45"/>
            <p:cNvSpPr/>
            <p:nvPr/>
          </p:nvSpPr>
          <p:spPr>
            <a:xfrm>
              <a:off x="1995099" y="2504749"/>
              <a:ext cx="340360" cy="745490"/>
            </a:xfrm>
            <a:custGeom>
              <a:avLst/>
              <a:gdLst/>
              <a:ahLst/>
              <a:cxnLst/>
              <a:rect l="l" t="t" r="r" b="b"/>
              <a:pathLst>
                <a:path w="340360" h="745489">
                  <a:moveTo>
                    <a:pt x="339899" y="745049"/>
                  </a:moveTo>
                  <a:lnTo>
                    <a:pt x="339899" y="459322"/>
                  </a:lnTo>
                  <a:lnTo>
                    <a:pt x="0" y="459322"/>
                  </a:lnTo>
                  <a:lnTo>
                    <a:pt x="0" y="0"/>
                  </a:lnTo>
                </a:path>
              </a:pathLst>
            </a:custGeom>
            <a:ln w="9524">
              <a:solidFill>
                <a:srgbClr val="595959"/>
              </a:solidFill>
            </a:ln>
          </p:spPr>
          <p:txBody>
            <a:bodyPr wrap="square" lIns="0" tIns="0" rIns="0" bIns="0" rtlCol="0"/>
            <a:lstStyle/>
            <a:p>
              <a:endParaRPr sz="2400"/>
            </a:p>
          </p:txBody>
        </p:sp>
        <p:sp>
          <p:nvSpPr>
            <p:cNvPr id="46" name="object 46"/>
            <p:cNvSpPr/>
            <p:nvPr/>
          </p:nvSpPr>
          <p:spPr>
            <a:xfrm>
              <a:off x="1979367" y="2461524"/>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595959"/>
            </a:solidFill>
          </p:spPr>
          <p:txBody>
            <a:bodyPr wrap="square" lIns="0" tIns="0" rIns="0" bIns="0" rtlCol="0"/>
            <a:lstStyle/>
            <a:p>
              <a:endParaRPr sz="2400"/>
            </a:p>
          </p:txBody>
        </p:sp>
        <p:sp>
          <p:nvSpPr>
            <p:cNvPr id="47" name="object 47"/>
            <p:cNvSpPr/>
            <p:nvPr/>
          </p:nvSpPr>
          <p:spPr>
            <a:xfrm>
              <a:off x="1979367" y="2461524"/>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595959"/>
              </a:solidFill>
            </a:ln>
          </p:spPr>
          <p:txBody>
            <a:bodyPr wrap="square" lIns="0" tIns="0" rIns="0" bIns="0" rtlCol="0"/>
            <a:lstStyle/>
            <a:p>
              <a:endParaRPr sz="2400"/>
            </a:p>
          </p:txBody>
        </p:sp>
        <p:sp>
          <p:nvSpPr>
            <p:cNvPr id="48" name="object 48"/>
            <p:cNvSpPr/>
            <p:nvPr/>
          </p:nvSpPr>
          <p:spPr>
            <a:xfrm>
              <a:off x="3014099" y="2505649"/>
              <a:ext cx="259079" cy="744220"/>
            </a:xfrm>
            <a:custGeom>
              <a:avLst/>
              <a:gdLst/>
              <a:ahLst/>
              <a:cxnLst/>
              <a:rect l="l" t="t" r="r" b="b"/>
              <a:pathLst>
                <a:path w="259079" h="744219">
                  <a:moveTo>
                    <a:pt x="258899" y="744149"/>
                  </a:moveTo>
                  <a:lnTo>
                    <a:pt x="258899" y="451699"/>
                  </a:lnTo>
                  <a:lnTo>
                    <a:pt x="0" y="451699"/>
                  </a:lnTo>
                  <a:lnTo>
                    <a:pt x="0" y="0"/>
                  </a:lnTo>
                </a:path>
              </a:pathLst>
            </a:custGeom>
            <a:ln w="9524">
              <a:solidFill>
                <a:srgbClr val="595959"/>
              </a:solidFill>
            </a:ln>
          </p:spPr>
          <p:txBody>
            <a:bodyPr wrap="square" lIns="0" tIns="0" rIns="0" bIns="0" rtlCol="0"/>
            <a:lstStyle/>
            <a:p>
              <a:endParaRPr sz="2400"/>
            </a:p>
          </p:txBody>
        </p:sp>
        <p:sp>
          <p:nvSpPr>
            <p:cNvPr id="49" name="object 49"/>
            <p:cNvSpPr/>
            <p:nvPr/>
          </p:nvSpPr>
          <p:spPr>
            <a:xfrm>
              <a:off x="2998367" y="2462424"/>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595959"/>
            </a:solidFill>
          </p:spPr>
          <p:txBody>
            <a:bodyPr wrap="square" lIns="0" tIns="0" rIns="0" bIns="0" rtlCol="0"/>
            <a:lstStyle/>
            <a:p>
              <a:endParaRPr sz="2400"/>
            </a:p>
          </p:txBody>
        </p:sp>
        <p:sp>
          <p:nvSpPr>
            <p:cNvPr id="50" name="object 50"/>
            <p:cNvSpPr/>
            <p:nvPr/>
          </p:nvSpPr>
          <p:spPr>
            <a:xfrm>
              <a:off x="2998367" y="2462424"/>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595959"/>
              </a:solidFill>
            </a:ln>
          </p:spPr>
          <p:txBody>
            <a:bodyPr wrap="square" lIns="0" tIns="0" rIns="0" bIns="0" rtlCol="0"/>
            <a:lstStyle/>
            <a:p>
              <a:endParaRPr sz="2400"/>
            </a:p>
          </p:txBody>
        </p:sp>
      </p:grpSp>
    </p:spTree>
    <p:extLst>
      <p:ext uri="{BB962C8B-B14F-4D97-AF65-F5344CB8AC3E}">
        <p14:creationId xmlns:p14="http://schemas.microsoft.com/office/powerpoint/2010/main" val="4534194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1667" y="4277386"/>
            <a:ext cx="850053" cy="341184"/>
          </a:xfrm>
          <a:prstGeom prst="rect">
            <a:avLst/>
          </a:prstGeom>
        </p:spPr>
        <p:txBody>
          <a:bodyPr vert="horz" wrap="square" lIns="0" tIns="22860" rIns="0" bIns="0" rtlCol="0">
            <a:spAutoFit/>
          </a:bodyPr>
          <a:lstStyle/>
          <a:p>
            <a:pPr marL="16933">
              <a:spcBef>
                <a:spcPts val="180"/>
              </a:spcBef>
            </a:pPr>
            <a:r>
              <a:rPr sz="2067" spc="-73" dirty="0">
                <a:solidFill>
                  <a:srgbClr val="257693"/>
                </a:solidFill>
                <a:latin typeface="Arial Black"/>
                <a:cs typeface="Arial Black"/>
              </a:rPr>
              <a:t>VRAM</a:t>
            </a:r>
            <a:endParaRPr sz="2067">
              <a:latin typeface="Arial Black"/>
              <a:cs typeface="Arial Black"/>
            </a:endParaRPr>
          </a:p>
        </p:txBody>
      </p:sp>
      <p:grpSp>
        <p:nvGrpSpPr>
          <p:cNvPr id="3" name="object 3"/>
          <p:cNvGrpSpPr/>
          <p:nvPr/>
        </p:nvGrpSpPr>
        <p:grpSpPr>
          <a:xfrm>
            <a:off x="1641267" y="4318235"/>
            <a:ext cx="3640667" cy="1139613"/>
            <a:chOff x="1230950" y="3238676"/>
            <a:chExt cx="2730500" cy="854710"/>
          </a:xfrm>
        </p:grpSpPr>
        <p:sp>
          <p:nvSpPr>
            <p:cNvPr id="4" name="object 4"/>
            <p:cNvSpPr/>
            <p:nvPr/>
          </p:nvSpPr>
          <p:spPr>
            <a:xfrm>
              <a:off x="2180072" y="3249801"/>
              <a:ext cx="832485" cy="832485"/>
            </a:xfrm>
            <a:custGeom>
              <a:avLst/>
              <a:gdLst/>
              <a:ahLst/>
              <a:cxnLst/>
              <a:rect l="l" t="t" r="r" b="b"/>
              <a:pathLst>
                <a:path w="832485" h="832485">
                  <a:moveTo>
                    <a:pt x="0" y="0"/>
                  </a:moveTo>
                  <a:lnTo>
                    <a:pt x="831899" y="0"/>
                  </a:lnTo>
                  <a:lnTo>
                    <a:pt x="831899" y="831899"/>
                  </a:lnTo>
                  <a:lnTo>
                    <a:pt x="0" y="831899"/>
                  </a:lnTo>
                  <a:lnTo>
                    <a:pt x="0" y="0"/>
                  </a:lnTo>
                  <a:close/>
                </a:path>
              </a:pathLst>
            </a:custGeom>
            <a:ln w="21649">
              <a:solidFill>
                <a:srgbClr val="4696AA"/>
              </a:solidFill>
            </a:ln>
          </p:spPr>
          <p:txBody>
            <a:bodyPr wrap="square" lIns="0" tIns="0" rIns="0" bIns="0" rtlCol="0"/>
            <a:lstStyle/>
            <a:p>
              <a:endParaRPr sz="2400"/>
            </a:p>
          </p:txBody>
        </p:sp>
        <p:sp>
          <p:nvSpPr>
            <p:cNvPr id="5" name="object 5"/>
            <p:cNvSpPr/>
            <p:nvPr/>
          </p:nvSpPr>
          <p:spPr>
            <a:xfrm>
              <a:off x="2291249" y="3249801"/>
              <a:ext cx="617220" cy="838200"/>
            </a:xfrm>
            <a:custGeom>
              <a:avLst/>
              <a:gdLst/>
              <a:ahLst/>
              <a:cxnLst/>
              <a:rect l="l" t="t" r="r" b="b"/>
              <a:pathLst>
                <a:path w="617219" h="838200">
                  <a:moveTo>
                    <a:pt x="304773" y="0"/>
                  </a:moveTo>
                  <a:lnTo>
                    <a:pt x="304773" y="831899"/>
                  </a:lnTo>
                </a:path>
                <a:path w="617219" h="838200">
                  <a:moveTo>
                    <a:pt x="512673" y="0"/>
                  </a:moveTo>
                  <a:lnTo>
                    <a:pt x="512673" y="831899"/>
                  </a:lnTo>
                </a:path>
                <a:path w="617219" h="838200">
                  <a:moveTo>
                    <a:pt x="206169" y="5974"/>
                  </a:moveTo>
                  <a:lnTo>
                    <a:pt x="206169" y="837874"/>
                  </a:lnTo>
                </a:path>
                <a:path w="617219" h="838200">
                  <a:moveTo>
                    <a:pt x="107623" y="5961"/>
                  </a:moveTo>
                  <a:lnTo>
                    <a:pt x="107623" y="837861"/>
                  </a:lnTo>
                </a:path>
                <a:path w="617219" h="838200">
                  <a:moveTo>
                    <a:pt x="0" y="0"/>
                  </a:moveTo>
                  <a:lnTo>
                    <a:pt x="0" y="831899"/>
                  </a:lnTo>
                </a:path>
                <a:path w="617219" h="838200">
                  <a:moveTo>
                    <a:pt x="408723" y="0"/>
                  </a:moveTo>
                  <a:lnTo>
                    <a:pt x="408723" y="831899"/>
                  </a:lnTo>
                </a:path>
                <a:path w="617219"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6" name="object 6"/>
            <p:cNvSpPr/>
            <p:nvPr/>
          </p:nvSpPr>
          <p:spPr>
            <a:xfrm>
              <a:off x="3118085" y="3249788"/>
              <a:ext cx="832485" cy="832485"/>
            </a:xfrm>
            <a:custGeom>
              <a:avLst/>
              <a:gdLst/>
              <a:ahLst/>
              <a:cxnLst/>
              <a:rect l="l" t="t" r="r" b="b"/>
              <a:pathLst>
                <a:path w="832485" h="832485">
                  <a:moveTo>
                    <a:pt x="0" y="0"/>
                  </a:moveTo>
                  <a:lnTo>
                    <a:pt x="831899" y="0"/>
                  </a:lnTo>
                  <a:lnTo>
                    <a:pt x="831899" y="831899"/>
                  </a:lnTo>
                  <a:lnTo>
                    <a:pt x="0" y="831899"/>
                  </a:lnTo>
                  <a:lnTo>
                    <a:pt x="0" y="0"/>
                  </a:lnTo>
                  <a:close/>
                </a:path>
              </a:pathLst>
            </a:custGeom>
            <a:ln w="21649">
              <a:solidFill>
                <a:srgbClr val="5AB46E"/>
              </a:solidFill>
            </a:ln>
          </p:spPr>
          <p:txBody>
            <a:bodyPr wrap="square" lIns="0" tIns="0" rIns="0" bIns="0" rtlCol="0"/>
            <a:lstStyle/>
            <a:p>
              <a:endParaRPr sz="2400"/>
            </a:p>
          </p:txBody>
        </p:sp>
        <p:sp>
          <p:nvSpPr>
            <p:cNvPr id="7" name="object 7"/>
            <p:cNvSpPr/>
            <p:nvPr/>
          </p:nvSpPr>
          <p:spPr>
            <a:xfrm>
              <a:off x="3229261" y="3249788"/>
              <a:ext cx="617220" cy="838200"/>
            </a:xfrm>
            <a:custGeom>
              <a:avLst/>
              <a:gdLst/>
              <a:ahLst/>
              <a:cxnLst/>
              <a:rect l="l" t="t" r="r" b="b"/>
              <a:pathLst>
                <a:path w="617220" h="838200">
                  <a:moveTo>
                    <a:pt x="304773" y="0"/>
                  </a:moveTo>
                  <a:lnTo>
                    <a:pt x="304773" y="831899"/>
                  </a:lnTo>
                </a:path>
                <a:path w="617220" h="838200">
                  <a:moveTo>
                    <a:pt x="512673" y="0"/>
                  </a:moveTo>
                  <a:lnTo>
                    <a:pt x="512673" y="831899"/>
                  </a:lnTo>
                </a:path>
                <a:path w="617220" h="838200">
                  <a:moveTo>
                    <a:pt x="206169" y="5974"/>
                  </a:moveTo>
                  <a:lnTo>
                    <a:pt x="206169" y="837874"/>
                  </a:lnTo>
                </a:path>
                <a:path w="617220" h="838200">
                  <a:moveTo>
                    <a:pt x="107623" y="5961"/>
                  </a:moveTo>
                  <a:lnTo>
                    <a:pt x="107623" y="837861"/>
                  </a:lnTo>
                </a:path>
                <a:path w="617220" h="838200">
                  <a:moveTo>
                    <a:pt x="0" y="0"/>
                  </a:moveTo>
                  <a:lnTo>
                    <a:pt x="0" y="831899"/>
                  </a:lnTo>
                </a:path>
                <a:path w="617220" h="838200">
                  <a:moveTo>
                    <a:pt x="408723" y="0"/>
                  </a:moveTo>
                  <a:lnTo>
                    <a:pt x="408723" y="831899"/>
                  </a:lnTo>
                </a:path>
                <a:path w="617220"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8" name="object 8"/>
            <p:cNvSpPr/>
            <p:nvPr/>
          </p:nvSpPr>
          <p:spPr>
            <a:xfrm>
              <a:off x="1242062" y="3249876"/>
              <a:ext cx="832485" cy="832485"/>
            </a:xfrm>
            <a:custGeom>
              <a:avLst/>
              <a:gdLst/>
              <a:ahLst/>
              <a:cxnLst/>
              <a:rect l="l" t="t" r="r" b="b"/>
              <a:pathLst>
                <a:path w="832485" h="832485">
                  <a:moveTo>
                    <a:pt x="0" y="0"/>
                  </a:moveTo>
                  <a:lnTo>
                    <a:pt x="831900" y="0"/>
                  </a:lnTo>
                  <a:lnTo>
                    <a:pt x="831900" y="831899"/>
                  </a:lnTo>
                  <a:lnTo>
                    <a:pt x="0" y="831899"/>
                  </a:lnTo>
                  <a:lnTo>
                    <a:pt x="0" y="0"/>
                  </a:lnTo>
                  <a:close/>
                </a:path>
              </a:pathLst>
            </a:custGeom>
            <a:ln w="21649">
              <a:solidFill>
                <a:srgbClr val="F65B66"/>
              </a:solidFill>
            </a:ln>
          </p:spPr>
          <p:txBody>
            <a:bodyPr wrap="square" lIns="0" tIns="0" rIns="0" bIns="0" rtlCol="0"/>
            <a:lstStyle/>
            <a:p>
              <a:endParaRPr sz="2400"/>
            </a:p>
          </p:txBody>
        </p:sp>
      </p:grpSp>
      <p:sp>
        <p:nvSpPr>
          <p:cNvPr id="9" name="object 9"/>
          <p:cNvSpPr txBox="1"/>
          <p:nvPr/>
        </p:nvSpPr>
        <p:spPr>
          <a:xfrm>
            <a:off x="1951145" y="4476679"/>
            <a:ext cx="2986193" cy="761747"/>
          </a:xfrm>
          <a:prstGeom prst="rect">
            <a:avLst/>
          </a:prstGeom>
        </p:spPr>
        <p:txBody>
          <a:bodyPr vert="horz" wrap="square" lIns="0" tIns="22860" rIns="0" bIns="0" rtlCol="0">
            <a:spAutoFit/>
          </a:bodyPr>
          <a:lstStyle/>
          <a:p>
            <a:pPr marL="16933">
              <a:spcBef>
                <a:spcPts val="180"/>
              </a:spcBef>
              <a:tabLst>
                <a:tab pos="1325000" algn="l"/>
                <a:tab pos="2552636" algn="l"/>
              </a:tabLst>
            </a:pPr>
            <a:r>
              <a:rPr sz="4800" spc="7" dirty="0">
                <a:latin typeface="Lucida Sans Unicode"/>
                <a:cs typeface="Lucida Sans Unicode"/>
              </a:rPr>
              <a:t>Q</a:t>
            </a:r>
            <a:r>
              <a:rPr sz="4800" dirty="0">
                <a:latin typeface="Lucida Sans Unicode"/>
                <a:cs typeface="Lucida Sans Unicode"/>
              </a:rPr>
              <a:t>	</a:t>
            </a:r>
            <a:r>
              <a:rPr sz="4800" spc="-67" dirty="0">
                <a:latin typeface="Lucida Sans Unicode"/>
                <a:cs typeface="Lucida Sans Unicode"/>
              </a:rPr>
              <a:t>K</a:t>
            </a:r>
            <a:r>
              <a:rPr sz="4800" dirty="0">
                <a:latin typeface="Lucida Sans Unicode"/>
                <a:cs typeface="Lucida Sans Unicode"/>
              </a:rPr>
              <a:t>	</a:t>
            </a:r>
            <a:r>
              <a:rPr sz="4800" spc="53" dirty="0">
                <a:latin typeface="Lucida Sans Unicode"/>
                <a:cs typeface="Lucida Sans Unicode"/>
              </a:rPr>
              <a:t>V</a:t>
            </a:r>
            <a:endParaRPr sz="4800">
              <a:latin typeface="Lucida Sans Unicode"/>
              <a:cs typeface="Lucida Sans Unicode"/>
            </a:endParaRPr>
          </a:p>
        </p:txBody>
      </p:sp>
      <p:sp>
        <p:nvSpPr>
          <p:cNvPr id="10" name="object 10" descr="$PPTXTitle"/>
          <p:cNvSpPr txBox="1">
            <a:spLocks noGrp="1"/>
          </p:cNvSpPr>
          <p:nvPr>
            <p:ph type="title"/>
          </p:nvPr>
        </p:nvSpPr>
        <p:spPr>
          <a:xfrm>
            <a:off x="309316" y="671823"/>
            <a:ext cx="9236881" cy="509541"/>
          </a:xfrm>
          <a:prstGeom prst="rect">
            <a:avLst/>
          </a:prstGeom>
        </p:spPr>
        <p:txBody>
          <a:bodyPr vert="horz" wrap="square" lIns="0" tIns="16933" rIns="0" bIns="0" rtlCol="0" anchor="ctr">
            <a:spAutoFit/>
          </a:bodyPr>
          <a:lstStyle/>
          <a:p>
            <a:pPr marL="279393">
              <a:spcBef>
                <a:spcPts val="133"/>
              </a:spcBef>
            </a:pPr>
            <a:r>
              <a:rPr dirty="0"/>
              <a:t>Flash</a:t>
            </a:r>
            <a:r>
              <a:rPr spc="80" dirty="0"/>
              <a:t> </a:t>
            </a:r>
            <a:r>
              <a:rPr spc="-13" dirty="0"/>
              <a:t>attention</a:t>
            </a:r>
          </a:p>
        </p:txBody>
      </p:sp>
      <p:grpSp>
        <p:nvGrpSpPr>
          <p:cNvPr id="11" name="object 11"/>
          <p:cNvGrpSpPr/>
          <p:nvPr/>
        </p:nvGrpSpPr>
        <p:grpSpPr>
          <a:xfrm>
            <a:off x="1797969" y="1482559"/>
            <a:ext cx="3258820" cy="3974253"/>
            <a:chOff x="1348476" y="1111919"/>
            <a:chExt cx="2444115" cy="2980690"/>
          </a:xfrm>
        </p:grpSpPr>
        <p:sp>
          <p:nvSpPr>
            <p:cNvPr id="12" name="object 12"/>
            <p:cNvSpPr/>
            <p:nvPr/>
          </p:nvSpPr>
          <p:spPr>
            <a:xfrm>
              <a:off x="1353239" y="3249876"/>
              <a:ext cx="617220" cy="838200"/>
            </a:xfrm>
            <a:custGeom>
              <a:avLst/>
              <a:gdLst/>
              <a:ahLst/>
              <a:cxnLst/>
              <a:rect l="l" t="t" r="r" b="b"/>
              <a:pathLst>
                <a:path w="617219" h="838200">
                  <a:moveTo>
                    <a:pt x="304773" y="0"/>
                  </a:moveTo>
                  <a:lnTo>
                    <a:pt x="304773" y="831899"/>
                  </a:lnTo>
                </a:path>
                <a:path w="617219" h="838200">
                  <a:moveTo>
                    <a:pt x="512673" y="0"/>
                  </a:moveTo>
                  <a:lnTo>
                    <a:pt x="512673" y="831899"/>
                  </a:lnTo>
                </a:path>
                <a:path w="617219" h="838200">
                  <a:moveTo>
                    <a:pt x="206169" y="5974"/>
                  </a:moveTo>
                  <a:lnTo>
                    <a:pt x="206169" y="837874"/>
                  </a:lnTo>
                </a:path>
                <a:path w="617219" h="838200">
                  <a:moveTo>
                    <a:pt x="107623" y="5961"/>
                  </a:moveTo>
                  <a:lnTo>
                    <a:pt x="107623" y="837861"/>
                  </a:lnTo>
                </a:path>
                <a:path w="617219" h="838200">
                  <a:moveTo>
                    <a:pt x="0" y="0"/>
                  </a:moveTo>
                  <a:lnTo>
                    <a:pt x="0" y="831899"/>
                  </a:lnTo>
                </a:path>
                <a:path w="617219" h="838200">
                  <a:moveTo>
                    <a:pt x="408723" y="0"/>
                  </a:moveTo>
                  <a:lnTo>
                    <a:pt x="408723" y="831899"/>
                  </a:lnTo>
                </a:path>
                <a:path w="617219"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13" name="object 13"/>
            <p:cNvSpPr/>
            <p:nvPr/>
          </p:nvSpPr>
          <p:spPr>
            <a:xfrm>
              <a:off x="1626408" y="1118269"/>
              <a:ext cx="2160270" cy="299085"/>
            </a:xfrm>
            <a:custGeom>
              <a:avLst/>
              <a:gdLst/>
              <a:ahLst/>
              <a:cxnLst/>
              <a:rect l="l" t="t" r="r" b="b"/>
              <a:pathLst>
                <a:path w="2160270" h="299084">
                  <a:moveTo>
                    <a:pt x="0" y="298954"/>
                  </a:moveTo>
                  <a:lnTo>
                    <a:pt x="2159740" y="298954"/>
                  </a:lnTo>
                  <a:lnTo>
                    <a:pt x="2159740" y="0"/>
                  </a:lnTo>
                  <a:lnTo>
                    <a:pt x="0" y="0"/>
                  </a:lnTo>
                  <a:lnTo>
                    <a:pt x="0" y="298954"/>
                  </a:lnTo>
                  <a:close/>
                </a:path>
              </a:pathLst>
            </a:custGeom>
            <a:solidFill>
              <a:srgbClr val="F4C4D1"/>
            </a:solidFill>
          </p:spPr>
          <p:txBody>
            <a:bodyPr wrap="square" lIns="0" tIns="0" rIns="0" bIns="0" rtlCol="0"/>
            <a:lstStyle/>
            <a:p>
              <a:endParaRPr sz="2400"/>
            </a:p>
          </p:txBody>
        </p:sp>
        <p:sp>
          <p:nvSpPr>
            <p:cNvPr id="14" name="object 14"/>
            <p:cNvSpPr/>
            <p:nvPr/>
          </p:nvSpPr>
          <p:spPr>
            <a:xfrm>
              <a:off x="1626408" y="1118269"/>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15" name="object 15"/>
            <p:cNvSpPr/>
            <p:nvPr/>
          </p:nvSpPr>
          <p:spPr>
            <a:xfrm>
              <a:off x="3685387" y="1417224"/>
              <a:ext cx="100965" cy="1225550"/>
            </a:xfrm>
            <a:custGeom>
              <a:avLst/>
              <a:gdLst/>
              <a:ahLst/>
              <a:cxnLst/>
              <a:rect l="l" t="t" r="r" b="b"/>
              <a:pathLst>
                <a:path w="100964" h="1225550">
                  <a:moveTo>
                    <a:pt x="0" y="1225411"/>
                  </a:moveTo>
                  <a:lnTo>
                    <a:pt x="100786" y="1225411"/>
                  </a:lnTo>
                  <a:lnTo>
                    <a:pt x="100786" y="0"/>
                  </a:lnTo>
                  <a:lnTo>
                    <a:pt x="0" y="0"/>
                  </a:lnTo>
                  <a:lnTo>
                    <a:pt x="0" y="1225411"/>
                  </a:lnTo>
                  <a:close/>
                </a:path>
              </a:pathLst>
            </a:custGeom>
            <a:solidFill>
              <a:srgbClr val="EBFAFF"/>
            </a:solidFill>
          </p:spPr>
          <p:txBody>
            <a:bodyPr wrap="square" lIns="0" tIns="0" rIns="0" bIns="0" rtlCol="0"/>
            <a:lstStyle/>
            <a:p>
              <a:endParaRPr sz="2400"/>
            </a:p>
          </p:txBody>
        </p:sp>
        <p:sp>
          <p:nvSpPr>
            <p:cNvPr id="16" name="object 16"/>
            <p:cNvSpPr/>
            <p:nvPr/>
          </p:nvSpPr>
          <p:spPr>
            <a:xfrm>
              <a:off x="1626434" y="1417224"/>
              <a:ext cx="2160270" cy="1225550"/>
            </a:xfrm>
            <a:custGeom>
              <a:avLst/>
              <a:gdLst/>
              <a:ahLst/>
              <a:cxnLst/>
              <a:rect l="l" t="t" r="r" b="b"/>
              <a:pathLst>
                <a:path w="2160270" h="1225550">
                  <a:moveTo>
                    <a:pt x="2159740" y="0"/>
                  </a:moveTo>
                  <a:lnTo>
                    <a:pt x="2159740" y="1225411"/>
                  </a:lnTo>
                  <a:lnTo>
                    <a:pt x="0" y="1225411"/>
                  </a:lnTo>
                  <a:lnTo>
                    <a:pt x="0" y="0"/>
                  </a:lnTo>
                  <a:lnTo>
                    <a:pt x="2159740" y="0"/>
                  </a:lnTo>
                  <a:close/>
                </a:path>
              </a:pathLst>
            </a:custGeom>
            <a:ln w="12599">
              <a:solidFill>
                <a:srgbClr val="237A94"/>
              </a:solidFill>
            </a:ln>
          </p:spPr>
          <p:txBody>
            <a:bodyPr wrap="square" lIns="0" tIns="0" rIns="0" bIns="0" rtlCol="0"/>
            <a:lstStyle/>
            <a:p>
              <a:endParaRPr sz="2400"/>
            </a:p>
          </p:txBody>
        </p:sp>
        <p:sp>
          <p:nvSpPr>
            <p:cNvPr id="17" name="object 17"/>
            <p:cNvSpPr/>
            <p:nvPr/>
          </p:nvSpPr>
          <p:spPr>
            <a:xfrm>
              <a:off x="1525647" y="1219030"/>
              <a:ext cx="2160270" cy="300355"/>
            </a:xfrm>
            <a:custGeom>
              <a:avLst/>
              <a:gdLst/>
              <a:ahLst/>
              <a:cxnLst/>
              <a:rect l="l" t="t" r="r" b="b"/>
              <a:pathLst>
                <a:path w="2160270" h="300355">
                  <a:moveTo>
                    <a:pt x="0" y="300246"/>
                  </a:moveTo>
                  <a:lnTo>
                    <a:pt x="2159740" y="300246"/>
                  </a:lnTo>
                  <a:lnTo>
                    <a:pt x="2159740" y="0"/>
                  </a:lnTo>
                  <a:lnTo>
                    <a:pt x="0" y="0"/>
                  </a:lnTo>
                  <a:lnTo>
                    <a:pt x="0" y="300246"/>
                  </a:lnTo>
                  <a:close/>
                </a:path>
              </a:pathLst>
            </a:custGeom>
            <a:solidFill>
              <a:srgbClr val="F4C4D1"/>
            </a:solidFill>
          </p:spPr>
          <p:txBody>
            <a:bodyPr wrap="square" lIns="0" tIns="0" rIns="0" bIns="0" rtlCol="0"/>
            <a:lstStyle/>
            <a:p>
              <a:endParaRPr sz="2400"/>
            </a:p>
          </p:txBody>
        </p:sp>
        <p:sp>
          <p:nvSpPr>
            <p:cNvPr id="18" name="object 18"/>
            <p:cNvSpPr/>
            <p:nvPr/>
          </p:nvSpPr>
          <p:spPr>
            <a:xfrm>
              <a:off x="1525647" y="1219030"/>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19" name="object 19"/>
            <p:cNvSpPr/>
            <p:nvPr/>
          </p:nvSpPr>
          <p:spPr>
            <a:xfrm>
              <a:off x="3584627" y="1519276"/>
              <a:ext cx="100965" cy="1224915"/>
            </a:xfrm>
            <a:custGeom>
              <a:avLst/>
              <a:gdLst/>
              <a:ahLst/>
              <a:cxnLst/>
              <a:rect l="l" t="t" r="r" b="b"/>
              <a:pathLst>
                <a:path w="100964" h="1224914">
                  <a:moveTo>
                    <a:pt x="0" y="1224414"/>
                  </a:moveTo>
                  <a:lnTo>
                    <a:pt x="100797" y="1224414"/>
                  </a:lnTo>
                  <a:lnTo>
                    <a:pt x="100797" y="0"/>
                  </a:lnTo>
                  <a:lnTo>
                    <a:pt x="0" y="0"/>
                  </a:lnTo>
                  <a:lnTo>
                    <a:pt x="0" y="1224414"/>
                  </a:lnTo>
                  <a:close/>
                </a:path>
              </a:pathLst>
            </a:custGeom>
            <a:solidFill>
              <a:srgbClr val="EBFAFF"/>
            </a:solidFill>
          </p:spPr>
          <p:txBody>
            <a:bodyPr wrap="square" lIns="0" tIns="0" rIns="0" bIns="0" rtlCol="0"/>
            <a:lstStyle/>
            <a:p>
              <a:endParaRPr sz="2400"/>
            </a:p>
          </p:txBody>
        </p:sp>
        <p:sp>
          <p:nvSpPr>
            <p:cNvPr id="20" name="object 20"/>
            <p:cNvSpPr/>
            <p:nvPr/>
          </p:nvSpPr>
          <p:spPr>
            <a:xfrm>
              <a:off x="1525684" y="1519276"/>
              <a:ext cx="2160270" cy="1224915"/>
            </a:xfrm>
            <a:custGeom>
              <a:avLst/>
              <a:gdLst/>
              <a:ahLst/>
              <a:cxnLst/>
              <a:rect l="l" t="t" r="r" b="b"/>
              <a:pathLst>
                <a:path w="2160270" h="1224914">
                  <a:moveTo>
                    <a:pt x="2159740" y="0"/>
                  </a:moveTo>
                  <a:lnTo>
                    <a:pt x="2159740" y="1224414"/>
                  </a:lnTo>
                  <a:lnTo>
                    <a:pt x="0" y="1224414"/>
                  </a:lnTo>
                  <a:lnTo>
                    <a:pt x="0" y="0"/>
                  </a:lnTo>
                  <a:lnTo>
                    <a:pt x="2159740" y="0"/>
                  </a:lnTo>
                  <a:close/>
                </a:path>
              </a:pathLst>
            </a:custGeom>
            <a:ln w="12599">
              <a:solidFill>
                <a:srgbClr val="237A94"/>
              </a:solidFill>
            </a:ln>
          </p:spPr>
          <p:txBody>
            <a:bodyPr wrap="square" lIns="0" tIns="0" rIns="0" bIns="0" rtlCol="0"/>
            <a:lstStyle/>
            <a:p>
              <a:endParaRPr sz="2400"/>
            </a:p>
          </p:txBody>
        </p:sp>
        <p:sp>
          <p:nvSpPr>
            <p:cNvPr id="21" name="object 21"/>
            <p:cNvSpPr/>
            <p:nvPr/>
          </p:nvSpPr>
          <p:spPr>
            <a:xfrm>
              <a:off x="1424886" y="1319791"/>
              <a:ext cx="2160270" cy="298450"/>
            </a:xfrm>
            <a:custGeom>
              <a:avLst/>
              <a:gdLst/>
              <a:ahLst/>
              <a:cxnLst/>
              <a:rect l="l" t="t" r="r" b="b"/>
              <a:pathLst>
                <a:path w="2160270" h="298450">
                  <a:moveTo>
                    <a:pt x="0" y="298333"/>
                  </a:moveTo>
                  <a:lnTo>
                    <a:pt x="2159740" y="298333"/>
                  </a:lnTo>
                  <a:lnTo>
                    <a:pt x="2159740" y="0"/>
                  </a:lnTo>
                  <a:lnTo>
                    <a:pt x="0" y="0"/>
                  </a:lnTo>
                  <a:lnTo>
                    <a:pt x="0" y="298333"/>
                  </a:lnTo>
                  <a:close/>
                </a:path>
              </a:pathLst>
            </a:custGeom>
            <a:solidFill>
              <a:srgbClr val="F4C4D1"/>
            </a:solidFill>
          </p:spPr>
          <p:txBody>
            <a:bodyPr wrap="square" lIns="0" tIns="0" rIns="0" bIns="0" rtlCol="0"/>
            <a:lstStyle/>
            <a:p>
              <a:endParaRPr sz="2400"/>
            </a:p>
          </p:txBody>
        </p:sp>
        <p:sp>
          <p:nvSpPr>
            <p:cNvPr id="22" name="object 22"/>
            <p:cNvSpPr/>
            <p:nvPr/>
          </p:nvSpPr>
          <p:spPr>
            <a:xfrm>
              <a:off x="1424886" y="1319791"/>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23" name="object 23"/>
            <p:cNvSpPr/>
            <p:nvPr/>
          </p:nvSpPr>
          <p:spPr>
            <a:xfrm>
              <a:off x="1424909" y="1618124"/>
              <a:ext cx="2160270" cy="1226820"/>
            </a:xfrm>
            <a:custGeom>
              <a:avLst/>
              <a:gdLst/>
              <a:ahLst/>
              <a:cxnLst/>
              <a:rect l="l" t="t" r="r" b="b"/>
              <a:pathLst>
                <a:path w="2160270" h="1226820">
                  <a:moveTo>
                    <a:pt x="2159740" y="1226408"/>
                  </a:moveTo>
                  <a:lnTo>
                    <a:pt x="0" y="1226408"/>
                  </a:lnTo>
                  <a:lnTo>
                    <a:pt x="0" y="0"/>
                  </a:lnTo>
                  <a:lnTo>
                    <a:pt x="2159740" y="0"/>
                  </a:lnTo>
                  <a:lnTo>
                    <a:pt x="2159740" y="1226408"/>
                  </a:lnTo>
                  <a:close/>
                </a:path>
              </a:pathLst>
            </a:custGeom>
            <a:solidFill>
              <a:srgbClr val="EBFAFF"/>
            </a:solidFill>
          </p:spPr>
          <p:txBody>
            <a:bodyPr wrap="square" lIns="0" tIns="0" rIns="0" bIns="0" rtlCol="0"/>
            <a:lstStyle/>
            <a:p>
              <a:endParaRPr sz="2400"/>
            </a:p>
          </p:txBody>
        </p:sp>
        <p:sp>
          <p:nvSpPr>
            <p:cNvPr id="24" name="object 24"/>
            <p:cNvSpPr/>
            <p:nvPr/>
          </p:nvSpPr>
          <p:spPr>
            <a:xfrm>
              <a:off x="1424909" y="1618124"/>
              <a:ext cx="2160270" cy="1226820"/>
            </a:xfrm>
            <a:custGeom>
              <a:avLst/>
              <a:gdLst/>
              <a:ahLst/>
              <a:cxnLst/>
              <a:rect l="l" t="t" r="r" b="b"/>
              <a:pathLst>
                <a:path w="2160270" h="1226820">
                  <a:moveTo>
                    <a:pt x="2159740" y="0"/>
                  </a:moveTo>
                  <a:lnTo>
                    <a:pt x="2159740" y="1226408"/>
                  </a:lnTo>
                  <a:lnTo>
                    <a:pt x="0" y="1226408"/>
                  </a:lnTo>
                  <a:lnTo>
                    <a:pt x="0" y="0"/>
                  </a:lnTo>
                  <a:lnTo>
                    <a:pt x="2159740" y="0"/>
                  </a:lnTo>
                  <a:close/>
                </a:path>
              </a:pathLst>
            </a:custGeom>
            <a:ln w="12599">
              <a:solidFill>
                <a:srgbClr val="237A94"/>
              </a:solidFill>
            </a:ln>
          </p:spPr>
          <p:txBody>
            <a:bodyPr wrap="square" lIns="0" tIns="0" rIns="0" bIns="0" rtlCol="0"/>
            <a:lstStyle/>
            <a:p>
              <a:endParaRPr sz="2400"/>
            </a:p>
          </p:txBody>
        </p:sp>
      </p:grpSp>
      <p:sp>
        <p:nvSpPr>
          <p:cNvPr id="25" name="object 25"/>
          <p:cNvSpPr txBox="1"/>
          <p:nvPr/>
        </p:nvSpPr>
        <p:spPr>
          <a:xfrm>
            <a:off x="2383135" y="1269803"/>
            <a:ext cx="2090420" cy="341184"/>
          </a:xfrm>
          <a:prstGeom prst="rect">
            <a:avLst/>
          </a:prstGeom>
        </p:spPr>
        <p:txBody>
          <a:bodyPr vert="horz" wrap="square" lIns="0" tIns="22860" rIns="0" bIns="0" rtlCol="0">
            <a:spAutoFit/>
          </a:bodyPr>
          <a:lstStyle/>
          <a:p>
            <a:pPr marL="16933">
              <a:spcBef>
                <a:spcPts val="180"/>
              </a:spcBef>
            </a:pPr>
            <a:r>
              <a:rPr sz="2067" dirty="0">
                <a:solidFill>
                  <a:srgbClr val="257693"/>
                </a:solidFill>
                <a:latin typeface="Arial Black"/>
                <a:cs typeface="Arial Black"/>
              </a:rPr>
              <a:t>Compute</a:t>
            </a:r>
            <a:r>
              <a:rPr sz="2067" spc="-147" dirty="0">
                <a:solidFill>
                  <a:srgbClr val="257693"/>
                </a:solidFill>
                <a:latin typeface="Arial Black"/>
                <a:cs typeface="Arial Black"/>
              </a:rPr>
              <a:t> </a:t>
            </a:r>
            <a:r>
              <a:rPr sz="2067" spc="-13" dirty="0">
                <a:solidFill>
                  <a:srgbClr val="257693"/>
                </a:solidFill>
                <a:latin typeface="Arial Black"/>
                <a:cs typeface="Arial Black"/>
              </a:rPr>
              <a:t>units</a:t>
            </a:r>
            <a:endParaRPr sz="2067" dirty="0">
              <a:latin typeface="Arial Black"/>
              <a:cs typeface="Arial Black"/>
            </a:endParaRPr>
          </a:p>
        </p:txBody>
      </p:sp>
      <p:grpSp>
        <p:nvGrpSpPr>
          <p:cNvPr id="26" name="object 26"/>
          <p:cNvGrpSpPr/>
          <p:nvPr/>
        </p:nvGrpSpPr>
        <p:grpSpPr>
          <a:xfrm>
            <a:off x="1979868" y="2692872"/>
            <a:ext cx="2721185" cy="579120"/>
            <a:chOff x="1484900" y="2019654"/>
            <a:chExt cx="2040889" cy="434340"/>
          </a:xfrm>
        </p:grpSpPr>
        <p:sp>
          <p:nvSpPr>
            <p:cNvPr id="27" name="object 27"/>
            <p:cNvSpPr/>
            <p:nvPr/>
          </p:nvSpPr>
          <p:spPr>
            <a:xfrm>
              <a:off x="3189757" y="2025891"/>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28" name="object 28"/>
            <p:cNvSpPr/>
            <p:nvPr/>
          </p:nvSpPr>
          <p:spPr>
            <a:xfrm>
              <a:off x="3189757" y="2025891"/>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A12F9D"/>
              </a:solidFill>
            </a:ln>
          </p:spPr>
          <p:txBody>
            <a:bodyPr wrap="square" lIns="0" tIns="0" rIns="0" bIns="0" rtlCol="0"/>
            <a:lstStyle/>
            <a:p>
              <a:endParaRPr sz="2400"/>
            </a:p>
          </p:txBody>
        </p:sp>
        <p:sp>
          <p:nvSpPr>
            <p:cNvPr id="29" name="object 29"/>
            <p:cNvSpPr/>
            <p:nvPr/>
          </p:nvSpPr>
          <p:spPr>
            <a:xfrm>
              <a:off x="1489662" y="202522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0" name="object 30"/>
            <p:cNvSpPr/>
            <p:nvPr/>
          </p:nvSpPr>
          <p:spPr>
            <a:xfrm>
              <a:off x="1489662" y="202522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F47272"/>
              </a:solidFill>
            </a:ln>
          </p:spPr>
          <p:txBody>
            <a:bodyPr wrap="square" lIns="0" tIns="0" rIns="0" bIns="0" rtlCol="0"/>
            <a:lstStyle/>
            <a:p>
              <a:endParaRPr sz="2400"/>
            </a:p>
          </p:txBody>
        </p:sp>
        <p:sp>
          <p:nvSpPr>
            <p:cNvPr id="31" name="object 31"/>
            <p:cNvSpPr/>
            <p:nvPr/>
          </p:nvSpPr>
          <p:spPr>
            <a:xfrm>
              <a:off x="1829487" y="202441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2" name="object 32"/>
            <p:cNvSpPr/>
            <p:nvPr/>
          </p:nvSpPr>
          <p:spPr>
            <a:xfrm>
              <a:off x="1829487" y="202441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4696AA"/>
              </a:solidFill>
            </a:ln>
          </p:spPr>
          <p:txBody>
            <a:bodyPr wrap="square" lIns="0" tIns="0" rIns="0" bIns="0" rtlCol="0"/>
            <a:lstStyle/>
            <a:p>
              <a:endParaRPr sz="2400"/>
            </a:p>
          </p:txBody>
        </p:sp>
      </p:grpSp>
      <p:sp>
        <p:nvSpPr>
          <p:cNvPr id="33" name="object 33"/>
          <p:cNvSpPr txBox="1"/>
          <p:nvPr/>
        </p:nvSpPr>
        <p:spPr>
          <a:xfrm>
            <a:off x="2071010" y="2772023"/>
            <a:ext cx="696807" cy="382092"/>
          </a:xfrm>
          <a:prstGeom prst="rect">
            <a:avLst/>
          </a:prstGeom>
        </p:spPr>
        <p:txBody>
          <a:bodyPr vert="horz" wrap="square" lIns="0" tIns="22860" rIns="0" bIns="0" rtlCol="0">
            <a:spAutoFit/>
          </a:bodyPr>
          <a:lstStyle/>
          <a:p>
            <a:pPr marL="16933">
              <a:spcBef>
                <a:spcPts val="180"/>
              </a:spcBef>
              <a:tabLst>
                <a:tab pos="497828" algn="l"/>
              </a:tabLst>
            </a:pPr>
            <a:r>
              <a:rPr sz="2333" spc="-67" dirty="0">
                <a:latin typeface="Lucida Sans Unicode"/>
                <a:cs typeface="Lucida Sans Unicode"/>
              </a:rPr>
              <a:t>Q</a:t>
            </a:r>
            <a:r>
              <a:rPr sz="2333" dirty="0">
                <a:latin typeface="Lucida Sans Unicode"/>
                <a:cs typeface="Lucida Sans Unicode"/>
              </a:rPr>
              <a:t>	</a:t>
            </a:r>
            <a:r>
              <a:rPr sz="2333" spc="-67" dirty="0">
                <a:latin typeface="Lucida Sans Unicode"/>
                <a:cs typeface="Lucida Sans Unicode"/>
              </a:rPr>
              <a:t>K</a:t>
            </a:r>
            <a:endParaRPr sz="2333">
              <a:latin typeface="Lucida Sans Unicode"/>
              <a:cs typeface="Lucida Sans Unicode"/>
            </a:endParaRPr>
          </a:p>
        </p:txBody>
      </p:sp>
      <p:grpSp>
        <p:nvGrpSpPr>
          <p:cNvPr id="34" name="object 34"/>
          <p:cNvGrpSpPr/>
          <p:nvPr/>
        </p:nvGrpSpPr>
        <p:grpSpPr>
          <a:xfrm>
            <a:off x="3791837" y="2693952"/>
            <a:ext cx="454660" cy="577427"/>
            <a:chOff x="2843877" y="2020464"/>
            <a:chExt cx="340995" cy="433070"/>
          </a:xfrm>
        </p:grpSpPr>
        <p:sp>
          <p:nvSpPr>
            <p:cNvPr id="35" name="object 35"/>
            <p:cNvSpPr/>
            <p:nvPr/>
          </p:nvSpPr>
          <p:spPr>
            <a:xfrm>
              <a:off x="2848639" y="202522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6" name="object 36"/>
            <p:cNvSpPr/>
            <p:nvPr/>
          </p:nvSpPr>
          <p:spPr>
            <a:xfrm>
              <a:off x="2848639" y="202522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5AB46E"/>
              </a:solidFill>
            </a:ln>
          </p:spPr>
          <p:txBody>
            <a:bodyPr wrap="square" lIns="0" tIns="0" rIns="0" bIns="0" rtlCol="0"/>
            <a:lstStyle/>
            <a:p>
              <a:endParaRPr sz="2400"/>
            </a:p>
          </p:txBody>
        </p:sp>
      </p:grpSp>
      <p:sp>
        <p:nvSpPr>
          <p:cNvPr id="37" name="object 37"/>
          <p:cNvSpPr txBox="1"/>
          <p:nvPr/>
        </p:nvSpPr>
        <p:spPr>
          <a:xfrm>
            <a:off x="3899904" y="2772909"/>
            <a:ext cx="710353" cy="382092"/>
          </a:xfrm>
          <a:prstGeom prst="rect">
            <a:avLst/>
          </a:prstGeom>
        </p:spPr>
        <p:txBody>
          <a:bodyPr vert="horz" wrap="square" lIns="0" tIns="22860" rIns="0" bIns="0" rtlCol="0">
            <a:spAutoFit/>
          </a:bodyPr>
          <a:lstStyle/>
          <a:p>
            <a:pPr marL="16933">
              <a:spcBef>
                <a:spcPts val="180"/>
              </a:spcBef>
            </a:pPr>
            <a:r>
              <a:rPr sz="2333" dirty="0">
                <a:latin typeface="Lucida Sans Unicode"/>
                <a:cs typeface="Lucida Sans Unicode"/>
              </a:rPr>
              <a:t>V</a:t>
            </a:r>
            <a:r>
              <a:rPr sz="2333" spc="207" dirty="0">
                <a:latin typeface="Lucida Sans Unicode"/>
                <a:cs typeface="Lucida Sans Unicode"/>
              </a:rPr>
              <a:t>  </a:t>
            </a:r>
            <a:r>
              <a:rPr sz="2333" spc="-67" dirty="0">
                <a:latin typeface="Lucida Sans Unicode"/>
                <a:cs typeface="Lucida Sans Unicode"/>
              </a:rPr>
              <a:t>O</a:t>
            </a:r>
            <a:endParaRPr sz="2333">
              <a:latin typeface="Lucida Sans Unicode"/>
              <a:cs typeface="Lucida Sans Unicode"/>
            </a:endParaRPr>
          </a:p>
        </p:txBody>
      </p:sp>
      <p:grpSp>
        <p:nvGrpSpPr>
          <p:cNvPr id="38" name="object 38"/>
          <p:cNvGrpSpPr/>
          <p:nvPr/>
        </p:nvGrpSpPr>
        <p:grpSpPr>
          <a:xfrm>
            <a:off x="1656099" y="2701466"/>
            <a:ext cx="2782147" cy="2746585"/>
            <a:chOff x="1242074" y="2026099"/>
            <a:chExt cx="2086610" cy="2059939"/>
          </a:xfrm>
        </p:grpSpPr>
        <p:sp>
          <p:nvSpPr>
            <p:cNvPr id="39" name="object 39"/>
            <p:cNvSpPr/>
            <p:nvPr/>
          </p:nvSpPr>
          <p:spPr>
            <a:xfrm>
              <a:off x="1242074" y="325344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F65B66">
                <a:alpha val="48728"/>
              </a:srgbClr>
            </a:solidFill>
          </p:spPr>
          <p:txBody>
            <a:bodyPr wrap="square" lIns="0" tIns="0" rIns="0" bIns="0" rtlCol="0"/>
            <a:lstStyle/>
            <a:p>
              <a:endParaRPr sz="2400"/>
            </a:p>
          </p:txBody>
        </p:sp>
        <p:sp>
          <p:nvSpPr>
            <p:cNvPr id="40" name="object 40"/>
            <p:cNvSpPr/>
            <p:nvPr/>
          </p:nvSpPr>
          <p:spPr>
            <a:xfrm>
              <a:off x="2180924" y="3253974"/>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4696AA">
                <a:alpha val="50000"/>
              </a:srgbClr>
            </a:solidFill>
          </p:spPr>
          <p:txBody>
            <a:bodyPr wrap="square" lIns="0" tIns="0" rIns="0" bIns="0" rtlCol="0"/>
            <a:lstStyle/>
            <a:p>
              <a:endParaRPr sz="2400"/>
            </a:p>
          </p:txBody>
        </p:sp>
        <p:sp>
          <p:nvSpPr>
            <p:cNvPr id="41" name="object 41"/>
            <p:cNvSpPr/>
            <p:nvPr/>
          </p:nvSpPr>
          <p:spPr>
            <a:xfrm>
              <a:off x="3118924" y="324979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5AB46E">
                <a:alpha val="49369"/>
              </a:srgbClr>
            </a:solidFill>
          </p:spPr>
          <p:txBody>
            <a:bodyPr wrap="square" lIns="0" tIns="0" rIns="0" bIns="0" rtlCol="0"/>
            <a:lstStyle/>
            <a:p>
              <a:endParaRPr sz="2400"/>
            </a:p>
          </p:txBody>
        </p:sp>
        <p:sp>
          <p:nvSpPr>
            <p:cNvPr id="42" name="object 42"/>
            <p:cNvSpPr/>
            <p:nvPr/>
          </p:nvSpPr>
          <p:spPr>
            <a:xfrm>
              <a:off x="3193449" y="2026099"/>
              <a:ext cx="80010" cy="423545"/>
            </a:xfrm>
            <a:custGeom>
              <a:avLst/>
              <a:gdLst/>
              <a:ahLst/>
              <a:cxnLst/>
              <a:rect l="l" t="t" r="r" b="b"/>
              <a:pathLst>
                <a:path w="80010" h="423544">
                  <a:moveTo>
                    <a:pt x="79799" y="423299"/>
                  </a:moveTo>
                  <a:lnTo>
                    <a:pt x="0" y="423299"/>
                  </a:lnTo>
                  <a:lnTo>
                    <a:pt x="0" y="0"/>
                  </a:lnTo>
                  <a:lnTo>
                    <a:pt x="79799" y="0"/>
                  </a:lnTo>
                  <a:lnTo>
                    <a:pt x="79799" y="423299"/>
                  </a:lnTo>
                  <a:close/>
                </a:path>
              </a:pathLst>
            </a:custGeom>
            <a:solidFill>
              <a:srgbClr val="A12F9D">
                <a:alpha val="50000"/>
              </a:srgbClr>
            </a:solidFill>
          </p:spPr>
          <p:txBody>
            <a:bodyPr wrap="square" lIns="0" tIns="0" rIns="0" bIns="0" rtlCol="0"/>
            <a:lstStyle/>
            <a:p>
              <a:endParaRPr sz="2400"/>
            </a:p>
          </p:txBody>
        </p:sp>
        <p:sp>
          <p:nvSpPr>
            <p:cNvPr id="43" name="object 43"/>
            <p:cNvSpPr/>
            <p:nvPr/>
          </p:nvSpPr>
          <p:spPr>
            <a:xfrm>
              <a:off x="2279499" y="324979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4696AA">
                <a:alpha val="50000"/>
              </a:srgbClr>
            </a:solidFill>
          </p:spPr>
          <p:txBody>
            <a:bodyPr wrap="square" lIns="0" tIns="0" rIns="0" bIns="0" rtlCol="0"/>
            <a:lstStyle/>
            <a:p>
              <a:endParaRPr sz="2400"/>
            </a:p>
          </p:txBody>
        </p:sp>
        <p:sp>
          <p:nvSpPr>
            <p:cNvPr id="44" name="object 44"/>
            <p:cNvSpPr/>
            <p:nvPr/>
          </p:nvSpPr>
          <p:spPr>
            <a:xfrm>
              <a:off x="3217499" y="324979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5AB46E">
                <a:alpha val="49369"/>
              </a:srgbClr>
            </a:solidFill>
          </p:spPr>
          <p:txBody>
            <a:bodyPr wrap="square" lIns="0" tIns="0" rIns="0" bIns="0" rtlCol="0"/>
            <a:lstStyle/>
            <a:p>
              <a:endParaRPr sz="2400"/>
            </a:p>
          </p:txBody>
        </p:sp>
        <p:sp>
          <p:nvSpPr>
            <p:cNvPr id="45" name="object 45"/>
            <p:cNvSpPr/>
            <p:nvPr/>
          </p:nvSpPr>
          <p:spPr>
            <a:xfrm>
              <a:off x="1995099" y="2504749"/>
              <a:ext cx="340360" cy="745490"/>
            </a:xfrm>
            <a:custGeom>
              <a:avLst/>
              <a:gdLst/>
              <a:ahLst/>
              <a:cxnLst/>
              <a:rect l="l" t="t" r="r" b="b"/>
              <a:pathLst>
                <a:path w="340360" h="745489">
                  <a:moveTo>
                    <a:pt x="339899" y="745049"/>
                  </a:moveTo>
                  <a:lnTo>
                    <a:pt x="339899" y="459322"/>
                  </a:lnTo>
                  <a:lnTo>
                    <a:pt x="0" y="459322"/>
                  </a:lnTo>
                  <a:lnTo>
                    <a:pt x="0" y="0"/>
                  </a:lnTo>
                </a:path>
              </a:pathLst>
            </a:custGeom>
            <a:ln w="9524">
              <a:solidFill>
                <a:srgbClr val="595959"/>
              </a:solidFill>
            </a:ln>
          </p:spPr>
          <p:txBody>
            <a:bodyPr wrap="square" lIns="0" tIns="0" rIns="0" bIns="0" rtlCol="0"/>
            <a:lstStyle/>
            <a:p>
              <a:endParaRPr sz="2400"/>
            </a:p>
          </p:txBody>
        </p:sp>
        <p:sp>
          <p:nvSpPr>
            <p:cNvPr id="46" name="object 46"/>
            <p:cNvSpPr/>
            <p:nvPr/>
          </p:nvSpPr>
          <p:spPr>
            <a:xfrm>
              <a:off x="1979367" y="2461524"/>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595959"/>
            </a:solidFill>
          </p:spPr>
          <p:txBody>
            <a:bodyPr wrap="square" lIns="0" tIns="0" rIns="0" bIns="0" rtlCol="0"/>
            <a:lstStyle/>
            <a:p>
              <a:endParaRPr sz="2400"/>
            </a:p>
          </p:txBody>
        </p:sp>
        <p:sp>
          <p:nvSpPr>
            <p:cNvPr id="47" name="object 47"/>
            <p:cNvSpPr/>
            <p:nvPr/>
          </p:nvSpPr>
          <p:spPr>
            <a:xfrm>
              <a:off x="1979367" y="2461524"/>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595959"/>
              </a:solidFill>
            </a:ln>
          </p:spPr>
          <p:txBody>
            <a:bodyPr wrap="square" lIns="0" tIns="0" rIns="0" bIns="0" rtlCol="0"/>
            <a:lstStyle/>
            <a:p>
              <a:endParaRPr sz="2400"/>
            </a:p>
          </p:txBody>
        </p:sp>
        <p:sp>
          <p:nvSpPr>
            <p:cNvPr id="48" name="object 48"/>
            <p:cNvSpPr/>
            <p:nvPr/>
          </p:nvSpPr>
          <p:spPr>
            <a:xfrm>
              <a:off x="3014099" y="2505649"/>
              <a:ext cx="259079" cy="744220"/>
            </a:xfrm>
            <a:custGeom>
              <a:avLst/>
              <a:gdLst/>
              <a:ahLst/>
              <a:cxnLst/>
              <a:rect l="l" t="t" r="r" b="b"/>
              <a:pathLst>
                <a:path w="259079" h="744219">
                  <a:moveTo>
                    <a:pt x="258899" y="744149"/>
                  </a:moveTo>
                  <a:lnTo>
                    <a:pt x="258899" y="451699"/>
                  </a:lnTo>
                  <a:lnTo>
                    <a:pt x="0" y="451699"/>
                  </a:lnTo>
                  <a:lnTo>
                    <a:pt x="0" y="0"/>
                  </a:lnTo>
                </a:path>
              </a:pathLst>
            </a:custGeom>
            <a:ln w="9524">
              <a:solidFill>
                <a:srgbClr val="595959"/>
              </a:solidFill>
            </a:ln>
          </p:spPr>
          <p:txBody>
            <a:bodyPr wrap="square" lIns="0" tIns="0" rIns="0" bIns="0" rtlCol="0"/>
            <a:lstStyle/>
            <a:p>
              <a:endParaRPr sz="2400"/>
            </a:p>
          </p:txBody>
        </p:sp>
        <p:sp>
          <p:nvSpPr>
            <p:cNvPr id="49" name="object 49"/>
            <p:cNvSpPr/>
            <p:nvPr/>
          </p:nvSpPr>
          <p:spPr>
            <a:xfrm>
              <a:off x="2998367" y="2462424"/>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595959"/>
            </a:solidFill>
          </p:spPr>
          <p:txBody>
            <a:bodyPr wrap="square" lIns="0" tIns="0" rIns="0" bIns="0" rtlCol="0"/>
            <a:lstStyle/>
            <a:p>
              <a:endParaRPr sz="2400"/>
            </a:p>
          </p:txBody>
        </p:sp>
        <p:sp>
          <p:nvSpPr>
            <p:cNvPr id="50" name="object 50"/>
            <p:cNvSpPr/>
            <p:nvPr/>
          </p:nvSpPr>
          <p:spPr>
            <a:xfrm>
              <a:off x="2998367" y="2462424"/>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595959"/>
              </a:solidFill>
            </a:ln>
          </p:spPr>
          <p:txBody>
            <a:bodyPr wrap="square" lIns="0" tIns="0" rIns="0" bIns="0" rtlCol="0"/>
            <a:lstStyle/>
            <a:p>
              <a:endParaRPr sz="2400"/>
            </a:p>
          </p:txBody>
        </p:sp>
      </p:grpSp>
      <p:sp>
        <p:nvSpPr>
          <p:cNvPr id="51" name="object 51"/>
          <p:cNvSpPr txBox="1"/>
          <p:nvPr/>
        </p:nvSpPr>
        <p:spPr>
          <a:xfrm>
            <a:off x="5712913" y="1442454"/>
            <a:ext cx="5698067" cy="386430"/>
          </a:xfrm>
          <a:prstGeom prst="rect">
            <a:avLst/>
          </a:prstGeom>
        </p:spPr>
        <p:txBody>
          <a:bodyPr vert="horz" wrap="square" lIns="0" tIns="16933" rIns="0" bIns="0" rtlCol="0">
            <a:spAutoFit/>
          </a:bodyPr>
          <a:lstStyle/>
          <a:p>
            <a:pPr marL="16933">
              <a:spcBef>
                <a:spcPts val="133"/>
              </a:spcBef>
            </a:pPr>
            <a:r>
              <a:rPr sz="2400" spc="-87" dirty="0">
                <a:solidFill>
                  <a:srgbClr val="F65B66"/>
                </a:solidFill>
                <a:latin typeface="Arial Black"/>
                <a:cs typeface="Arial Black"/>
              </a:rPr>
              <a:t>Softmax</a:t>
            </a:r>
            <a:r>
              <a:rPr sz="2400" spc="-233" dirty="0">
                <a:solidFill>
                  <a:srgbClr val="F65B66"/>
                </a:solidFill>
                <a:latin typeface="Arial Black"/>
                <a:cs typeface="Arial Black"/>
              </a:rPr>
              <a:t> </a:t>
            </a:r>
            <a:r>
              <a:rPr sz="2400" spc="-87" dirty="0">
                <a:solidFill>
                  <a:srgbClr val="F65B66"/>
                </a:solidFill>
                <a:latin typeface="Arial Black"/>
                <a:cs typeface="Arial Black"/>
              </a:rPr>
              <a:t>needs</a:t>
            </a:r>
            <a:r>
              <a:rPr sz="2400" spc="-233" dirty="0">
                <a:solidFill>
                  <a:srgbClr val="F65B66"/>
                </a:solidFill>
                <a:latin typeface="Arial Black"/>
                <a:cs typeface="Arial Black"/>
              </a:rPr>
              <a:t> </a:t>
            </a:r>
            <a:r>
              <a:rPr sz="2400" spc="-73" dirty="0">
                <a:solidFill>
                  <a:srgbClr val="F65B66"/>
                </a:solidFill>
                <a:latin typeface="Arial Black"/>
                <a:cs typeface="Arial Black"/>
              </a:rPr>
              <a:t>complete</a:t>
            </a:r>
            <a:r>
              <a:rPr sz="2400" spc="-227" dirty="0">
                <a:solidFill>
                  <a:srgbClr val="F65B66"/>
                </a:solidFill>
                <a:latin typeface="Arial Black"/>
                <a:cs typeface="Arial Black"/>
              </a:rPr>
              <a:t> </a:t>
            </a:r>
            <a:r>
              <a:rPr sz="2400" spc="-113" dirty="0">
                <a:solidFill>
                  <a:srgbClr val="F65B66"/>
                </a:solidFill>
                <a:latin typeface="Arial Black"/>
                <a:cs typeface="Arial Black"/>
              </a:rPr>
              <a:t>score</a:t>
            </a:r>
            <a:r>
              <a:rPr sz="2400" spc="-233" dirty="0">
                <a:solidFill>
                  <a:srgbClr val="F65B66"/>
                </a:solidFill>
                <a:latin typeface="Arial Black"/>
                <a:cs typeface="Arial Black"/>
              </a:rPr>
              <a:t> </a:t>
            </a:r>
            <a:r>
              <a:rPr sz="2400" spc="-67" dirty="0">
                <a:solidFill>
                  <a:srgbClr val="F65B66"/>
                </a:solidFill>
                <a:latin typeface="Arial Black"/>
                <a:cs typeface="Arial Black"/>
              </a:rPr>
              <a:t>rows</a:t>
            </a:r>
            <a:endParaRPr sz="2400" dirty="0">
              <a:latin typeface="Arial Black"/>
              <a:cs typeface="Arial Black"/>
            </a:endParaRPr>
          </a:p>
        </p:txBody>
      </p:sp>
      <p:grpSp>
        <p:nvGrpSpPr>
          <p:cNvPr id="52" name="object 52"/>
          <p:cNvGrpSpPr/>
          <p:nvPr/>
        </p:nvGrpSpPr>
        <p:grpSpPr>
          <a:xfrm>
            <a:off x="7655384" y="2342892"/>
            <a:ext cx="2153073" cy="669712"/>
            <a:chOff x="5741537" y="1414276"/>
            <a:chExt cx="1614805" cy="502284"/>
          </a:xfrm>
        </p:grpSpPr>
        <p:sp>
          <p:nvSpPr>
            <p:cNvPr id="53" name="object 53"/>
            <p:cNvSpPr/>
            <p:nvPr/>
          </p:nvSpPr>
          <p:spPr>
            <a:xfrm>
              <a:off x="5828687" y="1421201"/>
              <a:ext cx="1330960" cy="13335"/>
            </a:xfrm>
            <a:custGeom>
              <a:avLst/>
              <a:gdLst/>
              <a:ahLst/>
              <a:cxnLst/>
              <a:rect l="l" t="t" r="r" b="b"/>
              <a:pathLst>
                <a:path w="1330959" h="13334">
                  <a:moveTo>
                    <a:pt x="1330726" y="13097"/>
                  </a:moveTo>
                  <a:lnTo>
                    <a:pt x="0" y="13097"/>
                  </a:lnTo>
                  <a:lnTo>
                    <a:pt x="0" y="0"/>
                  </a:lnTo>
                  <a:lnTo>
                    <a:pt x="1330726" y="0"/>
                  </a:lnTo>
                  <a:lnTo>
                    <a:pt x="1330726" y="13097"/>
                  </a:lnTo>
                  <a:close/>
                </a:path>
              </a:pathLst>
            </a:custGeom>
            <a:solidFill>
              <a:srgbClr val="000000"/>
            </a:solidFill>
          </p:spPr>
          <p:txBody>
            <a:bodyPr wrap="square" lIns="0" tIns="0" rIns="0" bIns="0" rtlCol="0"/>
            <a:lstStyle/>
            <a:p>
              <a:endParaRPr sz="2400"/>
            </a:p>
          </p:txBody>
        </p:sp>
        <p:sp>
          <p:nvSpPr>
            <p:cNvPr id="54" name="object 54"/>
            <p:cNvSpPr/>
            <p:nvPr/>
          </p:nvSpPr>
          <p:spPr>
            <a:xfrm>
              <a:off x="5828687" y="1421201"/>
              <a:ext cx="1330960" cy="13335"/>
            </a:xfrm>
            <a:custGeom>
              <a:avLst/>
              <a:gdLst/>
              <a:ahLst/>
              <a:cxnLst/>
              <a:rect l="l" t="t" r="r" b="b"/>
              <a:pathLst>
                <a:path w="1330959" h="13334">
                  <a:moveTo>
                    <a:pt x="0" y="0"/>
                  </a:moveTo>
                  <a:lnTo>
                    <a:pt x="1330726" y="0"/>
                  </a:lnTo>
                  <a:lnTo>
                    <a:pt x="1330726" y="13097"/>
                  </a:lnTo>
                  <a:lnTo>
                    <a:pt x="0" y="13097"/>
                  </a:lnTo>
                  <a:lnTo>
                    <a:pt x="0" y="0"/>
                  </a:lnTo>
                  <a:close/>
                </a:path>
              </a:pathLst>
            </a:custGeom>
            <a:ln w="13849">
              <a:solidFill>
                <a:srgbClr val="000000"/>
              </a:solidFill>
            </a:ln>
          </p:spPr>
          <p:txBody>
            <a:bodyPr wrap="square" lIns="0" tIns="0" rIns="0" bIns="0" rtlCol="0"/>
            <a:lstStyle/>
            <a:p>
              <a:endParaRPr sz="2400"/>
            </a:p>
          </p:txBody>
        </p:sp>
        <p:sp>
          <p:nvSpPr>
            <p:cNvPr id="55" name="object 55"/>
            <p:cNvSpPr/>
            <p:nvPr/>
          </p:nvSpPr>
          <p:spPr>
            <a:xfrm>
              <a:off x="5755825" y="1471325"/>
              <a:ext cx="1586230" cy="431165"/>
            </a:xfrm>
            <a:custGeom>
              <a:avLst/>
              <a:gdLst/>
              <a:ahLst/>
              <a:cxnLst/>
              <a:rect l="l" t="t" r="r" b="b"/>
              <a:pathLst>
                <a:path w="1586229" h="431164">
                  <a:moveTo>
                    <a:pt x="0" y="0"/>
                  </a:moveTo>
                  <a:lnTo>
                    <a:pt x="1585799" y="0"/>
                  </a:lnTo>
                  <a:lnTo>
                    <a:pt x="1585799" y="430799"/>
                  </a:lnTo>
                  <a:lnTo>
                    <a:pt x="0" y="430799"/>
                  </a:lnTo>
                  <a:lnTo>
                    <a:pt x="0" y="0"/>
                  </a:lnTo>
                  <a:close/>
                </a:path>
              </a:pathLst>
            </a:custGeom>
            <a:ln w="28574">
              <a:solidFill>
                <a:srgbClr val="F65B66"/>
              </a:solidFill>
            </a:ln>
          </p:spPr>
          <p:txBody>
            <a:bodyPr wrap="square" lIns="0" tIns="0" rIns="0" bIns="0" rtlCol="0"/>
            <a:lstStyle/>
            <a:p>
              <a:endParaRPr sz="2400"/>
            </a:p>
          </p:txBody>
        </p:sp>
      </p:grpSp>
      <p:sp>
        <p:nvSpPr>
          <p:cNvPr id="56" name="object 56"/>
          <p:cNvSpPr txBox="1"/>
          <p:nvPr/>
        </p:nvSpPr>
        <p:spPr>
          <a:xfrm>
            <a:off x="8295823" y="1662671"/>
            <a:ext cx="899160" cy="433452"/>
          </a:xfrm>
          <a:prstGeom prst="rect">
            <a:avLst/>
          </a:prstGeom>
        </p:spPr>
        <p:txBody>
          <a:bodyPr vert="horz" wrap="square" lIns="0" tIns="22860" rIns="0" bIns="0" rtlCol="0">
            <a:spAutoFit/>
          </a:bodyPr>
          <a:lstStyle/>
          <a:p>
            <a:pPr marL="50799">
              <a:spcBef>
                <a:spcPts val="180"/>
              </a:spcBef>
            </a:pPr>
            <a:r>
              <a:rPr sz="4000" spc="-20" baseline="-31944" dirty="0">
                <a:latin typeface="Lucida Sans Unicode"/>
                <a:cs typeface="Lucida Sans Unicode"/>
              </a:rPr>
              <a:t>e</a:t>
            </a:r>
            <a:r>
              <a:rPr sz="1667" spc="-13" dirty="0">
                <a:solidFill>
                  <a:srgbClr val="FAB901"/>
                </a:solidFill>
                <a:latin typeface="Arial Black"/>
                <a:cs typeface="Arial Black"/>
              </a:rPr>
              <a:t>score</a:t>
            </a:r>
            <a:endParaRPr sz="1667">
              <a:latin typeface="Arial Black"/>
              <a:cs typeface="Arial Black"/>
            </a:endParaRPr>
          </a:p>
        </p:txBody>
      </p:sp>
      <p:sp>
        <p:nvSpPr>
          <p:cNvPr id="57" name="object 57"/>
          <p:cNvSpPr txBox="1"/>
          <p:nvPr/>
        </p:nvSpPr>
        <p:spPr>
          <a:xfrm>
            <a:off x="7668004" y="2291371"/>
            <a:ext cx="2122593" cy="433452"/>
          </a:xfrm>
          <a:prstGeom prst="rect">
            <a:avLst/>
          </a:prstGeom>
        </p:spPr>
        <p:txBody>
          <a:bodyPr vert="horz" wrap="square" lIns="0" tIns="22860" rIns="0" bIns="0" rtlCol="0">
            <a:spAutoFit/>
          </a:bodyPr>
          <a:lstStyle/>
          <a:p>
            <a:pPr marL="50799">
              <a:spcBef>
                <a:spcPts val="180"/>
              </a:spcBef>
            </a:pPr>
            <a:r>
              <a:rPr sz="4000" spc="40" baseline="-33333" dirty="0">
                <a:latin typeface="Lucida Sans Unicode"/>
                <a:cs typeface="Lucida Sans Unicode"/>
              </a:rPr>
              <a:t>sum(e</a:t>
            </a:r>
            <a:r>
              <a:rPr sz="1667" spc="27" dirty="0">
                <a:solidFill>
                  <a:srgbClr val="B45F06"/>
                </a:solidFill>
                <a:latin typeface="Arial Black"/>
                <a:cs typeface="Arial Black"/>
              </a:rPr>
              <a:t>scores</a:t>
            </a:r>
            <a:r>
              <a:rPr sz="1667" spc="-180" dirty="0">
                <a:solidFill>
                  <a:srgbClr val="B45F06"/>
                </a:solidFill>
                <a:latin typeface="Arial Black"/>
                <a:cs typeface="Arial Black"/>
              </a:rPr>
              <a:t> </a:t>
            </a:r>
            <a:r>
              <a:rPr sz="4000" spc="440" baseline="-33333" dirty="0">
                <a:latin typeface="Lucida Sans Unicode"/>
                <a:cs typeface="Lucida Sans Unicode"/>
              </a:rPr>
              <a:t>)</a:t>
            </a:r>
            <a:endParaRPr sz="4000" baseline="-33333">
              <a:latin typeface="Lucida Sans Unicode"/>
              <a:cs typeface="Lucida Sans Unicode"/>
            </a:endParaRPr>
          </a:p>
        </p:txBody>
      </p:sp>
      <p:sp>
        <p:nvSpPr>
          <p:cNvPr id="58" name="object 58"/>
          <p:cNvSpPr txBox="1"/>
          <p:nvPr/>
        </p:nvSpPr>
        <p:spPr>
          <a:xfrm>
            <a:off x="6472030" y="2236869"/>
            <a:ext cx="1043093" cy="263320"/>
          </a:xfrm>
          <a:prstGeom prst="rect">
            <a:avLst/>
          </a:prstGeom>
        </p:spPr>
        <p:txBody>
          <a:bodyPr vert="horz" wrap="square" lIns="0" tIns="16933" rIns="0" bIns="0" rtlCol="0">
            <a:spAutoFit/>
          </a:bodyPr>
          <a:lstStyle/>
          <a:p>
            <a:pPr marL="16933">
              <a:spcBef>
                <a:spcPts val="133"/>
              </a:spcBef>
            </a:pPr>
            <a:r>
              <a:rPr sz="1600" spc="-47" dirty="0">
                <a:solidFill>
                  <a:srgbClr val="257693"/>
                </a:solidFill>
                <a:latin typeface="Arial Black"/>
                <a:cs typeface="Arial Black"/>
              </a:rPr>
              <a:t>per</a:t>
            </a:r>
            <a:r>
              <a:rPr sz="1600" spc="-180" dirty="0">
                <a:solidFill>
                  <a:srgbClr val="257693"/>
                </a:solidFill>
                <a:latin typeface="Arial Black"/>
                <a:cs typeface="Arial Black"/>
              </a:rPr>
              <a:t> </a:t>
            </a:r>
            <a:r>
              <a:rPr sz="1600" spc="-13" dirty="0">
                <a:solidFill>
                  <a:srgbClr val="257693"/>
                </a:solidFill>
                <a:latin typeface="Arial Black"/>
                <a:cs typeface="Arial Black"/>
              </a:rPr>
              <a:t>query</a:t>
            </a:r>
            <a:endParaRPr sz="1600">
              <a:latin typeface="Arial Black"/>
              <a:cs typeface="Arial Black"/>
            </a:endParaRPr>
          </a:p>
        </p:txBody>
      </p:sp>
      <p:sp>
        <p:nvSpPr>
          <p:cNvPr id="59" name="object 59"/>
          <p:cNvSpPr txBox="1"/>
          <p:nvPr/>
        </p:nvSpPr>
        <p:spPr>
          <a:xfrm>
            <a:off x="6052954" y="3389212"/>
            <a:ext cx="5781040" cy="548868"/>
          </a:xfrm>
          <a:prstGeom prst="rect">
            <a:avLst/>
          </a:prstGeom>
        </p:spPr>
        <p:txBody>
          <a:bodyPr vert="horz" wrap="square" lIns="0" tIns="177800" rIns="0" bIns="0" rtlCol="0">
            <a:spAutoFit/>
          </a:bodyPr>
          <a:lstStyle/>
          <a:p>
            <a:pPr marL="50799">
              <a:spcBef>
                <a:spcPts val="1400"/>
              </a:spcBef>
            </a:pPr>
            <a:r>
              <a:rPr sz="2400" spc="-53" dirty="0">
                <a:solidFill>
                  <a:srgbClr val="F65B66"/>
                </a:solidFill>
                <a:latin typeface="Arial Black"/>
                <a:cs typeface="Arial Black"/>
              </a:rPr>
              <a:t>Running</a:t>
            </a:r>
            <a:r>
              <a:rPr sz="2400" spc="-240" dirty="0">
                <a:solidFill>
                  <a:srgbClr val="F65B66"/>
                </a:solidFill>
                <a:latin typeface="Arial Black"/>
                <a:cs typeface="Arial Black"/>
              </a:rPr>
              <a:t> </a:t>
            </a:r>
            <a:r>
              <a:rPr sz="2400" spc="-67" dirty="0">
                <a:solidFill>
                  <a:srgbClr val="F65B66"/>
                </a:solidFill>
                <a:latin typeface="Arial Black"/>
                <a:cs typeface="Arial Black"/>
              </a:rPr>
              <a:t>values</a:t>
            </a:r>
            <a:r>
              <a:rPr sz="2400" spc="-233" dirty="0">
                <a:solidFill>
                  <a:srgbClr val="F65B66"/>
                </a:solidFill>
                <a:latin typeface="Arial Black"/>
                <a:cs typeface="Arial Black"/>
              </a:rPr>
              <a:t> </a:t>
            </a:r>
            <a:r>
              <a:rPr sz="2400" spc="-40" dirty="0">
                <a:solidFill>
                  <a:srgbClr val="F65B66"/>
                </a:solidFill>
                <a:latin typeface="Arial Black"/>
                <a:cs typeface="Arial Black"/>
              </a:rPr>
              <a:t>saved</a:t>
            </a:r>
            <a:r>
              <a:rPr sz="2400" spc="-240" dirty="0">
                <a:solidFill>
                  <a:srgbClr val="F65B66"/>
                </a:solidFill>
                <a:latin typeface="Arial Black"/>
                <a:cs typeface="Arial Black"/>
              </a:rPr>
              <a:t> </a:t>
            </a:r>
            <a:r>
              <a:rPr sz="2400" spc="-100" dirty="0">
                <a:solidFill>
                  <a:srgbClr val="F65B66"/>
                </a:solidFill>
                <a:latin typeface="Arial Black"/>
                <a:cs typeface="Arial Black"/>
              </a:rPr>
              <a:t>across</a:t>
            </a:r>
            <a:r>
              <a:rPr sz="2400" spc="-233" dirty="0">
                <a:solidFill>
                  <a:srgbClr val="F65B66"/>
                </a:solidFill>
                <a:latin typeface="Arial Black"/>
                <a:cs typeface="Arial Black"/>
              </a:rPr>
              <a:t> </a:t>
            </a:r>
            <a:r>
              <a:rPr sz="2400" spc="-13" dirty="0">
                <a:solidFill>
                  <a:srgbClr val="F65B66"/>
                </a:solidFill>
                <a:latin typeface="Arial Black"/>
                <a:cs typeface="Arial Black"/>
              </a:rPr>
              <a:t>blocks</a:t>
            </a:r>
            <a:endParaRPr sz="2400" dirty="0">
              <a:latin typeface="Arial Black"/>
              <a:cs typeface="Arial Black"/>
            </a:endParaRPr>
          </a:p>
        </p:txBody>
      </p:sp>
      <p:graphicFrame>
        <p:nvGraphicFramePr>
          <p:cNvPr id="61" name="Table 60">
            <a:extLst>
              <a:ext uri="{FF2B5EF4-FFF2-40B4-BE49-F238E27FC236}">
                <a16:creationId xmlns:a16="http://schemas.microsoft.com/office/drawing/2014/main" id="{9B924F8C-5FBB-A1F1-BB8F-1DB196CC8EF9}"/>
              </a:ext>
            </a:extLst>
          </p:cNvPr>
          <p:cNvGraphicFramePr>
            <a:graphicFrameLocks noGrp="1"/>
          </p:cNvGraphicFramePr>
          <p:nvPr/>
        </p:nvGraphicFramePr>
        <p:xfrm>
          <a:off x="6472030" y="4052329"/>
          <a:ext cx="5278552" cy="2286000"/>
        </p:xfrm>
        <a:graphic>
          <a:graphicData uri="http://schemas.openxmlformats.org/drawingml/2006/table">
            <a:tbl>
              <a:tblPr>
                <a:tableStyleId>{3C2FFA5D-87B4-456A-9821-1D502468CF0F}</a:tableStyleId>
              </a:tblPr>
              <a:tblGrid>
                <a:gridCol w="1699726">
                  <a:extLst>
                    <a:ext uri="{9D8B030D-6E8A-4147-A177-3AD203B41FA5}">
                      <a16:colId xmlns:a16="http://schemas.microsoft.com/office/drawing/2014/main" val="237972230"/>
                    </a:ext>
                  </a:extLst>
                </a:gridCol>
                <a:gridCol w="3578826">
                  <a:extLst>
                    <a:ext uri="{9D8B030D-6E8A-4147-A177-3AD203B41FA5}">
                      <a16:colId xmlns:a16="http://schemas.microsoft.com/office/drawing/2014/main" val="2051904858"/>
                    </a:ext>
                  </a:extLst>
                </a:gridCol>
              </a:tblGrid>
              <a:tr h="0">
                <a:tc>
                  <a:txBody>
                    <a:bodyPr/>
                    <a:lstStyle/>
                    <a:p>
                      <a:pPr>
                        <a:buNone/>
                      </a:pPr>
                      <a:r>
                        <a:rPr lang="en-IN"/>
                        <a:t>Running Value</a:t>
                      </a:r>
                    </a:p>
                  </a:txBody>
                  <a:tcPr anchor="ctr"/>
                </a:tc>
                <a:tc>
                  <a:txBody>
                    <a:bodyPr/>
                    <a:lstStyle/>
                    <a:p>
                      <a:pPr>
                        <a:buNone/>
                      </a:pPr>
                      <a:r>
                        <a:rPr lang="en-IN"/>
                        <a:t>Purpose</a:t>
                      </a:r>
                    </a:p>
                  </a:txBody>
                  <a:tcPr anchor="ctr"/>
                </a:tc>
                <a:extLst>
                  <a:ext uri="{0D108BD9-81ED-4DB2-BD59-A6C34878D82A}">
                    <a16:rowId xmlns:a16="http://schemas.microsoft.com/office/drawing/2014/main" val="2818813812"/>
                  </a:ext>
                </a:extLst>
              </a:tr>
              <a:tr h="0">
                <a:tc>
                  <a:txBody>
                    <a:bodyPr/>
                    <a:lstStyle/>
                    <a:p>
                      <a:pPr>
                        <a:buNone/>
                      </a:pPr>
                      <a:r>
                        <a:rPr lang="en-IN" b="1"/>
                        <a:t>Current max score</a:t>
                      </a:r>
                      <a:endParaRPr lang="en-IN"/>
                    </a:p>
                  </a:txBody>
                  <a:tcPr anchor="ctr"/>
                </a:tc>
                <a:tc>
                  <a:txBody>
                    <a:bodyPr/>
                    <a:lstStyle/>
                    <a:p>
                      <a:pPr>
                        <a:buNone/>
                      </a:pPr>
                      <a:r>
                        <a:rPr lang="en-US" dirty="0"/>
                        <a:t>Used for numerical stability </a:t>
                      </a:r>
                    </a:p>
                  </a:txBody>
                  <a:tcPr anchor="ctr"/>
                </a:tc>
                <a:extLst>
                  <a:ext uri="{0D108BD9-81ED-4DB2-BD59-A6C34878D82A}">
                    <a16:rowId xmlns:a16="http://schemas.microsoft.com/office/drawing/2014/main" val="3389996881"/>
                  </a:ext>
                </a:extLst>
              </a:tr>
              <a:tr h="0">
                <a:tc>
                  <a:txBody>
                    <a:bodyPr/>
                    <a:lstStyle/>
                    <a:p>
                      <a:pPr>
                        <a:buNone/>
                      </a:pPr>
                      <a:r>
                        <a:rPr lang="en-IN" b="1"/>
                        <a:t>Running sum(e^scores)</a:t>
                      </a:r>
                      <a:endParaRPr lang="en-IN"/>
                    </a:p>
                  </a:txBody>
                  <a:tcPr anchor="ctr"/>
                </a:tc>
                <a:tc>
                  <a:txBody>
                    <a:bodyPr/>
                    <a:lstStyle/>
                    <a:p>
                      <a:pPr>
                        <a:buNone/>
                      </a:pPr>
                      <a:r>
                        <a:rPr lang="en-IN"/>
                        <a:t>Accumulates the softmax denominator</a:t>
                      </a:r>
                    </a:p>
                  </a:txBody>
                  <a:tcPr anchor="ctr"/>
                </a:tc>
                <a:extLst>
                  <a:ext uri="{0D108BD9-81ED-4DB2-BD59-A6C34878D82A}">
                    <a16:rowId xmlns:a16="http://schemas.microsoft.com/office/drawing/2014/main" val="4031183460"/>
                  </a:ext>
                </a:extLst>
              </a:tr>
              <a:tr h="0">
                <a:tc>
                  <a:txBody>
                    <a:bodyPr/>
                    <a:lstStyle/>
                    <a:p>
                      <a:pPr>
                        <a:buNone/>
                      </a:pPr>
                      <a:r>
                        <a:rPr lang="en-IN" b="1"/>
                        <a:t>Output so far</a:t>
                      </a:r>
                      <a:endParaRPr lang="en-IN"/>
                    </a:p>
                  </a:txBody>
                  <a:tcPr anchor="ctr"/>
                </a:tc>
                <a:tc>
                  <a:txBody>
                    <a:bodyPr/>
                    <a:lstStyle/>
                    <a:p>
                      <a:pPr>
                        <a:buNone/>
                      </a:pPr>
                      <a:r>
                        <a:rPr lang="en-US" dirty="0"/>
                        <a:t>Partial weighted sum of V, corrected at each step</a:t>
                      </a:r>
                    </a:p>
                  </a:txBody>
                  <a:tcPr anchor="ctr"/>
                </a:tc>
                <a:extLst>
                  <a:ext uri="{0D108BD9-81ED-4DB2-BD59-A6C34878D82A}">
                    <a16:rowId xmlns:a16="http://schemas.microsoft.com/office/drawing/2014/main" val="4270375693"/>
                  </a:ext>
                </a:extLst>
              </a:tr>
            </a:tbl>
          </a:graphicData>
        </a:graphic>
      </p:graphicFrame>
    </p:spTree>
    <p:extLst>
      <p:ext uri="{BB962C8B-B14F-4D97-AF65-F5344CB8AC3E}">
        <p14:creationId xmlns:p14="http://schemas.microsoft.com/office/powerpoint/2010/main" val="1836122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1667" y="4277386"/>
            <a:ext cx="850053" cy="341184"/>
          </a:xfrm>
          <a:prstGeom prst="rect">
            <a:avLst/>
          </a:prstGeom>
        </p:spPr>
        <p:txBody>
          <a:bodyPr vert="horz" wrap="square" lIns="0" tIns="22860" rIns="0" bIns="0" rtlCol="0">
            <a:spAutoFit/>
          </a:bodyPr>
          <a:lstStyle/>
          <a:p>
            <a:pPr marL="16933">
              <a:spcBef>
                <a:spcPts val="180"/>
              </a:spcBef>
            </a:pPr>
            <a:r>
              <a:rPr sz="2067" spc="-73" dirty="0">
                <a:solidFill>
                  <a:srgbClr val="257693"/>
                </a:solidFill>
                <a:latin typeface="Arial Black"/>
                <a:cs typeface="Arial Black"/>
              </a:rPr>
              <a:t>VRAM</a:t>
            </a:r>
            <a:endParaRPr sz="2067">
              <a:latin typeface="Arial Black"/>
              <a:cs typeface="Arial Black"/>
            </a:endParaRPr>
          </a:p>
        </p:txBody>
      </p:sp>
      <p:grpSp>
        <p:nvGrpSpPr>
          <p:cNvPr id="3" name="object 3"/>
          <p:cNvGrpSpPr/>
          <p:nvPr/>
        </p:nvGrpSpPr>
        <p:grpSpPr>
          <a:xfrm>
            <a:off x="1641267" y="4318235"/>
            <a:ext cx="3640667" cy="1139613"/>
            <a:chOff x="1230950" y="3238676"/>
            <a:chExt cx="2730500" cy="854710"/>
          </a:xfrm>
        </p:grpSpPr>
        <p:sp>
          <p:nvSpPr>
            <p:cNvPr id="4" name="object 4"/>
            <p:cNvSpPr/>
            <p:nvPr/>
          </p:nvSpPr>
          <p:spPr>
            <a:xfrm>
              <a:off x="2180072" y="3249801"/>
              <a:ext cx="832485" cy="832485"/>
            </a:xfrm>
            <a:custGeom>
              <a:avLst/>
              <a:gdLst/>
              <a:ahLst/>
              <a:cxnLst/>
              <a:rect l="l" t="t" r="r" b="b"/>
              <a:pathLst>
                <a:path w="832485" h="832485">
                  <a:moveTo>
                    <a:pt x="0" y="0"/>
                  </a:moveTo>
                  <a:lnTo>
                    <a:pt x="831899" y="0"/>
                  </a:lnTo>
                  <a:lnTo>
                    <a:pt x="831899" y="831899"/>
                  </a:lnTo>
                  <a:lnTo>
                    <a:pt x="0" y="831899"/>
                  </a:lnTo>
                  <a:lnTo>
                    <a:pt x="0" y="0"/>
                  </a:lnTo>
                  <a:close/>
                </a:path>
              </a:pathLst>
            </a:custGeom>
            <a:ln w="21649">
              <a:solidFill>
                <a:srgbClr val="4696AA"/>
              </a:solidFill>
            </a:ln>
          </p:spPr>
          <p:txBody>
            <a:bodyPr wrap="square" lIns="0" tIns="0" rIns="0" bIns="0" rtlCol="0"/>
            <a:lstStyle/>
            <a:p>
              <a:endParaRPr sz="2400"/>
            </a:p>
          </p:txBody>
        </p:sp>
        <p:sp>
          <p:nvSpPr>
            <p:cNvPr id="5" name="object 5"/>
            <p:cNvSpPr/>
            <p:nvPr/>
          </p:nvSpPr>
          <p:spPr>
            <a:xfrm>
              <a:off x="2291249" y="3249801"/>
              <a:ext cx="617220" cy="838200"/>
            </a:xfrm>
            <a:custGeom>
              <a:avLst/>
              <a:gdLst/>
              <a:ahLst/>
              <a:cxnLst/>
              <a:rect l="l" t="t" r="r" b="b"/>
              <a:pathLst>
                <a:path w="617219" h="838200">
                  <a:moveTo>
                    <a:pt x="304773" y="0"/>
                  </a:moveTo>
                  <a:lnTo>
                    <a:pt x="304773" y="831899"/>
                  </a:lnTo>
                </a:path>
                <a:path w="617219" h="838200">
                  <a:moveTo>
                    <a:pt x="512673" y="0"/>
                  </a:moveTo>
                  <a:lnTo>
                    <a:pt x="512673" y="831899"/>
                  </a:lnTo>
                </a:path>
                <a:path w="617219" h="838200">
                  <a:moveTo>
                    <a:pt x="206169" y="5974"/>
                  </a:moveTo>
                  <a:lnTo>
                    <a:pt x="206169" y="837874"/>
                  </a:lnTo>
                </a:path>
                <a:path w="617219" h="838200">
                  <a:moveTo>
                    <a:pt x="107623" y="5961"/>
                  </a:moveTo>
                  <a:lnTo>
                    <a:pt x="107623" y="837861"/>
                  </a:lnTo>
                </a:path>
                <a:path w="617219" h="838200">
                  <a:moveTo>
                    <a:pt x="0" y="0"/>
                  </a:moveTo>
                  <a:lnTo>
                    <a:pt x="0" y="831899"/>
                  </a:lnTo>
                </a:path>
                <a:path w="617219" h="838200">
                  <a:moveTo>
                    <a:pt x="408723" y="0"/>
                  </a:moveTo>
                  <a:lnTo>
                    <a:pt x="408723" y="831899"/>
                  </a:lnTo>
                </a:path>
                <a:path w="617219"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6" name="object 6"/>
            <p:cNvSpPr/>
            <p:nvPr/>
          </p:nvSpPr>
          <p:spPr>
            <a:xfrm>
              <a:off x="3118085" y="3249788"/>
              <a:ext cx="832485" cy="832485"/>
            </a:xfrm>
            <a:custGeom>
              <a:avLst/>
              <a:gdLst/>
              <a:ahLst/>
              <a:cxnLst/>
              <a:rect l="l" t="t" r="r" b="b"/>
              <a:pathLst>
                <a:path w="832485" h="832485">
                  <a:moveTo>
                    <a:pt x="0" y="0"/>
                  </a:moveTo>
                  <a:lnTo>
                    <a:pt x="831899" y="0"/>
                  </a:lnTo>
                  <a:lnTo>
                    <a:pt x="831899" y="831899"/>
                  </a:lnTo>
                  <a:lnTo>
                    <a:pt x="0" y="831899"/>
                  </a:lnTo>
                  <a:lnTo>
                    <a:pt x="0" y="0"/>
                  </a:lnTo>
                  <a:close/>
                </a:path>
              </a:pathLst>
            </a:custGeom>
            <a:ln w="21649">
              <a:solidFill>
                <a:srgbClr val="5AB46E"/>
              </a:solidFill>
            </a:ln>
          </p:spPr>
          <p:txBody>
            <a:bodyPr wrap="square" lIns="0" tIns="0" rIns="0" bIns="0" rtlCol="0"/>
            <a:lstStyle/>
            <a:p>
              <a:endParaRPr sz="2400"/>
            </a:p>
          </p:txBody>
        </p:sp>
        <p:sp>
          <p:nvSpPr>
            <p:cNvPr id="7" name="object 7"/>
            <p:cNvSpPr/>
            <p:nvPr/>
          </p:nvSpPr>
          <p:spPr>
            <a:xfrm>
              <a:off x="3229261" y="3249788"/>
              <a:ext cx="617220" cy="838200"/>
            </a:xfrm>
            <a:custGeom>
              <a:avLst/>
              <a:gdLst/>
              <a:ahLst/>
              <a:cxnLst/>
              <a:rect l="l" t="t" r="r" b="b"/>
              <a:pathLst>
                <a:path w="617220" h="838200">
                  <a:moveTo>
                    <a:pt x="304773" y="0"/>
                  </a:moveTo>
                  <a:lnTo>
                    <a:pt x="304773" y="831899"/>
                  </a:lnTo>
                </a:path>
                <a:path w="617220" h="838200">
                  <a:moveTo>
                    <a:pt x="512673" y="0"/>
                  </a:moveTo>
                  <a:lnTo>
                    <a:pt x="512673" y="831899"/>
                  </a:lnTo>
                </a:path>
                <a:path w="617220" h="838200">
                  <a:moveTo>
                    <a:pt x="206169" y="5974"/>
                  </a:moveTo>
                  <a:lnTo>
                    <a:pt x="206169" y="837874"/>
                  </a:lnTo>
                </a:path>
                <a:path w="617220" h="838200">
                  <a:moveTo>
                    <a:pt x="107623" y="5961"/>
                  </a:moveTo>
                  <a:lnTo>
                    <a:pt x="107623" y="837861"/>
                  </a:lnTo>
                </a:path>
                <a:path w="617220" h="838200">
                  <a:moveTo>
                    <a:pt x="0" y="0"/>
                  </a:moveTo>
                  <a:lnTo>
                    <a:pt x="0" y="831899"/>
                  </a:lnTo>
                </a:path>
                <a:path w="617220" h="838200">
                  <a:moveTo>
                    <a:pt x="408723" y="0"/>
                  </a:moveTo>
                  <a:lnTo>
                    <a:pt x="408723" y="831899"/>
                  </a:lnTo>
                </a:path>
                <a:path w="617220"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8" name="object 8"/>
            <p:cNvSpPr/>
            <p:nvPr/>
          </p:nvSpPr>
          <p:spPr>
            <a:xfrm>
              <a:off x="1242062" y="3249876"/>
              <a:ext cx="832485" cy="832485"/>
            </a:xfrm>
            <a:custGeom>
              <a:avLst/>
              <a:gdLst/>
              <a:ahLst/>
              <a:cxnLst/>
              <a:rect l="l" t="t" r="r" b="b"/>
              <a:pathLst>
                <a:path w="832485" h="832485">
                  <a:moveTo>
                    <a:pt x="0" y="0"/>
                  </a:moveTo>
                  <a:lnTo>
                    <a:pt x="831900" y="0"/>
                  </a:lnTo>
                  <a:lnTo>
                    <a:pt x="831900" y="831899"/>
                  </a:lnTo>
                  <a:lnTo>
                    <a:pt x="0" y="831899"/>
                  </a:lnTo>
                  <a:lnTo>
                    <a:pt x="0" y="0"/>
                  </a:lnTo>
                  <a:close/>
                </a:path>
              </a:pathLst>
            </a:custGeom>
            <a:ln w="21649">
              <a:solidFill>
                <a:srgbClr val="F65B66"/>
              </a:solidFill>
            </a:ln>
          </p:spPr>
          <p:txBody>
            <a:bodyPr wrap="square" lIns="0" tIns="0" rIns="0" bIns="0" rtlCol="0"/>
            <a:lstStyle/>
            <a:p>
              <a:endParaRPr sz="2400"/>
            </a:p>
          </p:txBody>
        </p:sp>
      </p:grpSp>
      <p:sp>
        <p:nvSpPr>
          <p:cNvPr id="9" name="object 9"/>
          <p:cNvSpPr txBox="1"/>
          <p:nvPr/>
        </p:nvSpPr>
        <p:spPr>
          <a:xfrm>
            <a:off x="1951145" y="4476679"/>
            <a:ext cx="2986193" cy="761747"/>
          </a:xfrm>
          <a:prstGeom prst="rect">
            <a:avLst/>
          </a:prstGeom>
        </p:spPr>
        <p:txBody>
          <a:bodyPr vert="horz" wrap="square" lIns="0" tIns="22860" rIns="0" bIns="0" rtlCol="0">
            <a:spAutoFit/>
          </a:bodyPr>
          <a:lstStyle/>
          <a:p>
            <a:pPr marL="16933">
              <a:spcBef>
                <a:spcPts val="180"/>
              </a:spcBef>
              <a:tabLst>
                <a:tab pos="1325000" algn="l"/>
                <a:tab pos="2552636" algn="l"/>
              </a:tabLst>
            </a:pPr>
            <a:r>
              <a:rPr sz="4800" spc="7" dirty="0">
                <a:latin typeface="Lucida Sans Unicode"/>
                <a:cs typeface="Lucida Sans Unicode"/>
              </a:rPr>
              <a:t>Q</a:t>
            </a:r>
            <a:r>
              <a:rPr sz="4800" dirty="0">
                <a:latin typeface="Lucida Sans Unicode"/>
                <a:cs typeface="Lucida Sans Unicode"/>
              </a:rPr>
              <a:t>	</a:t>
            </a:r>
            <a:r>
              <a:rPr sz="4800" spc="-67" dirty="0">
                <a:latin typeface="Lucida Sans Unicode"/>
                <a:cs typeface="Lucida Sans Unicode"/>
              </a:rPr>
              <a:t>K</a:t>
            </a:r>
            <a:r>
              <a:rPr sz="4800" dirty="0">
                <a:latin typeface="Lucida Sans Unicode"/>
                <a:cs typeface="Lucida Sans Unicode"/>
              </a:rPr>
              <a:t>	</a:t>
            </a:r>
            <a:r>
              <a:rPr sz="4800" spc="53" dirty="0">
                <a:latin typeface="Lucida Sans Unicode"/>
                <a:cs typeface="Lucida Sans Unicode"/>
              </a:rPr>
              <a:t>V</a:t>
            </a:r>
            <a:endParaRPr sz="4800">
              <a:latin typeface="Lucida Sans Unicode"/>
              <a:cs typeface="Lucida Sans Unicode"/>
            </a:endParaRPr>
          </a:p>
        </p:txBody>
      </p:sp>
      <p:sp>
        <p:nvSpPr>
          <p:cNvPr id="10" name="object 10"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Flash</a:t>
            </a:r>
            <a:r>
              <a:rPr spc="80" dirty="0"/>
              <a:t> </a:t>
            </a:r>
            <a:r>
              <a:rPr spc="-13" dirty="0"/>
              <a:t>attention</a:t>
            </a:r>
          </a:p>
        </p:txBody>
      </p:sp>
      <p:grpSp>
        <p:nvGrpSpPr>
          <p:cNvPr id="11" name="object 11"/>
          <p:cNvGrpSpPr/>
          <p:nvPr/>
        </p:nvGrpSpPr>
        <p:grpSpPr>
          <a:xfrm>
            <a:off x="1797969" y="1482559"/>
            <a:ext cx="3258820" cy="3974253"/>
            <a:chOff x="1348476" y="1111919"/>
            <a:chExt cx="2444115" cy="2980690"/>
          </a:xfrm>
        </p:grpSpPr>
        <p:sp>
          <p:nvSpPr>
            <p:cNvPr id="12" name="object 12"/>
            <p:cNvSpPr/>
            <p:nvPr/>
          </p:nvSpPr>
          <p:spPr>
            <a:xfrm>
              <a:off x="1353239" y="3249876"/>
              <a:ext cx="617220" cy="838200"/>
            </a:xfrm>
            <a:custGeom>
              <a:avLst/>
              <a:gdLst/>
              <a:ahLst/>
              <a:cxnLst/>
              <a:rect l="l" t="t" r="r" b="b"/>
              <a:pathLst>
                <a:path w="617219" h="838200">
                  <a:moveTo>
                    <a:pt x="304773" y="0"/>
                  </a:moveTo>
                  <a:lnTo>
                    <a:pt x="304773" y="831899"/>
                  </a:lnTo>
                </a:path>
                <a:path w="617219" h="838200">
                  <a:moveTo>
                    <a:pt x="512673" y="0"/>
                  </a:moveTo>
                  <a:lnTo>
                    <a:pt x="512673" y="831899"/>
                  </a:lnTo>
                </a:path>
                <a:path w="617219" h="838200">
                  <a:moveTo>
                    <a:pt x="206169" y="5974"/>
                  </a:moveTo>
                  <a:lnTo>
                    <a:pt x="206169" y="837874"/>
                  </a:lnTo>
                </a:path>
                <a:path w="617219" h="838200">
                  <a:moveTo>
                    <a:pt x="107623" y="5961"/>
                  </a:moveTo>
                  <a:lnTo>
                    <a:pt x="107623" y="837861"/>
                  </a:lnTo>
                </a:path>
                <a:path w="617219" h="838200">
                  <a:moveTo>
                    <a:pt x="0" y="0"/>
                  </a:moveTo>
                  <a:lnTo>
                    <a:pt x="0" y="831899"/>
                  </a:lnTo>
                </a:path>
                <a:path w="617219" h="838200">
                  <a:moveTo>
                    <a:pt x="408723" y="0"/>
                  </a:moveTo>
                  <a:lnTo>
                    <a:pt x="408723" y="831899"/>
                  </a:lnTo>
                </a:path>
                <a:path w="617219" h="838200">
                  <a:moveTo>
                    <a:pt x="616623" y="0"/>
                  </a:moveTo>
                  <a:lnTo>
                    <a:pt x="616623" y="831899"/>
                  </a:lnTo>
                </a:path>
              </a:pathLst>
            </a:custGeom>
            <a:ln w="9524">
              <a:solidFill>
                <a:srgbClr val="595959"/>
              </a:solidFill>
            </a:ln>
          </p:spPr>
          <p:txBody>
            <a:bodyPr wrap="square" lIns="0" tIns="0" rIns="0" bIns="0" rtlCol="0"/>
            <a:lstStyle/>
            <a:p>
              <a:endParaRPr sz="2400"/>
            </a:p>
          </p:txBody>
        </p:sp>
        <p:sp>
          <p:nvSpPr>
            <p:cNvPr id="13" name="object 13"/>
            <p:cNvSpPr/>
            <p:nvPr/>
          </p:nvSpPr>
          <p:spPr>
            <a:xfrm>
              <a:off x="1626408" y="1118269"/>
              <a:ext cx="2160270" cy="299085"/>
            </a:xfrm>
            <a:custGeom>
              <a:avLst/>
              <a:gdLst/>
              <a:ahLst/>
              <a:cxnLst/>
              <a:rect l="l" t="t" r="r" b="b"/>
              <a:pathLst>
                <a:path w="2160270" h="299084">
                  <a:moveTo>
                    <a:pt x="0" y="298954"/>
                  </a:moveTo>
                  <a:lnTo>
                    <a:pt x="2159740" y="298954"/>
                  </a:lnTo>
                  <a:lnTo>
                    <a:pt x="2159740" y="0"/>
                  </a:lnTo>
                  <a:lnTo>
                    <a:pt x="0" y="0"/>
                  </a:lnTo>
                  <a:lnTo>
                    <a:pt x="0" y="298954"/>
                  </a:lnTo>
                  <a:close/>
                </a:path>
              </a:pathLst>
            </a:custGeom>
            <a:solidFill>
              <a:srgbClr val="F4C4D1"/>
            </a:solidFill>
          </p:spPr>
          <p:txBody>
            <a:bodyPr wrap="square" lIns="0" tIns="0" rIns="0" bIns="0" rtlCol="0"/>
            <a:lstStyle/>
            <a:p>
              <a:endParaRPr sz="2400"/>
            </a:p>
          </p:txBody>
        </p:sp>
        <p:sp>
          <p:nvSpPr>
            <p:cNvPr id="14" name="object 14"/>
            <p:cNvSpPr/>
            <p:nvPr/>
          </p:nvSpPr>
          <p:spPr>
            <a:xfrm>
              <a:off x="1626408" y="1118269"/>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15" name="object 15"/>
            <p:cNvSpPr/>
            <p:nvPr/>
          </p:nvSpPr>
          <p:spPr>
            <a:xfrm>
              <a:off x="3685387" y="1417224"/>
              <a:ext cx="100965" cy="1225550"/>
            </a:xfrm>
            <a:custGeom>
              <a:avLst/>
              <a:gdLst/>
              <a:ahLst/>
              <a:cxnLst/>
              <a:rect l="l" t="t" r="r" b="b"/>
              <a:pathLst>
                <a:path w="100964" h="1225550">
                  <a:moveTo>
                    <a:pt x="0" y="1225411"/>
                  </a:moveTo>
                  <a:lnTo>
                    <a:pt x="100786" y="1225411"/>
                  </a:lnTo>
                  <a:lnTo>
                    <a:pt x="100786" y="0"/>
                  </a:lnTo>
                  <a:lnTo>
                    <a:pt x="0" y="0"/>
                  </a:lnTo>
                  <a:lnTo>
                    <a:pt x="0" y="1225411"/>
                  </a:lnTo>
                  <a:close/>
                </a:path>
              </a:pathLst>
            </a:custGeom>
            <a:solidFill>
              <a:srgbClr val="EBFAFF"/>
            </a:solidFill>
          </p:spPr>
          <p:txBody>
            <a:bodyPr wrap="square" lIns="0" tIns="0" rIns="0" bIns="0" rtlCol="0"/>
            <a:lstStyle/>
            <a:p>
              <a:endParaRPr sz="2400"/>
            </a:p>
          </p:txBody>
        </p:sp>
        <p:sp>
          <p:nvSpPr>
            <p:cNvPr id="16" name="object 16"/>
            <p:cNvSpPr/>
            <p:nvPr/>
          </p:nvSpPr>
          <p:spPr>
            <a:xfrm>
              <a:off x="1626434" y="1417224"/>
              <a:ext cx="2160270" cy="1225550"/>
            </a:xfrm>
            <a:custGeom>
              <a:avLst/>
              <a:gdLst/>
              <a:ahLst/>
              <a:cxnLst/>
              <a:rect l="l" t="t" r="r" b="b"/>
              <a:pathLst>
                <a:path w="2160270" h="1225550">
                  <a:moveTo>
                    <a:pt x="2159740" y="0"/>
                  </a:moveTo>
                  <a:lnTo>
                    <a:pt x="2159740" y="1225411"/>
                  </a:lnTo>
                  <a:lnTo>
                    <a:pt x="0" y="1225411"/>
                  </a:lnTo>
                  <a:lnTo>
                    <a:pt x="0" y="0"/>
                  </a:lnTo>
                  <a:lnTo>
                    <a:pt x="2159740" y="0"/>
                  </a:lnTo>
                  <a:close/>
                </a:path>
              </a:pathLst>
            </a:custGeom>
            <a:ln w="12599">
              <a:solidFill>
                <a:srgbClr val="237A94"/>
              </a:solidFill>
            </a:ln>
          </p:spPr>
          <p:txBody>
            <a:bodyPr wrap="square" lIns="0" tIns="0" rIns="0" bIns="0" rtlCol="0"/>
            <a:lstStyle/>
            <a:p>
              <a:endParaRPr sz="2400"/>
            </a:p>
          </p:txBody>
        </p:sp>
        <p:sp>
          <p:nvSpPr>
            <p:cNvPr id="17" name="object 17"/>
            <p:cNvSpPr/>
            <p:nvPr/>
          </p:nvSpPr>
          <p:spPr>
            <a:xfrm>
              <a:off x="1525647" y="1219030"/>
              <a:ext cx="2160270" cy="300355"/>
            </a:xfrm>
            <a:custGeom>
              <a:avLst/>
              <a:gdLst/>
              <a:ahLst/>
              <a:cxnLst/>
              <a:rect l="l" t="t" r="r" b="b"/>
              <a:pathLst>
                <a:path w="2160270" h="300355">
                  <a:moveTo>
                    <a:pt x="0" y="300246"/>
                  </a:moveTo>
                  <a:lnTo>
                    <a:pt x="2159740" y="300246"/>
                  </a:lnTo>
                  <a:lnTo>
                    <a:pt x="2159740" y="0"/>
                  </a:lnTo>
                  <a:lnTo>
                    <a:pt x="0" y="0"/>
                  </a:lnTo>
                  <a:lnTo>
                    <a:pt x="0" y="300246"/>
                  </a:lnTo>
                  <a:close/>
                </a:path>
              </a:pathLst>
            </a:custGeom>
            <a:solidFill>
              <a:srgbClr val="F4C4D1"/>
            </a:solidFill>
          </p:spPr>
          <p:txBody>
            <a:bodyPr wrap="square" lIns="0" tIns="0" rIns="0" bIns="0" rtlCol="0"/>
            <a:lstStyle/>
            <a:p>
              <a:endParaRPr sz="2400"/>
            </a:p>
          </p:txBody>
        </p:sp>
        <p:sp>
          <p:nvSpPr>
            <p:cNvPr id="18" name="object 18"/>
            <p:cNvSpPr/>
            <p:nvPr/>
          </p:nvSpPr>
          <p:spPr>
            <a:xfrm>
              <a:off x="1525647" y="1219030"/>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19" name="object 19"/>
            <p:cNvSpPr/>
            <p:nvPr/>
          </p:nvSpPr>
          <p:spPr>
            <a:xfrm>
              <a:off x="3584627" y="1519276"/>
              <a:ext cx="100965" cy="1224915"/>
            </a:xfrm>
            <a:custGeom>
              <a:avLst/>
              <a:gdLst/>
              <a:ahLst/>
              <a:cxnLst/>
              <a:rect l="l" t="t" r="r" b="b"/>
              <a:pathLst>
                <a:path w="100964" h="1224914">
                  <a:moveTo>
                    <a:pt x="0" y="1224414"/>
                  </a:moveTo>
                  <a:lnTo>
                    <a:pt x="100797" y="1224414"/>
                  </a:lnTo>
                  <a:lnTo>
                    <a:pt x="100797" y="0"/>
                  </a:lnTo>
                  <a:lnTo>
                    <a:pt x="0" y="0"/>
                  </a:lnTo>
                  <a:lnTo>
                    <a:pt x="0" y="1224414"/>
                  </a:lnTo>
                  <a:close/>
                </a:path>
              </a:pathLst>
            </a:custGeom>
            <a:solidFill>
              <a:srgbClr val="EBFAFF"/>
            </a:solidFill>
          </p:spPr>
          <p:txBody>
            <a:bodyPr wrap="square" lIns="0" tIns="0" rIns="0" bIns="0" rtlCol="0"/>
            <a:lstStyle/>
            <a:p>
              <a:endParaRPr sz="2400"/>
            </a:p>
          </p:txBody>
        </p:sp>
        <p:sp>
          <p:nvSpPr>
            <p:cNvPr id="20" name="object 20"/>
            <p:cNvSpPr/>
            <p:nvPr/>
          </p:nvSpPr>
          <p:spPr>
            <a:xfrm>
              <a:off x="1525684" y="1519276"/>
              <a:ext cx="2160270" cy="1224915"/>
            </a:xfrm>
            <a:custGeom>
              <a:avLst/>
              <a:gdLst/>
              <a:ahLst/>
              <a:cxnLst/>
              <a:rect l="l" t="t" r="r" b="b"/>
              <a:pathLst>
                <a:path w="2160270" h="1224914">
                  <a:moveTo>
                    <a:pt x="2159740" y="0"/>
                  </a:moveTo>
                  <a:lnTo>
                    <a:pt x="2159740" y="1224414"/>
                  </a:lnTo>
                  <a:lnTo>
                    <a:pt x="0" y="1224414"/>
                  </a:lnTo>
                  <a:lnTo>
                    <a:pt x="0" y="0"/>
                  </a:lnTo>
                  <a:lnTo>
                    <a:pt x="2159740" y="0"/>
                  </a:lnTo>
                  <a:close/>
                </a:path>
              </a:pathLst>
            </a:custGeom>
            <a:ln w="12599">
              <a:solidFill>
                <a:srgbClr val="237A94"/>
              </a:solidFill>
            </a:ln>
          </p:spPr>
          <p:txBody>
            <a:bodyPr wrap="square" lIns="0" tIns="0" rIns="0" bIns="0" rtlCol="0"/>
            <a:lstStyle/>
            <a:p>
              <a:endParaRPr sz="2400"/>
            </a:p>
          </p:txBody>
        </p:sp>
        <p:sp>
          <p:nvSpPr>
            <p:cNvPr id="21" name="object 21"/>
            <p:cNvSpPr/>
            <p:nvPr/>
          </p:nvSpPr>
          <p:spPr>
            <a:xfrm>
              <a:off x="1424886" y="1319791"/>
              <a:ext cx="2160270" cy="298450"/>
            </a:xfrm>
            <a:custGeom>
              <a:avLst/>
              <a:gdLst/>
              <a:ahLst/>
              <a:cxnLst/>
              <a:rect l="l" t="t" r="r" b="b"/>
              <a:pathLst>
                <a:path w="2160270" h="298450">
                  <a:moveTo>
                    <a:pt x="0" y="298333"/>
                  </a:moveTo>
                  <a:lnTo>
                    <a:pt x="2159740" y="298333"/>
                  </a:lnTo>
                  <a:lnTo>
                    <a:pt x="2159740" y="0"/>
                  </a:lnTo>
                  <a:lnTo>
                    <a:pt x="0" y="0"/>
                  </a:lnTo>
                  <a:lnTo>
                    <a:pt x="0" y="298333"/>
                  </a:lnTo>
                  <a:close/>
                </a:path>
              </a:pathLst>
            </a:custGeom>
            <a:solidFill>
              <a:srgbClr val="F4C4D1"/>
            </a:solidFill>
          </p:spPr>
          <p:txBody>
            <a:bodyPr wrap="square" lIns="0" tIns="0" rIns="0" bIns="0" rtlCol="0"/>
            <a:lstStyle/>
            <a:p>
              <a:endParaRPr sz="2400"/>
            </a:p>
          </p:txBody>
        </p:sp>
        <p:sp>
          <p:nvSpPr>
            <p:cNvPr id="22" name="object 22"/>
            <p:cNvSpPr/>
            <p:nvPr/>
          </p:nvSpPr>
          <p:spPr>
            <a:xfrm>
              <a:off x="1424886" y="1319791"/>
              <a:ext cx="2160270" cy="1515745"/>
            </a:xfrm>
            <a:custGeom>
              <a:avLst/>
              <a:gdLst/>
              <a:ahLst/>
              <a:cxnLst/>
              <a:rect l="l" t="t" r="r" b="b"/>
              <a:pathLst>
                <a:path w="2160270" h="1515745">
                  <a:moveTo>
                    <a:pt x="0" y="0"/>
                  </a:moveTo>
                  <a:lnTo>
                    <a:pt x="2159740" y="0"/>
                  </a:lnTo>
                  <a:lnTo>
                    <a:pt x="2159740" y="1515561"/>
                  </a:lnTo>
                  <a:lnTo>
                    <a:pt x="0" y="1515561"/>
                  </a:lnTo>
                  <a:lnTo>
                    <a:pt x="0" y="0"/>
                  </a:lnTo>
                  <a:close/>
                </a:path>
              </a:pathLst>
            </a:custGeom>
            <a:ln w="12599">
              <a:solidFill>
                <a:srgbClr val="F65B66"/>
              </a:solidFill>
            </a:ln>
          </p:spPr>
          <p:txBody>
            <a:bodyPr wrap="square" lIns="0" tIns="0" rIns="0" bIns="0" rtlCol="0"/>
            <a:lstStyle/>
            <a:p>
              <a:endParaRPr sz="2400"/>
            </a:p>
          </p:txBody>
        </p:sp>
        <p:sp>
          <p:nvSpPr>
            <p:cNvPr id="23" name="object 23"/>
            <p:cNvSpPr/>
            <p:nvPr/>
          </p:nvSpPr>
          <p:spPr>
            <a:xfrm>
              <a:off x="1424909" y="1618124"/>
              <a:ext cx="2160270" cy="1226820"/>
            </a:xfrm>
            <a:custGeom>
              <a:avLst/>
              <a:gdLst/>
              <a:ahLst/>
              <a:cxnLst/>
              <a:rect l="l" t="t" r="r" b="b"/>
              <a:pathLst>
                <a:path w="2160270" h="1226820">
                  <a:moveTo>
                    <a:pt x="2159740" y="1226408"/>
                  </a:moveTo>
                  <a:lnTo>
                    <a:pt x="0" y="1226408"/>
                  </a:lnTo>
                  <a:lnTo>
                    <a:pt x="0" y="0"/>
                  </a:lnTo>
                  <a:lnTo>
                    <a:pt x="2159740" y="0"/>
                  </a:lnTo>
                  <a:lnTo>
                    <a:pt x="2159740" y="1226408"/>
                  </a:lnTo>
                  <a:close/>
                </a:path>
              </a:pathLst>
            </a:custGeom>
            <a:solidFill>
              <a:srgbClr val="EBFAFF"/>
            </a:solidFill>
          </p:spPr>
          <p:txBody>
            <a:bodyPr wrap="square" lIns="0" tIns="0" rIns="0" bIns="0" rtlCol="0"/>
            <a:lstStyle/>
            <a:p>
              <a:endParaRPr sz="2400"/>
            </a:p>
          </p:txBody>
        </p:sp>
        <p:sp>
          <p:nvSpPr>
            <p:cNvPr id="24" name="object 24"/>
            <p:cNvSpPr/>
            <p:nvPr/>
          </p:nvSpPr>
          <p:spPr>
            <a:xfrm>
              <a:off x="1424909" y="1618124"/>
              <a:ext cx="2160270" cy="1226820"/>
            </a:xfrm>
            <a:custGeom>
              <a:avLst/>
              <a:gdLst/>
              <a:ahLst/>
              <a:cxnLst/>
              <a:rect l="l" t="t" r="r" b="b"/>
              <a:pathLst>
                <a:path w="2160270" h="1226820">
                  <a:moveTo>
                    <a:pt x="2159740" y="0"/>
                  </a:moveTo>
                  <a:lnTo>
                    <a:pt x="2159740" y="1226408"/>
                  </a:lnTo>
                  <a:lnTo>
                    <a:pt x="0" y="1226408"/>
                  </a:lnTo>
                  <a:lnTo>
                    <a:pt x="0" y="0"/>
                  </a:lnTo>
                  <a:lnTo>
                    <a:pt x="2159740" y="0"/>
                  </a:lnTo>
                  <a:close/>
                </a:path>
              </a:pathLst>
            </a:custGeom>
            <a:ln w="12599">
              <a:solidFill>
                <a:srgbClr val="237A94"/>
              </a:solidFill>
            </a:ln>
          </p:spPr>
          <p:txBody>
            <a:bodyPr wrap="square" lIns="0" tIns="0" rIns="0" bIns="0" rtlCol="0"/>
            <a:lstStyle/>
            <a:p>
              <a:endParaRPr sz="2400"/>
            </a:p>
          </p:txBody>
        </p:sp>
      </p:grpSp>
      <p:sp>
        <p:nvSpPr>
          <p:cNvPr id="25" name="object 25"/>
          <p:cNvSpPr txBox="1"/>
          <p:nvPr/>
        </p:nvSpPr>
        <p:spPr>
          <a:xfrm>
            <a:off x="2100425" y="1135607"/>
            <a:ext cx="2090420" cy="341184"/>
          </a:xfrm>
          <a:prstGeom prst="rect">
            <a:avLst/>
          </a:prstGeom>
        </p:spPr>
        <p:txBody>
          <a:bodyPr vert="horz" wrap="square" lIns="0" tIns="22860" rIns="0" bIns="0" rtlCol="0">
            <a:spAutoFit/>
          </a:bodyPr>
          <a:lstStyle/>
          <a:p>
            <a:pPr marL="16933">
              <a:spcBef>
                <a:spcPts val="180"/>
              </a:spcBef>
            </a:pPr>
            <a:r>
              <a:rPr sz="2067" dirty="0">
                <a:solidFill>
                  <a:srgbClr val="257693"/>
                </a:solidFill>
                <a:latin typeface="Arial Black"/>
                <a:cs typeface="Arial Black"/>
              </a:rPr>
              <a:t>Compute</a:t>
            </a:r>
            <a:r>
              <a:rPr sz="2067" spc="-147" dirty="0">
                <a:solidFill>
                  <a:srgbClr val="257693"/>
                </a:solidFill>
                <a:latin typeface="Arial Black"/>
                <a:cs typeface="Arial Black"/>
              </a:rPr>
              <a:t> </a:t>
            </a:r>
            <a:r>
              <a:rPr sz="2067" spc="-13" dirty="0">
                <a:solidFill>
                  <a:srgbClr val="257693"/>
                </a:solidFill>
                <a:latin typeface="Arial Black"/>
                <a:cs typeface="Arial Black"/>
              </a:rPr>
              <a:t>units</a:t>
            </a:r>
            <a:endParaRPr sz="2067">
              <a:latin typeface="Arial Black"/>
              <a:cs typeface="Arial Black"/>
            </a:endParaRPr>
          </a:p>
        </p:txBody>
      </p:sp>
      <p:grpSp>
        <p:nvGrpSpPr>
          <p:cNvPr id="26" name="object 26"/>
          <p:cNvGrpSpPr/>
          <p:nvPr/>
        </p:nvGrpSpPr>
        <p:grpSpPr>
          <a:xfrm>
            <a:off x="1979868" y="2692872"/>
            <a:ext cx="2721185" cy="579120"/>
            <a:chOff x="1484900" y="2019654"/>
            <a:chExt cx="2040889" cy="434340"/>
          </a:xfrm>
        </p:grpSpPr>
        <p:sp>
          <p:nvSpPr>
            <p:cNvPr id="27" name="object 27"/>
            <p:cNvSpPr/>
            <p:nvPr/>
          </p:nvSpPr>
          <p:spPr>
            <a:xfrm>
              <a:off x="3189757" y="2025891"/>
              <a:ext cx="331470" cy="423545"/>
            </a:xfrm>
            <a:custGeom>
              <a:avLst/>
              <a:gdLst/>
              <a:ahLst/>
              <a:cxnLst/>
              <a:rect l="l" t="t" r="r" b="b"/>
              <a:pathLst>
                <a:path w="331470"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28" name="object 28"/>
            <p:cNvSpPr/>
            <p:nvPr/>
          </p:nvSpPr>
          <p:spPr>
            <a:xfrm>
              <a:off x="3189757" y="2025891"/>
              <a:ext cx="331470" cy="423545"/>
            </a:xfrm>
            <a:custGeom>
              <a:avLst/>
              <a:gdLst/>
              <a:ahLst/>
              <a:cxnLst/>
              <a:rect l="l" t="t" r="r" b="b"/>
              <a:pathLst>
                <a:path w="331470" h="423544">
                  <a:moveTo>
                    <a:pt x="0" y="0"/>
                  </a:moveTo>
                  <a:lnTo>
                    <a:pt x="331199" y="0"/>
                  </a:lnTo>
                  <a:lnTo>
                    <a:pt x="331199" y="423299"/>
                  </a:lnTo>
                  <a:lnTo>
                    <a:pt x="0" y="423299"/>
                  </a:lnTo>
                  <a:lnTo>
                    <a:pt x="0" y="0"/>
                  </a:lnTo>
                  <a:close/>
                </a:path>
              </a:pathLst>
            </a:custGeom>
            <a:ln w="9449">
              <a:solidFill>
                <a:srgbClr val="A12F9D"/>
              </a:solidFill>
            </a:ln>
          </p:spPr>
          <p:txBody>
            <a:bodyPr wrap="square" lIns="0" tIns="0" rIns="0" bIns="0" rtlCol="0"/>
            <a:lstStyle/>
            <a:p>
              <a:endParaRPr sz="2400"/>
            </a:p>
          </p:txBody>
        </p:sp>
        <p:sp>
          <p:nvSpPr>
            <p:cNvPr id="29" name="object 29"/>
            <p:cNvSpPr/>
            <p:nvPr/>
          </p:nvSpPr>
          <p:spPr>
            <a:xfrm>
              <a:off x="1489662" y="202522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0" name="object 30"/>
            <p:cNvSpPr/>
            <p:nvPr/>
          </p:nvSpPr>
          <p:spPr>
            <a:xfrm>
              <a:off x="1489662" y="202522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F47272"/>
              </a:solidFill>
            </a:ln>
          </p:spPr>
          <p:txBody>
            <a:bodyPr wrap="square" lIns="0" tIns="0" rIns="0" bIns="0" rtlCol="0"/>
            <a:lstStyle/>
            <a:p>
              <a:endParaRPr sz="2400"/>
            </a:p>
          </p:txBody>
        </p:sp>
        <p:sp>
          <p:nvSpPr>
            <p:cNvPr id="31" name="object 31"/>
            <p:cNvSpPr/>
            <p:nvPr/>
          </p:nvSpPr>
          <p:spPr>
            <a:xfrm>
              <a:off x="1829487" y="202441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2" name="object 32"/>
            <p:cNvSpPr/>
            <p:nvPr/>
          </p:nvSpPr>
          <p:spPr>
            <a:xfrm>
              <a:off x="1829487" y="202441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4696AA"/>
              </a:solidFill>
            </a:ln>
          </p:spPr>
          <p:txBody>
            <a:bodyPr wrap="square" lIns="0" tIns="0" rIns="0" bIns="0" rtlCol="0"/>
            <a:lstStyle/>
            <a:p>
              <a:endParaRPr sz="2400"/>
            </a:p>
          </p:txBody>
        </p:sp>
      </p:grpSp>
      <p:sp>
        <p:nvSpPr>
          <p:cNvPr id="33" name="object 33"/>
          <p:cNvSpPr txBox="1"/>
          <p:nvPr/>
        </p:nvSpPr>
        <p:spPr>
          <a:xfrm>
            <a:off x="2071010" y="2772023"/>
            <a:ext cx="696807" cy="382092"/>
          </a:xfrm>
          <a:prstGeom prst="rect">
            <a:avLst/>
          </a:prstGeom>
        </p:spPr>
        <p:txBody>
          <a:bodyPr vert="horz" wrap="square" lIns="0" tIns="22860" rIns="0" bIns="0" rtlCol="0">
            <a:spAutoFit/>
          </a:bodyPr>
          <a:lstStyle/>
          <a:p>
            <a:pPr marL="16933">
              <a:spcBef>
                <a:spcPts val="180"/>
              </a:spcBef>
              <a:tabLst>
                <a:tab pos="497828" algn="l"/>
              </a:tabLst>
            </a:pPr>
            <a:r>
              <a:rPr sz="2333" spc="-67" dirty="0">
                <a:latin typeface="Lucida Sans Unicode"/>
                <a:cs typeface="Lucida Sans Unicode"/>
              </a:rPr>
              <a:t>Q</a:t>
            </a:r>
            <a:r>
              <a:rPr sz="2333" dirty="0">
                <a:latin typeface="Lucida Sans Unicode"/>
                <a:cs typeface="Lucida Sans Unicode"/>
              </a:rPr>
              <a:t>	</a:t>
            </a:r>
            <a:r>
              <a:rPr sz="2333" spc="-67" dirty="0">
                <a:latin typeface="Lucida Sans Unicode"/>
                <a:cs typeface="Lucida Sans Unicode"/>
              </a:rPr>
              <a:t>K</a:t>
            </a:r>
            <a:endParaRPr sz="2333">
              <a:latin typeface="Lucida Sans Unicode"/>
              <a:cs typeface="Lucida Sans Unicode"/>
            </a:endParaRPr>
          </a:p>
        </p:txBody>
      </p:sp>
      <p:grpSp>
        <p:nvGrpSpPr>
          <p:cNvPr id="34" name="object 34"/>
          <p:cNvGrpSpPr/>
          <p:nvPr/>
        </p:nvGrpSpPr>
        <p:grpSpPr>
          <a:xfrm>
            <a:off x="3791837" y="2693952"/>
            <a:ext cx="454660" cy="577427"/>
            <a:chOff x="2843877" y="2020464"/>
            <a:chExt cx="340995" cy="433070"/>
          </a:xfrm>
        </p:grpSpPr>
        <p:sp>
          <p:nvSpPr>
            <p:cNvPr id="35" name="object 35"/>
            <p:cNvSpPr/>
            <p:nvPr/>
          </p:nvSpPr>
          <p:spPr>
            <a:xfrm>
              <a:off x="2848639" y="2025227"/>
              <a:ext cx="331470" cy="423545"/>
            </a:xfrm>
            <a:custGeom>
              <a:avLst/>
              <a:gdLst/>
              <a:ahLst/>
              <a:cxnLst/>
              <a:rect l="l" t="t" r="r" b="b"/>
              <a:pathLst>
                <a:path w="331469" h="423544">
                  <a:moveTo>
                    <a:pt x="331199" y="423299"/>
                  </a:moveTo>
                  <a:lnTo>
                    <a:pt x="0" y="423299"/>
                  </a:lnTo>
                  <a:lnTo>
                    <a:pt x="0" y="0"/>
                  </a:lnTo>
                  <a:lnTo>
                    <a:pt x="331199" y="0"/>
                  </a:lnTo>
                  <a:lnTo>
                    <a:pt x="331199" y="423299"/>
                  </a:lnTo>
                  <a:close/>
                </a:path>
              </a:pathLst>
            </a:custGeom>
            <a:solidFill>
              <a:srgbClr val="FFFFFF"/>
            </a:solidFill>
          </p:spPr>
          <p:txBody>
            <a:bodyPr wrap="square" lIns="0" tIns="0" rIns="0" bIns="0" rtlCol="0"/>
            <a:lstStyle/>
            <a:p>
              <a:endParaRPr sz="2400"/>
            </a:p>
          </p:txBody>
        </p:sp>
        <p:sp>
          <p:nvSpPr>
            <p:cNvPr id="36" name="object 36"/>
            <p:cNvSpPr/>
            <p:nvPr/>
          </p:nvSpPr>
          <p:spPr>
            <a:xfrm>
              <a:off x="2848639" y="2025227"/>
              <a:ext cx="331470" cy="423545"/>
            </a:xfrm>
            <a:custGeom>
              <a:avLst/>
              <a:gdLst/>
              <a:ahLst/>
              <a:cxnLst/>
              <a:rect l="l" t="t" r="r" b="b"/>
              <a:pathLst>
                <a:path w="331469" h="423544">
                  <a:moveTo>
                    <a:pt x="0" y="0"/>
                  </a:moveTo>
                  <a:lnTo>
                    <a:pt x="331199" y="0"/>
                  </a:lnTo>
                  <a:lnTo>
                    <a:pt x="331199" y="423299"/>
                  </a:lnTo>
                  <a:lnTo>
                    <a:pt x="0" y="423299"/>
                  </a:lnTo>
                  <a:lnTo>
                    <a:pt x="0" y="0"/>
                  </a:lnTo>
                  <a:close/>
                </a:path>
              </a:pathLst>
            </a:custGeom>
            <a:ln w="9449">
              <a:solidFill>
                <a:srgbClr val="5AB46E"/>
              </a:solidFill>
            </a:ln>
          </p:spPr>
          <p:txBody>
            <a:bodyPr wrap="square" lIns="0" tIns="0" rIns="0" bIns="0" rtlCol="0"/>
            <a:lstStyle/>
            <a:p>
              <a:endParaRPr sz="2400"/>
            </a:p>
          </p:txBody>
        </p:sp>
      </p:grpSp>
      <p:sp>
        <p:nvSpPr>
          <p:cNvPr id="37" name="object 37"/>
          <p:cNvSpPr txBox="1"/>
          <p:nvPr/>
        </p:nvSpPr>
        <p:spPr>
          <a:xfrm>
            <a:off x="3899904" y="2772909"/>
            <a:ext cx="710353" cy="382092"/>
          </a:xfrm>
          <a:prstGeom prst="rect">
            <a:avLst/>
          </a:prstGeom>
        </p:spPr>
        <p:txBody>
          <a:bodyPr vert="horz" wrap="square" lIns="0" tIns="22860" rIns="0" bIns="0" rtlCol="0">
            <a:spAutoFit/>
          </a:bodyPr>
          <a:lstStyle/>
          <a:p>
            <a:pPr marL="16933">
              <a:spcBef>
                <a:spcPts val="180"/>
              </a:spcBef>
            </a:pPr>
            <a:r>
              <a:rPr sz="2333" dirty="0">
                <a:latin typeface="Lucida Sans Unicode"/>
                <a:cs typeface="Lucida Sans Unicode"/>
              </a:rPr>
              <a:t>V</a:t>
            </a:r>
            <a:r>
              <a:rPr sz="2333" spc="207" dirty="0">
                <a:latin typeface="Lucida Sans Unicode"/>
                <a:cs typeface="Lucida Sans Unicode"/>
              </a:rPr>
              <a:t>  </a:t>
            </a:r>
            <a:r>
              <a:rPr sz="2333" spc="-67" dirty="0">
                <a:latin typeface="Lucida Sans Unicode"/>
                <a:cs typeface="Lucida Sans Unicode"/>
              </a:rPr>
              <a:t>O</a:t>
            </a:r>
            <a:endParaRPr sz="2333">
              <a:latin typeface="Lucida Sans Unicode"/>
              <a:cs typeface="Lucida Sans Unicode"/>
            </a:endParaRPr>
          </a:p>
        </p:txBody>
      </p:sp>
      <p:grpSp>
        <p:nvGrpSpPr>
          <p:cNvPr id="38" name="object 38"/>
          <p:cNvGrpSpPr/>
          <p:nvPr/>
        </p:nvGrpSpPr>
        <p:grpSpPr>
          <a:xfrm>
            <a:off x="1656099" y="2701466"/>
            <a:ext cx="2782147" cy="2746585"/>
            <a:chOff x="1242074" y="2026099"/>
            <a:chExt cx="2086610" cy="2059939"/>
          </a:xfrm>
        </p:grpSpPr>
        <p:sp>
          <p:nvSpPr>
            <p:cNvPr id="39" name="object 39"/>
            <p:cNvSpPr/>
            <p:nvPr/>
          </p:nvSpPr>
          <p:spPr>
            <a:xfrm>
              <a:off x="1242074" y="325344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F65B66">
                <a:alpha val="48728"/>
              </a:srgbClr>
            </a:solidFill>
          </p:spPr>
          <p:txBody>
            <a:bodyPr wrap="square" lIns="0" tIns="0" rIns="0" bIns="0" rtlCol="0"/>
            <a:lstStyle/>
            <a:p>
              <a:endParaRPr sz="2400"/>
            </a:p>
          </p:txBody>
        </p:sp>
        <p:sp>
          <p:nvSpPr>
            <p:cNvPr id="40" name="object 40"/>
            <p:cNvSpPr/>
            <p:nvPr/>
          </p:nvSpPr>
          <p:spPr>
            <a:xfrm>
              <a:off x="2180924" y="3253974"/>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4696AA">
                <a:alpha val="50000"/>
              </a:srgbClr>
            </a:solidFill>
          </p:spPr>
          <p:txBody>
            <a:bodyPr wrap="square" lIns="0" tIns="0" rIns="0" bIns="0" rtlCol="0"/>
            <a:lstStyle/>
            <a:p>
              <a:endParaRPr sz="2400"/>
            </a:p>
          </p:txBody>
        </p:sp>
        <p:sp>
          <p:nvSpPr>
            <p:cNvPr id="41" name="object 41"/>
            <p:cNvSpPr/>
            <p:nvPr/>
          </p:nvSpPr>
          <p:spPr>
            <a:xfrm>
              <a:off x="3118924" y="324979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5AB46E">
                <a:alpha val="49369"/>
              </a:srgbClr>
            </a:solidFill>
          </p:spPr>
          <p:txBody>
            <a:bodyPr wrap="square" lIns="0" tIns="0" rIns="0" bIns="0" rtlCol="0"/>
            <a:lstStyle/>
            <a:p>
              <a:endParaRPr sz="2400"/>
            </a:p>
          </p:txBody>
        </p:sp>
        <p:sp>
          <p:nvSpPr>
            <p:cNvPr id="42" name="object 42"/>
            <p:cNvSpPr/>
            <p:nvPr/>
          </p:nvSpPr>
          <p:spPr>
            <a:xfrm>
              <a:off x="3193449" y="2026099"/>
              <a:ext cx="80010" cy="423545"/>
            </a:xfrm>
            <a:custGeom>
              <a:avLst/>
              <a:gdLst/>
              <a:ahLst/>
              <a:cxnLst/>
              <a:rect l="l" t="t" r="r" b="b"/>
              <a:pathLst>
                <a:path w="80010" h="423544">
                  <a:moveTo>
                    <a:pt x="79799" y="423299"/>
                  </a:moveTo>
                  <a:lnTo>
                    <a:pt x="0" y="423299"/>
                  </a:lnTo>
                  <a:lnTo>
                    <a:pt x="0" y="0"/>
                  </a:lnTo>
                  <a:lnTo>
                    <a:pt x="79799" y="0"/>
                  </a:lnTo>
                  <a:lnTo>
                    <a:pt x="79799" y="423299"/>
                  </a:lnTo>
                  <a:close/>
                </a:path>
              </a:pathLst>
            </a:custGeom>
            <a:solidFill>
              <a:srgbClr val="A12F9D">
                <a:alpha val="50000"/>
              </a:srgbClr>
            </a:solidFill>
          </p:spPr>
          <p:txBody>
            <a:bodyPr wrap="square" lIns="0" tIns="0" rIns="0" bIns="0" rtlCol="0"/>
            <a:lstStyle/>
            <a:p>
              <a:endParaRPr sz="2400"/>
            </a:p>
          </p:txBody>
        </p:sp>
        <p:sp>
          <p:nvSpPr>
            <p:cNvPr id="43" name="object 43"/>
            <p:cNvSpPr/>
            <p:nvPr/>
          </p:nvSpPr>
          <p:spPr>
            <a:xfrm>
              <a:off x="2279499" y="324979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4696AA">
                <a:alpha val="50000"/>
              </a:srgbClr>
            </a:solidFill>
          </p:spPr>
          <p:txBody>
            <a:bodyPr wrap="square" lIns="0" tIns="0" rIns="0" bIns="0" rtlCol="0"/>
            <a:lstStyle/>
            <a:p>
              <a:endParaRPr sz="2400"/>
            </a:p>
          </p:txBody>
        </p:sp>
        <p:sp>
          <p:nvSpPr>
            <p:cNvPr id="44" name="object 44"/>
            <p:cNvSpPr/>
            <p:nvPr/>
          </p:nvSpPr>
          <p:spPr>
            <a:xfrm>
              <a:off x="3217499" y="3249799"/>
              <a:ext cx="111125" cy="832485"/>
            </a:xfrm>
            <a:custGeom>
              <a:avLst/>
              <a:gdLst/>
              <a:ahLst/>
              <a:cxnLst/>
              <a:rect l="l" t="t" r="r" b="b"/>
              <a:pathLst>
                <a:path w="111125" h="832485">
                  <a:moveTo>
                    <a:pt x="110999" y="831899"/>
                  </a:moveTo>
                  <a:lnTo>
                    <a:pt x="0" y="831899"/>
                  </a:lnTo>
                  <a:lnTo>
                    <a:pt x="0" y="0"/>
                  </a:lnTo>
                  <a:lnTo>
                    <a:pt x="110999" y="0"/>
                  </a:lnTo>
                  <a:lnTo>
                    <a:pt x="110999" y="831899"/>
                  </a:lnTo>
                  <a:close/>
                </a:path>
              </a:pathLst>
            </a:custGeom>
            <a:solidFill>
              <a:srgbClr val="5AB46E">
                <a:alpha val="49369"/>
              </a:srgbClr>
            </a:solidFill>
          </p:spPr>
          <p:txBody>
            <a:bodyPr wrap="square" lIns="0" tIns="0" rIns="0" bIns="0" rtlCol="0"/>
            <a:lstStyle/>
            <a:p>
              <a:endParaRPr sz="2400"/>
            </a:p>
          </p:txBody>
        </p:sp>
        <p:sp>
          <p:nvSpPr>
            <p:cNvPr id="45" name="object 45"/>
            <p:cNvSpPr/>
            <p:nvPr/>
          </p:nvSpPr>
          <p:spPr>
            <a:xfrm>
              <a:off x="1995099" y="2504749"/>
              <a:ext cx="340360" cy="745490"/>
            </a:xfrm>
            <a:custGeom>
              <a:avLst/>
              <a:gdLst/>
              <a:ahLst/>
              <a:cxnLst/>
              <a:rect l="l" t="t" r="r" b="b"/>
              <a:pathLst>
                <a:path w="340360" h="745489">
                  <a:moveTo>
                    <a:pt x="339899" y="745049"/>
                  </a:moveTo>
                  <a:lnTo>
                    <a:pt x="339899" y="459322"/>
                  </a:lnTo>
                  <a:lnTo>
                    <a:pt x="0" y="459322"/>
                  </a:lnTo>
                  <a:lnTo>
                    <a:pt x="0" y="0"/>
                  </a:lnTo>
                </a:path>
              </a:pathLst>
            </a:custGeom>
            <a:ln w="9524">
              <a:solidFill>
                <a:srgbClr val="595959"/>
              </a:solidFill>
            </a:ln>
          </p:spPr>
          <p:txBody>
            <a:bodyPr wrap="square" lIns="0" tIns="0" rIns="0" bIns="0" rtlCol="0"/>
            <a:lstStyle/>
            <a:p>
              <a:endParaRPr sz="2400"/>
            </a:p>
          </p:txBody>
        </p:sp>
        <p:sp>
          <p:nvSpPr>
            <p:cNvPr id="46" name="object 46"/>
            <p:cNvSpPr/>
            <p:nvPr/>
          </p:nvSpPr>
          <p:spPr>
            <a:xfrm>
              <a:off x="1979367" y="2461524"/>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595959"/>
            </a:solidFill>
          </p:spPr>
          <p:txBody>
            <a:bodyPr wrap="square" lIns="0" tIns="0" rIns="0" bIns="0" rtlCol="0"/>
            <a:lstStyle/>
            <a:p>
              <a:endParaRPr sz="2400"/>
            </a:p>
          </p:txBody>
        </p:sp>
        <p:sp>
          <p:nvSpPr>
            <p:cNvPr id="47" name="object 47"/>
            <p:cNvSpPr/>
            <p:nvPr/>
          </p:nvSpPr>
          <p:spPr>
            <a:xfrm>
              <a:off x="1979367" y="2461524"/>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595959"/>
              </a:solidFill>
            </a:ln>
          </p:spPr>
          <p:txBody>
            <a:bodyPr wrap="square" lIns="0" tIns="0" rIns="0" bIns="0" rtlCol="0"/>
            <a:lstStyle/>
            <a:p>
              <a:endParaRPr sz="2400"/>
            </a:p>
          </p:txBody>
        </p:sp>
        <p:sp>
          <p:nvSpPr>
            <p:cNvPr id="48" name="object 48"/>
            <p:cNvSpPr/>
            <p:nvPr/>
          </p:nvSpPr>
          <p:spPr>
            <a:xfrm>
              <a:off x="3014099" y="2505649"/>
              <a:ext cx="259079" cy="744220"/>
            </a:xfrm>
            <a:custGeom>
              <a:avLst/>
              <a:gdLst/>
              <a:ahLst/>
              <a:cxnLst/>
              <a:rect l="l" t="t" r="r" b="b"/>
              <a:pathLst>
                <a:path w="259079" h="744219">
                  <a:moveTo>
                    <a:pt x="258899" y="744149"/>
                  </a:moveTo>
                  <a:lnTo>
                    <a:pt x="258899" y="451699"/>
                  </a:lnTo>
                  <a:lnTo>
                    <a:pt x="0" y="451699"/>
                  </a:lnTo>
                  <a:lnTo>
                    <a:pt x="0" y="0"/>
                  </a:lnTo>
                </a:path>
              </a:pathLst>
            </a:custGeom>
            <a:ln w="9524">
              <a:solidFill>
                <a:srgbClr val="595959"/>
              </a:solidFill>
            </a:ln>
          </p:spPr>
          <p:txBody>
            <a:bodyPr wrap="square" lIns="0" tIns="0" rIns="0" bIns="0" rtlCol="0"/>
            <a:lstStyle/>
            <a:p>
              <a:endParaRPr sz="2400"/>
            </a:p>
          </p:txBody>
        </p:sp>
        <p:sp>
          <p:nvSpPr>
            <p:cNvPr id="49" name="object 49"/>
            <p:cNvSpPr/>
            <p:nvPr/>
          </p:nvSpPr>
          <p:spPr>
            <a:xfrm>
              <a:off x="2998367" y="2462424"/>
              <a:ext cx="31750" cy="43815"/>
            </a:xfrm>
            <a:custGeom>
              <a:avLst/>
              <a:gdLst/>
              <a:ahLst/>
              <a:cxnLst/>
              <a:rect l="l" t="t" r="r" b="b"/>
              <a:pathLst>
                <a:path w="31750" h="43814">
                  <a:moveTo>
                    <a:pt x="31465" y="43225"/>
                  </a:moveTo>
                  <a:lnTo>
                    <a:pt x="0" y="43225"/>
                  </a:lnTo>
                  <a:lnTo>
                    <a:pt x="15732" y="0"/>
                  </a:lnTo>
                  <a:lnTo>
                    <a:pt x="31465" y="43225"/>
                  </a:lnTo>
                  <a:close/>
                </a:path>
              </a:pathLst>
            </a:custGeom>
            <a:solidFill>
              <a:srgbClr val="595959"/>
            </a:solidFill>
          </p:spPr>
          <p:txBody>
            <a:bodyPr wrap="square" lIns="0" tIns="0" rIns="0" bIns="0" rtlCol="0"/>
            <a:lstStyle/>
            <a:p>
              <a:endParaRPr sz="2400"/>
            </a:p>
          </p:txBody>
        </p:sp>
        <p:sp>
          <p:nvSpPr>
            <p:cNvPr id="50" name="object 50"/>
            <p:cNvSpPr/>
            <p:nvPr/>
          </p:nvSpPr>
          <p:spPr>
            <a:xfrm>
              <a:off x="2998367" y="2462424"/>
              <a:ext cx="31750" cy="43815"/>
            </a:xfrm>
            <a:custGeom>
              <a:avLst/>
              <a:gdLst/>
              <a:ahLst/>
              <a:cxnLst/>
              <a:rect l="l" t="t" r="r" b="b"/>
              <a:pathLst>
                <a:path w="31750" h="43814">
                  <a:moveTo>
                    <a:pt x="31465" y="43225"/>
                  </a:moveTo>
                  <a:lnTo>
                    <a:pt x="15732" y="0"/>
                  </a:lnTo>
                  <a:lnTo>
                    <a:pt x="0" y="43225"/>
                  </a:lnTo>
                  <a:lnTo>
                    <a:pt x="31465" y="43225"/>
                  </a:lnTo>
                  <a:close/>
                </a:path>
              </a:pathLst>
            </a:custGeom>
            <a:ln w="9524">
              <a:solidFill>
                <a:srgbClr val="595959"/>
              </a:solidFill>
            </a:ln>
          </p:spPr>
          <p:txBody>
            <a:bodyPr wrap="square" lIns="0" tIns="0" rIns="0" bIns="0" rtlCol="0"/>
            <a:lstStyle/>
            <a:p>
              <a:endParaRPr sz="2400"/>
            </a:p>
          </p:txBody>
        </p:sp>
      </p:grpSp>
      <p:sp>
        <p:nvSpPr>
          <p:cNvPr id="51" name="object 51"/>
          <p:cNvSpPr/>
          <p:nvPr/>
        </p:nvSpPr>
        <p:spPr>
          <a:xfrm>
            <a:off x="6991964" y="4103635"/>
            <a:ext cx="1561253" cy="1562947"/>
          </a:xfrm>
          <a:custGeom>
            <a:avLst/>
            <a:gdLst/>
            <a:ahLst/>
            <a:cxnLst/>
            <a:rect l="l" t="t" r="r" b="b"/>
            <a:pathLst>
              <a:path w="1170939" h="1172210">
                <a:moveTo>
                  <a:pt x="0" y="0"/>
                </a:moveTo>
                <a:lnTo>
                  <a:pt x="1170899" y="0"/>
                </a:lnTo>
                <a:lnTo>
                  <a:pt x="1170899" y="1171799"/>
                </a:lnTo>
                <a:lnTo>
                  <a:pt x="0" y="1171799"/>
                </a:lnTo>
                <a:lnTo>
                  <a:pt x="0" y="0"/>
                </a:lnTo>
                <a:close/>
              </a:path>
            </a:pathLst>
          </a:custGeom>
          <a:ln w="45724">
            <a:solidFill>
              <a:srgbClr val="E6A064"/>
            </a:solidFill>
          </a:ln>
        </p:spPr>
        <p:txBody>
          <a:bodyPr wrap="square" lIns="0" tIns="0" rIns="0" bIns="0" rtlCol="0"/>
          <a:lstStyle/>
          <a:p>
            <a:endParaRPr sz="2400"/>
          </a:p>
        </p:txBody>
      </p:sp>
      <p:sp>
        <p:nvSpPr>
          <p:cNvPr id="52" name="object 52"/>
          <p:cNvSpPr txBox="1"/>
          <p:nvPr/>
        </p:nvSpPr>
        <p:spPr>
          <a:xfrm>
            <a:off x="7676132" y="4694505"/>
            <a:ext cx="193040" cy="345330"/>
          </a:xfrm>
          <a:prstGeom prst="rect">
            <a:avLst/>
          </a:prstGeom>
        </p:spPr>
        <p:txBody>
          <a:bodyPr vert="horz" wrap="square" lIns="0" tIns="16933" rIns="0" bIns="0" rtlCol="0">
            <a:spAutoFit/>
          </a:bodyPr>
          <a:lstStyle/>
          <a:p>
            <a:pPr marL="16933">
              <a:spcBef>
                <a:spcPts val="133"/>
              </a:spcBef>
            </a:pPr>
            <a:r>
              <a:rPr sz="2133" spc="20" dirty="0">
                <a:latin typeface="Lucida Sans Unicode"/>
                <a:cs typeface="Lucida Sans Unicode"/>
              </a:rPr>
              <a:t>S</a:t>
            </a:r>
            <a:endParaRPr sz="2133">
              <a:latin typeface="Lucida Sans Unicode"/>
              <a:cs typeface="Lucida Sans Unicode"/>
            </a:endParaRPr>
          </a:p>
        </p:txBody>
      </p:sp>
      <p:sp>
        <p:nvSpPr>
          <p:cNvPr id="53" name="object 53"/>
          <p:cNvSpPr/>
          <p:nvPr/>
        </p:nvSpPr>
        <p:spPr>
          <a:xfrm>
            <a:off x="8827138" y="4103619"/>
            <a:ext cx="1561253" cy="1562947"/>
          </a:xfrm>
          <a:custGeom>
            <a:avLst/>
            <a:gdLst/>
            <a:ahLst/>
            <a:cxnLst/>
            <a:rect l="l" t="t" r="r" b="b"/>
            <a:pathLst>
              <a:path w="1170940" h="1172210">
                <a:moveTo>
                  <a:pt x="0" y="0"/>
                </a:moveTo>
                <a:lnTo>
                  <a:pt x="1170899" y="0"/>
                </a:lnTo>
                <a:lnTo>
                  <a:pt x="1170899" y="1171799"/>
                </a:lnTo>
                <a:lnTo>
                  <a:pt x="0" y="1171799"/>
                </a:lnTo>
                <a:lnTo>
                  <a:pt x="0" y="0"/>
                </a:lnTo>
                <a:close/>
              </a:path>
            </a:pathLst>
          </a:custGeom>
          <a:ln w="45724">
            <a:solidFill>
              <a:srgbClr val="B45F06"/>
            </a:solidFill>
          </a:ln>
        </p:spPr>
        <p:txBody>
          <a:bodyPr wrap="square" lIns="0" tIns="0" rIns="0" bIns="0" rtlCol="0"/>
          <a:lstStyle/>
          <a:p>
            <a:endParaRPr sz="2400"/>
          </a:p>
        </p:txBody>
      </p:sp>
      <p:sp>
        <p:nvSpPr>
          <p:cNvPr id="54" name="object 54"/>
          <p:cNvSpPr txBox="1"/>
          <p:nvPr/>
        </p:nvSpPr>
        <p:spPr>
          <a:xfrm>
            <a:off x="9499521" y="4694489"/>
            <a:ext cx="216747" cy="345330"/>
          </a:xfrm>
          <a:prstGeom prst="rect">
            <a:avLst/>
          </a:prstGeom>
        </p:spPr>
        <p:txBody>
          <a:bodyPr vert="horz" wrap="square" lIns="0" tIns="16933" rIns="0" bIns="0" rtlCol="0">
            <a:spAutoFit/>
          </a:bodyPr>
          <a:lstStyle/>
          <a:p>
            <a:pPr marL="16933">
              <a:spcBef>
                <a:spcPts val="133"/>
              </a:spcBef>
            </a:pPr>
            <a:r>
              <a:rPr sz="2133" spc="-67" dirty="0">
                <a:latin typeface="Lucida Sans Unicode"/>
                <a:cs typeface="Lucida Sans Unicode"/>
              </a:rPr>
              <a:t>A</a:t>
            </a:r>
            <a:endParaRPr sz="2133">
              <a:latin typeface="Lucida Sans Unicode"/>
              <a:cs typeface="Lucida Sans Unicode"/>
            </a:endParaRPr>
          </a:p>
        </p:txBody>
      </p:sp>
      <p:grpSp>
        <p:nvGrpSpPr>
          <p:cNvPr id="55" name="object 55"/>
          <p:cNvGrpSpPr/>
          <p:nvPr/>
        </p:nvGrpSpPr>
        <p:grpSpPr>
          <a:xfrm>
            <a:off x="7726745" y="3767077"/>
            <a:ext cx="1960880" cy="2258060"/>
            <a:chOff x="5795059" y="2825307"/>
            <a:chExt cx="1470660" cy="1693545"/>
          </a:xfrm>
        </p:grpSpPr>
        <p:sp>
          <p:nvSpPr>
            <p:cNvPr id="56" name="object 56"/>
            <p:cNvSpPr/>
            <p:nvPr/>
          </p:nvSpPr>
          <p:spPr>
            <a:xfrm>
              <a:off x="5799821" y="2830069"/>
              <a:ext cx="1461135" cy="1684020"/>
            </a:xfrm>
            <a:custGeom>
              <a:avLst/>
              <a:gdLst/>
              <a:ahLst/>
              <a:cxnLst/>
              <a:rect l="l" t="t" r="r" b="b"/>
              <a:pathLst>
                <a:path w="1461134" h="1684020">
                  <a:moveTo>
                    <a:pt x="1336799" y="1683460"/>
                  </a:moveTo>
                  <a:lnTo>
                    <a:pt x="730403" y="967453"/>
                  </a:lnTo>
                  <a:lnTo>
                    <a:pt x="124007" y="1683460"/>
                  </a:lnTo>
                  <a:lnTo>
                    <a:pt x="0" y="1578436"/>
                  </a:lnTo>
                  <a:lnTo>
                    <a:pt x="623926" y="841730"/>
                  </a:lnTo>
                  <a:lnTo>
                    <a:pt x="0" y="105023"/>
                  </a:lnTo>
                  <a:lnTo>
                    <a:pt x="124007" y="0"/>
                  </a:lnTo>
                  <a:lnTo>
                    <a:pt x="730403" y="716007"/>
                  </a:lnTo>
                  <a:lnTo>
                    <a:pt x="1336799" y="0"/>
                  </a:lnTo>
                  <a:lnTo>
                    <a:pt x="1460807" y="105023"/>
                  </a:lnTo>
                  <a:lnTo>
                    <a:pt x="836879" y="841730"/>
                  </a:lnTo>
                  <a:lnTo>
                    <a:pt x="1460807" y="1578436"/>
                  </a:lnTo>
                  <a:lnTo>
                    <a:pt x="1336799" y="1683460"/>
                  </a:lnTo>
                  <a:close/>
                </a:path>
              </a:pathLst>
            </a:custGeom>
            <a:solidFill>
              <a:srgbClr val="F65B66"/>
            </a:solidFill>
          </p:spPr>
          <p:txBody>
            <a:bodyPr wrap="square" lIns="0" tIns="0" rIns="0" bIns="0" rtlCol="0"/>
            <a:lstStyle/>
            <a:p>
              <a:endParaRPr sz="2400"/>
            </a:p>
          </p:txBody>
        </p:sp>
        <p:sp>
          <p:nvSpPr>
            <p:cNvPr id="57" name="object 57"/>
            <p:cNvSpPr/>
            <p:nvPr/>
          </p:nvSpPr>
          <p:spPr>
            <a:xfrm>
              <a:off x="5799821" y="2830069"/>
              <a:ext cx="1461135" cy="1684020"/>
            </a:xfrm>
            <a:custGeom>
              <a:avLst/>
              <a:gdLst/>
              <a:ahLst/>
              <a:cxnLst/>
              <a:rect l="l" t="t" r="r" b="b"/>
              <a:pathLst>
                <a:path w="1461134" h="1684020">
                  <a:moveTo>
                    <a:pt x="0" y="105023"/>
                  </a:moveTo>
                  <a:lnTo>
                    <a:pt x="124007" y="0"/>
                  </a:lnTo>
                  <a:lnTo>
                    <a:pt x="730403" y="716007"/>
                  </a:lnTo>
                  <a:lnTo>
                    <a:pt x="1336799" y="0"/>
                  </a:lnTo>
                  <a:lnTo>
                    <a:pt x="1460807" y="105023"/>
                  </a:lnTo>
                  <a:lnTo>
                    <a:pt x="836879" y="841730"/>
                  </a:lnTo>
                  <a:lnTo>
                    <a:pt x="1460807" y="1578436"/>
                  </a:lnTo>
                  <a:lnTo>
                    <a:pt x="1336799" y="1683460"/>
                  </a:lnTo>
                  <a:lnTo>
                    <a:pt x="730403" y="967453"/>
                  </a:lnTo>
                  <a:lnTo>
                    <a:pt x="124007" y="1683460"/>
                  </a:lnTo>
                  <a:lnTo>
                    <a:pt x="0" y="1578436"/>
                  </a:lnTo>
                  <a:lnTo>
                    <a:pt x="623926" y="841730"/>
                  </a:lnTo>
                  <a:lnTo>
                    <a:pt x="0" y="105023"/>
                  </a:lnTo>
                  <a:close/>
                </a:path>
              </a:pathLst>
            </a:custGeom>
            <a:ln w="9524">
              <a:solidFill>
                <a:srgbClr val="F65B66"/>
              </a:solidFill>
            </a:ln>
          </p:spPr>
          <p:txBody>
            <a:bodyPr wrap="square" lIns="0" tIns="0" rIns="0" bIns="0" rtlCol="0"/>
            <a:lstStyle/>
            <a:p>
              <a:endParaRPr sz="2400"/>
            </a:p>
          </p:txBody>
        </p:sp>
      </p:grpSp>
      <p:sp>
        <p:nvSpPr>
          <p:cNvPr id="58" name="object 58"/>
          <p:cNvSpPr txBox="1"/>
          <p:nvPr/>
        </p:nvSpPr>
        <p:spPr>
          <a:xfrm>
            <a:off x="5617582" y="4341133"/>
            <a:ext cx="1109980" cy="907086"/>
          </a:xfrm>
          <a:prstGeom prst="rect">
            <a:avLst/>
          </a:prstGeom>
          <a:ln w="24774">
            <a:solidFill>
              <a:srgbClr val="965AC8"/>
            </a:solidFill>
          </a:ln>
        </p:spPr>
        <p:txBody>
          <a:bodyPr vert="horz" wrap="square" lIns="0" tIns="166793" rIns="0" bIns="0" rtlCol="0">
            <a:spAutoFit/>
          </a:bodyPr>
          <a:lstStyle/>
          <a:p>
            <a:pPr marL="312412">
              <a:spcBef>
                <a:spcPts val="1313"/>
              </a:spcBef>
            </a:pPr>
            <a:r>
              <a:rPr sz="4800" spc="7" dirty="0">
                <a:latin typeface="Lucida Sans Unicode"/>
                <a:cs typeface="Lucida Sans Unicode"/>
              </a:rPr>
              <a:t>O</a:t>
            </a:r>
            <a:endParaRPr sz="4800">
              <a:latin typeface="Lucida Sans Unicode"/>
              <a:cs typeface="Lucida Sans Unicode"/>
            </a:endParaRPr>
          </a:p>
        </p:txBody>
      </p:sp>
      <p:sp>
        <p:nvSpPr>
          <p:cNvPr id="59" name="object 59"/>
          <p:cNvSpPr txBox="1"/>
          <p:nvPr/>
        </p:nvSpPr>
        <p:spPr>
          <a:xfrm>
            <a:off x="6564370" y="1844920"/>
            <a:ext cx="3994573" cy="755762"/>
          </a:xfrm>
          <a:prstGeom prst="rect">
            <a:avLst/>
          </a:prstGeom>
        </p:spPr>
        <p:txBody>
          <a:bodyPr vert="horz" wrap="square" lIns="0" tIns="16933" rIns="0" bIns="0" rtlCol="0">
            <a:spAutoFit/>
          </a:bodyPr>
          <a:lstStyle/>
          <a:p>
            <a:pPr marL="314105" marR="6773" indent="-298019">
              <a:spcBef>
                <a:spcPts val="133"/>
              </a:spcBef>
            </a:pPr>
            <a:r>
              <a:rPr sz="2400" spc="-53" dirty="0">
                <a:solidFill>
                  <a:srgbClr val="F65B66"/>
                </a:solidFill>
                <a:latin typeface="Arial Black"/>
                <a:cs typeface="Arial Black"/>
              </a:rPr>
              <a:t>Mathematically</a:t>
            </a:r>
            <a:r>
              <a:rPr sz="2400" spc="-160" dirty="0">
                <a:solidFill>
                  <a:srgbClr val="F65B66"/>
                </a:solidFill>
                <a:latin typeface="Arial Black"/>
                <a:cs typeface="Arial Black"/>
              </a:rPr>
              <a:t> </a:t>
            </a:r>
            <a:r>
              <a:rPr sz="2400" spc="-67" dirty="0">
                <a:solidFill>
                  <a:srgbClr val="F65B66"/>
                </a:solidFill>
                <a:latin typeface="Arial Black"/>
                <a:cs typeface="Arial Black"/>
              </a:rPr>
              <a:t>identical </a:t>
            </a:r>
            <a:r>
              <a:rPr sz="2400" spc="-93" dirty="0">
                <a:solidFill>
                  <a:srgbClr val="F65B66"/>
                </a:solidFill>
                <a:latin typeface="Arial Black"/>
                <a:cs typeface="Arial Black"/>
              </a:rPr>
              <a:t>to</a:t>
            </a:r>
            <a:r>
              <a:rPr sz="2400" spc="-253" dirty="0">
                <a:solidFill>
                  <a:srgbClr val="F65B66"/>
                </a:solidFill>
                <a:latin typeface="Arial Black"/>
                <a:cs typeface="Arial Black"/>
              </a:rPr>
              <a:t> </a:t>
            </a:r>
            <a:r>
              <a:rPr sz="2400" spc="-40" dirty="0">
                <a:solidFill>
                  <a:srgbClr val="F65B66"/>
                </a:solidFill>
                <a:latin typeface="Arial Black"/>
                <a:cs typeface="Arial Black"/>
              </a:rPr>
              <a:t>standard</a:t>
            </a:r>
            <a:r>
              <a:rPr sz="2400" spc="-247" dirty="0">
                <a:solidFill>
                  <a:srgbClr val="F65B66"/>
                </a:solidFill>
                <a:latin typeface="Arial Black"/>
                <a:cs typeface="Arial Black"/>
              </a:rPr>
              <a:t> </a:t>
            </a:r>
            <a:r>
              <a:rPr sz="2400" spc="-13" dirty="0">
                <a:solidFill>
                  <a:srgbClr val="F65B66"/>
                </a:solidFill>
                <a:latin typeface="Arial Black"/>
                <a:cs typeface="Arial Black"/>
              </a:rPr>
              <a:t>attention</a:t>
            </a:r>
            <a:endParaRPr sz="2400">
              <a:latin typeface="Arial Black"/>
              <a:cs typeface="Arial Black"/>
            </a:endParaRPr>
          </a:p>
        </p:txBody>
      </p:sp>
    </p:spTree>
    <p:extLst>
      <p:ext uri="{BB962C8B-B14F-4D97-AF65-F5344CB8AC3E}">
        <p14:creationId xmlns:p14="http://schemas.microsoft.com/office/powerpoint/2010/main" val="2690796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13770" y="1390413"/>
            <a:ext cx="7602121" cy="5133677"/>
          </a:xfrm>
        </p:spPr>
        <p:txBody>
          <a:bodyPr>
            <a:noAutofit/>
          </a:bodyPr>
          <a:lstStyle/>
          <a:p>
            <a:pPr marL="342900" indent="-342900">
              <a:buFont typeface="Arial" panose="020B0604020202020204" pitchFamily="34" charset="0"/>
              <a:buChar char="•"/>
            </a:pPr>
            <a:r>
              <a:rPr lang="en-US" sz="2000" dirty="0">
                <a:solidFill>
                  <a:srgbClr val="0A0A0A"/>
                </a:solidFill>
              </a:rPr>
              <a:t>IO-Awareness recognizes that moving data between slow High-Bandwidth Memory (HBM) and fast on-chip SRAM is the bottleneck. </a:t>
            </a:r>
            <a:r>
              <a:rPr lang="en-IN" sz="2000" dirty="0">
                <a:cs typeface="Arial MT"/>
              </a:rPr>
              <a:t>Eg:</a:t>
            </a:r>
            <a:r>
              <a:rPr lang="en-IN" sz="2000" spc="-35" dirty="0">
                <a:cs typeface="Arial MT"/>
              </a:rPr>
              <a:t> </a:t>
            </a:r>
            <a:r>
              <a:rPr lang="en-IN" sz="2000" dirty="0">
                <a:cs typeface="Arial MT"/>
              </a:rPr>
              <a:t>Matrix</a:t>
            </a:r>
            <a:r>
              <a:rPr lang="en-IN" sz="2000" spc="-55" dirty="0">
                <a:cs typeface="Arial MT"/>
              </a:rPr>
              <a:t> </a:t>
            </a:r>
            <a:r>
              <a:rPr lang="en-IN" sz="2000" dirty="0">
                <a:cs typeface="Arial MT"/>
              </a:rPr>
              <a:t>multiplication</a:t>
            </a:r>
            <a:r>
              <a:rPr lang="en-IN" sz="2000" spc="5" dirty="0">
                <a:cs typeface="Arial MT"/>
              </a:rPr>
              <a:t> </a:t>
            </a:r>
            <a:r>
              <a:rPr lang="en-IN" sz="2000" dirty="0">
                <a:cs typeface="Arial MT"/>
              </a:rPr>
              <a:t>for</a:t>
            </a:r>
            <a:r>
              <a:rPr lang="en-IN" sz="2000" spc="-45" dirty="0">
                <a:cs typeface="Arial MT"/>
              </a:rPr>
              <a:t> </a:t>
            </a:r>
            <a:r>
              <a:rPr lang="en-IN" sz="2000" spc="-20" dirty="0">
                <a:cs typeface="Arial MT"/>
              </a:rPr>
              <a:t>very </a:t>
            </a:r>
            <a:r>
              <a:rPr lang="en-IN" sz="2000" dirty="0">
                <a:cs typeface="Arial MT"/>
              </a:rPr>
              <a:t>large</a:t>
            </a:r>
            <a:r>
              <a:rPr lang="en-IN" sz="2000" spc="-20" dirty="0">
                <a:cs typeface="Arial MT"/>
              </a:rPr>
              <a:t> </a:t>
            </a:r>
            <a:r>
              <a:rPr lang="en-IN" sz="2000" spc="-10" dirty="0">
                <a:cs typeface="Arial MT"/>
              </a:rPr>
              <a:t>matrices</a:t>
            </a:r>
          </a:p>
          <a:p>
            <a:pPr marL="355600" indent="-342900">
              <a:spcBef>
                <a:spcPts val="100"/>
              </a:spcBef>
              <a:buFont typeface="Arial" panose="020B0604020202020204" pitchFamily="34" charset="0"/>
              <a:buChar char="•"/>
            </a:pPr>
            <a:r>
              <a:rPr lang="en-US" sz="2000" spc="-10" dirty="0">
                <a:solidFill>
                  <a:schemeClr val="tx1"/>
                </a:solidFill>
                <a:cs typeface="Arial MT"/>
              </a:rPr>
              <a:t>Problem : </a:t>
            </a:r>
            <a:r>
              <a:rPr lang="en-US" sz="2000" dirty="0">
                <a:cs typeface="Arial MT"/>
              </a:rPr>
              <a:t>Once</a:t>
            </a:r>
            <a:r>
              <a:rPr lang="en-US" sz="2000" spc="-30" dirty="0">
                <a:cs typeface="Arial MT"/>
              </a:rPr>
              <a:t> </a:t>
            </a:r>
            <a:r>
              <a:rPr lang="en-US" sz="2000" dirty="0">
                <a:cs typeface="Arial MT"/>
              </a:rPr>
              <a:t>the</a:t>
            </a:r>
            <a:r>
              <a:rPr lang="en-US" sz="2000" spc="-20" dirty="0">
                <a:cs typeface="Arial MT"/>
              </a:rPr>
              <a:t> </a:t>
            </a:r>
            <a:r>
              <a:rPr lang="en-US" sz="2000" dirty="0">
                <a:cs typeface="Arial MT"/>
              </a:rPr>
              <a:t>sequence</a:t>
            </a:r>
            <a:r>
              <a:rPr lang="en-US" sz="2000" spc="-20" dirty="0">
                <a:cs typeface="Arial MT"/>
              </a:rPr>
              <a:t> </a:t>
            </a:r>
            <a:r>
              <a:rPr lang="en-US" sz="2000" dirty="0">
                <a:cs typeface="Arial MT"/>
              </a:rPr>
              <a:t>length,</a:t>
            </a:r>
            <a:r>
              <a:rPr lang="en-US" sz="2000" spc="-45" dirty="0">
                <a:cs typeface="Arial MT"/>
              </a:rPr>
              <a:t> </a:t>
            </a:r>
            <a:r>
              <a:rPr lang="en-US" sz="2000" dirty="0">
                <a:cs typeface="Arial MT"/>
              </a:rPr>
              <a:t>N,</a:t>
            </a:r>
            <a:r>
              <a:rPr lang="en-US" sz="2000" spc="-45" dirty="0">
                <a:cs typeface="Arial MT"/>
              </a:rPr>
              <a:t> </a:t>
            </a:r>
            <a:r>
              <a:rPr lang="en-US" sz="2000" dirty="0">
                <a:cs typeface="Arial MT"/>
              </a:rPr>
              <a:t>is</a:t>
            </a:r>
            <a:r>
              <a:rPr lang="en-US" sz="2000" spc="5" dirty="0">
                <a:cs typeface="Arial MT"/>
              </a:rPr>
              <a:t> </a:t>
            </a:r>
            <a:r>
              <a:rPr lang="en-US" sz="2000" dirty="0">
                <a:cs typeface="Arial MT"/>
              </a:rPr>
              <a:t>large,</a:t>
            </a:r>
            <a:r>
              <a:rPr lang="en-US" sz="2000" spc="25" dirty="0">
                <a:cs typeface="Arial MT"/>
              </a:rPr>
              <a:t> </a:t>
            </a:r>
            <a:r>
              <a:rPr lang="en-US" sz="2000" spc="-25" dirty="0">
                <a:cs typeface="Arial MT"/>
              </a:rPr>
              <a:t>the </a:t>
            </a:r>
            <a:r>
              <a:rPr lang="en-US" sz="2000" dirty="0">
                <a:cs typeface="Arial MT"/>
              </a:rPr>
              <a:t>corresponding</a:t>
            </a:r>
            <a:r>
              <a:rPr lang="en-US" sz="2000" spc="-45" dirty="0">
                <a:cs typeface="Arial MT"/>
              </a:rPr>
              <a:t> </a:t>
            </a:r>
            <a:r>
              <a:rPr lang="en-US" sz="2000" b="1" dirty="0">
                <a:cs typeface="Arial"/>
              </a:rPr>
              <a:t>Q,</a:t>
            </a:r>
            <a:r>
              <a:rPr lang="en-US" sz="2000" b="1" spc="-25" dirty="0">
                <a:cs typeface="Arial"/>
              </a:rPr>
              <a:t> </a:t>
            </a:r>
            <a:r>
              <a:rPr lang="en-US" sz="2000" b="1" dirty="0">
                <a:cs typeface="Arial"/>
              </a:rPr>
              <a:t>K,</a:t>
            </a:r>
            <a:r>
              <a:rPr lang="en-US" sz="2000" b="1" spc="45" dirty="0">
                <a:cs typeface="Arial"/>
              </a:rPr>
              <a:t> </a:t>
            </a:r>
            <a:r>
              <a:rPr lang="en-US" sz="2000" b="1" dirty="0">
                <a:cs typeface="Arial"/>
              </a:rPr>
              <a:t>V</a:t>
            </a:r>
            <a:r>
              <a:rPr lang="en-US" sz="2000" b="1" spc="-10" dirty="0">
                <a:cs typeface="Arial"/>
              </a:rPr>
              <a:t> </a:t>
            </a:r>
            <a:r>
              <a:rPr lang="en-US" sz="2000" dirty="0">
                <a:cs typeface="Arial MT"/>
              </a:rPr>
              <a:t>matrices</a:t>
            </a:r>
            <a:r>
              <a:rPr lang="en-US" sz="2000" spc="-50" dirty="0">
                <a:cs typeface="Arial MT"/>
              </a:rPr>
              <a:t> </a:t>
            </a:r>
            <a:r>
              <a:rPr lang="en-US" sz="2000" dirty="0">
                <a:cs typeface="Arial MT"/>
              </a:rPr>
              <a:t>cannot</a:t>
            </a:r>
            <a:r>
              <a:rPr lang="en-US" sz="2000" spc="-25" dirty="0">
                <a:cs typeface="Arial MT"/>
              </a:rPr>
              <a:t> </a:t>
            </a:r>
            <a:r>
              <a:rPr lang="en-US" sz="2000" dirty="0">
                <a:cs typeface="Arial MT"/>
              </a:rPr>
              <a:t>fit</a:t>
            </a:r>
            <a:r>
              <a:rPr lang="en-US" sz="2000" spc="-25" dirty="0">
                <a:cs typeface="Arial MT"/>
              </a:rPr>
              <a:t> </a:t>
            </a:r>
            <a:r>
              <a:rPr lang="en-US" sz="2000" dirty="0">
                <a:cs typeface="Arial MT"/>
              </a:rPr>
              <a:t>into </a:t>
            </a:r>
            <a:r>
              <a:rPr lang="en-US" sz="2000" spc="-25" dirty="0">
                <a:cs typeface="Arial MT"/>
              </a:rPr>
              <a:t>the </a:t>
            </a:r>
            <a:r>
              <a:rPr lang="en-US" sz="2000" dirty="0">
                <a:cs typeface="Arial MT"/>
              </a:rPr>
              <a:t>small</a:t>
            </a:r>
            <a:r>
              <a:rPr lang="en-US" sz="2000" spc="-40" dirty="0">
                <a:cs typeface="Arial MT"/>
              </a:rPr>
              <a:t> </a:t>
            </a:r>
            <a:r>
              <a:rPr lang="en-US" sz="2000" dirty="0">
                <a:cs typeface="Arial MT"/>
              </a:rPr>
              <a:t>SRAM.</a:t>
            </a:r>
            <a:r>
              <a:rPr lang="en-US" sz="2000" spc="-50" dirty="0">
                <a:cs typeface="Arial MT"/>
              </a:rPr>
              <a:t> </a:t>
            </a:r>
            <a:r>
              <a:rPr lang="en-US" sz="2000" dirty="0">
                <a:cs typeface="Arial MT"/>
              </a:rPr>
              <a:t>Thus,</a:t>
            </a:r>
            <a:r>
              <a:rPr lang="en-US" sz="2000" spc="15" dirty="0">
                <a:cs typeface="Arial MT"/>
              </a:rPr>
              <a:t> </a:t>
            </a:r>
            <a:r>
              <a:rPr lang="en-US" sz="2000" dirty="0">
                <a:cs typeface="Arial MT"/>
              </a:rPr>
              <a:t>you</a:t>
            </a:r>
            <a:r>
              <a:rPr lang="en-US" sz="2000" spc="-30" dirty="0">
                <a:cs typeface="Arial MT"/>
              </a:rPr>
              <a:t> </a:t>
            </a:r>
            <a:r>
              <a:rPr lang="en-US" sz="2000" dirty="0">
                <a:cs typeface="Arial MT"/>
              </a:rPr>
              <a:t>must</a:t>
            </a:r>
            <a:r>
              <a:rPr lang="en-US" sz="2000" spc="20" dirty="0">
                <a:cs typeface="Arial MT"/>
              </a:rPr>
              <a:t> </a:t>
            </a:r>
            <a:r>
              <a:rPr lang="en-US" sz="2000" dirty="0">
                <a:cs typeface="Arial MT"/>
              </a:rPr>
              <a:t>constantly</a:t>
            </a:r>
            <a:r>
              <a:rPr lang="en-US" sz="2000" spc="-75" dirty="0">
                <a:cs typeface="Arial MT"/>
              </a:rPr>
              <a:t> </a:t>
            </a:r>
            <a:r>
              <a:rPr lang="en-US" sz="2000" spc="-10" dirty="0">
                <a:cs typeface="Arial MT"/>
              </a:rPr>
              <a:t>write/read </a:t>
            </a:r>
            <a:r>
              <a:rPr lang="en-US" sz="2000" dirty="0">
                <a:cs typeface="Arial MT"/>
              </a:rPr>
              <a:t>them</a:t>
            </a:r>
            <a:r>
              <a:rPr lang="en-US" sz="2000" spc="-25" dirty="0">
                <a:cs typeface="Arial MT"/>
              </a:rPr>
              <a:t> </a:t>
            </a:r>
            <a:r>
              <a:rPr lang="en-US" sz="2000" dirty="0">
                <a:cs typeface="Arial MT"/>
              </a:rPr>
              <a:t>from</a:t>
            </a:r>
            <a:r>
              <a:rPr lang="en-US" sz="2000" spc="-10" dirty="0">
                <a:cs typeface="Arial MT"/>
              </a:rPr>
              <a:t> </a:t>
            </a:r>
            <a:r>
              <a:rPr lang="en-US" sz="2000" dirty="0">
                <a:cs typeface="Arial MT"/>
              </a:rPr>
              <a:t>the</a:t>
            </a:r>
            <a:r>
              <a:rPr lang="en-US" sz="2000" spc="-35" dirty="0">
                <a:cs typeface="Arial MT"/>
              </a:rPr>
              <a:t> </a:t>
            </a:r>
            <a:r>
              <a:rPr lang="en-US" sz="2000" dirty="0">
                <a:cs typeface="Arial MT"/>
              </a:rPr>
              <a:t>large</a:t>
            </a:r>
            <a:r>
              <a:rPr lang="en-US" sz="2000" spc="-35" dirty="0">
                <a:cs typeface="Arial MT"/>
              </a:rPr>
              <a:t> </a:t>
            </a:r>
            <a:r>
              <a:rPr lang="en-US" sz="2000" dirty="0">
                <a:cs typeface="Arial MT"/>
              </a:rPr>
              <a:t>HBM</a:t>
            </a:r>
            <a:r>
              <a:rPr lang="en-US" sz="2000" spc="-10" dirty="0">
                <a:cs typeface="Arial MT"/>
              </a:rPr>
              <a:t> </a:t>
            </a:r>
            <a:r>
              <a:rPr lang="en-US" sz="2000" dirty="0">
                <a:cs typeface="Arial MT"/>
              </a:rPr>
              <a:t>(quadratic</a:t>
            </a:r>
            <a:r>
              <a:rPr lang="en-US" sz="2000" spc="-10" dirty="0">
                <a:cs typeface="Arial MT"/>
              </a:rPr>
              <a:t> accesses)</a:t>
            </a:r>
          </a:p>
          <a:p>
            <a:pPr marL="355600" indent="-342900">
              <a:spcBef>
                <a:spcPts val="100"/>
              </a:spcBef>
              <a:buFont typeface="Arial" panose="020B0604020202020204" pitchFamily="34" charset="0"/>
              <a:buChar char="•"/>
            </a:pPr>
            <a:r>
              <a:rPr lang="en-US" sz="2000" dirty="0"/>
              <a:t>Flash attention makes  transformer attention faster &amp; more memory-efficient by breaking matrices into smaller chunks, keeping hot data in fast SRAM, and avoiding redundant memory reads/writes to slow GPU HBM</a:t>
            </a:r>
          </a:p>
          <a:p>
            <a:pPr marL="355600" indent="-342900">
              <a:spcBef>
                <a:spcPts val="100"/>
              </a:spcBef>
              <a:buFont typeface="Arial" panose="020B0604020202020204" pitchFamily="34" charset="0"/>
              <a:buChar char="•"/>
            </a:pPr>
            <a:r>
              <a:rPr lang="en-US" sz="2000" dirty="0"/>
              <a:t>FLOPs are the </a:t>
            </a:r>
            <a:r>
              <a:rPr lang="en-US" sz="2000" i="1" dirty="0"/>
              <a:t>same</a:t>
            </a:r>
            <a:r>
              <a:rPr lang="en-US" sz="2000" dirty="0"/>
              <a:t> as standard attention </a:t>
            </a:r>
            <a:r>
              <a:rPr lang="en-US" sz="2000" spc="-10" dirty="0">
                <a:cs typeface="Arial MT"/>
              </a:rPr>
              <a:t>but memory access is reduced</a:t>
            </a:r>
          </a:p>
          <a:p>
            <a:pPr marL="355600" indent="-342900">
              <a:spcBef>
                <a:spcPts val="100"/>
              </a:spcBef>
              <a:buFont typeface="Arial" panose="020B0604020202020204" pitchFamily="34" charset="0"/>
              <a:buChar char="•"/>
            </a:pPr>
            <a:endParaRPr lang="en-US" sz="2000" spc="-10" dirty="0">
              <a:cs typeface="Arial MT"/>
            </a:endParaRPr>
          </a:p>
          <a:p>
            <a:pPr marL="355600" indent="-342900">
              <a:spcBef>
                <a:spcPts val="100"/>
              </a:spcBef>
              <a:buFont typeface="Arial" panose="020B0604020202020204" pitchFamily="34" charset="0"/>
              <a:buChar char="•"/>
            </a:pPr>
            <a:endParaRPr lang="en-US" sz="2000" dirty="0">
              <a:cs typeface="Arial MT"/>
            </a:endParaRPr>
          </a:p>
          <a:p>
            <a:pPr marL="355600" indent="-342900">
              <a:spcBef>
                <a:spcPts val="100"/>
              </a:spcBef>
              <a:buFont typeface="Arial" panose="020B0604020202020204" pitchFamily="34" charset="0"/>
              <a:buChar char="•"/>
            </a:pPr>
            <a:endParaRPr lang="en-US" sz="2000" dirty="0">
              <a:cs typeface="Arial MT"/>
            </a:endParaRPr>
          </a:p>
          <a:p>
            <a:pPr marL="355600" indent="-342900">
              <a:spcBef>
                <a:spcPts val="100"/>
              </a:spcBef>
              <a:buFont typeface="Arial" panose="020B0604020202020204" pitchFamily="34" charset="0"/>
              <a:buChar char="•"/>
            </a:pPr>
            <a:endParaRPr lang="en-US" sz="2000" dirty="0">
              <a:solidFill>
                <a:schemeClr val="tx1"/>
              </a:solidFill>
              <a:cs typeface="Arial MT"/>
            </a:endParaRPr>
          </a:p>
          <a:p>
            <a:pPr marL="342900" indent="-342900">
              <a:buFont typeface="Arial" panose="020B0604020202020204" pitchFamily="34" charset="0"/>
              <a:buChar char="•"/>
            </a:pPr>
            <a:endParaRPr lang="en-IN" sz="2000" dirty="0">
              <a:solidFill>
                <a:schemeClr val="tx1"/>
              </a:solidFill>
            </a:endParaRPr>
          </a:p>
        </p:txBody>
      </p:sp>
      <p:sp>
        <p:nvSpPr>
          <p:cNvPr id="3" name="Title 2"/>
          <p:cNvSpPr>
            <a:spLocks noGrp="1"/>
          </p:cNvSpPr>
          <p:nvPr>
            <p:ph type="title"/>
          </p:nvPr>
        </p:nvSpPr>
        <p:spPr/>
        <p:txBody>
          <a:bodyPr>
            <a:normAutofit/>
          </a:bodyPr>
          <a:lstStyle/>
          <a:p>
            <a:r>
              <a:rPr lang="en-IN" dirty="0"/>
              <a:t>Flash Attention: Making</a:t>
            </a:r>
            <a:r>
              <a:rPr lang="en-IN" spc="-135" dirty="0"/>
              <a:t> </a:t>
            </a:r>
            <a:r>
              <a:rPr lang="en-IN" dirty="0"/>
              <a:t>Attention</a:t>
            </a:r>
            <a:r>
              <a:rPr lang="en-IN" spc="-135" dirty="0"/>
              <a:t> </a:t>
            </a:r>
            <a:r>
              <a:rPr lang="en-IN" dirty="0"/>
              <a:t>IO-Aware</a:t>
            </a:r>
          </a:p>
        </p:txBody>
      </p:sp>
      <p:pic>
        <p:nvPicPr>
          <p:cNvPr id="5" name="Picture 4">
            <a:extLst>
              <a:ext uri="{FF2B5EF4-FFF2-40B4-BE49-F238E27FC236}">
                <a16:creationId xmlns:a16="http://schemas.microsoft.com/office/drawing/2014/main" id="{777DD7CA-3029-D27D-CB9B-46BA180508FE}"/>
              </a:ext>
            </a:extLst>
          </p:cNvPr>
          <p:cNvPicPr>
            <a:picLocks noChangeAspect="1"/>
          </p:cNvPicPr>
          <p:nvPr/>
        </p:nvPicPr>
        <p:blipFill>
          <a:blip r:embed="rId3"/>
          <a:stretch>
            <a:fillRect/>
          </a:stretch>
        </p:blipFill>
        <p:spPr>
          <a:xfrm>
            <a:off x="8400058" y="884330"/>
            <a:ext cx="3487141" cy="2544670"/>
          </a:xfrm>
          <a:prstGeom prst="rect">
            <a:avLst/>
          </a:prstGeom>
        </p:spPr>
      </p:pic>
      <p:pic>
        <p:nvPicPr>
          <p:cNvPr id="6" name="Picture 2" descr="naive">
            <a:extLst>
              <a:ext uri="{FF2B5EF4-FFF2-40B4-BE49-F238E27FC236}">
                <a16:creationId xmlns:a16="http://schemas.microsoft.com/office/drawing/2014/main" id="{09FCDF8C-B0CE-96B9-C401-5DA709D9A0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7244" y="3693870"/>
            <a:ext cx="3741965" cy="1401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42889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err="1"/>
              <a:t>FlashAttention</a:t>
            </a:r>
            <a:br>
              <a:rPr lang="en-US" altLang="en-US" dirty="0"/>
            </a:br>
            <a:endParaRPr lang="en-IN" dirty="0"/>
          </a:p>
        </p:txBody>
      </p:sp>
      <p:sp>
        <p:nvSpPr>
          <p:cNvPr id="4" name="Rectangle 1"/>
          <p:cNvSpPr>
            <a:spLocks noGrp="1" noChangeArrowheads="1"/>
          </p:cNvSpPr>
          <p:nvPr>
            <p:ph idx="10"/>
          </p:nvPr>
        </p:nvSpPr>
        <p:spPr bwMode="auto">
          <a:xfrm>
            <a:off x="155682" y="1436796"/>
            <a:ext cx="11917497" cy="5087990"/>
          </a:xfrm>
          <a:prstGeom prst="rect">
            <a:avLst/>
          </a:prstGeom>
        </p:spPr>
        <p:txBody>
          <a:bodyPr vert="horz" lIns="91440" tIns="45720" rIns="91440" bIns="45720" rtlCol="0">
            <a:noAutofit/>
          </a:bodyPr>
          <a:lstStyle/>
          <a:p>
            <a:pPr marL="342900" indent="-342900">
              <a:buFont typeface="Arial" panose="020B0604020202020204" pitchFamily="34" charset="0"/>
              <a:buChar char="•"/>
            </a:pPr>
            <a:r>
              <a:rPr lang="en-US" sz="2000" dirty="0"/>
              <a:t>Exact attention: same output as standard attention, no approximation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Does not remove quadratic exact-attention compute</a:t>
            </a:r>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dirty="0"/>
              <a:t>Does not by itself solve KV-cache growth during autoregressive decoding</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Requires optimized hardware-specific kernels</a:t>
            </a:r>
          </a:p>
          <a:p>
            <a:pPr marL="342900" indent="-342900">
              <a:buFont typeface="Arial" panose="020B0604020202020204" pitchFamily="34" charset="0"/>
              <a:buChar char="•"/>
            </a:pPr>
            <a:endParaRPr lang="en-US" sz="2000" b="1" dirty="0"/>
          </a:p>
          <a:p>
            <a:pPr marL="342900" indent="-342900">
              <a:buFont typeface="Arial" panose="020B0604020202020204" pitchFamily="34" charset="0"/>
              <a:buChar char="•"/>
            </a:pPr>
            <a:r>
              <a:rPr lang="en-US" sz="2000" dirty="0" err="1"/>
              <a:t>FlashAttention</a:t>
            </a:r>
            <a:r>
              <a:rPr lang="en-US" sz="2000" dirty="0"/>
              <a:t> is typically a </a:t>
            </a:r>
            <a:r>
              <a:rPr lang="en-US" sz="2000" b="1" dirty="0"/>
              <a:t>backend/kernel choice</a:t>
            </a:r>
            <a:r>
              <a:rPr lang="en-US" sz="2000" dirty="0"/>
              <a:t>, enabled by the framework and hardware, rather than a property of the model weights themselves</a:t>
            </a:r>
          </a:p>
        </p:txBody>
      </p:sp>
      <p:sp>
        <p:nvSpPr>
          <p:cNvPr id="7" name="TextBox 6">
            <a:extLst>
              <a:ext uri="{FF2B5EF4-FFF2-40B4-BE49-F238E27FC236}">
                <a16:creationId xmlns:a16="http://schemas.microsoft.com/office/drawing/2014/main" id="{66229F6A-1C3F-DFC4-6839-12F833CC8313}"/>
              </a:ext>
            </a:extLst>
          </p:cNvPr>
          <p:cNvSpPr txBox="1"/>
          <p:nvPr/>
        </p:nvSpPr>
        <p:spPr>
          <a:xfrm>
            <a:off x="118821" y="5509123"/>
            <a:ext cx="11572708" cy="1015663"/>
          </a:xfrm>
          <a:prstGeom prst="rect">
            <a:avLst/>
          </a:prstGeom>
          <a:solidFill>
            <a:schemeClr val="tx2">
              <a:lumMod val="20000"/>
              <a:lumOff val="80000"/>
            </a:schemeClr>
          </a:solidFill>
        </p:spPr>
        <p:txBody>
          <a:bodyPr wrap="square">
            <a:spAutoFit/>
          </a:bodyPr>
          <a:lstStyle/>
          <a:p>
            <a:pPr lvl="0" algn="l" rtl="0" eaLnBrk="0" fontAlgn="base" hangingPunct="0">
              <a:spcBef>
                <a:spcPct val="0"/>
              </a:spcBef>
              <a:spcAft>
                <a:spcPct val="0"/>
              </a:spcAft>
            </a:pPr>
            <a:r>
              <a:rPr lang="en-US" sz="2000" b="1" dirty="0">
                <a:solidFill>
                  <a:srgbClr val="FF0000"/>
                </a:solidFill>
              </a:rPr>
              <a:t>Flash attention enables longer context windows (e.g. 100K+ tokens) that would be outright impossible with standard attention due to VRAM capacity limits — this is arguably its most impactful practical benefit beyond speed</a:t>
            </a:r>
            <a:endParaRPr lang="en-US" altLang="en-US" sz="2000" b="1" dirty="0">
              <a:solidFill>
                <a:srgbClr val="FF0000"/>
              </a:solidFill>
            </a:endParaRPr>
          </a:p>
        </p:txBody>
      </p:sp>
    </p:spTree>
    <p:extLst>
      <p:ext uri="{BB962C8B-B14F-4D97-AF65-F5344CB8AC3E}">
        <p14:creationId xmlns:p14="http://schemas.microsoft.com/office/powerpoint/2010/main" val="3490386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D74A56-580B-18AD-0845-37ECCA40429C}"/>
              </a:ext>
            </a:extLst>
          </p:cNvPr>
          <p:cNvSpPr>
            <a:spLocks noGrp="1"/>
          </p:cNvSpPr>
          <p:nvPr>
            <p:ph idx="10"/>
          </p:nvPr>
        </p:nvSpPr>
        <p:spPr>
          <a:xfrm>
            <a:off x="175491" y="1545224"/>
            <a:ext cx="11831782" cy="4525963"/>
          </a:xfrm>
        </p:spPr>
        <p:txBody>
          <a:bodyPr/>
          <a:lstStyle/>
          <a:p>
            <a:r>
              <a:rPr lang="en-IN" dirty="0"/>
              <a:t>You don't need to write </a:t>
            </a:r>
            <a:r>
              <a:rPr lang="en-IN" dirty="0" err="1"/>
              <a:t>FlashAttention</a:t>
            </a:r>
            <a:r>
              <a:rPr lang="en-IN" dirty="0"/>
              <a:t>. You need to know two things: (1) does your GPU support it (Nvidia Ampere or Hopper), and (2) is the framework you're using already calling it under the hood?</a:t>
            </a:r>
          </a:p>
          <a:p>
            <a:endParaRPr lang="en-IN" dirty="0"/>
          </a:p>
          <a:p>
            <a:pPr marL="342900" indent="-342900">
              <a:buFont typeface="Arial" panose="020B0604020202020204" pitchFamily="34" charset="0"/>
              <a:buChar char="•"/>
            </a:pPr>
            <a:r>
              <a:rPr lang="en-IN" dirty="0"/>
              <a:t>Training / fine-tuning? </a:t>
            </a:r>
            <a:r>
              <a:rPr lang="en-IN" dirty="0" err="1"/>
              <a:t>PyTorch</a:t>
            </a:r>
            <a:r>
              <a:rPr lang="en-IN" dirty="0"/>
              <a:t> 2.0+  {</a:t>
            </a:r>
            <a:r>
              <a:rPr lang="en-IN" dirty="0" err="1"/>
              <a:t>scaled_dot_product_attention</a:t>
            </a:r>
            <a:r>
              <a:rPr lang="en-IN" dirty="0"/>
              <a:t>”} or HF Transformers with {</a:t>
            </a:r>
            <a:r>
              <a:rPr lang="en-IN" dirty="0" err="1"/>
              <a:t>attn_implementation</a:t>
            </a:r>
            <a:r>
              <a:rPr lang="en-IN" dirty="0"/>
              <a:t>="flash_attention_2“}. Both work on A100, H100, L40, RTX 4090. Flash attention 3 does not work on A100</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Serving? Pick </a:t>
            </a:r>
            <a:r>
              <a:rPr lang="en-IN" dirty="0" err="1"/>
              <a:t>vLLM</a:t>
            </a:r>
            <a:r>
              <a:rPr lang="en-IN" dirty="0"/>
              <a:t> or </a:t>
            </a:r>
            <a:r>
              <a:rPr lang="en-IN" dirty="0" err="1"/>
              <a:t>TensorRT</a:t>
            </a:r>
            <a:r>
              <a:rPr lang="en-IN" dirty="0"/>
              <a:t>-LLM. They bundle it</a:t>
            </a:r>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r>
              <a:rPr lang="en-IN" dirty="0"/>
              <a:t>CPU-only laptop? You don't get </a:t>
            </a:r>
            <a:r>
              <a:rPr lang="en-IN" dirty="0" err="1"/>
              <a:t>FlashAttention</a:t>
            </a:r>
            <a:r>
              <a:rPr lang="en-IN" dirty="0"/>
              <a:t>. Use llama.cpp or llama-</a:t>
            </a:r>
            <a:r>
              <a:rPr lang="en-IN" dirty="0" err="1"/>
              <a:t>cpp</a:t>
            </a:r>
            <a:r>
              <a:rPr lang="en-IN" dirty="0"/>
              <a:t>-python — they use different optimizations (GGUF quantization, fused kernels) for the same goal</a:t>
            </a:r>
          </a:p>
          <a:p>
            <a:endParaRPr lang="en-IN" dirty="0"/>
          </a:p>
        </p:txBody>
      </p:sp>
      <p:sp>
        <p:nvSpPr>
          <p:cNvPr id="3" name="Title 2">
            <a:extLst>
              <a:ext uri="{FF2B5EF4-FFF2-40B4-BE49-F238E27FC236}">
                <a16:creationId xmlns:a16="http://schemas.microsoft.com/office/drawing/2014/main" id="{FB35E2E0-5227-B538-7C62-DBC59E359DA9}"/>
              </a:ext>
            </a:extLst>
          </p:cNvPr>
          <p:cNvSpPr>
            <a:spLocks noGrp="1"/>
          </p:cNvSpPr>
          <p:nvPr>
            <p:ph type="title"/>
          </p:nvPr>
        </p:nvSpPr>
        <p:spPr/>
        <p:txBody>
          <a:bodyPr/>
          <a:lstStyle/>
          <a:p>
            <a:r>
              <a:rPr lang="en-US" altLang="en-US" dirty="0" err="1"/>
              <a:t>FlashAttention</a:t>
            </a:r>
            <a:endParaRPr lang="en-IN" dirty="0"/>
          </a:p>
        </p:txBody>
      </p:sp>
    </p:spTree>
    <p:extLst>
      <p:ext uri="{BB962C8B-B14F-4D97-AF65-F5344CB8AC3E}">
        <p14:creationId xmlns:p14="http://schemas.microsoft.com/office/powerpoint/2010/main" val="1388861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304800" y="1545224"/>
            <a:ext cx="11706386" cy="4525963"/>
          </a:xfrm>
        </p:spPr>
        <p:txBody>
          <a:bodyPr>
            <a:normAutofit lnSpcReduction="10000"/>
          </a:bodyPr>
          <a:lstStyle/>
          <a:p>
            <a:r>
              <a:rPr lang="en-US" dirty="0"/>
              <a:t>Scenario: You are building a diagnostic AI for a rare disease. The input is a 2,000-token patient history. Because the disease is rare, the model must calculate the exact relationship between every single symptom mentioned, regardless of how far apart they are. Accuracy is the only metric that matters; hardware costs are irrelevant. Will you choose Standard </a:t>
            </a:r>
            <a:r>
              <a:rPr lang="en-US" dirty="0" err="1"/>
              <a:t>Softmax</a:t>
            </a:r>
            <a:r>
              <a:rPr lang="en-US" dirty="0"/>
              <a:t> or any "efficient" version?</a:t>
            </a:r>
          </a:p>
          <a:p>
            <a:endParaRPr lang="en-US" dirty="0"/>
          </a:p>
          <a:p>
            <a:r>
              <a:rPr lang="en-US" dirty="0"/>
              <a:t>Answer: </a:t>
            </a:r>
            <a:r>
              <a:rPr lang="en-IN" dirty="0"/>
              <a:t>Use </a:t>
            </a:r>
            <a:r>
              <a:rPr lang="en-IN" b="1" dirty="0"/>
              <a:t>exact attention</a:t>
            </a:r>
            <a:r>
              <a:rPr lang="en-IN" dirty="0"/>
              <a:t> (the full quadratic view) — either standard </a:t>
            </a:r>
            <a:r>
              <a:rPr lang="en-IN" dirty="0" err="1"/>
              <a:t>softmax</a:t>
            </a:r>
            <a:r>
              <a:rPr lang="en-IN" dirty="0"/>
              <a:t> or </a:t>
            </a:r>
            <a:r>
              <a:rPr lang="en-IN" dirty="0" err="1"/>
              <a:t>FlashAttention</a:t>
            </a:r>
            <a:r>
              <a:rPr lang="en-IN" dirty="0"/>
              <a:t>. Both compute the same attention matrix; </a:t>
            </a:r>
            <a:r>
              <a:rPr lang="en-IN" dirty="0" err="1"/>
              <a:t>FlashAttention</a:t>
            </a:r>
            <a:r>
              <a:rPr lang="en-IN" dirty="0"/>
              <a:t> just tiles the computation to use SRAM efficiently without any approximation. What to avoid are </a:t>
            </a:r>
            <a:r>
              <a:rPr lang="en-IN" i="1" dirty="0"/>
              <a:t>approximate</a:t>
            </a:r>
            <a:r>
              <a:rPr lang="en-IN" dirty="0"/>
              <a:t> efficient variants — sparse, sliding-window, or linear attention — since these discard entries from the N×N matrix and could miss long-range symptom correlations. At N = 2,000, O(N²) is well within modern hardware budgets, so there's no need to trade accuracy for speed.</a:t>
            </a:r>
          </a:p>
        </p:txBody>
      </p:sp>
      <p:sp>
        <p:nvSpPr>
          <p:cNvPr id="3" name="Title 2"/>
          <p:cNvSpPr>
            <a:spLocks noGrp="1"/>
          </p:cNvSpPr>
          <p:nvPr>
            <p:ph type="title"/>
          </p:nvPr>
        </p:nvSpPr>
        <p:spPr/>
        <p:txBody>
          <a:bodyPr/>
          <a:lstStyle/>
          <a:p>
            <a:r>
              <a:rPr lang="en-US" dirty="0"/>
              <a:t>Sample Question</a:t>
            </a:r>
            <a:endParaRPr lang="en-IN" dirty="0"/>
          </a:p>
        </p:txBody>
      </p:sp>
    </p:spTree>
    <p:extLst>
      <p:ext uri="{BB962C8B-B14F-4D97-AF65-F5344CB8AC3E}">
        <p14:creationId xmlns:p14="http://schemas.microsoft.com/office/powerpoint/2010/main" val="4063973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304800" y="1545224"/>
            <a:ext cx="11495773" cy="4525963"/>
          </a:xfrm>
        </p:spPr>
        <p:txBody>
          <a:bodyPr>
            <a:normAutofit/>
          </a:bodyPr>
          <a:lstStyle/>
          <a:p>
            <a:r>
              <a:rPr lang="en-US" b="1" dirty="0"/>
              <a:t>Question:</a:t>
            </a:r>
            <a:r>
              <a:rPr lang="en-US" dirty="0"/>
              <a:t> You have a single A100 GPU and a 12k-token prompt. Standard Attention is hitting an Out of Memory (OOM) error — not because of the KV cache. You cannot change the model's weights. How do you run this exact model without changing its output math?</a:t>
            </a:r>
          </a:p>
          <a:p>
            <a:endParaRPr lang="en-US" dirty="0"/>
          </a:p>
          <a:p>
            <a:r>
              <a:rPr lang="en-US" b="1" dirty="0"/>
              <a:t>Answer:</a:t>
            </a:r>
            <a:r>
              <a:rPr lang="en-US" dirty="0"/>
              <a:t> The OOM is caused by the intermediate N×N attention matrix (here ~12k × 12k), which must be materialized in HBM and grows quadratically with sequence length. Use </a:t>
            </a:r>
            <a:r>
              <a:rPr lang="en-US" b="1" dirty="0" err="1"/>
              <a:t>FlashAttention</a:t>
            </a:r>
            <a:r>
              <a:rPr lang="en-US" dirty="0"/>
              <a:t> — an IO-aware algorithm that splits Q, K, V into blocks and computes attention in chunks inside the GPU's small but fast SRAM (~20 MB), using running </a:t>
            </a:r>
            <a:r>
              <a:rPr lang="en-US" dirty="0" err="1"/>
              <a:t>softmax</a:t>
            </a:r>
            <a:r>
              <a:rPr lang="en-US" dirty="0"/>
              <a:t> statistics so the full matrix is never stored. This reduces attention memory from O(N²) to O(N) and produces the </a:t>
            </a:r>
            <a:r>
              <a:rPr lang="en-US" i="1" dirty="0"/>
              <a:t>exact same output</a:t>
            </a:r>
            <a:r>
              <a:rPr lang="en-US" dirty="0"/>
              <a:t> as Standard Attention, eliminating the memory bottleneck without altering the model.</a:t>
            </a:r>
          </a:p>
          <a:p>
            <a:endParaRPr lang="en-IN" dirty="0"/>
          </a:p>
        </p:txBody>
      </p:sp>
      <p:sp>
        <p:nvSpPr>
          <p:cNvPr id="3" name="Title 2"/>
          <p:cNvSpPr>
            <a:spLocks noGrp="1"/>
          </p:cNvSpPr>
          <p:nvPr>
            <p:ph type="title"/>
          </p:nvPr>
        </p:nvSpPr>
        <p:spPr/>
        <p:txBody>
          <a:bodyPr/>
          <a:lstStyle/>
          <a:p>
            <a:r>
              <a:rPr lang="en-US" dirty="0"/>
              <a:t>Sample Question</a:t>
            </a:r>
            <a:endParaRPr lang="en-IN" dirty="0"/>
          </a:p>
        </p:txBody>
      </p:sp>
    </p:spTree>
    <p:extLst>
      <p:ext uri="{BB962C8B-B14F-4D97-AF65-F5344CB8AC3E}">
        <p14:creationId xmlns:p14="http://schemas.microsoft.com/office/powerpoint/2010/main" val="2714037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728001-363D-BF43-9C16-4F4BEAFCBA10}"/>
              </a:ext>
            </a:extLst>
          </p:cNvPr>
          <p:cNvPicPr>
            <a:picLocks noGrp="1" noChangeAspect="1"/>
          </p:cNvPicPr>
          <p:nvPr>
            <p:ph idx="10"/>
          </p:nvPr>
        </p:nvPicPr>
        <p:blipFill>
          <a:blip r:embed="rId2"/>
          <a:stretch>
            <a:fillRect/>
          </a:stretch>
        </p:blipFill>
        <p:spPr>
          <a:xfrm>
            <a:off x="183954" y="2125807"/>
            <a:ext cx="4890997" cy="3256815"/>
          </a:xfrm>
          <a:prstGeom prst="rect">
            <a:avLst/>
          </a:prstGeom>
        </p:spPr>
      </p:pic>
      <p:sp>
        <p:nvSpPr>
          <p:cNvPr id="3" name="Title 2">
            <a:extLst>
              <a:ext uri="{FF2B5EF4-FFF2-40B4-BE49-F238E27FC236}">
                <a16:creationId xmlns:a16="http://schemas.microsoft.com/office/drawing/2014/main" id="{45290C5D-2D00-FC27-6D63-9285308B0339}"/>
              </a:ext>
            </a:extLst>
          </p:cNvPr>
          <p:cNvSpPr>
            <a:spLocks noGrp="1"/>
          </p:cNvSpPr>
          <p:nvPr>
            <p:ph type="title"/>
          </p:nvPr>
        </p:nvSpPr>
        <p:spPr/>
        <p:txBody>
          <a:bodyPr/>
          <a:lstStyle/>
          <a:p>
            <a:r>
              <a:rPr lang="en-US" dirty="0"/>
              <a:t>MQA and GQA</a:t>
            </a:r>
            <a:endParaRPr lang="en-IN" dirty="0"/>
          </a:p>
        </p:txBody>
      </p:sp>
      <p:pic>
        <p:nvPicPr>
          <p:cNvPr id="6" name="Content Placeholder 4">
            <a:extLst>
              <a:ext uri="{FF2B5EF4-FFF2-40B4-BE49-F238E27FC236}">
                <a16:creationId xmlns:a16="http://schemas.microsoft.com/office/drawing/2014/main" id="{4356D020-F82A-F954-59B0-EAD0654B3A26}"/>
              </a:ext>
            </a:extLst>
          </p:cNvPr>
          <p:cNvPicPr>
            <a:picLocks noChangeAspect="1"/>
          </p:cNvPicPr>
          <p:nvPr/>
        </p:nvPicPr>
        <p:blipFill>
          <a:blip r:embed="rId3"/>
          <a:stretch>
            <a:fillRect/>
          </a:stretch>
        </p:blipFill>
        <p:spPr>
          <a:xfrm>
            <a:off x="6096000" y="1986172"/>
            <a:ext cx="5400214" cy="3536083"/>
          </a:xfrm>
          <a:prstGeom prst="rect">
            <a:avLst/>
          </a:prstGeom>
        </p:spPr>
      </p:pic>
      <p:sp>
        <p:nvSpPr>
          <p:cNvPr id="11" name="TextBox 10">
            <a:extLst>
              <a:ext uri="{FF2B5EF4-FFF2-40B4-BE49-F238E27FC236}">
                <a16:creationId xmlns:a16="http://schemas.microsoft.com/office/drawing/2014/main" id="{D8DA6D23-6DEA-F9F6-9E0A-E7E7EFE04547}"/>
              </a:ext>
            </a:extLst>
          </p:cNvPr>
          <p:cNvSpPr txBox="1"/>
          <p:nvPr/>
        </p:nvSpPr>
        <p:spPr>
          <a:xfrm>
            <a:off x="7390115" y="1332283"/>
            <a:ext cx="4651795" cy="369332"/>
          </a:xfrm>
          <a:prstGeom prst="rect">
            <a:avLst/>
          </a:prstGeom>
          <a:noFill/>
        </p:spPr>
        <p:txBody>
          <a:bodyPr wrap="square">
            <a:spAutoFit/>
          </a:bodyPr>
          <a:lstStyle/>
          <a:p>
            <a:r>
              <a:rPr lang="en-US" b="1" dirty="0">
                <a:solidFill>
                  <a:srgbClr val="111111"/>
                </a:solidFill>
                <a:latin typeface="Helvetica" panose="020B0604020202020204" pitchFamily="34" charset="0"/>
              </a:rPr>
              <a:t>M</a:t>
            </a:r>
            <a:r>
              <a:rPr kumimoji="0" lang="en-US" b="1" i="0" u="none" strike="noStrike" kern="1200" cap="none" spc="0" normalizeH="0" baseline="0" noProof="0" dirty="0" err="1">
                <a:ln>
                  <a:noFill/>
                </a:ln>
                <a:solidFill>
                  <a:srgbClr val="111111"/>
                </a:solidFill>
                <a:effectLst/>
                <a:uLnTx/>
                <a:uFillTx/>
                <a:latin typeface="Helvetica" panose="020B0604020202020204" pitchFamily="34" charset="0"/>
                <a:ea typeface="+mn-ea"/>
                <a:cs typeface="+mn-cs"/>
              </a:rPr>
              <a:t>ulti</a:t>
            </a:r>
            <a:r>
              <a:rPr kumimoji="0" lang="en-US" b="1" i="0" u="none" strike="noStrike" kern="1200" cap="none" spc="0" normalizeH="0" baseline="0" noProof="0" dirty="0">
                <a:ln>
                  <a:noFill/>
                </a:ln>
                <a:solidFill>
                  <a:srgbClr val="111111"/>
                </a:solidFill>
                <a:effectLst/>
                <a:uLnTx/>
                <a:uFillTx/>
                <a:latin typeface="Helvetica" panose="020B0604020202020204" pitchFamily="34" charset="0"/>
                <a:ea typeface="+mn-ea"/>
                <a:cs typeface="+mn-cs"/>
              </a:rPr>
              <a:t>-query attention (MQA)</a:t>
            </a:r>
            <a:endParaRPr lang="en-IN" dirty="0"/>
          </a:p>
        </p:txBody>
      </p:sp>
      <p:sp>
        <p:nvSpPr>
          <p:cNvPr id="8" name="TextBox 7">
            <a:extLst>
              <a:ext uri="{FF2B5EF4-FFF2-40B4-BE49-F238E27FC236}">
                <a16:creationId xmlns:a16="http://schemas.microsoft.com/office/drawing/2014/main" id="{E4785303-AFA1-5C57-B840-F7A50DF58B02}"/>
              </a:ext>
            </a:extLst>
          </p:cNvPr>
          <p:cNvSpPr txBox="1"/>
          <p:nvPr/>
        </p:nvSpPr>
        <p:spPr>
          <a:xfrm>
            <a:off x="886691" y="1643392"/>
            <a:ext cx="6096000" cy="369332"/>
          </a:xfrm>
          <a:prstGeom prst="rect">
            <a:avLst/>
          </a:prstGeom>
          <a:noFill/>
        </p:spPr>
        <p:txBody>
          <a:bodyPr wrap="square">
            <a:spAutoFit/>
          </a:bodyPr>
          <a:lstStyle>
            <a:defPPr>
              <a:defRPr lang="en-US"/>
            </a:defPPr>
            <a:lvl1pPr>
              <a:defRPr b="1">
                <a:solidFill>
                  <a:srgbClr val="111111"/>
                </a:solidFill>
                <a:latin typeface="Helvetica" panose="020B0604020202020204" pitchFamily="34" charset="0"/>
              </a:defRPr>
            </a:lvl1pPr>
          </a:lstStyle>
          <a:p>
            <a:r>
              <a:rPr lang="en-US" dirty="0"/>
              <a:t>Standard Attention</a:t>
            </a:r>
            <a:endParaRPr lang="en-IN" dirty="0"/>
          </a:p>
        </p:txBody>
      </p:sp>
    </p:spTree>
    <p:extLst>
      <p:ext uri="{BB962C8B-B14F-4D97-AF65-F5344CB8AC3E}">
        <p14:creationId xmlns:p14="http://schemas.microsoft.com/office/powerpoint/2010/main" val="1565923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E0B633-247E-59CE-BE70-8E99DCF06B62}"/>
              </a:ext>
            </a:extLst>
          </p:cNvPr>
          <p:cNvSpPr>
            <a:spLocks noGrp="1"/>
          </p:cNvSpPr>
          <p:nvPr>
            <p:ph type="title"/>
          </p:nvPr>
        </p:nvSpPr>
        <p:spPr/>
        <p:txBody>
          <a:bodyPr/>
          <a:lstStyle/>
          <a:p>
            <a:r>
              <a:rPr lang="en-US" dirty="0"/>
              <a:t>MQA and GQA</a:t>
            </a:r>
            <a:endParaRPr lang="en-IN" dirty="0"/>
          </a:p>
        </p:txBody>
      </p:sp>
      <p:pic>
        <p:nvPicPr>
          <p:cNvPr id="7" name="Picture 6">
            <a:extLst>
              <a:ext uri="{FF2B5EF4-FFF2-40B4-BE49-F238E27FC236}">
                <a16:creationId xmlns:a16="http://schemas.microsoft.com/office/drawing/2014/main" id="{303E0C8B-585A-6417-C473-CFAC616242E3}"/>
              </a:ext>
            </a:extLst>
          </p:cNvPr>
          <p:cNvPicPr>
            <a:picLocks noChangeAspect="1"/>
          </p:cNvPicPr>
          <p:nvPr/>
        </p:nvPicPr>
        <p:blipFill>
          <a:blip r:embed="rId2"/>
          <a:stretch>
            <a:fillRect/>
          </a:stretch>
        </p:blipFill>
        <p:spPr>
          <a:xfrm>
            <a:off x="396425" y="1604696"/>
            <a:ext cx="4572739" cy="3430913"/>
          </a:xfrm>
          <a:prstGeom prst="rect">
            <a:avLst/>
          </a:prstGeom>
        </p:spPr>
      </p:pic>
      <p:sp>
        <p:nvSpPr>
          <p:cNvPr id="9" name="TextBox 8">
            <a:extLst>
              <a:ext uri="{FF2B5EF4-FFF2-40B4-BE49-F238E27FC236}">
                <a16:creationId xmlns:a16="http://schemas.microsoft.com/office/drawing/2014/main" id="{4930CBEC-AF82-410C-479A-EEA6552A3DB7}"/>
              </a:ext>
            </a:extLst>
          </p:cNvPr>
          <p:cNvSpPr txBox="1"/>
          <p:nvPr/>
        </p:nvSpPr>
        <p:spPr>
          <a:xfrm>
            <a:off x="609664" y="1357436"/>
            <a:ext cx="4932153" cy="369332"/>
          </a:xfrm>
          <a:prstGeom prst="rect">
            <a:avLst/>
          </a:prstGeom>
          <a:noFill/>
        </p:spPr>
        <p:txBody>
          <a:bodyPr wrap="square">
            <a:spAutoFit/>
          </a:bodyPr>
          <a:lstStyle>
            <a:defPPr>
              <a:defRPr lang="en-US"/>
            </a:defPPr>
            <a:lvl1pPr>
              <a:defRPr b="1">
                <a:solidFill>
                  <a:srgbClr val="111111"/>
                </a:solidFill>
                <a:latin typeface="Helvetica" panose="020B0604020202020204" pitchFamily="34" charset="0"/>
              </a:defRPr>
            </a:lvl1pPr>
          </a:lstStyle>
          <a:p>
            <a:r>
              <a:rPr lang="en-IN" dirty="0"/>
              <a:t>Grouped-query attention (GQA)</a:t>
            </a:r>
          </a:p>
        </p:txBody>
      </p:sp>
      <p:sp>
        <p:nvSpPr>
          <p:cNvPr id="13" name="TextBox 12">
            <a:extLst>
              <a:ext uri="{FF2B5EF4-FFF2-40B4-BE49-F238E27FC236}">
                <a16:creationId xmlns:a16="http://schemas.microsoft.com/office/drawing/2014/main" id="{4FD52EB8-00EA-57D6-EA4E-A52C3243325C}"/>
              </a:ext>
            </a:extLst>
          </p:cNvPr>
          <p:cNvSpPr txBox="1"/>
          <p:nvPr/>
        </p:nvSpPr>
        <p:spPr>
          <a:xfrm>
            <a:off x="304801" y="5421105"/>
            <a:ext cx="11489877" cy="9233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11111"/>
                </a:solidFill>
                <a:effectLst/>
                <a:uLnTx/>
                <a:uFillTx/>
                <a:latin typeface="Cambria" panose="02040503050406030204" pitchFamily="18" charset="0"/>
                <a:ea typeface="Cambria" panose="02040503050406030204" pitchFamily="18" charset="0"/>
              </a:rPr>
              <a:t>GQA: Model keeps multiple query heads but reduces no. of distinct key and value heads by grouping them</a:t>
            </a:r>
          </a:p>
          <a:p>
            <a:pPr marL="342900" marR="0" lvl="0" indent="-34290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11111"/>
                </a:solidFill>
                <a:effectLst/>
                <a:uLnTx/>
                <a:uFillTx/>
                <a:latin typeface="Cambria" panose="02040503050406030204" pitchFamily="18" charset="0"/>
                <a:ea typeface="Cambria" panose="02040503050406030204" pitchFamily="18" charset="0"/>
              </a:rPr>
              <a:t>Reduces KV-cache memory</a:t>
            </a:r>
          </a:p>
          <a:p>
            <a:pPr marL="342900" marR="0" lvl="0" indent="-34290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11111"/>
                </a:solidFill>
                <a:effectLst/>
                <a:uLnTx/>
                <a:uFillTx/>
                <a:latin typeface="Cambria" panose="02040503050406030204" pitchFamily="18" charset="0"/>
                <a:ea typeface="Cambria" panose="02040503050406030204" pitchFamily="18" charset="0"/>
              </a:rPr>
              <a:t>It lowers memory bandwidth pressure during inference</a:t>
            </a:r>
          </a:p>
        </p:txBody>
      </p:sp>
      <p:sp>
        <p:nvSpPr>
          <p:cNvPr id="2" name="TextBox 1">
            <a:extLst>
              <a:ext uri="{FF2B5EF4-FFF2-40B4-BE49-F238E27FC236}">
                <a16:creationId xmlns:a16="http://schemas.microsoft.com/office/drawing/2014/main" id="{0AD0A063-9AF9-A594-EDB7-9562E12765E3}"/>
              </a:ext>
            </a:extLst>
          </p:cNvPr>
          <p:cNvSpPr txBox="1"/>
          <p:nvPr/>
        </p:nvSpPr>
        <p:spPr>
          <a:xfrm>
            <a:off x="5541817" y="1543647"/>
            <a:ext cx="6548583" cy="2862322"/>
          </a:xfrm>
          <a:prstGeom prst="rect">
            <a:avLst/>
          </a:prstGeom>
          <a:noFill/>
        </p:spPr>
        <p:txBody>
          <a:bodyPr wrap="square">
            <a:spAutoFit/>
          </a:bodyPr>
          <a:lstStyle/>
          <a:p>
            <a:pPr marL="285750" indent="-285750">
              <a:buFont typeface="Arial" panose="020B0604020202020204" pitchFamily="34" charset="0"/>
              <a:buChar char="•"/>
            </a:pPr>
            <a:r>
              <a:rPr lang="en-IN" b="1" dirty="0"/>
              <a:t>MQA / GQA</a:t>
            </a:r>
            <a:r>
              <a:rPr lang="en-IN" dirty="0"/>
              <a:t> — Exact attention computation. They reduce the </a:t>
            </a:r>
            <a:r>
              <a:rPr lang="en-IN" i="1" dirty="0"/>
              <a:t>number of K,V projections</a:t>
            </a:r>
            <a:r>
              <a:rPr lang="en-IN" dirty="0"/>
              <a:t> (one shared K,V in MQA; G groups of K,V in GQA), but each query head still computes full </a:t>
            </a:r>
            <a:r>
              <a:rPr lang="en-IN" dirty="0" err="1"/>
              <a:t>softmax</a:t>
            </a:r>
            <a:r>
              <a:rPr lang="en-IN" dirty="0"/>
              <a:t> over the entire sequence. </a:t>
            </a:r>
          </a:p>
          <a:p>
            <a:pPr marL="285750" indent="-285750">
              <a:buFont typeface="Arial" panose="020B0604020202020204" pitchFamily="34" charset="0"/>
              <a:buChar char="•"/>
            </a:pPr>
            <a:br>
              <a:rPr lang="en-IN" dirty="0"/>
            </a:br>
            <a:r>
              <a:rPr lang="en-IN" dirty="0"/>
              <a:t>The "loss" relative to MHA is </a:t>
            </a:r>
            <a:r>
              <a:rPr lang="en-IN" b="1" dirty="0"/>
              <a:t>representational capacity</a:t>
            </a:r>
            <a:r>
              <a:rPr lang="en-IN" dirty="0"/>
              <a:t> baked in at training time, not an inference-time approximation</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A GQA model and an MHA model are simply different models; for a given GQA model, attention is exact</a:t>
            </a:r>
          </a:p>
        </p:txBody>
      </p:sp>
    </p:spTree>
    <p:extLst>
      <p:ext uri="{BB962C8B-B14F-4D97-AF65-F5344CB8AC3E}">
        <p14:creationId xmlns:p14="http://schemas.microsoft.com/office/powerpoint/2010/main" val="450678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AF658A-A1A5-3B59-94F8-5ADBB1D24435}"/>
              </a:ext>
            </a:extLst>
          </p:cNvPr>
          <p:cNvSpPr>
            <a:spLocks noGrp="1"/>
          </p:cNvSpPr>
          <p:nvPr>
            <p:ph idx="10"/>
          </p:nvPr>
        </p:nvSpPr>
        <p:spPr>
          <a:xfrm>
            <a:off x="304800" y="1545224"/>
            <a:ext cx="11887200" cy="4525963"/>
          </a:xfrm>
        </p:spPr>
        <p:txBody>
          <a:bodyPr>
            <a:normAutofit fontScale="92500"/>
          </a:bodyPr>
          <a:lstStyle/>
          <a:p>
            <a:pPr marL="342900" indent="-342900">
              <a:buFont typeface="Arial" panose="020B0604020202020204" pitchFamily="34" charset="0"/>
              <a:buChar char="•"/>
            </a:pPr>
            <a:r>
              <a:rPr lang="en-US" dirty="0"/>
              <a:t>Introduced in DeepSeek-V2</a:t>
            </a:r>
          </a:p>
          <a:p>
            <a:pPr marL="342900" indent="-342900">
              <a:buFont typeface="Arial" panose="020B0604020202020204" pitchFamily="34" charset="0"/>
              <a:buChar char="•"/>
            </a:pPr>
            <a:r>
              <a:rPr lang="en-US" dirty="0"/>
              <a:t>Same goal as GQA but different implementation</a:t>
            </a:r>
          </a:p>
          <a:p>
            <a:pPr marL="342900" indent="-342900">
              <a:buFont typeface="Arial" panose="020B0604020202020204" pitchFamily="34" charset="0"/>
              <a:buChar char="•"/>
            </a:pPr>
            <a:r>
              <a:rPr lang="en-US" b="1" i="1" u="sng" dirty="0"/>
              <a:t>MLA is a KV-cache compression strategy inside attention. Unlike GQA, which saves memory by sharing K/V heads</a:t>
            </a:r>
          </a:p>
          <a:p>
            <a:pPr marL="342900" indent="-342900">
              <a:buFont typeface="Arial" panose="020B0604020202020204" pitchFamily="34" charset="0"/>
              <a:buChar char="•"/>
            </a:pPr>
            <a:r>
              <a:rPr lang="en-US" dirty="0"/>
              <a:t> MLA saves memory by storing a </a:t>
            </a:r>
            <a:r>
              <a:rPr lang="en-US" b="1" dirty="0">
                <a:solidFill>
                  <a:srgbClr val="FF0000"/>
                </a:solidFill>
              </a:rPr>
              <a:t>compressed latent KV state </a:t>
            </a:r>
            <a:r>
              <a:rPr lang="en-US" dirty="0"/>
              <a:t>and reconstructing what it needs during inference</a:t>
            </a:r>
          </a:p>
          <a:p>
            <a:pPr marL="342900" indent="-342900">
              <a:buFont typeface="Arial" panose="020B0604020202020204" pitchFamily="34" charset="0"/>
              <a:buChar char="•"/>
            </a:pPr>
            <a:r>
              <a:rPr lang="en-US" b="1" dirty="0">
                <a:solidFill>
                  <a:schemeClr val="tx1"/>
                </a:solidFill>
                <a:latin typeface="Calibri" pitchFamily="34" charset="0"/>
                <a:ea typeface="Calibri" pitchFamily="34" charset="-122"/>
                <a:cs typeface="Calibri" pitchFamily="34" charset="-120"/>
              </a:rPr>
              <a:t>~10× smaller KV cache</a:t>
            </a:r>
            <a:r>
              <a:rPr lang="en-US" dirty="0">
                <a:solidFill>
                  <a:schemeClr val="tx1"/>
                </a:solidFill>
                <a:latin typeface="Calibri" pitchFamily="34" charset="0"/>
                <a:ea typeface="Calibri" pitchFamily="34" charset="-122"/>
                <a:cs typeface="Calibri" pitchFamily="34" charset="-120"/>
              </a:rPr>
              <a:t> than MHA, quality matches or exceeds it.</a:t>
            </a:r>
            <a:endParaRPr lang="en-US" dirty="0">
              <a:solidFill>
                <a:schemeClr val="tx1"/>
              </a:solidFill>
            </a:endParaRPr>
          </a:p>
          <a:p>
            <a:pPr marL="342900" indent="-342900">
              <a:buFont typeface="Arial" panose="020B0604020202020204" pitchFamily="34" charset="0"/>
              <a:buChar char="•"/>
            </a:pPr>
            <a:r>
              <a:rPr lang="en-US" dirty="0"/>
              <a:t>More complex</a:t>
            </a:r>
          </a:p>
          <a:p>
            <a:pPr marL="342900" indent="-342900">
              <a:buFont typeface="Arial" panose="020B0604020202020204" pitchFamily="34" charset="0"/>
              <a:buChar char="•"/>
            </a:pPr>
            <a:r>
              <a:rPr lang="en-US" dirty="0"/>
              <a:t>But often more compelling </a:t>
            </a:r>
            <a:r>
              <a:rPr lang="en-US" b="1" dirty="0"/>
              <a:t>once model size and context length get large </a:t>
            </a:r>
            <a:r>
              <a:rPr lang="en-US" dirty="0"/>
              <a:t>enough that cache traffic starts to dominate, because at the same rate of memory reduction, it could maintain better modeling performance </a:t>
            </a:r>
          </a:p>
          <a:p>
            <a:pPr marL="342900" indent="-342900">
              <a:buFont typeface="Arial" panose="020B0604020202020204" pitchFamily="34" charset="0"/>
              <a:buChar char="•"/>
            </a:pPr>
            <a:r>
              <a:rPr lang="en-US" dirty="0"/>
              <a:t>E.g. </a:t>
            </a:r>
            <a:r>
              <a:rPr lang="en-IN" dirty="0"/>
              <a:t>Sarvam LLM: </a:t>
            </a:r>
            <a:r>
              <a:rPr lang="en-US" dirty="0"/>
              <a:t>30B model keeps classic GQA, while the 105B version switches to MLA</a:t>
            </a:r>
          </a:p>
          <a:p>
            <a:pPr marL="342900" indent="-342900">
              <a:buFont typeface="Arial" panose="020B0604020202020204" pitchFamily="34" charset="0"/>
              <a:buChar char="•"/>
            </a:pPr>
            <a:r>
              <a:rPr lang="en-US" dirty="0"/>
              <a:t>Example architectures : </a:t>
            </a:r>
            <a:r>
              <a:rPr lang="en-US" u="sng" dirty="0"/>
              <a:t>DeepSeek V3</a:t>
            </a:r>
            <a:r>
              <a:rPr lang="en-US" dirty="0"/>
              <a:t>, </a:t>
            </a:r>
            <a:r>
              <a:rPr lang="en-US" u="sng" dirty="0"/>
              <a:t>Kimi K2</a:t>
            </a:r>
            <a:r>
              <a:rPr lang="en-US" dirty="0"/>
              <a:t>, </a:t>
            </a:r>
            <a:r>
              <a:rPr lang="en-US" u="sng" dirty="0"/>
              <a:t>GLM-5</a:t>
            </a:r>
            <a:r>
              <a:rPr lang="en-US" dirty="0"/>
              <a:t>, </a:t>
            </a:r>
            <a:r>
              <a:rPr lang="en-US" u="sng" dirty="0"/>
              <a:t>Ling 2.5</a:t>
            </a:r>
            <a:r>
              <a:rPr lang="en-US" dirty="0"/>
              <a:t>, </a:t>
            </a:r>
            <a:r>
              <a:rPr lang="en-US" u="sng" dirty="0"/>
              <a:t>Mistral Large 3</a:t>
            </a:r>
            <a:r>
              <a:rPr lang="en-US" dirty="0"/>
              <a:t>, </a:t>
            </a:r>
            <a:r>
              <a:rPr lang="en-US" u="sng" dirty="0"/>
              <a:t>Sarvam 105B</a:t>
            </a:r>
            <a:endParaRPr lang="en-US" dirty="0"/>
          </a:p>
          <a:p>
            <a:pPr marL="342900" indent="-342900">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A4275482-4BD4-45C1-8DE0-8C7BC858A7AF}"/>
              </a:ext>
            </a:extLst>
          </p:cNvPr>
          <p:cNvSpPr>
            <a:spLocks noGrp="1"/>
          </p:cNvSpPr>
          <p:nvPr>
            <p:ph type="title"/>
          </p:nvPr>
        </p:nvSpPr>
        <p:spPr/>
        <p:txBody>
          <a:bodyPr/>
          <a:lstStyle/>
          <a:p>
            <a:r>
              <a:rPr lang="en-IN" dirty="0"/>
              <a:t>Multi-head Latent Attention(MLA)</a:t>
            </a:r>
          </a:p>
        </p:txBody>
      </p:sp>
      <p:sp>
        <p:nvSpPr>
          <p:cNvPr id="5" name="TextBox 4">
            <a:extLst>
              <a:ext uri="{FF2B5EF4-FFF2-40B4-BE49-F238E27FC236}">
                <a16:creationId xmlns:a16="http://schemas.microsoft.com/office/drawing/2014/main" id="{9F407A59-C264-9B3A-69F0-EFCC79A79A9D}"/>
              </a:ext>
            </a:extLst>
          </p:cNvPr>
          <p:cNvSpPr txBox="1"/>
          <p:nvPr/>
        </p:nvSpPr>
        <p:spPr>
          <a:xfrm>
            <a:off x="154330" y="6611779"/>
            <a:ext cx="609407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prstClr val="black"/>
                </a:solidFill>
                <a:effectLst/>
                <a:uLnTx/>
                <a:uFillTx/>
                <a:latin typeface="Calibri"/>
                <a:ea typeface="+mn-ea"/>
                <a:cs typeface="+mn-cs"/>
              </a:rPr>
              <a:t>https://magazine.sebastianraschka.com/p/visual-attention-variants</a:t>
            </a:r>
          </a:p>
        </p:txBody>
      </p:sp>
    </p:spTree>
    <p:extLst>
      <p:ext uri="{BB962C8B-B14F-4D97-AF65-F5344CB8AC3E}">
        <p14:creationId xmlns:p14="http://schemas.microsoft.com/office/powerpoint/2010/main" val="8740016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a:extLst>
              <a:ext uri="{FF2B5EF4-FFF2-40B4-BE49-F238E27FC236}">
                <a16:creationId xmlns:a16="http://schemas.microsoft.com/office/drawing/2014/main" id="{7F78D6AE-84FC-AFAC-10E3-86B19B2F8233}"/>
              </a:ext>
            </a:extLst>
          </p:cNvPr>
          <p:cNvSpPr/>
          <p:nvPr/>
        </p:nvSpPr>
        <p:spPr>
          <a:xfrm>
            <a:off x="457200" y="1216428"/>
            <a:ext cx="3657600" cy="54864"/>
          </a:xfrm>
          <a:prstGeom prst="rect">
            <a:avLst/>
          </a:prstGeom>
          <a:solidFill>
            <a:srgbClr val="F4B41F"/>
          </a:solidFill>
          <a:ln/>
        </p:spPr>
        <p:txBody>
          <a:bodyPr/>
          <a:lstStyle/>
          <a:p>
            <a:endParaRPr lang="en-IN"/>
          </a:p>
        </p:txBody>
      </p:sp>
      <p:sp>
        <p:nvSpPr>
          <p:cNvPr id="3" name="Shape 3">
            <a:extLst>
              <a:ext uri="{FF2B5EF4-FFF2-40B4-BE49-F238E27FC236}">
                <a16:creationId xmlns:a16="http://schemas.microsoft.com/office/drawing/2014/main" id="{6F78B329-D0A0-E368-FBBB-AB273DAD227B}"/>
              </a:ext>
            </a:extLst>
          </p:cNvPr>
          <p:cNvSpPr/>
          <p:nvPr/>
        </p:nvSpPr>
        <p:spPr>
          <a:xfrm>
            <a:off x="4114800" y="1216428"/>
            <a:ext cx="3657600" cy="54864"/>
          </a:xfrm>
          <a:prstGeom prst="rect">
            <a:avLst/>
          </a:prstGeom>
          <a:solidFill>
            <a:srgbClr val="7BB7DD"/>
          </a:solidFill>
          <a:ln/>
        </p:spPr>
        <p:txBody>
          <a:bodyPr/>
          <a:lstStyle/>
          <a:p>
            <a:endParaRPr lang="en-IN"/>
          </a:p>
        </p:txBody>
      </p:sp>
      <p:sp>
        <p:nvSpPr>
          <p:cNvPr id="4" name="Shape 4">
            <a:extLst>
              <a:ext uri="{FF2B5EF4-FFF2-40B4-BE49-F238E27FC236}">
                <a16:creationId xmlns:a16="http://schemas.microsoft.com/office/drawing/2014/main" id="{CE2ABB8F-107D-FD76-B665-F72139019662}"/>
              </a:ext>
            </a:extLst>
          </p:cNvPr>
          <p:cNvSpPr/>
          <p:nvPr/>
        </p:nvSpPr>
        <p:spPr>
          <a:xfrm>
            <a:off x="7772400" y="1216428"/>
            <a:ext cx="3931920" cy="54864"/>
          </a:xfrm>
          <a:prstGeom prst="rect">
            <a:avLst/>
          </a:prstGeom>
          <a:solidFill>
            <a:srgbClr val="D8403F"/>
          </a:solidFill>
          <a:ln/>
        </p:spPr>
        <p:txBody>
          <a:bodyPr/>
          <a:lstStyle/>
          <a:p>
            <a:endParaRPr lang="en-IN"/>
          </a:p>
        </p:txBody>
      </p:sp>
      <p:sp>
        <p:nvSpPr>
          <p:cNvPr id="5" name="Shape 5">
            <a:extLst>
              <a:ext uri="{FF2B5EF4-FFF2-40B4-BE49-F238E27FC236}">
                <a16:creationId xmlns:a16="http://schemas.microsoft.com/office/drawing/2014/main" id="{AE22DD05-135F-61E3-47BD-CFA533B6BC62}"/>
              </a:ext>
            </a:extLst>
          </p:cNvPr>
          <p:cNvSpPr/>
          <p:nvPr/>
        </p:nvSpPr>
        <p:spPr>
          <a:xfrm>
            <a:off x="457200" y="1417596"/>
            <a:ext cx="5303520" cy="5074920"/>
          </a:xfrm>
          <a:prstGeom prst="rect">
            <a:avLst/>
          </a:prstGeom>
          <a:solidFill>
            <a:srgbClr val="F5EFE2"/>
          </a:solidFill>
          <a:ln/>
        </p:spPr>
        <p:txBody>
          <a:bodyPr/>
          <a:lstStyle/>
          <a:p>
            <a:endParaRPr lang="en-IN"/>
          </a:p>
        </p:txBody>
      </p:sp>
      <p:sp>
        <p:nvSpPr>
          <p:cNvPr id="6" name="Shape 6">
            <a:extLst>
              <a:ext uri="{FF2B5EF4-FFF2-40B4-BE49-F238E27FC236}">
                <a16:creationId xmlns:a16="http://schemas.microsoft.com/office/drawing/2014/main" id="{5157C337-C9D4-9BA1-86FE-3467463E826D}"/>
              </a:ext>
            </a:extLst>
          </p:cNvPr>
          <p:cNvSpPr/>
          <p:nvPr/>
        </p:nvSpPr>
        <p:spPr>
          <a:xfrm>
            <a:off x="6035040" y="1417596"/>
            <a:ext cx="5669280" cy="5074920"/>
          </a:xfrm>
          <a:prstGeom prst="rect">
            <a:avLst/>
          </a:prstGeom>
          <a:solidFill>
            <a:srgbClr val="E6F0FA"/>
          </a:solidFill>
          <a:ln/>
        </p:spPr>
        <p:txBody>
          <a:bodyPr/>
          <a:lstStyle/>
          <a:p>
            <a:pPr marL="342900" indent="-342900">
              <a:spcAft>
                <a:spcPts val="600"/>
              </a:spcAft>
              <a:buSzPct val="100000"/>
              <a:buChar char="•"/>
            </a:pPr>
            <a:r>
              <a:rPr lang="en-US" b="1">
                <a:solidFill>
                  <a:srgbClr val="1F2937"/>
                </a:solidFill>
                <a:latin typeface="Calibri" pitchFamily="34" charset="0"/>
                <a:ea typeface="Calibri" pitchFamily="34" charset="-122"/>
                <a:cs typeface="Calibri" pitchFamily="34" charset="-120"/>
              </a:rPr>
              <a:t>Standard attention</a:t>
            </a:r>
            <a:r>
              <a:rPr lang="en-US">
                <a:solidFill>
                  <a:srgbClr val="1F2937"/>
                </a:solidFill>
                <a:latin typeface="Calibri" pitchFamily="34" charset="0"/>
                <a:ea typeface="Calibri" pitchFamily="34" charset="-122"/>
                <a:cs typeface="Calibri" pitchFamily="34" charset="-120"/>
              </a:rPr>
              <a:t> computes K and V directly from h and caches both (big).</a:t>
            </a:r>
            <a:endParaRPr lang="en-US"/>
          </a:p>
          <a:p>
            <a:pPr marL="342900" indent="-342900">
              <a:spcAft>
                <a:spcPts val="600"/>
              </a:spcAft>
              <a:buSzPct val="100000"/>
              <a:buChar char="•"/>
            </a:pPr>
            <a:r>
              <a:rPr lang="en-US" b="1">
                <a:solidFill>
                  <a:srgbClr val="1F2937"/>
                </a:solidFill>
                <a:latin typeface="Calibri" pitchFamily="34" charset="0"/>
                <a:ea typeface="Calibri" pitchFamily="34" charset="-122"/>
                <a:cs typeface="Calibri" pitchFamily="34" charset="-120"/>
              </a:rPr>
              <a:t>MLA</a:t>
            </a:r>
            <a:r>
              <a:rPr lang="en-US">
                <a:solidFill>
                  <a:srgbClr val="1F2937"/>
                </a:solidFill>
                <a:latin typeface="Calibri" pitchFamily="34" charset="0"/>
                <a:ea typeface="Calibri" pitchFamily="34" charset="-122"/>
                <a:cs typeface="Calibri" pitchFamily="34" charset="-120"/>
              </a:rPr>
              <a:t> inserts a thin bottleneck of width </a:t>
            </a:r>
            <a:r>
              <a:rPr lang="en-US" b="1" i="1">
                <a:solidFill>
                  <a:srgbClr val="1F2937"/>
                </a:solidFill>
                <a:latin typeface="Calibri" pitchFamily="34" charset="0"/>
                <a:ea typeface="Calibri" pitchFamily="34" charset="-122"/>
                <a:cs typeface="Calibri" pitchFamily="34" charset="-120"/>
              </a:rPr>
              <a:t>r</a:t>
            </a:r>
            <a:r>
              <a:rPr lang="en-US">
                <a:solidFill>
                  <a:srgbClr val="1F2937"/>
                </a:solidFill>
                <a:latin typeface="Calibri" pitchFamily="34" charset="0"/>
                <a:ea typeface="Calibri" pitchFamily="34" charset="-122"/>
                <a:cs typeface="Calibri" pitchFamily="34" charset="-120"/>
              </a:rPr>
              <a:t> between h and K,V — a small latent vector </a:t>
            </a:r>
            <a:r>
              <a:rPr lang="en-US" b="1">
                <a:solidFill>
                  <a:srgbClr val="1E40AF"/>
                </a:solidFill>
                <a:latin typeface="Consolas" pitchFamily="34" charset="0"/>
                <a:ea typeface="Consolas" pitchFamily="34" charset="-122"/>
                <a:cs typeface="Consolas" pitchFamily="34" charset="-120"/>
              </a:rPr>
              <a:t>c_KV</a:t>
            </a:r>
            <a:endParaRPr lang="en-US"/>
          </a:p>
          <a:p>
            <a:pPr marL="342900" indent="-342900">
              <a:spcAft>
                <a:spcPts val="600"/>
              </a:spcAft>
              <a:buSzPct val="100000"/>
              <a:buChar char="•"/>
            </a:pPr>
            <a:r>
              <a:rPr lang="en-US" b="1">
                <a:solidFill>
                  <a:srgbClr val="1F2937"/>
                </a:solidFill>
                <a:latin typeface="Calibri" pitchFamily="34" charset="0"/>
                <a:ea typeface="Calibri" pitchFamily="34" charset="-122"/>
                <a:cs typeface="Calibri" pitchFamily="34" charset="-120"/>
              </a:rPr>
              <a:t>The cache stores only c_KV.</a:t>
            </a:r>
            <a:r>
              <a:rPr lang="en-US">
                <a:solidFill>
                  <a:srgbClr val="1F2937"/>
                </a:solidFill>
                <a:latin typeface="Calibri" pitchFamily="34" charset="0"/>
                <a:ea typeface="Calibri" pitchFamily="34" charset="-122"/>
                <a:cs typeface="Calibri" pitchFamily="34" charset="-120"/>
              </a:rPr>
              <a:t> K and V are rebuilt from it on demand, using the learned up-projection matrices — the </a:t>
            </a:r>
            <a:r>
              <a:rPr lang="en-US" b="1">
                <a:solidFill>
                  <a:srgbClr val="16A34A"/>
                </a:solidFill>
                <a:latin typeface="Calibri" pitchFamily="34" charset="0"/>
                <a:ea typeface="Calibri" pitchFamily="34" charset="-122"/>
                <a:cs typeface="Calibri" pitchFamily="34" charset="-120"/>
              </a:rPr>
              <a:t>U</a:t>
            </a:r>
            <a:r>
              <a:rPr lang="en-US">
                <a:solidFill>
                  <a:srgbClr val="1F2937"/>
                </a:solidFill>
                <a:latin typeface="Calibri" pitchFamily="34" charset="0"/>
                <a:ea typeface="Calibri" pitchFamily="34" charset="-122"/>
                <a:cs typeface="Calibri" pitchFamily="34" charset="-120"/>
              </a:rPr>
              <a:t> half of the picture on the left.</a:t>
            </a:r>
            <a:endParaRPr lang="en-US" dirty="0"/>
          </a:p>
        </p:txBody>
      </p:sp>
      <p:sp>
        <p:nvSpPr>
          <p:cNvPr id="7" name="Text 7">
            <a:extLst>
              <a:ext uri="{FF2B5EF4-FFF2-40B4-BE49-F238E27FC236}">
                <a16:creationId xmlns:a16="http://schemas.microsoft.com/office/drawing/2014/main" id="{C5B13FCA-0367-F737-89F0-4ECF3F5B0A0D}"/>
              </a:ext>
            </a:extLst>
          </p:cNvPr>
          <p:cNvSpPr/>
          <p:nvPr/>
        </p:nvSpPr>
        <p:spPr>
          <a:xfrm>
            <a:off x="822960" y="1600476"/>
            <a:ext cx="4572000" cy="411480"/>
          </a:xfrm>
          <a:prstGeom prst="rect">
            <a:avLst/>
          </a:prstGeom>
          <a:noFill/>
          <a:ln/>
        </p:spPr>
        <p:txBody>
          <a:bodyPr wrap="square" lIns="0" tIns="0" rIns="0" bIns="0" rtlCol="0" anchor="ctr"/>
          <a:lstStyle/>
          <a:p>
            <a:pPr marL="0" indent="0">
              <a:buNone/>
            </a:pPr>
            <a:r>
              <a:rPr lang="en-US" sz="2000" b="1" dirty="0">
                <a:solidFill>
                  <a:srgbClr val="1F2937"/>
                </a:solidFill>
                <a:latin typeface="Calibri" pitchFamily="34" charset="0"/>
                <a:ea typeface="Calibri" pitchFamily="34" charset="-122"/>
                <a:cs typeface="Calibri" pitchFamily="34" charset="-120"/>
              </a:rPr>
              <a:t>The general trick</a:t>
            </a:r>
            <a:endParaRPr lang="en-US" sz="2000" dirty="0"/>
          </a:p>
        </p:txBody>
      </p:sp>
      <p:sp>
        <p:nvSpPr>
          <p:cNvPr id="8" name="Shape 8">
            <a:extLst>
              <a:ext uri="{FF2B5EF4-FFF2-40B4-BE49-F238E27FC236}">
                <a16:creationId xmlns:a16="http://schemas.microsoft.com/office/drawing/2014/main" id="{AE3454EF-B654-B50B-8A4C-DE992D2BD30A}"/>
              </a:ext>
            </a:extLst>
          </p:cNvPr>
          <p:cNvSpPr/>
          <p:nvPr/>
        </p:nvSpPr>
        <p:spPr>
          <a:xfrm>
            <a:off x="1005840" y="2000526"/>
            <a:ext cx="4389120" cy="777240"/>
          </a:xfrm>
          <a:prstGeom prst="rect">
            <a:avLst/>
          </a:prstGeom>
          <a:solidFill>
            <a:srgbClr val="FFFFFF"/>
          </a:solidFill>
          <a:ln w="6350">
            <a:solidFill>
              <a:srgbClr val="C7D2DE"/>
            </a:solidFill>
            <a:prstDash val="solid"/>
          </a:ln>
        </p:spPr>
        <p:txBody>
          <a:bodyPr/>
          <a:lstStyle/>
          <a:p>
            <a:endParaRPr lang="en-IN"/>
          </a:p>
        </p:txBody>
      </p:sp>
      <p:sp>
        <p:nvSpPr>
          <p:cNvPr id="9" name="Text 9">
            <a:extLst>
              <a:ext uri="{FF2B5EF4-FFF2-40B4-BE49-F238E27FC236}">
                <a16:creationId xmlns:a16="http://schemas.microsoft.com/office/drawing/2014/main" id="{115108D0-808C-8252-D2A2-463A4AB3C10E}"/>
              </a:ext>
            </a:extLst>
          </p:cNvPr>
          <p:cNvSpPr/>
          <p:nvPr/>
        </p:nvSpPr>
        <p:spPr>
          <a:xfrm>
            <a:off x="960120" y="1966236"/>
            <a:ext cx="4389120" cy="777240"/>
          </a:xfrm>
          <a:prstGeom prst="rect">
            <a:avLst/>
          </a:prstGeom>
          <a:noFill/>
          <a:ln/>
        </p:spPr>
        <p:txBody>
          <a:bodyPr wrap="square" lIns="0" tIns="0" rIns="0" bIns="0" rtlCol="0" anchor="ctr"/>
          <a:lstStyle/>
          <a:p>
            <a:pPr marL="0" indent="0" algn="ctr">
              <a:buNone/>
            </a:pPr>
            <a:r>
              <a:rPr lang="en-US" sz="2600" b="1" dirty="0">
                <a:solidFill>
                  <a:srgbClr val="1F2937"/>
                </a:solidFill>
                <a:latin typeface="Calibri" pitchFamily="34" charset="0"/>
                <a:ea typeface="Calibri" pitchFamily="34" charset="-122"/>
                <a:cs typeface="Calibri" pitchFamily="34" charset="-120"/>
              </a:rPr>
              <a:t>M</a:t>
            </a:r>
            <a:r>
              <a:rPr lang="en-US" sz="2200" dirty="0">
                <a:solidFill>
                  <a:srgbClr val="1F2937"/>
                </a:solidFill>
                <a:latin typeface="Calibri" pitchFamily="34" charset="0"/>
                <a:ea typeface="Calibri" pitchFamily="34" charset="-122"/>
                <a:cs typeface="Calibri" pitchFamily="34" charset="-120"/>
              </a:rPr>
              <a:t>  ≈  </a:t>
            </a:r>
            <a:r>
              <a:rPr lang="en-US" sz="2600" b="1" dirty="0">
                <a:solidFill>
                  <a:srgbClr val="16A34A"/>
                </a:solidFill>
                <a:latin typeface="Calibri" pitchFamily="34" charset="0"/>
                <a:ea typeface="Calibri" pitchFamily="34" charset="-122"/>
                <a:cs typeface="Calibri" pitchFamily="34" charset="-120"/>
              </a:rPr>
              <a:t>U</a:t>
            </a:r>
            <a:r>
              <a:rPr lang="en-US" sz="2200" dirty="0">
                <a:solidFill>
                  <a:srgbClr val="1F2937"/>
                </a:solidFill>
                <a:latin typeface="Calibri" pitchFamily="34" charset="0"/>
                <a:ea typeface="Calibri" pitchFamily="34" charset="-122"/>
                <a:cs typeface="Calibri" pitchFamily="34" charset="-120"/>
              </a:rPr>
              <a:t>  ×  </a:t>
            </a:r>
            <a:r>
              <a:rPr lang="en-US" sz="2600" b="1" dirty="0">
                <a:solidFill>
                  <a:srgbClr val="1E40AF"/>
                </a:solidFill>
                <a:latin typeface="Calibri" pitchFamily="34" charset="0"/>
                <a:ea typeface="Calibri" pitchFamily="34" charset="-122"/>
                <a:cs typeface="Calibri" pitchFamily="34" charset="-120"/>
              </a:rPr>
              <a:t>V</a:t>
            </a:r>
            <a:endParaRPr lang="en-US" sz="2600" dirty="0"/>
          </a:p>
        </p:txBody>
      </p:sp>
      <p:sp>
        <p:nvSpPr>
          <p:cNvPr id="10" name="Text 10">
            <a:extLst>
              <a:ext uri="{FF2B5EF4-FFF2-40B4-BE49-F238E27FC236}">
                <a16:creationId xmlns:a16="http://schemas.microsoft.com/office/drawing/2014/main" id="{B9FEA186-A912-73E4-E45C-685467C0781F}"/>
              </a:ext>
            </a:extLst>
          </p:cNvPr>
          <p:cNvSpPr/>
          <p:nvPr/>
        </p:nvSpPr>
        <p:spPr>
          <a:xfrm>
            <a:off x="1309253" y="2872635"/>
            <a:ext cx="3244273" cy="1234440"/>
          </a:xfrm>
          <a:prstGeom prst="rect">
            <a:avLst/>
          </a:prstGeom>
          <a:noFill/>
          <a:ln/>
        </p:spPr>
        <p:txBody>
          <a:bodyPr wrap="square" lIns="0" tIns="0" rIns="0" bIns="0" rtlCol="0" anchor="ctr"/>
          <a:lstStyle/>
          <a:p>
            <a:pPr marL="0" indent="0">
              <a:buNone/>
            </a:pPr>
            <a:r>
              <a:rPr lang="en-US" b="1" dirty="0">
                <a:solidFill>
                  <a:srgbClr val="1F2937"/>
                </a:solidFill>
                <a:latin typeface="Calibri" pitchFamily="34" charset="0"/>
                <a:ea typeface="Calibri" pitchFamily="34" charset="-122"/>
                <a:cs typeface="Calibri" pitchFamily="34" charset="-120"/>
              </a:rPr>
              <a:t>M</a:t>
            </a:r>
            <a:r>
              <a:rPr lang="en-US" dirty="0">
                <a:solidFill>
                  <a:srgbClr val="1F2937"/>
                </a:solidFill>
                <a:latin typeface="Calibri" pitchFamily="34" charset="0"/>
                <a:ea typeface="Calibri" pitchFamily="34" charset="-122"/>
                <a:cs typeface="Calibri" pitchFamily="34" charset="-120"/>
              </a:rPr>
              <a:t>  :  </a:t>
            </a:r>
            <a:r>
              <a:rPr lang="en-US" dirty="0">
                <a:solidFill>
                  <a:srgbClr val="1F2937"/>
                </a:solidFill>
                <a:latin typeface="Consolas" pitchFamily="34" charset="0"/>
                <a:ea typeface="Consolas" pitchFamily="34" charset="-122"/>
                <a:cs typeface="Consolas" pitchFamily="34" charset="-120"/>
              </a:rPr>
              <a:t>(n × m)</a:t>
            </a:r>
            <a:r>
              <a:rPr lang="en-US" dirty="0">
                <a:solidFill>
                  <a:srgbClr val="000000"/>
                </a:solidFill>
                <a:latin typeface="Calibri" pitchFamily="34" charset="0"/>
                <a:ea typeface="Calibri" pitchFamily="34" charset="-122"/>
                <a:cs typeface="Calibri" pitchFamily="34" charset="-120"/>
              </a:rPr>
              <a:t>    </a:t>
            </a:r>
            <a:r>
              <a:rPr lang="en-US" i="1" dirty="0">
                <a:solidFill>
                  <a:srgbClr val="4B5563"/>
                </a:solidFill>
                <a:latin typeface="Calibri" pitchFamily="34" charset="0"/>
                <a:ea typeface="Calibri" pitchFamily="34" charset="-122"/>
                <a:cs typeface="Calibri" pitchFamily="34" charset="-120"/>
              </a:rPr>
              <a:t>big matrix</a:t>
            </a:r>
          </a:p>
          <a:p>
            <a:r>
              <a:rPr lang="en-US" b="1" dirty="0">
                <a:solidFill>
                  <a:srgbClr val="16A34A"/>
                </a:solidFill>
                <a:latin typeface="Calibri" pitchFamily="34" charset="0"/>
                <a:ea typeface="Calibri" pitchFamily="34" charset="-122"/>
                <a:cs typeface="Calibri" pitchFamily="34" charset="-120"/>
              </a:rPr>
              <a:t>U</a:t>
            </a:r>
            <a:r>
              <a:rPr lang="en-US" dirty="0">
                <a:solidFill>
                  <a:srgbClr val="1F2937"/>
                </a:solidFill>
                <a:latin typeface="Calibri" pitchFamily="34" charset="0"/>
                <a:ea typeface="Calibri" pitchFamily="34" charset="-122"/>
                <a:cs typeface="Calibri" pitchFamily="34" charset="-120"/>
              </a:rPr>
              <a:t>  :  </a:t>
            </a:r>
            <a:r>
              <a:rPr lang="en-US" dirty="0">
                <a:solidFill>
                  <a:srgbClr val="1F2937"/>
                </a:solidFill>
                <a:latin typeface="Consolas" pitchFamily="34" charset="0"/>
                <a:ea typeface="Consolas" pitchFamily="34" charset="-122"/>
                <a:cs typeface="Consolas" pitchFamily="34" charset="-120"/>
              </a:rPr>
              <a:t>(n × r)</a:t>
            </a:r>
            <a:r>
              <a:rPr lang="en-US" dirty="0">
                <a:solidFill>
                  <a:srgbClr val="000000"/>
                </a:solidFill>
                <a:latin typeface="Calibri" pitchFamily="34" charset="0"/>
                <a:ea typeface="Calibri" pitchFamily="34" charset="-122"/>
                <a:cs typeface="Calibri" pitchFamily="34" charset="-120"/>
              </a:rPr>
              <a:t>    </a:t>
            </a:r>
            <a:r>
              <a:rPr lang="en-US" i="1" dirty="0">
                <a:solidFill>
                  <a:srgbClr val="4B5563"/>
                </a:solidFill>
                <a:latin typeface="Calibri" pitchFamily="34" charset="0"/>
                <a:ea typeface="Calibri" pitchFamily="34" charset="-122"/>
                <a:cs typeface="Calibri" pitchFamily="34" charset="-120"/>
              </a:rPr>
              <a:t>thin</a:t>
            </a:r>
          </a:p>
          <a:p>
            <a:r>
              <a:rPr lang="en-US" b="1" dirty="0">
                <a:solidFill>
                  <a:srgbClr val="1E40AF"/>
                </a:solidFill>
                <a:latin typeface="Calibri" pitchFamily="34" charset="0"/>
                <a:ea typeface="Calibri" pitchFamily="34" charset="-122"/>
                <a:cs typeface="Calibri" pitchFamily="34" charset="-120"/>
              </a:rPr>
              <a:t>V</a:t>
            </a:r>
            <a:r>
              <a:rPr lang="en-US" dirty="0">
                <a:solidFill>
                  <a:srgbClr val="1F2937"/>
                </a:solidFill>
                <a:latin typeface="Calibri" pitchFamily="34" charset="0"/>
                <a:ea typeface="Calibri" pitchFamily="34" charset="-122"/>
                <a:cs typeface="Calibri" pitchFamily="34" charset="-120"/>
              </a:rPr>
              <a:t>  :  </a:t>
            </a:r>
            <a:r>
              <a:rPr lang="en-US" dirty="0">
                <a:solidFill>
                  <a:srgbClr val="1F2937"/>
                </a:solidFill>
                <a:latin typeface="Consolas" pitchFamily="34" charset="0"/>
                <a:ea typeface="Consolas" pitchFamily="34" charset="-122"/>
                <a:cs typeface="Consolas" pitchFamily="34" charset="-120"/>
              </a:rPr>
              <a:t>(r × m)</a:t>
            </a:r>
            <a:r>
              <a:rPr lang="en-US" dirty="0">
                <a:solidFill>
                  <a:srgbClr val="000000"/>
                </a:solidFill>
                <a:latin typeface="Calibri" pitchFamily="34" charset="0"/>
                <a:ea typeface="Calibri" pitchFamily="34" charset="-122"/>
                <a:cs typeface="Calibri" pitchFamily="34" charset="-120"/>
              </a:rPr>
              <a:t>    </a:t>
            </a:r>
            <a:r>
              <a:rPr lang="en-US" i="1" dirty="0">
                <a:solidFill>
                  <a:srgbClr val="4B5563"/>
                </a:solidFill>
                <a:latin typeface="Calibri" pitchFamily="34" charset="0"/>
                <a:ea typeface="Calibri" pitchFamily="34" charset="-122"/>
                <a:cs typeface="Calibri" pitchFamily="34" charset="-120"/>
              </a:rPr>
              <a:t>thin</a:t>
            </a:r>
            <a:endParaRPr lang="en-US" dirty="0"/>
          </a:p>
        </p:txBody>
      </p:sp>
      <p:sp>
        <p:nvSpPr>
          <p:cNvPr id="11" name="Text 11">
            <a:extLst>
              <a:ext uri="{FF2B5EF4-FFF2-40B4-BE49-F238E27FC236}">
                <a16:creationId xmlns:a16="http://schemas.microsoft.com/office/drawing/2014/main" id="{781BB3E3-94CD-69F7-44FC-54E721893362}"/>
              </a:ext>
            </a:extLst>
          </p:cNvPr>
          <p:cNvSpPr/>
          <p:nvPr/>
        </p:nvSpPr>
        <p:spPr>
          <a:xfrm>
            <a:off x="1097280" y="3703596"/>
            <a:ext cx="4023360" cy="457200"/>
          </a:xfrm>
          <a:prstGeom prst="rect">
            <a:avLst/>
          </a:prstGeom>
          <a:noFill/>
          <a:ln/>
        </p:spPr>
        <p:txBody>
          <a:bodyPr wrap="square" lIns="0" tIns="0" rIns="0" bIns="0" rtlCol="0" anchor="ctr"/>
          <a:lstStyle/>
          <a:p>
            <a:pPr marL="0" indent="0">
              <a:buNone/>
            </a:pPr>
            <a:endParaRPr lang="en-US" sz="1800" dirty="0"/>
          </a:p>
        </p:txBody>
      </p:sp>
      <p:sp>
        <p:nvSpPr>
          <p:cNvPr id="13" name="Shape 13">
            <a:extLst>
              <a:ext uri="{FF2B5EF4-FFF2-40B4-BE49-F238E27FC236}">
                <a16:creationId xmlns:a16="http://schemas.microsoft.com/office/drawing/2014/main" id="{3365870A-FB73-5514-ED0F-43044FCC86B8}"/>
              </a:ext>
            </a:extLst>
          </p:cNvPr>
          <p:cNvSpPr/>
          <p:nvPr/>
        </p:nvSpPr>
        <p:spPr>
          <a:xfrm>
            <a:off x="807720" y="4270524"/>
            <a:ext cx="4389120" cy="914400"/>
          </a:xfrm>
          <a:prstGeom prst="rect">
            <a:avLst/>
          </a:prstGeom>
          <a:solidFill>
            <a:srgbClr val="1F2937"/>
          </a:solidFill>
          <a:ln/>
        </p:spPr>
        <p:txBody>
          <a:bodyPr/>
          <a:lstStyle/>
          <a:p>
            <a:endParaRPr lang="en-IN"/>
          </a:p>
        </p:txBody>
      </p:sp>
      <p:sp>
        <p:nvSpPr>
          <p:cNvPr id="14" name="Text 14">
            <a:extLst>
              <a:ext uri="{FF2B5EF4-FFF2-40B4-BE49-F238E27FC236}">
                <a16:creationId xmlns:a16="http://schemas.microsoft.com/office/drawing/2014/main" id="{631CC8BE-04AD-38D2-93D3-DFD128C33DC8}"/>
              </a:ext>
            </a:extLst>
          </p:cNvPr>
          <p:cNvSpPr/>
          <p:nvPr/>
        </p:nvSpPr>
        <p:spPr>
          <a:xfrm>
            <a:off x="982749" y="4236234"/>
            <a:ext cx="4023360" cy="9144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r is much smaller than n and m — so the bottleneck of width r stores far fewer numbers than M.</a:t>
            </a:r>
            <a:endParaRPr lang="en-US" sz="1600" dirty="0"/>
          </a:p>
        </p:txBody>
      </p:sp>
      <p:sp>
        <p:nvSpPr>
          <p:cNvPr id="17" name="Shape 17">
            <a:extLst>
              <a:ext uri="{FF2B5EF4-FFF2-40B4-BE49-F238E27FC236}">
                <a16:creationId xmlns:a16="http://schemas.microsoft.com/office/drawing/2014/main" id="{681481F4-D1DD-9F65-A729-388274AABC63}"/>
              </a:ext>
            </a:extLst>
          </p:cNvPr>
          <p:cNvSpPr/>
          <p:nvPr/>
        </p:nvSpPr>
        <p:spPr>
          <a:xfrm>
            <a:off x="6286269" y="4826861"/>
            <a:ext cx="5029200" cy="1417320"/>
          </a:xfrm>
          <a:prstGeom prst="rect">
            <a:avLst/>
          </a:prstGeom>
          <a:solidFill>
            <a:srgbClr val="FFFFFF"/>
          </a:solidFill>
          <a:ln w="9525">
            <a:solidFill>
              <a:srgbClr val="C7D2DE"/>
            </a:solidFill>
            <a:prstDash val="solid"/>
          </a:ln>
        </p:spPr>
        <p:txBody>
          <a:bodyPr/>
          <a:lstStyle/>
          <a:p>
            <a:pPr>
              <a:spcAft>
                <a:spcPts val="400"/>
              </a:spcAft>
              <a:buSzPct val="100000"/>
            </a:pPr>
            <a:r>
              <a:rPr lang="en-US" b="1" dirty="0">
                <a:solidFill>
                  <a:srgbClr val="1F2937"/>
                </a:solidFill>
                <a:ea typeface="Calibri" pitchFamily="34" charset="-122"/>
                <a:cs typeface="Calibri" pitchFamily="34" charset="-120"/>
              </a:rPr>
              <a:t>MQA / GQA</a:t>
            </a:r>
            <a:r>
              <a:rPr lang="en-US" dirty="0">
                <a:solidFill>
                  <a:srgbClr val="1F2937"/>
                </a:solidFill>
                <a:ea typeface="Calibri" pitchFamily="34" charset="-122"/>
                <a:cs typeface="Calibri" pitchFamily="34" charset="-120"/>
              </a:rPr>
              <a:t>: shrink cache by </a:t>
            </a:r>
            <a:r>
              <a:rPr lang="en-US" i="1" dirty="0">
                <a:solidFill>
                  <a:srgbClr val="1F2937"/>
                </a:solidFill>
                <a:ea typeface="Calibri" pitchFamily="34" charset="-122"/>
                <a:cs typeface="Calibri" pitchFamily="34" charset="-120"/>
              </a:rPr>
              <a:t>sharing</a:t>
            </a:r>
            <a:r>
              <a:rPr lang="en-US" dirty="0">
                <a:solidFill>
                  <a:srgbClr val="1F2937"/>
                </a:solidFill>
                <a:ea typeface="Calibri" pitchFamily="34" charset="-122"/>
                <a:cs typeface="Calibri" pitchFamily="34" charset="-120"/>
              </a:rPr>
              <a:t> K,V across heads → quality drops vs MHA.</a:t>
            </a:r>
            <a:endParaRPr lang="en-US" dirty="0"/>
          </a:p>
          <a:p>
            <a:pPr>
              <a:spcAft>
                <a:spcPts val="400"/>
              </a:spcAft>
              <a:buSzPct val="100000"/>
            </a:pPr>
            <a:r>
              <a:rPr lang="en-US" b="1" dirty="0">
                <a:solidFill>
                  <a:srgbClr val="1F2937"/>
                </a:solidFill>
                <a:ea typeface="Calibri" pitchFamily="34" charset="-122"/>
                <a:cs typeface="Calibri" pitchFamily="34" charset="-120"/>
              </a:rPr>
              <a:t>MLA</a:t>
            </a:r>
            <a:r>
              <a:rPr lang="en-US" dirty="0">
                <a:solidFill>
                  <a:srgbClr val="1F2937"/>
                </a:solidFill>
                <a:ea typeface="Calibri" pitchFamily="34" charset="-122"/>
                <a:cs typeface="Calibri" pitchFamily="34" charset="-120"/>
              </a:rPr>
              <a:t>: shrinks cache by </a:t>
            </a:r>
            <a:r>
              <a:rPr lang="en-US" i="1" dirty="0">
                <a:solidFill>
                  <a:srgbClr val="1F2937"/>
                </a:solidFill>
                <a:ea typeface="Calibri" pitchFamily="34" charset="-122"/>
                <a:cs typeface="Calibri" pitchFamily="34" charset="-120"/>
              </a:rPr>
              <a:t>compressing</a:t>
            </a:r>
            <a:r>
              <a:rPr lang="en-US" dirty="0">
                <a:solidFill>
                  <a:srgbClr val="1F2937"/>
                </a:solidFill>
                <a:ea typeface="Calibri" pitchFamily="34" charset="-122"/>
                <a:cs typeface="Calibri" pitchFamily="34" charset="-120"/>
              </a:rPr>
              <a:t> K,V through </a:t>
            </a:r>
            <a:r>
              <a:rPr lang="en-US" dirty="0" err="1">
                <a:solidFill>
                  <a:srgbClr val="1F2937"/>
                </a:solidFill>
                <a:ea typeface="Calibri" pitchFamily="34" charset="-122"/>
                <a:cs typeface="Calibri" pitchFamily="34" charset="-120"/>
              </a:rPr>
              <a:t>c_KV</a:t>
            </a:r>
            <a:r>
              <a:rPr lang="en-US" dirty="0">
                <a:solidFill>
                  <a:srgbClr val="1F2937"/>
                </a:solidFill>
                <a:ea typeface="Calibri" pitchFamily="34" charset="-122"/>
                <a:cs typeface="Calibri" pitchFamily="34" charset="-120"/>
              </a:rPr>
              <a:t> → every head keeps its own K,V → quality matches MHA.</a:t>
            </a:r>
            <a:endParaRPr lang="en-US" dirty="0"/>
          </a:p>
        </p:txBody>
      </p:sp>
      <p:sp>
        <p:nvSpPr>
          <p:cNvPr id="22" name="Shape 22">
            <a:extLst>
              <a:ext uri="{FF2B5EF4-FFF2-40B4-BE49-F238E27FC236}">
                <a16:creationId xmlns:a16="http://schemas.microsoft.com/office/drawing/2014/main" id="{02B27415-64E0-18CC-5413-884D368B7CA0}"/>
              </a:ext>
            </a:extLst>
          </p:cNvPr>
          <p:cNvSpPr/>
          <p:nvPr/>
        </p:nvSpPr>
        <p:spPr>
          <a:xfrm>
            <a:off x="457200" y="6629676"/>
            <a:ext cx="3657600" cy="54864"/>
          </a:xfrm>
          <a:prstGeom prst="rect">
            <a:avLst/>
          </a:prstGeom>
          <a:solidFill>
            <a:srgbClr val="F4B41F"/>
          </a:solidFill>
          <a:ln/>
        </p:spPr>
        <p:txBody>
          <a:bodyPr/>
          <a:lstStyle/>
          <a:p>
            <a:endParaRPr lang="en-IN"/>
          </a:p>
        </p:txBody>
      </p:sp>
      <p:sp>
        <p:nvSpPr>
          <p:cNvPr id="23" name="Shape 23">
            <a:extLst>
              <a:ext uri="{FF2B5EF4-FFF2-40B4-BE49-F238E27FC236}">
                <a16:creationId xmlns:a16="http://schemas.microsoft.com/office/drawing/2014/main" id="{2F278995-42A8-839A-2BAD-56E8B12BCB87}"/>
              </a:ext>
            </a:extLst>
          </p:cNvPr>
          <p:cNvSpPr/>
          <p:nvPr/>
        </p:nvSpPr>
        <p:spPr>
          <a:xfrm>
            <a:off x="4114800" y="6629676"/>
            <a:ext cx="3657600" cy="54864"/>
          </a:xfrm>
          <a:prstGeom prst="rect">
            <a:avLst/>
          </a:prstGeom>
          <a:solidFill>
            <a:srgbClr val="7BB7DD"/>
          </a:solidFill>
          <a:ln/>
        </p:spPr>
        <p:txBody>
          <a:bodyPr/>
          <a:lstStyle/>
          <a:p>
            <a:endParaRPr lang="en-IN"/>
          </a:p>
        </p:txBody>
      </p:sp>
      <p:sp>
        <p:nvSpPr>
          <p:cNvPr id="24" name="Shape 24">
            <a:extLst>
              <a:ext uri="{FF2B5EF4-FFF2-40B4-BE49-F238E27FC236}">
                <a16:creationId xmlns:a16="http://schemas.microsoft.com/office/drawing/2014/main" id="{6FD522F4-E2E8-6B28-A562-3BFE1860DD67}"/>
              </a:ext>
            </a:extLst>
          </p:cNvPr>
          <p:cNvSpPr/>
          <p:nvPr/>
        </p:nvSpPr>
        <p:spPr>
          <a:xfrm>
            <a:off x="7772400" y="6629676"/>
            <a:ext cx="3931920" cy="54864"/>
          </a:xfrm>
          <a:prstGeom prst="rect">
            <a:avLst/>
          </a:prstGeom>
          <a:solidFill>
            <a:srgbClr val="D8403F"/>
          </a:solidFill>
          <a:ln/>
        </p:spPr>
        <p:txBody>
          <a:bodyPr/>
          <a:lstStyle/>
          <a:p>
            <a:endParaRPr lang="en-IN"/>
          </a:p>
        </p:txBody>
      </p:sp>
      <p:sp>
        <p:nvSpPr>
          <p:cNvPr id="25" name="Text 0">
            <a:extLst>
              <a:ext uri="{FF2B5EF4-FFF2-40B4-BE49-F238E27FC236}">
                <a16:creationId xmlns:a16="http://schemas.microsoft.com/office/drawing/2014/main" id="{5B9991D3-DA39-AC2F-3B2D-FEF6F0A14257}"/>
              </a:ext>
            </a:extLst>
          </p:cNvPr>
          <p:cNvSpPr/>
          <p:nvPr/>
        </p:nvSpPr>
        <p:spPr>
          <a:xfrm>
            <a:off x="548640" y="292608"/>
            <a:ext cx="11064240" cy="594360"/>
          </a:xfrm>
          <a:prstGeom prst="rect">
            <a:avLst/>
          </a:prstGeom>
          <a:noFill/>
          <a:ln/>
        </p:spPr>
        <p:txBody>
          <a:bodyPr wrap="square" lIns="0" tIns="0" rIns="0" bIns="0" rtlCol="0" anchor="ctr"/>
          <a:lstStyle/>
          <a:p>
            <a:pPr marL="0" indent="0" algn="l">
              <a:buNone/>
            </a:pPr>
            <a:r>
              <a:rPr lang="en-US" sz="3000" b="1" dirty="0">
                <a:solidFill>
                  <a:srgbClr val="8B1A1A"/>
                </a:solidFill>
                <a:latin typeface="Trebuchet MS" pitchFamily="34" charset="0"/>
                <a:ea typeface="Trebuchet MS" pitchFamily="34" charset="-122"/>
                <a:cs typeface="Trebuchet MS" pitchFamily="34" charset="-120"/>
              </a:rPr>
              <a:t>Low-rank approximation</a:t>
            </a:r>
            <a:endParaRPr lang="en-US" sz="3000" dirty="0"/>
          </a:p>
        </p:txBody>
      </p:sp>
      <p:sp>
        <p:nvSpPr>
          <p:cNvPr id="26" name="Text 1">
            <a:extLst>
              <a:ext uri="{FF2B5EF4-FFF2-40B4-BE49-F238E27FC236}">
                <a16:creationId xmlns:a16="http://schemas.microsoft.com/office/drawing/2014/main" id="{3830E5C2-D2CA-6D98-8E32-25BBEA56C95B}"/>
              </a:ext>
            </a:extLst>
          </p:cNvPr>
          <p:cNvSpPr/>
          <p:nvPr/>
        </p:nvSpPr>
        <p:spPr>
          <a:xfrm>
            <a:off x="548640" y="896112"/>
            <a:ext cx="11064240" cy="365760"/>
          </a:xfrm>
          <a:prstGeom prst="rect">
            <a:avLst/>
          </a:prstGeom>
          <a:noFill/>
          <a:ln/>
        </p:spPr>
        <p:txBody>
          <a:bodyPr wrap="square" lIns="0" tIns="0" rIns="0" bIns="0" rtlCol="0" anchor="ctr"/>
          <a:lstStyle/>
          <a:p>
            <a:pPr marL="0" indent="0" algn="l">
              <a:buNone/>
            </a:pPr>
            <a:r>
              <a:rPr lang="en-US" sz="2000" i="1" dirty="0">
                <a:solidFill>
                  <a:srgbClr val="6B6A63"/>
                </a:solidFill>
                <a:latin typeface="Calibri" pitchFamily="34" charset="0"/>
                <a:ea typeface="Calibri" pitchFamily="34" charset="-122"/>
                <a:cs typeface="Calibri" pitchFamily="34" charset="-120"/>
              </a:rPr>
              <a:t>One big matrix ≈ two thin ones through a small bottleneck. MLA applies this to K and V.</a:t>
            </a:r>
            <a:endParaRPr lang="en-US" sz="2000" dirty="0"/>
          </a:p>
        </p:txBody>
      </p:sp>
      <p:sp>
        <p:nvSpPr>
          <p:cNvPr id="28" name="TextBox 27">
            <a:extLst>
              <a:ext uri="{FF2B5EF4-FFF2-40B4-BE49-F238E27FC236}">
                <a16:creationId xmlns:a16="http://schemas.microsoft.com/office/drawing/2014/main" id="{D9FC8B33-2B5D-774A-2D1C-E5896ADFCE46}"/>
              </a:ext>
            </a:extLst>
          </p:cNvPr>
          <p:cNvSpPr txBox="1"/>
          <p:nvPr/>
        </p:nvSpPr>
        <p:spPr>
          <a:xfrm>
            <a:off x="6247014" y="3932196"/>
            <a:ext cx="5457306" cy="646331"/>
          </a:xfrm>
          <a:prstGeom prst="rect">
            <a:avLst/>
          </a:prstGeom>
          <a:noFill/>
        </p:spPr>
        <p:txBody>
          <a:bodyPr wrap="square">
            <a:spAutoFit/>
          </a:bodyPr>
          <a:lstStyle/>
          <a:p>
            <a:pPr>
              <a:buNone/>
            </a:pPr>
            <a:r>
              <a:rPr lang="en-IN" dirty="0"/>
              <a:t>Standard: h ──▶ K, V → cache </a:t>
            </a:r>
            <a:r>
              <a:rPr lang="en-IN" b="1" dirty="0"/>
              <a:t>K, V</a:t>
            </a:r>
            <a:endParaRPr lang="en-IN" dirty="0"/>
          </a:p>
          <a:p>
            <a:pPr>
              <a:buNone/>
            </a:pPr>
            <a:r>
              <a:rPr lang="en-IN" dirty="0"/>
              <a:t>MLA: h ──▶ </a:t>
            </a:r>
            <a:r>
              <a:rPr lang="en-IN" dirty="0" err="1"/>
              <a:t>c_KV</a:t>
            </a:r>
            <a:r>
              <a:rPr lang="en-IN" dirty="0"/>
              <a:t> ──▶ K, V → cache </a:t>
            </a:r>
            <a:r>
              <a:rPr lang="en-IN" b="1" dirty="0" err="1"/>
              <a:t>c_KV</a:t>
            </a:r>
            <a:r>
              <a:rPr lang="en-IN" dirty="0"/>
              <a:t> only</a:t>
            </a:r>
          </a:p>
        </p:txBody>
      </p:sp>
      <p:sp>
        <p:nvSpPr>
          <p:cNvPr id="30" name="TextBox 29">
            <a:extLst>
              <a:ext uri="{FF2B5EF4-FFF2-40B4-BE49-F238E27FC236}">
                <a16:creationId xmlns:a16="http://schemas.microsoft.com/office/drawing/2014/main" id="{C770FE0A-568E-2BBD-5361-AAB1C7F49286}"/>
              </a:ext>
            </a:extLst>
          </p:cNvPr>
          <p:cNvSpPr txBox="1"/>
          <p:nvPr/>
        </p:nvSpPr>
        <p:spPr>
          <a:xfrm>
            <a:off x="944880" y="5827790"/>
            <a:ext cx="4061229" cy="369332"/>
          </a:xfrm>
          <a:prstGeom prst="rect">
            <a:avLst/>
          </a:prstGeom>
          <a:noFill/>
        </p:spPr>
        <p:txBody>
          <a:bodyPr wrap="square">
            <a:spAutoFit/>
          </a:bodyPr>
          <a:lstStyle/>
          <a:p>
            <a:pPr marL="0" indent="0">
              <a:buNone/>
            </a:pPr>
            <a:r>
              <a:rPr lang="en-US" sz="1800" b="1" dirty="0">
                <a:solidFill>
                  <a:srgbClr val="1E3A8A"/>
                </a:solidFill>
                <a:latin typeface="Calibri" pitchFamily="34" charset="0"/>
                <a:ea typeface="Calibri" pitchFamily="34" charset="-122"/>
                <a:cs typeface="Calibri" pitchFamily="34" charset="-120"/>
              </a:rPr>
              <a:t>MLA applies it to K and V</a:t>
            </a:r>
            <a:endParaRPr lang="en-US" sz="1800" dirty="0"/>
          </a:p>
        </p:txBody>
      </p:sp>
    </p:spTree>
    <p:extLst>
      <p:ext uri="{BB962C8B-B14F-4D97-AF65-F5344CB8AC3E}">
        <p14:creationId xmlns:p14="http://schemas.microsoft.com/office/powerpoint/2010/main" val="1322712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9B45C2-00B3-3A3C-9C4B-D519664941F5}"/>
              </a:ext>
            </a:extLst>
          </p:cNvPr>
          <p:cNvSpPr>
            <a:spLocks noGrp="1"/>
          </p:cNvSpPr>
          <p:nvPr>
            <p:ph type="title"/>
          </p:nvPr>
        </p:nvSpPr>
        <p:spPr/>
        <p:txBody>
          <a:bodyPr/>
          <a:lstStyle/>
          <a:p>
            <a:r>
              <a:rPr lang="en-US" dirty="0"/>
              <a:t>MLA</a:t>
            </a:r>
            <a:endParaRPr lang="en-IN" dirty="0"/>
          </a:p>
        </p:txBody>
      </p:sp>
      <p:pic>
        <p:nvPicPr>
          <p:cNvPr id="2050" name="Picture 2">
            <a:extLst>
              <a:ext uri="{FF2B5EF4-FFF2-40B4-BE49-F238E27FC236}">
                <a16:creationId xmlns:a16="http://schemas.microsoft.com/office/drawing/2014/main" id="{E12F2203-CEBD-24CD-A236-173321A9E78C}"/>
              </a:ext>
            </a:extLst>
          </p:cNvPr>
          <p:cNvPicPr>
            <a:picLocks noGrp="1" noChangeAspect="1" noChangeArrowheads="1"/>
          </p:cNvPicPr>
          <p:nvPr>
            <p:ph idx="10"/>
          </p:nvPr>
        </p:nvPicPr>
        <p:blipFill>
          <a:blip r:embed="rId2">
            <a:extLst>
              <a:ext uri="{28A0092B-C50C-407E-A947-70E740481C1C}">
                <a14:useLocalDpi xmlns:a14="http://schemas.microsoft.com/office/drawing/2010/main" val="0"/>
              </a:ext>
            </a:extLst>
          </a:blip>
          <a:srcRect/>
          <a:stretch>
            <a:fillRect/>
          </a:stretch>
        </p:blipFill>
        <p:spPr bwMode="auto">
          <a:xfrm>
            <a:off x="108031" y="804188"/>
            <a:ext cx="9973518" cy="552105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8EDD9D8-1EAB-F7DF-7B0E-FABC0B7CD779}"/>
              </a:ext>
            </a:extLst>
          </p:cNvPr>
          <p:cNvSpPr txBox="1"/>
          <p:nvPr/>
        </p:nvSpPr>
        <p:spPr>
          <a:xfrm>
            <a:off x="4736940" y="5124914"/>
            <a:ext cx="7347029" cy="9233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Instead of caching full-resolution key and value tensors as in MHA and GQA, MLA stores a latent representation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 Essentially, it is a cache compression strategy embedded inside attention</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a:extLst>
              <a:ext uri="{FF2B5EF4-FFF2-40B4-BE49-F238E27FC236}">
                <a16:creationId xmlns:a16="http://schemas.microsoft.com/office/drawing/2014/main" id="{4F51CB77-86E3-2B43-B3D1-66C18C4EDA59}"/>
              </a:ext>
            </a:extLst>
          </p:cNvPr>
          <p:cNvSpPr txBox="1"/>
          <p:nvPr/>
        </p:nvSpPr>
        <p:spPr>
          <a:xfrm>
            <a:off x="154330" y="6611779"/>
            <a:ext cx="609407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prstClr val="black"/>
                </a:solidFill>
                <a:effectLst/>
                <a:uLnTx/>
                <a:uFillTx/>
                <a:latin typeface="Calibri"/>
                <a:ea typeface="+mn-ea"/>
                <a:cs typeface="+mn-cs"/>
              </a:rPr>
              <a:t>https://magazine.sebastianraschka.com/p/visual-attention-variants</a:t>
            </a:r>
          </a:p>
        </p:txBody>
      </p:sp>
    </p:spTree>
    <p:extLst>
      <p:ext uri="{BB962C8B-B14F-4D97-AF65-F5344CB8AC3E}">
        <p14:creationId xmlns:p14="http://schemas.microsoft.com/office/powerpoint/2010/main" val="34669573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1CB1E44-9BF7-4842-5985-731688D00413}"/>
              </a:ext>
            </a:extLst>
          </p:cNvPr>
          <p:cNvPicPr>
            <a:picLocks noGrp="1" noChangeAspect="1"/>
          </p:cNvPicPr>
          <p:nvPr>
            <p:ph idx="10"/>
          </p:nvPr>
        </p:nvPicPr>
        <p:blipFill>
          <a:blip r:embed="rId2"/>
          <a:stretch>
            <a:fillRect/>
          </a:stretch>
        </p:blipFill>
        <p:spPr>
          <a:xfrm>
            <a:off x="124595" y="0"/>
            <a:ext cx="11625972" cy="6505903"/>
          </a:xfrm>
          <a:prstGeom prst="rect">
            <a:avLst/>
          </a:prstGeom>
        </p:spPr>
      </p:pic>
    </p:spTree>
    <p:extLst>
      <p:ext uri="{BB962C8B-B14F-4D97-AF65-F5344CB8AC3E}">
        <p14:creationId xmlns:p14="http://schemas.microsoft.com/office/powerpoint/2010/main" val="11761923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6482EA-5761-ABD8-6550-CC5D3F725AE3}"/>
              </a:ext>
            </a:extLst>
          </p:cNvPr>
          <p:cNvSpPr>
            <a:spLocks noGrp="1"/>
          </p:cNvSpPr>
          <p:nvPr>
            <p:ph type="title"/>
          </p:nvPr>
        </p:nvSpPr>
        <p:spPr>
          <a:xfrm>
            <a:off x="780790" y="2580362"/>
            <a:ext cx="10881209" cy="1219200"/>
          </a:xfrm>
        </p:spPr>
        <p:txBody>
          <a:bodyPr>
            <a:normAutofit fontScale="90000"/>
          </a:bodyPr>
          <a:lstStyle/>
          <a:p>
            <a:r>
              <a:rPr lang="en-US" dirty="0"/>
              <a:t>Model Compression</a:t>
            </a:r>
            <a:br>
              <a:rPr lang="en-US" dirty="0"/>
            </a:br>
            <a:r>
              <a:rPr lang="en-IN" sz="2000" b="1" dirty="0">
                <a:solidFill>
                  <a:srgbClr val="C00000"/>
                </a:solidFill>
              </a:rPr>
              <a:t>Classical compression (quantization, pruning, distillation) is </a:t>
            </a:r>
            <a:r>
              <a:rPr lang="en-IN" sz="2000" b="1" i="1" dirty="0">
                <a:solidFill>
                  <a:srgbClr val="C00000"/>
                </a:solidFill>
              </a:rPr>
              <a:t>model-agnostic</a:t>
            </a:r>
            <a:r>
              <a:rPr lang="en-IN" sz="2000" b="1" dirty="0">
                <a:solidFill>
                  <a:srgbClr val="C00000"/>
                </a:solidFill>
              </a:rPr>
              <a:t> — it came from the CNN era and applies to any neural network. </a:t>
            </a:r>
          </a:p>
        </p:txBody>
      </p:sp>
    </p:spTree>
    <p:extLst>
      <p:ext uri="{BB962C8B-B14F-4D97-AF65-F5344CB8AC3E}">
        <p14:creationId xmlns:p14="http://schemas.microsoft.com/office/powerpoint/2010/main" val="18219267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3F050D-F7C9-3496-7A13-A909B0258F13}"/>
              </a:ext>
            </a:extLst>
          </p:cNvPr>
          <p:cNvSpPr>
            <a:spLocks noGrp="1"/>
          </p:cNvSpPr>
          <p:nvPr>
            <p:ph type="title"/>
          </p:nvPr>
        </p:nvSpPr>
        <p:spPr/>
        <p:txBody>
          <a:bodyPr/>
          <a:lstStyle/>
          <a:p>
            <a:r>
              <a:rPr lang="en-US" dirty="0"/>
              <a:t>Symmetric Quantization</a:t>
            </a:r>
            <a:endParaRPr lang="en-IN" dirty="0"/>
          </a:p>
        </p:txBody>
      </p:sp>
      <p:sp>
        <p:nvSpPr>
          <p:cNvPr id="5" name="TextBox 4">
            <a:extLst>
              <a:ext uri="{FF2B5EF4-FFF2-40B4-BE49-F238E27FC236}">
                <a16:creationId xmlns:a16="http://schemas.microsoft.com/office/drawing/2014/main" id="{5C034624-F9D4-89B2-DA65-C542AD5972EB}"/>
              </a:ext>
            </a:extLst>
          </p:cNvPr>
          <p:cNvSpPr txBox="1"/>
          <p:nvPr/>
        </p:nvSpPr>
        <p:spPr>
          <a:xfrm>
            <a:off x="5141343" y="1395067"/>
            <a:ext cx="6590582" cy="2308324"/>
          </a:xfrm>
          <a:prstGeom prst="rect">
            <a:avLst/>
          </a:prstGeom>
          <a:noFill/>
        </p:spPr>
        <p:txBody>
          <a:bodyPr wrap="square">
            <a:spAutoFit/>
          </a:bodyPr>
          <a:lstStyle/>
          <a:p>
            <a:r>
              <a:rPr lang="en-IN" b="0" i="0" dirty="0">
                <a:solidFill>
                  <a:srgbClr val="363737"/>
                </a:solidFill>
                <a:effectLst/>
                <a:latin typeface="Spectral"/>
              </a:rPr>
              <a:t>symmetric quantization</a:t>
            </a:r>
            <a:r>
              <a:rPr lang="en-IN" dirty="0">
                <a:solidFill>
                  <a:srgbClr val="363737"/>
                </a:solidFill>
                <a:latin typeface="Spectral"/>
              </a:rPr>
              <a:t>: </a:t>
            </a:r>
            <a:r>
              <a:rPr lang="en-IN" b="0" i="0" dirty="0">
                <a:solidFill>
                  <a:srgbClr val="363737"/>
                </a:solidFill>
                <a:effectLst/>
                <a:latin typeface="Spectral"/>
              </a:rPr>
              <a:t>range of the original floating-point values is mapped to a symmetric range around zero in the quantized space</a:t>
            </a:r>
          </a:p>
          <a:p>
            <a:r>
              <a:rPr lang="en-IN" dirty="0">
                <a:solidFill>
                  <a:srgbClr val="363737"/>
                </a:solidFill>
                <a:latin typeface="Spectral"/>
              </a:rPr>
              <a:t>0 in FP32 is 0 in INT 8</a:t>
            </a:r>
          </a:p>
          <a:p>
            <a:r>
              <a:rPr lang="en-IN" dirty="0">
                <a:solidFill>
                  <a:srgbClr val="363737"/>
                </a:solidFill>
                <a:latin typeface="Spectral"/>
              </a:rPr>
              <a:t>E.g. </a:t>
            </a:r>
            <a:r>
              <a:rPr lang="en-IN" dirty="0"/>
              <a:t>absolute maximum (</a:t>
            </a:r>
            <a:r>
              <a:rPr lang="en-IN" i="1" dirty="0" err="1"/>
              <a:t>absmax</a:t>
            </a:r>
            <a:r>
              <a:rPr lang="en-IN" dirty="0"/>
              <a:t>) quantization</a:t>
            </a:r>
          </a:p>
          <a:p>
            <a:r>
              <a:rPr lang="en-IN" dirty="0"/>
              <a:t> </a:t>
            </a:r>
            <a:r>
              <a:rPr lang="en-IN" b="1" i="1" dirty="0"/>
              <a:t>b</a:t>
            </a:r>
            <a:r>
              <a:rPr lang="en-IN" dirty="0"/>
              <a:t> = no of bytes that we want to quantize to (8)</a:t>
            </a:r>
          </a:p>
          <a:p>
            <a:r>
              <a:rPr lang="en-IN" b="1" dirty="0"/>
              <a:t>α</a:t>
            </a:r>
            <a:r>
              <a:rPr lang="en-IN" b="1" i="1" dirty="0"/>
              <a:t> </a:t>
            </a:r>
            <a:r>
              <a:rPr lang="en-IN" dirty="0"/>
              <a:t>= </a:t>
            </a:r>
            <a:r>
              <a:rPr lang="en-IN" i="1" dirty="0"/>
              <a:t>highest </a:t>
            </a:r>
            <a:r>
              <a:rPr lang="en-IN" dirty="0"/>
              <a:t>absolute value, range to perform the linear mapping</a:t>
            </a:r>
          </a:p>
          <a:p>
            <a:r>
              <a:rPr lang="en-IN" dirty="0"/>
              <a:t>S= Scale factor</a:t>
            </a:r>
          </a:p>
          <a:p>
            <a:endParaRPr lang="en-IN" dirty="0"/>
          </a:p>
        </p:txBody>
      </p:sp>
      <p:pic>
        <p:nvPicPr>
          <p:cNvPr id="10" name="Picture 9">
            <a:extLst>
              <a:ext uri="{FF2B5EF4-FFF2-40B4-BE49-F238E27FC236}">
                <a16:creationId xmlns:a16="http://schemas.microsoft.com/office/drawing/2014/main" id="{442C50C1-A4F8-6553-A979-E89F3677FC5E}"/>
              </a:ext>
            </a:extLst>
          </p:cNvPr>
          <p:cNvPicPr>
            <a:picLocks noChangeAspect="1"/>
          </p:cNvPicPr>
          <p:nvPr/>
        </p:nvPicPr>
        <p:blipFill>
          <a:blip r:embed="rId2"/>
          <a:stretch>
            <a:fillRect/>
          </a:stretch>
        </p:blipFill>
        <p:spPr>
          <a:xfrm>
            <a:off x="7187369" y="3102203"/>
            <a:ext cx="1340487" cy="785012"/>
          </a:xfrm>
          <a:prstGeom prst="rect">
            <a:avLst/>
          </a:prstGeom>
          <a:ln>
            <a:solidFill>
              <a:schemeClr val="tx1"/>
            </a:solidFill>
          </a:ln>
        </p:spPr>
      </p:pic>
      <p:pic>
        <p:nvPicPr>
          <p:cNvPr id="12" name="Picture 11">
            <a:extLst>
              <a:ext uri="{FF2B5EF4-FFF2-40B4-BE49-F238E27FC236}">
                <a16:creationId xmlns:a16="http://schemas.microsoft.com/office/drawing/2014/main" id="{04641A38-BD30-6065-16E3-BC9C7F262AA2}"/>
              </a:ext>
            </a:extLst>
          </p:cNvPr>
          <p:cNvPicPr>
            <a:picLocks noChangeAspect="1"/>
          </p:cNvPicPr>
          <p:nvPr/>
        </p:nvPicPr>
        <p:blipFill>
          <a:blip r:embed="rId3"/>
          <a:stretch>
            <a:fillRect/>
          </a:stretch>
        </p:blipFill>
        <p:spPr>
          <a:xfrm>
            <a:off x="9073771" y="3405905"/>
            <a:ext cx="2112239" cy="398613"/>
          </a:xfrm>
          <a:prstGeom prst="rect">
            <a:avLst/>
          </a:prstGeom>
          <a:ln>
            <a:solidFill>
              <a:schemeClr val="tx1"/>
            </a:solidFill>
          </a:ln>
        </p:spPr>
      </p:pic>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047F00B4-F16C-A6AF-A5B8-DB1E3388BC4D}"/>
                  </a:ext>
                </a:extLst>
              </p:cNvPr>
              <p:cNvSpPr/>
              <p:nvPr/>
            </p:nvSpPr>
            <p:spPr>
              <a:xfrm>
                <a:off x="7051027" y="4570445"/>
                <a:ext cx="4754880" cy="1633268"/>
              </a:xfrm>
              <a:prstGeom prst="rect">
                <a:avLst/>
              </a:prstGeom>
              <a:solidFill>
                <a:schemeClr val="accent3">
                  <a:lumMod val="20000"/>
                  <a:lumOff val="80000"/>
                </a:schemeClr>
              </a:solidFill>
            </p:spPr>
            <p:txBody>
              <a:bodyPr wrap="square">
                <a:spAutoFit/>
              </a:bodyPr>
              <a:lstStyle/>
              <a:p>
                <a:pPr/>
                <a14:m>
                  <m:oMathPara xmlns:m="http://schemas.openxmlformats.org/officeDocument/2006/math">
                    <m:oMathParaPr>
                      <m:jc m:val="left"/>
                    </m:oMathParaPr>
                    <m:oMath xmlns:m="http://schemas.openxmlformats.org/officeDocument/2006/math">
                      <m:r>
                        <a:rPr lang="en-US" sz="2000" i="1" smtClean="0">
                          <a:solidFill>
                            <a:srgbClr val="363737"/>
                          </a:solidFill>
                          <a:latin typeface="Cambria Math" panose="02040503050406030204" pitchFamily="18" charset="0"/>
                          <a:ea typeface="Cambria" panose="02040503050406030204" pitchFamily="18" charset="0"/>
                        </a:rPr>
                        <m:t>𝑠</m:t>
                      </m:r>
                      <m:r>
                        <a:rPr lang="en-US" sz="2000" i="1" smtClean="0">
                          <a:solidFill>
                            <a:srgbClr val="363737"/>
                          </a:solidFill>
                          <a:latin typeface="Cambria Math" panose="02040503050406030204" pitchFamily="18" charset="0"/>
                          <a:ea typeface="Cambria" panose="02040503050406030204" pitchFamily="18" charset="0"/>
                        </a:rPr>
                        <m:t>=</m:t>
                      </m:r>
                      <m:f>
                        <m:fPr>
                          <m:ctrlPr>
                            <a:rPr lang="en-US" sz="2000" i="1">
                              <a:solidFill>
                                <a:srgbClr val="363737"/>
                              </a:solidFill>
                              <a:latin typeface="Cambria Math" panose="02040503050406030204" pitchFamily="18" charset="0"/>
                              <a:ea typeface="Cambria" panose="02040503050406030204" pitchFamily="18" charset="0"/>
                            </a:rPr>
                          </m:ctrlPr>
                        </m:fPr>
                        <m:num>
                          <m:sSup>
                            <m:sSupPr>
                              <m:ctrlPr>
                                <a:rPr lang="en-US" sz="2000" i="1">
                                  <a:solidFill>
                                    <a:srgbClr val="363737"/>
                                  </a:solidFill>
                                  <a:latin typeface="Cambria Math" panose="02040503050406030204" pitchFamily="18" charset="0"/>
                                  <a:ea typeface="Cambria" panose="02040503050406030204" pitchFamily="18" charset="0"/>
                                </a:rPr>
                              </m:ctrlPr>
                            </m:sSupPr>
                            <m:e>
                              <m:r>
                                <a:rPr lang="en-US" sz="2000" i="1">
                                  <a:solidFill>
                                    <a:srgbClr val="363737"/>
                                  </a:solidFill>
                                  <a:latin typeface="Cambria Math" panose="02040503050406030204" pitchFamily="18" charset="0"/>
                                  <a:ea typeface="Cambria" panose="02040503050406030204" pitchFamily="18" charset="0"/>
                                </a:rPr>
                                <m:t>2</m:t>
                              </m:r>
                            </m:e>
                            <m:sup>
                              <m:r>
                                <a:rPr lang="en-US" sz="2000" i="1">
                                  <a:solidFill>
                                    <a:srgbClr val="363737"/>
                                  </a:solidFill>
                                  <a:latin typeface="Cambria Math" panose="02040503050406030204" pitchFamily="18" charset="0"/>
                                  <a:ea typeface="Cambria" panose="02040503050406030204" pitchFamily="18" charset="0"/>
                                </a:rPr>
                                <m:t>8−1</m:t>
                              </m:r>
                            </m:sup>
                          </m:sSup>
                          <m:r>
                            <a:rPr lang="en-US" sz="2000" i="1">
                              <a:solidFill>
                                <a:srgbClr val="363737"/>
                              </a:solidFill>
                              <a:latin typeface="Cambria Math" panose="02040503050406030204" pitchFamily="18" charset="0"/>
                              <a:ea typeface="Cambria" panose="02040503050406030204" pitchFamily="18" charset="0"/>
                            </a:rPr>
                            <m:t>−1</m:t>
                          </m:r>
                        </m:num>
                        <m:den>
                          <m:r>
                            <a:rPr lang="en-US" sz="2000" i="1">
                              <a:solidFill>
                                <a:srgbClr val="363737"/>
                              </a:solidFill>
                              <a:latin typeface="Cambria Math" panose="02040503050406030204" pitchFamily="18" charset="0"/>
                              <a:ea typeface="Cambria" panose="02040503050406030204" pitchFamily="18" charset="0"/>
                            </a:rPr>
                            <m:t>10.8</m:t>
                          </m:r>
                        </m:den>
                      </m:f>
                      <m:r>
                        <a:rPr lang="en-US" sz="2000">
                          <a:solidFill>
                            <a:srgbClr val="363737"/>
                          </a:solidFill>
                          <a:latin typeface="Cambria Math" panose="02040503050406030204" pitchFamily="18" charset="0"/>
                          <a:ea typeface="Cambria" panose="02040503050406030204" pitchFamily="18" charset="0"/>
                        </a:rPr>
                        <m:t>=</m:t>
                      </m:r>
                      <m:f>
                        <m:fPr>
                          <m:ctrlPr>
                            <a:rPr lang="en-US" sz="2000" i="1">
                              <a:solidFill>
                                <a:srgbClr val="363737"/>
                              </a:solidFill>
                              <a:latin typeface="Cambria Math" panose="02040503050406030204" pitchFamily="18" charset="0"/>
                              <a:ea typeface="Cambria" panose="02040503050406030204" pitchFamily="18" charset="0"/>
                            </a:rPr>
                          </m:ctrlPr>
                        </m:fPr>
                        <m:num>
                          <m:r>
                            <a:rPr lang="en-US" sz="2000" i="1">
                              <a:solidFill>
                                <a:srgbClr val="363737"/>
                              </a:solidFill>
                              <a:latin typeface="Cambria Math" panose="02040503050406030204" pitchFamily="18" charset="0"/>
                              <a:ea typeface="Cambria" panose="02040503050406030204" pitchFamily="18" charset="0"/>
                            </a:rPr>
                            <m:t>127</m:t>
                          </m:r>
                        </m:num>
                        <m:den>
                          <m:r>
                            <a:rPr lang="en-US" sz="2000" i="1">
                              <a:solidFill>
                                <a:srgbClr val="363737"/>
                              </a:solidFill>
                              <a:latin typeface="Cambria Math" panose="02040503050406030204" pitchFamily="18" charset="0"/>
                              <a:ea typeface="Cambria" panose="02040503050406030204" pitchFamily="18" charset="0"/>
                            </a:rPr>
                            <m:t>10.8</m:t>
                          </m:r>
                        </m:den>
                      </m:f>
                      <m:r>
                        <a:rPr lang="en-US" sz="2000" i="1">
                          <a:solidFill>
                            <a:srgbClr val="363737"/>
                          </a:solidFill>
                          <a:latin typeface="Cambria Math" panose="02040503050406030204" pitchFamily="18" charset="0"/>
                          <a:ea typeface="Cambria" panose="02040503050406030204" pitchFamily="18" charset="0"/>
                        </a:rPr>
                        <m:t>=</m:t>
                      </m:r>
                      <m:r>
                        <a:rPr lang="en-US" sz="2000" b="0" i="1" smtClean="0">
                          <a:solidFill>
                            <a:srgbClr val="363737"/>
                          </a:solidFill>
                          <a:latin typeface="Cambria Math" panose="02040503050406030204" pitchFamily="18" charset="0"/>
                          <a:ea typeface="Cambria" panose="02040503050406030204" pitchFamily="18" charset="0"/>
                        </a:rPr>
                        <m:t>11.76</m:t>
                      </m:r>
                    </m:oMath>
                  </m:oMathPara>
                </a14:m>
                <a:endParaRPr lang="en-US" sz="2000" dirty="0">
                  <a:solidFill>
                    <a:srgbClr val="363737"/>
                  </a:solidFill>
                  <a:latin typeface="Cambria" panose="02040503050406030204" pitchFamily="18" charset="0"/>
                  <a:ea typeface="Cambria" panose="02040503050406030204" pitchFamily="18" charset="0"/>
                </a:endParaRPr>
              </a:p>
              <a:p>
                <a:pPr algn="l"/>
                <a:endParaRPr lang="en-US" sz="2000" dirty="0">
                  <a:solidFill>
                    <a:srgbClr val="363737"/>
                  </a:solidFill>
                  <a:latin typeface="Cambria" panose="02040503050406030204" pitchFamily="18" charset="0"/>
                  <a:ea typeface="Cambria" panose="02040503050406030204" pitchFamily="18" charset="0"/>
                </a:endParaRPr>
              </a:p>
              <a:p>
                <a14:m>
                  <m:oMath xmlns:m="http://schemas.openxmlformats.org/officeDocument/2006/math">
                    <m:r>
                      <a:rPr lang="en-US" sz="2000" i="1">
                        <a:solidFill>
                          <a:srgbClr val="363737"/>
                        </a:solidFill>
                        <a:latin typeface="Cambria Math" panose="02040503050406030204" pitchFamily="18" charset="0"/>
                        <a:ea typeface="Cambria" panose="02040503050406030204" pitchFamily="18" charset="0"/>
                      </a:rPr>
                      <m:t>𝑄</m:t>
                    </m:r>
                    <m:d>
                      <m:dPr>
                        <m:ctrlPr>
                          <a:rPr lang="en-US" sz="2000" i="1">
                            <a:solidFill>
                              <a:srgbClr val="363737"/>
                            </a:solidFill>
                            <a:latin typeface="Cambria Math" panose="02040503050406030204" pitchFamily="18" charset="0"/>
                            <a:ea typeface="Cambria" panose="02040503050406030204" pitchFamily="18" charset="0"/>
                          </a:rPr>
                        </m:ctrlPr>
                      </m:dPr>
                      <m:e>
                        <m:r>
                          <a:rPr lang="en-US" sz="2000" i="1">
                            <a:solidFill>
                              <a:srgbClr val="363737"/>
                            </a:solidFill>
                            <a:latin typeface="Cambria Math" panose="02040503050406030204" pitchFamily="18" charset="0"/>
                            <a:ea typeface="Cambria" panose="02040503050406030204" pitchFamily="18" charset="0"/>
                          </a:rPr>
                          <m:t>−1.95</m:t>
                        </m:r>
                      </m:e>
                    </m:d>
                    <m:r>
                      <a:rPr lang="en-US" sz="2000" i="1">
                        <a:solidFill>
                          <a:srgbClr val="363737"/>
                        </a:solidFill>
                        <a:latin typeface="Cambria Math" panose="02040503050406030204" pitchFamily="18" charset="0"/>
                        <a:ea typeface="Cambria" panose="02040503050406030204" pitchFamily="18" charset="0"/>
                      </a:rPr>
                      <m:t>=</m:t>
                    </m:r>
                    <m:r>
                      <a:rPr lang="en-US" sz="2000" i="1">
                        <a:solidFill>
                          <a:srgbClr val="363737"/>
                        </a:solidFill>
                        <a:latin typeface="Cambria Math" panose="02040503050406030204" pitchFamily="18" charset="0"/>
                        <a:ea typeface="Cambria" panose="02040503050406030204" pitchFamily="18" charset="0"/>
                      </a:rPr>
                      <m:t>𝑟𝑜𝑢𝑛𝑑</m:t>
                    </m:r>
                    <m:d>
                      <m:dPr>
                        <m:ctrlPr>
                          <a:rPr lang="en-US" sz="2000" i="1">
                            <a:solidFill>
                              <a:srgbClr val="363737"/>
                            </a:solidFill>
                            <a:latin typeface="Cambria Math" panose="02040503050406030204" pitchFamily="18" charset="0"/>
                            <a:ea typeface="Cambria" panose="02040503050406030204" pitchFamily="18" charset="0"/>
                          </a:rPr>
                        </m:ctrlPr>
                      </m:dPr>
                      <m:e>
                        <m:r>
                          <a:rPr lang="en-US" sz="2000" i="1" smtClean="0">
                            <a:solidFill>
                              <a:srgbClr val="363737"/>
                            </a:solidFill>
                            <a:latin typeface="Cambria Math" panose="02040503050406030204" pitchFamily="18" charset="0"/>
                            <a:ea typeface="Cambria" panose="02040503050406030204" pitchFamily="18" charset="0"/>
                          </a:rPr>
                          <m:t>1</m:t>
                        </m:r>
                        <m:r>
                          <a:rPr lang="en-US" sz="2000" b="0" i="1" smtClean="0">
                            <a:solidFill>
                              <a:srgbClr val="363737"/>
                            </a:solidFill>
                            <a:latin typeface="Cambria Math" panose="02040503050406030204" pitchFamily="18" charset="0"/>
                            <a:ea typeface="Cambria" panose="02040503050406030204" pitchFamily="18" charset="0"/>
                          </a:rPr>
                          <m:t>1.76</m:t>
                        </m:r>
                        <m:r>
                          <a:rPr lang="en-US" sz="2000" b="0" i="1" smtClean="0">
                            <a:solidFill>
                              <a:srgbClr val="363737"/>
                            </a:solidFill>
                            <a:latin typeface="Cambria Math" panose="02040503050406030204" pitchFamily="18" charset="0"/>
                            <a:ea typeface="Cambria Math" panose="02040503050406030204" pitchFamily="18" charset="0"/>
                          </a:rPr>
                          <m:t>×−1.93</m:t>
                        </m:r>
                      </m:e>
                    </m:d>
                  </m:oMath>
                </a14:m>
                <a:r>
                  <a:rPr lang="en-US" sz="2000" dirty="0">
                    <a:solidFill>
                      <a:srgbClr val="363737"/>
                    </a:solidFill>
                    <a:latin typeface="Cambria" panose="02040503050406030204" pitchFamily="18" charset="0"/>
                    <a:ea typeface="Cambria" panose="02040503050406030204" pitchFamily="18" charset="0"/>
                  </a:rPr>
                  <a:t> </a:t>
                </a:r>
              </a:p>
              <a:p>
                <a:pPr algn="l"/>
                <a:r>
                  <a:rPr lang="en-US" sz="2000" dirty="0">
                    <a:solidFill>
                      <a:srgbClr val="363737"/>
                    </a:solidFill>
                    <a:latin typeface="Cambria" panose="02040503050406030204" pitchFamily="18" charset="0"/>
                    <a:ea typeface="Cambria" panose="02040503050406030204" pitchFamily="18" charset="0"/>
                  </a:rPr>
                  <a:t>                     = round (22.932) = -23</a:t>
                </a:r>
              </a:p>
            </p:txBody>
          </p:sp>
        </mc:Choice>
        <mc:Fallback xmlns="">
          <p:sp>
            <p:nvSpPr>
              <p:cNvPr id="13" name="Rectangle 12">
                <a:extLst>
                  <a:ext uri="{FF2B5EF4-FFF2-40B4-BE49-F238E27FC236}">
                    <a16:creationId xmlns:a16="http://schemas.microsoft.com/office/drawing/2014/main" id="{047F00B4-F16C-A6AF-A5B8-DB1E3388BC4D}"/>
                  </a:ext>
                </a:extLst>
              </p:cNvPr>
              <p:cNvSpPr>
                <a:spLocks noRot="1" noChangeAspect="1" noMove="1" noResize="1" noEditPoints="1" noAdjustHandles="1" noChangeArrowheads="1" noChangeShapeType="1" noTextEdit="1"/>
              </p:cNvSpPr>
              <p:nvPr/>
            </p:nvSpPr>
            <p:spPr>
              <a:xfrm>
                <a:off x="7051027" y="4570445"/>
                <a:ext cx="4754880" cy="1633268"/>
              </a:xfrm>
              <a:prstGeom prst="rect">
                <a:avLst/>
              </a:prstGeom>
              <a:blipFill>
                <a:blip r:embed="rId4"/>
                <a:stretch>
                  <a:fillRect l="-385" b="-5597"/>
                </a:stretch>
              </a:blipFill>
            </p:spPr>
            <p:txBody>
              <a:bodyPr/>
              <a:lstStyle/>
              <a:p>
                <a:r>
                  <a:rPr lang="en-IN">
                    <a:noFill/>
                  </a:rPr>
                  <a:t> </a:t>
                </a:r>
              </a:p>
            </p:txBody>
          </p:sp>
        </mc:Fallback>
      </mc:AlternateContent>
      <p:pic>
        <p:nvPicPr>
          <p:cNvPr id="14" name="Picture 2" descr="https://substackcdn.com/image/fetch/w_1456,c_limit,f_auto,q_auto:good,fl_progressive:steep/https%3A%2F%2Fsubstack-post-media.s3.amazonaws.com%2Fpublic%2Fimages%2F782beaa8-340f-45b8-ba7f-20491f66867a_1172x848.png">
            <a:extLst>
              <a:ext uri="{FF2B5EF4-FFF2-40B4-BE49-F238E27FC236}">
                <a16:creationId xmlns:a16="http://schemas.microsoft.com/office/drawing/2014/main" id="{D48746B1-575F-A358-71B8-9CC91AECE72D}"/>
              </a:ext>
            </a:extLst>
          </p:cNvPr>
          <p:cNvPicPr>
            <a:picLocks noGrp="1" noChangeAspect="1" noChangeArrowheads="1"/>
          </p:cNvPicPr>
          <p:nvPr>
            <p:ph idx="10"/>
          </p:nvPr>
        </p:nvPicPr>
        <p:blipFill>
          <a:blip r:embed="rId5">
            <a:extLst>
              <a:ext uri="{28A0092B-C50C-407E-A947-70E740481C1C}">
                <a14:useLocalDpi xmlns:a14="http://schemas.microsoft.com/office/drawing/2010/main" val="0"/>
              </a:ext>
            </a:extLst>
          </a:blip>
          <a:srcRect/>
          <a:stretch>
            <a:fillRect/>
          </a:stretch>
        </p:blipFill>
        <p:spPr bwMode="auto">
          <a:xfrm>
            <a:off x="500534" y="1246961"/>
            <a:ext cx="4338778" cy="313932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CC75AC8-DAF8-22F4-9DF4-F473D7C5D119}"/>
                  </a:ext>
                </a:extLst>
              </p:cNvPr>
              <p:cNvSpPr txBox="1"/>
              <p:nvPr/>
            </p:nvSpPr>
            <p:spPr>
              <a:xfrm>
                <a:off x="635245" y="5304673"/>
                <a:ext cx="4428461" cy="612732"/>
              </a:xfrm>
              <a:prstGeom prst="rect">
                <a:avLst/>
              </a:prstGeom>
              <a:solidFill>
                <a:schemeClr val="accent2">
                  <a:lumMod val="20000"/>
                  <a:lumOff val="80000"/>
                </a:schemeClr>
              </a:solidFill>
            </p:spPr>
            <p:txBody>
              <a:bodyPr wrap="square">
                <a:spAutoFit/>
              </a:bodyPr>
              <a:lstStyle/>
              <a:p>
                <a:pPr/>
                <a14:m>
                  <m:oMathPara xmlns:m="http://schemas.openxmlformats.org/officeDocument/2006/math">
                    <m:oMathParaPr>
                      <m:jc m:val="left"/>
                    </m:oMathParaPr>
                    <m:oMath xmlns:m="http://schemas.openxmlformats.org/officeDocument/2006/math">
                      <m:r>
                        <a:rPr lang="en-US" sz="1800" b="0" i="1" smtClean="0">
                          <a:solidFill>
                            <a:srgbClr val="363737"/>
                          </a:solidFill>
                          <a:latin typeface="Cambria Math" panose="02040503050406030204" pitchFamily="18" charset="0"/>
                          <a:ea typeface="Cambria" panose="02040503050406030204" pitchFamily="18" charset="0"/>
                        </a:rPr>
                        <m:t>𝑋</m:t>
                      </m:r>
                      <m:r>
                        <a:rPr lang="en-US" sz="1800" b="0" i="1" baseline="-25000" smtClean="0">
                          <a:solidFill>
                            <a:srgbClr val="363737"/>
                          </a:solidFill>
                          <a:latin typeface="Cambria Math" panose="02040503050406030204" pitchFamily="18" charset="0"/>
                          <a:ea typeface="Cambria" panose="02040503050406030204" pitchFamily="18" charset="0"/>
                        </a:rPr>
                        <m:t>𝑑𝑒𝑞𝑢𝑎𝑛𝑡𝑖𝑧𝑒𝑑</m:t>
                      </m:r>
                      <m:r>
                        <a:rPr lang="en-US" sz="1800" i="1" smtClean="0">
                          <a:solidFill>
                            <a:srgbClr val="363737"/>
                          </a:solidFill>
                          <a:latin typeface="Cambria Math" panose="02040503050406030204" pitchFamily="18" charset="0"/>
                          <a:ea typeface="Cambria" panose="02040503050406030204" pitchFamily="18" charset="0"/>
                        </a:rPr>
                        <m:t>=</m:t>
                      </m:r>
                      <m:f>
                        <m:fPr>
                          <m:ctrlPr>
                            <a:rPr lang="en-US" sz="1800" i="1">
                              <a:solidFill>
                                <a:srgbClr val="363737"/>
                              </a:solidFill>
                              <a:latin typeface="Cambria Math" panose="02040503050406030204" pitchFamily="18" charset="0"/>
                              <a:ea typeface="Cambria" panose="02040503050406030204" pitchFamily="18" charset="0"/>
                            </a:rPr>
                          </m:ctrlPr>
                        </m:fPr>
                        <m:num>
                          <m:r>
                            <a:rPr lang="en-US" i="1">
                              <a:solidFill>
                                <a:srgbClr val="363737"/>
                              </a:solidFill>
                              <a:latin typeface="Cambria Math" panose="02040503050406030204" pitchFamily="18" charset="0"/>
                              <a:ea typeface="Cambria" panose="02040503050406030204" pitchFamily="18" charset="0"/>
                            </a:rPr>
                            <m:t>𝑋</m:t>
                          </m:r>
                          <m:r>
                            <a:rPr lang="en-US" i="1" baseline="-25000">
                              <a:solidFill>
                                <a:srgbClr val="363737"/>
                              </a:solidFill>
                              <a:latin typeface="Cambria Math" panose="02040503050406030204" pitchFamily="18" charset="0"/>
                              <a:ea typeface="Cambria" panose="02040503050406030204" pitchFamily="18" charset="0"/>
                            </a:rPr>
                            <m:t>𝑞𝑢𝑎𝑛𝑡𝑖𝑧𝑒𝑑</m:t>
                          </m:r>
                        </m:num>
                        <m:den>
                          <m:r>
                            <a:rPr lang="en-US" sz="1800" b="0" i="1" smtClean="0">
                              <a:solidFill>
                                <a:srgbClr val="363737"/>
                              </a:solidFill>
                              <a:latin typeface="Cambria Math" panose="02040503050406030204" pitchFamily="18" charset="0"/>
                              <a:ea typeface="Cambria" panose="02040503050406030204" pitchFamily="18" charset="0"/>
                            </a:rPr>
                            <m:t>𝑠</m:t>
                          </m:r>
                        </m:den>
                      </m:f>
                      <m:r>
                        <a:rPr lang="en-US" sz="1800">
                          <a:solidFill>
                            <a:srgbClr val="363737"/>
                          </a:solidFill>
                          <a:latin typeface="Cambria Math" panose="02040503050406030204" pitchFamily="18" charset="0"/>
                          <a:ea typeface="Cambria" panose="02040503050406030204" pitchFamily="18" charset="0"/>
                        </a:rPr>
                        <m:t>=</m:t>
                      </m:r>
                      <m:f>
                        <m:fPr>
                          <m:ctrlPr>
                            <a:rPr lang="en-US" sz="1800" i="1">
                              <a:solidFill>
                                <a:srgbClr val="363737"/>
                              </a:solidFill>
                              <a:latin typeface="Cambria Math" panose="02040503050406030204" pitchFamily="18" charset="0"/>
                              <a:ea typeface="Cambria" panose="02040503050406030204" pitchFamily="18" charset="0"/>
                            </a:rPr>
                          </m:ctrlPr>
                        </m:fPr>
                        <m:num>
                          <m:r>
                            <a:rPr lang="en-US" sz="1800" b="0" i="1" smtClean="0">
                              <a:solidFill>
                                <a:srgbClr val="363737"/>
                              </a:solidFill>
                              <a:latin typeface="Cambria Math" panose="02040503050406030204" pitchFamily="18" charset="0"/>
                              <a:ea typeface="Cambria" panose="02040503050406030204" pitchFamily="18" charset="0"/>
                            </a:rPr>
                            <m:t>−23</m:t>
                          </m:r>
                        </m:num>
                        <m:den>
                          <m:r>
                            <a:rPr lang="en-US" i="1">
                              <a:solidFill>
                                <a:srgbClr val="363737"/>
                              </a:solidFill>
                              <a:latin typeface="Cambria Math" panose="02040503050406030204" pitchFamily="18" charset="0"/>
                              <a:ea typeface="Cambria" panose="02040503050406030204" pitchFamily="18" charset="0"/>
                            </a:rPr>
                            <m:t>11.76</m:t>
                          </m:r>
                        </m:den>
                      </m:f>
                      <m:r>
                        <a:rPr lang="en-US" sz="1800" i="1">
                          <a:solidFill>
                            <a:srgbClr val="363737"/>
                          </a:solidFill>
                          <a:latin typeface="Cambria Math" panose="02040503050406030204" pitchFamily="18" charset="0"/>
                          <a:ea typeface="Cambria" panose="02040503050406030204" pitchFamily="18" charset="0"/>
                        </a:rPr>
                        <m:t>=</m:t>
                      </m:r>
                      <m:r>
                        <a:rPr lang="en-US" sz="1800" b="0" i="1" smtClean="0">
                          <a:solidFill>
                            <a:srgbClr val="363737"/>
                          </a:solidFill>
                          <a:latin typeface="Cambria Math" panose="02040503050406030204" pitchFamily="18" charset="0"/>
                          <a:ea typeface="Cambria" panose="02040503050406030204" pitchFamily="18" charset="0"/>
                        </a:rPr>
                        <m:t>− </m:t>
                      </m:r>
                      <m:r>
                        <a:rPr lang="en-US" i="1">
                          <a:solidFill>
                            <a:srgbClr val="363737"/>
                          </a:solidFill>
                          <a:latin typeface="Cambria Math" panose="02040503050406030204" pitchFamily="18" charset="0"/>
                          <a:ea typeface="Cambria" panose="02040503050406030204" pitchFamily="18" charset="0"/>
                        </a:rPr>
                        <m:t>1.96</m:t>
                      </m:r>
                    </m:oMath>
                  </m:oMathPara>
                </a14:m>
                <a:endParaRPr lang="en-US" sz="1800" dirty="0">
                  <a:solidFill>
                    <a:srgbClr val="363737"/>
                  </a:solidFill>
                  <a:latin typeface="Cambria" panose="02040503050406030204" pitchFamily="18" charset="0"/>
                  <a:ea typeface="Cambria" panose="02040503050406030204" pitchFamily="18" charset="0"/>
                </a:endParaRPr>
              </a:p>
            </p:txBody>
          </p:sp>
        </mc:Choice>
        <mc:Fallback xmlns="">
          <p:sp>
            <p:nvSpPr>
              <p:cNvPr id="16" name="TextBox 15">
                <a:extLst>
                  <a:ext uri="{FF2B5EF4-FFF2-40B4-BE49-F238E27FC236}">
                    <a16:creationId xmlns:a16="http://schemas.microsoft.com/office/drawing/2014/main" id="{FCC75AC8-DAF8-22F4-9DF4-F473D7C5D119}"/>
                  </a:ext>
                </a:extLst>
              </p:cNvPr>
              <p:cNvSpPr txBox="1">
                <a:spLocks noRot="1" noChangeAspect="1" noMove="1" noResize="1" noEditPoints="1" noAdjustHandles="1" noChangeArrowheads="1" noChangeShapeType="1" noTextEdit="1"/>
              </p:cNvSpPr>
              <p:nvPr/>
            </p:nvSpPr>
            <p:spPr>
              <a:xfrm>
                <a:off x="635245" y="5304673"/>
                <a:ext cx="4428461" cy="612732"/>
              </a:xfrm>
              <a:prstGeom prst="rect">
                <a:avLst/>
              </a:prstGeom>
              <a:blipFill>
                <a:blip r:embed="rId6"/>
                <a:stretch>
                  <a:fillRect/>
                </a:stretch>
              </a:blipFill>
            </p:spPr>
            <p:txBody>
              <a:bodyPr/>
              <a:lstStyle/>
              <a:p>
                <a:r>
                  <a:rPr lang="en-IN">
                    <a:noFill/>
                  </a:rPr>
                  <a:t> </a:t>
                </a:r>
              </a:p>
            </p:txBody>
          </p:sp>
        </mc:Fallback>
      </mc:AlternateContent>
      <p:sp>
        <p:nvSpPr>
          <p:cNvPr id="18" name="TextBox 17">
            <a:extLst>
              <a:ext uri="{FF2B5EF4-FFF2-40B4-BE49-F238E27FC236}">
                <a16:creationId xmlns:a16="http://schemas.microsoft.com/office/drawing/2014/main" id="{5DDA2083-354C-D655-3B7A-0A80E621B8F2}"/>
              </a:ext>
            </a:extLst>
          </p:cNvPr>
          <p:cNvSpPr txBox="1"/>
          <p:nvPr/>
        </p:nvSpPr>
        <p:spPr>
          <a:xfrm>
            <a:off x="1649954" y="4649457"/>
            <a:ext cx="1649747" cy="369332"/>
          </a:xfrm>
          <a:prstGeom prst="rect">
            <a:avLst/>
          </a:prstGeom>
          <a:solidFill>
            <a:schemeClr val="accent2">
              <a:lumMod val="20000"/>
              <a:lumOff val="80000"/>
            </a:schemeClr>
          </a:solidFill>
        </p:spPr>
        <p:txBody>
          <a:bodyPr wrap="none" rtlCol="0">
            <a:spAutoFit/>
          </a:bodyPr>
          <a:lstStyle/>
          <a:p>
            <a:r>
              <a:rPr lang="en-US" dirty="0" err="1"/>
              <a:t>DeQuantization</a:t>
            </a:r>
            <a:endParaRPr lang="en-IN" dirty="0"/>
          </a:p>
        </p:txBody>
      </p:sp>
      <p:sp>
        <p:nvSpPr>
          <p:cNvPr id="21" name="TextBox 20">
            <a:extLst>
              <a:ext uri="{FF2B5EF4-FFF2-40B4-BE49-F238E27FC236}">
                <a16:creationId xmlns:a16="http://schemas.microsoft.com/office/drawing/2014/main" id="{D2F85F38-AC36-1AFE-E792-CAAAEC82D601}"/>
              </a:ext>
            </a:extLst>
          </p:cNvPr>
          <p:cNvSpPr txBox="1"/>
          <p:nvPr/>
        </p:nvSpPr>
        <p:spPr>
          <a:xfrm>
            <a:off x="9010949" y="4071039"/>
            <a:ext cx="1391663" cy="369332"/>
          </a:xfrm>
          <a:prstGeom prst="rect">
            <a:avLst/>
          </a:prstGeom>
          <a:solidFill>
            <a:schemeClr val="bg2">
              <a:lumMod val="90000"/>
            </a:schemeClr>
          </a:solidFill>
        </p:spPr>
        <p:txBody>
          <a:bodyPr wrap="none" rtlCol="0">
            <a:spAutoFit/>
          </a:bodyPr>
          <a:lstStyle/>
          <a:p>
            <a:r>
              <a:rPr lang="en-US" dirty="0"/>
              <a:t>Quantization</a:t>
            </a:r>
            <a:endParaRPr lang="en-IN" dirty="0"/>
          </a:p>
        </p:txBody>
      </p:sp>
      <p:sp>
        <p:nvSpPr>
          <p:cNvPr id="22" name="Arrow: Right 21">
            <a:extLst>
              <a:ext uri="{FF2B5EF4-FFF2-40B4-BE49-F238E27FC236}">
                <a16:creationId xmlns:a16="http://schemas.microsoft.com/office/drawing/2014/main" id="{0494B8BA-0C11-1781-A0A9-4F32CF4AD482}"/>
              </a:ext>
            </a:extLst>
          </p:cNvPr>
          <p:cNvSpPr/>
          <p:nvPr/>
        </p:nvSpPr>
        <p:spPr>
          <a:xfrm rot="10800000">
            <a:off x="5460521" y="5220617"/>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D24F66BE-2027-51FD-7BAB-1F2794BC71BE}"/>
              </a:ext>
            </a:extLst>
          </p:cNvPr>
          <p:cNvSpPr txBox="1"/>
          <p:nvPr/>
        </p:nvSpPr>
        <p:spPr>
          <a:xfrm>
            <a:off x="99391" y="6536015"/>
            <a:ext cx="6097656" cy="261610"/>
          </a:xfrm>
          <a:prstGeom prst="rect">
            <a:avLst/>
          </a:prstGeom>
          <a:noFill/>
        </p:spPr>
        <p:txBody>
          <a:bodyPr wrap="square">
            <a:spAutoFit/>
          </a:bodyPr>
          <a:lstStyle/>
          <a:p>
            <a:r>
              <a:rPr lang="en-IN" sz="1100" dirty="0"/>
              <a:t>https://newsletter.maartengrootendorst.com/p/a-visual-guide-to-quantization</a:t>
            </a:r>
          </a:p>
        </p:txBody>
      </p:sp>
    </p:spTree>
    <p:extLst>
      <p:ext uri="{BB962C8B-B14F-4D97-AF65-F5344CB8AC3E}">
        <p14:creationId xmlns:p14="http://schemas.microsoft.com/office/powerpoint/2010/main" val="1981334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877846-A75C-0ECB-900C-32F455D574B9}"/>
              </a:ext>
            </a:extLst>
          </p:cNvPr>
          <p:cNvSpPr>
            <a:spLocks noGrp="1"/>
          </p:cNvSpPr>
          <p:nvPr>
            <p:ph type="title"/>
          </p:nvPr>
        </p:nvSpPr>
        <p:spPr/>
        <p:txBody>
          <a:bodyPr/>
          <a:lstStyle/>
          <a:p>
            <a:r>
              <a:rPr lang="en-IN" b="1" dirty="0"/>
              <a:t>Asymmetric Quantization</a:t>
            </a:r>
            <a:endParaRPr lang="en-IN" dirty="0"/>
          </a:p>
        </p:txBody>
      </p:sp>
      <p:pic>
        <p:nvPicPr>
          <p:cNvPr id="3074" name="Picture 2">
            <a:extLst>
              <a:ext uri="{FF2B5EF4-FFF2-40B4-BE49-F238E27FC236}">
                <a16:creationId xmlns:a16="http://schemas.microsoft.com/office/drawing/2014/main" id="{947263D4-9661-ECF2-DD5E-FBE7921E068A}"/>
              </a:ext>
            </a:extLst>
          </p:cNvPr>
          <p:cNvPicPr>
            <a:picLocks noGrp="1" noChangeAspect="1" noChangeArrowheads="1"/>
          </p:cNvPicPr>
          <p:nvPr>
            <p:ph idx="10"/>
          </p:nvPr>
        </p:nvPicPr>
        <p:blipFill>
          <a:blip r:embed="rId2">
            <a:extLst>
              <a:ext uri="{28A0092B-C50C-407E-A947-70E740481C1C}">
                <a14:useLocalDpi xmlns:a14="http://schemas.microsoft.com/office/drawing/2010/main" val="0"/>
              </a:ext>
            </a:extLst>
          </a:blip>
          <a:srcRect/>
          <a:stretch>
            <a:fillRect/>
          </a:stretch>
        </p:blipFill>
        <p:spPr bwMode="auto">
          <a:xfrm>
            <a:off x="958296" y="1614229"/>
            <a:ext cx="3961058" cy="286602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EF1B664-7845-117D-96CB-81A977003B9E}"/>
              </a:ext>
            </a:extLst>
          </p:cNvPr>
          <p:cNvSpPr txBox="1"/>
          <p:nvPr/>
        </p:nvSpPr>
        <p:spPr>
          <a:xfrm>
            <a:off x="5348377" y="1271198"/>
            <a:ext cx="6418053" cy="1200329"/>
          </a:xfrm>
          <a:prstGeom prst="rect">
            <a:avLst/>
          </a:prstGeom>
          <a:noFill/>
        </p:spPr>
        <p:txBody>
          <a:bodyPr wrap="square">
            <a:spAutoFit/>
          </a:bodyPr>
          <a:lstStyle/>
          <a:p>
            <a:pPr marL="285750" indent="-285750" algn="l">
              <a:buFont typeface="Arial" panose="020B0604020202020204" pitchFamily="34" charset="0"/>
              <a:buChar char="•"/>
            </a:pPr>
            <a:r>
              <a:rPr lang="en-IN" b="0" i="0" dirty="0">
                <a:solidFill>
                  <a:srgbClr val="363737"/>
                </a:solidFill>
                <a:effectLst/>
                <a:latin typeface="Spectral"/>
              </a:rPr>
              <a:t>Asymmetric quantization</a:t>
            </a:r>
            <a:r>
              <a:rPr lang="en-IN" dirty="0">
                <a:solidFill>
                  <a:srgbClr val="363737"/>
                </a:solidFill>
                <a:latin typeface="Spectral"/>
              </a:rPr>
              <a:t>: not</a:t>
            </a:r>
            <a:r>
              <a:rPr lang="en-IN" b="0" i="0" dirty="0">
                <a:solidFill>
                  <a:srgbClr val="363737"/>
                </a:solidFill>
                <a:effectLst/>
                <a:latin typeface="Spectral"/>
              </a:rPr>
              <a:t> symmetric around zero</a:t>
            </a:r>
            <a:endParaRPr lang="en-IN" dirty="0">
              <a:solidFill>
                <a:srgbClr val="363737"/>
              </a:solidFill>
              <a:latin typeface="Spectral"/>
            </a:endParaRPr>
          </a:p>
          <a:p>
            <a:pPr marL="285750" indent="-285750" algn="l">
              <a:buFont typeface="Arial" panose="020B0604020202020204" pitchFamily="34" charset="0"/>
              <a:buChar char="•"/>
            </a:pPr>
            <a:r>
              <a:rPr lang="en-IN" dirty="0">
                <a:solidFill>
                  <a:srgbClr val="363737"/>
                </a:solidFill>
                <a:latin typeface="Spectral"/>
              </a:rPr>
              <a:t>I</a:t>
            </a:r>
            <a:r>
              <a:rPr lang="en-IN" b="0" i="0" dirty="0">
                <a:solidFill>
                  <a:srgbClr val="363737"/>
                </a:solidFill>
                <a:effectLst/>
                <a:latin typeface="Spectral"/>
              </a:rPr>
              <a:t>t maps the minimum (</a:t>
            </a:r>
            <a:r>
              <a:rPr lang="en-IN" b="1" i="0" dirty="0">
                <a:solidFill>
                  <a:srgbClr val="363737"/>
                </a:solidFill>
                <a:effectLst/>
                <a:latin typeface="Spectral"/>
              </a:rPr>
              <a:t>β</a:t>
            </a:r>
            <a:r>
              <a:rPr lang="en-IN" b="0" i="0" dirty="0">
                <a:solidFill>
                  <a:srgbClr val="363737"/>
                </a:solidFill>
                <a:effectLst/>
                <a:latin typeface="Spectral"/>
              </a:rPr>
              <a:t>) and maximum (</a:t>
            </a:r>
            <a:r>
              <a:rPr lang="en-IN" b="1" i="0" dirty="0">
                <a:solidFill>
                  <a:srgbClr val="363737"/>
                </a:solidFill>
                <a:effectLst/>
                <a:latin typeface="Spectral"/>
              </a:rPr>
              <a:t>α</a:t>
            </a:r>
            <a:r>
              <a:rPr lang="en-IN" b="0" i="0" dirty="0">
                <a:solidFill>
                  <a:srgbClr val="363737"/>
                </a:solidFill>
                <a:effectLst/>
                <a:latin typeface="Spectral"/>
              </a:rPr>
              <a:t>) values from float range to minimum and maximum values of the quantized range</a:t>
            </a:r>
          </a:p>
          <a:p>
            <a:pPr marL="285750" indent="-285750" algn="l">
              <a:buFont typeface="Arial" panose="020B0604020202020204" pitchFamily="34" charset="0"/>
              <a:buChar char="•"/>
            </a:pPr>
            <a:r>
              <a:rPr lang="en-IN" i="1" dirty="0">
                <a:solidFill>
                  <a:srgbClr val="363737"/>
                </a:solidFill>
                <a:latin typeface="Spectral"/>
              </a:rPr>
              <a:t>E.g. </a:t>
            </a:r>
            <a:r>
              <a:rPr lang="en-IN" b="0" i="1" dirty="0">
                <a:solidFill>
                  <a:srgbClr val="363737"/>
                </a:solidFill>
                <a:effectLst/>
                <a:latin typeface="Spectral"/>
              </a:rPr>
              <a:t>zero-point quantization</a:t>
            </a:r>
            <a:endParaRPr lang="en-IN" b="0" i="0" dirty="0">
              <a:solidFill>
                <a:srgbClr val="363737"/>
              </a:solidFill>
              <a:effectLst/>
              <a:latin typeface="Spectral"/>
            </a:endParaRPr>
          </a:p>
        </p:txBody>
      </p:sp>
      <p:pic>
        <p:nvPicPr>
          <p:cNvPr id="7" name="Picture 6">
            <a:extLst>
              <a:ext uri="{FF2B5EF4-FFF2-40B4-BE49-F238E27FC236}">
                <a16:creationId xmlns:a16="http://schemas.microsoft.com/office/drawing/2014/main" id="{24E67E87-DDF5-5AB7-1C9C-01194EA7E9DC}"/>
              </a:ext>
            </a:extLst>
          </p:cNvPr>
          <p:cNvPicPr>
            <a:picLocks noChangeAspect="1"/>
          </p:cNvPicPr>
          <p:nvPr/>
        </p:nvPicPr>
        <p:blipFill>
          <a:blip r:embed="rId3"/>
          <a:stretch>
            <a:fillRect/>
          </a:stretch>
        </p:blipFill>
        <p:spPr>
          <a:xfrm>
            <a:off x="6233058" y="2527651"/>
            <a:ext cx="1743030" cy="609631"/>
          </a:xfrm>
          <a:prstGeom prst="rect">
            <a:avLst/>
          </a:prstGeom>
          <a:ln>
            <a:solidFill>
              <a:schemeClr val="tx1"/>
            </a:solidFill>
          </a:ln>
        </p:spPr>
      </p:pic>
      <p:pic>
        <p:nvPicPr>
          <p:cNvPr id="9" name="Picture 8">
            <a:extLst>
              <a:ext uri="{FF2B5EF4-FFF2-40B4-BE49-F238E27FC236}">
                <a16:creationId xmlns:a16="http://schemas.microsoft.com/office/drawing/2014/main" id="{57C96477-33EE-ABD3-84E9-ACC213B1B775}"/>
              </a:ext>
            </a:extLst>
          </p:cNvPr>
          <p:cNvPicPr>
            <a:picLocks noChangeAspect="1"/>
          </p:cNvPicPr>
          <p:nvPr/>
        </p:nvPicPr>
        <p:blipFill>
          <a:blip r:embed="rId4"/>
          <a:stretch>
            <a:fillRect/>
          </a:stretch>
        </p:blipFill>
        <p:spPr>
          <a:xfrm>
            <a:off x="8432308" y="2697411"/>
            <a:ext cx="2277373" cy="415642"/>
          </a:xfrm>
          <a:prstGeom prst="rect">
            <a:avLst/>
          </a:prstGeom>
          <a:ln>
            <a:solidFill>
              <a:schemeClr val="tx1"/>
            </a:solidFill>
          </a:ln>
        </p:spPr>
      </p:pic>
      <p:pic>
        <p:nvPicPr>
          <p:cNvPr id="11" name="Picture 10">
            <a:extLst>
              <a:ext uri="{FF2B5EF4-FFF2-40B4-BE49-F238E27FC236}">
                <a16:creationId xmlns:a16="http://schemas.microsoft.com/office/drawing/2014/main" id="{3E737200-25C5-D39F-2008-5BF442049169}"/>
              </a:ext>
            </a:extLst>
          </p:cNvPr>
          <p:cNvPicPr>
            <a:picLocks noChangeAspect="1"/>
          </p:cNvPicPr>
          <p:nvPr/>
        </p:nvPicPr>
        <p:blipFill>
          <a:blip r:embed="rId5"/>
          <a:stretch>
            <a:fillRect/>
          </a:stretch>
        </p:blipFill>
        <p:spPr>
          <a:xfrm>
            <a:off x="8432308" y="3338937"/>
            <a:ext cx="2705595" cy="553937"/>
          </a:xfrm>
          <a:prstGeom prst="rect">
            <a:avLst/>
          </a:prstGeom>
        </p:spPr>
      </p:pic>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D09070D6-D837-104C-6C1A-187D29211112}"/>
                  </a:ext>
                </a:extLst>
              </p:cNvPr>
              <p:cNvSpPr/>
              <p:nvPr/>
            </p:nvSpPr>
            <p:spPr>
              <a:xfrm>
                <a:off x="6497836" y="4618536"/>
                <a:ext cx="5533372" cy="1600182"/>
              </a:xfrm>
              <a:prstGeom prst="rect">
                <a:avLst/>
              </a:prstGeom>
              <a:solidFill>
                <a:schemeClr val="bg2">
                  <a:lumMod val="90000"/>
                </a:schemeClr>
              </a:solidFill>
            </p:spPr>
            <p:txBody>
              <a:bodyPr wrap="square">
                <a:spAutoFit/>
              </a:bodyPr>
              <a:lstStyle/>
              <a:p>
                <a:pPr/>
                <a14:m>
                  <m:oMathPara xmlns:m="http://schemas.openxmlformats.org/officeDocument/2006/math">
                    <m:oMathParaPr>
                      <m:jc m:val="left"/>
                    </m:oMathParaPr>
                    <m:oMath xmlns:m="http://schemas.openxmlformats.org/officeDocument/2006/math">
                      <m:r>
                        <a:rPr lang="en-US" sz="2000" i="1" smtClean="0">
                          <a:solidFill>
                            <a:srgbClr val="363737"/>
                          </a:solidFill>
                          <a:latin typeface="Cambria Math" panose="02040503050406030204" pitchFamily="18" charset="0"/>
                          <a:ea typeface="Cambria" panose="02040503050406030204" pitchFamily="18" charset="0"/>
                        </a:rPr>
                        <m:t>𝑠</m:t>
                      </m:r>
                      <m:r>
                        <a:rPr lang="en-US" sz="2000" i="1" smtClean="0">
                          <a:solidFill>
                            <a:srgbClr val="363737"/>
                          </a:solidFill>
                          <a:latin typeface="Cambria Math" panose="02040503050406030204" pitchFamily="18" charset="0"/>
                          <a:ea typeface="Cambria" panose="02040503050406030204" pitchFamily="18" charset="0"/>
                        </a:rPr>
                        <m:t>=</m:t>
                      </m:r>
                      <m:f>
                        <m:fPr>
                          <m:ctrlPr>
                            <a:rPr lang="en-US" sz="2000" i="1">
                              <a:solidFill>
                                <a:srgbClr val="363737"/>
                              </a:solidFill>
                              <a:latin typeface="Cambria Math" panose="02040503050406030204" pitchFamily="18" charset="0"/>
                              <a:ea typeface="Cambria" panose="02040503050406030204" pitchFamily="18" charset="0"/>
                            </a:rPr>
                          </m:ctrlPr>
                        </m:fPr>
                        <m:num>
                          <m:r>
                            <a:rPr lang="en-US" sz="2000" b="0" i="1" smtClean="0">
                              <a:solidFill>
                                <a:srgbClr val="363737"/>
                              </a:solidFill>
                              <a:latin typeface="Cambria Math" panose="02040503050406030204" pitchFamily="18" charset="0"/>
                              <a:ea typeface="Cambria" panose="02040503050406030204" pitchFamily="18" charset="0"/>
                            </a:rPr>
                            <m:t>255</m:t>
                          </m:r>
                        </m:num>
                        <m:den>
                          <m:r>
                            <a:rPr lang="en-US" sz="2000" i="1">
                              <a:solidFill>
                                <a:srgbClr val="363737"/>
                              </a:solidFill>
                              <a:latin typeface="Cambria Math" panose="02040503050406030204" pitchFamily="18" charset="0"/>
                              <a:ea typeface="Cambria" panose="02040503050406030204" pitchFamily="18" charset="0"/>
                            </a:rPr>
                            <m:t>10.8</m:t>
                          </m:r>
                          <m:r>
                            <a:rPr lang="en-US" sz="2000" b="0" i="1" smtClean="0">
                              <a:solidFill>
                                <a:srgbClr val="363737"/>
                              </a:solidFill>
                              <a:latin typeface="Cambria Math" panose="02040503050406030204" pitchFamily="18" charset="0"/>
                              <a:ea typeface="Cambria" panose="02040503050406030204" pitchFamily="18" charset="0"/>
                            </a:rPr>
                            <m:t>−−7.59</m:t>
                          </m:r>
                        </m:den>
                      </m:f>
                      <m:r>
                        <a:rPr lang="en-US" sz="2000" i="1">
                          <a:solidFill>
                            <a:srgbClr val="363737"/>
                          </a:solidFill>
                          <a:latin typeface="Cambria Math" panose="02040503050406030204" pitchFamily="18" charset="0"/>
                          <a:ea typeface="Cambria" panose="02040503050406030204" pitchFamily="18" charset="0"/>
                        </a:rPr>
                        <m:t>=</m:t>
                      </m:r>
                      <m:r>
                        <a:rPr lang="en-US" sz="2000" b="0" i="1" smtClean="0">
                          <a:solidFill>
                            <a:srgbClr val="363737"/>
                          </a:solidFill>
                          <a:latin typeface="Cambria Math" panose="02040503050406030204" pitchFamily="18" charset="0"/>
                          <a:ea typeface="Cambria" panose="02040503050406030204" pitchFamily="18" charset="0"/>
                        </a:rPr>
                        <m:t>13.86</m:t>
                      </m:r>
                    </m:oMath>
                  </m:oMathPara>
                </a14:m>
                <a:endParaRPr lang="en-US" sz="2000" b="0" dirty="0">
                  <a:solidFill>
                    <a:srgbClr val="363737"/>
                  </a:solidFill>
                  <a:latin typeface="Cambria" panose="02040503050406030204" pitchFamily="18" charset="0"/>
                  <a:ea typeface="Cambria" panose="02040503050406030204" pitchFamily="18" charset="0"/>
                </a:endParaRPr>
              </a:p>
              <a:p>
                <a:endParaRPr lang="en-US" sz="2000" dirty="0">
                  <a:solidFill>
                    <a:srgbClr val="363737"/>
                  </a:solidFill>
                  <a:latin typeface="Cambria" panose="02040503050406030204" pitchFamily="18" charset="0"/>
                  <a:ea typeface="Cambria" panose="02040503050406030204" pitchFamily="18" charset="0"/>
                </a:endParaRPr>
              </a:p>
              <a:p>
                <a:pPr/>
                <a14:m>
                  <m:oMathPara xmlns:m="http://schemas.openxmlformats.org/officeDocument/2006/math">
                    <m:oMathParaPr>
                      <m:jc m:val="left"/>
                    </m:oMathParaPr>
                    <m:oMath xmlns:m="http://schemas.openxmlformats.org/officeDocument/2006/math">
                      <m:r>
                        <a:rPr lang="en-US" sz="2000" b="0" i="1" smtClean="0">
                          <a:solidFill>
                            <a:srgbClr val="363737"/>
                          </a:solidFill>
                          <a:latin typeface="Cambria Math" panose="02040503050406030204" pitchFamily="18" charset="0"/>
                          <a:ea typeface="Cambria" panose="02040503050406030204" pitchFamily="18" charset="0"/>
                        </a:rPr>
                        <m:t>𝑧</m:t>
                      </m:r>
                      <m:r>
                        <a:rPr lang="en-US" sz="2000" i="1">
                          <a:solidFill>
                            <a:srgbClr val="363737"/>
                          </a:solidFill>
                          <a:latin typeface="Cambria Math" panose="02040503050406030204" pitchFamily="18" charset="0"/>
                          <a:ea typeface="Cambria" panose="02040503050406030204" pitchFamily="18" charset="0"/>
                        </a:rPr>
                        <m:t>=</m:t>
                      </m:r>
                      <m:r>
                        <a:rPr lang="en-US" sz="2000" b="0" i="1" smtClean="0">
                          <a:solidFill>
                            <a:srgbClr val="363737"/>
                          </a:solidFill>
                          <a:latin typeface="Cambria Math" panose="02040503050406030204" pitchFamily="18" charset="0"/>
                          <a:ea typeface="Cambria" panose="02040503050406030204" pitchFamily="18" charset="0"/>
                        </a:rPr>
                        <m:t>𝑟𝑜𝑢𝑛𝑑</m:t>
                      </m:r>
                      <m:d>
                        <m:dPr>
                          <m:ctrlPr>
                            <a:rPr lang="en-US" sz="2000" b="0" i="1" smtClean="0">
                              <a:solidFill>
                                <a:srgbClr val="363737"/>
                              </a:solidFill>
                              <a:latin typeface="Cambria Math" panose="02040503050406030204" pitchFamily="18" charset="0"/>
                              <a:ea typeface="Cambria" panose="02040503050406030204" pitchFamily="18" charset="0"/>
                            </a:rPr>
                          </m:ctrlPr>
                        </m:dPr>
                        <m:e>
                          <m:r>
                            <a:rPr lang="en-US" sz="2000" b="0" i="1" smtClean="0">
                              <a:solidFill>
                                <a:srgbClr val="363737"/>
                              </a:solidFill>
                              <a:latin typeface="Cambria Math" panose="02040503050406030204" pitchFamily="18" charset="0"/>
                              <a:ea typeface="Cambria" panose="02040503050406030204" pitchFamily="18" charset="0"/>
                            </a:rPr>
                            <m:t>−13.86</m:t>
                          </m:r>
                          <m:r>
                            <a:rPr lang="en-US" sz="2000" b="0" i="1" smtClean="0">
                              <a:solidFill>
                                <a:srgbClr val="363737"/>
                              </a:solidFill>
                              <a:latin typeface="Cambria Math" panose="02040503050406030204" pitchFamily="18" charset="0"/>
                              <a:ea typeface="Cambria Math" panose="02040503050406030204" pitchFamily="18" charset="0"/>
                            </a:rPr>
                            <m:t>×−7.59</m:t>
                          </m:r>
                        </m:e>
                      </m:d>
                      <m:r>
                        <a:rPr lang="en-US" sz="2000" b="0" i="1" smtClean="0">
                          <a:solidFill>
                            <a:srgbClr val="363737"/>
                          </a:solidFill>
                          <a:latin typeface="Cambria Math" panose="02040503050406030204" pitchFamily="18" charset="0"/>
                          <a:ea typeface="Cambria" panose="02040503050406030204" pitchFamily="18" charset="0"/>
                        </a:rPr>
                        <m:t>−128=−23</m:t>
                      </m:r>
                    </m:oMath>
                  </m:oMathPara>
                </a14:m>
                <a:endParaRPr lang="en-US" sz="2000" dirty="0">
                  <a:solidFill>
                    <a:srgbClr val="363737"/>
                  </a:solidFill>
                  <a:latin typeface="Cambria" panose="02040503050406030204" pitchFamily="18" charset="0"/>
                  <a:ea typeface="Cambria" panose="02040503050406030204" pitchFamily="18" charset="0"/>
                </a:endParaRPr>
              </a:p>
              <a:p>
                <a14:m>
                  <m:oMath xmlns:m="http://schemas.openxmlformats.org/officeDocument/2006/math">
                    <m:r>
                      <a:rPr lang="en-US" sz="2000" i="1">
                        <a:solidFill>
                          <a:srgbClr val="363737"/>
                        </a:solidFill>
                        <a:latin typeface="Cambria Math" panose="02040503050406030204" pitchFamily="18" charset="0"/>
                        <a:ea typeface="Cambria" panose="02040503050406030204" pitchFamily="18" charset="0"/>
                      </a:rPr>
                      <m:t>𝑄</m:t>
                    </m:r>
                    <m:d>
                      <m:dPr>
                        <m:ctrlPr>
                          <a:rPr lang="en-US" sz="2000" i="1">
                            <a:solidFill>
                              <a:srgbClr val="363737"/>
                            </a:solidFill>
                            <a:latin typeface="Cambria Math" panose="02040503050406030204" pitchFamily="18" charset="0"/>
                            <a:ea typeface="Cambria" panose="02040503050406030204" pitchFamily="18" charset="0"/>
                          </a:rPr>
                        </m:ctrlPr>
                      </m:dPr>
                      <m:e>
                        <m:r>
                          <a:rPr lang="en-US" sz="2000" i="1">
                            <a:solidFill>
                              <a:srgbClr val="363737"/>
                            </a:solidFill>
                            <a:latin typeface="Cambria Math" panose="02040503050406030204" pitchFamily="18" charset="0"/>
                            <a:ea typeface="Cambria" panose="02040503050406030204" pitchFamily="18" charset="0"/>
                          </a:rPr>
                          <m:t>−1.95</m:t>
                        </m:r>
                      </m:e>
                    </m:d>
                    <m:r>
                      <a:rPr lang="en-US" sz="2000" i="1">
                        <a:solidFill>
                          <a:srgbClr val="363737"/>
                        </a:solidFill>
                        <a:latin typeface="Cambria Math" panose="02040503050406030204" pitchFamily="18" charset="0"/>
                        <a:ea typeface="Cambria" panose="02040503050406030204" pitchFamily="18" charset="0"/>
                      </a:rPr>
                      <m:t>=</m:t>
                    </m:r>
                    <m:r>
                      <a:rPr lang="en-US" sz="2000" i="1">
                        <a:solidFill>
                          <a:srgbClr val="363737"/>
                        </a:solidFill>
                        <a:latin typeface="Cambria Math" panose="02040503050406030204" pitchFamily="18" charset="0"/>
                        <a:ea typeface="Cambria" panose="02040503050406030204" pitchFamily="18" charset="0"/>
                      </a:rPr>
                      <m:t>𝑟𝑜𝑢𝑛𝑑</m:t>
                    </m:r>
                    <m:d>
                      <m:dPr>
                        <m:ctrlPr>
                          <a:rPr lang="en-US" sz="2000" i="1">
                            <a:solidFill>
                              <a:srgbClr val="363737"/>
                            </a:solidFill>
                            <a:latin typeface="Cambria Math" panose="02040503050406030204" pitchFamily="18" charset="0"/>
                            <a:ea typeface="Cambria" panose="02040503050406030204" pitchFamily="18" charset="0"/>
                          </a:rPr>
                        </m:ctrlPr>
                      </m:dPr>
                      <m:e>
                        <m:r>
                          <a:rPr lang="en-US" sz="2000" i="1">
                            <a:solidFill>
                              <a:srgbClr val="363737"/>
                            </a:solidFill>
                            <a:latin typeface="Cambria Math" panose="02040503050406030204" pitchFamily="18" charset="0"/>
                            <a:ea typeface="Cambria" panose="02040503050406030204" pitchFamily="18" charset="0"/>
                          </a:rPr>
                          <m:t>13.86</m:t>
                        </m:r>
                        <m:r>
                          <a:rPr lang="en-US" sz="2000" i="1" smtClean="0">
                            <a:solidFill>
                              <a:srgbClr val="363737"/>
                            </a:solidFill>
                            <a:latin typeface="Cambria Math" panose="02040503050406030204" pitchFamily="18" charset="0"/>
                            <a:ea typeface="Cambria Math" panose="02040503050406030204" pitchFamily="18" charset="0"/>
                          </a:rPr>
                          <m:t>×</m:t>
                        </m:r>
                        <m:r>
                          <a:rPr lang="en-US" sz="2000" i="1">
                            <a:solidFill>
                              <a:srgbClr val="363737"/>
                            </a:solidFill>
                            <a:latin typeface="Cambria Math" panose="02040503050406030204" pitchFamily="18" charset="0"/>
                            <a:ea typeface="Cambria" panose="02040503050406030204" pitchFamily="18" charset="0"/>
                          </a:rPr>
                          <m:t>−1.95</m:t>
                        </m:r>
                        <m:r>
                          <a:rPr lang="en-US" sz="2000" b="0" i="1" smtClean="0">
                            <a:solidFill>
                              <a:srgbClr val="363737"/>
                            </a:solidFill>
                            <a:latin typeface="Cambria Math" panose="02040503050406030204" pitchFamily="18" charset="0"/>
                            <a:ea typeface="Cambria" panose="02040503050406030204" pitchFamily="18" charset="0"/>
                          </a:rPr>
                          <m:t>+</m:t>
                        </m:r>
                        <m:r>
                          <a:rPr lang="en-US" sz="2000" i="1">
                            <a:solidFill>
                              <a:srgbClr val="363737"/>
                            </a:solidFill>
                            <a:latin typeface="Cambria Math" panose="02040503050406030204" pitchFamily="18" charset="0"/>
                            <a:ea typeface="Cambria" panose="02040503050406030204" pitchFamily="18" charset="0"/>
                          </a:rPr>
                          <m:t>−23</m:t>
                        </m:r>
                      </m:e>
                    </m:d>
                  </m:oMath>
                </a14:m>
                <a:r>
                  <a:rPr lang="en-US" sz="2000" dirty="0">
                    <a:solidFill>
                      <a:srgbClr val="363737"/>
                    </a:solidFill>
                    <a:latin typeface="Cambria" panose="02040503050406030204" pitchFamily="18" charset="0"/>
                    <a:ea typeface="Cambria" panose="02040503050406030204" pitchFamily="18" charset="0"/>
                  </a:rPr>
                  <a:t>=-50</a:t>
                </a:r>
              </a:p>
            </p:txBody>
          </p:sp>
        </mc:Choice>
        <mc:Fallback xmlns="">
          <p:sp>
            <p:nvSpPr>
              <p:cNvPr id="12" name="Rectangle 11">
                <a:extLst>
                  <a:ext uri="{FF2B5EF4-FFF2-40B4-BE49-F238E27FC236}">
                    <a16:creationId xmlns:a16="http://schemas.microsoft.com/office/drawing/2014/main" id="{D09070D6-D837-104C-6C1A-187D29211112}"/>
                  </a:ext>
                </a:extLst>
              </p:cNvPr>
              <p:cNvSpPr>
                <a:spLocks noRot="1" noChangeAspect="1" noMove="1" noResize="1" noEditPoints="1" noAdjustHandles="1" noChangeArrowheads="1" noChangeShapeType="1" noTextEdit="1"/>
              </p:cNvSpPr>
              <p:nvPr/>
            </p:nvSpPr>
            <p:spPr>
              <a:xfrm>
                <a:off x="6497836" y="4618536"/>
                <a:ext cx="5533372" cy="1600182"/>
              </a:xfrm>
              <a:prstGeom prst="rect">
                <a:avLst/>
              </a:prstGeom>
              <a:blipFill>
                <a:blip r:embed="rId6"/>
                <a:stretch>
                  <a:fillRect l="-330" b="-572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18E7489-4456-A0C4-A206-E545DFE852CC}"/>
                  </a:ext>
                </a:extLst>
              </p:cNvPr>
              <p:cNvSpPr txBox="1"/>
              <p:nvPr/>
            </p:nvSpPr>
            <p:spPr>
              <a:xfrm>
                <a:off x="160792" y="5187995"/>
                <a:ext cx="5187585" cy="907043"/>
              </a:xfrm>
              <a:prstGeom prst="rect">
                <a:avLst/>
              </a:prstGeom>
              <a:solidFill>
                <a:schemeClr val="accent2">
                  <a:lumMod val="20000"/>
                  <a:lumOff val="80000"/>
                </a:schemeClr>
              </a:solidFill>
            </p:spPr>
            <p:txBody>
              <a:bodyPr wrap="square">
                <a:spAutoFit/>
              </a:bodyPr>
              <a:lstStyle/>
              <a:p>
                <a:pPr/>
                <a14:m>
                  <m:oMathPara xmlns:m="http://schemas.openxmlformats.org/officeDocument/2006/math">
                    <m:oMathParaPr>
                      <m:jc m:val="left"/>
                    </m:oMathParaPr>
                    <m:oMath xmlns:m="http://schemas.openxmlformats.org/officeDocument/2006/math">
                      <m:r>
                        <a:rPr lang="en-US" sz="1800" b="0" i="1" smtClean="0">
                          <a:solidFill>
                            <a:srgbClr val="363737"/>
                          </a:solidFill>
                          <a:latin typeface="Cambria Math" panose="02040503050406030204" pitchFamily="18" charset="0"/>
                          <a:ea typeface="Cambria" panose="02040503050406030204" pitchFamily="18" charset="0"/>
                        </a:rPr>
                        <m:t>𝑋</m:t>
                      </m:r>
                      <m:r>
                        <a:rPr lang="en-US" sz="1800" b="0" i="1" baseline="-25000" smtClean="0">
                          <a:solidFill>
                            <a:srgbClr val="363737"/>
                          </a:solidFill>
                          <a:latin typeface="Cambria Math" panose="02040503050406030204" pitchFamily="18" charset="0"/>
                          <a:ea typeface="Cambria" panose="02040503050406030204" pitchFamily="18" charset="0"/>
                        </a:rPr>
                        <m:t>𝑑𝑒𝑞𝑢𝑎𝑛𝑡𝑖𝑧𝑒𝑑</m:t>
                      </m:r>
                      <m:r>
                        <a:rPr lang="en-US" sz="1800" i="1" smtClean="0">
                          <a:solidFill>
                            <a:srgbClr val="363737"/>
                          </a:solidFill>
                          <a:latin typeface="Cambria Math" panose="02040503050406030204" pitchFamily="18" charset="0"/>
                          <a:ea typeface="Cambria" panose="02040503050406030204" pitchFamily="18" charset="0"/>
                        </a:rPr>
                        <m:t>=</m:t>
                      </m:r>
                      <m:f>
                        <m:fPr>
                          <m:ctrlPr>
                            <a:rPr lang="en-US" sz="1800" i="1">
                              <a:solidFill>
                                <a:srgbClr val="363737"/>
                              </a:solidFill>
                              <a:latin typeface="Cambria Math" panose="02040503050406030204" pitchFamily="18" charset="0"/>
                              <a:ea typeface="Cambria" panose="02040503050406030204" pitchFamily="18" charset="0"/>
                            </a:rPr>
                          </m:ctrlPr>
                        </m:fPr>
                        <m:num>
                          <m:r>
                            <a:rPr lang="en-US" i="1">
                              <a:solidFill>
                                <a:srgbClr val="363737"/>
                              </a:solidFill>
                              <a:latin typeface="Cambria Math" panose="02040503050406030204" pitchFamily="18" charset="0"/>
                              <a:ea typeface="Cambria" panose="02040503050406030204" pitchFamily="18" charset="0"/>
                            </a:rPr>
                            <m:t>𝑋</m:t>
                          </m:r>
                          <m:r>
                            <a:rPr lang="en-US" i="1" baseline="-25000">
                              <a:solidFill>
                                <a:srgbClr val="363737"/>
                              </a:solidFill>
                              <a:latin typeface="Cambria Math" panose="02040503050406030204" pitchFamily="18" charset="0"/>
                              <a:ea typeface="Cambria" panose="02040503050406030204" pitchFamily="18" charset="0"/>
                            </a:rPr>
                            <m:t>𝑞𝑢𝑎𝑛𝑡𝑖𝑧𝑒𝑑</m:t>
                          </m:r>
                          <m:r>
                            <a:rPr lang="en-US" b="0" i="1" baseline="-25000" smtClean="0">
                              <a:solidFill>
                                <a:srgbClr val="363737"/>
                              </a:solidFill>
                              <a:latin typeface="Cambria Math" panose="02040503050406030204" pitchFamily="18" charset="0"/>
                              <a:ea typeface="Cambria" panose="02040503050406030204" pitchFamily="18" charset="0"/>
                            </a:rPr>
                            <m:t> </m:t>
                          </m:r>
                          <m:r>
                            <a:rPr lang="en-US" b="0" i="1" smtClean="0">
                              <a:solidFill>
                                <a:srgbClr val="363737"/>
                              </a:solidFill>
                              <a:latin typeface="Cambria Math" panose="02040503050406030204" pitchFamily="18" charset="0"/>
                              <a:ea typeface="Cambria" panose="02040503050406030204" pitchFamily="18" charset="0"/>
                            </a:rPr>
                            <m:t>−</m:t>
                          </m:r>
                          <m:r>
                            <a:rPr lang="en-US" b="0" i="1" smtClean="0">
                              <a:solidFill>
                                <a:srgbClr val="363737"/>
                              </a:solidFill>
                              <a:latin typeface="Cambria Math" panose="02040503050406030204" pitchFamily="18" charset="0"/>
                              <a:ea typeface="Cambria" panose="02040503050406030204" pitchFamily="18" charset="0"/>
                            </a:rPr>
                            <m:t>𝑧</m:t>
                          </m:r>
                        </m:num>
                        <m:den>
                          <m:r>
                            <a:rPr lang="en-US" sz="1800" b="0" i="1" smtClean="0">
                              <a:solidFill>
                                <a:srgbClr val="363737"/>
                              </a:solidFill>
                              <a:latin typeface="Cambria Math" panose="02040503050406030204" pitchFamily="18" charset="0"/>
                              <a:ea typeface="Cambria" panose="02040503050406030204" pitchFamily="18" charset="0"/>
                            </a:rPr>
                            <m:t>𝑠</m:t>
                          </m:r>
                        </m:den>
                      </m:f>
                      <m:r>
                        <a:rPr lang="en-US" sz="1800">
                          <a:solidFill>
                            <a:srgbClr val="363737"/>
                          </a:solidFill>
                          <a:latin typeface="Cambria Math" panose="02040503050406030204" pitchFamily="18" charset="0"/>
                          <a:ea typeface="Cambria" panose="02040503050406030204" pitchFamily="18" charset="0"/>
                        </a:rPr>
                        <m:t>=</m:t>
                      </m:r>
                      <m:f>
                        <m:fPr>
                          <m:ctrlPr>
                            <a:rPr lang="en-US" sz="1800" i="1" smtClean="0">
                              <a:solidFill>
                                <a:srgbClr val="363737"/>
                              </a:solidFill>
                              <a:latin typeface="Cambria Math" panose="02040503050406030204" pitchFamily="18" charset="0"/>
                              <a:ea typeface="Cambria" panose="02040503050406030204" pitchFamily="18" charset="0"/>
                            </a:rPr>
                          </m:ctrlPr>
                        </m:fPr>
                        <m:num>
                          <m:r>
                            <a:rPr lang="en-US" i="1">
                              <a:solidFill>
                                <a:srgbClr val="363737"/>
                              </a:solidFill>
                              <a:latin typeface="Cambria Math" panose="02040503050406030204" pitchFamily="18" charset="0"/>
                              <a:ea typeface="Cambria" panose="02040503050406030204" pitchFamily="18" charset="0"/>
                            </a:rPr>
                            <m:t>−</m:t>
                          </m:r>
                          <m:r>
                            <a:rPr lang="en-US" b="0" i="1" smtClean="0">
                              <a:solidFill>
                                <a:srgbClr val="363737"/>
                              </a:solidFill>
                              <a:latin typeface="Cambria Math" panose="02040503050406030204" pitchFamily="18" charset="0"/>
                              <a:ea typeface="Cambria" panose="02040503050406030204" pitchFamily="18" charset="0"/>
                            </a:rPr>
                            <m:t>50</m:t>
                          </m:r>
                          <m:r>
                            <a:rPr lang="en-US" i="1">
                              <a:solidFill>
                                <a:srgbClr val="363737"/>
                              </a:solidFill>
                              <a:latin typeface="Cambria Math" panose="02040503050406030204" pitchFamily="18" charset="0"/>
                              <a:ea typeface="Cambria" panose="02040503050406030204" pitchFamily="18" charset="0"/>
                            </a:rPr>
                            <m:t>−</m:t>
                          </m:r>
                          <m:r>
                            <a:rPr lang="en-US" b="0" i="1" smtClean="0">
                              <a:solidFill>
                                <a:srgbClr val="363737"/>
                              </a:solidFill>
                              <a:latin typeface="Cambria Math" panose="02040503050406030204" pitchFamily="18" charset="0"/>
                              <a:ea typeface="Cambria" panose="02040503050406030204" pitchFamily="18" charset="0"/>
                            </a:rPr>
                            <m:t>(</m:t>
                          </m:r>
                          <m:r>
                            <a:rPr lang="en-US" i="1">
                              <a:solidFill>
                                <a:srgbClr val="363737"/>
                              </a:solidFill>
                              <a:latin typeface="Cambria Math" panose="02040503050406030204" pitchFamily="18" charset="0"/>
                              <a:ea typeface="Cambria" panose="02040503050406030204" pitchFamily="18" charset="0"/>
                            </a:rPr>
                            <m:t>−23</m:t>
                          </m:r>
                          <m:r>
                            <a:rPr lang="en-US" b="0" i="1" smtClean="0">
                              <a:solidFill>
                                <a:srgbClr val="363737"/>
                              </a:solidFill>
                              <a:latin typeface="Cambria Math" panose="02040503050406030204" pitchFamily="18" charset="0"/>
                              <a:ea typeface="Cambria" panose="02040503050406030204" pitchFamily="18" charset="0"/>
                            </a:rPr>
                            <m:t>)</m:t>
                          </m:r>
                        </m:num>
                        <m:den>
                          <m:r>
                            <a:rPr lang="en-US" i="1">
                              <a:solidFill>
                                <a:srgbClr val="363737"/>
                              </a:solidFill>
                              <a:latin typeface="Cambria Math" panose="02040503050406030204" pitchFamily="18" charset="0"/>
                              <a:ea typeface="Cambria" panose="02040503050406030204" pitchFamily="18" charset="0"/>
                            </a:rPr>
                            <m:t>13.86</m:t>
                          </m:r>
                        </m:den>
                      </m:f>
                      <m:r>
                        <a:rPr lang="en-US" sz="1800" i="1">
                          <a:solidFill>
                            <a:srgbClr val="363737"/>
                          </a:solidFill>
                          <a:latin typeface="Cambria Math" panose="02040503050406030204" pitchFamily="18" charset="0"/>
                          <a:ea typeface="Cambria" panose="02040503050406030204" pitchFamily="18" charset="0"/>
                        </a:rPr>
                        <m:t>=</m:t>
                      </m:r>
                      <m:r>
                        <a:rPr lang="en-US" sz="1800" b="0" i="1" smtClean="0">
                          <a:solidFill>
                            <a:srgbClr val="363737"/>
                          </a:solidFill>
                          <a:latin typeface="Cambria Math" panose="02040503050406030204" pitchFamily="18" charset="0"/>
                          <a:ea typeface="Cambria" panose="02040503050406030204" pitchFamily="18" charset="0"/>
                        </a:rPr>
                        <m:t>− </m:t>
                      </m:r>
                      <m:r>
                        <a:rPr lang="en-US" i="1">
                          <a:solidFill>
                            <a:srgbClr val="363737"/>
                          </a:solidFill>
                          <a:latin typeface="Cambria Math" panose="02040503050406030204" pitchFamily="18" charset="0"/>
                          <a:ea typeface="Cambria" panose="02040503050406030204" pitchFamily="18" charset="0"/>
                        </a:rPr>
                        <m:t>1.948</m:t>
                      </m:r>
                    </m:oMath>
                  </m:oMathPara>
                </a14:m>
                <a:endParaRPr lang="en-US" sz="1800" dirty="0">
                  <a:solidFill>
                    <a:srgbClr val="363737"/>
                  </a:solidFill>
                  <a:latin typeface="Cambria" panose="02040503050406030204" pitchFamily="18" charset="0"/>
                  <a:ea typeface="Cambria" panose="02040503050406030204" pitchFamily="18" charset="0"/>
                </a:endParaRPr>
              </a:p>
            </p:txBody>
          </p:sp>
        </mc:Choice>
        <mc:Fallback xmlns="">
          <p:sp>
            <p:nvSpPr>
              <p:cNvPr id="15" name="TextBox 14">
                <a:extLst>
                  <a:ext uri="{FF2B5EF4-FFF2-40B4-BE49-F238E27FC236}">
                    <a16:creationId xmlns:a16="http://schemas.microsoft.com/office/drawing/2014/main" id="{B18E7489-4456-A0C4-A206-E545DFE852CC}"/>
                  </a:ext>
                </a:extLst>
              </p:cNvPr>
              <p:cNvSpPr txBox="1">
                <a:spLocks noRot="1" noChangeAspect="1" noMove="1" noResize="1" noEditPoints="1" noAdjustHandles="1" noChangeArrowheads="1" noChangeShapeType="1" noTextEdit="1"/>
              </p:cNvSpPr>
              <p:nvPr/>
            </p:nvSpPr>
            <p:spPr>
              <a:xfrm>
                <a:off x="160792" y="5187995"/>
                <a:ext cx="5187585" cy="907043"/>
              </a:xfrm>
              <a:prstGeom prst="rect">
                <a:avLst/>
              </a:prstGeom>
              <a:blipFill>
                <a:blip r:embed="rId7"/>
                <a:stretch>
                  <a:fillRect/>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3738AF4B-0934-52CE-B08A-DCF5DDACC59E}"/>
              </a:ext>
            </a:extLst>
          </p:cNvPr>
          <p:cNvSpPr txBox="1"/>
          <p:nvPr/>
        </p:nvSpPr>
        <p:spPr>
          <a:xfrm>
            <a:off x="1649954" y="4649457"/>
            <a:ext cx="1649747" cy="369332"/>
          </a:xfrm>
          <a:prstGeom prst="rect">
            <a:avLst/>
          </a:prstGeom>
          <a:solidFill>
            <a:schemeClr val="accent2">
              <a:lumMod val="20000"/>
              <a:lumOff val="80000"/>
            </a:schemeClr>
          </a:solidFill>
        </p:spPr>
        <p:txBody>
          <a:bodyPr wrap="none" rtlCol="0">
            <a:spAutoFit/>
          </a:bodyPr>
          <a:lstStyle/>
          <a:p>
            <a:r>
              <a:rPr lang="en-US" dirty="0" err="1"/>
              <a:t>DeQuantization</a:t>
            </a:r>
            <a:endParaRPr lang="en-IN" dirty="0"/>
          </a:p>
        </p:txBody>
      </p:sp>
      <p:sp>
        <p:nvSpPr>
          <p:cNvPr id="17" name="TextBox 16">
            <a:extLst>
              <a:ext uri="{FF2B5EF4-FFF2-40B4-BE49-F238E27FC236}">
                <a16:creationId xmlns:a16="http://schemas.microsoft.com/office/drawing/2014/main" id="{1DE03913-E556-9E05-59C5-438F31BA9660}"/>
              </a:ext>
            </a:extLst>
          </p:cNvPr>
          <p:cNvSpPr txBox="1"/>
          <p:nvPr/>
        </p:nvSpPr>
        <p:spPr>
          <a:xfrm>
            <a:off x="9010949" y="4071039"/>
            <a:ext cx="1391663" cy="369332"/>
          </a:xfrm>
          <a:prstGeom prst="rect">
            <a:avLst/>
          </a:prstGeom>
          <a:solidFill>
            <a:schemeClr val="bg2">
              <a:lumMod val="90000"/>
            </a:schemeClr>
          </a:solidFill>
        </p:spPr>
        <p:txBody>
          <a:bodyPr wrap="none" rtlCol="0">
            <a:spAutoFit/>
          </a:bodyPr>
          <a:lstStyle/>
          <a:p>
            <a:r>
              <a:rPr lang="en-US" dirty="0"/>
              <a:t>Quantization</a:t>
            </a:r>
            <a:endParaRPr lang="en-IN" dirty="0"/>
          </a:p>
        </p:txBody>
      </p:sp>
      <p:sp>
        <p:nvSpPr>
          <p:cNvPr id="18" name="Arrow: Right 17">
            <a:extLst>
              <a:ext uri="{FF2B5EF4-FFF2-40B4-BE49-F238E27FC236}">
                <a16:creationId xmlns:a16="http://schemas.microsoft.com/office/drawing/2014/main" id="{827B6FAC-F643-664B-5588-9619462847E4}"/>
              </a:ext>
            </a:extLst>
          </p:cNvPr>
          <p:cNvSpPr/>
          <p:nvPr/>
        </p:nvSpPr>
        <p:spPr>
          <a:xfrm rot="10800000">
            <a:off x="5433902" y="5265632"/>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2680359F-175C-808C-5A09-C7F0C0E89AD1}"/>
              </a:ext>
            </a:extLst>
          </p:cNvPr>
          <p:cNvSpPr txBox="1"/>
          <p:nvPr/>
        </p:nvSpPr>
        <p:spPr>
          <a:xfrm>
            <a:off x="99391" y="6536015"/>
            <a:ext cx="6097656" cy="261610"/>
          </a:xfrm>
          <a:prstGeom prst="rect">
            <a:avLst/>
          </a:prstGeom>
          <a:noFill/>
        </p:spPr>
        <p:txBody>
          <a:bodyPr wrap="square">
            <a:spAutoFit/>
          </a:bodyPr>
          <a:lstStyle/>
          <a:p>
            <a:r>
              <a:rPr lang="en-IN" sz="1100" dirty="0"/>
              <a:t>https://newsletter.maartengrootendorst.com/p/a-visual-guide-to-quantization</a:t>
            </a:r>
          </a:p>
        </p:txBody>
      </p:sp>
    </p:spTree>
    <p:extLst>
      <p:ext uri="{BB962C8B-B14F-4D97-AF65-F5344CB8AC3E}">
        <p14:creationId xmlns:p14="http://schemas.microsoft.com/office/powerpoint/2010/main" val="36675714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D7B355-82B3-940E-AA92-FB5020E8F412}"/>
              </a:ext>
            </a:extLst>
          </p:cNvPr>
          <p:cNvSpPr>
            <a:spLocks noGrp="1"/>
          </p:cNvSpPr>
          <p:nvPr>
            <p:ph type="title"/>
          </p:nvPr>
        </p:nvSpPr>
        <p:spPr/>
        <p:txBody>
          <a:bodyPr/>
          <a:lstStyle/>
          <a:p>
            <a:r>
              <a:rPr lang="en-US" dirty="0"/>
              <a:t>Quantization</a:t>
            </a:r>
            <a:endParaRPr lang="en-IN" dirty="0"/>
          </a:p>
        </p:txBody>
      </p:sp>
      <p:pic>
        <p:nvPicPr>
          <p:cNvPr id="2050" name="Picture 2">
            <a:extLst>
              <a:ext uri="{FF2B5EF4-FFF2-40B4-BE49-F238E27FC236}">
                <a16:creationId xmlns:a16="http://schemas.microsoft.com/office/drawing/2014/main" id="{04CCCF25-A8A5-749D-713E-2030F0714B82}"/>
              </a:ext>
            </a:extLst>
          </p:cNvPr>
          <p:cNvPicPr>
            <a:picLocks noGrp="1" noChangeAspect="1" noChangeArrowheads="1"/>
          </p:cNvPicPr>
          <p:nvPr>
            <p:ph idx="10"/>
          </p:nvPr>
        </p:nvPicPr>
        <p:blipFill>
          <a:blip r:embed="rId2">
            <a:extLst>
              <a:ext uri="{28A0092B-C50C-407E-A947-70E740481C1C}">
                <a14:useLocalDpi xmlns:a14="http://schemas.microsoft.com/office/drawing/2010/main" val="0"/>
              </a:ext>
            </a:extLst>
          </a:blip>
          <a:srcRect/>
          <a:stretch>
            <a:fillRect/>
          </a:stretch>
        </p:blipFill>
        <p:spPr bwMode="auto">
          <a:xfrm>
            <a:off x="0" y="1490282"/>
            <a:ext cx="5455264" cy="153594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F933D77-2095-EFFC-A635-F3A5996959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362" y="1537610"/>
            <a:ext cx="4946060" cy="148862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3236CFF-4939-EEFF-0CF9-0D65ACDB8BA1}"/>
              </a:ext>
            </a:extLst>
          </p:cNvPr>
          <p:cNvSpPr txBox="1"/>
          <p:nvPr/>
        </p:nvSpPr>
        <p:spPr>
          <a:xfrm>
            <a:off x="0" y="3090949"/>
            <a:ext cx="6456218" cy="1631216"/>
          </a:xfrm>
          <a:prstGeom prst="rect">
            <a:avLst/>
          </a:prstGeom>
          <a:noFill/>
        </p:spPr>
        <p:txBody>
          <a:bodyPr wrap="square">
            <a:spAutoFit/>
          </a:bodyPr>
          <a:lstStyle/>
          <a:p>
            <a:pPr marL="342900" indent="-342900">
              <a:buFont typeface="Arial" panose="020B0604020202020204" pitchFamily="34" charset="0"/>
              <a:buChar char="•"/>
            </a:pPr>
            <a:r>
              <a:rPr lang="en-IN" sz="2000" i="1" dirty="0">
                <a:solidFill>
                  <a:srgbClr val="363737"/>
                </a:solidFill>
                <a:latin typeface="Spectral"/>
              </a:rPr>
              <a:t>calibration </a:t>
            </a:r>
          </a:p>
          <a:p>
            <a:pPr marL="800100" lvl="1" indent="-342900">
              <a:buFont typeface="Arial" panose="020B0604020202020204" pitchFamily="34" charset="0"/>
              <a:buChar char="•"/>
            </a:pPr>
            <a:r>
              <a:rPr lang="en-IN" sz="2000" b="0" i="1" dirty="0">
                <a:solidFill>
                  <a:srgbClr val="363737"/>
                </a:solidFill>
                <a:effectLst/>
                <a:latin typeface="Spectral"/>
              </a:rPr>
              <a:t>P</a:t>
            </a:r>
            <a:r>
              <a:rPr lang="en-IN" sz="2000" b="0" i="0" dirty="0">
                <a:solidFill>
                  <a:srgbClr val="363737"/>
                </a:solidFill>
                <a:effectLst/>
                <a:latin typeface="Spectral"/>
              </a:rPr>
              <a:t>rocess of find a range that includes as many values as possible while minimizing the quantization error</a:t>
            </a:r>
          </a:p>
          <a:p>
            <a:pPr marL="800100" lvl="1" indent="-342900">
              <a:buFont typeface="Arial" panose="020B0604020202020204" pitchFamily="34" charset="0"/>
              <a:buChar char="•"/>
            </a:pPr>
            <a:r>
              <a:rPr lang="en-IN" sz="2000" b="1" dirty="0"/>
              <a:t>choosing the range [β, α] you quantize into</a:t>
            </a:r>
            <a:endParaRPr lang="en-IN" sz="2000" dirty="0"/>
          </a:p>
          <a:p>
            <a:pPr marL="342900" indent="-342900">
              <a:buFont typeface="Arial" panose="020B0604020202020204" pitchFamily="34" charset="0"/>
              <a:buChar char="•"/>
            </a:pPr>
            <a:endParaRPr lang="en-IN" sz="2000" dirty="0"/>
          </a:p>
        </p:txBody>
      </p:sp>
      <p:pic>
        <p:nvPicPr>
          <p:cNvPr id="7" name="Picture 6">
            <a:extLst>
              <a:ext uri="{FF2B5EF4-FFF2-40B4-BE49-F238E27FC236}">
                <a16:creationId xmlns:a16="http://schemas.microsoft.com/office/drawing/2014/main" id="{7F50E42F-D5D6-2BA0-91AF-4A6E73604910}"/>
              </a:ext>
            </a:extLst>
          </p:cNvPr>
          <p:cNvPicPr>
            <a:picLocks noChangeAspect="1"/>
          </p:cNvPicPr>
          <p:nvPr/>
        </p:nvPicPr>
        <p:blipFill>
          <a:blip r:embed="rId4"/>
          <a:stretch>
            <a:fillRect/>
          </a:stretch>
        </p:blipFill>
        <p:spPr>
          <a:xfrm>
            <a:off x="6971689" y="3344640"/>
            <a:ext cx="4683707" cy="1837277"/>
          </a:xfrm>
          <a:prstGeom prst="rect">
            <a:avLst/>
          </a:prstGeom>
        </p:spPr>
      </p:pic>
      <p:sp>
        <p:nvSpPr>
          <p:cNvPr id="2" name="TextBox 1">
            <a:extLst>
              <a:ext uri="{FF2B5EF4-FFF2-40B4-BE49-F238E27FC236}">
                <a16:creationId xmlns:a16="http://schemas.microsoft.com/office/drawing/2014/main" id="{9BE9D472-C53A-DEDB-12DC-E3489127CE66}"/>
              </a:ext>
            </a:extLst>
          </p:cNvPr>
          <p:cNvSpPr txBox="1"/>
          <p:nvPr/>
        </p:nvSpPr>
        <p:spPr>
          <a:xfrm>
            <a:off x="99391" y="6536015"/>
            <a:ext cx="6097656" cy="261610"/>
          </a:xfrm>
          <a:prstGeom prst="rect">
            <a:avLst/>
          </a:prstGeom>
          <a:noFill/>
        </p:spPr>
        <p:txBody>
          <a:bodyPr wrap="square">
            <a:spAutoFit/>
          </a:bodyPr>
          <a:lstStyle/>
          <a:p>
            <a:r>
              <a:rPr lang="en-IN" sz="1100" dirty="0"/>
              <a:t>https://newsletter.maartengrootendorst.com/p/a-visual-guide-to-quantization</a:t>
            </a:r>
          </a:p>
        </p:txBody>
      </p:sp>
      <p:sp>
        <p:nvSpPr>
          <p:cNvPr id="6" name="TextBox 5">
            <a:extLst>
              <a:ext uri="{FF2B5EF4-FFF2-40B4-BE49-F238E27FC236}">
                <a16:creationId xmlns:a16="http://schemas.microsoft.com/office/drawing/2014/main" id="{4AD6716C-4EB6-86F4-4619-69D004A52FD6}"/>
              </a:ext>
            </a:extLst>
          </p:cNvPr>
          <p:cNvSpPr txBox="1"/>
          <p:nvPr/>
        </p:nvSpPr>
        <p:spPr>
          <a:xfrm>
            <a:off x="99391" y="5547900"/>
            <a:ext cx="10430064" cy="646331"/>
          </a:xfrm>
          <a:prstGeom prst="rect">
            <a:avLst/>
          </a:prstGeom>
          <a:solidFill>
            <a:schemeClr val="bg2">
              <a:lumMod val="90000"/>
            </a:schemeClr>
          </a:solidFill>
        </p:spPr>
        <p:txBody>
          <a:bodyPr wrap="square">
            <a:spAutoFit/>
          </a:bodyPr>
          <a:lstStyle/>
          <a:p>
            <a:r>
              <a:rPr lang="en-IN" dirty="0"/>
              <a:t>Post-Training Quantization (PTQ) : Quantization </a:t>
            </a:r>
            <a:r>
              <a:rPr lang="en-IN" b="1" i="1" dirty="0"/>
              <a:t>after</a:t>
            </a:r>
            <a:r>
              <a:rPr lang="en-IN" dirty="0"/>
              <a:t> training</a:t>
            </a:r>
          </a:p>
          <a:p>
            <a:r>
              <a:rPr lang="en-IN" dirty="0"/>
              <a:t>Quantization Aware Training (QAT): Quantization </a:t>
            </a:r>
            <a:r>
              <a:rPr lang="en-IN" b="1" i="1" dirty="0"/>
              <a:t>during</a:t>
            </a:r>
            <a:r>
              <a:rPr lang="en-IN" dirty="0"/>
              <a:t> training/fine-tuning</a:t>
            </a:r>
          </a:p>
        </p:txBody>
      </p:sp>
    </p:spTree>
    <p:extLst>
      <p:ext uri="{BB962C8B-B14F-4D97-AF65-F5344CB8AC3E}">
        <p14:creationId xmlns:p14="http://schemas.microsoft.com/office/powerpoint/2010/main" val="5301071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59FDF1-F9E1-7CA2-8CF8-A6867CA8A08C}"/>
              </a:ext>
            </a:extLst>
          </p:cNvPr>
          <p:cNvSpPr>
            <a:spLocks noGrp="1"/>
          </p:cNvSpPr>
          <p:nvPr>
            <p:ph idx="10"/>
          </p:nvPr>
        </p:nvSpPr>
        <p:spPr>
          <a:xfrm>
            <a:off x="115454" y="1323552"/>
            <a:ext cx="11961091" cy="5225030"/>
          </a:xfrm>
        </p:spPr>
        <p:txBody>
          <a:bodyPr>
            <a:normAutofit fontScale="85000" lnSpcReduction="10000"/>
          </a:bodyPr>
          <a:lstStyle/>
          <a:p>
            <a:pPr marL="342900" indent="-342900">
              <a:lnSpc>
                <a:spcPct val="120000"/>
              </a:lnSpc>
              <a:buFont typeface="Arial" panose="020B0604020202020204" pitchFamily="34" charset="0"/>
              <a:buChar char="•"/>
            </a:pPr>
            <a:r>
              <a:rPr lang="en-US" altLang="en-US" dirty="0"/>
              <a:t>Compress an already-trained model to lower-bit precision — no retraining. The fast, cheap, default path for deployment.</a:t>
            </a:r>
          </a:p>
          <a:p>
            <a:pPr marL="342900" indent="-342900">
              <a:lnSpc>
                <a:spcPct val="120000"/>
              </a:lnSpc>
              <a:buFont typeface="Arial" panose="020B0604020202020204" pitchFamily="34" charset="0"/>
              <a:buChar char="•"/>
            </a:pPr>
            <a:r>
              <a:rPr lang="en-US" altLang="en-US" dirty="0"/>
              <a:t>Calibration data: a small set of text samples (~128–512 sequences) fed through the model so the quantizer can observe how activations actually behave and choose quantization parameters accordingly. </a:t>
            </a:r>
          </a:p>
          <a:p>
            <a:pPr marL="342900" indent="-342900">
              <a:lnSpc>
                <a:spcPct val="120000"/>
              </a:lnSpc>
              <a:buFont typeface="Arial" panose="020B0604020202020204" pitchFamily="34" charset="0"/>
              <a:buChar char="•"/>
            </a:pPr>
            <a:r>
              <a:rPr lang="en-IN" dirty="0"/>
              <a:t>Round-to-Nearest (RTN)</a:t>
            </a:r>
            <a:r>
              <a:rPr lang="en-US" altLang="en-US" dirty="0"/>
              <a:t> is the no-calibration baseline; GPTQ/AWQ/</a:t>
            </a:r>
            <a:r>
              <a:rPr lang="en-US" altLang="en-US" dirty="0" err="1"/>
              <a:t>SmoothQuant</a:t>
            </a:r>
            <a:r>
              <a:rPr lang="en-US" altLang="en-US" dirty="0"/>
              <a:t> all use calibration. </a:t>
            </a:r>
          </a:p>
          <a:p>
            <a:pPr marL="342900" indent="-342900">
              <a:lnSpc>
                <a:spcPct val="120000"/>
              </a:lnSpc>
              <a:buFont typeface="Arial" panose="020B0604020202020204" pitchFamily="34" charset="0"/>
              <a:buChar char="•"/>
            </a:pPr>
            <a:r>
              <a:rPr lang="en-US" altLang="en-US" dirty="0"/>
              <a:t>What gets quantized: </a:t>
            </a:r>
          </a:p>
          <a:p>
            <a:pPr marL="800100" lvl="1" indent="-342900">
              <a:lnSpc>
                <a:spcPct val="120000"/>
              </a:lnSpc>
              <a:buFont typeface="Arial" panose="020B0604020202020204" pitchFamily="34" charset="0"/>
              <a:buChar char="•"/>
            </a:pPr>
            <a:r>
              <a:rPr lang="en-US" altLang="en-US" dirty="0"/>
              <a:t>Weights only (W4A16): GPTQ, AWQ — standard for deployment, ~4× memory reduction. </a:t>
            </a:r>
          </a:p>
          <a:p>
            <a:pPr marL="800100" lvl="1" indent="-342900">
              <a:lnSpc>
                <a:spcPct val="120000"/>
              </a:lnSpc>
              <a:buFont typeface="Arial" panose="020B0604020202020204" pitchFamily="34" charset="0"/>
              <a:buChar char="•"/>
            </a:pPr>
            <a:r>
              <a:rPr lang="en-US" altLang="en-US" dirty="0"/>
              <a:t>Weights + activations (W8A8): </a:t>
            </a:r>
            <a:r>
              <a:rPr lang="en-US" altLang="en-US" dirty="0" err="1"/>
              <a:t>SmoothQuant</a:t>
            </a:r>
            <a:r>
              <a:rPr lang="en-US" altLang="en-US" dirty="0"/>
              <a:t> </a:t>
            </a:r>
          </a:p>
          <a:p>
            <a:pPr marL="342900" indent="-342900">
              <a:lnSpc>
                <a:spcPct val="120000"/>
              </a:lnSpc>
              <a:buFont typeface="Arial" panose="020B0604020202020204" pitchFamily="34" charset="0"/>
              <a:buChar char="•"/>
            </a:pPr>
            <a:r>
              <a:rPr lang="en-US" altLang="en-US" dirty="0"/>
              <a:t>Storage formats (different from methods): GGUF (file format, llama.cpp ecosystem), NF4 (</a:t>
            </a:r>
            <a:r>
              <a:rPr lang="en-US" altLang="en-US" dirty="0" err="1"/>
              <a:t>dtype</a:t>
            </a:r>
            <a:r>
              <a:rPr lang="en-US" altLang="en-US" dirty="0"/>
              <a:t> used in </a:t>
            </a:r>
            <a:r>
              <a:rPr lang="en-US" altLang="en-US" dirty="0" err="1"/>
              <a:t>QLoRA</a:t>
            </a:r>
            <a:r>
              <a:rPr lang="en-US" altLang="en-US" dirty="0"/>
              <a:t>), FP8 (hardware-native on H100/H200). </a:t>
            </a:r>
          </a:p>
          <a:p>
            <a:pPr marL="285750" indent="-285750">
              <a:lnSpc>
                <a:spcPct val="120000"/>
              </a:lnSpc>
              <a:buFont typeface="Arial" panose="020B0604020202020204" pitchFamily="34" charset="0"/>
              <a:buChar char="•"/>
            </a:pPr>
            <a:r>
              <a:rPr lang="en-IN" dirty="0" err="1"/>
              <a:t>bitsandbytes</a:t>
            </a:r>
            <a:r>
              <a:rPr lang="en-IN" dirty="0"/>
              <a:t> is a convenient load-time quantization path; AWQ/GPTQ are more explicit production compression pipelines</a:t>
            </a:r>
          </a:p>
          <a:p>
            <a:pPr marL="285750" indent="-285750">
              <a:lnSpc>
                <a:spcPct val="120000"/>
              </a:lnSpc>
              <a:buFont typeface="Arial" panose="020B0604020202020204" pitchFamily="34" charset="0"/>
              <a:buChar char="•"/>
            </a:pPr>
            <a:r>
              <a:rPr lang="en-IN" dirty="0"/>
              <a:t>GGUF is designed primarily for </a:t>
            </a:r>
            <a:r>
              <a:rPr lang="en-IN" b="1" dirty="0"/>
              <a:t>CPU and Apple Silicon</a:t>
            </a:r>
            <a:r>
              <a:rPr lang="en-IN" dirty="0"/>
              <a:t>, with </a:t>
            </a:r>
            <a:r>
              <a:rPr lang="en-IN" b="1" dirty="0"/>
              <a:t>GPU offload</a:t>
            </a:r>
            <a:r>
              <a:rPr lang="en-IN" dirty="0"/>
              <a:t> as an important secondary path</a:t>
            </a:r>
          </a:p>
          <a:p>
            <a:pPr marL="285750" indent="-285750">
              <a:lnSpc>
                <a:spcPct val="120000"/>
              </a:lnSpc>
              <a:buFont typeface="Arial" panose="020B0604020202020204" pitchFamily="34" charset="0"/>
              <a:buChar char="•"/>
            </a:pPr>
            <a:r>
              <a:rPr lang="en-IN" b="1" dirty="0"/>
              <a:t>use AWQ/GPTQ for fast GPU-only local inference</a:t>
            </a:r>
            <a:endParaRPr lang="en-IN" dirty="0"/>
          </a:p>
          <a:p>
            <a:pPr marL="342900" indent="-342900">
              <a:buFont typeface="Arial" panose="020B0604020202020204" pitchFamily="34" charset="0"/>
              <a:buChar char="•"/>
            </a:pPr>
            <a:endParaRPr lang="en-US" altLang="en-US" dirty="0"/>
          </a:p>
          <a:p>
            <a:endParaRPr lang="en-IN" dirty="0"/>
          </a:p>
        </p:txBody>
      </p:sp>
      <p:sp>
        <p:nvSpPr>
          <p:cNvPr id="3" name="Title 2">
            <a:extLst>
              <a:ext uri="{FF2B5EF4-FFF2-40B4-BE49-F238E27FC236}">
                <a16:creationId xmlns:a16="http://schemas.microsoft.com/office/drawing/2014/main" id="{3B0EC18E-4228-26B0-5510-7B558B2467E3}"/>
              </a:ext>
            </a:extLst>
          </p:cNvPr>
          <p:cNvSpPr>
            <a:spLocks noGrp="1"/>
          </p:cNvSpPr>
          <p:nvPr>
            <p:ph type="title"/>
          </p:nvPr>
        </p:nvSpPr>
        <p:spPr/>
        <p:txBody>
          <a:bodyPr/>
          <a:lstStyle/>
          <a:p>
            <a:r>
              <a:rPr lang="en-US" altLang="en-US" dirty="0"/>
              <a:t>Post-Training Quantization (PTQ)</a:t>
            </a:r>
            <a:br>
              <a:rPr lang="en-US" altLang="en-US" dirty="0"/>
            </a:br>
            <a:endParaRPr lang="en-IN" dirty="0"/>
          </a:p>
        </p:txBody>
      </p:sp>
    </p:spTree>
    <p:extLst>
      <p:ext uri="{BB962C8B-B14F-4D97-AF65-F5344CB8AC3E}">
        <p14:creationId xmlns:p14="http://schemas.microsoft.com/office/powerpoint/2010/main" val="24047252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90555" y="146703"/>
            <a:ext cx="7743559" cy="1061235"/>
          </a:xfrm>
          <a:prstGeom prst="rect">
            <a:avLst/>
          </a:prstGeom>
        </p:spPr>
        <p:txBody>
          <a:bodyPr vert="horz" lIns="91440" tIns="45720" rIns="91440" bIns="45720" rtlCol="0" anchor="ctr">
            <a:normAutofit/>
          </a:bodyPr>
          <a:lstStyle/>
          <a:p>
            <a:pPr algn="l"/>
            <a:r>
              <a:rPr sz="3600" dirty="0">
                <a:latin typeface="Cambria" panose="02040503050406030204" pitchFamily="18" charset="0"/>
                <a:cs typeface="+mj-cs"/>
              </a:rPr>
              <a:t>Knowledge Distillation (KD)</a:t>
            </a:r>
          </a:p>
        </p:txBody>
      </p:sp>
      <p:pic>
        <p:nvPicPr>
          <p:cNvPr id="3" name="object 3"/>
          <p:cNvPicPr/>
          <p:nvPr/>
        </p:nvPicPr>
        <p:blipFill>
          <a:blip r:embed="rId2" cstate="print"/>
          <a:stretch>
            <a:fillRect/>
          </a:stretch>
        </p:blipFill>
        <p:spPr>
          <a:xfrm>
            <a:off x="1880362" y="1888002"/>
            <a:ext cx="9106023" cy="3081996"/>
          </a:xfrm>
          <a:prstGeom prst="rect">
            <a:avLst/>
          </a:prstGeom>
        </p:spPr>
      </p:pic>
      <p:sp>
        <p:nvSpPr>
          <p:cNvPr id="4" name="object 4"/>
          <p:cNvSpPr txBox="1"/>
          <p:nvPr/>
        </p:nvSpPr>
        <p:spPr>
          <a:xfrm>
            <a:off x="3582610" y="5125315"/>
            <a:ext cx="6437207" cy="181310"/>
          </a:xfrm>
          <a:prstGeom prst="rect">
            <a:avLst/>
          </a:prstGeom>
        </p:spPr>
        <p:txBody>
          <a:bodyPr vert="horz" wrap="square" lIns="0" tIns="16933" rIns="0" bIns="0" rtlCol="0">
            <a:spAutoFit/>
          </a:bodyPr>
          <a:lstStyle/>
          <a:p>
            <a:pPr marL="16933">
              <a:spcBef>
                <a:spcPts val="133"/>
              </a:spcBef>
            </a:pPr>
            <a:r>
              <a:rPr sz="1067" spc="-13" dirty="0">
                <a:solidFill>
                  <a:srgbClr val="9E9E9E"/>
                </a:solidFill>
                <a:latin typeface="Tahoma"/>
                <a:cs typeface="Tahoma"/>
              </a:rPr>
              <a:t>The</a:t>
            </a:r>
            <a:r>
              <a:rPr sz="1067" spc="7" dirty="0">
                <a:solidFill>
                  <a:srgbClr val="9E9E9E"/>
                </a:solidFill>
                <a:latin typeface="Tahoma"/>
                <a:cs typeface="Tahoma"/>
              </a:rPr>
              <a:t> </a:t>
            </a:r>
            <a:r>
              <a:rPr sz="1067" dirty="0">
                <a:solidFill>
                  <a:srgbClr val="9E9E9E"/>
                </a:solidFill>
                <a:latin typeface="Tahoma"/>
                <a:cs typeface="Tahoma"/>
              </a:rPr>
              <a:t>generic</a:t>
            </a:r>
            <a:r>
              <a:rPr sz="1067" spc="13" dirty="0">
                <a:solidFill>
                  <a:srgbClr val="9E9E9E"/>
                </a:solidFill>
                <a:latin typeface="Tahoma"/>
                <a:cs typeface="Tahoma"/>
              </a:rPr>
              <a:t> </a:t>
            </a:r>
            <a:r>
              <a:rPr sz="1067" spc="-13" dirty="0">
                <a:solidFill>
                  <a:srgbClr val="9E9E9E"/>
                </a:solidFill>
                <a:latin typeface="Tahoma"/>
                <a:cs typeface="Tahoma"/>
              </a:rPr>
              <a:t>firamework</a:t>
            </a:r>
            <a:r>
              <a:rPr sz="1067" spc="13" dirty="0">
                <a:solidFill>
                  <a:srgbClr val="9E9E9E"/>
                </a:solidFill>
                <a:latin typeface="Tahoma"/>
                <a:cs typeface="Tahoma"/>
              </a:rPr>
              <a:t> </a:t>
            </a:r>
            <a:r>
              <a:rPr sz="1067" spc="-67" dirty="0">
                <a:solidFill>
                  <a:srgbClr val="9E9E9E"/>
                </a:solidFill>
                <a:latin typeface="Tahoma"/>
                <a:cs typeface="Tahoma"/>
              </a:rPr>
              <a:t>ofi</a:t>
            </a:r>
            <a:r>
              <a:rPr sz="1067" spc="7" dirty="0">
                <a:solidFill>
                  <a:srgbClr val="9E9E9E"/>
                </a:solidFill>
                <a:latin typeface="Tahoma"/>
                <a:cs typeface="Tahoma"/>
              </a:rPr>
              <a:t> </a:t>
            </a:r>
            <a:r>
              <a:rPr sz="1067" dirty="0">
                <a:solidFill>
                  <a:srgbClr val="9E9E9E"/>
                </a:solidFill>
                <a:latin typeface="Tahoma"/>
                <a:cs typeface="Tahoma"/>
              </a:rPr>
              <a:t>teacher-student</a:t>
            </a:r>
            <a:r>
              <a:rPr sz="1067" spc="13" dirty="0">
                <a:solidFill>
                  <a:srgbClr val="9E9E9E"/>
                </a:solidFill>
                <a:latin typeface="Tahoma"/>
                <a:cs typeface="Tahoma"/>
              </a:rPr>
              <a:t> </a:t>
            </a:r>
            <a:r>
              <a:rPr sz="1067" dirty="0">
                <a:solidFill>
                  <a:srgbClr val="9E9E9E"/>
                </a:solidFill>
                <a:latin typeface="Tahoma"/>
                <a:cs typeface="Tahoma"/>
              </a:rPr>
              <a:t>knowledge</a:t>
            </a:r>
            <a:r>
              <a:rPr sz="1067" spc="13" dirty="0">
                <a:solidFill>
                  <a:srgbClr val="9E9E9E"/>
                </a:solidFill>
                <a:latin typeface="Tahoma"/>
                <a:cs typeface="Tahoma"/>
              </a:rPr>
              <a:t> </a:t>
            </a:r>
            <a:r>
              <a:rPr sz="1067" dirty="0">
                <a:solidFill>
                  <a:srgbClr val="9E9E9E"/>
                </a:solidFill>
                <a:latin typeface="Tahoma"/>
                <a:cs typeface="Tahoma"/>
              </a:rPr>
              <a:t>distillation</a:t>
            </a:r>
            <a:r>
              <a:rPr sz="1067" spc="13" dirty="0">
                <a:solidFill>
                  <a:srgbClr val="9E9E9E"/>
                </a:solidFill>
                <a:latin typeface="Tahoma"/>
                <a:cs typeface="Tahoma"/>
              </a:rPr>
              <a:t> </a:t>
            </a:r>
            <a:r>
              <a:rPr sz="1067" spc="-13" dirty="0">
                <a:solidFill>
                  <a:srgbClr val="9E9E9E"/>
                </a:solidFill>
                <a:latin typeface="Tahoma"/>
                <a:cs typeface="Tahoma"/>
              </a:rPr>
              <a:t>training.</a:t>
            </a:r>
            <a:r>
              <a:rPr sz="1067" spc="7" dirty="0">
                <a:solidFill>
                  <a:srgbClr val="9E9E9E"/>
                </a:solidFill>
                <a:latin typeface="Tahoma"/>
                <a:cs typeface="Tahoma"/>
              </a:rPr>
              <a:t> </a:t>
            </a:r>
            <a:r>
              <a:rPr sz="1067" spc="-27" dirty="0">
                <a:solidFill>
                  <a:srgbClr val="9E9E9E"/>
                </a:solidFill>
                <a:latin typeface="Tahoma"/>
                <a:cs typeface="Tahoma"/>
              </a:rPr>
              <a:t>(Image</a:t>
            </a:r>
            <a:r>
              <a:rPr sz="1067" spc="13" dirty="0">
                <a:solidFill>
                  <a:srgbClr val="9E9E9E"/>
                </a:solidFill>
                <a:latin typeface="Tahoma"/>
                <a:cs typeface="Tahoma"/>
              </a:rPr>
              <a:t> </a:t>
            </a:r>
            <a:r>
              <a:rPr sz="1067" spc="-13" dirty="0">
                <a:solidFill>
                  <a:srgbClr val="9E9E9E"/>
                </a:solidFill>
                <a:latin typeface="Tahoma"/>
                <a:cs typeface="Tahoma"/>
              </a:rPr>
              <a:t>source:</a:t>
            </a:r>
            <a:r>
              <a:rPr sz="1067" spc="-53" dirty="0">
                <a:solidFill>
                  <a:srgbClr val="9E9E9E"/>
                </a:solidFill>
                <a:latin typeface="Tahoma"/>
                <a:cs typeface="Tahoma"/>
              </a:rPr>
              <a:t> </a:t>
            </a:r>
            <a:r>
              <a:rPr sz="1067" u="sng" dirty="0">
                <a:solidFill>
                  <a:srgbClr val="9E9E9E"/>
                </a:solidFill>
                <a:uFill>
                  <a:solidFill>
                    <a:srgbClr val="9E9E9E"/>
                  </a:solidFill>
                </a:uFill>
                <a:latin typeface="Tahoma"/>
                <a:cs typeface="Tahoma"/>
              </a:rPr>
              <a:t>Gou</a:t>
            </a:r>
            <a:r>
              <a:rPr sz="1067" u="sng" spc="13" dirty="0">
                <a:solidFill>
                  <a:srgbClr val="9E9E9E"/>
                </a:solidFill>
                <a:uFill>
                  <a:solidFill>
                    <a:srgbClr val="9E9E9E"/>
                  </a:solidFill>
                </a:uFill>
                <a:latin typeface="Tahoma"/>
                <a:cs typeface="Tahoma"/>
              </a:rPr>
              <a:t> </a:t>
            </a:r>
            <a:r>
              <a:rPr sz="1067" u="sng" dirty="0">
                <a:solidFill>
                  <a:srgbClr val="9E9E9E"/>
                </a:solidFill>
                <a:uFill>
                  <a:solidFill>
                    <a:srgbClr val="9E9E9E"/>
                  </a:solidFill>
                </a:uFill>
                <a:latin typeface="Tahoma"/>
                <a:cs typeface="Tahoma"/>
              </a:rPr>
              <a:t>et</a:t>
            </a:r>
            <a:r>
              <a:rPr sz="1067" u="sng" spc="7" dirty="0">
                <a:solidFill>
                  <a:srgbClr val="9E9E9E"/>
                </a:solidFill>
                <a:uFill>
                  <a:solidFill>
                    <a:srgbClr val="9E9E9E"/>
                  </a:solidFill>
                </a:uFill>
                <a:latin typeface="Tahoma"/>
                <a:cs typeface="Tahoma"/>
              </a:rPr>
              <a:t> </a:t>
            </a:r>
            <a:r>
              <a:rPr sz="1067" u="sng" spc="-40" dirty="0">
                <a:solidFill>
                  <a:srgbClr val="9E9E9E"/>
                </a:solidFill>
                <a:uFill>
                  <a:solidFill>
                    <a:srgbClr val="9E9E9E"/>
                  </a:solidFill>
                </a:uFill>
                <a:latin typeface="Tahoma"/>
                <a:cs typeface="Tahoma"/>
              </a:rPr>
              <a:t>al.</a:t>
            </a:r>
            <a:r>
              <a:rPr sz="1067" u="sng" spc="13" dirty="0">
                <a:solidFill>
                  <a:srgbClr val="9E9E9E"/>
                </a:solidFill>
                <a:uFill>
                  <a:solidFill>
                    <a:srgbClr val="9E9E9E"/>
                  </a:solidFill>
                </a:uFill>
                <a:latin typeface="Tahoma"/>
                <a:cs typeface="Tahoma"/>
              </a:rPr>
              <a:t> </a:t>
            </a:r>
            <a:r>
              <a:rPr sz="1067" u="sng" spc="-13" dirty="0">
                <a:solidFill>
                  <a:srgbClr val="9E9E9E"/>
                </a:solidFill>
                <a:uFill>
                  <a:solidFill>
                    <a:srgbClr val="9E9E9E"/>
                  </a:solidFill>
                </a:uFill>
                <a:latin typeface="Tahoma"/>
                <a:cs typeface="Tahoma"/>
              </a:rPr>
              <a:t>2020</a:t>
            </a:r>
            <a:r>
              <a:rPr sz="1067" spc="-13" dirty="0">
                <a:solidFill>
                  <a:srgbClr val="9E9E9E"/>
                </a:solidFill>
                <a:latin typeface="Tahoma"/>
                <a:cs typeface="Tahoma"/>
              </a:rPr>
              <a:t>)</a:t>
            </a:r>
            <a:endParaRPr sz="1067">
              <a:latin typeface="Tahoma"/>
              <a:cs typeface="Tahoma"/>
            </a:endParaRPr>
          </a:p>
        </p:txBody>
      </p:sp>
      <p:sp>
        <p:nvSpPr>
          <p:cNvPr id="5" name="object 5"/>
          <p:cNvSpPr txBox="1"/>
          <p:nvPr/>
        </p:nvSpPr>
        <p:spPr>
          <a:xfrm>
            <a:off x="1191364" y="5489554"/>
            <a:ext cx="9949179" cy="591743"/>
          </a:xfrm>
          <a:prstGeom prst="rect">
            <a:avLst/>
          </a:prstGeom>
        </p:spPr>
        <p:txBody>
          <a:bodyPr vert="horz" wrap="square" lIns="0" tIns="16933" rIns="0" bIns="0" rtlCol="0">
            <a:spAutoFit/>
          </a:bodyPr>
          <a:lstStyle/>
          <a:p>
            <a:pPr marL="16933" marR="6773">
              <a:spcBef>
                <a:spcPts val="133"/>
              </a:spcBef>
            </a:pPr>
            <a:r>
              <a:rPr sz="1867" b="1" spc="-40" dirty="0">
                <a:solidFill>
                  <a:srgbClr val="202124"/>
                </a:solidFill>
                <a:latin typeface="Tahoma"/>
                <a:cs typeface="Tahoma"/>
              </a:rPr>
              <a:t>Goal</a:t>
            </a:r>
            <a:r>
              <a:rPr sz="1867" spc="-40" dirty="0">
                <a:solidFill>
                  <a:srgbClr val="202124"/>
                </a:solidFill>
                <a:latin typeface="Tahoma"/>
                <a:cs typeface="Tahoma"/>
              </a:rPr>
              <a:t>:</a:t>
            </a:r>
            <a:r>
              <a:rPr sz="1867" spc="-47" dirty="0">
                <a:solidFill>
                  <a:srgbClr val="202124"/>
                </a:solidFill>
                <a:latin typeface="Tahoma"/>
                <a:cs typeface="Tahoma"/>
              </a:rPr>
              <a:t> </a:t>
            </a:r>
            <a:r>
              <a:rPr sz="1867" dirty="0">
                <a:solidFill>
                  <a:srgbClr val="202124"/>
                </a:solidFill>
                <a:latin typeface="Tahoma"/>
                <a:cs typeface="Tahoma"/>
              </a:rPr>
              <a:t>Transfer</a:t>
            </a:r>
            <a:r>
              <a:rPr sz="1867" spc="-40" dirty="0">
                <a:solidFill>
                  <a:srgbClr val="202124"/>
                </a:solidFill>
                <a:latin typeface="Tahoma"/>
                <a:cs typeface="Tahoma"/>
              </a:rPr>
              <a:t> </a:t>
            </a:r>
            <a:r>
              <a:rPr sz="1867" dirty="0">
                <a:solidFill>
                  <a:srgbClr val="202124"/>
                </a:solidFill>
                <a:latin typeface="Tahoma"/>
                <a:cs typeface="Tahoma"/>
              </a:rPr>
              <a:t>knowledge</a:t>
            </a:r>
            <a:r>
              <a:rPr sz="1867" spc="-40" dirty="0">
                <a:solidFill>
                  <a:srgbClr val="202124"/>
                </a:solidFill>
                <a:latin typeface="Tahoma"/>
                <a:cs typeface="Tahoma"/>
              </a:rPr>
              <a:t> </a:t>
            </a:r>
            <a:r>
              <a:rPr sz="1867" dirty="0">
                <a:solidFill>
                  <a:srgbClr val="202124"/>
                </a:solidFill>
                <a:latin typeface="Tahoma"/>
                <a:cs typeface="Tahoma"/>
              </a:rPr>
              <a:t>from</a:t>
            </a:r>
            <a:r>
              <a:rPr sz="1867" spc="-60" dirty="0">
                <a:solidFill>
                  <a:srgbClr val="202124"/>
                </a:solidFill>
                <a:latin typeface="Tahoma"/>
                <a:cs typeface="Tahoma"/>
              </a:rPr>
              <a:t> </a:t>
            </a:r>
            <a:r>
              <a:rPr sz="1867" b="1" spc="-47" dirty="0">
                <a:solidFill>
                  <a:srgbClr val="EA4335"/>
                </a:solidFill>
                <a:latin typeface="Tahoma"/>
                <a:cs typeface="Tahoma"/>
              </a:rPr>
              <a:t>expensive</a:t>
            </a:r>
            <a:r>
              <a:rPr sz="1867" b="1" spc="-7" dirty="0">
                <a:solidFill>
                  <a:srgbClr val="EA4335"/>
                </a:solidFill>
                <a:latin typeface="Tahoma"/>
                <a:cs typeface="Tahoma"/>
              </a:rPr>
              <a:t> </a:t>
            </a:r>
            <a:r>
              <a:rPr sz="1867" b="1" spc="-27" dirty="0">
                <a:solidFill>
                  <a:srgbClr val="EA4335"/>
                </a:solidFill>
                <a:latin typeface="Tahoma"/>
                <a:cs typeface="Tahoma"/>
              </a:rPr>
              <a:t>teacher </a:t>
            </a:r>
            <a:r>
              <a:rPr sz="1867" dirty="0">
                <a:solidFill>
                  <a:srgbClr val="202124"/>
                </a:solidFill>
                <a:latin typeface="Tahoma"/>
                <a:cs typeface="Tahoma"/>
              </a:rPr>
              <a:t>model(s)</a:t>
            </a:r>
            <a:r>
              <a:rPr sz="1867" spc="-40" dirty="0">
                <a:solidFill>
                  <a:srgbClr val="202124"/>
                </a:solidFill>
                <a:latin typeface="Tahoma"/>
                <a:cs typeface="Tahoma"/>
              </a:rPr>
              <a:t> </a:t>
            </a:r>
            <a:r>
              <a:rPr sz="1867" dirty="0">
                <a:solidFill>
                  <a:srgbClr val="202124"/>
                </a:solidFill>
                <a:latin typeface="Tahoma"/>
                <a:cs typeface="Tahoma"/>
              </a:rPr>
              <a:t>into</a:t>
            </a:r>
            <a:r>
              <a:rPr sz="1867" spc="-40" dirty="0">
                <a:solidFill>
                  <a:srgbClr val="202124"/>
                </a:solidFill>
                <a:latin typeface="Tahoma"/>
                <a:cs typeface="Tahoma"/>
              </a:rPr>
              <a:t> </a:t>
            </a:r>
            <a:r>
              <a:rPr sz="1867" dirty="0">
                <a:solidFill>
                  <a:srgbClr val="202124"/>
                </a:solidFill>
                <a:latin typeface="Tahoma"/>
                <a:cs typeface="Tahoma"/>
              </a:rPr>
              <a:t>a</a:t>
            </a:r>
            <a:r>
              <a:rPr sz="1867" spc="-53" dirty="0">
                <a:solidFill>
                  <a:srgbClr val="202124"/>
                </a:solidFill>
                <a:latin typeface="Tahoma"/>
                <a:cs typeface="Tahoma"/>
              </a:rPr>
              <a:t> </a:t>
            </a:r>
            <a:r>
              <a:rPr sz="1867" b="1" spc="-73" dirty="0">
                <a:solidFill>
                  <a:srgbClr val="93C47D"/>
                </a:solidFill>
                <a:latin typeface="Tahoma"/>
                <a:cs typeface="Tahoma"/>
              </a:rPr>
              <a:t>smaller*</a:t>
            </a:r>
            <a:r>
              <a:rPr sz="1867" b="1" spc="-7" dirty="0">
                <a:solidFill>
                  <a:srgbClr val="93C47D"/>
                </a:solidFill>
                <a:latin typeface="Tahoma"/>
                <a:cs typeface="Tahoma"/>
              </a:rPr>
              <a:t> </a:t>
            </a:r>
            <a:r>
              <a:rPr sz="1867" b="1" spc="-33" dirty="0">
                <a:solidFill>
                  <a:srgbClr val="93C47D"/>
                </a:solidFill>
                <a:latin typeface="Tahoma"/>
                <a:cs typeface="Tahoma"/>
              </a:rPr>
              <a:t>student</a:t>
            </a:r>
            <a:r>
              <a:rPr sz="1867" b="1" spc="-27" dirty="0">
                <a:solidFill>
                  <a:srgbClr val="93C47D"/>
                </a:solidFill>
                <a:latin typeface="Tahoma"/>
                <a:cs typeface="Tahoma"/>
              </a:rPr>
              <a:t> </a:t>
            </a:r>
            <a:r>
              <a:rPr sz="1867" spc="-13" dirty="0">
                <a:solidFill>
                  <a:srgbClr val="202124"/>
                </a:solidFill>
                <a:latin typeface="Tahoma"/>
                <a:cs typeface="Tahoma"/>
              </a:rPr>
              <a:t>model, </a:t>
            </a:r>
            <a:r>
              <a:rPr sz="1867" dirty="0">
                <a:solidFill>
                  <a:srgbClr val="202124"/>
                </a:solidFill>
                <a:latin typeface="Tahoma"/>
                <a:cs typeface="Tahoma"/>
              </a:rPr>
              <a:t>while</a:t>
            </a:r>
            <a:r>
              <a:rPr sz="1867" spc="-20" dirty="0">
                <a:solidFill>
                  <a:srgbClr val="202124"/>
                </a:solidFill>
                <a:latin typeface="Tahoma"/>
                <a:cs typeface="Tahoma"/>
              </a:rPr>
              <a:t> </a:t>
            </a:r>
            <a:r>
              <a:rPr sz="1867" dirty="0">
                <a:solidFill>
                  <a:srgbClr val="202124"/>
                </a:solidFill>
                <a:latin typeface="Tahoma"/>
                <a:cs typeface="Tahoma"/>
              </a:rPr>
              <a:t>retaining</a:t>
            </a:r>
            <a:r>
              <a:rPr sz="1867" spc="-13" dirty="0">
                <a:solidFill>
                  <a:srgbClr val="202124"/>
                </a:solidFill>
                <a:latin typeface="Tahoma"/>
                <a:cs typeface="Tahoma"/>
              </a:rPr>
              <a:t> capabilities.</a:t>
            </a:r>
            <a:endParaRPr sz="1867" dirty="0">
              <a:latin typeface="Tahoma"/>
              <a:cs typeface="Tahoma"/>
            </a:endParaRPr>
          </a:p>
        </p:txBody>
      </p:sp>
      <p:sp>
        <p:nvSpPr>
          <p:cNvPr id="6" name="object 6"/>
          <p:cNvSpPr txBox="1"/>
          <p:nvPr/>
        </p:nvSpPr>
        <p:spPr>
          <a:xfrm>
            <a:off x="3651485" y="6264226"/>
            <a:ext cx="6176433" cy="181310"/>
          </a:xfrm>
          <a:prstGeom prst="rect">
            <a:avLst/>
          </a:prstGeom>
        </p:spPr>
        <p:txBody>
          <a:bodyPr vert="horz" wrap="square" lIns="0" tIns="16933" rIns="0" bIns="0" rtlCol="0">
            <a:spAutoFit/>
          </a:bodyPr>
          <a:lstStyle/>
          <a:p>
            <a:pPr marL="16933">
              <a:spcBef>
                <a:spcPts val="133"/>
              </a:spcBef>
            </a:pPr>
            <a:r>
              <a:rPr sz="1067" b="1" dirty="0">
                <a:solidFill>
                  <a:srgbClr val="202124"/>
                </a:solidFill>
                <a:latin typeface="Tahoma"/>
                <a:cs typeface="Tahoma"/>
              </a:rPr>
              <a:t>*</a:t>
            </a:r>
            <a:r>
              <a:rPr sz="1067" u="sng" dirty="0">
                <a:solidFill>
                  <a:srgbClr val="0097A7"/>
                </a:solidFill>
                <a:uFill>
                  <a:solidFill>
                    <a:srgbClr val="0097A7"/>
                  </a:solidFill>
                </a:uFill>
                <a:latin typeface="Tahoma"/>
                <a:cs typeface="Tahoma"/>
              </a:rPr>
              <a:t>Self</a:t>
            </a:r>
            <a:r>
              <a:rPr sz="1067" dirty="0">
                <a:solidFill>
                  <a:srgbClr val="202124"/>
                </a:solidFill>
                <a:latin typeface="Tahoma"/>
                <a:cs typeface="Tahoma"/>
              </a:rPr>
              <a:t>-</a:t>
            </a:r>
            <a:r>
              <a:rPr sz="1067" u="sng" dirty="0">
                <a:solidFill>
                  <a:srgbClr val="0097A7"/>
                </a:solidFill>
                <a:uFill>
                  <a:solidFill>
                    <a:srgbClr val="0097A7"/>
                  </a:solidFill>
                </a:uFill>
                <a:latin typeface="Tahoma"/>
                <a:cs typeface="Tahoma"/>
              </a:rPr>
              <a:t>distillation</a:t>
            </a:r>
            <a:r>
              <a:rPr sz="1067" spc="27" dirty="0">
                <a:solidFill>
                  <a:srgbClr val="0097A7"/>
                </a:solidFill>
                <a:latin typeface="Tahoma"/>
                <a:cs typeface="Tahoma"/>
              </a:rPr>
              <a:t> </a:t>
            </a:r>
            <a:r>
              <a:rPr sz="1067" dirty="0">
                <a:solidFill>
                  <a:srgbClr val="202124"/>
                </a:solidFill>
                <a:latin typeface="Tahoma"/>
                <a:cs typeface="Tahoma"/>
              </a:rPr>
              <a:t>uses</a:t>
            </a:r>
            <a:r>
              <a:rPr sz="1067" spc="33" dirty="0">
                <a:solidFill>
                  <a:srgbClr val="202124"/>
                </a:solidFill>
                <a:latin typeface="Tahoma"/>
                <a:cs typeface="Tahoma"/>
              </a:rPr>
              <a:t> </a:t>
            </a:r>
            <a:r>
              <a:rPr sz="1067" dirty="0">
                <a:solidFill>
                  <a:srgbClr val="202124"/>
                </a:solidFill>
                <a:latin typeface="Tahoma"/>
                <a:cs typeface="Tahoma"/>
              </a:rPr>
              <a:t>the</a:t>
            </a:r>
            <a:r>
              <a:rPr sz="1067" spc="33" dirty="0">
                <a:solidFill>
                  <a:srgbClr val="202124"/>
                </a:solidFill>
                <a:latin typeface="Tahoma"/>
                <a:cs typeface="Tahoma"/>
              </a:rPr>
              <a:t> </a:t>
            </a:r>
            <a:r>
              <a:rPr sz="1067" dirty="0">
                <a:solidFill>
                  <a:srgbClr val="202124"/>
                </a:solidFill>
                <a:latin typeface="Tahoma"/>
                <a:cs typeface="Tahoma"/>
              </a:rPr>
              <a:t>same-sized</a:t>
            </a:r>
            <a:r>
              <a:rPr sz="1067" spc="33" dirty="0">
                <a:solidFill>
                  <a:srgbClr val="202124"/>
                </a:solidFill>
                <a:latin typeface="Tahoma"/>
                <a:cs typeface="Tahoma"/>
              </a:rPr>
              <a:t> </a:t>
            </a:r>
            <a:r>
              <a:rPr sz="1067" dirty="0">
                <a:solidFill>
                  <a:srgbClr val="202124"/>
                </a:solidFill>
                <a:latin typeface="Tahoma"/>
                <a:cs typeface="Tahoma"/>
              </a:rPr>
              <a:t>student</a:t>
            </a:r>
            <a:r>
              <a:rPr sz="1067" spc="33" dirty="0">
                <a:solidFill>
                  <a:srgbClr val="202124"/>
                </a:solidFill>
                <a:latin typeface="Tahoma"/>
                <a:cs typeface="Tahoma"/>
              </a:rPr>
              <a:t> </a:t>
            </a:r>
            <a:r>
              <a:rPr sz="1067" dirty="0">
                <a:solidFill>
                  <a:srgbClr val="202124"/>
                </a:solidFill>
                <a:latin typeface="Tahoma"/>
                <a:cs typeface="Tahoma"/>
              </a:rPr>
              <a:t>and</a:t>
            </a:r>
            <a:r>
              <a:rPr sz="1067" spc="33" dirty="0">
                <a:solidFill>
                  <a:srgbClr val="202124"/>
                </a:solidFill>
                <a:latin typeface="Tahoma"/>
                <a:cs typeface="Tahoma"/>
              </a:rPr>
              <a:t> </a:t>
            </a:r>
            <a:r>
              <a:rPr sz="1067" dirty="0">
                <a:solidFill>
                  <a:srgbClr val="202124"/>
                </a:solidFill>
                <a:latin typeface="Tahoma"/>
                <a:cs typeface="Tahoma"/>
              </a:rPr>
              <a:t>teacher,</a:t>
            </a:r>
            <a:r>
              <a:rPr sz="1067" spc="33" dirty="0">
                <a:solidFill>
                  <a:srgbClr val="202124"/>
                </a:solidFill>
                <a:latin typeface="Tahoma"/>
                <a:cs typeface="Tahoma"/>
              </a:rPr>
              <a:t> </a:t>
            </a:r>
            <a:r>
              <a:rPr sz="1067" dirty="0">
                <a:solidFill>
                  <a:srgbClr val="202124"/>
                </a:solidFill>
                <a:latin typeface="Tahoma"/>
                <a:cs typeface="Tahoma"/>
              </a:rPr>
              <a:t>and</a:t>
            </a:r>
            <a:r>
              <a:rPr sz="1067" spc="33" dirty="0">
                <a:solidFill>
                  <a:srgbClr val="202124"/>
                </a:solidFill>
                <a:latin typeface="Tahoma"/>
                <a:cs typeface="Tahoma"/>
              </a:rPr>
              <a:t> </a:t>
            </a:r>
            <a:r>
              <a:rPr sz="1067" dirty="0">
                <a:solidFill>
                  <a:srgbClr val="202124"/>
                </a:solidFill>
                <a:latin typeface="Tahoma"/>
                <a:cs typeface="Tahoma"/>
              </a:rPr>
              <a:t>can</a:t>
            </a:r>
            <a:r>
              <a:rPr sz="1067" spc="33" dirty="0">
                <a:solidFill>
                  <a:srgbClr val="202124"/>
                </a:solidFill>
                <a:latin typeface="Tahoma"/>
                <a:cs typeface="Tahoma"/>
              </a:rPr>
              <a:t> </a:t>
            </a:r>
            <a:r>
              <a:rPr sz="1067" dirty="0">
                <a:solidFill>
                  <a:srgbClr val="202124"/>
                </a:solidFill>
                <a:latin typeface="Tahoma"/>
                <a:cs typeface="Tahoma"/>
              </a:rPr>
              <a:t>still</a:t>
            </a:r>
            <a:r>
              <a:rPr sz="1067" spc="27" dirty="0">
                <a:solidFill>
                  <a:srgbClr val="202124"/>
                </a:solidFill>
                <a:latin typeface="Tahoma"/>
                <a:cs typeface="Tahoma"/>
              </a:rPr>
              <a:t> </a:t>
            </a:r>
            <a:r>
              <a:rPr sz="1067" dirty="0">
                <a:solidFill>
                  <a:srgbClr val="202124"/>
                </a:solidFill>
                <a:latin typeface="Tahoma"/>
                <a:cs typeface="Tahoma"/>
              </a:rPr>
              <a:t>result</a:t>
            </a:r>
            <a:r>
              <a:rPr sz="1067" spc="33" dirty="0">
                <a:solidFill>
                  <a:srgbClr val="202124"/>
                </a:solidFill>
                <a:latin typeface="Tahoma"/>
                <a:cs typeface="Tahoma"/>
              </a:rPr>
              <a:t> </a:t>
            </a:r>
            <a:r>
              <a:rPr sz="1067" dirty="0">
                <a:solidFill>
                  <a:srgbClr val="202124"/>
                </a:solidFill>
                <a:latin typeface="Tahoma"/>
                <a:cs typeface="Tahoma"/>
              </a:rPr>
              <a:t>in</a:t>
            </a:r>
            <a:r>
              <a:rPr sz="1067" spc="33" dirty="0">
                <a:solidFill>
                  <a:srgbClr val="202124"/>
                </a:solidFill>
                <a:latin typeface="Tahoma"/>
                <a:cs typeface="Tahoma"/>
              </a:rPr>
              <a:t> </a:t>
            </a:r>
            <a:r>
              <a:rPr sz="1067" dirty="0">
                <a:solidFill>
                  <a:srgbClr val="202124"/>
                </a:solidFill>
                <a:latin typeface="Tahoma"/>
                <a:cs typeface="Tahoma"/>
              </a:rPr>
              <a:t>befler</a:t>
            </a:r>
            <a:r>
              <a:rPr sz="1067" spc="33" dirty="0">
                <a:solidFill>
                  <a:srgbClr val="202124"/>
                </a:solidFill>
                <a:latin typeface="Tahoma"/>
                <a:cs typeface="Tahoma"/>
              </a:rPr>
              <a:t> </a:t>
            </a:r>
            <a:r>
              <a:rPr sz="1067" spc="-13" dirty="0">
                <a:solidFill>
                  <a:srgbClr val="202124"/>
                </a:solidFill>
                <a:latin typeface="Tahoma"/>
                <a:cs typeface="Tahoma"/>
              </a:rPr>
              <a:t>performance.</a:t>
            </a:r>
            <a:endParaRPr sz="1067" dirty="0">
              <a:latin typeface="Tahoma"/>
              <a:cs typeface="Tahoma"/>
            </a:endParaRPr>
          </a:p>
        </p:txBody>
      </p:sp>
      <p:sp>
        <p:nvSpPr>
          <p:cNvPr id="8" name="TextBox 7">
            <a:extLst>
              <a:ext uri="{FF2B5EF4-FFF2-40B4-BE49-F238E27FC236}">
                <a16:creationId xmlns:a16="http://schemas.microsoft.com/office/drawing/2014/main" id="{BC534A1F-02C0-7639-355C-5A067E603523}"/>
              </a:ext>
            </a:extLst>
          </p:cNvPr>
          <p:cNvSpPr txBox="1"/>
          <p:nvPr/>
        </p:nvSpPr>
        <p:spPr>
          <a:xfrm>
            <a:off x="0" y="6588186"/>
            <a:ext cx="8356615" cy="246221"/>
          </a:xfrm>
          <a:prstGeom prst="rect">
            <a:avLst/>
          </a:prstGeom>
          <a:noFill/>
        </p:spPr>
        <p:txBody>
          <a:bodyPr wrap="square">
            <a:spAutoFit/>
          </a:bodyPr>
          <a:lstStyle/>
          <a:p>
            <a:r>
              <a:rPr lang="en-IN" sz="1000" dirty="0"/>
              <a:t>Credits : Rishabh Agarwal, https://www.youtube.com/watch?v=O1AR4iL30mg</a:t>
            </a:r>
          </a:p>
        </p:txBody>
      </p:sp>
    </p:spTree>
    <p:extLst>
      <p:ext uri="{BB962C8B-B14F-4D97-AF65-F5344CB8AC3E}">
        <p14:creationId xmlns:p14="http://schemas.microsoft.com/office/powerpoint/2010/main" val="32465227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8615B-2125-2085-EEF4-E07E0DEB2184}"/>
              </a:ext>
            </a:extLst>
          </p:cNvPr>
          <p:cNvSpPr>
            <a:spLocks noGrp="1"/>
          </p:cNvSpPr>
          <p:nvPr>
            <p:ph type="title"/>
          </p:nvPr>
        </p:nvSpPr>
        <p:spPr/>
        <p:txBody>
          <a:bodyPr/>
          <a:lstStyle/>
          <a:p>
            <a:r>
              <a:rPr lang="en-IN" sz="4000" dirty="0">
                <a:solidFill>
                  <a:schemeClr val="tx1"/>
                </a:solidFill>
              </a:rPr>
              <a:t>Distillation: teach a small model from a big one</a:t>
            </a:r>
            <a:br>
              <a:rPr lang="en-IN" sz="4000" dirty="0">
                <a:solidFill>
                  <a:schemeClr val="tx1"/>
                </a:solidFill>
              </a:rPr>
            </a:br>
            <a:endParaRPr lang="en-IN" b="1" dirty="0"/>
          </a:p>
        </p:txBody>
      </p:sp>
      <p:sp>
        <p:nvSpPr>
          <p:cNvPr id="3" name="Text Placeholder 2">
            <a:extLst>
              <a:ext uri="{FF2B5EF4-FFF2-40B4-BE49-F238E27FC236}">
                <a16:creationId xmlns:a16="http://schemas.microsoft.com/office/drawing/2014/main" id="{4ACB9872-A019-CAB9-A76D-F047B7EB2161}"/>
              </a:ext>
            </a:extLst>
          </p:cNvPr>
          <p:cNvSpPr>
            <a:spLocks noGrp="1"/>
          </p:cNvSpPr>
          <p:nvPr>
            <p:ph type="body" idx="1"/>
          </p:nvPr>
        </p:nvSpPr>
        <p:spPr>
          <a:xfrm>
            <a:off x="135733" y="1541647"/>
            <a:ext cx="11558961" cy="5196038"/>
          </a:xfrm>
        </p:spPr>
        <p:txBody>
          <a:bodyPr vert="horz" lIns="0" tIns="0" rIns="0" bIns="0" rtlCol="0">
            <a:normAutofit fontScale="92500" lnSpcReduction="10000"/>
          </a:bodyPr>
          <a:lstStyle/>
          <a:p>
            <a:pPr marL="342900" indent="-342900">
              <a:buFont typeface="Arial" panose="020B0604020202020204" pitchFamily="34" charset="0"/>
              <a:buChar char="•"/>
            </a:pPr>
            <a:r>
              <a:rPr lang="en-IN" b="0" dirty="0">
                <a:solidFill>
                  <a:schemeClr val="tx1"/>
                </a:solidFill>
                <a:latin typeface="+mn-lt"/>
              </a:rPr>
              <a:t>Concept. A large teacher model produces outputs (or output distributions) that the student learns to mimic. The student ends up smaller, cheaper, and specialized to the teacher's </a:t>
            </a:r>
            <a:r>
              <a:rPr lang="en-IN" b="0" dirty="0" err="1">
                <a:solidFill>
                  <a:schemeClr val="tx1"/>
                </a:solidFill>
                <a:latin typeface="+mn-lt"/>
              </a:rPr>
              <a:t>behavior</a:t>
            </a:r>
            <a:r>
              <a:rPr lang="en-IN" b="0" dirty="0">
                <a:solidFill>
                  <a:schemeClr val="tx1"/>
                </a:solidFill>
                <a:latin typeface="+mn-lt"/>
              </a:rPr>
              <a:t> on a specific task.</a:t>
            </a:r>
          </a:p>
          <a:p>
            <a:pPr marL="342900" indent="-342900">
              <a:buFont typeface="Arial" panose="020B0604020202020204" pitchFamily="34" charset="0"/>
              <a:buChar char="•"/>
            </a:pPr>
            <a:r>
              <a:rPr lang="en-IN" b="0" dirty="0">
                <a:solidFill>
                  <a:schemeClr val="tx1"/>
                </a:solidFill>
                <a:latin typeface="+mn-lt"/>
              </a:rPr>
              <a:t>Two </a:t>
            </a:r>
            <a:r>
              <a:rPr lang="en-IN" b="0" dirty="0" err="1">
                <a:solidFill>
                  <a:schemeClr val="tx1"/>
                </a:solidFill>
                <a:latin typeface="+mn-lt"/>
              </a:rPr>
              <a:t>flavors</a:t>
            </a:r>
            <a:r>
              <a:rPr lang="en-IN" b="0" dirty="0">
                <a:solidFill>
                  <a:schemeClr val="tx1"/>
                </a:solidFill>
                <a:latin typeface="+mn-lt"/>
              </a:rPr>
              <a:t> in practice:</a:t>
            </a:r>
          </a:p>
          <a:p>
            <a:pPr marL="800100" lvl="1" indent="-342900">
              <a:buFont typeface="Arial" panose="020B0604020202020204" pitchFamily="34" charset="0"/>
              <a:buChar char="•"/>
            </a:pPr>
            <a:r>
              <a:rPr lang="en-IN" b="0" dirty="0">
                <a:solidFill>
                  <a:schemeClr val="tx1"/>
                </a:solidFill>
                <a:latin typeface="+mn-lt"/>
              </a:rPr>
              <a:t>Response distillation (what most teams actually do): teacher generates a dataset; student is fine-tuned on it with normal cross-entropy loss. No logit access required. Works with any teacher, including closed APIs (modulo terms of service).</a:t>
            </a:r>
          </a:p>
          <a:p>
            <a:pPr marL="800100" lvl="1" indent="-342900">
              <a:buFont typeface="Arial" panose="020B0604020202020204" pitchFamily="34" charset="0"/>
              <a:buChar char="•"/>
            </a:pPr>
            <a:r>
              <a:rPr lang="en-IN" b="0" dirty="0">
                <a:solidFill>
                  <a:schemeClr val="tx1"/>
                </a:solidFill>
                <a:latin typeface="+mn-lt"/>
              </a:rPr>
              <a:t>Logit distillation (classical Hinton): teacher's full probability distribution is matched by the student via KL divergence. Requires open access to teacher logits. Used in research and for creating new small base models.</a:t>
            </a:r>
          </a:p>
          <a:p>
            <a:pPr marL="342900" indent="-342900">
              <a:buFont typeface="Arial" panose="020B0604020202020204" pitchFamily="34" charset="0"/>
              <a:buChar char="•"/>
            </a:pPr>
            <a:r>
              <a:rPr lang="en-IN" b="0" dirty="0">
                <a:solidFill>
                  <a:schemeClr val="tx1"/>
                </a:solidFill>
                <a:latin typeface="+mn-lt"/>
              </a:rPr>
              <a:t>Real examples: Llama-3.2-1B and 3B were distilled from larger Llama models. DeepSeek-R1-Distill-Qwen/Llama variants. Gemma-2-2B from larger Gemma</a:t>
            </a:r>
          </a:p>
          <a:p>
            <a:pPr marL="342900" indent="-342900">
              <a:buFont typeface="Arial" panose="020B0604020202020204" pitchFamily="34" charset="0"/>
              <a:buChar char="•"/>
            </a:pPr>
            <a:r>
              <a:rPr lang="en-IN" b="0" dirty="0">
                <a:solidFill>
                  <a:schemeClr val="tx1"/>
                </a:solidFill>
                <a:latin typeface="+mn-lt"/>
              </a:rPr>
              <a:t>When to reach for distillation vs alternatives:</a:t>
            </a:r>
          </a:p>
          <a:p>
            <a:pPr marL="800100" lvl="1" indent="-342900">
              <a:buFont typeface="Arial" panose="020B0604020202020204" pitchFamily="34" charset="0"/>
              <a:buChar char="•"/>
            </a:pPr>
            <a:r>
              <a:rPr lang="en-IN" b="0" dirty="0">
                <a:solidFill>
                  <a:schemeClr val="tx1"/>
                </a:solidFill>
                <a:latin typeface="+mn-lt"/>
              </a:rPr>
              <a:t>You already have a working large model and want a cheap deployable version → distillation</a:t>
            </a:r>
          </a:p>
          <a:p>
            <a:pPr marL="800100" lvl="1" indent="-342900">
              <a:buFont typeface="Arial" panose="020B0604020202020204" pitchFamily="34" charset="0"/>
              <a:buChar char="•"/>
            </a:pPr>
            <a:r>
              <a:rPr lang="en-IN" b="0" dirty="0">
                <a:solidFill>
                  <a:schemeClr val="tx1"/>
                </a:solidFill>
                <a:latin typeface="+mn-lt"/>
              </a:rPr>
              <a:t>You don't have a teacher → fine-tune the small model directly with </a:t>
            </a:r>
            <a:r>
              <a:rPr lang="en-IN" b="0" dirty="0" err="1">
                <a:solidFill>
                  <a:schemeClr val="tx1"/>
                </a:solidFill>
                <a:latin typeface="+mn-lt"/>
              </a:rPr>
              <a:t>labeled</a:t>
            </a:r>
            <a:r>
              <a:rPr lang="en-IN" b="0" dirty="0">
                <a:solidFill>
                  <a:schemeClr val="tx1"/>
                </a:solidFill>
                <a:latin typeface="+mn-lt"/>
              </a:rPr>
              <a:t> data</a:t>
            </a:r>
          </a:p>
          <a:p>
            <a:pPr marL="800100" lvl="1" indent="-342900">
              <a:buFont typeface="Arial" panose="020B0604020202020204" pitchFamily="34" charset="0"/>
              <a:buChar char="•"/>
            </a:pPr>
            <a:r>
              <a:rPr lang="en-IN" b="0" dirty="0">
                <a:solidFill>
                  <a:schemeClr val="tx1"/>
                </a:solidFill>
                <a:latin typeface="+mn-lt"/>
              </a:rPr>
              <a:t>You want </a:t>
            </a:r>
            <a:r>
              <a:rPr lang="en-IN" b="0" dirty="0" err="1">
                <a:solidFill>
                  <a:schemeClr val="tx1"/>
                </a:solidFill>
                <a:latin typeface="+mn-lt"/>
              </a:rPr>
              <a:t>behavior</a:t>
            </a:r>
            <a:r>
              <a:rPr lang="en-IN" b="0" dirty="0">
                <a:solidFill>
                  <a:schemeClr val="tx1"/>
                </a:solidFill>
                <a:latin typeface="+mn-lt"/>
              </a:rPr>
              <a:t> change without retraining → prompt engineering or RAG (cheaper)</a:t>
            </a:r>
          </a:p>
          <a:p>
            <a:pPr marL="342900" indent="-342900">
              <a:buFont typeface="Arial" panose="020B0604020202020204" pitchFamily="34" charset="0"/>
              <a:buChar char="•"/>
            </a:pPr>
            <a:endParaRPr lang="en-IN" b="0" dirty="0">
              <a:solidFill>
                <a:schemeClr val="tx1"/>
              </a:solidFill>
              <a:latin typeface="+mn-lt"/>
            </a:endParaRPr>
          </a:p>
        </p:txBody>
      </p:sp>
    </p:spTree>
    <p:extLst>
      <p:ext uri="{BB962C8B-B14F-4D97-AF65-F5344CB8AC3E}">
        <p14:creationId xmlns:p14="http://schemas.microsoft.com/office/powerpoint/2010/main" val="17430636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3996" y="32850"/>
            <a:ext cx="8059681" cy="1061235"/>
          </a:xfrm>
          <a:prstGeom prst="rect">
            <a:avLst/>
          </a:prstGeom>
        </p:spPr>
        <p:txBody>
          <a:bodyPr vert="horz" lIns="91440" tIns="45720" rIns="91440" bIns="45720" rtlCol="0" anchor="ctr">
            <a:normAutofit/>
          </a:bodyPr>
          <a:lstStyle/>
          <a:p>
            <a:pPr algn="l"/>
            <a:r>
              <a:rPr sz="3600" dirty="0">
                <a:latin typeface="Cambria" panose="02040503050406030204" pitchFamily="18" charset="0"/>
                <a:cs typeface="+mj-cs"/>
              </a:rPr>
              <a:t>Distillation Using “Synthetic Data”</a:t>
            </a:r>
          </a:p>
        </p:txBody>
      </p:sp>
      <p:grpSp>
        <p:nvGrpSpPr>
          <p:cNvPr id="3" name="object 3"/>
          <p:cNvGrpSpPr/>
          <p:nvPr/>
        </p:nvGrpSpPr>
        <p:grpSpPr>
          <a:xfrm>
            <a:off x="1052467" y="2198515"/>
            <a:ext cx="6682740" cy="1216659"/>
            <a:chOff x="789350" y="1648886"/>
            <a:chExt cx="5012055" cy="912494"/>
          </a:xfrm>
        </p:grpSpPr>
        <p:pic>
          <p:nvPicPr>
            <p:cNvPr id="4" name="object 4"/>
            <p:cNvPicPr/>
            <p:nvPr/>
          </p:nvPicPr>
          <p:blipFill>
            <a:blip r:embed="rId2" cstate="print"/>
            <a:stretch>
              <a:fillRect/>
            </a:stretch>
          </p:blipFill>
          <p:spPr>
            <a:xfrm>
              <a:off x="3230452" y="1648886"/>
              <a:ext cx="2570847" cy="911936"/>
            </a:xfrm>
            <a:prstGeom prst="rect">
              <a:avLst/>
            </a:prstGeom>
          </p:spPr>
        </p:pic>
        <p:sp>
          <p:nvSpPr>
            <p:cNvPr id="5" name="object 5"/>
            <p:cNvSpPr/>
            <p:nvPr/>
          </p:nvSpPr>
          <p:spPr>
            <a:xfrm>
              <a:off x="2048749" y="2166497"/>
              <a:ext cx="1176655" cy="5080"/>
            </a:xfrm>
            <a:custGeom>
              <a:avLst/>
              <a:gdLst/>
              <a:ahLst/>
              <a:cxnLst/>
              <a:rect l="l" t="t" r="r" b="b"/>
              <a:pathLst>
                <a:path w="1176655" h="5080">
                  <a:moveTo>
                    <a:pt x="0" y="4577"/>
                  </a:moveTo>
                  <a:lnTo>
                    <a:pt x="1176449" y="0"/>
                  </a:lnTo>
                </a:path>
              </a:pathLst>
            </a:custGeom>
            <a:ln w="9524">
              <a:solidFill>
                <a:srgbClr val="595959"/>
              </a:solidFill>
            </a:ln>
          </p:spPr>
          <p:txBody>
            <a:bodyPr wrap="square" lIns="0" tIns="0" rIns="0" bIns="0" rtlCol="0"/>
            <a:lstStyle/>
            <a:p>
              <a:endParaRPr sz="2400"/>
            </a:p>
          </p:txBody>
        </p:sp>
        <p:sp>
          <p:nvSpPr>
            <p:cNvPr id="6" name="object 6"/>
            <p:cNvSpPr/>
            <p:nvPr/>
          </p:nvSpPr>
          <p:spPr>
            <a:xfrm>
              <a:off x="3225139" y="2150764"/>
              <a:ext cx="43815" cy="31750"/>
            </a:xfrm>
            <a:custGeom>
              <a:avLst/>
              <a:gdLst/>
              <a:ahLst/>
              <a:cxnLst/>
              <a:rect l="l" t="t" r="r" b="b"/>
              <a:pathLst>
                <a:path w="43814" h="31750">
                  <a:moveTo>
                    <a:pt x="122" y="31465"/>
                  </a:moveTo>
                  <a:lnTo>
                    <a:pt x="0" y="0"/>
                  </a:lnTo>
                  <a:lnTo>
                    <a:pt x="43284" y="15564"/>
                  </a:lnTo>
                  <a:lnTo>
                    <a:pt x="122" y="31465"/>
                  </a:lnTo>
                  <a:close/>
                </a:path>
              </a:pathLst>
            </a:custGeom>
            <a:solidFill>
              <a:srgbClr val="595959"/>
            </a:solidFill>
          </p:spPr>
          <p:txBody>
            <a:bodyPr wrap="square" lIns="0" tIns="0" rIns="0" bIns="0" rtlCol="0"/>
            <a:lstStyle/>
            <a:p>
              <a:endParaRPr sz="2400"/>
            </a:p>
          </p:txBody>
        </p:sp>
        <p:sp>
          <p:nvSpPr>
            <p:cNvPr id="7" name="object 7"/>
            <p:cNvSpPr/>
            <p:nvPr/>
          </p:nvSpPr>
          <p:spPr>
            <a:xfrm>
              <a:off x="3225139" y="2150764"/>
              <a:ext cx="43815" cy="31750"/>
            </a:xfrm>
            <a:custGeom>
              <a:avLst/>
              <a:gdLst/>
              <a:ahLst/>
              <a:cxnLst/>
              <a:rect l="l" t="t" r="r" b="b"/>
              <a:pathLst>
                <a:path w="43814" h="31750">
                  <a:moveTo>
                    <a:pt x="122" y="31465"/>
                  </a:moveTo>
                  <a:lnTo>
                    <a:pt x="43284" y="15564"/>
                  </a:lnTo>
                  <a:lnTo>
                    <a:pt x="0" y="0"/>
                  </a:lnTo>
                  <a:lnTo>
                    <a:pt x="122" y="31465"/>
                  </a:lnTo>
                  <a:close/>
                </a:path>
              </a:pathLst>
            </a:custGeom>
            <a:ln w="9524">
              <a:solidFill>
                <a:srgbClr val="595959"/>
              </a:solidFill>
            </a:ln>
          </p:spPr>
          <p:txBody>
            <a:bodyPr wrap="square" lIns="0" tIns="0" rIns="0" bIns="0" rtlCol="0"/>
            <a:lstStyle/>
            <a:p>
              <a:endParaRPr sz="2400"/>
            </a:p>
          </p:txBody>
        </p:sp>
        <p:pic>
          <p:nvPicPr>
            <p:cNvPr id="8" name="object 8"/>
            <p:cNvPicPr/>
            <p:nvPr/>
          </p:nvPicPr>
          <p:blipFill>
            <a:blip r:embed="rId3" cstate="print"/>
            <a:stretch>
              <a:fillRect/>
            </a:stretch>
          </p:blipFill>
          <p:spPr>
            <a:xfrm>
              <a:off x="789350" y="1957637"/>
              <a:ext cx="1259400" cy="422099"/>
            </a:xfrm>
            <a:prstGeom prst="rect">
              <a:avLst/>
            </a:prstGeom>
          </p:spPr>
        </p:pic>
      </p:grpSp>
      <p:pic>
        <p:nvPicPr>
          <p:cNvPr id="9" name="object 9"/>
          <p:cNvPicPr/>
          <p:nvPr/>
        </p:nvPicPr>
        <p:blipFill>
          <a:blip r:embed="rId4" cstate="print"/>
          <a:stretch>
            <a:fillRect/>
          </a:stretch>
        </p:blipFill>
        <p:spPr>
          <a:xfrm>
            <a:off x="7376488" y="4634100"/>
            <a:ext cx="2370800" cy="858424"/>
          </a:xfrm>
          <a:prstGeom prst="rect">
            <a:avLst/>
          </a:prstGeom>
        </p:spPr>
      </p:pic>
      <p:sp>
        <p:nvSpPr>
          <p:cNvPr id="10" name="object 10"/>
          <p:cNvSpPr txBox="1"/>
          <p:nvPr/>
        </p:nvSpPr>
        <p:spPr>
          <a:xfrm>
            <a:off x="1327846" y="2696712"/>
            <a:ext cx="1129453" cy="345330"/>
          </a:xfrm>
          <a:prstGeom prst="rect">
            <a:avLst/>
          </a:prstGeom>
        </p:spPr>
        <p:txBody>
          <a:bodyPr vert="horz" wrap="square" lIns="0" tIns="16933" rIns="0" bIns="0" rtlCol="0">
            <a:spAutoFit/>
          </a:bodyPr>
          <a:lstStyle/>
          <a:p>
            <a:pPr marL="16933">
              <a:spcBef>
                <a:spcPts val="133"/>
              </a:spcBef>
            </a:pPr>
            <a:r>
              <a:rPr sz="2133" b="1" spc="-53" dirty="0">
                <a:latin typeface="Tahoma"/>
                <a:cs typeface="Tahoma"/>
              </a:rPr>
              <a:t>Prompts</a:t>
            </a:r>
            <a:endParaRPr sz="2133">
              <a:latin typeface="Tahoma"/>
              <a:cs typeface="Tahoma"/>
            </a:endParaRPr>
          </a:p>
        </p:txBody>
      </p:sp>
      <p:sp>
        <p:nvSpPr>
          <p:cNvPr id="11" name="object 11"/>
          <p:cNvSpPr txBox="1"/>
          <p:nvPr/>
        </p:nvSpPr>
        <p:spPr>
          <a:xfrm>
            <a:off x="687566" y="2127759"/>
            <a:ext cx="2705100" cy="222219"/>
          </a:xfrm>
          <a:prstGeom prst="rect">
            <a:avLst/>
          </a:prstGeom>
        </p:spPr>
        <p:txBody>
          <a:bodyPr vert="horz" wrap="square" lIns="0" tIns="16933" rIns="0" bIns="0" rtlCol="0">
            <a:spAutoFit/>
          </a:bodyPr>
          <a:lstStyle/>
          <a:p>
            <a:pPr marL="16933">
              <a:spcBef>
                <a:spcPts val="133"/>
              </a:spcBef>
            </a:pPr>
            <a:r>
              <a:rPr sz="1333" spc="-47" dirty="0">
                <a:latin typeface="Tahoma"/>
                <a:cs typeface="Tahoma"/>
              </a:rPr>
              <a:t>e.g.,</a:t>
            </a:r>
            <a:r>
              <a:rPr sz="1333" spc="-13" dirty="0">
                <a:latin typeface="Tahoma"/>
                <a:cs typeface="Tahoma"/>
              </a:rPr>
              <a:t> </a:t>
            </a:r>
            <a:r>
              <a:rPr sz="1333" dirty="0">
                <a:latin typeface="Tahoma"/>
                <a:cs typeface="Tahoma"/>
              </a:rPr>
              <a:t>What</a:t>
            </a:r>
            <a:r>
              <a:rPr sz="1333" spc="-7" dirty="0">
                <a:latin typeface="Tahoma"/>
                <a:cs typeface="Tahoma"/>
              </a:rPr>
              <a:t> </a:t>
            </a:r>
            <a:r>
              <a:rPr sz="1333" dirty="0">
                <a:latin typeface="Tahoma"/>
                <a:cs typeface="Tahoma"/>
              </a:rPr>
              <a:t>is</a:t>
            </a:r>
            <a:r>
              <a:rPr sz="1333" spc="-7" dirty="0">
                <a:latin typeface="Tahoma"/>
                <a:cs typeface="Tahoma"/>
              </a:rPr>
              <a:t> </a:t>
            </a:r>
            <a:r>
              <a:rPr sz="1333" dirty="0">
                <a:latin typeface="Tahoma"/>
                <a:cs typeface="Tahoma"/>
              </a:rPr>
              <a:t>knowledge</a:t>
            </a:r>
            <a:r>
              <a:rPr sz="1333" spc="-7" dirty="0">
                <a:latin typeface="Tahoma"/>
                <a:cs typeface="Tahoma"/>
              </a:rPr>
              <a:t> </a:t>
            </a:r>
            <a:r>
              <a:rPr sz="1333" spc="-13" dirty="0">
                <a:latin typeface="Tahoma"/>
                <a:cs typeface="Tahoma"/>
              </a:rPr>
              <a:t>distillation?</a:t>
            </a:r>
            <a:endParaRPr sz="1333">
              <a:latin typeface="Tahoma"/>
              <a:cs typeface="Tahoma"/>
            </a:endParaRPr>
          </a:p>
        </p:txBody>
      </p:sp>
      <p:pic>
        <p:nvPicPr>
          <p:cNvPr id="12" name="object 12"/>
          <p:cNvPicPr/>
          <p:nvPr/>
        </p:nvPicPr>
        <p:blipFill>
          <a:blip r:embed="rId5" cstate="print"/>
          <a:stretch>
            <a:fillRect/>
          </a:stretch>
        </p:blipFill>
        <p:spPr>
          <a:xfrm>
            <a:off x="8988601" y="2505359"/>
            <a:ext cx="2613199" cy="562799"/>
          </a:xfrm>
          <a:prstGeom prst="rect">
            <a:avLst/>
          </a:prstGeom>
        </p:spPr>
      </p:pic>
      <p:sp>
        <p:nvSpPr>
          <p:cNvPr id="13" name="object 13"/>
          <p:cNvSpPr txBox="1"/>
          <p:nvPr/>
        </p:nvSpPr>
        <p:spPr>
          <a:xfrm>
            <a:off x="9773061" y="2592566"/>
            <a:ext cx="1044787" cy="324875"/>
          </a:xfrm>
          <a:prstGeom prst="rect">
            <a:avLst/>
          </a:prstGeom>
        </p:spPr>
        <p:txBody>
          <a:bodyPr vert="horz" wrap="square" lIns="0" tIns="16933" rIns="0" bIns="0" rtlCol="0">
            <a:spAutoFit/>
          </a:bodyPr>
          <a:lstStyle/>
          <a:p>
            <a:pPr marL="16933">
              <a:spcBef>
                <a:spcPts val="133"/>
              </a:spcBef>
            </a:pPr>
            <a:r>
              <a:rPr sz="2000" b="1" spc="-13" dirty="0">
                <a:latin typeface="Tahoma"/>
                <a:cs typeface="Tahoma"/>
              </a:rPr>
              <a:t>Outputs</a:t>
            </a:r>
            <a:endParaRPr sz="2000">
              <a:latin typeface="Tahoma"/>
              <a:cs typeface="Tahoma"/>
            </a:endParaRPr>
          </a:p>
        </p:txBody>
      </p:sp>
      <p:grpSp>
        <p:nvGrpSpPr>
          <p:cNvPr id="14" name="object 14"/>
          <p:cNvGrpSpPr/>
          <p:nvPr/>
        </p:nvGrpSpPr>
        <p:grpSpPr>
          <a:xfrm>
            <a:off x="7662250" y="2797461"/>
            <a:ext cx="1314873" cy="55033"/>
            <a:chOff x="5746687" y="2098095"/>
            <a:chExt cx="986155" cy="41275"/>
          </a:xfrm>
        </p:grpSpPr>
        <p:sp>
          <p:nvSpPr>
            <p:cNvPr id="15" name="object 15"/>
            <p:cNvSpPr/>
            <p:nvPr/>
          </p:nvSpPr>
          <p:spPr>
            <a:xfrm>
              <a:off x="5751450" y="2110675"/>
              <a:ext cx="933450" cy="8255"/>
            </a:xfrm>
            <a:custGeom>
              <a:avLst/>
              <a:gdLst/>
              <a:ahLst/>
              <a:cxnLst/>
              <a:rect l="l" t="t" r="r" b="b"/>
              <a:pathLst>
                <a:path w="933450" h="8255">
                  <a:moveTo>
                    <a:pt x="0" y="0"/>
                  </a:moveTo>
                  <a:lnTo>
                    <a:pt x="932852" y="7914"/>
                  </a:lnTo>
                </a:path>
              </a:pathLst>
            </a:custGeom>
            <a:ln w="9524">
              <a:solidFill>
                <a:srgbClr val="595959"/>
              </a:solidFill>
            </a:ln>
          </p:spPr>
          <p:txBody>
            <a:bodyPr wrap="square" lIns="0" tIns="0" rIns="0" bIns="0" rtlCol="0"/>
            <a:lstStyle/>
            <a:p>
              <a:endParaRPr sz="2400"/>
            </a:p>
          </p:txBody>
        </p:sp>
        <p:sp>
          <p:nvSpPr>
            <p:cNvPr id="16" name="object 16"/>
            <p:cNvSpPr/>
            <p:nvPr/>
          </p:nvSpPr>
          <p:spPr>
            <a:xfrm>
              <a:off x="6684167" y="2102858"/>
              <a:ext cx="43815" cy="31750"/>
            </a:xfrm>
            <a:custGeom>
              <a:avLst/>
              <a:gdLst/>
              <a:ahLst/>
              <a:cxnLst/>
              <a:rect l="l" t="t" r="r" b="b"/>
              <a:pathLst>
                <a:path w="43815" h="31750">
                  <a:moveTo>
                    <a:pt x="0" y="31464"/>
                  </a:moveTo>
                  <a:lnTo>
                    <a:pt x="267" y="0"/>
                  </a:lnTo>
                  <a:lnTo>
                    <a:pt x="43357" y="16098"/>
                  </a:lnTo>
                  <a:lnTo>
                    <a:pt x="0" y="31464"/>
                  </a:lnTo>
                  <a:close/>
                </a:path>
              </a:pathLst>
            </a:custGeom>
            <a:solidFill>
              <a:srgbClr val="595959"/>
            </a:solidFill>
          </p:spPr>
          <p:txBody>
            <a:bodyPr wrap="square" lIns="0" tIns="0" rIns="0" bIns="0" rtlCol="0"/>
            <a:lstStyle/>
            <a:p>
              <a:endParaRPr sz="2400"/>
            </a:p>
          </p:txBody>
        </p:sp>
        <p:sp>
          <p:nvSpPr>
            <p:cNvPr id="17" name="object 17"/>
            <p:cNvSpPr/>
            <p:nvPr/>
          </p:nvSpPr>
          <p:spPr>
            <a:xfrm>
              <a:off x="6684167" y="2102858"/>
              <a:ext cx="43815" cy="31750"/>
            </a:xfrm>
            <a:custGeom>
              <a:avLst/>
              <a:gdLst/>
              <a:ahLst/>
              <a:cxnLst/>
              <a:rect l="l" t="t" r="r" b="b"/>
              <a:pathLst>
                <a:path w="43815" h="31750">
                  <a:moveTo>
                    <a:pt x="0" y="31464"/>
                  </a:moveTo>
                  <a:lnTo>
                    <a:pt x="43357" y="16098"/>
                  </a:lnTo>
                  <a:lnTo>
                    <a:pt x="267" y="0"/>
                  </a:lnTo>
                  <a:lnTo>
                    <a:pt x="0" y="31464"/>
                  </a:lnTo>
                  <a:close/>
                </a:path>
              </a:pathLst>
            </a:custGeom>
            <a:ln w="9524">
              <a:solidFill>
                <a:srgbClr val="595959"/>
              </a:solidFill>
            </a:ln>
          </p:spPr>
          <p:txBody>
            <a:bodyPr wrap="square" lIns="0" tIns="0" rIns="0" bIns="0" rtlCol="0"/>
            <a:lstStyle/>
            <a:p>
              <a:endParaRPr sz="2400"/>
            </a:p>
          </p:txBody>
        </p:sp>
      </p:grpSp>
      <p:sp>
        <p:nvSpPr>
          <p:cNvPr id="18" name="object 18"/>
          <p:cNvSpPr txBox="1"/>
          <p:nvPr/>
        </p:nvSpPr>
        <p:spPr>
          <a:xfrm>
            <a:off x="8714767" y="1900254"/>
            <a:ext cx="2771140" cy="386430"/>
          </a:xfrm>
          <a:prstGeom prst="rect">
            <a:avLst/>
          </a:prstGeom>
        </p:spPr>
        <p:txBody>
          <a:bodyPr vert="horz" wrap="square" lIns="0" tIns="16933" rIns="0" bIns="0" rtlCol="0">
            <a:spAutoFit/>
          </a:bodyPr>
          <a:lstStyle/>
          <a:p>
            <a:pPr marL="16933" marR="6773">
              <a:spcBef>
                <a:spcPts val="133"/>
              </a:spcBef>
            </a:pPr>
            <a:r>
              <a:rPr sz="800" dirty="0">
                <a:latin typeface="Tahoma"/>
                <a:cs typeface="Tahoma"/>
              </a:rPr>
              <a:t>Knowledge</a:t>
            </a:r>
            <a:r>
              <a:rPr sz="800" spc="7" dirty="0">
                <a:latin typeface="Tahoma"/>
                <a:cs typeface="Tahoma"/>
              </a:rPr>
              <a:t> </a:t>
            </a:r>
            <a:r>
              <a:rPr sz="800" dirty="0">
                <a:latin typeface="Tahoma"/>
                <a:cs typeface="Tahoma"/>
              </a:rPr>
              <a:t>distillation</a:t>
            </a:r>
            <a:r>
              <a:rPr sz="800" spc="7" dirty="0">
                <a:latin typeface="Tahoma"/>
                <a:cs typeface="Tahoma"/>
              </a:rPr>
              <a:t> </a:t>
            </a:r>
            <a:r>
              <a:rPr sz="800" dirty="0">
                <a:latin typeface="Tahoma"/>
                <a:cs typeface="Tahoma"/>
              </a:rPr>
              <a:t>is</a:t>
            </a:r>
            <a:r>
              <a:rPr sz="800" spc="7" dirty="0">
                <a:latin typeface="Tahoma"/>
                <a:cs typeface="Tahoma"/>
              </a:rPr>
              <a:t> </a:t>
            </a:r>
            <a:r>
              <a:rPr sz="800" dirty="0">
                <a:latin typeface="Tahoma"/>
                <a:cs typeface="Tahoma"/>
              </a:rPr>
              <a:t>a</a:t>
            </a:r>
            <a:r>
              <a:rPr sz="800" spc="7" dirty="0">
                <a:latin typeface="Tahoma"/>
                <a:cs typeface="Tahoma"/>
              </a:rPr>
              <a:t> </a:t>
            </a:r>
            <a:r>
              <a:rPr sz="800" dirty="0">
                <a:latin typeface="Tahoma"/>
                <a:cs typeface="Tahoma"/>
              </a:rPr>
              <a:t>technique</a:t>
            </a:r>
            <a:r>
              <a:rPr sz="800" spc="7" dirty="0">
                <a:latin typeface="Tahoma"/>
                <a:cs typeface="Tahoma"/>
              </a:rPr>
              <a:t> </a:t>
            </a:r>
            <a:r>
              <a:rPr sz="800" spc="-13" dirty="0">
                <a:latin typeface="Tahoma"/>
                <a:cs typeface="Tahoma"/>
              </a:rPr>
              <a:t>in</a:t>
            </a:r>
            <a:r>
              <a:rPr sz="800" spc="7" dirty="0">
                <a:latin typeface="Tahoma"/>
                <a:cs typeface="Tahoma"/>
              </a:rPr>
              <a:t> </a:t>
            </a:r>
            <a:r>
              <a:rPr sz="800" dirty="0">
                <a:latin typeface="Tahoma"/>
                <a:cs typeface="Tahoma"/>
              </a:rPr>
              <a:t>machine</a:t>
            </a:r>
            <a:r>
              <a:rPr sz="800" spc="7" dirty="0">
                <a:latin typeface="Tahoma"/>
                <a:cs typeface="Tahoma"/>
              </a:rPr>
              <a:t> </a:t>
            </a:r>
            <a:r>
              <a:rPr sz="800" spc="-13" dirty="0">
                <a:latin typeface="Tahoma"/>
                <a:cs typeface="Tahoma"/>
              </a:rPr>
              <a:t>learning</a:t>
            </a:r>
            <a:r>
              <a:rPr sz="800" spc="667" dirty="0">
                <a:latin typeface="Tahoma"/>
                <a:cs typeface="Tahoma"/>
              </a:rPr>
              <a:t> </a:t>
            </a:r>
            <a:r>
              <a:rPr sz="800" dirty="0">
                <a:latin typeface="Tahoma"/>
                <a:cs typeface="Tahoma"/>
              </a:rPr>
              <a:t>where</a:t>
            </a:r>
            <a:r>
              <a:rPr sz="800" spc="-20" dirty="0">
                <a:latin typeface="Tahoma"/>
                <a:cs typeface="Tahoma"/>
              </a:rPr>
              <a:t> </a:t>
            </a:r>
            <a:r>
              <a:rPr sz="800" dirty="0">
                <a:latin typeface="Tahoma"/>
                <a:cs typeface="Tahoma"/>
              </a:rPr>
              <a:t>a</a:t>
            </a:r>
            <a:r>
              <a:rPr sz="800" spc="-13" dirty="0">
                <a:latin typeface="Tahoma"/>
                <a:cs typeface="Tahoma"/>
              </a:rPr>
              <a:t> </a:t>
            </a:r>
            <a:r>
              <a:rPr sz="800" dirty="0">
                <a:latin typeface="Tahoma"/>
                <a:cs typeface="Tahoma"/>
              </a:rPr>
              <a:t>smaller</a:t>
            </a:r>
            <a:r>
              <a:rPr sz="800" spc="-20" dirty="0">
                <a:latin typeface="Tahoma"/>
                <a:cs typeface="Tahoma"/>
              </a:rPr>
              <a:t> </a:t>
            </a:r>
            <a:r>
              <a:rPr sz="800" dirty="0">
                <a:latin typeface="Tahoma"/>
                <a:cs typeface="Tahoma"/>
              </a:rPr>
              <a:t>model</a:t>
            </a:r>
            <a:r>
              <a:rPr sz="800" spc="-13" dirty="0">
                <a:latin typeface="Tahoma"/>
                <a:cs typeface="Tahoma"/>
              </a:rPr>
              <a:t> </a:t>
            </a:r>
            <a:r>
              <a:rPr sz="800" dirty="0">
                <a:latin typeface="Tahoma"/>
                <a:cs typeface="Tahoma"/>
              </a:rPr>
              <a:t>(the</a:t>
            </a:r>
            <a:r>
              <a:rPr sz="800" spc="-13" dirty="0">
                <a:latin typeface="Tahoma"/>
                <a:cs typeface="Tahoma"/>
              </a:rPr>
              <a:t> "student")</a:t>
            </a:r>
            <a:r>
              <a:rPr sz="800" spc="-20" dirty="0">
                <a:latin typeface="Tahoma"/>
                <a:cs typeface="Tahoma"/>
              </a:rPr>
              <a:t> </a:t>
            </a:r>
            <a:r>
              <a:rPr sz="800" dirty="0">
                <a:latin typeface="Tahoma"/>
                <a:cs typeface="Tahoma"/>
              </a:rPr>
              <a:t>is</a:t>
            </a:r>
            <a:r>
              <a:rPr sz="800" spc="-13" dirty="0">
                <a:latin typeface="Tahoma"/>
                <a:cs typeface="Tahoma"/>
              </a:rPr>
              <a:t> </a:t>
            </a:r>
            <a:r>
              <a:rPr sz="800" dirty="0">
                <a:latin typeface="Tahoma"/>
                <a:cs typeface="Tahoma"/>
              </a:rPr>
              <a:t>trained</a:t>
            </a:r>
            <a:r>
              <a:rPr sz="800" spc="-13" dirty="0">
                <a:latin typeface="Tahoma"/>
                <a:cs typeface="Tahoma"/>
              </a:rPr>
              <a:t> </a:t>
            </a:r>
            <a:r>
              <a:rPr sz="800" dirty="0">
                <a:latin typeface="Tahoma"/>
                <a:cs typeface="Tahoma"/>
              </a:rPr>
              <a:t>to</a:t>
            </a:r>
            <a:r>
              <a:rPr sz="800" spc="-20" dirty="0">
                <a:latin typeface="Tahoma"/>
                <a:cs typeface="Tahoma"/>
              </a:rPr>
              <a:t> </a:t>
            </a:r>
            <a:r>
              <a:rPr sz="800" dirty="0">
                <a:latin typeface="Tahoma"/>
                <a:cs typeface="Tahoma"/>
              </a:rPr>
              <a:t>mimic</a:t>
            </a:r>
            <a:r>
              <a:rPr sz="800" spc="-13" dirty="0">
                <a:latin typeface="Tahoma"/>
                <a:cs typeface="Tahoma"/>
              </a:rPr>
              <a:t> </a:t>
            </a:r>
            <a:r>
              <a:rPr sz="800" spc="-33" dirty="0">
                <a:latin typeface="Tahoma"/>
                <a:cs typeface="Tahoma"/>
              </a:rPr>
              <a:t>the</a:t>
            </a:r>
            <a:r>
              <a:rPr sz="800" spc="667" dirty="0">
                <a:latin typeface="Tahoma"/>
                <a:cs typeface="Tahoma"/>
              </a:rPr>
              <a:t> </a:t>
            </a:r>
            <a:r>
              <a:rPr sz="800" dirty="0">
                <a:latin typeface="Tahoma"/>
                <a:cs typeface="Tahoma"/>
              </a:rPr>
              <a:t>behavior</a:t>
            </a:r>
            <a:r>
              <a:rPr sz="800" spc="-13" dirty="0">
                <a:latin typeface="Tahoma"/>
                <a:cs typeface="Tahoma"/>
              </a:rPr>
              <a:t> </a:t>
            </a:r>
            <a:r>
              <a:rPr sz="800" spc="-53" dirty="0">
                <a:latin typeface="Tahoma"/>
                <a:cs typeface="Tahoma"/>
              </a:rPr>
              <a:t>ofi</a:t>
            </a:r>
            <a:r>
              <a:rPr sz="800" spc="-7" dirty="0">
                <a:latin typeface="Tahoma"/>
                <a:cs typeface="Tahoma"/>
              </a:rPr>
              <a:t> </a:t>
            </a:r>
            <a:r>
              <a:rPr sz="800" dirty="0">
                <a:latin typeface="Tahoma"/>
                <a:cs typeface="Tahoma"/>
              </a:rPr>
              <a:t>a</a:t>
            </a:r>
            <a:r>
              <a:rPr sz="800" spc="-13" dirty="0">
                <a:latin typeface="Tahoma"/>
                <a:cs typeface="Tahoma"/>
              </a:rPr>
              <a:t> </a:t>
            </a:r>
            <a:r>
              <a:rPr sz="800" dirty="0">
                <a:latin typeface="Tahoma"/>
                <a:cs typeface="Tahoma"/>
              </a:rPr>
              <a:t>larger</a:t>
            </a:r>
            <a:r>
              <a:rPr sz="800" spc="-7" dirty="0">
                <a:latin typeface="Tahoma"/>
                <a:cs typeface="Tahoma"/>
              </a:rPr>
              <a:t> </a:t>
            </a:r>
            <a:r>
              <a:rPr sz="800" dirty="0">
                <a:latin typeface="Tahoma"/>
                <a:cs typeface="Tahoma"/>
              </a:rPr>
              <a:t>model</a:t>
            </a:r>
            <a:r>
              <a:rPr sz="800" spc="-7" dirty="0">
                <a:latin typeface="Tahoma"/>
                <a:cs typeface="Tahoma"/>
              </a:rPr>
              <a:t> </a:t>
            </a:r>
            <a:r>
              <a:rPr sz="800" spc="-67" dirty="0">
                <a:latin typeface="Tahoma"/>
                <a:cs typeface="Tahoma"/>
              </a:rPr>
              <a:t>…</a:t>
            </a:r>
            <a:endParaRPr sz="800">
              <a:latin typeface="Tahoma"/>
              <a:cs typeface="Tahoma"/>
            </a:endParaRPr>
          </a:p>
        </p:txBody>
      </p:sp>
      <p:sp>
        <p:nvSpPr>
          <p:cNvPr id="19" name="object 19"/>
          <p:cNvSpPr txBox="1"/>
          <p:nvPr/>
        </p:nvSpPr>
        <p:spPr>
          <a:xfrm>
            <a:off x="7701301" y="5546899"/>
            <a:ext cx="1624753" cy="509541"/>
          </a:xfrm>
          <a:prstGeom prst="rect">
            <a:avLst/>
          </a:prstGeom>
        </p:spPr>
        <p:txBody>
          <a:bodyPr vert="horz" wrap="square" lIns="0" tIns="16933" rIns="0" bIns="0" rtlCol="0">
            <a:spAutoFit/>
          </a:bodyPr>
          <a:lstStyle/>
          <a:p>
            <a:pPr marL="16933" marR="6773">
              <a:spcBef>
                <a:spcPts val="133"/>
              </a:spcBef>
            </a:pPr>
            <a:r>
              <a:rPr sz="1600" b="1" spc="-73" dirty="0">
                <a:solidFill>
                  <a:srgbClr val="595959"/>
                </a:solidFill>
                <a:latin typeface="Tahoma"/>
                <a:cs typeface="Tahoma"/>
              </a:rPr>
              <a:t>Train</a:t>
            </a:r>
            <a:r>
              <a:rPr sz="1600" b="1" spc="-47" dirty="0">
                <a:solidFill>
                  <a:srgbClr val="595959"/>
                </a:solidFill>
                <a:latin typeface="Tahoma"/>
                <a:cs typeface="Tahoma"/>
              </a:rPr>
              <a:t> </a:t>
            </a:r>
            <a:r>
              <a:rPr sz="1600" b="1" spc="-13" dirty="0">
                <a:solidFill>
                  <a:srgbClr val="595959"/>
                </a:solidFill>
                <a:latin typeface="Tahoma"/>
                <a:cs typeface="Tahoma"/>
              </a:rPr>
              <a:t>using</a:t>
            </a:r>
            <a:r>
              <a:rPr sz="1600" b="1" spc="-40" dirty="0">
                <a:solidFill>
                  <a:srgbClr val="595959"/>
                </a:solidFill>
                <a:latin typeface="Tahoma"/>
                <a:cs typeface="Tahoma"/>
              </a:rPr>
              <a:t> </a:t>
            </a:r>
            <a:r>
              <a:rPr sz="1600" b="1" spc="-27" dirty="0">
                <a:solidFill>
                  <a:srgbClr val="595959"/>
                </a:solidFill>
                <a:latin typeface="Tahoma"/>
                <a:cs typeface="Tahoma"/>
              </a:rPr>
              <a:t>next </a:t>
            </a:r>
            <a:r>
              <a:rPr sz="1600" b="1" spc="-87" dirty="0">
                <a:solidFill>
                  <a:srgbClr val="595959"/>
                </a:solidFill>
                <a:latin typeface="Tahoma"/>
                <a:cs typeface="Tahoma"/>
              </a:rPr>
              <a:t>token-</a:t>
            </a:r>
            <a:r>
              <a:rPr sz="1600" b="1" spc="-60" dirty="0">
                <a:solidFill>
                  <a:srgbClr val="595959"/>
                </a:solidFill>
                <a:latin typeface="Tahoma"/>
                <a:cs typeface="Tahoma"/>
              </a:rPr>
              <a:t>prediction</a:t>
            </a:r>
            <a:endParaRPr sz="1600">
              <a:latin typeface="Tahoma"/>
              <a:cs typeface="Tahoma"/>
            </a:endParaRPr>
          </a:p>
        </p:txBody>
      </p:sp>
      <p:pic>
        <p:nvPicPr>
          <p:cNvPr id="20" name="object 20"/>
          <p:cNvPicPr/>
          <p:nvPr/>
        </p:nvPicPr>
        <p:blipFill>
          <a:blip r:embed="rId6" cstate="print"/>
          <a:stretch>
            <a:fillRect/>
          </a:stretch>
        </p:blipFill>
        <p:spPr>
          <a:xfrm>
            <a:off x="1848700" y="4352699"/>
            <a:ext cx="1679200" cy="562799"/>
          </a:xfrm>
          <a:prstGeom prst="rect">
            <a:avLst/>
          </a:prstGeom>
        </p:spPr>
      </p:pic>
      <p:sp>
        <p:nvSpPr>
          <p:cNvPr id="21" name="object 21"/>
          <p:cNvSpPr txBox="1"/>
          <p:nvPr/>
        </p:nvSpPr>
        <p:spPr>
          <a:xfrm>
            <a:off x="2124079" y="4439228"/>
            <a:ext cx="1129453" cy="345330"/>
          </a:xfrm>
          <a:prstGeom prst="rect">
            <a:avLst/>
          </a:prstGeom>
        </p:spPr>
        <p:txBody>
          <a:bodyPr vert="horz" wrap="square" lIns="0" tIns="16933" rIns="0" bIns="0" rtlCol="0">
            <a:spAutoFit/>
          </a:bodyPr>
          <a:lstStyle/>
          <a:p>
            <a:pPr marL="16933">
              <a:spcBef>
                <a:spcPts val="133"/>
              </a:spcBef>
            </a:pPr>
            <a:r>
              <a:rPr sz="2133" b="1" spc="-53" dirty="0">
                <a:latin typeface="Tahoma"/>
                <a:cs typeface="Tahoma"/>
              </a:rPr>
              <a:t>Prompts</a:t>
            </a:r>
            <a:endParaRPr sz="2133">
              <a:latin typeface="Tahoma"/>
              <a:cs typeface="Tahoma"/>
            </a:endParaRPr>
          </a:p>
        </p:txBody>
      </p:sp>
      <p:pic>
        <p:nvPicPr>
          <p:cNvPr id="22" name="object 22"/>
          <p:cNvPicPr/>
          <p:nvPr/>
        </p:nvPicPr>
        <p:blipFill>
          <a:blip r:embed="rId7" cstate="print"/>
          <a:stretch>
            <a:fillRect/>
          </a:stretch>
        </p:blipFill>
        <p:spPr>
          <a:xfrm>
            <a:off x="1504700" y="5242701"/>
            <a:ext cx="2367200" cy="562799"/>
          </a:xfrm>
          <a:prstGeom prst="rect">
            <a:avLst/>
          </a:prstGeom>
        </p:spPr>
      </p:pic>
      <p:sp>
        <p:nvSpPr>
          <p:cNvPr id="23" name="object 23"/>
          <p:cNvSpPr txBox="1"/>
          <p:nvPr/>
        </p:nvSpPr>
        <p:spPr>
          <a:xfrm>
            <a:off x="1779574" y="5329907"/>
            <a:ext cx="1817793" cy="324875"/>
          </a:xfrm>
          <a:prstGeom prst="rect">
            <a:avLst/>
          </a:prstGeom>
        </p:spPr>
        <p:txBody>
          <a:bodyPr vert="horz" wrap="square" lIns="0" tIns="16933" rIns="0" bIns="0" rtlCol="0">
            <a:spAutoFit/>
          </a:bodyPr>
          <a:lstStyle/>
          <a:p>
            <a:pPr marL="16933">
              <a:spcBef>
                <a:spcPts val="133"/>
              </a:spcBef>
            </a:pPr>
            <a:r>
              <a:rPr sz="2000" b="1" spc="-60" dirty="0">
                <a:latin typeface="Tahoma"/>
                <a:cs typeface="Tahoma"/>
              </a:rPr>
              <a:t>Synthetic</a:t>
            </a:r>
            <a:r>
              <a:rPr sz="2000" b="1" spc="-73" dirty="0">
                <a:latin typeface="Tahoma"/>
                <a:cs typeface="Tahoma"/>
              </a:rPr>
              <a:t> </a:t>
            </a:r>
            <a:r>
              <a:rPr sz="2000" b="1" spc="-33" dirty="0">
                <a:latin typeface="Tahoma"/>
                <a:cs typeface="Tahoma"/>
              </a:rPr>
              <a:t>Data</a:t>
            </a:r>
            <a:endParaRPr sz="2000">
              <a:latin typeface="Tahoma"/>
              <a:cs typeface="Tahoma"/>
            </a:endParaRPr>
          </a:p>
        </p:txBody>
      </p:sp>
      <p:grpSp>
        <p:nvGrpSpPr>
          <p:cNvPr id="24" name="object 24"/>
          <p:cNvGrpSpPr/>
          <p:nvPr/>
        </p:nvGrpSpPr>
        <p:grpSpPr>
          <a:xfrm>
            <a:off x="3521550" y="4627750"/>
            <a:ext cx="3746500" cy="903393"/>
            <a:chOff x="2641162" y="3470812"/>
            <a:chExt cx="2809875" cy="677545"/>
          </a:xfrm>
        </p:grpSpPr>
        <p:sp>
          <p:nvSpPr>
            <p:cNvPr id="25" name="object 25"/>
            <p:cNvSpPr/>
            <p:nvPr/>
          </p:nvSpPr>
          <p:spPr>
            <a:xfrm>
              <a:off x="2645924" y="3475575"/>
              <a:ext cx="2757170" cy="330835"/>
            </a:xfrm>
            <a:custGeom>
              <a:avLst/>
              <a:gdLst/>
              <a:ahLst/>
              <a:cxnLst/>
              <a:rect l="l" t="t" r="r" b="b"/>
              <a:pathLst>
                <a:path w="2757170" h="330835">
                  <a:moveTo>
                    <a:pt x="0" y="0"/>
                  </a:moveTo>
                  <a:lnTo>
                    <a:pt x="2756957" y="330694"/>
                  </a:lnTo>
                </a:path>
              </a:pathLst>
            </a:custGeom>
            <a:ln w="9524">
              <a:solidFill>
                <a:srgbClr val="595959"/>
              </a:solidFill>
            </a:ln>
          </p:spPr>
          <p:txBody>
            <a:bodyPr wrap="square" lIns="0" tIns="0" rIns="0" bIns="0" rtlCol="0"/>
            <a:lstStyle/>
            <a:p>
              <a:endParaRPr sz="2400"/>
            </a:p>
          </p:txBody>
        </p:sp>
        <p:sp>
          <p:nvSpPr>
            <p:cNvPr id="26" name="object 26"/>
            <p:cNvSpPr/>
            <p:nvPr/>
          </p:nvSpPr>
          <p:spPr>
            <a:xfrm>
              <a:off x="5401007" y="3790647"/>
              <a:ext cx="45085" cy="31750"/>
            </a:xfrm>
            <a:custGeom>
              <a:avLst/>
              <a:gdLst/>
              <a:ahLst/>
              <a:cxnLst/>
              <a:rect l="l" t="t" r="r" b="b"/>
              <a:pathLst>
                <a:path w="45085" h="31750">
                  <a:moveTo>
                    <a:pt x="0" y="31242"/>
                  </a:moveTo>
                  <a:lnTo>
                    <a:pt x="3747" y="0"/>
                  </a:lnTo>
                  <a:lnTo>
                    <a:pt x="44792" y="20769"/>
                  </a:lnTo>
                  <a:lnTo>
                    <a:pt x="0" y="31242"/>
                  </a:lnTo>
                  <a:close/>
                </a:path>
              </a:pathLst>
            </a:custGeom>
            <a:solidFill>
              <a:srgbClr val="595959"/>
            </a:solidFill>
          </p:spPr>
          <p:txBody>
            <a:bodyPr wrap="square" lIns="0" tIns="0" rIns="0" bIns="0" rtlCol="0"/>
            <a:lstStyle/>
            <a:p>
              <a:endParaRPr sz="2400"/>
            </a:p>
          </p:txBody>
        </p:sp>
        <p:sp>
          <p:nvSpPr>
            <p:cNvPr id="27" name="object 27"/>
            <p:cNvSpPr/>
            <p:nvPr/>
          </p:nvSpPr>
          <p:spPr>
            <a:xfrm>
              <a:off x="5401007" y="3790647"/>
              <a:ext cx="45085" cy="31750"/>
            </a:xfrm>
            <a:custGeom>
              <a:avLst/>
              <a:gdLst/>
              <a:ahLst/>
              <a:cxnLst/>
              <a:rect l="l" t="t" r="r" b="b"/>
              <a:pathLst>
                <a:path w="45085" h="31750">
                  <a:moveTo>
                    <a:pt x="0" y="31242"/>
                  </a:moveTo>
                  <a:lnTo>
                    <a:pt x="44792" y="20769"/>
                  </a:lnTo>
                  <a:lnTo>
                    <a:pt x="3747" y="0"/>
                  </a:lnTo>
                  <a:lnTo>
                    <a:pt x="0" y="31242"/>
                  </a:lnTo>
                  <a:close/>
                </a:path>
              </a:pathLst>
            </a:custGeom>
            <a:ln w="9524">
              <a:solidFill>
                <a:srgbClr val="595959"/>
              </a:solidFill>
            </a:ln>
          </p:spPr>
          <p:txBody>
            <a:bodyPr wrap="square" lIns="0" tIns="0" rIns="0" bIns="0" rtlCol="0"/>
            <a:lstStyle/>
            <a:p>
              <a:endParaRPr sz="2400"/>
            </a:p>
          </p:txBody>
        </p:sp>
        <p:sp>
          <p:nvSpPr>
            <p:cNvPr id="28" name="object 28"/>
            <p:cNvSpPr/>
            <p:nvPr/>
          </p:nvSpPr>
          <p:spPr>
            <a:xfrm>
              <a:off x="2903924" y="3820395"/>
              <a:ext cx="2499360" cy="323215"/>
            </a:xfrm>
            <a:custGeom>
              <a:avLst/>
              <a:gdLst/>
              <a:ahLst/>
              <a:cxnLst/>
              <a:rect l="l" t="t" r="r" b="b"/>
              <a:pathLst>
                <a:path w="2499360" h="323214">
                  <a:moveTo>
                    <a:pt x="0" y="322679"/>
                  </a:moveTo>
                  <a:lnTo>
                    <a:pt x="2499019" y="0"/>
                  </a:lnTo>
                </a:path>
              </a:pathLst>
            </a:custGeom>
            <a:ln w="9524">
              <a:solidFill>
                <a:srgbClr val="595959"/>
              </a:solidFill>
            </a:ln>
          </p:spPr>
          <p:txBody>
            <a:bodyPr wrap="square" lIns="0" tIns="0" rIns="0" bIns="0" rtlCol="0"/>
            <a:lstStyle/>
            <a:p>
              <a:endParaRPr sz="2400"/>
            </a:p>
          </p:txBody>
        </p:sp>
        <p:sp>
          <p:nvSpPr>
            <p:cNvPr id="29" name="object 29"/>
            <p:cNvSpPr/>
            <p:nvPr/>
          </p:nvSpPr>
          <p:spPr>
            <a:xfrm>
              <a:off x="5400929" y="3804790"/>
              <a:ext cx="45085" cy="31750"/>
            </a:xfrm>
            <a:custGeom>
              <a:avLst/>
              <a:gdLst/>
              <a:ahLst/>
              <a:cxnLst/>
              <a:rect l="l" t="t" r="r" b="b"/>
              <a:pathLst>
                <a:path w="45085" h="31750">
                  <a:moveTo>
                    <a:pt x="4029" y="31207"/>
                  </a:moveTo>
                  <a:lnTo>
                    <a:pt x="0" y="0"/>
                  </a:lnTo>
                  <a:lnTo>
                    <a:pt x="44884" y="10067"/>
                  </a:lnTo>
                  <a:lnTo>
                    <a:pt x="4029" y="31207"/>
                  </a:lnTo>
                  <a:close/>
                </a:path>
              </a:pathLst>
            </a:custGeom>
            <a:solidFill>
              <a:srgbClr val="595959"/>
            </a:solidFill>
          </p:spPr>
          <p:txBody>
            <a:bodyPr wrap="square" lIns="0" tIns="0" rIns="0" bIns="0" rtlCol="0"/>
            <a:lstStyle/>
            <a:p>
              <a:endParaRPr sz="2400"/>
            </a:p>
          </p:txBody>
        </p:sp>
        <p:sp>
          <p:nvSpPr>
            <p:cNvPr id="30" name="object 30"/>
            <p:cNvSpPr/>
            <p:nvPr/>
          </p:nvSpPr>
          <p:spPr>
            <a:xfrm>
              <a:off x="5400929" y="3804790"/>
              <a:ext cx="45085" cy="31750"/>
            </a:xfrm>
            <a:custGeom>
              <a:avLst/>
              <a:gdLst/>
              <a:ahLst/>
              <a:cxnLst/>
              <a:rect l="l" t="t" r="r" b="b"/>
              <a:pathLst>
                <a:path w="45085" h="31750">
                  <a:moveTo>
                    <a:pt x="4029" y="31207"/>
                  </a:moveTo>
                  <a:lnTo>
                    <a:pt x="44884" y="10067"/>
                  </a:lnTo>
                  <a:lnTo>
                    <a:pt x="0" y="0"/>
                  </a:lnTo>
                  <a:lnTo>
                    <a:pt x="4029" y="31207"/>
                  </a:lnTo>
                  <a:close/>
                </a:path>
              </a:pathLst>
            </a:custGeom>
            <a:ln w="9524">
              <a:solidFill>
                <a:srgbClr val="595959"/>
              </a:solidFill>
            </a:ln>
          </p:spPr>
          <p:txBody>
            <a:bodyPr wrap="square" lIns="0" tIns="0" rIns="0" bIns="0" rtlCol="0"/>
            <a:lstStyle/>
            <a:p>
              <a:endParaRPr sz="2400"/>
            </a:p>
          </p:txBody>
        </p:sp>
      </p:grpSp>
      <p:sp>
        <p:nvSpPr>
          <p:cNvPr id="31" name="object 31"/>
          <p:cNvSpPr txBox="1"/>
          <p:nvPr/>
        </p:nvSpPr>
        <p:spPr>
          <a:xfrm>
            <a:off x="871100" y="6401034"/>
            <a:ext cx="4684605" cy="181310"/>
          </a:xfrm>
          <a:prstGeom prst="rect">
            <a:avLst/>
          </a:prstGeom>
        </p:spPr>
        <p:txBody>
          <a:bodyPr vert="horz" wrap="square" lIns="0" tIns="16933" rIns="0" bIns="0" rtlCol="0">
            <a:spAutoFit/>
          </a:bodyPr>
          <a:lstStyle/>
          <a:p>
            <a:pPr marL="16933">
              <a:spcBef>
                <a:spcPts val="133"/>
              </a:spcBef>
            </a:pPr>
            <a:r>
              <a:rPr sz="1067" spc="-33" dirty="0">
                <a:solidFill>
                  <a:srgbClr val="595959"/>
                </a:solidFill>
                <a:latin typeface="Tahoma"/>
                <a:cs typeface="Tahoma"/>
              </a:rPr>
              <a:t>Initially</a:t>
            </a:r>
            <a:r>
              <a:rPr sz="1067" spc="40" dirty="0">
                <a:solidFill>
                  <a:srgbClr val="595959"/>
                </a:solidFill>
                <a:latin typeface="Tahoma"/>
                <a:cs typeface="Tahoma"/>
              </a:rPr>
              <a:t> </a:t>
            </a:r>
            <a:r>
              <a:rPr sz="1067" dirty="0">
                <a:solidFill>
                  <a:srgbClr val="595959"/>
                </a:solidFill>
                <a:latin typeface="Tahoma"/>
                <a:cs typeface="Tahoma"/>
              </a:rPr>
              <a:t>popularized</a:t>
            </a:r>
            <a:r>
              <a:rPr sz="1067" spc="40" dirty="0">
                <a:solidFill>
                  <a:srgbClr val="595959"/>
                </a:solidFill>
                <a:latin typeface="Tahoma"/>
                <a:cs typeface="Tahoma"/>
              </a:rPr>
              <a:t> </a:t>
            </a:r>
            <a:r>
              <a:rPr sz="1067" dirty="0">
                <a:solidFill>
                  <a:srgbClr val="595959"/>
                </a:solidFill>
                <a:latin typeface="Tahoma"/>
                <a:cs typeface="Tahoma"/>
              </a:rPr>
              <a:t>by</a:t>
            </a:r>
            <a:r>
              <a:rPr sz="1067" spc="20" dirty="0">
                <a:solidFill>
                  <a:srgbClr val="595959"/>
                </a:solidFill>
                <a:latin typeface="Tahoma"/>
                <a:cs typeface="Tahoma"/>
              </a:rPr>
              <a:t> </a:t>
            </a:r>
            <a:r>
              <a:rPr sz="1067" u="sng" dirty="0">
                <a:solidFill>
                  <a:srgbClr val="0097A7"/>
                </a:solidFill>
                <a:uFill>
                  <a:solidFill>
                    <a:srgbClr val="0097A7"/>
                  </a:solidFill>
                </a:uFill>
                <a:latin typeface="Tahoma"/>
                <a:cs typeface="Tahoma"/>
                <a:hlinkClick r:id="rId8"/>
              </a:rPr>
              <a:t>Sequence-Level</a:t>
            </a:r>
            <a:r>
              <a:rPr sz="1067" u="sng" spc="47" dirty="0">
                <a:solidFill>
                  <a:srgbClr val="0097A7"/>
                </a:solidFill>
                <a:uFill>
                  <a:solidFill>
                    <a:srgbClr val="0097A7"/>
                  </a:solidFill>
                </a:uFill>
                <a:latin typeface="Tahoma"/>
                <a:cs typeface="Tahoma"/>
                <a:hlinkClick r:id="rId8"/>
              </a:rPr>
              <a:t> </a:t>
            </a:r>
            <a:r>
              <a:rPr sz="1067" u="sng" dirty="0">
                <a:solidFill>
                  <a:srgbClr val="0097A7"/>
                </a:solidFill>
                <a:uFill>
                  <a:solidFill>
                    <a:srgbClr val="0097A7"/>
                  </a:solidFill>
                </a:uFill>
                <a:latin typeface="Tahoma"/>
                <a:cs typeface="Tahoma"/>
                <a:hlinkClick r:id="rId8"/>
              </a:rPr>
              <a:t>Knowledge</a:t>
            </a:r>
            <a:r>
              <a:rPr sz="1067" u="sng" spc="40" dirty="0">
                <a:solidFill>
                  <a:srgbClr val="0097A7"/>
                </a:solidFill>
                <a:uFill>
                  <a:solidFill>
                    <a:srgbClr val="0097A7"/>
                  </a:solidFill>
                </a:uFill>
                <a:latin typeface="Tahoma"/>
                <a:cs typeface="Tahoma"/>
                <a:hlinkClick r:id="rId8"/>
              </a:rPr>
              <a:t> </a:t>
            </a:r>
            <a:r>
              <a:rPr sz="1067" u="sng" dirty="0">
                <a:solidFill>
                  <a:srgbClr val="0097A7"/>
                </a:solidFill>
                <a:uFill>
                  <a:solidFill>
                    <a:srgbClr val="0097A7"/>
                  </a:solidFill>
                </a:uFill>
                <a:latin typeface="Tahoma"/>
                <a:cs typeface="Tahoma"/>
                <a:hlinkClick r:id="rId8"/>
              </a:rPr>
              <a:t>Distillation</a:t>
            </a:r>
            <a:r>
              <a:rPr sz="1067" dirty="0">
                <a:solidFill>
                  <a:srgbClr val="0097A7"/>
                </a:solidFill>
                <a:latin typeface="Tahoma"/>
                <a:cs typeface="Tahoma"/>
              </a:rPr>
              <a:t> </a:t>
            </a:r>
            <a:r>
              <a:rPr sz="1067" spc="-27" dirty="0">
                <a:solidFill>
                  <a:srgbClr val="595959"/>
                </a:solidFill>
                <a:latin typeface="Tahoma"/>
                <a:cs typeface="Tahoma"/>
              </a:rPr>
              <a:t>(EMNLP,</a:t>
            </a:r>
            <a:r>
              <a:rPr sz="1067" spc="47" dirty="0">
                <a:solidFill>
                  <a:srgbClr val="595959"/>
                </a:solidFill>
                <a:latin typeface="Tahoma"/>
                <a:cs typeface="Tahoma"/>
              </a:rPr>
              <a:t> </a:t>
            </a:r>
            <a:r>
              <a:rPr sz="1067" spc="-13" dirty="0">
                <a:solidFill>
                  <a:srgbClr val="595959"/>
                </a:solidFill>
                <a:latin typeface="Tahoma"/>
                <a:cs typeface="Tahoma"/>
              </a:rPr>
              <a:t>2016).</a:t>
            </a:r>
            <a:endParaRPr sz="1067">
              <a:latin typeface="Tahoma"/>
              <a:cs typeface="Tahoma"/>
            </a:endParaRPr>
          </a:p>
        </p:txBody>
      </p:sp>
      <p:sp>
        <p:nvSpPr>
          <p:cNvPr id="32" name="object 32"/>
          <p:cNvSpPr/>
          <p:nvPr/>
        </p:nvSpPr>
        <p:spPr>
          <a:xfrm>
            <a:off x="203732" y="3916132"/>
            <a:ext cx="11717867" cy="42333"/>
          </a:xfrm>
          <a:custGeom>
            <a:avLst/>
            <a:gdLst/>
            <a:ahLst/>
            <a:cxnLst/>
            <a:rect l="l" t="t" r="r" b="b"/>
            <a:pathLst>
              <a:path w="8788400" h="31750">
                <a:moveTo>
                  <a:pt x="0" y="31199"/>
                </a:moveTo>
                <a:lnTo>
                  <a:pt x="8787899" y="0"/>
                </a:lnTo>
              </a:path>
            </a:pathLst>
          </a:custGeom>
          <a:ln w="9524">
            <a:solidFill>
              <a:srgbClr val="595959"/>
            </a:solidFill>
          </a:ln>
        </p:spPr>
        <p:txBody>
          <a:bodyPr wrap="square" lIns="0" tIns="0" rIns="0" bIns="0" rtlCol="0"/>
          <a:lstStyle/>
          <a:p>
            <a:endParaRPr sz="2400"/>
          </a:p>
        </p:txBody>
      </p:sp>
      <p:sp>
        <p:nvSpPr>
          <p:cNvPr id="33" name="object 33"/>
          <p:cNvSpPr txBox="1"/>
          <p:nvPr/>
        </p:nvSpPr>
        <p:spPr>
          <a:xfrm>
            <a:off x="264034" y="4050906"/>
            <a:ext cx="1180253" cy="755762"/>
          </a:xfrm>
          <a:prstGeom prst="rect">
            <a:avLst/>
          </a:prstGeom>
        </p:spPr>
        <p:txBody>
          <a:bodyPr vert="horz" wrap="square" lIns="0" tIns="16933" rIns="0" bIns="0" rtlCol="0">
            <a:spAutoFit/>
          </a:bodyPr>
          <a:lstStyle/>
          <a:p>
            <a:pPr marL="16933" marR="6773" algn="just">
              <a:spcBef>
                <a:spcPts val="133"/>
              </a:spcBef>
            </a:pPr>
            <a:r>
              <a:rPr sz="1600" b="1" spc="-13" dirty="0">
                <a:solidFill>
                  <a:srgbClr val="595959"/>
                </a:solidFill>
                <a:latin typeface="Tahoma"/>
                <a:cs typeface="Tahoma"/>
              </a:rPr>
              <a:t>Supervised </a:t>
            </a:r>
            <a:r>
              <a:rPr sz="1600" b="1" spc="-53" dirty="0">
                <a:solidFill>
                  <a:srgbClr val="595959"/>
                </a:solidFill>
                <a:latin typeface="Tahoma"/>
                <a:cs typeface="Tahoma"/>
              </a:rPr>
              <a:t>Fine-</a:t>
            </a:r>
            <a:r>
              <a:rPr sz="1600" b="1" spc="-73" dirty="0">
                <a:solidFill>
                  <a:srgbClr val="595959"/>
                </a:solidFill>
                <a:latin typeface="Tahoma"/>
                <a:cs typeface="Tahoma"/>
              </a:rPr>
              <a:t>Tuning </a:t>
            </a:r>
            <a:r>
              <a:rPr sz="1600" b="1" spc="-13" dirty="0">
                <a:solidFill>
                  <a:srgbClr val="595959"/>
                </a:solidFill>
                <a:latin typeface="Tahoma"/>
                <a:cs typeface="Tahoma"/>
              </a:rPr>
              <a:t>(SFT)</a:t>
            </a:r>
            <a:endParaRPr sz="1600">
              <a:latin typeface="Tahoma"/>
              <a:cs typeface="Tahoma"/>
            </a:endParaRPr>
          </a:p>
        </p:txBody>
      </p:sp>
      <p:sp>
        <p:nvSpPr>
          <p:cNvPr id="34" name="object 34"/>
          <p:cNvSpPr txBox="1"/>
          <p:nvPr/>
        </p:nvSpPr>
        <p:spPr>
          <a:xfrm>
            <a:off x="301101" y="1446205"/>
            <a:ext cx="1445260" cy="509541"/>
          </a:xfrm>
          <a:prstGeom prst="rect">
            <a:avLst/>
          </a:prstGeom>
        </p:spPr>
        <p:txBody>
          <a:bodyPr vert="horz" wrap="square" lIns="0" tIns="16933" rIns="0" bIns="0" rtlCol="0">
            <a:spAutoFit/>
          </a:bodyPr>
          <a:lstStyle/>
          <a:p>
            <a:pPr marL="16933" marR="6773">
              <a:spcBef>
                <a:spcPts val="133"/>
              </a:spcBef>
            </a:pPr>
            <a:r>
              <a:rPr sz="1600" b="1" spc="-53" dirty="0">
                <a:solidFill>
                  <a:srgbClr val="595959"/>
                </a:solidFill>
                <a:latin typeface="Tahoma"/>
                <a:cs typeface="Tahoma"/>
              </a:rPr>
              <a:t>Synthetic</a:t>
            </a:r>
            <a:r>
              <a:rPr sz="1600" b="1" spc="-13" dirty="0">
                <a:solidFill>
                  <a:srgbClr val="595959"/>
                </a:solidFill>
                <a:latin typeface="Tahoma"/>
                <a:cs typeface="Tahoma"/>
              </a:rPr>
              <a:t> </a:t>
            </a:r>
            <a:r>
              <a:rPr sz="1600" b="1" spc="-80" dirty="0">
                <a:solidFill>
                  <a:srgbClr val="595959"/>
                </a:solidFill>
                <a:latin typeface="Tahoma"/>
                <a:cs typeface="Tahoma"/>
              </a:rPr>
              <a:t>Data </a:t>
            </a:r>
            <a:r>
              <a:rPr sz="1600" b="1" spc="-13" dirty="0">
                <a:solidFill>
                  <a:srgbClr val="595959"/>
                </a:solidFill>
                <a:latin typeface="Tahoma"/>
                <a:cs typeface="Tahoma"/>
              </a:rPr>
              <a:t>Generation</a:t>
            </a:r>
            <a:endParaRPr sz="1600">
              <a:latin typeface="Tahoma"/>
              <a:cs typeface="Tahoma"/>
            </a:endParaRPr>
          </a:p>
        </p:txBody>
      </p:sp>
      <p:sp>
        <p:nvSpPr>
          <p:cNvPr id="35" name="TextBox 34">
            <a:extLst>
              <a:ext uri="{FF2B5EF4-FFF2-40B4-BE49-F238E27FC236}">
                <a16:creationId xmlns:a16="http://schemas.microsoft.com/office/drawing/2014/main" id="{33C6110B-07E3-F8B6-64E4-D6A56AADCB4B}"/>
              </a:ext>
            </a:extLst>
          </p:cNvPr>
          <p:cNvSpPr txBox="1"/>
          <p:nvPr/>
        </p:nvSpPr>
        <p:spPr>
          <a:xfrm>
            <a:off x="0" y="6588186"/>
            <a:ext cx="8356615" cy="246221"/>
          </a:xfrm>
          <a:prstGeom prst="rect">
            <a:avLst/>
          </a:prstGeom>
          <a:noFill/>
        </p:spPr>
        <p:txBody>
          <a:bodyPr wrap="square">
            <a:spAutoFit/>
          </a:bodyPr>
          <a:lstStyle/>
          <a:p>
            <a:r>
              <a:rPr lang="en-IN" sz="1000" dirty="0"/>
              <a:t>Credits : Rishabh Agarwal, https://www.youtube.com/watch?v=O1AR4iL30mg</a:t>
            </a:r>
          </a:p>
        </p:txBody>
      </p:sp>
    </p:spTree>
    <p:extLst>
      <p:ext uri="{BB962C8B-B14F-4D97-AF65-F5344CB8AC3E}">
        <p14:creationId xmlns:p14="http://schemas.microsoft.com/office/powerpoint/2010/main" val="10321723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A0135-AE56-581C-B814-A2D92F9B85DB}"/>
              </a:ext>
            </a:extLst>
          </p:cNvPr>
          <p:cNvSpPr>
            <a:spLocks noGrp="1"/>
          </p:cNvSpPr>
          <p:nvPr>
            <p:ph type="title"/>
          </p:nvPr>
        </p:nvSpPr>
        <p:spPr/>
        <p:txBody>
          <a:bodyPr/>
          <a:lstStyle/>
          <a:p>
            <a:r>
              <a:rPr lang="en-IN" dirty="0"/>
              <a:t>Distilling step-by-step</a:t>
            </a:r>
            <a:br>
              <a:rPr lang="en-IN" dirty="0"/>
            </a:br>
            <a:endParaRPr lang="en-IN" dirty="0"/>
          </a:p>
        </p:txBody>
      </p:sp>
      <p:sp>
        <p:nvSpPr>
          <p:cNvPr id="5" name="Rectangle 3">
            <a:extLst>
              <a:ext uri="{FF2B5EF4-FFF2-40B4-BE49-F238E27FC236}">
                <a16:creationId xmlns:a16="http://schemas.microsoft.com/office/drawing/2014/main" id="{6BACCCA0-E5D5-1CF1-8FEC-6CA3F58969C0}"/>
              </a:ext>
            </a:extLst>
          </p:cNvPr>
          <p:cNvSpPr>
            <a:spLocks noChangeArrowheads="1"/>
          </p:cNvSpPr>
          <p:nvPr/>
        </p:nvSpPr>
        <p:spPr bwMode="auto">
          <a:xfrm>
            <a:off x="61343" y="542680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42384248-4EE8-095F-55D8-EE04D4638E39}"/>
              </a:ext>
            </a:extLst>
          </p:cNvPr>
          <p:cNvPicPr>
            <a:picLocks noChangeAspect="1"/>
          </p:cNvPicPr>
          <p:nvPr/>
        </p:nvPicPr>
        <p:blipFill>
          <a:blip r:embed="rId2"/>
          <a:stretch>
            <a:fillRect/>
          </a:stretch>
        </p:blipFill>
        <p:spPr>
          <a:xfrm>
            <a:off x="231987" y="834324"/>
            <a:ext cx="11003679" cy="5458312"/>
          </a:xfrm>
          <a:prstGeom prst="rect">
            <a:avLst/>
          </a:prstGeom>
        </p:spPr>
      </p:pic>
      <p:sp>
        <p:nvSpPr>
          <p:cNvPr id="11" name="TextBox 10">
            <a:extLst>
              <a:ext uri="{FF2B5EF4-FFF2-40B4-BE49-F238E27FC236}">
                <a16:creationId xmlns:a16="http://schemas.microsoft.com/office/drawing/2014/main" id="{FD651A30-F74E-5E00-6FB0-E9375E4B7E10}"/>
              </a:ext>
            </a:extLst>
          </p:cNvPr>
          <p:cNvSpPr txBox="1"/>
          <p:nvPr/>
        </p:nvSpPr>
        <p:spPr>
          <a:xfrm>
            <a:off x="61343" y="6579616"/>
            <a:ext cx="6103188" cy="246221"/>
          </a:xfrm>
          <a:prstGeom prst="rect">
            <a:avLst/>
          </a:prstGeom>
          <a:noFill/>
        </p:spPr>
        <p:txBody>
          <a:bodyPr wrap="square">
            <a:spAutoFit/>
          </a:bodyPr>
          <a:lstStyle/>
          <a:p>
            <a:r>
              <a:rPr lang="en-IN" sz="1000" dirty="0"/>
              <a:t>Distilling Step-by-Step! Outperforming Larger Language </a:t>
            </a:r>
            <a:r>
              <a:rPr lang="en-IN" sz="1000" dirty="0" err="1"/>
              <a:t>Modelswith</a:t>
            </a:r>
            <a:r>
              <a:rPr lang="en-IN" sz="1000" dirty="0"/>
              <a:t> Less Training Data and Smaller Model Sizes</a:t>
            </a:r>
          </a:p>
        </p:txBody>
      </p:sp>
    </p:spTree>
    <p:extLst>
      <p:ext uri="{BB962C8B-B14F-4D97-AF65-F5344CB8AC3E}">
        <p14:creationId xmlns:p14="http://schemas.microsoft.com/office/powerpoint/2010/main" val="12417798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Pruning</a:t>
            </a:r>
            <a:endParaRPr lang="en-IN" dirty="0"/>
          </a:p>
        </p:txBody>
      </p:sp>
      <p:pic>
        <p:nvPicPr>
          <p:cNvPr id="5" name="Picture 4"/>
          <p:cNvPicPr>
            <a:picLocks noChangeAspect="1"/>
          </p:cNvPicPr>
          <p:nvPr/>
        </p:nvPicPr>
        <p:blipFill>
          <a:blip r:embed="rId2"/>
          <a:stretch>
            <a:fillRect/>
          </a:stretch>
        </p:blipFill>
        <p:spPr>
          <a:xfrm>
            <a:off x="179260" y="3421846"/>
            <a:ext cx="4535876" cy="2233885"/>
          </a:xfrm>
          <a:prstGeom prst="rect">
            <a:avLst/>
          </a:prstGeom>
        </p:spPr>
      </p:pic>
      <p:pic>
        <p:nvPicPr>
          <p:cNvPr id="6" name="Picture 5"/>
          <p:cNvPicPr>
            <a:picLocks noChangeAspect="1"/>
          </p:cNvPicPr>
          <p:nvPr/>
        </p:nvPicPr>
        <p:blipFill>
          <a:blip r:embed="rId3"/>
          <a:stretch>
            <a:fillRect/>
          </a:stretch>
        </p:blipFill>
        <p:spPr>
          <a:xfrm>
            <a:off x="6568938" y="2872409"/>
            <a:ext cx="4963767" cy="3635082"/>
          </a:xfrm>
          <a:prstGeom prst="rect">
            <a:avLst/>
          </a:prstGeom>
        </p:spPr>
      </p:pic>
      <p:sp>
        <p:nvSpPr>
          <p:cNvPr id="9" name="Rectangle 8"/>
          <p:cNvSpPr/>
          <p:nvPr/>
        </p:nvSpPr>
        <p:spPr>
          <a:xfrm>
            <a:off x="304801" y="2142367"/>
            <a:ext cx="4004901" cy="1041855"/>
          </a:xfrm>
          <a:prstGeom prst="rect">
            <a:avLst/>
          </a:prstGeom>
        </p:spPr>
        <p:txBody>
          <a:bodyPr vert="horz" lIns="91440" tIns="45720" rIns="91440" bIns="45720" rtlCol="0">
            <a:normAutofit fontScale="92500" lnSpcReduction="20000"/>
          </a:bodyPr>
          <a:lstStyle/>
          <a:p>
            <a:r>
              <a:rPr lang="en-US" sz="2000" dirty="0">
                <a:latin typeface="Cambria" panose="02040503050406030204" pitchFamily="18" charset="0"/>
                <a:ea typeface="Cambria" panose="02040503050406030204" pitchFamily="18" charset="0"/>
              </a:rPr>
              <a:t>Unstructured Pruning</a:t>
            </a:r>
          </a:p>
          <a:p>
            <a:r>
              <a:rPr lang="en-US" sz="2000" dirty="0">
                <a:latin typeface="Cambria" panose="02040503050406030204" pitchFamily="18" charset="0"/>
                <a:ea typeface="Cambria" panose="02040503050406030204" pitchFamily="18" charset="0"/>
              </a:rPr>
              <a:t>prunes individual parameters, resulting in an </a:t>
            </a:r>
            <a:r>
              <a:rPr lang="en-IN" sz="2000" dirty="0">
                <a:latin typeface="Cambria" panose="02040503050406030204" pitchFamily="18" charset="0"/>
                <a:ea typeface="Cambria" panose="02040503050406030204" pitchFamily="18" charset="0"/>
              </a:rPr>
              <a:t>irregular sparse structure</a:t>
            </a:r>
          </a:p>
        </p:txBody>
      </p:sp>
      <p:sp>
        <p:nvSpPr>
          <p:cNvPr id="10" name="Rectangle 9"/>
          <p:cNvSpPr/>
          <p:nvPr/>
        </p:nvSpPr>
        <p:spPr>
          <a:xfrm>
            <a:off x="5019261" y="1976200"/>
            <a:ext cx="7172739" cy="896209"/>
          </a:xfrm>
          <a:prstGeom prst="rect">
            <a:avLst/>
          </a:prstGeom>
        </p:spPr>
        <p:txBody>
          <a:bodyPr vert="horz" lIns="91440" tIns="45720" rIns="91440" bIns="45720" rtlCol="0">
            <a:normAutofit fontScale="92500" lnSpcReduction="10000"/>
          </a:bodyPr>
          <a:lstStyle/>
          <a:p>
            <a:r>
              <a:rPr lang="en-US" sz="2000" dirty="0">
                <a:latin typeface="Cambria" panose="02040503050406030204" pitchFamily="18" charset="0"/>
                <a:ea typeface="Cambria" panose="02040503050406030204" pitchFamily="18" charset="0"/>
              </a:rPr>
              <a:t>Structured Pruning</a:t>
            </a:r>
            <a:endParaRPr lang="en-IN" sz="2000" dirty="0">
              <a:latin typeface="Cambria" panose="02040503050406030204" pitchFamily="18" charset="0"/>
              <a:ea typeface="Cambria" panose="02040503050406030204" pitchFamily="18" charset="0"/>
            </a:endParaRPr>
          </a:p>
          <a:p>
            <a:r>
              <a:rPr lang="en-IN" sz="2000" dirty="0">
                <a:latin typeface="Cambria" panose="02040503050406030204" pitchFamily="18" charset="0"/>
                <a:ea typeface="Cambria" panose="02040503050406030204" pitchFamily="18" charset="0"/>
              </a:rPr>
              <a:t>Removes entire components </a:t>
            </a:r>
            <a:r>
              <a:rPr lang="en-US" sz="2000" dirty="0">
                <a:latin typeface="Cambria" panose="02040503050406030204" pitchFamily="18" charset="0"/>
                <a:ea typeface="Cambria" panose="02040503050406030204" pitchFamily="18" charset="0"/>
              </a:rPr>
              <a:t>like neurons, attention heads, or layers based on specific rules, </a:t>
            </a:r>
            <a:r>
              <a:rPr lang="en-IN" sz="2000" dirty="0">
                <a:latin typeface="Cambria" panose="02040503050406030204" pitchFamily="18" charset="0"/>
                <a:ea typeface="Cambria" panose="02040503050406030204" pitchFamily="18" charset="0"/>
              </a:rPr>
              <a:t>may degrade model performance</a:t>
            </a:r>
            <a:endParaRPr lang="en-US" sz="2000" dirty="0">
              <a:latin typeface="Cambria" panose="02040503050406030204" pitchFamily="18" charset="0"/>
              <a:ea typeface="Cambria" panose="02040503050406030204" pitchFamily="18" charset="0"/>
            </a:endParaRPr>
          </a:p>
        </p:txBody>
      </p:sp>
      <p:sp>
        <p:nvSpPr>
          <p:cNvPr id="11" name="Rectangle 10"/>
          <p:cNvSpPr/>
          <p:nvPr/>
        </p:nvSpPr>
        <p:spPr>
          <a:xfrm>
            <a:off x="179260" y="6279356"/>
            <a:ext cx="11833480" cy="584775"/>
          </a:xfrm>
          <a:prstGeom prst="rect">
            <a:avLst/>
          </a:prstGeom>
        </p:spPr>
        <p:txBody>
          <a:bodyPr wrap="square">
            <a:spAutoFit/>
          </a:bodyPr>
          <a:lstStyle/>
          <a:p>
            <a:r>
              <a:rPr lang="en-IN" sz="1600" dirty="0">
                <a:latin typeface="Cambria" panose="02040503050406030204" pitchFamily="18" charset="0"/>
                <a:ea typeface="Cambria" panose="02040503050406030204" pitchFamily="18" charset="0"/>
              </a:rPr>
              <a:t>A Survey on Model Compression for Large Language Models</a:t>
            </a:r>
          </a:p>
          <a:p>
            <a:r>
              <a:rPr lang="en-US" sz="1600" dirty="0">
                <a:latin typeface="Cambria" panose="02040503050406030204" pitchFamily="18" charset="0"/>
                <a:ea typeface="Cambria" panose="02040503050406030204" pitchFamily="18" charset="0"/>
              </a:rPr>
              <a:t>Image credits: A Survey on Deep Neural Network Pruning: Taxonomy, Comparison, Analysis, and Recommendations</a:t>
            </a:r>
            <a:endParaRPr lang="en-IN" sz="1600"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CE2E31E9-03CD-69C1-E05D-4C59141246DA}"/>
              </a:ext>
            </a:extLst>
          </p:cNvPr>
          <p:cNvSpPr txBox="1"/>
          <p:nvPr/>
        </p:nvSpPr>
        <p:spPr>
          <a:xfrm>
            <a:off x="97942" y="1442715"/>
            <a:ext cx="11833479" cy="400110"/>
          </a:xfrm>
          <a:prstGeom prst="rect">
            <a:avLst/>
          </a:prstGeom>
          <a:solidFill>
            <a:schemeClr val="accent3">
              <a:lumMod val="40000"/>
              <a:lumOff val="60000"/>
            </a:schemeClr>
          </a:solidFill>
        </p:spPr>
        <p:txBody>
          <a:bodyPr wrap="square">
            <a:spAutoFit/>
          </a:bodyPr>
          <a:lstStyle/>
          <a:p>
            <a:r>
              <a:rPr lang="en-IN" sz="2000" dirty="0"/>
              <a:t>Technique </a:t>
            </a:r>
            <a:r>
              <a:rPr lang="en-US" sz="2000" dirty="0"/>
              <a:t>to reduce the size or complexity of a model by removing redundant components</a:t>
            </a:r>
          </a:p>
        </p:txBody>
      </p:sp>
    </p:spTree>
    <p:extLst>
      <p:ext uri="{BB962C8B-B14F-4D97-AF65-F5344CB8AC3E}">
        <p14:creationId xmlns:p14="http://schemas.microsoft.com/office/powerpoint/2010/main" val="41141149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idx="10"/>
          </p:nvPr>
        </p:nvSpPr>
        <p:spPr>
          <a:xfrm>
            <a:off x="304800" y="1545224"/>
            <a:ext cx="11887200" cy="4525963"/>
          </a:xfrm>
        </p:spPr>
        <p:txBody>
          <a:bodyPr>
            <a:normAutofit fontScale="85000" lnSpcReduction="20000"/>
          </a:bodyPr>
          <a:lstStyle/>
          <a:p>
            <a:pPr marL="342900" indent="-342900">
              <a:buFont typeface="Arial" panose="020B0604020202020204" pitchFamily="34" charset="0"/>
              <a:buChar char="•"/>
            </a:pPr>
            <a:r>
              <a:rPr lang="en-US" dirty="0">
                <a:hlinkClick r:id="rId2"/>
              </a:rPr>
              <a:t>https://magazine.sebastianraschka.com/p/visual-attention-variants</a:t>
            </a:r>
            <a:endParaRPr lang="en-US" dirty="0">
              <a:hlinkClick r:id="" action="ppaction://noaction"/>
            </a:endParaRPr>
          </a:p>
          <a:p>
            <a:pPr marL="342900" indent="-342900">
              <a:buFont typeface="Arial" panose="020B0604020202020204" pitchFamily="34" charset="0"/>
              <a:buChar char="•"/>
            </a:pPr>
            <a:r>
              <a:rPr lang="en-US" dirty="0">
                <a:hlinkClick r:id="rId3"/>
              </a:rPr>
              <a:t>https://magazine.sebastianraschka.com/p/recent-developments-in-llm-architectures</a:t>
            </a:r>
            <a:endParaRPr lang="en-US" dirty="0">
              <a:hlinkClick r:id="" action="ppaction://noaction"/>
            </a:endParaRPr>
          </a:p>
          <a:p>
            <a:pPr marL="342900" indent="-342900">
              <a:buFont typeface="Arial" panose="020B0604020202020204" pitchFamily="34" charset="0"/>
              <a:buChar char="•"/>
            </a:pPr>
            <a:r>
              <a:rPr lang="en-IN" dirty="0"/>
              <a:t>Hands-On Large Language Models by Jay </a:t>
            </a:r>
            <a:r>
              <a:rPr lang="en-IN" dirty="0" err="1"/>
              <a:t>Alammar</a:t>
            </a:r>
            <a:r>
              <a:rPr lang="en-IN" dirty="0"/>
              <a:t> and Maarten Grootendorst, Oreilly </a:t>
            </a:r>
            <a:r>
              <a:rPr lang="en-US" dirty="0"/>
              <a:t>: Ch- 3</a:t>
            </a:r>
          </a:p>
          <a:p>
            <a:pPr marL="342900" indent="-342900">
              <a:buFont typeface="Arial" panose="020B0604020202020204" pitchFamily="34" charset="0"/>
              <a:buChar char="•"/>
            </a:pPr>
            <a:r>
              <a:rPr lang="en-US" dirty="0">
                <a:hlinkClick r:id="rId4"/>
              </a:rPr>
              <a:t>https://magazine.sebastianraschka.com/p/beyond-standard-llms</a:t>
            </a:r>
            <a:endParaRPr lang="en-US" dirty="0"/>
          </a:p>
          <a:p>
            <a:pPr marL="342900" indent="-342900">
              <a:buFont typeface="Arial" panose="020B0604020202020204" pitchFamily="34" charset="0"/>
              <a:buChar char="•"/>
            </a:pPr>
            <a:r>
              <a:rPr lang="en-US" dirty="0">
                <a:hlinkClick r:id="rId5"/>
              </a:rPr>
              <a:t>https://docs.nvidia.com/nim/benchmarking/llm/latest/metrics.html</a:t>
            </a:r>
            <a:endParaRPr lang="en-US" dirty="0"/>
          </a:p>
          <a:p>
            <a:pPr marL="342900" indent="-342900">
              <a:buFont typeface="Arial" panose="020B0604020202020204" pitchFamily="34" charset="0"/>
              <a:buChar char="•"/>
            </a:pPr>
            <a:r>
              <a:rPr lang="en-US" dirty="0">
                <a:hlinkClick r:id="rId6"/>
              </a:rPr>
              <a:t>https://huggingface.co/docs/transformers/en/quantization/overview</a:t>
            </a:r>
            <a:endParaRPr lang="en-US" dirty="0"/>
          </a:p>
          <a:p>
            <a:pPr marL="342900" indent="-342900">
              <a:buFont typeface="Arial" panose="020B0604020202020204" pitchFamily="34" charset="0"/>
              <a:buChar char="•"/>
            </a:pPr>
            <a:r>
              <a:rPr lang="en-US" dirty="0">
                <a:hlinkClick r:id="rId7"/>
              </a:rPr>
              <a:t>https://huggingface.co/blog/merve/quantization</a:t>
            </a:r>
            <a:endParaRPr lang="en-US" dirty="0"/>
          </a:p>
          <a:p>
            <a:pPr marL="342900" indent="-342900">
              <a:buFont typeface="Arial" panose="020B0604020202020204" pitchFamily="34" charset="0"/>
              <a:buChar char="•"/>
            </a:pPr>
            <a:r>
              <a:rPr lang="en-US" dirty="0"/>
              <a:t>https://newsletter.maartengrootendorst.com/p/a-visual-guide-to-quantization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hlinkClick r:id="" action="ppaction://noaction"/>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Research Papers</a:t>
            </a:r>
          </a:p>
          <a:p>
            <a:pPr marL="342900" indent="-342900">
              <a:buFont typeface="Arial" panose="020B0604020202020204" pitchFamily="34" charset="0"/>
              <a:buChar char="•"/>
            </a:pPr>
            <a:r>
              <a:rPr lang="en-US" dirty="0"/>
              <a:t>DeepSeek-V2: A Strong, Economical, and </a:t>
            </a:r>
            <a:r>
              <a:rPr lang="en-US" dirty="0" err="1"/>
              <a:t>EfficientMixture</a:t>
            </a:r>
            <a:r>
              <a:rPr lang="en-US" dirty="0"/>
              <a:t>-of-Experts Language Model</a:t>
            </a:r>
          </a:p>
          <a:p>
            <a:pPr marL="342900" indent="-342900">
              <a:buFont typeface="Arial" panose="020B0604020202020204" pitchFamily="34" charset="0"/>
              <a:buChar char="•"/>
            </a:pPr>
            <a:r>
              <a:rPr lang="en-IN" dirty="0"/>
              <a:t>MIXED PRECISION TRAINING</a:t>
            </a:r>
          </a:p>
          <a:p>
            <a:pPr marL="342900" indent="-342900">
              <a:buFont typeface="Arial" panose="020B0604020202020204" pitchFamily="34" charset="0"/>
              <a:buChar char="•"/>
            </a:pPr>
            <a:r>
              <a:rPr lang="en-US" b="1" dirty="0" err="1"/>
              <a:t>FlashAttention</a:t>
            </a:r>
            <a:r>
              <a:rPr lang="en-US" b="1" dirty="0"/>
              <a:t>: Fast and Memory-Efficient Exact Attention with IO-Awareness</a:t>
            </a:r>
          </a:p>
          <a:p>
            <a:pPr marL="342900" indent="-342900">
              <a:buFont typeface="Arial" panose="020B0604020202020204" pitchFamily="34" charset="0"/>
              <a:buChar char="•"/>
            </a:pPr>
            <a:r>
              <a:rPr lang="en-US" b="1" dirty="0"/>
              <a:t>Distilling Step-by-Step! Outperforming Larger Language </a:t>
            </a:r>
            <a:r>
              <a:rPr lang="en-US" b="1" dirty="0" err="1"/>
              <a:t>Modelswith</a:t>
            </a:r>
            <a:r>
              <a:rPr lang="en-US" b="1" dirty="0"/>
              <a:t> Less Training Data and Smaller Model Sizes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IN" dirty="0"/>
          </a:p>
        </p:txBody>
      </p:sp>
      <p:sp>
        <p:nvSpPr>
          <p:cNvPr id="4" name="Title 3"/>
          <p:cNvSpPr>
            <a:spLocks noGrp="1"/>
          </p:cNvSpPr>
          <p:nvPr>
            <p:ph type="title"/>
          </p:nvPr>
        </p:nvSpPr>
        <p:spPr/>
        <p:txBody>
          <a:bodyPr/>
          <a:lstStyle/>
          <a:p>
            <a:r>
              <a:rPr lang="en-US" dirty="0"/>
              <a:t>References</a:t>
            </a:r>
            <a:br>
              <a:rPr lang="en-IN" dirty="0"/>
            </a:br>
            <a:endParaRPr lang="en-IN" dirty="0"/>
          </a:p>
        </p:txBody>
      </p:sp>
    </p:spTree>
    <p:extLst>
      <p:ext uri="{BB962C8B-B14F-4D97-AF65-F5344CB8AC3E}">
        <p14:creationId xmlns:p14="http://schemas.microsoft.com/office/powerpoint/2010/main" val="6348590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E91F58-0AD4-E50F-FD43-9B3E5425FB01}"/>
              </a:ext>
            </a:extLst>
          </p:cNvPr>
          <p:cNvSpPr>
            <a:spLocks noGrp="1"/>
          </p:cNvSpPr>
          <p:nvPr>
            <p:ph type="title"/>
          </p:nvPr>
        </p:nvSpPr>
        <p:spPr>
          <a:xfrm>
            <a:off x="891397" y="2734574"/>
            <a:ext cx="10881209" cy="1219200"/>
          </a:xfrm>
        </p:spPr>
        <p:txBody>
          <a:bodyPr/>
          <a:lstStyle/>
          <a:p>
            <a:r>
              <a:rPr lang="en-US" dirty="0"/>
              <a:t>Extra slides not for exam</a:t>
            </a:r>
            <a:br>
              <a:rPr lang="en-US" dirty="0"/>
            </a:br>
            <a:r>
              <a:rPr lang="en-US" sz="2400" dirty="0"/>
              <a:t>MLA math</a:t>
            </a:r>
            <a:endParaRPr lang="en-IN" sz="2400" dirty="0"/>
          </a:p>
        </p:txBody>
      </p:sp>
    </p:spTree>
    <p:extLst>
      <p:ext uri="{BB962C8B-B14F-4D97-AF65-F5344CB8AC3E}">
        <p14:creationId xmlns:p14="http://schemas.microsoft.com/office/powerpoint/2010/main" val="12195214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92608"/>
            <a:ext cx="11064240" cy="594360"/>
          </a:xfrm>
          <a:prstGeom prst="rect">
            <a:avLst/>
          </a:prstGeom>
          <a:noFill/>
          <a:ln/>
        </p:spPr>
        <p:txBody>
          <a:bodyPr wrap="square" lIns="0" tIns="0" rIns="0" bIns="0" rtlCol="0" anchor="ctr"/>
          <a:lstStyle/>
          <a:p>
            <a:pPr marL="0" indent="0" algn="l">
              <a:buNone/>
            </a:pPr>
            <a:r>
              <a:rPr lang="en-US" sz="3000" b="1" dirty="0">
                <a:solidFill>
                  <a:srgbClr val="8B1A1A"/>
                </a:solidFill>
                <a:latin typeface="Trebuchet MS" pitchFamily="34" charset="0"/>
                <a:ea typeface="Trebuchet MS" pitchFamily="34" charset="-122"/>
                <a:cs typeface="Trebuchet MS" pitchFamily="34" charset="-120"/>
              </a:rPr>
              <a:t>One number MLA shrinks</a:t>
            </a:r>
            <a:endParaRPr lang="en-US" sz="3000" dirty="0"/>
          </a:p>
        </p:txBody>
      </p:sp>
      <p:sp>
        <p:nvSpPr>
          <p:cNvPr id="3" name="Text 1"/>
          <p:cNvSpPr/>
          <p:nvPr/>
        </p:nvSpPr>
        <p:spPr>
          <a:xfrm>
            <a:off x="548640" y="896112"/>
            <a:ext cx="11064240" cy="365760"/>
          </a:xfrm>
          <a:prstGeom prst="rect">
            <a:avLst/>
          </a:prstGeom>
          <a:noFill/>
          <a:ln/>
        </p:spPr>
        <p:txBody>
          <a:bodyPr wrap="square" lIns="0" tIns="0" rIns="0" bIns="0" rtlCol="0" anchor="ctr"/>
          <a:lstStyle/>
          <a:p>
            <a:pPr marL="0" indent="0" algn="l">
              <a:buNone/>
            </a:pPr>
            <a:r>
              <a:rPr lang="en-US" sz="2000" i="1" dirty="0">
                <a:solidFill>
                  <a:srgbClr val="6B6A63"/>
                </a:solidFill>
                <a:latin typeface="Calibri" pitchFamily="34" charset="0"/>
                <a:ea typeface="Calibri" pitchFamily="34" charset="-122"/>
                <a:cs typeface="Calibri" pitchFamily="34" charset="-120"/>
              </a:rPr>
              <a:t>KV-cache size per token per layer — the decode bottleneck.</a:t>
            </a:r>
            <a:endParaRPr lang="en-US" sz="2000" dirty="0"/>
          </a:p>
        </p:txBody>
      </p:sp>
      <p:sp>
        <p:nvSpPr>
          <p:cNvPr id="4" name="Shape 2"/>
          <p:cNvSpPr/>
          <p:nvPr/>
        </p:nvSpPr>
        <p:spPr>
          <a:xfrm>
            <a:off x="640080" y="1554480"/>
            <a:ext cx="5303520" cy="4114800"/>
          </a:xfrm>
          <a:prstGeom prst="roundRect">
            <a:avLst>
              <a:gd name="adj" fmla="val 2222"/>
            </a:avLst>
          </a:prstGeom>
          <a:solidFill>
            <a:srgbClr val="FAECE7"/>
          </a:solidFill>
          <a:ln w="12700">
            <a:solidFill>
              <a:srgbClr val="D85A30"/>
            </a:solidFill>
            <a:prstDash val="solid"/>
          </a:ln>
        </p:spPr>
        <p:txBody>
          <a:bodyPr/>
          <a:lstStyle/>
          <a:p>
            <a:endParaRPr lang="en-IN"/>
          </a:p>
        </p:txBody>
      </p:sp>
      <p:sp>
        <p:nvSpPr>
          <p:cNvPr id="5" name="Text 3"/>
          <p:cNvSpPr/>
          <p:nvPr/>
        </p:nvSpPr>
        <p:spPr>
          <a:xfrm>
            <a:off x="822960" y="1737360"/>
            <a:ext cx="4937760" cy="365760"/>
          </a:xfrm>
          <a:prstGeom prst="rect">
            <a:avLst/>
          </a:prstGeom>
          <a:noFill/>
          <a:ln/>
        </p:spPr>
        <p:txBody>
          <a:bodyPr wrap="square" lIns="0" tIns="0" rIns="0" bIns="0" rtlCol="0" anchor="ctr"/>
          <a:lstStyle/>
          <a:p>
            <a:pPr marL="0" indent="0" algn="l">
              <a:buNone/>
            </a:pPr>
            <a:r>
              <a:rPr lang="en-US" sz="1700" b="1" dirty="0">
                <a:solidFill>
                  <a:srgbClr val="712B13"/>
                </a:solidFill>
                <a:latin typeface="Trebuchet MS" pitchFamily="34" charset="0"/>
                <a:ea typeface="Trebuchet MS" pitchFamily="34" charset="-122"/>
                <a:cs typeface="Trebuchet MS" pitchFamily="34" charset="-120"/>
              </a:rPr>
              <a:t>Multi-Head Attention (MHA)</a:t>
            </a:r>
            <a:endParaRPr lang="en-US" sz="1700" dirty="0"/>
          </a:p>
        </p:txBody>
      </p:sp>
      <p:sp>
        <p:nvSpPr>
          <p:cNvPr id="6" name="Text 4"/>
          <p:cNvSpPr/>
          <p:nvPr/>
        </p:nvSpPr>
        <p:spPr>
          <a:xfrm>
            <a:off x="822960" y="2103120"/>
            <a:ext cx="4937760" cy="320040"/>
          </a:xfrm>
          <a:prstGeom prst="rect">
            <a:avLst/>
          </a:prstGeom>
          <a:noFill/>
          <a:ln/>
        </p:spPr>
        <p:txBody>
          <a:bodyPr wrap="square" lIns="0" tIns="0" rIns="0" bIns="0" rtlCol="0" anchor="ctr"/>
          <a:lstStyle/>
          <a:p>
            <a:pPr marL="0" indent="0" algn="l">
              <a:buNone/>
            </a:pPr>
            <a:r>
              <a:rPr lang="en-US" i="1" dirty="0">
                <a:solidFill>
                  <a:srgbClr val="712B13"/>
                </a:solidFill>
                <a:latin typeface="Calibri" pitchFamily="34" charset="0"/>
                <a:ea typeface="Calibri" pitchFamily="34" charset="-122"/>
                <a:cs typeface="Calibri" pitchFamily="34" charset="-120"/>
              </a:rPr>
              <a:t>Store K and V, every head, every token, every layer.</a:t>
            </a:r>
            <a:endParaRPr lang="en-US" dirty="0"/>
          </a:p>
        </p:txBody>
      </p:sp>
      <p:sp>
        <p:nvSpPr>
          <p:cNvPr id="7" name="Shape 5"/>
          <p:cNvSpPr/>
          <p:nvPr/>
        </p:nvSpPr>
        <p:spPr>
          <a:xfrm>
            <a:off x="914400" y="2651760"/>
            <a:ext cx="4754880" cy="868680"/>
          </a:xfrm>
          <a:prstGeom prst="roundRect">
            <a:avLst>
              <a:gd name="adj" fmla="val 10526"/>
            </a:avLst>
          </a:prstGeom>
          <a:solidFill>
            <a:srgbClr val="FFFFFF"/>
          </a:solidFill>
          <a:ln w="12700">
            <a:solidFill>
              <a:srgbClr val="D85A30"/>
            </a:solidFill>
            <a:prstDash val="solid"/>
          </a:ln>
        </p:spPr>
        <p:txBody>
          <a:bodyPr/>
          <a:lstStyle/>
          <a:p>
            <a:endParaRPr lang="en-IN"/>
          </a:p>
        </p:txBody>
      </p:sp>
      <p:sp>
        <p:nvSpPr>
          <p:cNvPr id="8" name="Text 6"/>
          <p:cNvSpPr/>
          <p:nvPr/>
        </p:nvSpPr>
        <p:spPr>
          <a:xfrm>
            <a:off x="914400" y="2651760"/>
            <a:ext cx="4754880" cy="868680"/>
          </a:xfrm>
          <a:prstGeom prst="rect">
            <a:avLst/>
          </a:prstGeom>
          <a:noFill/>
          <a:ln/>
        </p:spPr>
        <p:txBody>
          <a:bodyPr wrap="square" lIns="0" tIns="0" rIns="0" bIns="0" rtlCol="0" anchor="ctr"/>
          <a:lstStyle/>
          <a:p>
            <a:pPr marL="0" indent="0" algn="ctr">
              <a:buNone/>
            </a:pPr>
            <a:r>
              <a:rPr lang="en-US" sz="3000" b="1" dirty="0">
                <a:solidFill>
                  <a:srgbClr val="712B13"/>
                </a:solidFill>
                <a:latin typeface="Cambria" pitchFamily="34" charset="0"/>
                <a:ea typeface="Cambria" pitchFamily="34" charset="-122"/>
                <a:cs typeface="Cambria" pitchFamily="34" charset="-120"/>
              </a:rPr>
              <a:t>cache</a:t>
            </a:r>
            <a:r>
              <a:rPr lang="en-US" sz="3000" dirty="0">
                <a:solidFill>
                  <a:srgbClr val="23211C"/>
                </a:solidFill>
                <a:latin typeface="Cambria" pitchFamily="34" charset="0"/>
                <a:ea typeface="Cambria" pitchFamily="34" charset="-122"/>
                <a:cs typeface="Cambria" pitchFamily="34" charset="-120"/>
              </a:rPr>
              <a:t>  =  </a:t>
            </a:r>
            <a:r>
              <a:rPr lang="en-US" sz="3000" b="1" dirty="0">
                <a:solidFill>
                  <a:srgbClr val="712B13"/>
                </a:solidFill>
                <a:latin typeface="Cambria" pitchFamily="34" charset="0"/>
                <a:ea typeface="Cambria" pitchFamily="34" charset="-122"/>
                <a:cs typeface="Cambria" pitchFamily="34" charset="-120"/>
              </a:rPr>
              <a:t>2</a:t>
            </a:r>
            <a:r>
              <a:rPr lang="en-US" sz="3000" dirty="0">
                <a:solidFill>
                  <a:srgbClr val="23211C"/>
                </a:solidFill>
                <a:latin typeface="Cambria" pitchFamily="34" charset="0"/>
                <a:ea typeface="Cambria" pitchFamily="34" charset="-122"/>
                <a:cs typeface="Cambria" pitchFamily="34" charset="-120"/>
              </a:rPr>
              <a:t> · </a:t>
            </a:r>
            <a:r>
              <a:rPr lang="en-US" sz="3000" b="1" dirty="0">
                <a:solidFill>
                  <a:srgbClr val="712B13"/>
                </a:solidFill>
                <a:latin typeface="Cambria" pitchFamily="34" charset="0"/>
                <a:ea typeface="Cambria" pitchFamily="34" charset="-122"/>
                <a:cs typeface="Cambria" pitchFamily="34" charset="-120"/>
              </a:rPr>
              <a:t>n</a:t>
            </a:r>
            <a:r>
              <a:rPr lang="en-US" sz="1800" b="1" baseline="-40000" dirty="0">
                <a:solidFill>
                  <a:srgbClr val="712B13"/>
                </a:solidFill>
                <a:latin typeface="Cambria" pitchFamily="34" charset="0"/>
                <a:ea typeface="Cambria" pitchFamily="34" charset="-122"/>
                <a:cs typeface="Cambria" pitchFamily="34" charset="-120"/>
              </a:rPr>
              <a:t>h</a:t>
            </a:r>
            <a:r>
              <a:rPr lang="en-US" sz="3000" dirty="0">
                <a:solidFill>
                  <a:srgbClr val="23211C"/>
                </a:solidFill>
                <a:latin typeface="Cambria" pitchFamily="34" charset="0"/>
                <a:ea typeface="Cambria" pitchFamily="34" charset="-122"/>
                <a:cs typeface="Cambria" pitchFamily="34" charset="-120"/>
              </a:rPr>
              <a:t> · </a:t>
            </a:r>
            <a:r>
              <a:rPr lang="en-US" sz="3000" b="1" dirty="0">
                <a:solidFill>
                  <a:srgbClr val="712B13"/>
                </a:solidFill>
                <a:latin typeface="Cambria" pitchFamily="34" charset="0"/>
                <a:ea typeface="Cambria" pitchFamily="34" charset="-122"/>
                <a:cs typeface="Cambria" pitchFamily="34" charset="-120"/>
              </a:rPr>
              <a:t>d</a:t>
            </a:r>
            <a:r>
              <a:rPr lang="en-US" sz="1800" b="1" baseline="-40000" dirty="0">
                <a:solidFill>
                  <a:srgbClr val="712B13"/>
                </a:solidFill>
                <a:latin typeface="Cambria" pitchFamily="34" charset="0"/>
                <a:ea typeface="Cambria" pitchFamily="34" charset="-122"/>
                <a:cs typeface="Cambria" pitchFamily="34" charset="-120"/>
              </a:rPr>
              <a:t>h</a:t>
            </a:r>
            <a:endParaRPr lang="en-US" sz="3000" dirty="0"/>
          </a:p>
        </p:txBody>
      </p:sp>
      <p:sp>
        <p:nvSpPr>
          <p:cNvPr id="9" name="Shape 7"/>
          <p:cNvSpPr/>
          <p:nvPr/>
        </p:nvSpPr>
        <p:spPr>
          <a:xfrm>
            <a:off x="914400" y="3703320"/>
            <a:ext cx="4754880" cy="868680"/>
          </a:xfrm>
          <a:prstGeom prst="roundRect">
            <a:avLst>
              <a:gd name="adj" fmla="val 10526"/>
            </a:avLst>
          </a:prstGeom>
          <a:solidFill>
            <a:srgbClr val="FFFFFF"/>
          </a:solidFill>
          <a:ln w="12700">
            <a:solidFill>
              <a:srgbClr val="D85A30"/>
            </a:solidFill>
            <a:prstDash val="solid"/>
          </a:ln>
        </p:spPr>
        <p:txBody>
          <a:bodyPr/>
          <a:lstStyle/>
          <a:p>
            <a:endParaRPr lang="en-IN"/>
          </a:p>
        </p:txBody>
      </p:sp>
      <p:sp>
        <p:nvSpPr>
          <p:cNvPr id="10" name="Text 8"/>
          <p:cNvSpPr/>
          <p:nvPr/>
        </p:nvSpPr>
        <p:spPr>
          <a:xfrm>
            <a:off x="914400" y="3703320"/>
            <a:ext cx="4754880" cy="868680"/>
          </a:xfrm>
          <a:prstGeom prst="rect">
            <a:avLst/>
          </a:prstGeom>
          <a:noFill/>
          <a:ln/>
        </p:spPr>
        <p:txBody>
          <a:bodyPr wrap="square" lIns="0" tIns="0" rIns="0" bIns="0" rtlCol="0" anchor="ctr"/>
          <a:lstStyle/>
          <a:p>
            <a:pPr marL="0" indent="0" algn="ctr">
              <a:buNone/>
            </a:pPr>
            <a:r>
              <a:rPr lang="en-US" sz="2600" dirty="0">
                <a:solidFill>
                  <a:srgbClr val="23211C"/>
                </a:solidFill>
                <a:latin typeface="Cambria" pitchFamily="34" charset="0"/>
                <a:ea typeface="Cambria" pitchFamily="34" charset="-122"/>
                <a:cs typeface="Cambria" pitchFamily="34" charset="-120"/>
              </a:rPr>
              <a:t>=</a:t>
            </a:r>
            <a:r>
              <a:rPr lang="en-US" sz="2600" b="1" dirty="0">
                <a:solidFill>
                  <a:srgbClr val="712B13"/>
                </a:solidFill>
                <a:latin typeface="Cambria" pitchFamily="34" charset="0"/>
                <a:ea typeface="Cambria" pitchFamily="34" charset="-122"/>
                <a:cs typeface="Cambria" pitchFamily="34" charset="-120"/>
              </a:rPr>
              <a:t> 2 · 128 · 128  =  </a:t>
            </a:r>
            <a:r>
              <a:rPr lang="en-US" sz="3200" b="1" dirty="0">
                <a:solidFill>
                  <a:srgbClr val="712B13"/>
                </a:solidFill>
                <a:latin typeface="Cambria" pitchFamily="34" charset="0"/>
                <a:ea typeface="Cambria" pitchFamily="34" charset="-122"/>
                <a:cs typeface="Cambria" pitchFamily="34" charset="-120"/>
              </a:rPr>
              <a:t>32,768</a:t>
            </a:r>
            <a:endParaRPr lang="en-US" sz="2600" dirty="0"/>
          </a:p>
        </p:txBody>
      </p:sp>
      <p:sp>
        <p:nvSpPr>
          <p:cNvPr id="11" name="Text 9"/>
          <p:cNvSpPr/>
          <p:nvPr/>
        </p:nvSpPr>
        <p:spPr>
          <a:xfrm>
            <a:off x="914400" y="4663440"/>
            <a:ext cx="4754880" cy="320040"/>
          </a:xfrm>
          <a:prstGeom prst="rect">
            <a:avLst/>
          </a:prstGeom>
          <a:noFill/>
          <a:ln/>
        </p:spPr>
        <p:txBody>
          <a:bodyPr wrap="square" lIns="0" tIns="0" rIns="0" bIns="0" rtlCol="0" anchor="ctr"/>
          <a:lstStyle/>
          <a:p>
            <a:pPr marL="0" indent="0" algn="ctr">
              <a:buNone/>
            </a:pPr>
            <a:r>
              <a:rPr lang="en-US" sz="1600" i="1" dirty="0">
                <a:solidFill>
                  <a:srgbClr val="6B6A63"/>
                </a:solidFill>
                <a:latin typeface="Calibri" pitchFamily="34" charset="0"/>
                <a:ea typeface="Calibri" pitchFamily="34" charset="-122"/>
                <a:cs typeface="Calibri" pitchFamily="34" charset="-120"/>
              </a:rPr>
              <a:t>numbers per token per layer</a:t>
            </a:r>
            <a:endParaRPr lang="en-US" sz="1600" dirty="0"/>
          </a:p>
        </p:txBody>
      </p:sp>
      <p:sp>
        <p:nvSpPr>
          <p:cNvPr id="12" name="Text 10"/>
          <p:cNvSpPr/>
          <p:nvPr/>
        </p:nvSpPr>
        <p:spPr>
          <a:xfrm>
            <a:off x="822960" y="5120640"/>
            <a:ext cx="4937760" cy="320040"/>
          </a:xfrm>
          <a:prstGeom prst="rect">
            <a:avLst/>
          </a:prstGeom>
          <a:noFill/>
          <a:ln/>
        </p:spPr>
        <p:txBody>
          <a:bodyPr wrap="square" lIns="0" tIns="0" rIns="0" bIns="0" rtlCol="0" anchor="ctr"/>
          <a:lstStyle/>
          <a:p>
            <a:pPr marL="0" indent="0" algn="l">
              <a:buNone/>
            </a:pPr>
            <a:r>
              <a:rPr lang="en-US" sz="1600" dirty="0">
                <a:solidFill>
                  <a:srgbClr val="712B13"/>
                </a:solidFill>
                <a:latin typeface="Calibri" pitchFamily="34" charset="0"/>
                <a:ea typeface="Calibri" pitchFamily="34" charset="-122"/>
                <a:cs typeface="Calibri" pitchFamily="34" charset="-120"/>
              </a:rPr>
              <a:t>128 heads · each head has its own K and V (each 128 wide)</a:t>
            </a:r>
            <a:endParaRPr lang="en-US" sz="1600" dirty="0"/>
          </a:p>
        </p:txBody>
      </p:sp>
      <p:sp>
        <p:nvSpPr>
          <p:cNvPr id="13" name="Shape 11"/>
          <p:cNvSpPr/>
          <p:nvPr/>
        </p:nvSpPr>
        <p:spPr>
          <a:xfrm>
            <a:off x="6126480" y="3383280"/>
            <a:ext cx="502920" cy="411480"/>
          </a:xfrm>
          <a:prstGeom prst="rightArrow">
            <a:avLst/>
          </a:prstGeom>
          <a:solidFill>
            <a:srgbClr val="9A988F"/>
          </a:solidFill>
          <a:ln w="12700">
            <a:solidFill>
              <a:srgbClr val="9A988F"/>
            </a:solidFill>
            <a:prstDash val="solid"/>
          </a:ln>
        </p:spPr>
        <p:txBody>
          <a:bodyPr/>
          <a:lstStyle/>
          <a:p>
            <a:endParaRPr lang="en-IN"/>
          </a:p>
        </p:txBody>
      </p:sp>
      <p:sp>
        <p:nvSpPr>
          <p:cNvPr id="14" name="Text 12"/>
          <p:cNvSpPr/>
          <p:nvPr/>
        </p:nvSpPr>
        <p:spPr>
          <a:xfrm>
            <a:off x="5943600" y="3840480"/>
            <a:ext cx="914400" cy="274320"/>
          </a:xfrm>
          <a:prstGeom prst="rect">
            <a:avLst/>
          </a:prstGeom>
          <a:noFill/>
          <a:ln/>
        </p:spPr>
        <p:txBody>
          <a:bodyPr wrap="square" lIns="0" tIns="0" rIns="0" bIns="0" rtlCol="0" anchor="ctr"/>
          <a:lstStyle/>
          <a:p>
            <a:pPr marL="0" indent="0" algn="ctr">
              <a:buNone/>
            </a:pPr>
            <a:r>
              <a:rPr lang="en-US" sz="1300" b="1" dirty="0">
                <a:solidFill>
                  <a:srgbClr val="9A988F"/>
                </a:solidFill>
                <a:latin typeface="Trebuchet MS" pitchFamily="34" charset="0"/>
                <a:ea typeface="Trebuchet MS" pitchFamily="34" charset="-122"/>
                <a:cs typeface="Trebuchet MS" pitchFamily="34" charset="-120"/>
              </a:rPr>
              <a:t>MLA</a:t>
            </a:r>
            <a:endParaRPr lang="en-US" sz="1300" dirty="0"/>
          </a:p>
        </p:txBody>
      </p:sp>
      <p:sp>
        <p:nvSpPr>
          <p:cNvPr id="15" name="Shape 13"/>
          <p:cNvSpPr/>
          <p:nvPr/>
        </p:nvSpPr>
        <p:spPr>
          <a:xfrm>
            <a:off x="6812280" y="1554480"/>
            <a:ext cx="4754880" cy="4114800"/>
          </a:xfrm>
          <a:prstGeom prst="roundRect">
            <a:avLst>
              <a:gd name="adj" fmla="val 2222"/>
            </a:avLst>
          </a:prstGeom>
          <a:solidFill>
            <a:srgbClr val="E6F1FB"/>
          </a:solidFill>
          <a:ln w="12700">
            <a:solidFill>
              <a:srgbClr val="185FA5"/>
            </a:solidFill>
            <a:prstDash val="solid"/>
          </a:ln>
        </p:spPr>
        <p:txBody>
          <a:bodyPr/>
          <a:lstStyle/>
          <a:p>
            <a:endParaRPr lang="en-IN" sz="1600"/>
          </a:p>
        </p:txBody>
      </p:sp>
      <p:sp>
        <p:nvSpPr>
          <p:cNvPr id="16" name="Text 14"/>
          <p:cNvSpPr/>
          <p:nvPr/>
        </p:nvSpPr>
        <p:spPr>
          <a:xfrm>
            <a:off x="6995160" y="1737360"/>
            <a:ext cx="4389120" cy="365760"/>
          </a:xfrm>
          <a:prstGeom prst="rect">
            <a:avLst/>
          </a:prstGeom>
          <a:noFill/>
          <a:ln/>
        </p:spPr>
        <p:txBody>
          <a:bodyPr wrap="square" lIns="0" tIns="0" rIns="0" bIns="0" rtlCol="0" anchor="ctr"/>
          <a:lstStyle/>
          <a:p>
            <a:pPr marL="0" indent="0" algn="l">
              <a:buNone/>
            </a:pPr>
            <a:r>
              <a:rPr lang="en-US" sz="1700" b="1" dirty="0">
                <a:solidFill>
                  <a:srgbClr val="0C447C"/>
                </a:solidFill>
                <a:latin typeface="Trebuchet MS" pitchFamily="34" charset="0"/>
                <a:ea typeface="Trebuchet MS" pitchFamily="34" charset="-122"/>
                <a:cs typeface="Trebuchet MS" pitchFamily="34" charset="-120"/>
              </a:rPr>
              <a:t>MLA target</a:t>
            </a:r>
            <a:endParaRPr lang="en-US" sz="1700" dirty="0"/>
          </a:p>
        </p:txBody>
      </p:sp>
      <p:sp>
        <p:nvSpPr>
          <p:cNvPr id="17" name="Text 15"/>
          <p:cNvSpPr/>
          <p:nvPr/>
        </p:nvSpPr>
        <p:spPr>
          <a:xfrm>
            <a:off x="6995160" y="2103120"/>
            <a:ext cx="4389120" cy="320040"/>
          </a:xfrm>
          <a:prstGeom prst="rect">
            <a:avLst/>
          </a:prstGeom>
          <a:noFill/>
          <a:ln/>
        </p:spPr>
        <p:txBody>
          <a:bodyPr wrap="square" lIns="0" tIns="0" rIns="0" bIns="0" rtlCol="0" anchor="ctr"/>
          <a:lstStyle/>
          <a:p>
            <a:pPr marL="0" indent="0" algn="l">
              <a:buNone/>
            </a:pPr>
            <a:r>
              <a:rPr lang="en-US" i="1" dirty="0">
                <a:solidFill>
                  <a:srgbClr val="0C447C"/>
                </a:solidFill>
                <a:latin typeface="Calibri" pitchFamily="34" charset="0"/>
                <a:ea typeface="Calibri" pitchFamily="34" charset="-122"/>
                <a:cs typeface="Calibri" pitchFamily="34" charset="-120"/>
              </a:rPr>
              <a:t>Cache one small latent vector per token.</a:t>
            </a:r>
            <a:endParaRPr lang="en-US" dirty="0"/>
          </a:p>
        </p:txBody>
      </p:sp>
      <p:sp>
        <p:nvSpPr>
          <p:cNvPr id="18" name="Shape 16"/>
          <p:cNvSpPr/>
          <p:nvPr/>
        </p:nvSpPr>
        <p:spPr>
          <a:xfrm>
            <a:off x="7040880" y="2651760"/>
            <a:ext cx="4297680" cy="868680"/>
          </a:xfrm>
          <a:prstGeom prst="roundRect">
            <a:avLst>
              <a:gd name="adj" fmla="val 10526"/>
            </a:avLst>
          </a:prstGeom>
          <a:solidFill>
            <a:srgbClr val="FFFFFF"/>
          </a:solidFill>
          <a:ln w="12700">
            <a:solidFill>
              <a:srgbClr val="185FA5"/>
            </a:solidFill>
            <a:prstDash val="solid"/>
          </a:ln>
        </p:spPr>
        <p:txBody>
          <a:bodyPr/>
          <a:lstStyle/>
          <a:p>
            <a:endParaRPr lang="en-IN"/>
          </a:p>
        </p:txBody>
      </p:sp>
      <p:sp>
        <p:nvSpPr>
          <p:cNvPr id="19" name="Text 17"/>
          <p:cNvSpPr/>
          <p:nvPr/>
        </p:nvSpPr>
        <p:spPr>
          <a:xfrm>
            <a:off x="7040880" y="2651760"/>
            <a:ext cx="4297680" cy="868680"/>
          </a:xfrm>
          <a:prstGeom prst="rect">
            <a:avLst/>
          </a:prstGeom>
          <a:noFill/>
          <a:ln/>
        </p:spPr>
        <p:txBody>
          <a:bodyPr wrap="square" lIns="0" tIns="0" rIns="0" bIns="0" rtlCol="0" anchor="ctr"/>
          <a:lstStyle/>
          <a:p>
            <a:pPr marL="0" indent="0" algn="ctr">
              <a:buNone/>
            </a:pPr>
            <a:r>
              <a:rPr lang="en-US" sz="3000" b="1" dirty="0">
                <a:solidFill>
                  <a:srgbClr val="0C447C"/>
                </a:solidFill>
                <a:latin typeface="Cambria" pitchFamily="34" charset="0"/>
                <a:ea typeface="Cambria" pitchFamily="34" charset="-122"/>
                <a:cs typeface="Cambria" pitchFamily="34" charset="-120"/>
              </a:rPr>
              <a:t>cache</a:t>
            </a:r>
            <a:r>
              <a:rPr lang="en-US" sz="3000" dirty="0">
                <a:solidFill>
                  <a:srgbClr val="23211C"/>
                </a:solidFill>
                <a:latin typeface="Cambria" pitchFamily="34" charset="0"/>
                <a:ea typeface="Cambria" pitchFamily="34" charset="-122"/>
                <a:cs typeface="Cambria" pitchFamily="34" charset="-120"/>
              </a:rPr>
              <a:t>  =  </a:t>
            </a:r>
            <a:r>
              <a:rPr lang="en-US" sz="3200" b="1" dirty="0">
                <a:solidFill>
                  <a:srgbClr val="0C447C"/>
                </a:solidFill>
                <a:latin typeface="Cambria" pitchFamily="34" charset="0"/>
                <a:ea typeface="Cambria" pitchFamily="34" charset="-122"/>
                <a:cs typeface="Cambria" pitchFamily="34" charset="-120"/>
              </a:rPr>
              <a:t>576</a:t>
            </a:r>
            <a:endParaRPr lang="en-US" sz="3000" dirty="0"/>
          </a:p>
        </p:txBody>
      </p:sp>
      <p:sp>
        <p:nvSpPr>
          <p:cNvPr id="20" name="Shape 18"/>
          <p:cNvSpPr/>
          <p:nvPr/>
        </p:nvSpPr>
        <p:spPr>
          <a:xfrm>
            <a:off x="7040880" y="3703320"/>
            <a:ext cx="4297680" cy="868680"/>
          </a:xfrm>
          <a:prstGeom prst="roundRect">
            <a:avLst>
              <a:gd name="adj" fmla="val 10526"/>
            </a:avLst>
          </a:prstGeom>
          <a:solidFill>
            <a:srgbClr val="FFFFFF"/>
          </a:solidFill>
          <a:ln w="12700">
            <a:solidFill>
              <a:srgbClr val="185FA5"/>
            </a:solidFill>
            <a:prstDash val="solid"/>
          </a:ln>
        </p:spPr>
        <p:txBody>
          <a:bodyPr/>
          <a:lstStyle/>
          <a:p>
            <a:endParaRPr lang="en-IN"/>
          </a:p>
        </p:txBody>
      </p:sp>
      <p:sp>
        <p:nvSpPr>
          <p:cNvPr id="21" name="Text 19"/>
          <p:cNvSpPr/>
          <p:nvPr/>
        </p:nvSpPr>
        <p:spPr>
          <a:xfrm>
            <a:off x="7040880" y="3703320"/>
            <a:ext cx="4297680" cy="868680"/>
          </a:xfrm>
          <a:prstGeom prst="rect">
            <a:avLst/>
          </a:prstGeom>
          <a:noFill/>
          <a:ln/>
        </p:spPr>
        <p:txBody>
          <a:bodyPr wrap="square" lIns="0" tIns="0" rIns="0" bIns="0" rtlCol="0" anchor="ctr"/>
          <a:lstStyle/>
          <a:p>
            <a:pPr marL="0" indent="0" algn="ctr">
              <a:buNone/>
            </a:pPr>
            <a:r>
              <a:rPr lang="en-US" sz="2400" b="1" dirty="0">
                <a:solidFill>
                  <a:srgbClr val="0C447C"/>
                </a:solidFill>
                <a:latin typeface="Trebuchet MS" pitchFamily="34" charset="0"/>
                <a:ea typeface="Trebuchet MS" pitchFamily="34" charset="-122"/>
                <a:cs typeface="Trebuchet MS" pitchFamily="34" charset="-120"/>
              </a:rPr>
              <a:t>≈ 55 × smaller</a:t>
            </a:r>
            <a:endParaRPr lang="en-US" sz="2400" dirty="0"/>
          </a:p>
        </p:txBody>
      </p:sp>
      <p:sp>
        <p:nvSpPr>
          <p:cNvPr id="22" name="Text 20"/>
          <p:cNvSpPr/>
          <p:nvPr/>
        </p:nvSpPr>
        <p:spPr>
          <a:xfrm>
            <a:off x="6995160" y="4663440"/>
            <a:ext cx="4389120" cy="457200"/>
          </a:xfrm>
          <a:prstGeom prst="rect">
            <a:avLst/>
          </a:prstGeom>
          <a:noFill/>
          <a:ln/>
        </p:spPr>
        <p:txBody>
          <a:bodyPr wrap="square" lIns="0" tIns="0" rIns="0" bIns="0" rtlCol="0" anchor="ctr"/>
          <a:lstStyle/>
          <a:p>
            <a:pPr marL="0" indent="0" algn="l">
              <a:buNone/>
            </a:pPr>
            <a:r>
              <a:rPr lang="en-US" sz="1600" i="1" dirty="0">
                <a:solidFill>
                  <a:srgbClr val="0C447C"/>
                </a:solidFill>
                <a:latin typeface="Calibri" pitchFamily="34" charset="0"/>
                <a:ea typeface="Calibri" pitchFamily="34" charset="-122"/>
                <a:cs typeface="Calibri" pitchFamily="34" charset="-120"/>
              </a:rPr>
              <a:t>Same model quality — in fact, DeepSeek reports better.</a:t>
            </a:r>
            <a:endParaRPr lang="en-US" sz="1600" dirty="0"/>
          </a:p>
        </p:txBody>
      </p:sp>
      <p:sp>
        <p:nvSpPr>
          <p:cNvPr id="23" name="Text 21"/>
          <p:cNvSpPr/>
          <p:nvPr/>
        </p:nvSpPr>
        <p:spPr>
          <a:xfrm>
            <a:off x="640080" y="6126480"/>
            <a:ext cx="11064240" cy="274320"/>
          </a:xfrm>
          <a:prstGeom prst="rect">
            <a:avLst/>
          </a:prstGeom>
          <a:noFill/>
          <a:ln/>
        </p:spPr>
        <p:txBody>
          <a:bodyPr wrap="square" lIns="0" tIns="0" rIns="0" bIns="0" rtlCol="0" anchor="ctr"/>
          <a:lstStyle/>
          <a:p>
            <a:pPr marL="0" indent="0" algn="l">
              <a:buNone/>
            </a:pPr>
            <a:r>
              <a:rPr lang="en-US" sz="1100" i="1" dirty="0">
                <a:solidFill>
                  <a:srgbClr val="6B6A63"/>
                </a:solidFill>
                <a:latin typeface="Calibri" pitchFamily="34" charset="0"/>
                <a:ea typeface="Calibri" pitchFamily="34" charset="-122"/>
                <a:cs typeface="Calibri" pitchFamily="34" charset="-120"/>
              </a:rPr>
              <a:t>All numbers are DeepSeek-V2 configuration: 128 heads, 128-wide each.</a:t>
            </a:r>
            <a:endParaRPr lang="en-US" sz="1100" dirty="0"/>
          </a:p>
        </p:txBody>
      </p:sp>
    </p:spTree>
    <p:extLst>
      <p:ext uri="{BB962C8B-B14F-4D97-AF65-F5344CB8AC3E}">
        <p14:creationId xmlns:p14="http://schemas.microsoft.com/office/powerpoint/2010/main" val="89413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92608"/>
            <a:ext cx="11064240" cy="594360"/>
          </a:xfrm>
          <a:prstGeom prst="rect">
            <a:avLst/>
          </a:prstGeom>
          <a:noFill/>
          <a:ln/>
        </p:spPr>
        <p:txBody>
          <a:bodyPr wrap="square" lIns="0" tIns="0" rIns="0" bIns="0" rtlCol="0" anchor="ctr"/>
          <a:lstStyle/>
          <a:p>
            <a:pPr marL="0" indent="0" algn="l">
              <a:buNone/>
            </a:pPr>
            <a:r>
              <a:rPr lang="en-US" sz="3000" b="1" dirty="0">
                <a:solidFill>
                  <a:srgbClr val="8B1A1A"/>
                </a:solidFill>
                <a:latin typeface="Trebuchet MS" pitchFamily="34" charset="0"/>
                <a:ea typeface="Trebuchet MS" pitchFamily="34" charset="-122"/>
                <a:cs typeface="Trebuchet MS" pitchFamily="34" charset="-120"/>
              </a:rPr>
              <a:t>MLA</a:t>
            </a:r>
            <a:endParaRPr lang="en-US" sz="3000" dirty="0"/>
          </a:p>
        </p:txBody>
      </p:sp>
      <p:sp>
        <p:nvSpPr>
          <p:cNvPr id="3" name="Text 1"/>
          <p:cNvSpPr/>
          <p:nvPr/>
        </p:nvSpPr>
        <p:spPr>
          <a:xfrm>
            <a:off x="548640" y="896112"/>
            <a:ext cx="11064240" cy="365760"/>
          </a:xfrm>
          <a:prstGeom prst="rect">
            <a:avLst/>
          </a:prstGeom>
          <a:noFill/>
          <a:ln/>
        </p:spPr>
        <p:txBody>
          <a:bodyPr wrap="square" lIns="0" tIns="0" rIns="0" bIns="0" rtlCol="0" anchor="ctr"/>
          <a:lstStyle/>
          <a:p>
            <a:pPr marL="0" indent="0" algn="l">
              <a:buNone/>
            </a:pPr>
            <a:r>
              <a:rPr lang="en-US" sz="2000" i="1" dirty="0">
                <a:solidFill>
                  <a:srgbClr val="6B6A63"/>
                </a:solidFill>
                <a:latin typeface="Calibri" pitchFamily="34" charset="0"/>
                <a:ea typeface="Calibri" pitchFamily="34" charset="-122"/>
                <a:cs typeface="Calibri" pitchFamily="34" charset="-120"/>
              </a:rPr>
              <a:t>Solid path = the definition (training). Dashed path = the inference shortcut that skips the grey box.</a:t>
            </a:r>
            <a:endParaRPr lang="en-US" sz="2000" dirty="0"/>
          </a:p>
        </p:txBody>
      </p:sp>
      <p:grpSp>
        <p:nvGrpSpPr>
          <p:cNvPr id="44" name="Group 43">
            <a:extLst>
              <a:ext uri="{FF2B5EF4-FFF2-40B4-BE49-F238E27FC236}">
                <a16:creationId xmlns:a16="http://schemas.microsoft.com/office/drawing/2014/main" id="{5F382F69-41F1-4C39-C719-E7C7B40BEE31}"/>
              </a:ext>
            </a:extLst>
          </p:cNvPr>
          <p:cNvGrpSpPr/>
          <p:nvPr/>
        </p:nvGrpSpPr>
        <p:grpSpPr>
          <a:xfrm>
            <a:off x="443884" y="1417325"/>
            <a:ext cx="11629746" cy="2407092"/>
            <a:chOff x="398164" y="1810517"/>
            <a:chExt cx="11629746" cy="2407092"/>
          </a:xfrm>
        </p:grpSpPr>
        <p:sp>
          <p:nvSpPr>
            <p:cNvPr id="4" name="Shape 2"/>
            <p:cNvSpPr/>
            <p:nvPr/>
          </p:nvSpPr>
          <p:spPr>
            <a:xfrm>
              <a:off x="502920" y="2514600"/>
              <a:ext cx="1645920" cy="1005840"/>
            </a:xfrm>
            <a:prstGeom prst="roundRect">
              <a:avLst>
                <a:gd name="adj" fmla="val 9091"/>
              </a:avLst>
            </a:prstGeom>
            <a:solidFill>
              <a:srgbClr val="F6F4ED"/>
            </a:solidFill>
            <a:ln w="12700">
              <a:solidFill>
                <a:srgbClr val="D5D3CA"/>
              </a:solidFill>
              <a:prstDash val="solid"/>
            </a:ln>
          </p:spPr>
          <p:txBody>
            <a:bodyPr/>
            <a:lstStyle/>
            <a:p>
              <a:endParaRPr lang="en-IN" sz="2000"/>
            </a:p>
          </p:txBody>
        </p:sp>
        <p:sp>
          <p:nvSpPr>
            <p:cNvPr id="5" name="Text 3"/>
            <p:cNvSpPr/>
            <p:nvPr/>
          </p:nvSpPr>
          <p:spPr>
            <a:xfrm>
              <a:off x="502920" y="2606040"/>
              <a:ext cx="1645920" cy="475488"/>
            </a:xfrm>
            <a:prstGeom prst="rect">
              <a:avLst/>
            </a:prstGeom>
            <a:noFill/>
            <a:ln/>
          </p:spPr>
          <p:txBody>
            <a:bodyPr wrap="square" lIns="0" tIns="0" rIns="0" bIns="0" rtlCol="0" anchor="ctr"/>
            <a:lstStyle/>
            <a:p>
              <a:pPr marL="0" indent="0" algn="ctr">
                <a:buNone/>
              </a:pPr>
              <a:r>
                <a:rPr lang="en-US" sz="2000" b="1" dirty="0">
                  <a:solidFill>
                    <a:srgbClr val="23211C"/>
                  </a:solidFill>
                  <a:latin typeface="Cambria" pitchFamily="34" charset="0"/>
                  <a:ea typeface="Cambria" pitchFamily="34" charset="-122"/>
                  <a:cs typeface="Cambria" pitchFamily="34" charset="-120"/>
                </a:rPr>
                <a:t>hₜ</a:t>
              </a:r>
              <a:endParaRPr lang="en-US" sz="2000" dirty="0"/>
            </a:p>
          </p:txBody>
        </p:sp>
        <p:sp>
          <p:nvSpPr>
            <p:cNvPr id="6" name="Text 4"/>
            <p:cNvSpPr/>
            <p:nvPr/>
          </p:nvSpPr>
          <p:spPr>
            <a:xfrm>
              <a:off x="502920" y="3081528"/>
              <a:ext cx="1645920" cy="365760"/>
            </a:xfrm>
            <a:prstGeom prst="rect">
              <a:avLst/>
            </a:prstGeom>
            <a:noFill/>
            <a:ln/>
          </p:spPr>
          <p:txBody>
            <a:bodyPr wrap="square" lIns="0" tIns="0" rIns="0" bIns="0" rtlCol="0" anchor="ctr"/>
            <a:lstStyle/>
            <a:p>
              <a:pPr marL="0" indent="0" algn="ctr">
                <a:buNone/>
              </a:pPr>
              <a:r>
                <a:rPr lang="en-US" sz="2000" i="1" dirty="0">
                  <a:solidFill>
                    <a:srgbClr val="23211C"/>
                  </a:solidFill>
                  <a:latin typeface="Calibri" pitchFamily="34" charset="0"/>
                  <a:ea typeface="Calibri" pitchFamily="34" charset="-122"/>
                  <a:cs typeface="Calibri" pitchFamily="34" charset="-120"/>
                </a:rPr>
                <a:t>hidden state</a:t>
              </a:r>
              <a:endParaRPr lang="en-US" sz="2000" dirty="0"/>
            </a:p>
          </p:txBody>
        </p:sp>
        <p:sp>
          <p:nvSpPr>
            <p:cNvPr id="7" name="Shape 5"/>
            <p:cNvSpPr/>
            <p:nvPr/>
          </p:nvSpPr>
          <p:spPr>
            <a:xfrm>
              <a:off x="2194560" y="2907792"/>
              <a:ext cx="868680" cy="219456"/>
            </a:xfrm>
            <a:prstGeom prst="rightArrow">
              <a:avLst/>
            </a:prstGeom>
            <a:solidFill>
              <a:srgbClr val="2C7A4B"/>
            </a:solidFill>
            <a:ln w="12700">
              <a:solidFill>
                <a:srgbClr val="2C7A4B"/>
              </a:solidFill>
              <a:prstDash val="solid"/>
            </a:ln>
          </p:spPr>
          <p:txBody>
            <a:bodyPr/>
            <a:lstStyle/>
            <a:p>
              <a:endParaRPr lang="en-IN" sz="2000"/>
            </a:p>
          </p:txBody>
        </p:sp>
        <p:sp>
          <p:nvSpPr>
            <p:cNvPr id="8" name="Text 6"/>
            <p:cNvSpPr/>
            <p:nvPr/>
          </p:nvSpPr>
          <p:spPr>
            <a:xfrm>
              <a:off x="1965960" y="2505456"/>
              <a:ext cx="1325880" cy="320040"/>
            </a:xfrm>
            <a:prstGeom prst="rect">
              <a:avLst/>
            </a:prstGeom>
            <a:noFill/>
            <a:ln/>
          </p:spPr>
          <p:txBody>
            <a:bodyPr wrap="square" lIns="0" tIns="0" rIns="0" bIns="0" rtlCol="0" anchor="ctr"/>
            <a:lstStyle/>
            <a:p>
              <a:pPr marL="0" indent="0" algn="ctr">
                <a:buNone/>
              </a:pPr>
              <a:r>
                <a:rPr lang="en-US" sz="2000" b="1" dirty="0">
                  <a:solidFill>
                    <a:srgbClr val="2C7A4B"/>
                  </a:solidFill>
                  <a:latin typeface="Calibri" pitchFamily="34" charset="0"/>
                  <a:ea typeface="Calibri" pitchFamily="34" charset="-122"/>
                  <a:cs typeface="Calibri" pitchFamily="34" charset="-120"/>
                </a:rPr>
                <a:t>Wᴰᴷᵛ</a:t>
              </a:r>
              <a:endParaRPr lang="en-US" sz="2000" dirty="0"/>
            </a:p>
          </p:txBody>
        </p:sp>
        <p:sp>
          <p:nvSpPr>
            <p:cNvPr id="9" name="Shape 7"/>
            <p:cNvSpPr/>
            <p:nvPr/>
          </p:nvSpPr>
          <p:spPr>
            <a:xfrm>
              <a:off x="3108960" y="2514600"/>
              <a:ext cx="1874520" cy="1005840"/>
            </a:xfrm>
            <a:prstGeom prst="roundRect">
              <a:avLst>
                <a:gd name="adj" fmla="val 9091"/>
              </a:avLst>
            </a:prstGeom>
            <a:solidFill>
              <a:srgbClr val="E6F1FB"/>
            </a:solidFill>
            <a:ln w="12700">
              <a:solidFill>
                <a:srgbClr val="185FA5"/>
              </a:solidFill>
              <a:prstDash val="solid"/>
            </a:ln>
          </p:spPr>
          <p:txBody>
            <a:bodyPr/>
            <a:lstStyle/>
            <a:p>
              <a:endParaRPr lang="en-IN" sz="2000"/>
            </a:p>
          </p:txBody>
        </p:sp>
        <p:sp>
          <p:nvSpPr>
            <p:cNvPr id="10" name="Text 8"/>
            <p:cNvSpPr/>
            <p:nvPr/>
          </p:nvSpPr>
          <p:spPr>
            <a:xfrm>
              <a:off x="3108960" y="2606040"/>
              <a:ext cx="1874520" cy="475488"/>
            </a:xfrm>
            <a:prstGeom prst="rect">
              <a:avLst/>
            </a:prstGeom>
            <a:noFill/>
            <a:ln/>
          </p:spPr>
          <p:txBody>
            <a:bodyPr wrap="square" lIns="0" tIns="0" rIns="0" bIns="0" rtlCol="0" anchor="ctr"/>
            <a:lstStyle/>
            <a:p>
              <a:pPr marL="0" indent="0" algn="ctr">
                <a:buNone/>
              </a:pPr>
              <a:r>
                <a:rPr lang="en-US" sz="2000" b="1" dirty="0">
                  <a:solidFill>
                    <a:srgbClr val="0C447C"/>
                  </a:solidFill>
                  <a:latin typeface="Cambria" pitchFamily="34" charset="0"/>
                  <a:ea typeface="Cambria" pitchFamily="34" charset="-122"/>
                  <a:cs typeface="Cambria" pitchFamily="34" charset="-120"/>
                </a:rPr>
                <a:t>cₜ</a:t>
              </a:r>
              <a:endParaRPr lang="en-US" sz="2000" dirty="0"/>
            </a:p>
          </p:txBody>
        </p:sp>
        <p:sp>
          <p:nvSpPr>
            <p:cNvPr id="11" name="Text 9"/>
            <p:cNvSpPr/>
            <p:nvPr/>
          </p:nvSpPr>
          <p:spPr>
            <a:xfrm>
              <a:off x="3108960" y="3081528"/>
              <a:ext cx="1874520" cy="365760"/>
            </a:xfrm>
            <a:prstGeom prst="rect">
              <a:avLst/>
            </a:prstGeom>
            <a:noFill/>
            <a:ln/>
          </p:spPr>
          <p:txBody>
            <a:bodyPr wrap="square" lIns="0" tIns="0" rIns="0" bIns="0" rtlCol="0" anchor="ctr"/>
            <a:lstStyle/>
            <a:p>
              <a:pPr marL="0" indent="0" algn="ctr">
                <a:buNone/>
              </a:pPr>
              <a:r>
                <a:rPr lang="en-US" i="1" dirty="0">
                  <a:solidFill>
                    <a:srgbClr val="0C447C"/>
                  </a:solidFill>
                  <a:latin typeface="Calibri" pitchFamily="34" charset="0"/>
                  <a:ea typeface="Calibri" pitchFamily="34" charset="-122"/>
                  <a:cs typeface="Calibri" pitchFamily="34" charset="-120"/>
                </a:rPr>
                <a:t>cached latent (512)</a:t>
              </a:r>
              <a:endParaRPr lang="en-US" dirty="0"/>
            </a:p>
          </p:txBody>
        </p:sp>
        <p:sp>
          <p:nvSpPr>
            <p:cNvPr id="12" name="Shape 10"/>
            <p:cNvSpPr/>
            <p:nvPr/>
          </p:nvSpPr>
          <p:spPr>
            <a:xfrm>
              <a:off x="5029200" y="2907792"/>
              <a:ext cx="868680" cy="219456"/>
            </a:xfrm>
            <a:prstGeom prst="rightArrow">
              <a:avLst/>
            </a:prstGeom>
            <a:solidFill>
              <a:srgbClr val="D85A30"/>
            </a:solidFill>
            <a:ln w="12700">
              <a:solidFill>
                <a:srgbClr val="D85A30"/>
              </a:solidFill>
              <a:prstDash val="solid"/>
            </a:ln>
          </p:spPr>
          <p:txBody>
            <a:bodyPr/>
            <a:lstStyle/>
            <a:p>
              <a:endParaRPr lang="en-IN" sz="2000"/>
            </a:p>
          </p:txBody>
        </p:sp>
        <p:sp>
          <p:nvSpPr>
            <p:cNvPr id="13" name="Text 11"/>
            <p:cNvSpPr/>
            <p:nvPr/>
          </p:nvSpPr>
          <p:spPr>
            <a:xfrm>
              <a:off x="4800600" y="2505456"/>
              <a:ext cx="1325880" cy="320040"/>
            </a:xfrm>
            <a:prstGeom prst="rect">
              <a:avLst/>
            </a:prstGeom>
            <a:noFill/>
            <a:ln/>
          </p:spPr>
          <p:txBody>
            <a:bodyPr wrap="square" lIns="0" tIns="0" rIns="0" bIns="0" rtlCol="0" anchor="ctr"/>
            <a:lstStyle/>
            <a:p>
              <a:pPr marL="0" indent="0" algn="ctr">
                <a:buNone/>
              </a:pPr>
              <a:r>
                <a:rPr lang="en-US" sz="1600" b="1" dirty="0">
                  <a:solidFill>
                    <a:srgbClr val="D85A30"/>
                  </a:solidFill>
                  <a:latin typeface="Calibri" pitchFamily="34" charset="0"/>
                  <a:ea typeface="Calibri" pitchFamily="34" charset="-122"/>
                  <a:cs typeface="Calibri" pitchFamily="34" charset="-120"/>
                </a:rPr>
                <a:t>Wᵁᴷ, Wᵁᵛ</a:t>
              </a:r>
              <a:endParaRPr lang="en-US" sz="1600" dirty="0"/>
            </a:p>
          </p:txBody>
        </p:sp>
        <p:sp>
          <p:nvSpPr>
            <p:cNvPr id="14" name="Shape 12"/>
            <p:cNvSpPr/>
            <p:nvPr/>
          </p:nvSpPr>
          <p:spPr>
            <a:xfrm>
              <a:off x="5943600" y="2514600"/>
              <a:ext cx="1874520" cy="1005840"/>
            </a:xfrm>
            <a:prstGeom prst="roundRect">
              <a:avLst>
                <a:gd name="adj" fmla="val 9091"/>
              </a:avLst>
            </a:prstGeom>
            <a:solidFill>
              <a:srgbClr val="F4F2EE"/>
            </a:solidFill>
            <a:ln w="12700">
              <a:solidFill>
                <a:srgbClr val="D5D3CA"/>
              </a:solidFill>
              <a:prstDash val="solid"/>
            </a:ln>
          </p:spPr>
          <p:txBody>
            <a:bodyPr/>
            <a:lstStyle/>
            <a:p>
              <a:endParaRPr lang="en-IN" sz="2000"/>
            </a:p>
          </p:txBody>
        </p:sp>
        <p:sp>
          <p:nvSpPr>
            <p:cNvPr id="15" name="Text 13"/>
            <p:cNvSpPr/>
            <p:nvPr/>
          </p:nvSpPr>
          <p:spPr>
            <a:xfrm>
              <a:off x="5943600" y="2606040"/>
              <a:ext cx="1874520" cy="475488"/>
            </a:xfrm>
            <a:prstGeom prst="rect">
              <a:avLst/>
            </a:prstGeom>
            <a:noFill/>
            <a:ln/>
          </p:spPr>
          <p:txBody>
            <a:bodyPr wrap="square" lIns="0" tIns="0" rIns="0" bIns="0" rtlCol="0" anchor="ctr"/>
            <a:lstStyle/>
            <a:p>
              <a:pPr marL="0" indent="0" algn="ctr">
                <a:buNone/>
              </a:pPr>
              <a:r>
                <a:rPr lang="en-US" sz="2000" b="1" dirty="0">
                  <a:solidFill>
                    <a:srgbClr val="9A988F"/>
                  </a:solidFill>
                  <a:latin typeface="Cambria" pitchFamily="34" charset="0"/>
                  <a:ea typeface="Cambria" pitchFamily="34" charset="-122"/>
                  <a:cs typeface="Cambria" pitchFamily="34" charset="-120"/>
                </a:rPr>
                <a:t>kₜ , vₜ</a:t>
              </a:r>
              <a:endParaRPr lang="en-US" sz="2000" dirty="0"/>
            </a:p>
          </p:txBody>
        </p:sp>
        <p:sp>
          <p:nvSpPr>
            <p:cNvPr id="16" name="Text 14"/>
            <p:cNvSpPr/>
            <p:nvPr/>
          </p:nvSpPr>
          <p:spPr>
            <a:xfrm>
              <a:off x="5943600" y="3081528"/>
              <a:ext cx="1874520" cy="365760"/>
            </a:xfrm>
            <a:prstGeom prst="rect">
              <a:avLst/>
            </a:prstGeom>
            <a:noFill/>
            <a:ln/>
          </p:spPr>
          <p:txBody>
            <a:bodyPr wrap="square" lIns="0" tIns="0" rIns="0" bIns="0" rtlCol="0" anchor="ctr"/>
            <a:lstStyle/>
            <a:p>
              <a:pPr marL="0" indent="0" algn="ctr">
                <a:buNone/>
              </a:pPr>
              <a:r>
                <a:rPr lang="en-US" sz="1600" i="1" dirty="0">
                  <a:solidFill>
                    <a:srgbClr val="9A988F"/>
                  </a:solidFill>
                  <a:latin typeface="Calibri" pitchFamily="34" charset="0"/>
                  <a:ea typeface="Calibri" pitchFamily="34" charset="-122"/>
                  <a:cs typeface="Calibri" pitchFamily="34" charset="-120"/>
                </a:rPr>
                <a:t>full K,V — training only</a:t>
              </a:r>
              <a:endParaRPr lang="en-US" sz="1600" dirty="0"/>
            </a:p>
          </p:txBody>
        </p:sp>
        <p:sp>
          <p:nvSpPr>
            <p:cNvPr id="17" name="Shape 15"/>
            <p:cNvSpPr/>
            <p:nvPr/>
          </p:nvSpPr>
          <p:spPr>
            <a:xfrm>
              <a:off x="7863840" y="2907792"/>
              <a:ext cx="822960" cy="219456"/>
            </a:xfrm>
            <a:prstGeom prst="rightArrow">
              <a:avLst/>
            </a:prstGeom>
            <a:solidFill>
              <a:srgbClr val="9A988F"/>
            </a:solidFill>
            <a:ln w="12700">
              <a:solidFill>
                <a:srgbClr val="9A988F"/>
              </a:solidFill>
              <a:prstDash val="solid"/>
            </a:ln>
          </p:spPr>
          <p:txBody>
            <a:bodyPr/>
            <a:lstStyle/>
            <a:p>
              <a:endParaRPr lang="en-IN" sz="2000"/>
            </a:p>
          </p:txBody>
        </p:sp>
        <p:sp>
          <p:nvSpPr>
            <p:cNvPr id="18" name="Shape 16"/>
            <p:cNvSpPr/>
            <p:nvPr/>
          </p:nvSpPr>
          <p:spPr>
            <a:xfrm>
              <a:off x="8732520" y="2514600"/>
              <a:ext cx="2926080" cy="1005840"/>
            </a:xfrm>
            <a:prstGeom prst="roundRect">
              <a:avLst>
                <a:gd name="adj" fmla="val 9091"/>
              </a:avLst>
            </a:prstGeom>
            <a:solidFill>
              <a:srgbClr val="E7F3EC"/>
            </a:solidFill>
            <a:ln w="12700">
              <a:solidFill>
                <a:srgbClr val="2C7A4B"/>
              </a:solidFill>
              <a:prstDash val="solid"/>
            </a:ln>
          </p:spPr>
          <p:txBody>
            <a:bodyPr/>
            <a:lstStyle/>
            <a:p>
              <a:endParaRPr lang="en-IN" sz="2000"/>
            </a:p>
          </p:txBody>
        </p:sp>
        <p:sp>
          <p:nvSpPr>
            <p:cNvPr id="19" name="Text 17"/>
            <p:cNvSpPr/>
            <p:nvPr/>
          </p:nvSpPr>
          <p:spPr>
            <a:xfrm>
              <a:off x="8732520" y="2606040"/>
              <a:ext cx="2926080" cy="475488"/>
            </a:xfrm>
            <a:prstGeom prst="rect">
              <a:avLst/>
            </a:prstGeom>
            <a:noFill/>
            <a:ln/>
          </p:spPr>
          <p:txBody>
            <a:bodyPr wrap="square" lIns="0" tIns="0" rIns="0" bIns="0" rtlCol="0" anchor="ctr"/>
            <a:lstStyle/>
            <a:p>
              <a:pPr marL="0" indent="0" algn="ctr">
                <a:buNone/>
              </a:pPr>
              <a:r>
                <a:rPr lang="en-US" sz="2000" b="1" dirty="0">
                  <a:solidFill>
                    <a:srgbClr val="1C5230"/>
                  </a:solidFill>
                  <a:latin typeface="Cambria" pitchFamily="34" charset="0"/>
                  <a:ea typeface="Cambria" pitchFamily="34" charset="-122"/>
                  <a:cs typeface="Cambria" pitchFamily="34" charset="-120"/>
                </a:rPr>
                <a:t>attention</a:t>
              </a:r>
              <a:endParaRPr lang="en-US" sz="2000" dirty="0"/>
            </a:p>
          </p:txBody>
        </p:sp>
        <p:sp>
          <p:nvSpPr>
            <p:cNvPr id="20" name="Text 18"/>
            <p:cNvSpPr/>
            <p:nvPr/>
          </p:nvSpPr>
          <p:spPr>
            <a:xfrm>
              <a:off x="8732520" y="3081528"/>
              <a:ext cx="2926080" cy="365760"/>
            </a:xfrm>
            <a:prstGeom prst="rect">
              <a:avLst/>
            </a:prstGeom>
            <a:noFill/>
            <a:ln/>
          </p:spPr>
          <p:txBody>
            <a:bodyPr wrap="square" lIns="0" tIns="0" rIns="0" bIns="0" rtlCol="0" anchor="ctr"/>
            <a:lstStyle/>
            <a:p>
              <a:pPr marL="0" indent="0" algn="ctr">
                <a:buNone/>
              </a:pPr>
              <a:r>
                <a:rPr lang="en-US" sz="2000" i="1" dirty="0">
                  <a:solidFill>
                    <a:srgbClr val="1C5230"/>
                  </a:solidFill>
                  <a:latin typeface="Calibri" pitchFamily="34" charset="0"/>
                  <a:ea typeface="Calibri" pitchFamily="34" charset="-122"/>
                  <a:cs typeface="Calibri" pitchFamily="34" charset="-120"/>
                </a:rPr>
                <a:t>scores → output</a:t>
              </a:r>
              <a:endParaRPr lang="en-US" sz="2000" dirty="0"/>
            </a:p>
          </p:txBody>
        </p:sp>
        <p:sp>
          <p:nvSpPr>
            <p:cNvPr id="21" name="Text 19"/>
            <p:cNvSpPr/>
            <p:nvPr/>
          </p:nvSpPr>
          <p:spPr>
            <a:xfrm>
              <a:off x="5806441" y="3630789"/>
              <a:ext cx="2926079" cy="475485"/>
            </a:xfrm>
            <a:prstGeom prst="rect">
              <a:avLst/>
            </a:prstGeom>
            <a:noFill/>
            <a:ln/>
          </p:spPr>
          <p:txBody>
            <a:bodyPr wrap="square" lIns="0" tIns="0" rIns="0" bIns="0" rtlCol="0" anchor="ctr"/>
            <a:lstStyle/>
            <a:p>
              <a:pPr marL="0" indent="0" algn="ctr">
                <a:buNone/>
              </a:pPr>
              <a:r>
                <a:rPr lang="en-US" sz="2000" b="1" dirty="0">
                  <a:solidFill>
                    <a:srgbClr val="D85A30"/>
                  </a:solidFill>
                  <a:latin typeface="Calibri" pitchFamily="34" charset="0"/>
                  <a:ea typeface="Calibri" pitchFamily="34" charset="-122"/>
                  <a:cs typeface="Calibri" pitchFamily="34" charset="-120"/>
                </a:rPr>
                <a:t>✕ skipped at inference</a:t>
              </a:r>
              <a:endParaRPr lang="en-US" sz="2000" dirty="0"/>
            </a:p>
          </p:txBody>
        </p:sp>
        <p:sp>
          <p:nvSpPr>
            <p:cNvPr id="22" name="Shape 20"/>
            <p:cNvSpPr/>
            <p:nvPr/>
          </p:nvSpPr>
          <p:spPr>
            <a:xfrm>
              <a:off x="3063240" y="3595816"/>
              <a:ext cx="1874520" cy="621793"/>
            </a:xfrm>
            <a:prstGeom prst="roundRect">
              <a:avLst>
                <a:gd name="adj" fmla="val 14706"/>
              </a:avLst>
            </a:prstGeom>
            <a:solidFill>
              <a:srgbClr val="185FA5"/>
            </a:solidFill>
            <a:ln w="12700">
              <a:solidFill>
                <a:srgbClr val="185FA5"/>
              </a:solidFill>
              <a:prstDash val="solid"/>
            </a:ln>
          </p:spPr>
          <p:txBody>
            <a:bodyPr/>
            <a:lstStyle/>
            <a:p>
              <a:endParaRPr lang="en-IN" sz="2000"/>
            </a:p>
          </p:txBody>
        </p:sp>
        <p:sp>
          <p:nvSpPr>
            <p:cNvPr id="23" name="Text 21"/>
            <p:cNvSpPr/>
            <p:nvPr/>
          </p:nvSpPr>
          <p:spPr>
            <a:xfrm>
              <a:off x="3044597" y="3739897"/>
              <a:ext cx="1874520" cy="256031"/>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ONLY this is cached</a:t>
              </a:r>
              <a:endParaRPr lang="en-US" sz="1600" dirty="0"/>
            </a:p>
          </p:txBody>
        </p:sp>
        <p:sp>
          <p:nvSpPr>
            <p:cNvPr id="24" name="Shape 22"/>
            <p:cNvSpPr/>
            <p:nvPr/>
          </p:nvSpPr>
          <p:spPr>
            <a:xfrm>
              <a:off x="4023360" y="2331720"/>
              <a:ext cx="6172200" cy="0"/>
            </a:xfrm>
            <a:prstGeom prst="line">
              <a:avLst/>
            </a:prstGeom>
            <a:noFill/>
            <a:ln w="31750">
              <a:solidFill>
                <a:srgbClr val="534AB7"/>
              </a:solidFill>
              <a:prstDash val="dash"/>
            </a:ln>
          </p:spPr>
          <p:txBody>
            <a:bodyPr/>
            <a:lstStyle/>
            <a:p>
              <a:endParaRPr lang="en-IN" sz="2000"/>
            </a:p>
          </p:txBody>
        </p:sp>
        <p:sp>
          <p:nvSpPr>
            <p:cNvPr id="25" name="Shape 23"/>
            <p:cNvSpPr/>
            <p:nvPr/>
          </p:nvSpPr>
          <p:spPr>
            <a:xfrm>
              <a:off x="4023360" y="2331720"/>
              <a:ext cx="0" cy="182880"/>
            </a:xfrm>
            <a:prstGeom prst="line">
              <a:avLst/>
            </a:prstGeom>
            <a:noFill/>
            <a:ln w="31750">
              <a:solidFill>
                <a:srgbClr val="534AB7"/>
              </a:solidFill>
              <a:prstDash val="dash"/>
            </a:ln>
          </p:spPr>
          <p:txBody>
            <a:bodyPr/>
            <a:lstStyle/>
            <a:p>
              <a:endParaRPr lang="en-IN" sz="2000"/>
            </a:p>
          </p:txBody>
        </p:sp>
        <p:sp>
          <p:nvSpPr>
            <p:cNvPr id="26" name="Shape 24"/>
            <p:cNvSpPr/>
            <p:nvPr/>
          </p:nvSpPr>
          <p:spPr>
            <a:xfrm>
              <a:off x="10195560" y="2331720"/>
              <a:ext cx="0" cy="182880"/>
            </a:xfrm>
            <a:prstGeom prst="line">
              <a:avLst/>
            </a:prstGeom>
            <a:noFill/>
            <a:ln w="31750">
              <a:solidFill>
                <a:srgbClr val="534AB7"/>
              </a:solidFill>
              <a:prstDash val="dash"/>
            </a:ln>
          </p:spPr>
          <p:txBody>
            <a:bodyPr/>
            <a:lstStyle/>
            <a:p>
              <a:endParaRPr lang="en-IN" sz="2000"/>
            </a:p>
          </p:txBody>
        </p:sp>
        <p:sp>
          <p:nvSpPr>
            <p:cNvPr id="27" name="Text 25"/>
            <p:cNvSpPr/>
            <p:nvPr/>
          </p:nvSpPr>
          <p:spPr>
            <a:xfrm>
              <a:off x="398164" y="1810517"/>
              <a:ext cx="11629746" cy="384045"/>
            </a:xfrm>
            <a:prstGeom prst="rect">
              <a:avLst/>
            </a:prstGeom>
            <a:noFill/>
            <a:ln/>
          </p:spPr>
          <p:txBody>
            <a:bodyPr wrap="square" lIns="0" tIns="0" rIns="0" bIns="0" rtlCol="0" anchor="ctr"/>
            <a:lstStyle/>
            <a:p>
              <a:pPr marL="0" indent="0" algn="ctr">
                <a:buNone/>
              </a:pPr>
              <a:r>
                <a:rPr lang="en-US" b="1" dirty="0">
                  <a:solidFill>
                    <a:srgbClr val="3C3489"/>
                  </a:solidFill>
                  <a:latin typeface="Calibri" pitchFamily="34" charset="0"/>
                  <a:ea typeface="Calibri" pitchFamily="34" charset="-122"/>
                  <a:cs typeface="Calibri" pitchFamily="34" charset="-120"/>
                </a:rPr>
                <a:t>INFERENCE SHORTCUT:  modified query  (Wᵁᴷᵀq)  attends directly against the cached latent  c  —  K, V never built</a:t>
              </a:r>
              <a:endParaRPr lang="en-US" dirty="0"/>
            </a:p>
          </p:txBody>
        </p:sp>
      </p:grpSp>
      <p:sp>
        <p:nvSpPr>
          <p:cNvPr id="29" name="Text 27"/>
          <p:cNvSpPr/>
          <p:nvPr/>
        </p:nvSpPr>
        <p:spPr>
          <a:xfrm>
            <a:off x="626615" y="4033124"/>
            <a:ext cx="11091169" cy="2615537"/>
          </a:xfrm>
          <a:prstGeom prst="rect">
            <a:avLst/>
          </a:prstGeom>
          <a:solidFill>
            <a:schemeClr val="accent4">
              <a:lumMod val="20000"/>
              <a:lumOff val="80000"/>
            </a:schemeClr>
          </a:solidFill>
          <a:ln/>
        </p:spPr>
        <p:txBody>
          <a:bodyPr wrap="square" lIns="0" tIns="0" rIns="0" bIns="0" rtlCol="0" anchor="ctr"/>
          <a:lstStyle/>
          <a:p>
            <a:pPr lvl="1"/>
            <a:r>
              <a:rPr lang="en-US" sz="2000" b="1" dirty="0">
                <a:solidFill>
                  <a:srgbClr val="1C5230"/>
                </a:solidFill>
                <a:latin typeface="Trebuchet MS" pitchFamily="34" charset="0"/>
                <a:ea typeface="Trebuchet MS" pitchFamily="34" charset="-122"/>
                <a:cs typeface="Trebuchet MS" pitchFamily="34" charset="-120"/>
              </a:rPr>
              <a:t>DEFINITION  —  what K, V are  (used in training)</a:t>
            </a:r>
          </a:p>
          <a:p>
            <a:pPr lvl="1"/>
            <a:r>
              <a:rPr lang="en-US" sz="2000" b="1" dirty="0" err="1">
                <a:solidFill>
                  <a:srgbClr val="1C5230"/>
                </a:solidFill>
                <a:latin typeface="Cambria" pitchFamily="34" charset="0"/>
                <a:ea typeface="Cambria" pitchFamily="34" charset="-122"/>
                <a:cs typeface="Cambria" pitchFamily="34" charset="-120"/>
              </a:rPr>
              <a:t>c</a:t>
            </a:r>
            <a:r>
              <a:rPr lang="en-US" sz="2000" b="1" baseline="-40000" dirty="0" err="1">
                <a:solidFill>
                  <a:srgbClr val="1C5230"/>
                </a:solidFill>
                <a:latin typeface="Cambria" pitchFamily="34" charset="0"/>
                <a:ea typeface="Cambria" pitchFamily="34" charset="-122"/>
                <a:cs typeface="Cambria" pitchFamily="34" charset="-120"/>
              </a:rPr>
              <a:t>t</a:t>
            </a:r>
            <a:r>
              <a:rPr lang="en-US" sz="2000" b="1" baseline="30000" dirty="0" err="1">
                <a:solidFill>
                  <a:srgbClr val="1C5230"/>
                </a:solidFill>
                <a:latin typeface="Cambria" pitchFamily="34" charset="0"/>
                <a:ea typeface="Cambria" pitchFamily="34" charset="-122"/>
                <a:cs typeface="Cambria" pitchFamily="34" charset="-120"/>
              </a:rPr>
              <a:t>KV</a:t>
            </a:r>
            <a:r>
              <a:rPr lang="en-US" sz="2000" dirty="0">
                <a:solidFill>
                  <a:srgbClr val="23211C"/>
                </a:solidFill>
                <a:latin typeface="Cambria" pitchFamily="34" charset="0"/>
                <a:ea typeface="Cambria" pitchFamily="34" charset="-122"/>
                <a:cs typeface="Cambria" pitchFamily="34" charset="-120"/>
              </a:rPr>
              <a:t> = W</a:t>
            </a:r>
            <a:r>
              <a:rPr lang="en-US" sz="2000" b="1" baseline="30000" dirty="0">
                <a:solidFill>
                  <a:srgbClr val="1C5230"/>
                </a:solidFill>
                <a:latin typeface="Cambria" pitchFamily="34" charset="0"/>
                <a:ea typeface="Cambria" pitchFamily="34" charset="-122"/>
                <a:cs typeface="Cambria" pitchFamily="34" charset="-120"/>
              </a:rPr>
              <a:t>DKV</a:t>
            </a:r>
            <a:r>
              <a:rPr lang="en-US" sz="2000" dirty="0">
                <a:solidFill>
                  <a:srgbClr val="23211C"/>
                </a:solidFill>
                <a:latin typeface="Cambria" pitchFamily="34" charset="0"/>
                <a:ea typeface="Cambria" pitchFamily="34" charset="-122"/>
                <a:cs typeface="Cambria" pitchFamily="34" charset="-120"/>
              </a:rPr>
              <a:t> </a:t>
            </a:r>
            <a:r>
              <a:rPr lang="en-US" sz="2000" dirty="0" err="1">
                <a:solidFill>
                  <a:srgbClr val="23211C"/>
                </a:solidFill>
                <a:latin typeface="Cambria" pitchFamily="34" charset="0"/>
                <a:ea typeface="Cambria" pitchFamily="34" charset="-122"/>
                <a:cs typeface="Cambria" pitchFamily="34" charset="-120"/>
              </a:rPr>
              <a:t>h</a:t>
            </a:r>
            <a:r>
              <a:rPr lang="en-US" sz="2000" b="1" baseline="-40000" dirty="0" err="1">
                <a:solidFill>
                  <a:srgbClr val="1C5230"/>
                </a:solidFill>
                <a:latin typeface="Cambria" pitchFamily="34" charset="0"/>
                <a:ea typeface="Cambria" pitchFamily="34" charset="-122"/>
                <a:cs typeface="Cambria" pitchFamily="34" charset="-120"/>
              </a:rPr>
              <a:t>t</a:t>
            </a:r>
            <a:r>
              <a:rPr lang="en-US" sz="2000" dirty="0">
                <a:solidFill>
                  <a:srgbClr val="23211C"/>
                </a:solidFill>
                <a:latin typeface="Cambria" pitchFamily="34" charset="0"/>
                <a:ea typeface="Cambria" pitchFamily="34" charset="-122"/>
                <a:cs typeface="Cambria" pitchFamily="34" charset="-120"/>
              </a:rPr>
              <a:t>        (compress)</a:t>
            </a:r>
          </a:p>
          <a:p>
            <a:pPr lvl="1"/>
            <a:endParaRPr lang="en-US" sz="2000" dirty="0">
              <a:solidFill>
                <a:srgbClr val="23211C"/>
              </a:solidFill>
              <a:latin typeface="Cambria" pitchFamily="34" charset="0"/>
              <a:ea typeface="Cambria" pitchFamily="34" charset="-122"/>
              <a:cs typeface="Cambria" pitchFamily="34" charset="-120"/>
            </a:endParaRPr>
          </a:p>
          <a:p>
            <a:pPr lvl="1"/>
            <a:r>
              <a:rPr lang="en-US" sz="2000" b="1" dirty="0" err="1">
                <a:solidFill>
                  <a:srgbClr val="1C5230"/>
                </a:solidFill>
                <a:latin typeface="Cambria" pitchFamily="34" charset="0"/>
                <a:ea typeface="Cambria" pitchFamily="34" charset="-122"/>
                <a:cs typeface="Cambria" pitchFamily="34" charset="-120"/>
              </a:rPr>
              <a:t>k</a:t>
            </a:r>
            <a:r>
              <a:rPr lang="en-US" sz="2000" b="1" baseline="-40000" dirty="0" err="1">
                <a:solidFill>
                  <a:srgbClr val="1C5230"/>
                </a:solidFill>
                <a:latin typeface="Cambria" pitchFamily="34" charset="0"/>
                <a:ea typeface="Cambria" pitchFamily="34" charset="-122"/>
                <a:cs typeface="Cambria" pitchFamily="34" charset="-120"/>
              </a:rPr>
              <a:t>t</a:t>
            </a:r>
            <a:r>
              <a:rPr lang="en-US" sz="2000" b="1" baseline="30000" dirty="0" err="1">
                <a:solidFill>
                  <a:srgbClr val="1C5230"/>
                </a:solidFill>
                <a:latin typeface="Cambria" pitchFamily="34" charset="0"/>
                <a:ea typeface="Cambria" pitchFamily="34" charset="-122"/>
                <a:cs typeface="Cambria" pitchFamily="34" charset="-120"/>
              </a:rPr>
              <a:t>C</a:t>
            </a:r>
            <a:r>
              <a:rPr lang="en-US" sz="2000" dirty="0">
                <a:solidFill>
                  <a:srgbClr val="23211C"/>
                </a:solidFill>
                <a:latin typeface="Cambria" pitchFamily="34" charset="0"/>
                <a:ea typeface="Cambria" pitchFamily="34" charset="-122"/>
                <a:cs typeface="Cambria" pitchFamily="34" charset="-120"/>
              </a:rPr>
              <a:t> = W</a:t>
            </a:r>
            <a:r>
              <a:rPr lang="en-US" sz="2000" b="1" baseline="30000" dirty="0">
                <a:solidFill>
                  <a:srgbClr val="1C5230"/>
                </a:solidFill>
                <a:latin typeface="Cambria" pitchFamily="34" charset="0"/>
                <a:ea typeface="Cambria" pitchFamily="34" charset="-122"/>
                <a:cs typeface="Cambria" pitchFamily="34" charset="-120"/>
              </a:rPr>
              <a:t>UK</a:t>
            </a:r>
            <a:r>
              <a:rPr lang="en-US" sz="2000" dirty="0">
                <a:solidFill>
                  <a:srgbClr val="23211C"/>
                </a:solidFill>
                <a:latin typeface="Cambria" pitchFamily="34" charset="0"/>
                <a:ea typeface="Cambria" pitchFamily="34" charset="-122"/>
                <a:cs typeface="Cambria" pitchFamily="34" charset="-120"/>
              </a:rPr>
              <a:t> </a:t>
            </a:r>
            <a:r>
              <a:rPr lang="en-US" sz="2000" dirty="0" err="1">
                <a:solidFill>
                  <a:srgbClr val="23211C"/>
                </a:solidFill>
                <a:latin typeface="Cambria" pitchFamily="34" charset="0"/>
                <a:ea typeface="Cambria" pitchFamily="34" charset="-122"/>
                <a:cs typeface="Cambria" pitchFamily="34" charset="-120"/>
              </a:rPr>
              <a:t>c</a:t>
            </a:r>
            <a:r>
              <a:rPr lang="en-US" sz="2000" b="1" baseline="-40000" dirty="0" err="1">
                <a:solidFill>
                  <a:srgbClr val="1C5230"/>
                </a:solidFill>
                <a:latin typeface="Cambria" pitchFamily="34" charset="0"/>
                <a:ea typeface="Cambria" pitchFamily="34" charset="-122"/>
                <a:cs typeface="Cambria" pitchFamily="34" charset="-120"/>
              </a:rPr>
              <a:t>t</a:t>
            </a:r>
            <a:r>
              <a:rPr lang="en-US" sz="2000" b="1" baseline="30000" dirty="0" err="1">
                <a:solidFill>
                  <a:srgbClr val="1C5230"/>
                </a:solidFill>
                <a:latin typeface="Cambria" pitchFamily="34" charset="0"/>
                <a:ea typeface="Cambria" pitchFamily="34" charset="-122"/>
                <a:cs typeface="Cambria" pitchFamily="34" charset="-120"/>
              </a:rPr>
              <a:t>KV</a:t>
            </a:r>
            <a:r>
              <a:rPr lang="en-US" sz="2000" dirty="0">
                <a:solidFill>
                  <a:srgbClr val="23211C"/>
                </a:solidFill>
                <a:latin typeface="Cambria" pitchFamily="34" charset="0"/>
                <a:ea typeface="Cambria" pitchFamily="34" charset="-122"/>
                <a:cs typeface="Cambria" pitchFamily="34" charset="-120"/>
              </a:rPr>
              <a:t>      (up-project the key)</a:t>
            </a:r>
          </a:p>
          <a:p>
            <a:pPr lvl="1"/>
            <a:endParaRPr lang="en-US" sz="2000" dirty="0"/>
          </a:p>
          <a:p>
            <a:pPr lvl="1"/>
            <a:r>
              <a:rPr lang="en-US" sz="2000" b="1" dirty="0" err="1">
                <a:solidFill>
                  <a:srgbClr val="1C5230"/>
                </a:solidFill>
                <a:latin typeface="Cambria" pitchFamily="34" charset="0"/>
                <a:ea typeface="Cambria" pitchFamily="34" charset="-122"/>
                <a:cs typeface="Cambria" pitchFamily="34" charset="-120"/>
              </a:rPr>
              <a:t>v</a:t>
            </a:r>
            <a:r>
              <a:rPr lang="en-US" sz="2000" b="1" baseline="-40000" dirty="0" err="1">
                <a:solidFill>
                  <a:srgbClr val="1C5230"/>
                </a:solidFill>
                <a:latin typeface="Cambria" pitchFamily="34" charset="0"/>
                <a:ea typeface="Cambria" pitchFamily="34" charset="-122"/>
                <a:cs typeface="Cambria" pitchFamily="34" charset="-120"/>
              </a:rPr>
              <a:t>t</a:t>
            </a:r>
            <a:r>
              <a:rPr lang="en-US" sz="2000" b="1" baseline="30000" dirty="0" err="1">
                <a:solidFill>
                  <a:srgbClr val="1C5230"/>
                </a:solidFill>
                <a:latin typeface="Cambria" pitchFamily="34" charset="0"/>
                <a:ea typeface="Cambria" pitchFamily="34" charset="-122"/>
                <a:cs typeface="Cambria" pitchFamily="34" charset="-120"/>
              </a:rPr>
              <a:t>C</a:t>
            </a:r>
            <a:r>
              <a:rPr lang="en-US" sz="2000" dirty="0">
                <a:solidFill>
                  <a:srgbClr val="23211C"/>
                </a:solidFill>
                <a:latin typeface="Cambria" pitchFamily="34" charset="0"/>
                <a:ea typeface="Cambria" pitchFamily="34" charset="-122"/>
                <a:cs typeface="Cambria" pitchFamily="34" charset="-120"/>
              </a:rPr>
              <a:t> = W</a:t>
            </a:r>
            <a:r>
              <a:rPr lang="en-US" sz="2000" b="1" baseline="30000" dirty="0">
                <a:solidFill>
                  <a:srgbClr val="1C5230"/>
                </a:solidFill>
                <a:latin typeface="Cambria" pitchFamily="34" charset="0"/>
                <a:ea typeface="Cambria" pitchFamily="34" charset="-122"/>
                <a:cs typeface="Cambria" pitchFamily="34" charset="-120"/>
              </a:rPr>
              <a:t>UV</a:t>
            </a:r>
            <a:r>
              <a:rPr lang="en-US" sz="2000" dirty="0">
                <a:solidFill>
                  <a:srgbClr val="23211C"/>
                </a:solidFill>
                <a:latin typeface="Cambria" pitchFamily="34" charset="0"/>
                <a:ea typeface="Cambria" pitchFamily="34" charset="-122"/>
                <a:cs typeface="Cambria" pitchFamily="34" charset="-120"/>
              </a:rPr>
              <a:t> </a:t>
            </a:r>
            <a:r>
              <a:rPr lang="en-US" sz="2000" dirty="0" err="1">
                <a:solidFill>
                  <a:srgbClr val="23211C"/>
                </a:solidFill>
                <a:latin typeface="Cambria" pitchFamily="34" charset="0"/>
                <a:ea typeface="Cambria" pitchFamily="34" charset="-122"/>
                <a:cs typeface="Cambria" pitchFamily="34" charset="-120"/>
              </a:rPr>
              <a:t>c</a:t>
            </a:r>
            <a:r>
              <a:rPr lang="en-US" sz="2000" b="1" baseline="-40000" dirty="0" err="1">
                <a:solidFill>
                  <a:srgbClr val="1C5230"/>
                </a:solidFill>
                <a:latin typeface="Cambria" pitchFamily="34" charset="0"/>
                <a:ea typeface="Cambria" pitchFamily="34" charset="-122"/>
                <a:cs typeface="Cambria" pitchFamily="34" charset="-120"/>
              </a:rPr>
              <a:t>t</a:t>
            </a:r>
            <a:r>
              <a:rPr lang="en-US" sz="2000" b="1" baseline="30000" dirty="0" err="1">
                <a:solidFill>
                  <a:srgbClr val="1C5230"/>
                </a:solidFill>
                <a:latin typeface="Cambria" pitchFamily="34" charset="0"/>
                <a:ea typeface="Cambria" pitchFamily="34" charset="-122"/>
                <a:cs typeface="Cambria" pitchFamily="34" charset="-120"/>
              </a:rPr>
              <a:t>KV</a:t>
            </a:r>
            <a:r>
              <a:rPr lang="en-US" sz="2000" dirty="0">
                <a:solidFill>
                  <a:srgbClr val="23211C"/>
                </a:solidFill>
                <a:latin typeface="Cambria" pitchFamily="34" charset="0"/>
                <a:ea typeface="Cambria" pitchFamily="34" charset="-122"/>
                <a:cs typeface="Cambria" pitchFamily="34" charset="-120"/>
              </a:rPr>
              <a:t>      (up-project the value)</a:t>
            </a:r>
          </a:p>
          <a:p>
            <a:pPr lvl="1"/>
            <a:endParaRPr lang="en-US" sz="2000" i="1" dirty="0">
              <a:solidFill>
                <a:srgbClr val="6B6A63"/>
              </a:solidFill>
              <a:latin typeface="Calibri" pitchFamily="34" charset="0"/>
              <a:ea typeface="Calibri" pitchFamily="34" charset="-122"/>
              <a:cs typeface="Calibri" pitchFamily="34" charset="-120"/>
            </a:endParaRPr>
          </a:p>
          <a:p>
            <a:pPr lvl="1"/>
            <a:r>
              <a:rPr lang="en-US" sz="2000" i="1" dirty="0">
                <a:solidFill>
                  <a:srgbClr val="6B6A63"/>
                </a:solidFill>
                <a:latin typeface="Calibri" pitchFamily="34" charset="0"/>
                <a:ea typeface="Calibri" pitchFamily="34" charset="-122"/>
                <a:cs typeface="Calibri" pitchFamily="34" charset="-120"/>
              </a:rPr>
              <a:t>The two W matrices are real, learned weights. This is how the model computes K, V during training.</a:t>
            </a:r>
            <a:endParaRPr lang="en-US" sz="2000" dirty="0"/>
          </a:p>
        </p:txBody>
      </p:sp>
    </p:spTree>
    <p:extLst>
      <p:ext uri="{BB962C8B-B14F-4D97-AF65-F5344CB8AC3E}">
        <p14:creationId xmlns:p14="http://schemas.microsoft.com/office/powerpoint/2010/main" val="20388156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92608"/>
            <a:ext cx="11064240" cy="594360"/>
          </a:xfrm>
          <a:prstGeom prst="rect">
            <a:avLst/>
          </a:prstGeom>
          <a:noFill/>
          <a:ln/>
        </p:spPr>
        <p:txBody>
          <a:bodyPr wrap="square" lIns="0" tIns="0" rIns="0" bIns="0" rtlCol="0" anchor="ctr"/>
          <a:lstStyle/>
          <a:p>
            <a:pPr marL="0" indent="0" algn="l">
              <a:buNone/>
            </a:pPr>
            <a:r>
              <a:rPr lang="en-US" sz="3000" b="1" dirty="0">
                <a:solidFill>
                  <a:srgbClr val="8B1A1A"/>
                </a:solidFill>
                <a:latin typeface="Trebuchet MS" pitchFamily="34" charset="0"/>
                <a:ea typeface="Trebuchet MS" pitchFamily="34" charset="-122"/>
                <a:cs typeface="Trebuchet MS" pitchFamily="34" charset="-120"/>
              </a:rPr>
              <a:t>Factorization — compress, then reconstruct</a:t>
            </a:r>
            <a:endParaRPr lang="en-US" sz="3000" dirty="0"/>
          </a:p>
        </p:txBody>
      </p:sp>
      <p:sp>
        <p:nvSpPr>
          <p:cNvPr id="3" name="Text 1"/>
          <p:cNvSpPr/>
          <p:nvPr/>
        </p:nvSpPr>
        <p:spPr>
          <a:xfrm>
            <a:off x="548640" y="896112"/>
            <a:ext cx="11064240" cy="365760"/>
          </a:xfrm>
          <a:prstGeom prst="rect">
            <a:avLst/>
          </a:prstGeom>
          <a:noFill/>
          <a:ln/>
        </p:spPr>
        <p:txBody>
          <a:bodyPr wrap="square" lIns="0" tIns="0" rIns="0" bIns="0" rtlCol="0" anchor="ctr"/>
          <a:lstStyle/>
          <a:p>
            <a:pPr marL="0" indent="0" algn="l">
              <a:buNone/>
            </a:pPr>
            <a:r>
              <a:rPr lang="en-US" sz="1500" i="1" dirty="0">
                <a:solidFill>
                  <a:srgbClr val="6B6A63"/>
                </a:solidFill>
                <a:latin typeface="Calibri" pitchFamily="34" charset="0"/>
                <a:ea typeface="Calibri" pitchFamily="34" charset="-122"/>
                <a:cs typeface="Calibri" pitchFamily="34" charset="-120"/>
              </a:rPr>
              <a:t>Replace the dense h → K, V map with a bottleneck at width dₒ = 512.</a:t>
            </a:r>
            <a:endParaRPr lang="en-US" sz="1500" dirty="0"/>
          </a:p>
        </p:txBody>
      </p:sp>
      <p:sp>
        <p:nvSpPr>
          <p:cNvPr id="4" name="Shape 2"/>
          <p:cNvSpPr/>
          <p:nvPr/>
        </p:nvSpPr>
        <p:spPr>
          <a:xfrm>
            <a:off x="640080" y="1508760"/>
            <a:ext cx="5440680" cy="4754880"/>
          </a:xfrm>
          <a:prstGeom prst="roundRect">
            <a:avLst>
              <a:gd name="adj" fmla="val 1923"/>
            </a:avLst>
          </a:prstGeom>
          <a:solidFill>
            <a:srgbClr val="E7F3EC"/>
          </a:solidFill>
          <a:ln w="12700">
            <a:solidFill>
              <a:srgbClr val="2C7A4B"/>
            </a:solidFill>
            <a:prstDash val="solid"/>
          </a:ln>
        </p:spPr>
        <p:txBody>
          <a:bodyPr/>
          <a:lstStyle/>
          <a:p>
            <a:endParaRPr lang="en-IN"/>
          </a:p>
        </p:txBody>
      </p:sp>
      <p:sp>
        <p:nvSpPr>
          <p:cNvPr id="5" name="Shape 3"/>
          <p:cNvSpPr/>
          <p:nvPr/>
        </p:nvSpPr>
        <p:spPr>
          <a:xfrm>
            <a:off x="868680" y="1691640"/>
            <a:ext cx="502920" cy="502920"/>
          </a:xfrm>
          <a:prstGeom prst="ellipse">
            <a:avLst/>
          </a:prstGeom>
          <a:solidFill>
            <a:srgbClr val="2C7A4B"/>
          </a:solidFill>
          <a:ln w="12700">
            <a:solidFill>
              <a:srgbClr val="2C7A4B"/>
            </a:solidFill>
            <a:prstDash val="solid"/>
          </a:ln>
        </p:spPr>
        <p:txBody>
          <a:bodyPr/>
          <a:lstStyle/>
          <a:p>
            <a:endParaRPr lang="en-IN"/>
          </a:p>
        </p:txBody>
      </p:sp>
      <p:sp>
        <p:nvSpPr>
          <p:cNvPr id="6" name="Text 4"/>
          <p:cNvSpPr/>
          <p:nvPr/>
        </p:nvSpPr>
        <p:spPr>
          <a:xfrm>
            <a:off x="868680" y="169164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1</a:t>
            </a:r>
            <a:endParaRPr lang="en-US" sz="2200" dirty="0"/>
          </a:p>
        </p:txBody>
      </p:sp>
      <p:sp>
        <p:nvSpPr>
          <p:cNvPr id="7" name="Text 5"/>
          <p:cNvSpPr/>
          <p:nvPr/>
        </p:nvSpPr>
        <p:spPr>
          <a:xfrm>
            <a:off x="1463040" y="1691640"/>
            <a:ext cx="4389120" cy="502920"/>
          </a:xfrm>
          <a:prstGeom prst="rect">
            <a:avLst/>
          </a:prstGeom>
          <a:noFill/>
          <a:ln/>
        </p:spPr>
        <p:txBody>
          <a:bodyPr wrap="square" lIns="0" tIns="0" rIns="0" bIns="0" rtlCol="0" anchor="ctr"/>
          <a:lstStyle/>
          <a:p>
            <a:pPr marL="0" indent="0" algn="l">
              <a:buNone/>
            </a:pPr>
            <a:r>
              <a:rPr lang="en-US" sz="2000" b="1" dirty="0">
                <a:solidFill>
                  <a:srgbClr val="1C5230"/>
                </a:solidFill>
                <a:latin typeface="Trebuchet MS" pitchFamily="34" charset="0"/>
                <a:ea typeface="Trebuchet MS" pitchFamily="34" charset="-122"/>
                <a:cs typeface="Trebuchet MS" pitchFamily="34" charset="-120"/>
              </a:rPr>
              <a:t>Compress</a:t>
            </a:r>
            <a:endParaRPr lang="en-US" sz="2000" dirty="0"/>
          </a:p>
        </p:txBody>
      </p:sp>
      <p:sp>
        <p:nvSpPr>
          <p:cNvPr id="8" name="Shape 6"/>
          <p:cNvSpPr/>
          <p:nvPr/>
        </p:nvSpPr>
        <p:spPr>
          <a:xfrm>
            <a:off x="868680" y="2423160"/>
            <a:ext cx="4983480" cy="1005840"/>
          </a:xfrm>
          <a:prstGeom prst="roundRect">
            <a:avLst>
              <a:gd name="adj" fmla="val 9091"/>
            </a:avLst>
          </a:prstGeom>
          <a:solidFill>
            <a:srgbClr val="FFFFFF"/>
          </a:solidFill>
          <a:ln w="12700">
            <a:solidFill>
              <a:srgbClr val="2C7A4B"/>
            </a:solidFill>
            <a:prstDash val="solid"/>
          </a:ln>
        </p:spPr>
        <p:txBody>
          <a:bodyPr/>
          <a:lstStyle/>
          <a:p>
            <a:endParaRPr lang="en-IN"/>
          </a:p>
        </p:txBody>
      </p:sp>
      <p:sp>
        <p:nvSpPr>
          <p:cNvPr id="9" name="Text 7"/>
          <p:cNvSpPr/>
          <p:nvPr/>
        </p:nvSpPr>
        <p:spPr>
          <a:xfrm>
            <a:off x="868680" y="2423160"/>
            <a:ext cx="4983480" cy="1005840"/>
          </a:xfrm>
          <a:prstGeom prst="rect">
            <a:avLst/>
          </a:prstGeom>
          <a:noFill/>
          <a:ln/>
        </p:spPr>
        <p:txBody>
          <a:bodyPr wrap="square" lIns="0" tIns="0" rIns="0" bIns="0" rtlCol="0" anchor="ctr"/>
          <a:lstStyle/>
          <a:p>
            <a:pPr marL="0" indent="0" algn="ctr">
              <a:buNone/>
            </a:pPr>
            <a:r>
              <a:rPr lang="en-US" sz="3200" b="1" dirty="0">
                <a:solidFill>
                  <a:srgbClr val="1C5230"/>
                </a:solidFill>
                <a:latin typeface="Cambria" pitchFamily="34" charset="0"/>
                <a:ea typeface="Cambria" pitchFamily="34" charset="-122"/>
                <a:cs typeface="Cambria" pitchFamily="34" charset="-120"/>
              </a:rPr>
              <a:t>c</a:t>
            </a:r>
            <a:r>
              <a:rPr lang="en-US" sz="3200" dirty="0">
                <a:solidFill>
                  <a:srgbClr val="23211C"/>
                </a:solidFill>
                <a:latin typeface="Cambria" pitchFamily="34" charset="0"/>
                <a:ea typeface="Cambria" pitchFamily="34" charset="-122"/>
                <a:cs typeface="Cambria" pitchFamily="34" charset="-120"/>
              </a:rPr>
              <a:t>  =  </a:t>
            </a:r>
            <a:r>
              <a:rPr lang="en-US" sz="3200" b="1" dirty="0">
                <a:solidFill>
                  <a:srgbClr val="1C5230"/>
                </a:solidFill>
                <a:latin typeface="Cambria" pitchFamily="34" charset="0"/>
                <a:ea typeface="Cambria" pitchFamily="34" charset="-122"/>
                <a:cs typeface="Cambria" pitchFamily="34" charset="-120"/>
              </a:rPr>
              <a:t>W</a:t>
            </a:r>
            <a:r>
              <a:rPr lang="en-US" b="1" baseline="30000" dirty="0">
                <a:solidFill>
                  <a:srgbClr val="1C5230"/>
                </a:solidFill>
                <a:latin typeface="Cambria" pitchFamily="34" charset="0"/>
                <a:ea typeface="Cambria" pitchFamily="34" charset="-122"/>
              </a:rPr>
              <a:t>DKV</a:t>
            </a:r>
            <a:r>
              <a:rPr lang="en-US" sz="3200" b="1" baseline="30000" dirty="0">
                <a:solidFill>
                  <a:srgbClr val="1C5230"/>
                </a:solidFill>
                <a:latin typeface="Cambria" pitchFamily="34" charset="0"/>
                <a:ea typeface="Cambria" pitchFamily="34" charset="-122"/>
              </a:rPr>
              <a:t> </a:t>
            </a:r>
            <a:r>
              <a:rPr lang="en-US" sz="3200" dirty="0">
                <a:solidFill>
                  <a:srgbClr val="23211C"/>
                </a:solidFill>
                <a:latin typeface="Cambria" pitchFamily="34" charset="0"/>
                <a:ea typeface="Cambria" pitchFamily="34" charset="-122"/>
                <a:cs typeface="Cambria" pitchFamily="34" charset="-120"/>
              </a:rPr>
              <a:t>· </a:t>
            </a:r>
            <a:r>
              <a:rPr lang="en-US" sz="3200" b="1" dirty="0">
                <a:solidFill>
                  <a:srgbClr val="1C5230"/>
                </a:solidFill>
                <a:latin typeface="Cambria" pitchFamily="34" charset="0"/>
                <a:ea typeface="Cambria" pitchFamily="34" charset="-122"/>
                <a:cs typeface="Cambria" pitchFamily="34" charset="-120"/>
              </a:rPr>
              <a:t>h</a:t>
            </a:r>
            <a:endParaRPr lang="en-US" sz="3200" dirty="0"/>
          </a:p>
        </p:txBody>
      </p:sp>
      <p:sp>
        <p:nvSpPr>
          <p:cNvPr id="10" name="Text 8"/>
          <p:cNvSpPr/>
          <p:nvPr/>
        </p:nvSpPr>
        <p:spPr>
          <a:xfrm>
            <a:off x="868680" y="3520440"/>
            <a:ext cx="4983480" cy="320040"/>
          </a:xfrm>
          <a:prstGeom prst="rect">
            <a:avLst/>
          </a:prstGeom>
          <a:noFill/>
          <a:ln/>
        </p:spPr>
        <p:txBody>
          <a:bodyPr wrap="square" lIns="0" tIns="0" rIns="0" bIns="0" rtlCol="0" anchor="ctr"/>
          <a:lstStyle/>
          <a:p>
            <a:pPr marL="0" indent="0" algn="l">
              <a:buNone/>
            </a:pPr>
            <a:r>
              <a:rPr lang="en-US" sz="1300" i="1" dirty="0">
                <a:solidFill>
                  <a:srgbClr val="1C5230"/>
                </a:solidFill>
                <a:latin typeface="Calibri" pitchFamily="34" charset="0"/>
                <a:ea typeface="Calibri" pitchFamily="34" charset="-122"/>
                <a:cs typeface="Calibri" pitchFamily="34" charset="-120"/>
              </a:rPr>
              <a:t>Squeeze the wide hidden vector h into a small latent c.</a:t>
            </a:r>
            <a:endParaRPr lang="en-US" sz="1300" dirty="0"/>
          </a:p>
        </p:txBody>
      </p:sp>
      <p:sp>
        <p:nvSpPr>
          <p:cNvPr id="11" name="Shape 9"/>
          <p:cNvSpPr/>
          <p:nvPr/>
        </p:nvSpPr>
        <p:spPr>
          <a:xfrm>
            <a:off x="731520" y="3886200"/>
            <a:ext cx="4983480" cy="2148840"/>
          </a:xfrm>
          <a:prstGeom prst="roundRect">
            <a:avLst>
              <a:gd name="adj" fmla="val 4255"/>
            </a:avLst>
          </a:prstGeom>
          <a:solidFill>
            <a:srgbClr val="FFFFFF"/>
          </a:solidFill>
          <a:ln w="12700">
            <a:solidFill>
              <a:srgbClr val="2C7A4B"/>
            </a:solidFill>
            <a:prstDash val="solid"/>
          </a:ln>
        </p:spPr>
        <p:txBody>
          <a:bodyPr/>
          <a:lstStyle/>
          <a:p>
            <a:endParaRPr lang="en-IN"/>
          </a:p>
        </p:txBody>
      </p:sp>
      <p:sp>
        <p:nvSpPr>
          <p:cNvPr id="12" name="Text 10"/>
          <p:cNvSpPr/>
          <p:nvPr/>
        </p:nvSpPr>
        <p:spPr>
          <a:xfrm>
            <a:off x="1325880" y="3840480"/>
            <a:ext cx="4709160" cy="2329995"/>
          </a:xfrm>
          <a:prstGeom prst="rect">
            <a:avLst/>
          </a:prstGeom>
          <a:noFill/>
          <a:ln/>
        </p:spPr>
        <p:txBody>
          <a:bodyPr wrap="square" lIns="0" tIns="0" rIns="0" bIns="0" rtlCol="0" anchor="ctr"/>
          <a:lstStyle/>
          <a:p>
            <a:endParaRPr lang="en-US" sz="1400" dirty="0"/>
          </a:p>
          <a:p>
            <a:endParaRPr lang="en-US" sz="1400" dirty="0"/>
          </a:p>
          <a:p>
            <a:pPr marL="0" indent="0" algn="l">
              <a:buNone/>
            </a:pPr>
            <a:endParaRPr lang="en-US" sz="1300" dirty="0"/>
          </a:p>
        </p:txBody>
      </p:sp>
      <p:sp>
        <p:nvSpPr>
          <p:cNvPr id="16" name="Shape 14"/>
          <p:cNvSpPr/>
          <p:nvPr/>
        </p:nvSpPr>
        <p:spPr>
          <a:xfrm>
            <a:off x="1005840" y="5623560"/>
            <a:ext cx="4709160" cy="365760"/>
          </a:xfrm>
          <a:prstGeom prst="roundRect">
            <a:avLst>
              <a:gd name="adj" fmla="val 15000"/>
            </a:avLst>
          </a:prstGeom>
          <a:solidFill>
            <a:srgbClr val="2C7A4B"/>
          </a:solidFill>
          <a:ln w="12700">
            <a:solidFill>
              <a:srgbClr val="2C7A4B"/>
            </a:solidFill>
            <a:prstDash val="solid"/>
          </a:ln>
        </p:spPr>
        <p:txBody>
          <a:bodyPr/>
          <a:lstStyle/>
          <a:p>
            <a:endParaRPr lang="en-IN"/>
          </a:p>
        </p:txBody>
      </p:sp>
      <p:sp>
        <p:nvSpPr>
          <p:cNvPr id="17" name="Text 15"/>
          <p:cNvSpPr/>
          <p:nvPr/>
        </p:nvSpPr>
        <p:spPr>
          <a:xfrm>
            <a:off x="1005840" y="5623560"/>
            <a:ext cx="470916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 is the ONLY thing cached — one small vector per token</a:t>
            </a:r>
            <a:endParaRPr lang="en-US" sz="1250" dirty="0"/>
          </a:p>
        </p:txBody>
      </p:sp>
      <p:sp>
        <p:nvSpPr>
          <p:cNvPr id="18" name="Shape 16"/>
          <p:cNvSpPr/>
          <p:nvPr/>
        </p:nvSpPr>
        <p:spPr>
          <a:xfrm>
            <a:off x="6263640" y="1508760"/>
            <a:ext cx="5349240" cy="4754880"/>
          </a:xfrm>
          <a:prstGeom prst="roundRect">
            <a:avLst>
              <a:gd name="adj" fmla="val 1923"/>
            </a:avLst>
          </a:prstGeom>
          <a:solidFill>
            <a:srgbClr val="E6F1FB"/>
          </a:solidFill>
          <a:ln w="12700">
            <a:solidFill>
              <a:srgbClr val="185FA5"/>
            </a:solidFill>
            <a:prstDash val="solid"/>
          </a:ln>
        </p:spPr>
        <p:txBody>
          <a:bodyPr/>
          <a:lstStyle/>
          <a:p>
            <a:endParaRPr lang="en-IN"/>
          </a:p>
        </p:txBody>
      </p:sp>
      <p:sp>
        <p:nvSpPr>
          <p:cNvPr id="19" name="Shape 17"/>
          <p:cNvSpPr/>
          <p:nvPr/>
        </p:nvSpPr>
        <p:spPr>
          <a:xfrm>
            <a:off x="6492240" y="1691640"/>
            <a:ext cx="502920" cy="502920"/>
          </a:xfrm>
          <a:prstGeom prst="ellipse">
            <a:avLst/>
          </a:prstGeom>
          <a:solidFill>
            <a:srgbClr val="185FA5"/>
          </a:solidFill>
          <a:ln w="12700">
            <a:solidFill>
              <a:srgbClr val="185FA5"/>
            </a:solidFill>
            <a:prstDash val="solid"/>
          </a:ln>
        </p:spPr>
        <p:txBody>
          <a:bodyPr/>
          <a:lstStyle/>
          <a:p>
            <a:endParaRPr lang="en-IN"/>
          </a:p>
        </p:txBody>
      </p:sp>
      <p:sp>
        <p:nvSpPr>
          <p:cNvPr id="20" name="Text 18"/>
          <p:cNvSpPr/>
          <p:nvPr/>
        </p:nvSpPr>
        <p:spPr>
          <a:xfrm>
            <a:off x="6492240" y="1691640"/>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21" name="Text 19"/>
          <p:cNvSpPr/>
          <p:nvPr/>
        </p:nvSpPr>
        <p:spPr>
          <a:xfrm>
            <a:off x="7086600" y="1691640"/>
            <a:ext cx="4389120" cy="502920"/>
          </a:xfrm>
          <a:prstGeom prst="rect">
            <a:avLst/>
          </a:prstGeom>
          <a:noFill/>
          <a:ln/>
        </p:spPr>
        <p:txBody>
          <a:bodyPr wrap="square" lIns="0" tIns="0" rIns="0" bIns="0" rtlCol="0" anchor="ctr"/>
          <a:lstStyle/>
          <a:p>
            <a:pPr marL="0" indent="0" algn="l">
              <a:buNone/>
            </a:pPr>
            <a:r>
              <a:rPr lang="en-US" sz="2000" b="1" dirty="0">
                <a:solidFill>
                  <a:srgbClr val="0C447C"/>
                </a:solidFill>
                <a:latin typeface="Trebuchet MS" pitchFamily="34" charset="0"/>
                <a:ea typeface="Trebuchet MS" pitchFamily="34" charset="-122"/>
                <a:cs typeface="Trebuchet MS" pitchFamily="34" charset="-120"/>
              </a:rPr>
              <a:t>Reconstruct</a:t>
            </a:r>
            <a:endParaRPr lang="en-US" sz="2000" dirty="0"/>
          </a:p>
        </p:txBody>
      </p:sp>
      <p:sp>
        <p:nvSpPr>
          <p:cNvPr id="22" name="Shape 20"/>
          <p:cNvSpPr/>
          <p:nvPr/>
        </p:nvSpPr>
        <p:spPr>
          <a:xfrm>
            <a:off x="6492240" y="2423160"/>
            <a:ext cx="4983480" cy="1005840"/>
          </a:xfrm>
          <a:prstGeom prst="roundRect">
            <a:avLst>
              <a:gd name="adj" fmla="val 9091"/>
            </a:avLst>
          </a:prstGeom>
          <a:solidFill>
            <a:srgbClr val="FFFFFF"/>
          </a:solidFill>
          <a:ln w="12700">
            <a:solidFill>
              <a:srgbClr val="185FA5"/>
            </a:solidFill>
            <a:prstDash val="solid"/>
          </a:ln>
        </p:spPr>
        <p:txBody>
          <a:bodyPr/>
          <a:lstStyle/>
          <a:p>
            <a:endParaRPr lang="en-IN"/>
          </a:p>
        </p:txBody>
      </p:sp>
      <p:sp>
        <p:nvSpPr>
          <p:cNvPr id="23" name="Text 21"/>
          <p:cNvSpPr/>
          <p:nvPr/>
        </p:nvSpPr>
        <p:spPr>
          <a:xfrm>
            <a:off x="6492240" y="2423160"/>
            <a:ext cx="4983480" cy="1005840"/>
          </a:xfrm>
          <a:prstGeom prst="rect">
            <a:avLst/>
          </a:prstGeom>
          <a:noFill/>
          <a:ln/>
        </p:spPr>
        <p:txBody>
          <a:bodyPr wrap="square" lIns="0" tIns="0" rIns="0" bIns="0" rtlCol="0" anchor="ctr"/>
          <a:lstStyle/>
          <a:p>
            <a:pPr marL="0" indent="0" algn="ctr">
              <a:buNone/>
            </a:pPr>
            <a:r>
              <a:rPr lang="en-US" sz="2200" b="1" dirty="0">
                <a:solidFill>
                  <a:srgbClr val="0C447C"/>
                </a:solidFill>
                <a:latin typeface="Cambria" pitchFamily="34" charset="0"/>
                <a:ea typeface="Cambria" pitchFamily="34" charset="-122"/>
                <a:cs typeface="Cambria" pitchFamily="34" charset="-120"/>
              </a:rPr>
              <a:t>k</a:t>
            </a:r>
            <a:r>
              <a:rPr lang="en-US" sz="2200" dirty="0">
                <a:solidFill>
                  <a:srgbClr val="23211C"/>
                </a:solidFill>
                <a:latin typeface="Cambria" pitchFamily="34" charset="0"/>
                <a:ea typeface="Cambria" pitchFamily="34" charset="-122"/>
                <a:cs typeface="Cambria" pitchFamily="34" charset="-120"/>
              </a:rPr>
              <a:t> = </a:t>
            </a:r>
            <a:r>
              <a:rPr lang="en-US" sz="2200" b="1" dirty="0">
                <a:solidFill>
                  <a:srgbClr val="0C447C"/>
                </a:solidFill>
                <a:latin typeface="Cambria" pitchFamily="34" charset="0"/>
                <a:ea typeface="Cambria" pitchFamily="34" charset="-122"/>
                <a:cs typeface="Cambria" pitchFamily="34" charset="-120"/>
              </a:rPr>
              <a:t>W</a:t>
            </a:r>
            <a:r>
              <a:rPr lang="en-US" sz="1500" b="1" baseline="30000" dirty="0">
                <a:solidFill>
                  <a:srgbClr val="0C447C"/>
                </a:solidFill>
                <a:latin typeface="Cambria" pitchFamily="34" charset="0"/>
                <a:ea typeface="Cambria" pitchFamily="34" charset="-122"/>
                <a:cs typeface="Cambria" pitchFamily="34" charset="-120"/>
              </a:rPr>
              <a:t>UK</a:t>
            </a:r>
            <a:r>
              <a:rPr lang="en-US" sz="2200" dirty="0">
                <a:solidFill>
                  <a:srgbClr val="23211C"/>
                </a:solidFill>
                <a:latin typeface="Cambria" pitchFamily="34" charset="0"/>
                <a:ea typeface="Cambria" pitchFamily="34" charset="-122"/>
                <a:cs typeface="Cambria" pitchFamily="34" charset="-120"/>
              </a:rPr>
              <a:t> · c           </a:t>
            </a:r>
            <a:r>
              <a:rPr lang="en-US" sz="2200" b="1" dirty="0">
                <a:solidFill>
                  <a:srgbClr val="0C447C"/>
                </a:solidFill>
                <a:latin typeface="Cambria" pitchFamily="34" charset="0"/>
                <a:ea typeface="Cambria" pitchFamily="34" charset="-122"/>
                <a:cs typeface="Cambria" pitchFamily="34" charset="-120"/>
              </a:rPr>
              <a:t>v</a:t>
            </a:r>
            <a:r>
              <a:rPr lang="en-US" sz="2200" dirty="0">
                <a:solidFill>
                  <a:srgbClr val="23211C"/>
                </a:solidFill>
                <a:latin typeface="Cambria" pitchFamily="34" charset="0"/>
                <a:ea typeface="Cambria" pitchFamily="34" charset="-122"/>
                <a:cs typeface="Cambria" pitchFamily="34" charset="-120"/>
              </a:rPr>
              <a:t> = </a:t>
            </a:r>
            <a:r>
              <a:rPr lang="en-US" sz="2200" b="1" dirty="0">
                <a:solidFill>
                  <a:srgbClr val="0C447C"/>
                </a:solidFill>
                <a:latin typeface="Cambria" pitchFamily="34" charset="0"/>
                <a:ea typeface="Cambria" pitchFamily="34" charset="-122"/>
                <a:cs typeface="Cambria" pitchFamily="34" charset="-120"/>
              </a:rPr>
              <a:t>W</a:t>
            </a:r>
            <a:r>
              <a:rPr lang="en-US" sz="1500" b="1" baseline="30000" dirty="0">
                <a:solidFill>
                  <a:srgbClr val="0C447C"/>
                </a:solidFill>
                <a:latin typeface="Cambria" pitchFamily="34" charset="0"/>
                <a:ea typeface="Cambria" pitchFamily="34" charset="-122"/>
                <a:cs typeface="Cambria" pitchFamily="34" charset="-120"/>
              </a:rPr>
              <a:t>UV</a:t>
            </a:r>
            <a:r>
              <a:rPr lang="en-US" sz="2200" dirty="0">
                <a:solidFill>
                  <a:srgbClr val="23211C"/>
                </a:solidFill>
                <a:latin typeface="Cambria" pitchFamily="34" charset="0"/>
                <a:ea typeface="Cambria" pitchFamily="34" charset="-122"/>
                <a:cs typeface="Cambria" pitchFamily="34" charset="-120"/>
              </a:rPr>
              <a:t> · c</a:t>
            </a:r>
            <a:endParaRPr lang="en-US" sz="2200" dirty="0"/>
          </a:p>
        </p:txBody>
      </p:sp>
      <p:sp>
        <p:nvSpPr>
          <p:cNvPr id="24" name="Text 22"/>
          <p:cNvSpPr/>
          <p:nvPr/>
        </p:nvSpPr>
        <p:spPr>
          <a:xfrm>
            <a:off x="6492240" y="3520440"/>
            <a:ext cx="4983480" cy="320040"/>
          </a:xfrm>
          <a:prstGeom prst="rect">
            <a:avLst/>
          </a:prstGeom>
          <a:noFill/>
          <a:ln/>
        </p:spPr>
        <p:txBody>
          <a:bodyPr wrap="square" lIns="0" tIns="0" rIns="0" bIns="0" rtlCol="0" anchor="ctr"/>
          <a:lstStyle/>
          <a:p>
            <a:pPr marL="0" indent="0" algn="l">
              <a:buNone/>
            </a:pPr>
            <a:r>
              <a:rPr lang="en-US" sz="1300" i="1" dirty="0">
                <a:solidFill>
                  <a:srgbClr val="0C447C"/>
                </a:solidFill>
                <a:latin typeface="Calibri" pitchFamily="34" charset="0"/>
                <a:ea typeface="Calibri" pitchFamily="34" charset="-122"/>
                <a:cs typeface="Calibri" pitchFamily="34" charset="-120"/>
              </a:rPr>
              <a:t>Expand c back into full per-head keys K and values V.</a:t>
            </a:r>
            <a:endParaRPr lang="en-US" sz="1300" dirty="0"/>
          </a:p>
        </p:txBody>
      </p:sp>
      <p:sp>
        <p:nvSpPr>
          <p:cNvPr id="25" name="Shape 23"/>
          <p:cNvSpPr/>
          <p:nvPr/>
        </p:nvSpPr>
        <p:spPr>
          <a:xfrm>
            <a:off x="6492240" y="3931920"/>
            <a:ext cx="4983480" cy="2148840"/>
          </a:xfrm>
          <a:prstGeom prst="roundRect">
            <a:avLst>
              <a:gd name="adj" fmla="val 4255"/>
            </a:avLst>
          </a:prstGeom>
          <a:solidFill>
            <a:srgbClr val="FFFFFF"/>
          </a:solidFill>
          <a:ln w="12700">
            <a:solidFill>
              <a:srgbClr val="185FA5"/>
            </a:solidFill>
            <a:prstDash val="solid"/>
          </a:ln>
        </p:spPr>
        <p:txBody>
          <a:bodyPr/>
          <a:lstStyle/>
          <a:p>
            <a:r>
              <a:rPr lang="en-US" b="1" dirty="0">
                <a:solidFill>
                  <a:srgbClr val="0C447C"/>
                </a:solidFill>
                <a:latin typeface="Trebuchet MS" pitchFamily="34" charset="0"/>
                <a:ea typeface="Trebuchet MS" pitchFamily="34" charset="-122"/>
                <a:cs typeface="Trebuchet MS" pitchFamily="34" charset="-120"/>
              </a:rPr>
              <a:t>Dimensions</a:t>
            </a:r>
          </a:p>
          <a:p>
            <a:r>
              <a:rPr lang="en-US" b="1" dirty="0">
                <a:solidFill>
                  <a:srgbClr val="23211C"/>
                </a:solidFill>
                <a:latin typeface="Cambria" pitchFamily="34" charset="0"/>
                <a:ea typeface="Cambria" pitchFamily="34" charset="-122"/>
                <a:cs typeface="Cambria" pitchFamily="34" charset="-120"/>
              </a:rPr>
              <a:t>k, v</a:t>
            </a:r>
            <a:r>
              <a:rPr lang="en-US" dirty="0">
                <a:solidFill>
                  <a:srgbClr val="23211C"/>
                </a:solidFill>
                <a:latin typeface="Cambria" pitchFamily="34" charset="0"/>
                <a:ea typeface="Cambria" pitchFamily="34" charset="-122"/>
                <a:cs typeface="Cambria" pitchFamily="34" charset="-120"/>
              </a:rPr>
              <a:t>  ∈  ℝ</a:t>
            </a:r>
            <a:r>
              <a:rPr lang="en-US" sz="1600" b="1" baseline="30000" dirty="0">
                <a:solidFill>
                  <a:srgbClr val="23211C"/>
                </a:solidFill>
                <a:latin typeface="Cambria" pitchFamily="34" charset="0"/>
                <a:ea typeface="Cambria" pitchFamily="34" charset="-122"/>
                <a:cs typeface="Cambria" pitchFamily="34" charset="-120"/>
              </a:rPr>
              <a:t>16384</a:t>
            </a:r>
            <a:r>
              <a:rPr lang="en-US" dirty="0">
                <a:solidFill>
                  <a:srgbClr val="23211C"/>
                </a:solidFill>
                <a:latin typeface="Cambria" pitchFamily="34" charset="0"/>
                <a:ea typeface="Cambria" pitchFamily="34" charset="-122"/>
                <a:cs typeface="Cambria" pitchFamily="34" charset="-120"/>
              </a:rPr>
              <a:t>           full K, V (128 heads × 128)</a:t>
            </a:r>
          </a:p>
          <a:p>
            <a:endParaRPr lang="en-US" dirty="0">
              <a:solidFill>
                <a:srgbClr val="23211C"/>
              </a:solidFill>
              <a:latin typeface="Cambria" pitchFamily="34" charset="0"/>
              <a:ea typeface="Cambria" pitchFamily="34" charset="-122"/>
              <a:cs typeface="Cambria" pitchFamily="34" charset="-120"/>
            </a:endParaRPr>
          </a:p>
          <a:p>
            <a:r>
              <a:rPr lang="en-US" sz="2000" b="1" dirty="0">
                <a:solidFill>
                  <a:srgbClr val="23211C"/>
                </a:solidFill>
                <a:latin typeface="Cambria" pitchFamily="34" charset="0"/>
                <a:ea typeface="Cambria" pitchFamily="34" charset="-122"/>
                <a:cs typeface="Cambria" pitchFamily="34" charset="-120"/>
              </a:rPr>
              <a:t>W</a:t>
            </a:r>
            <a:r>
              <a:rPr lang="en-US" sz="2000" b="1" baseline="30000" dirty="0">
                <a:solidFill>
                  <a:srgbClr val="23211C"/>
                </a:solidFill>
                <a:latin typeface="Cambria" pitchFamily="34" charset="0"/>
                <a:ea typeface="Cambria" pitchFamily="34" charset="-122"/>
                <a:cs typeface="Cambria" pitchFamily="34" charset="-120"/>
              </a:rPr>
              <a:t>UK</a:t>
            </a:r>
            <a:r>
              <a:rPr lang="en-US" sz="2000" dirty="0">
                <a:solidFill>
                  <a:srgbClr val="23211C"/>
                </a:solidFill>
                <a:latin typeface="Cambria" pitchFamily="34" charset="0"/>
                <a:ea typeface="Cambria" pitchFamily="34" charset="-122"/>
                <a:cs typeface="Cambria" pitchFamily="34" charset="-120"/>
              </a:rPr>
              <a:t>, </a:t>
            </a:r>
            <a:r>
              <a:rPr lang="en-US" sz="2000" b="1" dirty="0">
                <a:solidFill>
                  <a:srgbClr val="23211C"/>
                </a:solidFill>
                <a:latin typeface="Cambria" pitchFamily="34" charset="0"/>
                <a:ea typeface="Cambria" pitchFamily="34" charset="-122"/>
                <a:cs typeface="Cambria" pitchFamily="34" charset="-120"/>
              </a:rPr>
              <a:t>W</a:t>
            </a:r>
            <a:r>
              <a:rPr lang="en-US" sz="2000" b="1" baseline="30000" dirty="0">
                <a:solidFill>
                  <a:srgbClr val="23211C"/>
                </a:solidFill>
                <a:latin typeface="Cambria" pitchFamily="34" charset="0"/>
                <a:ea typeface="Cambria" pitchFamily="34" charset="-122"/>
                <a:cs typeface="Cambria" pitchFamily="34" charset="-120"/>
              </a:rPr>
              <a:t>UV</a:t>
            </a:r>
            <a:r>
              <a:rPr lang="en-US" sz="2000" dirty="0">
                <a:solidFill>
                  <a:srgbClr val="23211C"/>
                </a:solidFill>
                <a:latin typeface="Cambria" pitchFamily="34" charset="0"/>
                <a:ea typeface="Cambria" pitchFamily="34" charset="-122"/>
                <a:cs typeface="Cambria" pitchFamily="34" charset="-120"/>
              </a:rPr>
              <a:t>  ∈  ℝ</a:t>
            </a:r>
            <a:r>
              <a:rPr lang="en-US" b="1" baseline="30000" dirty="0">
                <a:solidFill>
                  <a:srgbClr val="23211C"/>
                </a:solidFill>
                <a:latin typeface="Cambria" pitchFamily="34" charset="0"/>
                <a:ea typeface="Cambria" pitchFamily="34" charset="-122"/>
                <a:cs typeface="Cambria" pitchFamily="34" charset="-120"/>
              </a:rPr>
              <a:t>16384 × 512</a:t>
            </a:r>
            <a:endParaRPr lang="en-US" sz="2000" dirty="0"/>
          </a:p>
        </p:txBody>
      </p:sp>
      <p:sp>
        <p:nvSpPr>
          <p:cNvPr id="29" name="Shape 27"/>
          <p:cNvSpPr/>
          <p:nvPr/>
        </p:nvSpPr>
        <p:spPr>
          <a:xfrm>
            <a:off x="6629400" y="5394960"/>
            <a:ext cx="4709160" cy="594360"/>
          </a:xfrm>
          <a:prstGeom prst="roundRect">
            <a:avLst>
              <a:gd name="adj" fmla="val 9231"/>
            </a:avLst>
          </a:prstGeom>
          <a:solidFill>
            <a:srgbClr val="185FA5"/>
          </a:solidFill>
          <a:ln w="12700">
            <a:solidFill>
              <a:srgbClr val="185FA5"/>
            </a:solidFill>
            <a:prstDash val="solid"/>
          </a:ln>
        </p:spPr>
        <p:txBody>
          <a:bodyPr/>
          <a:lstStyle/>
          <a:p>
            <a:endParaRPr lang="en-IN"/>
          </a:p>
        </p:txBody>
      </p:sp>
      <p:sp>
        <p:nvSpPr>
          <p:cNvPr id="30" name="Text 28"/>
          <p:cNvSpPr/>
          <p:nvPr/>
        </p:nvSpPr>
        <p:spPr>
          <a:xfrm>
            <a:off x="6629400" y="5394960"/>
            <a:ext cx="4709160"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Each head gets its OWN K and V — nothing shared between heads (unlike MQA / GQA)</a:t>
            </a:r>
            <a:endParaRPr lang="en-US" sz="1200" dirty="0"/>
          </a:p>
        </p:txBody>
      </p:sp>
      <p:sp>
        <p:nvSpPr>
          <p:cNvPr id="32" name="TextBox 31">
            <a:extLst>
              <a:ext uri="{FF2B5EF4-FFF2-40B4-BE49-F238E27FC236}">
                <a16:creationId xmlns:a16="http://schemas.microsoft.com/office/drawing/2014/main" id="{7E68B9FB-AC74-904A-6230-E1A5724D868B}"/>
              </a:ext>
            </a:extLst>
          </p:cNvPr>
          <p:cNvSpPr txBox="1"/>
          <p:nvPr/>
        </p:nvSpPr>
        <p:spPr>
          <a:xfrm>
            <a:off x="992038" y="4171771"/>
            <a:ext cx="3545456" cy="1200329"/>
          </a:xfrm>
          <a:prstGeom prst="rect">
            <a:avLst/>
          </a:prstGeom>
          <a:noFill/>
        </p:spPr>
        <p:txBody>
          <a:bodyPr wrap="square">
            <a:spAutoFit/>
          </a:bodyPr>
          <a:lstStyle/>
          <a:p>
            <a:pPr marL="0" indent="0" algn="l">
              <a:buNone/>
            </a:pPr>
            <a:r>
              <a:rPr lang="en-US" sz="1800" b="1" dirty="0">
                <a:solidFill>
                  <a:srgbClr val="1C5230"/>
                </a:solidFill>
                <a:latin typeface="Trebuchet MS" pitchFamily="34" charset="0"/>
                <a:ea typeface="Trebuchet MS" pitchFamily="34" charset="-122"/>
                <a:cs typeface="Trebuchet MS" pitchFamily="34" charset="-120"/>
              </a:rPr>
              <a:t>Dimensions</a:t>
            </a:r>
          </a:p>
          <a:p>
            <a:r>
              <a:rPr lang="en-US" sz="1800" b="1" dirty="0">
                <a:solidFill>
                  <a:srgbClr val="23211C"/>
                </a:solidFill>
                <a:latin typeface="Cambria" pitchFamily="34" charset="0"/>
                <a:ea typeface="Cambria" pitchFamily="34" charset="-122"/>
                <a:cs typeface="Cambria" pitchFamily="34" charset="-120"/>
              </a:rPr>
              <a:t>h</a:t>
            </a:r>
            <a:r>
              <a:rPr lang="en-US" sz="1800" dirty="0">
                <a:solidFill>
                  <a:srgbClr val="23211C"/>
                </a:solidFill>
                <a:latin typeface="Cambria" pitchFamily="34" charset="0"/>
                <a:ea typeface="Cambria" pitchFamily="34" charset="-122"/>
                <a:cs typeface="Cambria" pitchFamily="34" charset="-120"/>
              </a:rPr>
              <a:t>  ∈  ℝ</a:t>
            </a:r>
            <a:r>
              <a:rPr lang="en-US" sz="1800" b="1" baseline="30000" dirty="0">
                <a:solidFill>
                  <a:srgbClr val="23211C"/>
                </a:solidFill>
                <a:latin typeface="Cambria" pitchFamily="34" charset="0"/>
                <a:ea typeface="Cambria" pitchFamily="34" charset="-122"/>
                <a:cs typeface="Cambria" pitchFamily="34" charset="-120"/>
              </a:rPr>
              <a:t>5120</a:t>
            </a:r>
            <a:r>
              <a:rPr lang="en-US" sz="1800" dirty="0">
                <a:solidFill>
                  <a:srgbClr val="23211C"/>
                </a:solidFill>
                <a:latin typeface="Cambria" pitchFamily="34" charset="0"/>
                <a:ea typeface="Cambria" pitchFamily="34" charset="-122"/>
                <a:cs typeface="Cambria" pitchFamily="34" charset="-120"/>
              </a:rPr>
              <a:t>                  hidden state</a:t>
            </a:r>
          </a:p>
          <a:p>
            <a:r>
              <a:rPr lang="en-US" sz="1800" b="1" dirty="0">
                <a:solidFill>
                  <a:srgbClr val="23211C"/>
                </a:solidFill>
                <a:latin typeface="Cambria" pitchFamily="34" charset="0"/>
                <a:ea typeface="Cambria" pitchFamily="34" charset="-122"/>
                <a:cs typeface="Cambria" pitchFamily="34" charset="-120"/>
              </a:rPr>
              <a:t>c</a:t>
            </a:r>
            <a:r>
              <a:rPr lang="en-US" sz="1800" dirty="0">
                <a:solidFill>
                  <a:srgbClr val="23211C"/>
                </a:solidFill>
                <a:latin typeface="Cambria" pitchFamily="34" charset="0"/>
                <a:ea typeface="Cambria" pitchFamily="34" charset="-122"/>
                <a:cs typeface="Cambria" pitchFamily="34" charset="-120"/>
              </a:rPr>
              <a:t>  ∈  ℝ</a:t>
            </a:r>
            <a:r>
              <a:rPr lang="en-US" sz="1600" b="1" baseline="30000" dirty="0">
                <a:solidFill>
                  <a:srgbClr val="23211C"/>
                </a:solidFill>
                <a:latin typeface="Cambria" pitchFamily="34" charset="0"/>
                <a:ea typeface="Cambria" pitchFamily="34" charset="-122"/>
                <a:cs typeface="Cambria" pitchFamily="34" charset="-120"/>
              </a:rPr>
              <a:t>512</a:t>
            </a:r>
            <a:r>
              <a:rPr lang="en-US" sz="1800" dirty="0">
                <a:solidFill>
                  <a:srgbClr val="23211C"/>
                </a:solidFill>
                <a:latin typeface="Cambria" pitchFamily="34" charset="0"/>
                <a:ea typeface="Cambria" pitchFamily="34" charset="-122"/>
                <a:cs typeface="Cambria" pitchFamily="34" charset="-120"/>
              </a:rPr>
              <a:t>                     latent</a:t>
            </a:r>
          </a:p>
          <a:p>
            <a:r>
              <a:rPr lang="en-US" sz="1800" b="1" dirty="0">
                <a:solidFill>
                  <a:srgbClr val="23211C"/>
                </a:solidFill>
                <a:latin typeface="Cambria" pitchFamily="34" charset="0"/>
                <a:ea typeface="Cambria" pitchFamily="34" charset="-122"/>
                <a:cs typeface="Cambria" pitchFamily="34" charset="-120"/>
              </a:rPr>
              <a:t>W</a:t>
            </a:r>
            <a:r>
              <a:rPr lang="en-US" sz="1800" b="1" baseline="30000" dirty="0">
                <a:solidFill>
                  <a:srgbClr val="23211C"/>
                </a:solidFill>
                <a:latin typeface="Cambria" pitchFamily="34" charset="0"/>
                <a:ea typeface="Cambria" pitchFamily="34" charset="-122"/>
                <a:cs typeface="Cambria" pitchFamily="34" charset="-120"/>
              </a:rPr>
              <a:t>DKV</a:t>
            </a:r>
            <a:r>
              <a:rPr lang="en-US" sz="1800" dirty="0">
                <a:solidFill>
                  <a:srgbClr val="23211C"/>
                </a:solidFill>
                <a:latin typeface="Cambria" pitchFamily="34" charset="0"/>
                <a:ea typeface="Cambria" pitchFamily="34" charset="-122"/>
                <a:cs typeface="Cambria" pitchFamily="34" charset="-120"/>
              </a:rPr>
              <a:t>  ∈  ℝ</a:t>
            </a:r>
            <a:r>
              <a:rPr lang="en-US" sz="1600" b="1" baseline="30000" dirty="0">
                <a:solidFill>
                  <a:srgbClr val="23211C"/>
                </a:solidFill>
                <a:latin typeface="Cambria" pitchFamily="34" charset="0"/>
                <a:ea typeface="Cambria" pitchFamily="34" charset="-122"/>
                <a:cs typeface="Cambria" pitchFamily="34" charset="-120"/>
              </a:rPr>
              <a:t>512 × 5120</a:t>
            </a:r>
            <a:r>
              <a:rPr lang="en-US" sz="1800" dirty="0">
                <a:solidFill>
                  <a:srgbClr val="23211C"/>
                </a:solidFill>
                <a:latin typeface="Cambria" pitchFamily="34" charset="0"/>
                <a:ea typeface="Cambria" pitchFamily="34" charset="-122"/>
                <a:cs typeface="Cambria" pitchFamily="34" charset="-120"/>
              </a:rPr>
              <a:t>    squeeze</a:t>
            </a:r>
            <a:endParaRPr lang="en-US" sz="1800" dirty="0"/>
          </a:p>
        </p:txBody>
      </p:sp>
    </p:spTree>
    <p:extLst>
      <p:ext uri="{BB962C8B-B14F-4D97-AF65-F5344CB8AC3E}">
        <p14:creationId xmlns:p14="http://schemas.microsoft.com/office/powerpoint/2010/main" val="27701390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92608"/>
            <a:ext cx="11064240" cy="594360"/>
          </a:xfrm>
          <a:prstGeom prst="rect">
            <a:avLst/>
          </a:prstGeom>
          <a:noFill/>
          <a:ln/>
        </p:spPr>
        <p:txBody>
          <a:bodyPr wrap="square" lIns="0" tIns="0" rIns="0" bIns="0" rtlCol="0" anchor="ctr"/>
          <a:lstStyle/>
          <a:p>
            <a:pPr marL="0" indent="0" algn="l">
              <a:buNone/>
            </a:pPr>
            <a:r>
              <a:rPr lang="en-US" sz="3000" b="1" dirty="0">
                <a:solidFill>
                  <a:srgbClr val="8B1A1A"/>
                </a:solidFill>
                <a:latin typeface="Trebuchet MS" pitchFamily="34" charset="0"/>
                <a:ea typeface="Trebuchet MS" pitchFamily="34" charset="-122"/>
                <a:cs typeface="Trebuchet MS" pitchFamily="34" charset="-120"/>
              </a:rPr>
              <a:t>Trick — the up-projection vanishes</a:t>
            </a:r>
            <a:endParaRPr lang="en-US" sz="3000" dirty="0"/>
          </a:p>
        </p:txBody>
      </p:sp>
      <p:sp>
        <p:nvSpPr>
          <p:cNvPr id="3" name="Text 1"/>
          <p:cNvSpPr/>
          <p:nvPr/>
        </p:nvSpPr>
        <p:spPr>
          <a:xfrm>
            <a:off x="548640" y="896112"/>
            <a:ext cx="11064240" cy="365760"/>
          </a:xfrm>
          <a:prstGeom prst="rect">
            <a:avLst/>
          </a:prstGeom>
          <a:noFill/>
          <a:ln/>
        </p:spPr>
        <p:txBody>
          <a:bodyPr wrap="square" lIns="0" tIns="0" rIns="0" bIns="0" rtlCol="0" anchor="ctr"/>
          <a:lstStyle/>
          <a:p>
            <a:pPr marL="0" indent="0" algn="l">
              <a:buNone/>
            </a:pPr>
            <a:r>
              <a:rPr lang="en-US" sz="2000" i="1" dirty="0">
                <a:solidFill>
                  <a:srgbClr val="6B6A63"/>
                </a:solidFill>
                <a:latin typeface="Calibri" pitchFamily="34" charset="0"/>
                <a:ea typeface="Calibri" pitchFamily="34" charset="-122"/>
                <a:cs typeface="Calibri" pitchFamily="34" charset="-120"/>
              </a:rPr>
              <a:t>At inference, you never actually rebuild K. Here's why.</a:t>
            </a:r>
            <a:endParaRPr lang="en-US" sz="2000" dirty="0"/>
          </a:p>
        </p:txBody>
      </p:sp>
      <p:sp>
        <p:nvSpPr>
          <p:cNvPr id="4" name="Shape 2"/>
          <p:cNvSpPr/>
          <p:nvPr/>
        </p:nvSpPr>
        <p:spPr>
          <a:xfrm>
            <a:off x="640080" y="1463040"/>
            <a:ext cx="10972800" cy="3931920"/>
          </a:xfrm>
          <a:prstGeom prst="roundRect">
            <a:avLst>
              <a:gd name="adj" fmla="val 2326"/>
            </a:avLst>
          </a:prstGeom>
          <a:solidFill>
            <a:srgbClr val="FBFAF5"/>
          </a:solidFill>
          <a:ln w="12700">
            <a:solidFill>
              <a:srgbClr val="D5D3CA"/>
            </a:solidFill>
            <a:prstDash val="solid"/>
          </a:ln>
        </p:spPr>
        <p:txBody>
          <a:bodyPr/>
          <a:lstStyle/>
          <a:p>
            <a:endParaRPr lang="en-IN"/>
          </a:p>
        </p:txBody>
      </p:sp>
      <p:sp>
        <p:nvSpPr>
          <p:cNvPr id="5" name="Text 3"/>
          <p:cNvSpPr/>
          <p:nvPr/>
        </p:nvSpPr>
        <p:spPr>
          <a:xfrm>
            <a:off x="914400" y="1600200"/>
            <a:ext cx="10424160" cy="292608"/>
          </a:xfrm>
          <a:prstGeom prst="rect">
            <a:avLst/>
          </a:prstGeom>
          <a:noFill/>
          <a:ln/>
        </p:spPr>
        <p:txBody>
          <a:bodyPr wrap="square" lIns="0" tIns="0" rIns="0" bIns="0" rtlCol="0" anchor="ctr"/>
          <a:lstStyle/>
          <a:p>
            <a:pPr marL="0" indent="0" algn="l">
              <a:buNone/>
            </a:pPr>
            <a:r>
              <a:rPr lang="en-US" sz="1300" i="1" dirty="0">
                <a:solidFill>
                  <a:srgbClr val="6B6A63"/>
                </a:solidFill>
                <a:latin typeface="Calibri" pitchFamily="34" charset="0"/>
                <a:ea typeface="Calibri" pitchFamily="34" charset="-122"/>
                <a:cs typeface="Calibri" pitchFamily="34" charset="-120"/>
              </a:rPr>
              <a:t>Score we want to compute:</a:t>
            </a:r>
            <a:endParaRPr lang="en-US" sz="1300" dirty="0"/>
          </a:p>
        </p:txBody>
      </p:sp>
      <p:sp>
        <p:nvSpPr>
          <p:cNvPr id="6" name="Shape 4"/>
          <p:cNvSpPr/>
          <p:nvPr/>
        </p:nvSpPr>
        <p:spPr>
          <a:xfrm>
            <a:off x="914400" y="1920240"/>
            <a:ext cx="10424160" cy="640080"/>
          </a:xfrm>
          <a:prstGeom prst="roundRect">
            <a:avLst>
              <a:gd name="adj" fmla="val 14286"/>
            </a:avLst>
          </a:prstGeom>
          <a:solidFill>
            <a:srgbClr val="FFFFFF"/>
          </a:solidFill>
          <a:ln w="12700">
            <a:solidFill>
              <a:srgbClr val="D5D3CA"/>
            </a:solidFill>
            <a:prstDash val="solid"/>
          </a:ln>
        </p:spPr>
        <p:txBody>
          <a:bodyPr/>
          <a:lstStyle/>
          <a:p>
            <a:endParaRPr lang="en-IN"/>
          </a:p>
        </p:txBody>
      </p:sp>
      <p:sp>
        <p:nvSpPr>
          <p:cNvPr id="7" name="Text 5"/>
          <p:cNvSpPr/>
          <p:nvPr/>
        </p:nvSpPr>
        <p:spPr>
          <a:xfrm>
            <a:off x="914400" y="1920240"/>
            <a:ext cx="10424160" cy="640080"/>
          </a:xfrm>
          <a:prstGeom prst="rect">
            <a:avLst/>
          </a:prstGeom>
          <a:noFill/>
          <a:ln/>
        </p:spPr>
        <p:txBody>
          <a:bodyPr wrap="square" lIns="0" tIns="0" rIns="0" bIns="0" rtlCol="0" anchor="ctr"/>
          <a:lstStyle/>
          <a:p>
            <a:pPr marL="0" indent="0" algn="ctr">
              <a:buNone/>
            </a:pPr>
            <a:r>
              <a:rPr lang="en-US" sz="2400" b="1" dirty="0">
                <a:solidFill>
                  <a:srgbClr val="23211C"/>
                </a:solidFill>
                <a:latin typeface="Cambria" pitchFamily="34" charset="0"/>
                <a:ea typeface="Cambria" pitchFamily="34" charset="-122"/>
                <a:cs typeface="Cambria" pitchFamily="34" charset="-120"/>
              </a:rPr>
              <a:t>score</a:t>
            </a:r>
            <a:r>
              <a:rPr lang="en-US" sz="2400" dirty="0">
                <a:solidFill>
                  <a:srgbClr val="23211C"/>
                </a:solidFill>
                <a:latin typeface="Cambria" pitchFamily="34" charset="0"/>
                <a:ea typeface="Cambria" pitchFamily="34" charset="-122"/>
                <a:cs typeface="Cambria" pitchFamily="34" charset="-120"/>
              </a:rPr>
              <a:t>  =  </a:t>
            </a:r>
            <a:r>
              <a:rPr lang="en-US" sz="2400" b="1" dirty="0">
                <a:solidFill>
                  <a:srgbClr val="23211C"/>
                </a:solidFill>
                <a:latin typeface="Cambria" pitchFamily="34" charset="0"/>
                <a:ea typeface="Cambria" pitchFamily="34" charset="-122"/>
                <a:cs typeface="Cambria" pitchFamily="34" charset="-120"/>
              </a:rPr>
              <a:t>q</a:t>
            </a:r>
            <a:r>
              <a:rPr lang="en-US" sz="1500" b="1" baseline="30000" dirty="0">
                <a:solidFill>
                  <a:srgbClr val="23211C"/>
                </a:solidFill>
                <a:latin typeface="Cambria" pitchFamily="34" charset="0"/>
                <a:ea typeface="Cambria" pitchFamily="34" charset="-122"/>
                <a:cs typeface="Cambria" pitchFamily="34" charset="-120"/>
              </a:rPr>
              <a:t>⊤</a:t>
            </a:r>
            <a:r>
              <a:rPr lang="en-US" sz="2400" dirty="0">
                <a:solidFill>
                  <a:srgbClr val="23211C"/>
                </a:solidFill>
                <a:latin typeface="Cambria" pitchFamily="34" charset="0"/>
                <a:ea typeface="Cambria" pitchFamily="34" charset="-122"/>
                <a:cs typeface="Cambria" pitchFamily="34" charset="-120"/>
              </a:rPr>
              <a:t> · </a:t>
            </a:r>
            <a:r>
              <a:rPr lang="en-US" sz="2400" b="1" dirty="0">
                <a:solidFill>
                  <a:srgbClr val="23211C"/>
                </a:solidFill>
                <a:latin typeface="Cambria" pitchFamily="34" charset="0"/>
                <a:ea typeface="Cambria" pitchFamily="34" charset="-122"/>
                <a:cs typeface="Cambria" pitchFamily="34" charset="-120"/>
              </a:rPr>
              <a:t>k</a:t>
            </a:r>
            <a:endParaRPr lang="en-US" sz="2400" dirty="0"/>
          </a:p>
        </p:txBody>
      </p:sp>
      <p:sp>
        <p:nvSpPr>
          <p:cNvPr id="8" name="Text 6"/>
          <p:cNvSpPr/>
          <p:nvPr/>
        </p:nvSpPr>
        <p:spPr>
          <a:xfrm>
            <a:off x="914400" y="2651760"/>
            <a:ext cx="10424160" cy="292608"/>
          </a:xfrm>
          <a:prstGeom prst="rect">
            <a:avLst/>
          </a:prstGeom>
          <a:noFill/>
          <a:ln/>
        </p:spPr>
        <p:txBody>
          <a:bodyPr wrap="square" lIns="0" tIns="0" rIns="0" bIns="0" rtlCol="0" anchor="ctr"/>
          <a:lstStyle/>
          <a:p>
            <a:pPr marL="0" indent="0" algn="l">
              <a:buNone/>
            </a:pPr>
            <a:r>
              <a:rPr lang="en-US" sz="1300" i="1" dirty="0">
                <a:solidFill>
                  <a:srgbClr val="6B6A63"/>
                </a:solidFill>
                <a:latin typeface="Calibri" pitchFamily="34" charset="0"/>
                <a:ea typeface="Calibri" pitchFamily="34" charset="-122"/>
                <a:cs typeface="Calibri" pitchFamily="34" charset="-120"/>
              </a:rPr>
              <a:t>Substitute k = (W-UK) · c :</a:t>
            </a:r>
            <a:endParaRPr lang="en-US" sz="1300" dirty="0"/>
          </a:p>
        </p:txBody>
      </p:sp>
      <p:sp>
        <p:nvSpPr>
          <p:cNvPr id="9" name="Shape 7"/>
          <p:cNvSpPr/>
          <p:nvPr/>
        </p:nvSpPr>
        <p:spPr>
          <a:xfrm>
            <a:off x="914400" y="2971800"/>
            <a:ext cx="10424160" cy="640080"/>
          </a:xfrm>
          <a:prstGeom prst="roundRect">
            <a:avLst>
              <a:gd name="adj" fmla="val 14286"/>
            </a:avLst>
          </a:prstGeom>
          <a:solidFill>
            <a:srgbClr val="FFFFFF"/>
          </a:solidFill>
          <a:ln w="12700">
            <a:solidFill>
              <a:srgbClr val="D5D3CA"/>
            </a:solidFill>
            <a:prstDash val="solid"/>
          </a:ln>
        </p:spPr>
        <p:txBody>
          <a:bodyPr/>
          <a:lstStyle/>
          <a:p>
            <a:endParaRPr lang="en-IN"/>
          </a:p>
        </p:txBody>
      </p:sp>
      <p:sp>
        <p:nvSpPr>
          <p:cNvPr id="10" name="Text 8"/>
          <p:cNvSpPr/>
          <p:nvPr/>
        </p:nvSpPr>
        <p:spPr>
          <a:xfrm>
            <a:off x="914400" y="2971800"/>
            <a:ext cx="10424160" cy="640080"/>
          </a:xfrm>
          <a:prstGeom prst="rect">
            <a:avLst/>
          </a:prstGeom>
          <a:noFill/>
          <a:ln/>
        </p:spPr>
        <p:txBody>
          <a:bodyPr wrap="square" lIns="0" tIns="0" rIns="0" bIns="0" rtlCol="0" anchor="ctr"/>
          <a:lstStyle/>
          <a:p>
            <a:pPr marL="0" indent="0" algn="ctr">
              <a:buNone/>
            </a:pPr>
            <a:r>
              <a:rPr lang="en-US" sz="2400" b="1" dirty="0">
                <a:solidFill>
                  <a:srgbClr val="23211C"/>
                </a:solidFill>
                <a:latin typeface="Cambria" pitchFamily="34" charset="0"/>
                <a:ea typeface="Cambria" pitchFamily="34" charset="-122"/>
                <a:cs typeface="Cambria" pitchFamily="34" charset="-120"/>
              </a:rPr>
              <a:t>score</a:t>
            </a:r>
            <a:r>
              <a:rPr lang="en-US" sz="2400" dirty="0">
                <a:solidFill>
                  <a:srgbClr val="23211C"/>
                </a:solidFill>
                <a:latin typeface="Cambria" pitchFamily="34" charset="0"/>
                <a:ea typeface="Cambria" pitchFamily="34" charset="-122"/>
                <a:cs typeface="Cambria" pitchFamily="34" charset="-120"/>
              </a:rPr>
              <a:t>  =  </a:t>
            </a:r>
            <a:r>
              <a:rPr lang="en-US" sz="2400" b="1" dirty="0">
                <a:solidFill>
                  <a:srgbClr val="23211C"/>
                </a:solidFill>
                <a:latin typeface="Cambria" pitchFamily="34" charset="0"/>
                <a:ea typeface="Cambria" pitchFamily="34" charset="-122"/>
                <a:cs typeface="Cambria" pitchFamily="34" charset="-120"/>
              </a:rPr>
              <a:t>q</a:t>
            </a:r>
            <a:r>
              <a:rPr lang="en-US" sz="1500" b="1" baseline="30000" dirty="0">
                <a:solidFill>
                  <a:srgbClr val="23211C"/>
                </a:solidFill>
                <a:latin typeface="Cambria" pitchFamily="34" charset="0"/>
                <a:ea typeface="Cambria" pitchFamily="34" charset="-122"/>
                <a:cs typeface="Cambria" pitchFamily="34" charset="-120"/>
              </a:rPr>
              <a:t>⊤</a:t>
            </a:r>
            <a:r>
              <a:rPr lang="en-US" sz="2400" dirty="0">
                <a:solidFill>
                  <a:srgbClr val="23211C"/>
                </a:solidFill>
                <a:latin typeface="Cambria" pitchFamily="34" charset="0"/>
                <a:ea typeface="Cambria" pitchFamily="34" charset="-122"/>
                <a:cs typeface="Cambria" pitchFamily="34" charset="-120"/>
              </a:rPr>
              <a:t> · (</a:t>
            </a:r>
            <a:r>
              <a:rPr lang="en-US" sz="2400" b="1" dirty="0">
                <a:solidFill>
                  <a:srgbClr val="23211C"/>
                </a:solidFill>
                <a:latin typeface="Cambria" pitchFamily="34" charset="0"/>
                <a:ea typeface="Cambria" pitchFamily="34" charset="-122"/>
                <a:cs typeface="Cambria" pitchFamily="34" charset="-120"/>
              </a:rPr>
              <a:t>W</a:t>
            </a:r>
            <a:r>
              <a:rPr lang="en-US" sz="1500" b="1" baseline="30000" dirty="0">
                <a:solidFill>
                  <a:srgbClr val="23211C"/>
                </a:solidFill>
                <a:latin typeface="Cambria" pitchFamily="34" charset="0"/>
                <a:ea typeface="Cambria" pitchFamily="34" charset="-122"/>
                <a:cs typeface="Cambria" pitchFamily="34" charset="-120"/>
              </a:rPr>
              <a:t>UK</a:t>
            </a:r>
            <a:r>
              <a:rPr lang="en-US" sz="2400" dirty="0">
                <a:solidFill>
                  <a:srgbClr val="23211C"/>
                </a:solidFill>
                <a:latin typeface="Cambria" pitchFamily="34" charset="0"/>
                <a:ea typeface="Cambria" pitchFamily="34" charset="-122"/>
                <a:cs typeface="Cambria" pitchFamily="34" charset="-120"/>
              </a:rPr>
              <a:t> · c)</a:t>
            </a:r>
            <a:endParaRPr lang="en-US" sz="2400" dirty="0"/>
          </a:p>
        </p:txBody>
      </p:sp>
      <p:sp>
        <p:nvSpPr>
          <p:cNvPr id="11" name="Text 9"/>
          <p:cNvSpPr/>
          <p:nvPr/>
        </p:nvSpPr>
        <p:spPr>
          <a:xfrm>
            <a:off x="914400" y="3703320"/>
            <a:ext cx="10424160" cy="292608"/>
          </a:xfrm>
          <a:prstGeom prst="rect">
            <a:avLst/>
          </a:prstGeom>
          <a:noFill/>
          <a:ln/>
        </p:spPr>
        <p:txBody>
          <a:bodyPr wrap="square" lIns="0" tIns="0" rIns="0" bIns="0" rtlCol="0" anchor="ctr"/>
          <a:lstStyle/>
          <a:p>
            <a:pPr marL="0" indent="0" algn="l">
              <a:buNone/>
            </a:pPr>
            <a:r>
              <a:rPr lang="en-US" sz="1300" i="1" dirty="0">
                <a:solidFill>
                  <a:srgbClr val="6B6A63"/>
                </a:solidFill>
                <a:latin typeface="Calibri" pitchFamily="34" charset="0"/>
                <a:ea typeface="Calibri" pitchFamily="34" charset="-122"/>
                <a:cs typeface="Calibri" pitchFamily="34" charset="-120"/>
              </a:rPr>
              <a:t>Rearrange (move W-UK leftward):</a:t>
            </a:r>
            <a:endParaRPr lang="en-US" sz="1300" dirty="0"/>
          </a:p>
        </p:txBody>
      </p:sp>
      <p:sp>
        <p:nvSpPr>
          <p:cNvPr id="12" name="Shape 10"/>
          <p:cNvSpPr/>
          <p:nvPr/>
        </p:nvSpPr>
        <p:spPr>
          <a:xfrm>
            <a:off x="914400" y="4023360"/>
            <a:ext cx="10424160" cy="777240"/>
          </a:xfrm>
          <a:prstGeom prst="roundRect">
            <a:avLst>
              <a:gd name="adj" fmla="val 11765"/>
            </a:avLst>
          </a:prstGeom>
          <a:solidFill>
            <a:srgbClr val="F4FAFE"/>
          </a:solidFill>
          <a:ln w="12700">
            <a:solidFill>
              <a:srgbClr val="185FA5"/>
            </a:solidFill>
            <a:prstDash val="solid"/>
          </a:ln>
        </p:spPr>
        <p:txBody>
          <a:bodyPr/>
          <a:lstStyle/>
          <a:p>
            <a:endParaRPr lang="en-IN"/>
          </a:p>
        </p:txBody>
      </p:sp>
      <p:sp>
        <p:nvSpPr>
          <p:cNvPr id="13" name="Text 11"/>
          <p:cNvSpPr/>
          <p:nvPr/>
        </p:nvSpPr>
        <p:spPr>
          <a:xfrm>
            <a:off x="914400" y="4023360"/>
            <a:ext cx="10424160" cy="777240"/>
          </a:xfrm>
          <a:prstGeom prst="rect">
            <a:avLst/>
          </a:prstGeom>
          <a:noFill/>
          <a:ln/>
        </p:spPr>
        <p:txBody>
          <a:bodyPr wrap="square" lIns="0" tIns="0" rIns="0" bIns="0" rtlCol="0" anchor="ctr"/>
          <a:lstStyle/>
          <a:p>
            <a:pPr marL="0" indent="0" algn="ctr">
              <a:buNone/>
            </a:pPr>
            <a:r>
              <a:rPr lang="en-US" sz="2600" b="1" dirty="0">
                <a:solidFill>
                  <a:srgbClr val="23211C"/>
                </a:solidFill>
                <a:latin typeface="Cambria" pitchFamily="34" charset="0"/>
                <a:ea typeface="Cambria" pitchFamily="34" charset="-122"/>
                <a:cs typeface="Cambria" pitchFamily="34" charset="-120"/>
              </a:rPr>
              <a:t>score</a:t>
            </a:r>
            <a:r>
              <a:rPr lang="en-US" sz="2600" dirty="0">
                <a:solidFill>
                  <a:srgbClr val="23211C"/>
                </a:solidFill>
                <a:latin typeface="Cambria" pitchFamily="34" charset="0"/>
                <a:ea typeface="Cambria" pitchFamily="34" charset="-122"/>
                <a:cs typeface="Cambria" pitchFamily="34" charset="-120"/>
              </a:rPr>
              <a:t>  =  (</a:t>
            </a:r>
            <a:r>
              <a:rPr lang="en-US" sz="2600" b="1" dirty="0">
                <a:solidFill>
                  <a:srgbClr val="0C447C"/>
                </a:solidFill>
                <a:latin typeface="Cambria" pitchFamily="34" charset="0"/>
                <a:ea typeface="Cambria" pitchFamily="34" charset="-122"/>
                <a:cs typeface="Cambria" pitchFamily="34" charset="-120"/>
              </a:rPr>
              <a:t>W</a:t>
            </a:r>
            <a:r>
              <a:rPr lang="en-US" sz="1500" b="1" baseline="30000" dirty="0">
                <a:solidFill>
                  <a:srgbClr val="0C447C"/>
                </a:solidFill>
                <a:latin typeface="Cambria" pitchFamily="34" charset="0"/>
                <a:ea typeface="Cambria" pitchFamily="34" charset="-122"/>
                <a:cs typeface="Cambria" pitchFamily="34" charset="-120"/>
              </a:rPr>
              <a:t>UK</a:t>
            </a:r>
            <a:r>
              <a:rPr lang="en-US" sz="2400" b="1" baseline="30000" dirty="0">
                <a:solidFill>
                  <a:srgbClr val="0C447C"/>
                </a:solidFill>
                <a:latin typeface="Cambria" pitchFamily="34" charset="0"/>
                <a:ea typeface="Cambria" pitchFamily="34" charset="-122"/>
                <a:cs typeface="Cambria" pitchFamily="34" charset="-120"/>
              </a:rPr>
              <a:t>⊤</a:t>
            </a:r>
            <a:r>
              <a:rPr lang="en-US" sz="2600" dirty="0">
                <a:solidFill>
                  <a:srgbClr val="23211C"/>
                </a:solidFill>
                <a:latin typeface="Cambria" pitchFamily="34" charset="0"/>
                <a:ea typeface="Cambria" pitchFamily="34" charset="-122"/>
                <a:cs typeface="Cambria" pitchFamily="34" charset="-120"/>
              </a:rPr>
              <a:t> · </a:t>
            </a:r>
            <a:r>
              <a:rPr lang="en-US" sz="2600" b="1" dirty="0">
                <a:solidFill>
                  <a:srgbClr val="23211C"/>
                </a:solidFill>
                <a:latin typeface="Cambria" pitchFamily="34" charset="0"/>
                <a:ea typeface="Cambria" pitchFamily="34" charset="-122"/>
                <a:cs typeface="Cambria" pitchFamily="34" charset="-120"/>
              </a:rPr>
              <a:t>q</a:t>
            </a:r>
            <a:r>
              <a:rPr lang="en-US" sz="2600" dirty="0">
                <a:solidFill>
                  <a:srgbClr val="23211C"/>
                </a:solidFill>
                <a:latin typeface="Cambria" pitchFamily="34" charset="0"/>
                <a:ea typeface="Cambria" pitchFamily="34" charset="-122"/>
                <a:cs typeface="Cambria" pitchFamily="34" charset="-120"/>
              </a:rPr>
              <a:t>)</a:t>
            </a:r>
            <a:r>
              <a:rPr lang="en-US" sz="2400" b="1" baseline="30000" dirty="0">
                <a:solidFill>
                  <a:srgbClr val="23211C"/>
                </a:solidFill>
                <a:latin typeface="Cambria" pitchFamily="34" charset="0"/>
                <a:ea typeface="Cambria" pitchFamily="34" charset="-122"/>
                <a:cs typeface="Cambria" pitchFamily="34" charset="-120"/>
              </a:rPr>
              <a:t>⊤</a:t>
            </a:r>
            <a:r>
              <a:rPr lang="en-US" sz="2600" dirty="0">
                <a:solidFill>
                  <a:srgbClr val="23211C"/>
                </a:solidFill>
                <a:latin typeface="Cambria" pitchFamily="34" charset="0"/>
                <a:ea typeface="Cambria" pitchFamily="34" charset="-122"/>
                <a:cs typeface="Cambria" pitchFamily="34" charset="-120"/>
              </a:rPr>
              <a:t> · </a:t>
            </a:r>
            <a:r>
              <a:rPr lang="en-US" sz="3000" b="1" dirty="0">
                <a:solidFill>
                  <a:srgbClr val="0C447C"/>
                </a:solidFill>
                <a:latin typeface="Cambria" pitchFamily="34" charset="0"/>
                <a:ea typeface="Cambria" pitchFamily="34" charset="-122"/>
                <a:cs typeface="Cambria" pitchFamily="34" charset="-120"/>
              </a:rPr>
              <a:t>c</a:t>
            </a:r>
            <a:endParaRPr lang="en-US" sz="2600" dirty="0"/>
          </a:p>
        </p:txBody>
      </p:sp>
      <p:sp>
        <p:nvSpPr>
          <p:cNvPr id="14" name="Shape 12"/>
          <p:cNvSpPr/>
          <p:nvPr/>
        </p:nvSpPr>
        <p:spPr>
          <a:xfrm>
            <a:off x="640080" y="5532120"/>
            <a:ext cx="10972800" cy="1005840"/>
          </a:xfrm>
          <a:prstGeom prst="roundRect">
            <a:avLst>
              <a:gd name="adj" fmla="val 9091"/>
            </a:avLst>
          </a:prstGeom>
          <a:solidFill>
            <a:srgbClr val="185FA5"/>
          </a:solidFill>
          <a:ln w="12700">
            <a:solidFill>
              <a:srgbClr val="185FA5"/>
            </a:solidFill>
            <a:prstDash val="solid"/>
          </a:ln>
        </p:spPr>
        <p:txBody>
          <a:bodyPr/>
          <a:lstStyle/>
          <a:p>
            <a:endParaRPr lang="en-IN"/>
          </a:p>
        </p:txBody>
      </p:sp>
      <p:sp>
        <p:nvSpPr>
          <p:cNvPr id="16" name="Text 14"/>
          <p:cNvSpPr/>
          <p:nvPr/>
        </p:nvSpPr>
        <p:spPr>
          <a:xfrm>
            <a:off x="822960" y="5596128"/>
            <a:ext cx="10607040" cy="640080"/>
          </a:xfrm>
          <a:prstGeom prst="rect">
            <a:avLst/>
          </a:prstGeom>
          <a:noFill/>
          <a:ln/>
        </p:spPr>
        <p:txBody>
          <a:bodyPr wrap="square" lIns="0" tIns="0" rIns="0" bIns="0" rtlCol="0" anchor="t"/>
          <a:lstStyle/>
          <a:p>
            <a:r>
              <a:rPr lang="en-US" sz="2000" dirty="0">
                <a:solidFill>
                  <a:srgbClr val="FFFFFF"/>
                </a:solidFill>
                <a:latin typeface="Calibri" pitchFamily="34" charset="0"/>
                <a:ea typeface="Calibri" pitchFamily="34" charset="-122"/>
                <a:cs typeface="Calibri" pitchFamily="34" charset="-120"/>
              </a:rPr>
              <a:t>The matrix </a:t>
            </a:r>
            <a:r>
              <a:rPr lang="en-US" sz="2000" dirty="0">
                <a:solidFill>
                  <a:schemeClr val="bg1"/>
                </a:solidFill>
                <a:latin typeface="Calibri" pitchFamily="34" charset="0"/>
                <a:ea typeface="Calibri" pitchFamily="34" charset="-122"/>
                <a:cs typeface="Calibri" pitchFamily="34" charset="-120"/>
              </a:rPr>
              <a:t>product </a:t>
            </a:r>
            <a:r>
              <a:rPr lang="en-US" sz="2000" dirty="0">
                <a:solidFill>
                  <a:schemeClr val="bg1"/>
                </a:solidFill>
                <a:latin typeface="Cambria" pitchFamily="34" charset="0"/>
                <a:ea typeface="Cambria" pitchFamily="34" charset="-122"/>
                <a:cs typeface="Cambria" pitchFamily="34" charset="-120"/>
              </a:rPr>
              <a:t>(</a:t>
            </a:r>
            <a:r>
              <a:rPr lang="en-US" sz="2000" b="1" dirty="0">
                <a:solidFill>
                  <a:schemeClr val="bg1"/>
                </a:solidFill>
                <a:latin typeface="Cambria" pitchFamily="34" charset="0"/>
                <a:ea typeface="Cambria" pitchFamily="34" charset="-122"/>
                <a:cs typeface="Cambria" pitchFamily="34" charset="-120"/>
              </a:rPr>
              <a:t>W</a:t>
            </a:r>
            <a:r>
              <a:rPr lang="en-US" sz="2000" b="1" baseline="30000" dirty="0">
                <a:solidFill>
                  <a:schemeClr val="bg1"/>
                </a:solidFill>
                <a:latin typeface="Cambria" pitchFamily="34" charset="0"/>
                <a:ea typeface="Cambria" pitchFamily="34" charset="-122"/>
                <a:cs typeface="Cambria" pitchFamily="34" charset="-120"/>
              </a:rPr>
              <a:t>UK⊤</a:t>
            </a:r>
            <a:r>
              <a:rPr lang="en-US" sz="2000" dirty="0">
                <a:solidFill>
                  <a:schemeClr val="bg1"/>
                </a:solidFill>
                <a:latin typeface="Cambria" pitchFamily="34" charset="0"/>
                <a:ea typeface="Cambria" pitchFamily="34" charset="-122"/>
                <a:cs typeface="Cambria" pitchFamily="34" charset="-120"/>
              </a:rPr>
              <a:t> · </a:t>
            </a:r>
            <a:r>
              <a:rPr lang="en-US" sz="2000" b="1" dirty="0">
                <a:solidFill>
                  <a:schemeClr val="bg1"/>
                </a:solidFill>
                <a:latin typeface="Cambria" pitchFamily="34" charset="0"/>
                <a:ea typeface="Cambria" pitchFamily="34" charset="-122"/>
                <a:cs typeface="Cambria" pitchFamily="34" charset="-120"/>
              </a:rPr>
              <a:t>q</a:t>
            </a:r>
            <a:r>
              <a:rPr lang="en-US" sz="2000" dirty="0">
                <a:solidFill>
                  <a:schemeClr val="bg1"/>
                </a:solidFill>
                <a:latin typeface="Cambria" pitchFamily="34" charset="0"/>
                <a:ea typeface="Cambria" pitchFamily="34" charset="-122"/>
                <a:cs typeface="Cambria" pitchFamily="34" charset="-120"/>
              </a:rPr>
              <a:t>) </a:t>
            </a:r>
            <a:r>
              <a:rPr lang="en-US" sz="2000" dirty="0">
                <a:solidFill>
                  <a:schemeClr val="bg1"/>
                </a:solidFill>
                <a:latin typeface="Calibri" pitchFamily="34" charset="0"/>
                <a:ea typeface="Calibri" pitchFamily="34" charset="-122"/>
                <a:cs typeface="Calibri" pitchFamily="34" charset="-120"/>
              </a:rPr>
              <a:t>does </a:t>
            </a:r>
            <a:r>
              <a:rPr lang="en-US" sz="2000" dirty="0">
                <a:solidFill>
                  <a:srgbClr val="FFFFFF"/>
                </a:solidFill>
                <a:latin typeface="Calibri" pitchFamily="34" charset="0"/>
                <a:ea typeface="Calibri" pitchFamily="34" charset="-122"/>
                <a:cs typeface="Calibri" pitchFamily="34" charset="-120"/>
              </a:rPr>
              <a:t>not depend on which past token j we're scoring against.  Compute it ONCE per query, then attend that modified query against the cached latent c directly.  </a:t>
            </a:r>
          </a:p>
          <a:p>
            <a:r>
              <a:rPr lang="en-US" sz="2000" dirty="0">
                <a:solidFill>
                  <a:srgbClr val="FFFFFF"/>
                </a:solidFill>
                <a:latin typeface="Calibri" pitchFamily="34" charset="0"/>
                <a:ea typeface="Calibri" pitchFamily="34" charset="-122"/>
                <a:cs typeface="Calibri" pitchFamily="34" charset="-120"/>
              </a:rPr>
              <a:t>K is never rebuilt at inference.</a:t>
            </a:r>
            <a:endParaRPr lang="en-US" sz="2000" dirty="0"/>
          </a:p>
        </p:txBody>
      </p:sp>
    </p:spTree>
    <p:extLst>
      <p:ext uri="{BB962C8B-B14F-4D97-AF65-F5344CB8AC3E}">
        <p14:creationId xmlns:p14="http://schemas.microsoft.com/office/powerpoint/2010/main" val="30192060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92608"/>
            <a:ext cx="11064240" cy="594360"/>
          </a:xfrm>
          <a:prstGeom prst="rect">
            <a:avLst/>
          </a:prstGeom>
          <a:noFill/>
          <a:ln/>
        </p:spPr>
        <p:txBody>
          <a:bodyPr wrap="square" lIns="0" tIns="0" rIns="0" bIns="0" rtlCol="0" anchor="ctr"/>
          <a:lstStyle/>
          <a:p>
            <a:pPr marL="0" indent="0" algn="l">
              <a:buNone/>
            </a:pPr>
            <a:r>
              <a:rPr lang="en-US" sz="3000" b="1" dirty="0">
                <a:solidFill>
                  <a:srgbClr val="8B1A1A"/>
                </a:solidFill>
                <a:latin typeface="Trebuchet MS" pitchFamily="34" charset="0"/>
                <a:ea typeface="Trebuchet MS" pitchFamily="34" charset="-122"/>
                <a:cs typeface="Trebuchet MS" pitchFamily="34" charset="-120"/>
              </a:rPr>
              <a:t>Same trick for V</a:t>
            </a:r>
            <a:endParaRPr lang="en-US" sz="3000" dirty="0"/>
          </a:p>
        </p:txBody>
      </p:sp>
      <p:sp>
        <p:nvSpPr>
          <p:cNvPr id="3" name="Text 1"/>
          <p:cNvSpPr/>
          <p:nvPr/>
        </p:nvSpPr>
        <p:spPr>
          <a:xfrm>
            <a:off x="548640" y="896112"/>
            <a:ext cx="11064240" cy="365760"/>
          </a:xfrm>
          <a:prstGeom prst="rect">
            <a:avLst/>
          </a:prstGeom>
          <a:noFill/>
          <a:ln/>
        </p:spPr>
        <p:txBody>
          <a:bodyPr wrap="square" lIns="0" tIns="0" rIns="0" bIns="0" rtlCol="0" anchor="ctr"/>
          <a:lstStyle/>
          <a:p>
            <a:pPr marL="0" indent="0" algn="l">
              <a:buNone/>
            </a:pPr>
            <a:r>
              <a:rPr lang="en-US" sz="2000" i="1" dirty="0">
                <a:solidFill>
                  <a:srgbClr val="6B6A63"/>
                </a:solidFill>
                <a:latin typeface="Calibri" pitchFamily="34" charset="0"/>
                <a:ea typeface="Calibri" pitchFamily="34" charset="-122"/>
                <a:cs typeface="Calibri" pitchFamily="34" charset="-120"/>
              </a:rPr>
              <a:t>The other up-projection (W</a:t>
            </a:r>
            <a:r>
              <a:rPr lang="en-US" sz="2000" i="1" baseline="30000" dirty="0">
                <a:solidFill>
                  <a:srgbClr val="6B6A63"/>
                </a:solidFill>
                <a:latin typeface="Calibri" pitchFamily="34" charset="0"/>
                <a:ea typeface="Calibri" pitchFamily="34" charset="-122"/>
                <a:cs typeface="Calibri" pitchFamily="34" charset="-120"/>
              </a:rPr>
              <a:t>UV</a:t>
            </a:r>
            <a:r>
              <a:rPr lang="en-US" sz="2000" i="1" dirty="0">
                <a:solidFill>
                  <a:srgbClr val="6B6A63"/>
                </a:solidFill>
                <a:latin typeface="Calibri" pitchFamily="34" charset="0"/>
                <a:ea typeface="Calibri" pitchFamily="34" charset="-122"/>
                <a:cs typeface="Calibri" pitchFamily="34" charset="-120"/>
              </a:rPr>
              <a:t>) folds into the output projection (W</a:t>
            </a:r>
            <a:r>
              <a:rPr lang="en-US" sz="2000" i="1" baseline="30000" dirty="0">
                <a:solidFill>
                  <a:srgbClr val="6B6A63"/>
                </a:solidFill>
                <a:latin typeface="Calibri" pitchFamily="34" charset="0"/>
                <a:ea typeface="Calibri" pitchFamily="34" charset="-122"/>
                <a:cs typeface="Calibri" pitchFamily="34" charset="-120"/>
              </a:rPr>
              <a:t>O</a:t>
            </a:r>
            <a:r>
              <a:rPr lang="en-US" sz="2000" i="1" dirty="0">
                <a:solidFill>
                  <a:srgbClr val="6B6A63"/>
                </a:solidFill>
                <a:latin typeface="Calibri" pitchFamily="34" charset="0"/>
                <a:ea typeface="Calibri" pitchFamily="34" charset="-122"/>
                <a:cs typeface="Calibri" pitchFamily="34" charset="-120"/>
              </a:rPr>
              <a:t>)</a:t>
            </a:r>
            <a:endParaRPr lang="en-US" sz="2000" dirty="0"/>
          </a:p>
        </p:txBody>
      </p:sp>
      <p:sp>
        <p:nvSpPr>
          <p:cNvPr id="4" name="Shape 2"/>
          <p:cNvSpPr/>
          <p:nvPr/>
        </p:nvSpPr>
        <p:spPr>
          <a:xfrm>
            <a:off x="640080" y="1463040"/>
            <a:ext cx="10972800" cy="4023360"/>
          </a:xfrm>
          <a:prstGeom prst="roundRect">
            <a:avLst>
              <a:gd name="adj" fmla="val 2273"/>
            </a:avLst>
          </a:prstGeom>
          <a:solidFill>
            <a:srgbClr val="FBFAF5"/>
          </a:solidFill>
          <a:ln w="12700">
            <a:solidFill>
              <a:srgbClr val="D5D3CA"/>
            </a:solidFill>
            <a:prstDash val="solid"/>
          </a:ln>
        </p:spPr>
        <p:txBody>
          <a:bodyPr/>
          <a:lstStyle/>
          <a:p>
            <a:endParaRPr lang="en-IN"/>
          </a:p>
        </p:txBody>
      </p:sp>
      <p:sp>
        <p:nvSpPr>
          <p:cNvPr id="5" name="Text 3"/>
          <p:cNvSpPr/>
          <p:nvPr/>
        </p:nvSpPr>
        <p:spPr>
          <a:xfrm>
            <a:off x="914400" y="1600200"/>
            <a:ext cx="10424160" cy="292608"/>
          </a:xfrm>
          <a:prstGeom prst="rect">
            <a:avLst/>
          </a:prstGeom>
          <a:noFill/>
          <a:ln/>
        </p:spPr>
        <p:txBody>
          <a:bodyPr wrap="square" lIns="0" tIns="0" rIns="0" bIns="0" rtlCol="0" anchor="ctr"/>
          <a:lstStyle/>
          <a:p>
            <a:pPr marL="0" indent="0" algn="l">
              <a:buNone/>
            </a:pPr>
            <a:r>
              <a:rPr sz="2000" i="1" dirty="0">
                <a:solidFill>
                  <a:srgbClr val="6B6A63"/>
                </a:solidFill>
              </a:rPr>
              <a:t>Step 1 — the output is a weighted blend of values. aⱼ = weight on token j, vⱼ = its value:</a:t>
            </a:r>
            <a:endParaRPr lang="en-US" sz="2000" dirty="0"/>
          </a:p>
        </p:txBody>
      </p:sp>
      <p:sp>
        <p:nvSpPr>
          <p:cNvPr id="6" name="Shape 4"/>
          <p:cNvSpPr/>
          <p:nvPr/>
        </p:nvSpPr>
        <p:spPr>
          <a:xfrm>
            <a:off x="914400" y="1920240"/>
            <a:ext cx="10424160" cy="685800"/>
          </a:xfrm>
          <a:prstGeom prst="roundRect">
            <a:avLst>
              <a:gd name="adj" fmla="val 13333"/>
            </a:avLst>
          </a:prstGeom>
          <a:solidFill>
            <a:srgbClr val="FFFFFF"/>
          </a:solidFill>
          <a:ln w="12700">
            <a:solidFill>
              <a:srgbClr val="D5D3CA"/>
            </a:solidFill>
            <a:prstDash val="solid"/>
          </a:ln>
        </p:spPr>
        <p:txBody>
          <a:bodyPr/>
          <a:lstStyle/>
          <a:p>
            <a:endParaRPr lang="en-IN"/>
          </a:p>
        </p:txBody>
      </p:sp>
      <p:sp>
        <p:nvSpPr>
          <p:cNvPr id="7" name="Text 5"/>
          <p:cNvSpPr/>
          <p:nvPr/>
        </p:nvSpPr>
        <p:spPr>
          <a:xfrm>
            <a:off x="914400" y="1920240"/>
            <a:ext cx="10424160" cy="685800"/>
          </a:xfrm>
          <a:prstGeom prst="rect">
            <a:avLst/>
          </a:prstGeom>
          <a:noFill/>
          <a:ln/>
        </p:spPr>
        <p:txBody>
          <a:bodyPr wrap="square" lIns="0" tIns="0" rIns="0" bIns="0" rtlCol="0" anchor="ctr"/>
          <a:lstStyle/>
          <a:p>
            <a:pPr marL="0" indent="0" algn="ctr">
              <a:buNone/>
            </a:pPr>
            <a:r>
              <a:rPr lang="en-US" sz="2400" b="1" dirty="0">
                <a:solidFill>
                  <a:srgbClr val="23211C"/>
                </a:solidFill>
                <a:latin typeface="Cambria" pitchFamily="34" charset="0"/>
                <a:ea typeface="Cambria" pitchFamily="34" charset="-122"/>
                <a:cs typeface="Cambria" pitchFamily="34" charset="-120"/>
              </a:rPr>
              <a:t>o</a:t>
            </a:r>
            <a:r>
              <a:rPr lang="en-US" sz="2400" dirty="0">
                <a:solidFill>
                  <a:srgbClr val="23211C"/>
                </a:solidFill>
                <a:latin typeface="Cambria" pitchFamily="34" charset="0"/>
                <a:ea typeface="Cambria" pitchFamily="34" charset="-122"/>
                <a:cs typeface="Cambria" pitchFamily="34" charset="-120"/>
              </a:rPr>
              <a:t>  =  Σ a</a:t>
            </a:r>
            <a:r>
              <a:rPr lang="en-US" sz="1800" b="1" baseline="-40000" dirty="0">
                <a:solidFill>
                  <a:srgbClr val="23211C"/>
                </a:solidFill>
                <a:latin typeface="Cambria" pitchFamily="34" charset="0"/>
                <a:ea typeface="Cambria" pitchFamily="34" charset="-122"/>
                <a:cs typeface="Cambria" pitchFamily="34" charset="-120"/>
              </a:rPr>
              <a:t>j</a:t>
            </a:r>
            <a:r>
              <a:rPr lang="en-US" sz="2400" dirty="0">
                <a:solidFill>
                  <a:srgbClr val="23211C"/>
                </a:solidFill>
                <a:latin typeface="Cambria" pitchFamily="34" charset="0"/>
                <a:ea typeface="Cambria" pitchFamily="34" charset="-122"/>
                <a:cs typeface="Cambria" pitchFamily="34" charset="-120"/>
              </a:rPr>
              <a:t> · v</a:t>
            </a:r>
            <a:r>
              <a:rPr lang="en-US" sz="1800" b="1" baseline="-40000" dirty="0">
                <a:solidFill>
                  <a:srgbClr val="23211C"/>
                </a:solidFill>
                <a:latin typeface="Cambria" pitchFamily="34" charset="0"/>
                <a:ea typeface="Cambria" pitchFamily="34" charset="-122"/>
                <a:cs typeface="Cambria" pitchFamily="34" charset="-120"/>
              </a:rPr>
              <a:t>j</a:t>
            </a:r>
            <a:endParaRPr lang="en-US" sz="2400" dirty="0"/>
          </a:p>
        </p:txBody>
      </p:sp>
      <p:sp>
        <p:nvSpPr>
          <p:cNvPr id="8" name="Text 6"/>
          <p:cNvSpPr/>
          <p:nvPr/>
        </p:nvSpPr>
        <p:spPr>
          <a:xfrm>
            <a:off x="914400" y="2697480"/>
            <a:ext cx="10424160" cy="292608"/>
          </a:xfrm>
          <a:prstGeom prst="rect">
            <a:avLst/>
          </a:prstGeom>
          <a:noFill/>
          <a:ln/>
        </p:spPr>
        <p:txBody>
          <a:bodyPr wrap="square" lIns="0" tIns="0" rIns="0" bIns="0" rtlCol="0" anchor="ctr"/>
          <a:lstStyle/>
          <a:p>
            <a:pPr marL="0" indent="0" algn="l">
              <a:buNone/>
            </a:pPr>
            <a:r>
              <a:rPr sz="2000" i="1">
                <a:solidFill>
                  <a:srgbClr val="6B6A63"/>
                </a:solidFill>
              </a:rPr>
              <a:t>Step 2 — every value is W·c, so pull the shared W out of the sum (it does not depend on j):</a:t>
            </a:r>
            <a:endParaRPr lang="en-US" sz="2000" dirty="0"/>
          </a:p>
        </p:txBody>
      </p:sp>
      <p:sp>
        <p:nvSpPr>
          <p:cNvPr id="9" name="Shape 7"/>
          <p:cNvSpPr/>
          <p:nvPr/>
        </p:nvSpPr>
        <p:spPr>
          <a:xfrm>
            <a:off x="914400" y="3017520"/>
            <a:ext cx="10424160" cy="685800"/>
          </a:xfrm>
          <a:prstGeom prst="roundRect">
            <a:avLst>
              <a:gd name="adj" fmla="val 13333"/>
            </a:avLst>
          </a:prstGeom>
          <a:solidFill>
            <a:srgbClr val="FFFFFF"/>
          </a:solidFill>
          <a:ln w="12700">
            <a:solidFill>
              <a:srgbClr val="D5D3CA"/>
            </a:solidFill>
            <a:prstDash val="solid"/>
          </a:ln>
        </p:spPr>
        <p:txBody>
          <a:bodyPr/>
          <a:lstStyle/>
          <a:p>
            <a:endParaRPr lang="en-IN"/>
          </a:p>
        </p:txBody>
      </p:sp>
      <p:sp>
        <p:nvSpPr>
          <p:cNvPr id="10" name="Text 8"/>
          <p:cNvSpPr/>
          <p:nvPr/>
        </p:nvSpPr>
        <p:spPr>
          <a:xfrm>
            <a:off x="914400" y="3017520"/>
            <a:ext cx="10424160" cy="685800"/>
          </a:xfrm>
          <a:prstGeom prst="rect">
            <a:avLst/>
          </a:prstGeom>
          <a:noFill/>
          <a:ln/>
        </p:spPr>
        <p:txBody>
          <a:bodyPr wrap="square" lIns="0" tIns="0" rIns="0" bIns="0" rtlCol="0" anchor="ctr"/>
          <a:lstStyle/>
          <a:p>
            <a:pPr marL="0" indent="0" algn="ctr">
              <a:buNone/>
            </a:pPr>
            <a:r>
              <a:rPr lang="en-US" sz="2400" b="1" dirty="0">
                <a:solidFill>
                  <a:srgbClr val="23211C"/>
                </a:solidFill>
                <a:latin typeface="Cambria" pitchFamily="34" charset="0"/>
                <a:ea typeface="Cambria" pitchFamily="34" charset="-122"/>
                <a:cs typeface="Cambria" pitchFamily="34" charset="-120"/>
              </a:rPr>
              <a:t>o</a:t>
            </a:r>
            <a:r>
              <a:rPr lang="en-US" sz="2400" dirty="0">
                <a:solidFill>
                  <a:srgbClr val="23211C"/>
                </a:solidFill>
                <a:latin typeface="Cambria" pitchFamily="34" charset="0"/>
                <a:ea typeface="Cambria" pitchFamily="34" charset="-122"/>
                <a:cs typeface="Cambria" pitchFamily="34" charset="-120"/>
              </a:rPr>
              <a:t>  =  </a:t>
            </a:r>
            <a:r>
              <a:rPr lang="en-US" sz="2400" b="1" dirty="0">
                <a:solidFill>
                  <a:srgbClr val="23211C"/>
                </a:solidFill>
                <a:latin typeface="Cambria" pitchFamily="34" charset="0"/>
                <a:ea typeface="Cambria" pitchFamily="34" charset="-122"/>
                <a:cs typeface="Cambria" pitchFamily="34" charset="-120"/>
              </a:rPr>
              <a:t>W</a:t>
            </a:r>
            <a:r>
              <a:rPr lang="en-US" sz="1500" b="1" baseline="30000" dirty="0">
                <a:solidFill>
                  <a:srgbClr val="23211C"/>
                </a:solidFill>
                <a:latin typeface="Cambria" pitchFamily="34" charset="0"/>
                <a:ea typeface="Cambria" pitchFamily="34" charset="-122"/>
                <a:cs typeface="Cambria" pitchFamily="34" charset="-120"/>
              </a:rPr>
              <a:t>UV</a:t>
            </a:r>
            <a:r>
              <a:rPr lang="en-US" sz="2400" dirty="0">
                <a:solidFill>
                  <a:srgbClr val="23211C"/>
                </a:solidFill>
                <a:latin typeface="Cambria" pitchFamily="34" charset="0"/>
                <a:ea typeface="Cambria" pitchFamily="34" charset="-122"/>
                <a:cs typeface="Cambria" pitchFamily="34" charset="-120"/>
              </a:rPr>
              <a:t> · (Σ a</a:t>
            </a:r>
            <a:r>
              <a:rPr lang="en-US" sz="1800" b="1" baseline="-40000" dirty="0">
                <a:solidFill>
                  <a:srgbClr val="23211C"/>
                </a:solidFill>
                <a:latin typeface="Cambria" pitchFamily="34" charset="0"/>
                <a:ea typeface="Cambria" pitchFamily="34" charset="-122"/>
                <a:cs typeface="Cambria" pitchFamily="34" charset="-120"/>
              </a:rPr>
              <a:t>j</a:t>
            </a:r>
            <a:r>
              <a:rPr lang="en-US" sz="2400" dirty="0">
                <a:solidFill>
                  <a:srgbClr val="23211C"/>
                </a:solidFill>
                <a:latin typeface="Cambria" pitchFamily="34" charset="0"/>
                <a:ea typeface="Cambria" pitchFamily="34" charset="-122"/>
                <a:cs typeface="Cambria" pitchFamily="34" charset="-120"/>
              </a:rPr>
              <a:t> · c</a:t>
            </a:r>
            <a:r>
              <a:rPr lang="en-US" sz="1800" b="1" baseline="-40000" dirty="0">
                <a:solidFill>
                  <a:srgbClr val="23211C"/>
                </a:solidFill>
                <a:latin typeface="Cambria" pitchFamily="34" charset="0"/>
                <a:ea typeface="Cambria" pitchFamily="34" charset="-122"/>
                <a:cs typeface="Cambria" pitchFamily="34" charset="-120"/>
              </a:rPr>
              <a:t>j</a:t>
            </a:r>
            <a:r>
              <a:rPr lang="en-US" sz="2400" dirty="0">
                <a:solidFill>
                  <a:srgbClr val="23211C"/>
                </a:solidFill>
                <a:latin typeface="Cambria" pitchFamily="34" charset="0"/>
                <a:ea typeface="Cambria" pitchFamily="34" charset="-122"/>
                <a:cs typeface="Cambria" pitchFamily="34" charset="-120"/>
              </a:rPr>
              <a:t>)</a:t>
            </a:r>
            <a:endParaRPr lang="en-US" sz="2400" dirty="0"/>
          </a:p>
        </p:txBody>
      </p:sp>
      <p:sp>
        <p:nvSpPr>
          <p:cNvPr id="11" name="Text 9"/>
          <p:cNvSpPr/>
          <p:nvPr/>
        </p:nvSpPr>
        <p:spPr>
          <a:xfrm>
            <a:off x="914400" y="3794760"/>
            <a:ext cx="10424160" cy="292608"/>
          </a:xfrm>
          <a:prstGeom prst="rect">
            <a:avLst/>
          </a:prstGeom>
          <a:noFill/>
          <a:ln/>
        </p:spPr>
        <p:txBody>
          <a:bodyPr wrap="square" lIns="0" tIns="0" rIns="0" bIns="0" rtlCol="0" anchor="ctr"/>
          <a:lstStyle/>
          <a:p>
            <a:pPr marL="0" indent="0" algn="l">
              <a:buNone/>
            </a:pPr>
            <a:r>
              <a:rPr sz="2000" i="1">
                <a:solidFill>
                  <a:srgbClr val="6B6A63"/>
                </a:solidFill>
              </a:rPr>
              <a:t>Step 3 — the output matrix glues onto W, giving ONE precomputed matrix:</a:t>
            </a:r>
            <a:endParaRPr lang="en-US" sz="2000" dirty="0"/>
          </a:p>
        </p:txBody>
      </p:sp>
      <p:sp>
        <p:nvSpPr>
          <p:cNvPr id="12" name="Shape 10"/>
          <p:cNvSpPr/>
          <p:nvPr/>
        </p:nvSpPr>
        <p:spPr>
          <a:xfrm>
            <a:off x="914400" y="4114800"/>
            <a:ext cx="10424160" cy="777240"/>
          </a:xfrm>
          <a:prstGeom prst="roundRect">
            <a:avLst>
              <a:gd name="adj" fmla="val 11765"/>
            </a:avLst>
          </a:prstGeom>
          <a:solidFill>
            <a:srgbClr val="F4FAFE"/>
          </a:solidFill>
          <a:ln w="12700">
            <a:solidFill>
              <a:srgbClr val="185FA5"/>
            </a:solidFill>
            <a:prstDash val="solid"/>
          </a:ln>
        </p:spPr>
        <p:txBody>
          <a:bodyPr/>
          <a:lstStyle/>
          <a:p>
            <a:endParaRPr lang="en-IN"/>
          </a:p>
        </p:txBody>
      </p:sp>
      <p:sp>
        <p:nvSpPr>
          <p:cNvPr id="13" name="Text 11"/>
          <p:cNvSpPr/>
          <p:nvPr/>
        </p:nvSpPr>
        <p:spPr>
          <a:xfrm>
            <a:off x="914400" y="4114800"/>
            <a:ext cx="10424160" cy="777240"/>
          </a:xfrm>
          <a:prstGeom prst="rect">
            <a:avLst/>
          </a:prstGeom>
          <a:noFill/>
          <a:ln/>
        </p:spPr>
        <p:txBody>
          <a:bodyPr wrap="square" lIns="0" tIns="0" rIns="0" bIns="0" rtlCol="0" anchor="ctr"/>
          <a:lstStyle/>
          <a:p>
            <a:pPr marL="0" indent="0" algn="ctr">
              <a:buNone/>
            </a:pPr>
            <a:r>
              <a:rPr lang="en-US" sz="2400" b="1" dirty="0">
                <a:solidFill>
                  <a:srgbClr val="23211C"/>
                </a:solidFill>
                <a:latin typeface="Cambria" pitchFamily="34" charset="0"/>
                <a:ea typeface="Cambria" pitchFamily="34" charset="-122"/>
                <a:cs typeface="Cambria" pitchFamily="34" charset="-120"/>
              </a:rPr>
              <a:t>u</a:t>
            </a:r>
            <a:r>
              <a:rPr lang="en-US" sz="2400" dirty="0">
                <a:solidFill>
                  <a:srgbClr val="23211C"/>
                </a:solidFill>
                <a:latin typeface="Cambria" pitchFamily="34" charset="0"/>
                <a:ea typeface="Cambria" pitchFamily="34" charset="-122"/>
                <a:cs typeface="Cambria" pitchFamily="34" charset="-120"/>
              </a:rPr>
              <a:t>  =  (</a:t>
            </a:r>
            <a:r>
              <a:rPr lang="en-US" sz="2400" b="1" dirty="0">
                <a:solidFill>
                  <a:srgbClr val="0C447C"/>
                </a:solidFill>
                <a:latin typeface="Cambria" pitchFamily="34" charset="0"/>
                <a:ea typeface="Cambria" pitchFamily="34" charset="-122"/>
                <a:cs typeface="Cambria" pitchFamily="34" charset="-120"/>
              </a:rPr>
              <a:t>W</a:t>
            </a:r>
            <a:r>
              <a:rPr lang="en-US" sz="1500" b="1" baseline="30000" dirty="0">
                <a:solidFill>
                  <a:srgbClr val="0C447C"/>
                </a:solidFill>
                <a:latin typeface="Cambria" pitchFamily="34" charset="0"/>
                <a:ea typeface="Cambria" pitchFamily="34" charset="-122"/>
                <a:cs typeface="Cambria" pitchFamily="34" charset="-120"/>
              </a:rPr>
              <a:t>O</a:t>
            </a:r>
            <a:r>
              <a:rPr lang="en-US" sz="2400" dirty="0">
                <a:solidFill>
                  <a:srgbClr val="23211C"/>
                </a:solidFill>
                <a:latin typeface="Cambria" pitchFamily="34" charset="0"/>
                <a:ea typeface="Cambria" pitchFamily="34" charset="-122"/>
                <a:cs typeface="Cambria" pitchFamily="34" charset="-120"/>
              </a:rPr>
              <a:t> · </a:t>
            </a:r>
            <a:r>
              <a:rPr lang="en-US" sz="2400" b="1" dirty="0">
                <a:solidFill>
                  <a:srgbClr val="0C447C"/>
                </a:solidFill>
                <a:latin typeface="Cambria" pitchFamily="34" charset="0"/>
                <a:ea typeface="Cambria" pitchFamily="34" charset="-122"/>
                <a:cs typeface="Cambria" pitchFamily="34" charset="-120"/>
              </a:rPr>
              <a:t>W</a:t>
            </a:r>
            <a:r>
              <a:rPr lang="en-US" sz="1500" b="1" baseline="30000" dirty="0">
                <a:solidFill>
                  <a:srgbClr val="0C447C"/>
                </a:solidFill>
                <a:latin typeface="Cambria" pitchFamily="34" charset="0"/>
                <a:ea typeface="Cambria" pitchFamily="34" charset="-122"/>
                <a:cs typeface="Cambria" pitchFamily="34" charset="-120"/>
              </a:rPr>
              <a:t>UV</a:t>
            </a:r>
            <a:r>
              <a:rPr lang="en-US" sz="2400" dirty="0">
                <a:solidFill>
                  <a:srgbClr val="23211C"/>
                </a:solidFill>
                <a:latin typeface="Cambria" pitchFamily="34" charset="0"/>
                <a:ea typeface="Cambria" pitchFamily="34" charset="-122"/>
                <a:cs typeface="Cambria" pitchFamily="34" charset="-120"/>
              </a:rPr>
              <a:t>) · (Σ a</a:t>
            </a:r>
            <a:r>
              <a:rPr lang="en-US" sz="1800" b="1" baseline="-40000" dirty="0">
                <a:solidFill>
                  <a:srgbClr val="23211C"/>
                </a:solidFill>
                <a:latin typeface="Cambria" pitchFamily="34" charset="0"/>
                <a:ea typeface="Cambria" pitchFamily="34" charset="-122"/>
                <a:cs typeface="Cambria" pitchFamily="34" charset="-120"/>
              </a:rPr>
              <a:t>j</a:t>
            </a:r>
            <a:r>
              <a:rPr lang="en-US" sz="2400" dirty="0">
                <a:solidFill>
                  <a:srgbClr val="23211C"/>
                </a:solidFill>
                <a:latin typeface="Cambria" pitchFamily="34" charset="0"/>
                <a:ea typeface="Cambria" pitchFamily="34" charset="-122"/>
                <a:cs typeface="Cambria" pitchFamily="34" charset="-120"/>
              </a:rPr>
              <a:t> · </a:t>
            </a:r>
            <a:r>
              <a:rPr lang="en-US" sz="2400" b="1" dirty="0">
                <a:solidFill>
                  <a:srgbClr val="0C447C"/>
                </a:solidFill>
                <a:latin typeface="Cambria" pitchFamily="34" charset="0"/>
                <a:ea typeface="Cambria" pitchFamily="34" charset="-122"/>
                <a:cs typeface="Cambria" pitchFamily="34" charset="-120"/>
              </a:rPr>
              <a:t>c</a:t>
            </a:r>
            <a:r>
              <a:rPr lang="en-US" sz="1800" b="1" baseline="-40000" dirty="0">
                <a:solidFill>
                  <a:srgbClr val="0C447C"/>
                </a:solidFill>
                <a:latin typeface="Cambria" pitchFamily="34" charset="0"/>
                <a:ea typeface="Cambria" pitchFamily="34" charset="-122"/>
                <a:cs typeface="Cambria" pitchFamily="34" charset="-120"/>
              </a:rPr>
              <a:t>j</a:t>
            </a:r>
            <a:r>
              <a:rPr lang="en-US" sz="2400" dirty="0">
                <a:solidFill>
                  <a:srgbClr val="23211C"/>
                </a:solidFill>
                <a:latin typeface="Cambria" pitchFamily="34" charset="0"/>
                <a:ea typeface="Cambria" pitchFamily="34" charset="-122"/>
                <a:cs typeface="Cambria" pitchFamily="34" charset="-120"/>
              </a:rPr>
              <a:t>)</a:t>
            </a:r>
            <a:endParaRPr lang="en-US" sz="2400" dirty="0"/>
          </a:p>
        </p:txBody>
      </p:sp>
      <p:sp>
        <p:nvSpPr>
          <p:cNvPr id="17" name="Shape 12">
            <a:extLst>
              <a:ext uri="{FF2B5EF4-FFF2-40B4-BE49-F238E27FC236}">
                <a16:creationId xmlns:a16="http://schemas.microsoft.com/office/drawing/2014/main" id="{AAF88BCA-42CC-1839-9734-00916956874C}"/>
              </a:ext>
            </a:extLst>
          </p:cNvPr>
          <p:cNvSpPr/>
          <p:nvPr/>
        </p:nvSpPr>
        <p:spPr>
          <a:xfrm>
            <a:off x="579120" y="5394960"/>
            <a:ext cx="10972800" cy="914400"/>
          </a:xfrm>
          <a:prstGeom prst="roundRect">
            <a:avLst>
              <a:gd name="adj" fmla="val 10000"/>
            </a:avLst>
          </a:prstGeom>
          <a:solidFill>
            <a:srgbClr val="185FA5"/>
          </a:solidFill>
          <a:ln w="12700">
            <a:solidFill>
              <a:srgbClr val="185FA5"/>
            </a:solidFill>
            <a:prstDash val="solid"/>
          </a:ln>
        </p:spPr>
        <p:txBody>
          <a:bodyPr/>
          <a:lstStyle/>
          <a:p>
            <a:endParaRPr lang="en-IN" sz="2000"/>
          </a:p>
        </p:txBody>
      </p:sp>
      <p:sp>
        <p:nvSpPr>
          <p:cNvPr id="18" name="Text 14">
            <a:extLst>
              <a:ext uri="{FF2B5EF4-FFF2-40B4-BE49-F238E27FC236}">
                <a16:creationId xmlns:a16="http://schemas.microsoft.com/office/drawing/2014/main" id="{F920F6BF-3F62-150C-B868-05405996CE7D}"/>
              </a:ext>
            </a:extLst>
          </p:cNvPr>
          <p:cNvSpPr/>
          <p:nvPr/>
        </p:nvSpPr>
        <p:spPr>
          <a:xfrm>
            <a:off x="792480" y="5513832"/>
            <a:ext cx="10607040" cy="548640"/>
          </a:xfrm>
          <a:prstGeom prst="rect">
            <a:avLst/>
          </a:prstGeom>
          <a:noFill/>
          <a:ln/>
        </p:spPr>
        <p:txBody>
          <a:bodyPr wrap="square" lIns="0" tIns="0" rIns="0" bIns="0" rtlCol="0" anchor="t"/>
          <a:lstStyle/>
          <a:p>
            <a:pPr marL="0" indent="0" algn="l">
              <a:buNone/>
            </a:pPr>
            <a:r>
              <a:rPr lang="en-US" sz="2000" dirty="0">
                <a:solidFill>
                  <a:srgbClr val="FFFFFF"/>
                </a:solidFill>
                <a:latin typeface="Calibri" pitchFamily="34" charset="0"/>
                <a:ea typeface="Calibri" pitchFamily="34" charset="-122"/>
                <a:cs typeface="Calibri" pitchFamily="34" charset="-120"/>
              </a:rPr>
              <a:t>Precompute the product (W</a:t>
            </a:r>
            <a:r>
              <a:rPr lang="en-US" sz="2000" baseline="30000" dirty="0">
                <a:solidFill>
                  <a:srgbClr val="FFFFFF"/>
                </a:solidFill>
                <a:latin typeface="Calibri" pitchFamily="34" charset="0"/>
                <a:ea typeface="Calibri" pitchFamily="34" charset="-122"/>
                <a:cs typeface="Calibri" pitchFamily="34" charset="-120"/>
              </a:rPr>
              <a:t>O</a:t>
            </a:r>
            <a:r>
              <a:rPr lang="en-US" sz="2000" dirty="0">
                <a:solidFill>
                  <a:srgbClr val="FFFFFF"/>
                </a:solidFill>
                <a:latin typeface="Calibri" pitchFamily="34" charset="0"/>
                <a:ea typeface="Calibri" pitchFamily="34" charset="-122"/>
                <a:cs typeface="Calibri" pitchFamily="34" charset="-120"/>
              </a:rPr>
              <a:t> · W</a:t>
            </a:r>
            <a:r>
              <a:rPr lang="en-US" sz="2000" baseline="30000" dirty="0">
                <a:solidFill>
                  <a:srgbClr val="FFFFFF"/>
                </a:solidFill>
                <a:latin typeface="Calibri" pitchFamily="34" charset="0"/>
                <a:ea typeface="Calibri" pitchFamily="34" charset="-122"/>
                <a:cs typeface="Calibri" pitchFamily="34" charset="-120"/>
              </a:rPr>
              <a:t>UV</a:t>
            </a:r>
            <a:r>
              <a:rPr lang="en-US" sz="2000" dirty="0">
                <a:solidFill>
                  <a:srgbClr val="FFFFFF"/>
                </a:solidFill>
                <a:latin typeface="Calibri" pitchFamily="34" charset="0"/>
                <a:ea typeface="Calibri" pitchFamily="34" charset="-122"/>
                <a:cs typeface="Calibri" pitchFamily="34" charset="-120"/>
              </a:rPr>
              <a:t>) once.  The attention computes a weighted sum of the cached latents cⱼ — V is never rebuilt either.  Attention runs entirely in the 512-wide latent space.</a:t>
            </a:r>
            <a:endParaRPr lang="en-US" sz="2000" dirty="0"/>
          </a:p>
        </p:txBody>
      </p:sp>
    </p:spTree>
    <p:extLst>
      <p:ext uri="{BB962C8B-B14F-4D97-AF65-F5344CB8AC3E}">
        <p14:creationId xmlns:p14="http://schemas.microsoft.com/office/powerpoint/2010/main" val="9883913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4928C74-E4DC-3A41-6D6F-9B857D9DBE27}"/>
              </a:ext>
            </a:extLst>
          </p:cNvPr>
          <p:cNvSpPr>
            <a:spLocks noGrp="1"/>
          </p:cNvSpPr>
          <p:nvPr>
            <p:ph idx="10"/>
          </p:nvPr>
        </p:nvSpPr>
        <p:spPr>
          <a:xfrm>
            <a:off x="355600" y="1555734"/>
            <a:ext cx="11480800" cy="4525963"/>
          </a:xfrm>
        </p:spPr>
        <p:txBody>
          <a:bodyPr/>
          <a:lstStyle/>
          <a:p>
            <a:pPr marL="342900" indent="-342900" algn="l">
              <a:buFont typeface="Arial" panose="020B0604020202020204" pitchFamily="34" charset="0"/>
              <a:buChar char="•"/>
            </a:pPr>
            <a:r>
              <a:rPr lang="en-US" dirty="0">
                <a:solidFill>
                  <a:schemeClr val="tx1"/>
                </a:solidFill>
              </a:rPr>
              <a:t>DeepSeek V3/R1, V3.1 etc. normalized the design after its introduction in V2</a:t>
            </a:r>
          </a:p>
          <a:p>
            <a:pPr marL="342900" indent="-342900" algn="l">
              <a:buFont typeface="Arial" panose="020B0604020202020204" pitchFamily="34" charset="0"/>
              <a:buChar char="•"/>
            </a:pPr>
            <a:r>
              <a:rPr lang="en-US" dirty="0">
                <a:solidFill>
                  <a:schemeClr val="tx1"/>
                </a:solidFill>
              </a:rPr>
              <a:t>Kimi K2 kept the DeepSeek recipe and scaled it up</a:t>
            </a:r>
          </a:p>
          <a:p>
            <a:pPr marL="342900" indent="-342900" algn="l">
              <a:buFont typeface="Arial" panose="020B0604020202020204" pitchFamily="34" charset="0"/>
              <a:buChar char="•"/>
            </a:pPr>
            <a:r>
              <a:rPr lang="en-US" dirty="0">
                <a:solidFill>
                  <a:schemeClr val="tx1"/>
                </a:solidFill>
              </a:rPr>
              <a:t>GLM-5 adopted MLA together with DeepSeek Sparse Attention (from DeepSeek V3.2)</a:t>
            </a:r>
          </a:p>
          <a:p>
            <a:pPr marL="342900" indent="-342900" algn="l">
              <a:buFont typeface="Arial" panose="020B0604020202020204" pitchFamily="34" charset="0"/>
              <a:buChar char="•"/>
            </a:pPr>
            <a:r>
              <a:rPr lang="en-US" dirty="0">
                <a:solidFill>
                  <a:schemeClr val="tx1"/>
                </a:solidFill>
              </a:rPr>
              <a:t>Ling 2.5 paired MLA with a linear-attention hybrid</a:t>
            </a:r>
          </a:p>
          <a:p>
            <a:pPr marL="342900" indent="-342900" algn="l">
              <a:buFont typeface="Arial" panose="020B0604020202020204" pitchFamily="34" charset="0"/>
              <a:buChar char="•"/>
            </a:pPr>
            <a:r>
              <a:rPr lang="en-US" dirty="0">
                <a:solidFill>
                  <a:schemeClr val="tx1"/>
                </a:solidFill>
              </a:rPr>
              <a:t>Sarvam released two models where the 30B model stayed with classic GQA and the 105B model switched to MLA</a:t>
            </a:r>
          </a:p>
          <a:p>
            <a:pPr marL="342900" indent="-342900">
              <a:buFont typeface="Arial" panose="020B0604020202020204" pitchFamily="34" charset="0"/>
              <a:buChar char="•"/>
            </a:pPr>
            <a:endParaRPr lang="en-IN" dirty="0">
              <a:solidFill>
                <a:schemeClr val="tx1"/>
              </a:solidFill>
            </a:endParaRPr>
          </a:p>
        </p:txBody>
      </p:sp>
      <p:sp>
        <p:nvSpPr>
          <p:cNvPr id="6" name="Title 5">
            <a:extLst>
              <a:ext uri="{FF2B5EF4-FFF2-40B4-BE49-F238E27FC236}">
                <a16:creationId xmlns:a16="http://schemas.microsoft.com/office/drawing/2014/main" id="{CA499307-1BD8-1659-CED6-2570F04D9D32}"/>
              </a:ext>
            </a:extLst>
          </p:cNvPr>
          <p:cNvSpPr>
            <a:spLocks noGrp="1"/>
          </p:cNvSpPr>
          <p:nvPr>
            <p:ph type="title"/>
          </p:nvPr>
        </p:nvSpPr>
        <p:spPr/>
        <p:txBody>
          <a:bodyPr/>
          <a:lstStyle/>
          <a:p>
            <a:r>
              <a:rPr lang="en-US" dirty="0"/>
              <a:t>Models Adopting MLA</a:t>
            </a:r>
            <a:endParaRPr lang="en-IN" dirty="0"/>
          </a:p>
        </p:txBody>
      </p:sp>
    </p:spTree>
    <p:extLst>
      <p:ext uri="{BB962C8B-B14F-4D97-AF65-F5344CB8AC3E}">
        <p14:creationId xmlns:p14="http://schemas.microsoft.com/office/powerpoint/2010/main" val="296515729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4316</Words>
  <Application>Microsoft Office PowerPoint</Application>
  <PresentationFormat>Widescreen</PresentationFormat>
  <Paragraphs>699</Paragraphs>
  <Slides>54</Slides>
  <Notes>13</Notes>
  <HiddenSlides>0</HiddenSlides>
  <MMClips>0</MMClips>
  <ScaleCrop>false</ScaleCrop>
  <HeadingPairs>
    <vt:vector size="6" baseType="variant">
      <vt:variant>
        <vt:lpstr>Fonts Used</vt:lpstr>
      </vt:variant>
      <vt:variant>
        <vt:i4>18</vt:i4>
      </vt:variant>
      <vt:variant>
        <vt:lpstr>Theme</vt:lpstr>
      </vt:variant>
      <vt:variant>
        <vt:i4>2</vt:i4>
      </vt:variant>
      <vt:variant>
        <vt:lpstr>Slide Titles</vt:lpstr>
      </vt:variant>
      <vt:variant>
        <vt:i4>54</vt:i4>
      </vt:variant>
    </vt:vector>
  </HeadingPairs>
  <TitlesOfParts>
    <vt:vector size="74" baseType="lpstr">
      <vt:lpstr>MS PGothic</vt:lpstr>
      <vt:lpstr>Aptos</vt:lpstr>
      <vt:lpstr>Arial</vt:lpstr>
      <vt:lpstr>Arial Black</vt:lpstr>
      <vt:lpstr>Arial MT</vt:lpstr>
      <vt:lpstr>Calibri</vt:lpstr>
      <vt:lpstr>Calibri Light</vt:lpstr>
      <vt:lpstr>Cambria</vt:lpstr>
      <vt:lpstr>Cambria Math</vt:lpstr>
      <vt:lpstr>Consolas</vt:lpstr>
      <vt:lpstr>Helvetica</vt:lpstr>
      <vt:lpstr>Lucida Sans Unicode</vt:lpstr>
      <vt:lpstr>Montserrat</vt:lpstr>
      <vt:lpstr>pplxSerif</vt:lpstr>
      <vt:lpstr>Spectral</vt:lpstr>
      <vt:lpstr>Tahoma</vt:lpstr>
      <vt:lpstr>Times New Roman</vt:lpstr>
      <vt:lpstr>Trebuchet MS</vt:lpstr>
      <vt:lpstr>2_Office Theme</vt:lpstr>
      <vt:lpstr>1_Office Theme</vt:lpstr>
      <vt:lpstr> Large Language Models for Generative AI</vt:lpstr>
      <vt:lpstr>Large Language Models for Generative AI</vt:lpstr>
      <vt:lpstr>Agenda</vt:lpstr>
      <vt:lpstr>Quadratic attention in transformers</vt:lpstr>
      <vt:lpstr>Standard Softmax Attention</vt:lpstr>
      <vt:lpstr>PowerPoint Presentation</vt:lpstr>
      <vt:lpstr>Memory traffic</vt:lpstr>
      <vt:lpstr>Attention data flow</vt:lpstr>
      <vt:lpstr>Attention data flow</vt:lpstr>
      <vt:lpstr>Attention data flow</vt:lpstr>
      <vt:lpstr>Attention data flow</vt:lpstr>
      <vt:lpstr>Attention data flow</vt:lpstr>
      <vt:lpstr>Attention data flow</vt:lpstr>
      <vt:lpstr>Attention data flow</vt:lpstr>
      <vt:lpstr>Attention data flow</vt:lpstr>
      <vt:lpstr>Memory bottlenecks</vt:lpstr>
      <vt:lpstr>Naive attention flow</vt:lpstr>
      <vt:lpstr>Naive attention flow</vt:lpstr>
      <vt:lpstr>Naive attention flow</vt:lpstr>
      <vt:lpstr>Softmax</vt:lpstr>
      <vt:lpstr>Flash attention</vt:lpstr>
      <vt:lpstr>Flash attention</vt:lpstr>
      <vt:lpstr>Flash attention</vt:lpstr>
      <vt:lpstr>Flash attention</vt:lpstr>
      <vt:lpstr>Flash attention</vt:lpstr>
      <vt:lpstr>Flash Attention: Making Attention IO-Aware</vt:lpstr>
      <vt:lpstr>FlashAttention </vt:lpstr>
      <vt:lpstr>FlashAttention</vt:lpstr>
      <vt:lpstr>Sample Question</vt:lpstr>
      <vt:lpstr>Sample Question</vt:lpstr>
      <vt:lpstr>MQA and GQA</vt:lpstr>
      <vt:lpstr>MQA and GQA</vt:lpstr>
      <vt:lpstr>Multi-head Latent Attention(MLA)</vt:lpstr>
      <vt:lpstr>PowerPoint Presentation</vt:lpstr>
      <vt:lpstr>MLA</vt:lpstr>
      <vt:lpstr>PowerPoint Presentation</vt:lpstr>
      <vt:lpstr>Model Compression Classical compression (quantization, pruning, distillation) is model-agnostic — it came from the CNN era and applies to any neural network. </vt:lpstr>
      <vt:lpstr>Symmetric Quantization</vt:lpstr>
      <vt:lpstr>Asymmetric Quantization</vt:lpstr>
      <vt:lpstr>Quantization</vt:lpstr>
      <vt:lpstr>Post-Training Quantization (PTQ) </vt:lpstr>
      <vt:lpstr>Knowledge Distillation (KD)</vt:lpstr>
      <vt:lpstr>Distillation: teach a small model from a big one </vt:lpstr>
      <vt:lpstr>Distillation Using “Synthetic Data”</vt:lpstr>
      <vt:lpstr>Distilling step-by-step </vt:lpstr>
      <vt:lpstr>Pruning</vt:lpstr>
      <vt:lpstr>References </vt:lpstr>
      <vt:lpstr>Extra slides not for exam MLA math</vt:lpstr>
      <vt:lpstr>PowerPoint Presentation</vt:lpstr>
      <vt:lpstr>PowerPoint Presentation</vt:lpstr>
      <vt:lpstr>PowerPoint Presentation</vt:lpstr>
      <vt:lpstr>PowerPoint Presentation</vt:lpstr>
      <vt:lpstr>PowerPoint Presentation</vt:lpstr>
      <vt:lpstr>Models Adopting MLA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2026-06-05T07:56:47Z</dcterms:created>
  <dcterms:modified xsi:type="dcterms:W3CDTF">2026-06-05T07:56:56Z</dcterms:modified>
</cp:coreProperties>
</file>