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2" r:id="rId2"/>
  </p:sldMasterIdLst>
  <p:notesMasterIdLst>
    <p:notesMasterId r:id="rId31"/>
  </p:notesMasterIdLst>
  <p:sldIdLst>
    <p:sldId id="257" r:id="rId3"/>
    <p:sldId id="258" r:id="rId4"/>
    <p:sldId id="261" r:id="rId5"/>
    <p:sldId id="402" r:id="rId6"/>
    <p:sldId id="401" r:id="rId7"/>
    <p:sldId id="378" r:id="rId8"/>
    <p:sldId id="389" r:id="rId9"/>
    <p:sldId id="407" r:id="rId10"/>
    <p:sldId id="406" r:id="rId11"/>
    <p:sldId id="394" r:id="rId12"/>
    <p:sldId id="336" r:id="rId13"/>
    <p:sldId id="408" r:id="rId14"/>
    <p:sldId id="409" r:id="rId15"/>
    <p:sldId id="410" r:id="rId16"/>
    <p:sldId id="412" r:id="rId17"/>
    <p:sldId id="411" r:id="rId18"/>
    <p:sldId id="414" r:id="rId19"/>
    <p:sldId id="415" r:id="rId20"/>
    <p:sldId id="345" r:id="rId21"/>
    <p:sldId id="416" r:id="rId22"/>
    <p:sldId id="418" r:id="rId23"/>
    <p:sldId id="419" r:id="rId24"/>
    <p:sldId id="325" r:id="rId25"/>
    <p:sldId id="420" r:id="rId26"/>
    <p:sldId id="421" r:id="rId27"/>
    <p:sldId id="423" r:id="rId28"/>
    <p:sldId id="329" r:id="rId29"/>
    <p:sldId id="29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411" autoAdjust="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7D4B9-1C85-446F-8DD3-AAAFA9CD29CC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450F1-87F9-417C-9F80-5CCF76269D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672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450F1-87F9-417C-9F80-5CCF76269D3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099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33864797-F1AA-CEF6-68DF-390F6946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52C91272-0D62-F354-A355-3922DDA95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5B5CA215-59E6-2D59-BBF5-C409B3BCE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8316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306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450F1-87F9-417C-9F80-5CCF76269D3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970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640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450F1-87F9-417C-9F80-5CCF76269D3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467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450F1-87F9-417C-9F80-5CCF76269D3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149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450F1-87F9-417C-9F80-5CCF76269D3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09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53FB587-7CB1-49CB-2520-B9A88CA00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392EF92C-7EFE-CC23-13B7-D10EDE10F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D07F9DD-6560-10EF-3866-8D431386D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0795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450F1-87F9-417C-9F80-5CCF76269D33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684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450F1-87F9-417C-9F80-5CCF76269D33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415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450F1-87F9-417C-9F80-5CCF76269D33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90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1EE2-276D-4D2E-9C55-AC72DF97FFB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C08-C99F-40A2-A15D-5FFCED2BA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49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1EE2-276D-4D2E-9C55-AC72DF97FFB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C08-C99F-40A2-A15D-5FFCED2BA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76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1EE2-276D-4D2E-9C55-AC72DF97FFB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C08-C99F-40A2-A15D-5FFCED2BA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78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1EE2-276D-4D2E-9C55-AC72DF97FFB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C08-C99F-40A2-A15D-5FFCED2BA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47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1EE2-276D-4D2E-9C55-AC72DF97FFB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C08-C99F-40A2-A15D-5FFCED2BA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30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1EE2-276D-4D2E-9C55-AC72DF97FFB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C08-C99F-40A2-A15D-5FFCED2BA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26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1EE2-276D-4D2E-9C55-AC72DF97FFB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C08-C99F-40A2-A15D-5FFCED2BA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828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1EE2-276D-4D2E-9C55-AC72DF97FFB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C08-C99F-40A2-A15D-5FFCED2BA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82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1EE2-276D-4D2E-9C55-AC72DF97FFB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C08-C99F-40A2-A15D-5FFCED2BA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51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1EE2-276D-4D2E-9C55-AC72DF97FFB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C08-C99F-40A2-A15D-5FFCED2BA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243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E1EE2-276D-4D2E-9C55-AC72DF97FFB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C2C08-C99F-40A2-A15D-5FFCED2BA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48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704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233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8187" y="400303"/>
            <a:ext cx="360002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5/15/2026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8667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1" y="0"/>
            <a:ext cx="10881209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1324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187" y="361315"/>
            <a:ext cx="6561667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5/15/2026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063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200" y="0"/>
            <a:ext cx="2924048" cy="6934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994400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2844800" y="65532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9087104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3149600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0" y="12954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2" name="bg object 22"/>
          <p:cNvSpPr/>
          <p:nvPr/>
        </p:nvSpPr>
        <p:spPr>
          <a:xfrm>
            <a:off x="6242304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187" y="361315"/>
            <a:ext cx="6561667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5/15/2026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0116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60800" y="6096000"/>
            <a:ext cx="38608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0" y="6096000"/>
            <a:ext cx="38608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7721600" y="6096000"/>
            <a:ext cx="38608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3352800"/>
            <a:ext cx="2743200" cy="19796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5/15/2026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8941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n-US" altLang="en-US" sz="1100" b="1" kern="0">
                <a:solidFill>
                  <a:srgbClr val="101141"/>
                </a:solidFill>
              </a:rPr>
              <a:t>BITS </a:t>
            </a:r>
            <a:r>
              <a:rPr lang="en-US" altLang="en-US" sz="1100" kern="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27552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77078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26098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34702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05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8611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99145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2511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12649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37242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8271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16350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20414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44546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43986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25654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27699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4033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5424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7450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8366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9343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2783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dirty="0" err="1">
                <a:solidFill>
                  <a:srgbClr val="101141"/>
                </a:solidFill>
                <a:cs typeface="Arial" panose="020B0604020202020204" pitchFamily="34" charset="0"/>
              </a:rPr>
              <a:t>Pilani</a:t>
            </a:r>
            <a:endParaRPr lang="en-US" sz="1100" dirty="0">
              <a:solidFill>
                <a:srgbClr val="101141"/>
              </a:solidFill>
              <a:cs typeface="Arial" panose="020B0604020202020204" pitchFamily="34" charset="0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600201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>
          <a:xfrm>
            <a:off x="4114800" y="642461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B1C2494-8932-4549-9EEA-B787E7A0F253}" type="slidenum">
              <a:rPr lang="en-US" sz="1600" smtClean="0"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600" dirty="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7880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59457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6429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291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9280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4948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73188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448343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27151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44078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7"/>
            <a:ext cx="10972800" cy="1920526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21628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kern="0" smtClean="0">
                <a:solidFill>
                  <a:sysClr val="windowText" lastClr="000000"/>
                </a:solidFill>
              </a:rPr>
              <a:pPr algn="r"/>
              <a:t>‹#›</a:t>
            </a:fld>
            <a:endParaRPr lang="en" kern="0">
              <a:solidFill>
                <a:sysClr val="windowText" lastClr="000000"/>
              </a:solidFill>
            </a:endParaRPr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24000"/>
          </a:blip>
          <a:srcRect b="93593"/>
          <a:stretch/>
        </p:blipFill>
        <p:spPr>
          <a:xfrm>
            <a:off x="2" y="6594465"/>
            <a:ext cx="12192004" cy="263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787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42" Type="http://schemas.openxmlformats.org/officeDocument/2006/relationships/image" Target="../media/image4.jpg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3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E1EE2-276D-4D2E-9C55-AC72DF97FFB2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C2C08-C99F-40A2-A15D-5FFCED2BAD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592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75248" y="6550153"/>
            <a:ext cx="3105573" cy="48895"/>
          </a:xfrm>
          <a:custGeom>
            <a:avLst/>
            <a:gdLst/>
            <a:ahLst/>
            <a:cxnLst/>
            <a:rect l="l" t="t" r="r" b="b"/>
            <a:pathLst>
              <a:path w="2329179" h="48895">
                <a:moveTo>
                  <a:pt x="2328671" y="0"/>
                </a:moveTo>
                <a:lnTo>
                  <a:pt x="0" y="0"/>
                </a:lnTo>
                <a:lnTo>
                  <a:pt x="0" y="48768"/>
                </a:lnTo>
                <a:lnTo>
                  <a:pt x="2328671" y="48768"/>
                </a:lnTo>
                <a:lnTo>
                  <a:pt x="2328671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9211056" y="6550152"/>
            <a:ext cx="2981113" cy="45720"/>
          </a:xfrm>
          <a:custGeom>
            <a:avLst/>
            <a:gdLst/>
            <a:ahLst/>
            <a:cxnLst/>
            <a:rect l="l" t="t" r="r" b="b"/>
            <a:pathLst>
              <a:path w="2235834" h="45720">
                <a:moveTo>
                  <a:pt x="2235707" y="0"/>
                </a:moveTo>
                <a:lnTo>
                  <a:pt x="0" y="0"/>
                </a:lnTo>
                <a:lnTo>
                  <a:pt x="0" y="45720"/>
                </a:lnTo>
                <a:lnTo>
                  <a:pt x="2235707" y="45720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2779776" y="6550153"/>
            <a:ext cx="3440853" cy="48895"/>
          </a:xfrm>
          <a:custGeom>
            <a:avLst/>
            <a:gdLst/>
            <a:ahLst/>
            <a:cxnLst/>
            <a:rect l="l" t="t" r="r" b="b"/>
            <a:pathLst>
              <a:path w="2580640" h="48895">
                <a:moveTo>
                  <a:pt x="2580132" y="0"/>
                </a:moveTo>
                <a:lnTo>
                  <a:pt x="0" y="0"/>
                </a:lnTo>
                <a:lnTo>
                  <a:pt x="0" y="48768"/>
                </a:lnTo>
                <a:lnTo>
                  <a:pt x="2580132" y="48768"/>
                </a:lnTo>
                <a:lnTo>
                  <a:pt x="2580132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5994400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2844800" y="65532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9087104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pic>
        <p:nvPicPr>
          <p:cNvPr id="22" name="bg object 2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8839201" y="0"/>
            <a:ext cx="2926079" cy="69189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3149600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4" name="bg object 24"/>
          <p:cNvSpPr/>
          <p:nvPr/>
        </p:nvSpPr>
        <p:spPr>
          <a:xfrm>
            <a:off x="0" y="12954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25" name="bg object 25"/>
          <p:cNvSpPr/>
          <p:nvPr/>
        </p:nvSpPr>
        <p:spPr>
          <a:xfrm>
            <a:off x="6242304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231987" y="321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06400" y="16764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580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</p:sldLayoutIdLst>
  <p:txStyles>
    <p:titleStyle>
      <a:lvl1pPr>
        <a:defRPr sz="3600"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4572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9144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3716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18288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ightning.ai/pages/community/article/understanding-llama-adapters/" TargetMode="External"/><Relationship Id="rId2" Type="http://schemas.openxmlformats.org/officeDocument/2006/relationships/hyperlink" Target="https://lightning.ai/pages/community/tutorial/lora-llm/" TargetMode="Externa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magazine.sebastianraschka.com/p/llm-research-insights-instruction" TargetMode="External"/><Relationship Id="rId4" Type="http://schemas.openxmlformats.org/officeDocument/2006/relationships/hyperlink" Target="https://magazine.sebastianraschka.com/p/practical-tips-for-finetuning-llms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588589" y="3714750"/>
            <a:ext cx="7366957" cy="114300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for Generative AI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Monali</a:t>
            </a: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Mavani</a:t>
            </a:r>
            <a:endParaRPr lang="en-US" sz="15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503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63391" y="392932"/>
            <a:ext cx="7315200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for Generative AI</a:t>
            </a:r>
            <a:endParaRPr sz="2700" dirty="0"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58786" y="4133141"/>
            <a:ext cx="6777644" cy="848137"/>
          </a:xfrm>
          <a:prstGeom prst="rect">
            <a:avLst/>
          </a:prstGeom>
        </p:spPr>
        <p:txBody>
          <a:bodyPr vert="horz" wrap="square" lIns="0" tIns="24595" rIns="0" bIns="0" rtlCol="0">
            <a:spAutoFit/>
          </a:bodyPr>
          <a:lstStyle/>
          <a:p>
            <a:pPr marL="99961" marR="29325" indent="-93969" fontAlgn="base">
              <a:lnSpc>
                <a:spcPts val="1153"/>
              </a:lnSpc>
              <a:spcBef>
                <a:spcPts val="194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content 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these slides has been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obtained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books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various other </a:t>
            </a:r>
            <a:r>
              <a:rPr sz="1200" spc="-236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on the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Internet</a:t>
            </a:r>
            <a:endParaRPr sz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fontAlgn="base">
              <a:spcBef>
                <a:spcPts val="258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here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by</a:t>
            </a:r>
            <a:r>
              <a:rPr sz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acknowledge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all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contributors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their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material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sz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inputs.</a:t>
            </a:r>
            <a:endParaRPr sz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fontAlgn="base">
              <a:spcBef>
                <a:spcPts val="281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provided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information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wherever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necessary</a:t>
            </a:r>
            <a:endParaRPr sz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fontAlgn="base">
              <a:spcBef>
                <a:spcPts val="281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added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modified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content to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suit the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requirements</a:t>
            </a:r>
            <a:r>
              <a:rPr sz="1200" spc="-1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the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course</a:t>
            </a:r>
            <a:endParaRPr sz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7389" y="2171701"/>
            <a:ext cx="4274196" cy="233216"/>
          </a:xfrm>
          <a:prstGeom prst="rect">
            <a:avLst/>
          </a:prstGeom>
        </p:spPr>
        <p:txBody>
          <a:bodyPr vert="horz" wrap="square" lIns="0" tIns="7568" rIns="0" bIns="0" rtlCol="0">
            <a:spAutoFit/>
          </a:bodyPr>
          <a:lstStyle/>
          <a:p>
            <a:pPr marL="6306" fontAlgn="base">
              <a:spcBef>
                <a:spcPts val="59"/>
              </a:spcBef>
              <a:spcAft>
                <a:spcPct val="0"/>
              </a:spcAft>
            </a:pPr>
            <a:r>
              <a:rPr sz="1466" spc="-8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Disclaimer</a:t>
            </a:r>
            <a:r>
              <a:rPr sz="1466" spc="-3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sz="1466" spc="-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and</a:t>
            </a:r>
            <a:r>
              <a:rPr sz="1466" spc="-3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sz="1466" spc="-12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Acknowledgement</a:t>
            </a:r>
            <a:endParaRPr sz="1466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0598" y="2823275"/>
            <a:ext cx="815403" cy="89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60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5171460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Fine-tuning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Instruction fine tuning(IFT)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Parameter Efficient Fine tuning (PEFT)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Prompt and Prefix tuning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Adapters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 err="1"/>
              <a:t>LoRA</a:t>
            </a:r>
            <a:r>
              <a:rPr lang="en-IN" dirty="0"/>
              <a:t> and </a:t>
            </a:r>
            <a:r>
              <a:rPr lang="en-IN" dirty="0" err="1"/>
              <a:t>QLoRA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Model Merging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227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A5607D-62D1-8754-6999-27CC926F0313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352424" y="1745453"/>
            <a:ext cx="7353300" cy="380311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F13FDBB-4B13-3CE7-5588-76F5FA31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01032-6DFF-4C8E-7C17-BC36B6D053B1}"/>
              </a:ext>
            </a:extLst>
          </p:cNvPr>
          <p:cNvSpPr txBox="1"/>
          <p:nvPr/>
        </p:nvSpPr>
        <p:spPr>
          <a:xfrm>
            <a:off x="7496176" y="1480661"/>
            <a:ext cx="43434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Continued pretraining : T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raining objective/stage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where a pretrained model is further trained on new unlabeled text with the original language-modeling objective e.g.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BioBERT</a:t>
            </a:r>
            <a:r>
              <a:rPr lang="en-IN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Full Fine-Tuning: update all model weights e.g. </a:t>
            </a:r>
            <a:r>
              <a:rPr lang="en-IN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Qwen/Qwen2.5-0.5B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PEFT: fine-tunes only a small part of the model, not all weights, to save compute and memory e.g. </a:t>
            </a:r>
            <a:r>
              <a:rPr lang="en-IN" sz="2000" dirty="0"/>
              <a:t> </a:t>
            </a:r>
            <a:r>
              <a:rPr lang="en-IN" sz="2000" dirty="0">
                <a:solidFill>
                  <a:srgbClr val="FF0000"/>
                </a:solidFill>
              </a:rPr>
              <a:t>Llama-family adaptations </a:t>
            </a:r>
          </a:p>
          <a:p>
            <a:endParaRPr lang="en-US" sz="2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232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DC107A-FA90-FF73-C718-E58377091190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94488" y="676275"/>
            <a:ext cx="7196437" cy="576767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1235AFE-EA82-7221-4136-68308231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0"/>
            <a:ext cx="10881209" cy="676275"/>
          </a:xfrm>
        </p:spPr>
        <p:txBody>
          <a:bodyPr/>
          <a:lstStyle/>
          <a:p>
            <a:r>
              <a:rPr lang="en-US" dirty="0"/>
              <a:t>Fine tuning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EEDB1-903C-9738-BC07-BA24E7FB2FA6}"/>
              </a:ext>
            </a:extLst>
          </p:cNvPr>
          <p:cNvSpPr txBox="1"/>
          <p:nvPr/>
        </p:nvSpPr>
        <p:spPr>
          <a:xfrm>
            <a:off x="7290925" y="1549056"/>
            <a:ext cx="5049012" cy="5241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800100" lvl="1" indent="-342900">
              <a:buFont typeface="Arial" panose="020B0604020202020204" pitchFamily="34" charset="0"/>
              <a:buChar char="•"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r>
              <a:rPr lang="en-US" sz="2000" dirty="0"/>
              <a:t>SFT: train on labeled input-output examples </a:t>
            </a:r>
            <a:r>
              <a:rPr lang="en-US" sz="2000" dirty="0" err="1"/>
              <a:t>e.g</a:t>
            </a:r>
            <a:r>
              <a:rPr lang="en-US" sz="2000" dirty="0"/>
              <a:t> </a:t>
            </a:r>
            <a:r>
              <a:rPr lang="en-IN" sz="2000" dirty="0">
                <a:solidFill>
                  <a:srgbClr val="FF0000"/>
                </a:solidFill>
              </a:rPr>
              <a:t>Llama 2-Chat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IFT(Type of SFT): train on instruction-response examples to improve instruction following .</a:t>
            </a:r>
            <a:r>
              <a:rPr lang="en-US" sz="2000" dirty="0" err="1"/>
              <a:t>e.</a:t>
            </a:r>
            <a:r>
              <a:rPr lang="en-US" sz="2000" dirty="0" err="1">
                <a:solidFill>
                  <a:srgbClr val="FF0000"/>
                </a:solidFill>
              </a:rPr>
              <a:t>g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IN" sz="2000" dirty="0">
                <a:solidFill>
                  <a:srgbClr val="FF0000"/>
                </a:solidFill>
              </a:rPr>
              <a:t>Llama 3.1 Instruct</a:t>
            </a:r>
          </a:p>
          <a:p>
            <a:endParaRPr lang="en-IN" sz="2000" dirty="0">
              <a:solidFill>
                <a:srgbClr val="FF0000"/>
              </a:solidFill>
            </a:endParaRPr>
          </a:p>
          <a:p>
            <a:r>
              <a:rPr lang="en-US" sz="2000" dirty="0"/>
              <a:t>MLM fine-tuning (Type of SFT): adapts BERT-style models to a new domain e.g. </a:t>
            </a:r>
            <a:r>
              <a:rPr lang="en-IN" sz="2000" dirty="0" err="1">
                <a:solidFill>
                  <a:srgbClr val="FF0000"/>
                </a:solidFill>
              </a:rPr>
              <a:t>DistilBERT</a:t>
            </a:r>
            <a:endParaRPr lang="en-IN" sz="2000" dirty="0">
              <a:solidFill>
                <a:srgbClr val="FF0000"/>
              </a:solidFill>
            </a:endParaRPr>
          </a:p>
          <a:p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33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E8237630-7CB0-F832-1A47-4751406B6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81602F21-417D-7FB6-BE0A-79F10BD14B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-US" dirty="0"/>
              <a:t>Few shot learning</a:t>
            </a:r>
            <a:endParaRPr dirty="0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68BC5876-ABFF-5371-1E23-9B80EABB0726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304802" y="1350016"/>
            <a:ext cx="7149884" cy="45564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GPT 3 showed the world that LLMs could perform tasks beyond what it was trained on. 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This ability to learn from the input context, know as </a:t>
            </a:r>
            <a:r>
              <a:rPr lang="en-US" sz="2000" b="1" dirty="0">
                <a:solidFill>
                  <a:srgbClr val="000000"/>
                </a:solidFill>
              </a:rPr>
              <a:t>in-context learning</a:t>
            </a:r>
            <a:r>
              <a:rPr lang="en-US" sz="2000" dirty="0">
                <a:solidFill>
                  <a:srgbClr val="000000"/>
                </a:solidFill>
              </a:rPr>
              <a:t>, can be used to leverage the inherent abilities and knowledge the model gained through pre-training.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D7AE1C-C9CE-050E-5F5C-DCF014554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38486"/>
            <a:ext cx="5971970" cy="30840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8AACEF-6C11-DF69-7D70-DE803F0A1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686" y="87477"/>
            <a:ext cx="4450444" cy="677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56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134259" y="1420135"/>
            <a:ext cx="4711787" cy="218959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fine tuning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134259" y="4064851"/>
            <a:ext cx="51920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Observed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Next word prediction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Desired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Instruction Following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759" y="3528128"/>
            <a:ext cx="3413204" cy="29694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6E708A-F831-A848-DA3B-6FE917505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9906" y="459578"/>
            <a:ext cx="2070283" cy="296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50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58176D-641C-29BB-FDBB-A2EEFB5A908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42874" y="1507124"/>
            <a:ext cx="11934825" cy="400785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Human Authoring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Experts or annotators </a:t>
            </a:r>
            <a:r>
              <a:rPr lang="en-US" sz="2000" b="1" dirty="0"/>
              <a:t>write instruction-response pairs directly</a:t>
            </a:r>
            <a:r>
              <a:rPr lang="en-US" sz="2000" dirty="0"/>
              <a:t> from scratch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Template Conversion 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Existing </a:t>
            </a:r>
            <a:r>
              <a:rPr lang="en-IN" sz="2000" b="1" dirty="0" err="1"/>
              <a:t>labeled</a:t>
            </a:r>
            <a:r>
              <a:rPr lang="en-IN" sz="2000" b="1" dirty="0"/>
              <a:t> NLP datasets</a:t>
            </a:r>
            <a:r>
              <a:rPr lang="en-IN" sz="2000" dirty="0"/>
              <a:t> (</a:t>
            </a:r>
            <a:r>
              <a:rPr lang="en-IN" sz="2000" dirty="0" err="1"/>
              <a:t>SQuAD</a:t>
            </a:r>
            <a:r>
              <a:rPr lang="en-IN" sz="2000" dirty="0"/>
              <a:t>) are </a:t>
            </a:r>
            <a:r>
              <a:rPr lang="en-IN" sz="2000" b="1" dirty="0"/>
              <a:t>rewritten into instruction format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Synthetic Generation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A </a:t>
            </a:r>
            <a:r>
              <a:rPr lang="en-IN" sz="2000" b="1" dirty="0"/>
              <a:t>stronger teacher LLM</a:t>
            </a:r>
            <a:r>
              <a:rPr lang="en-IN" sz="2000" dirty="0"/>
              <a:t> (GPT-4, Claude) generates instructions, answers, or both automatically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i="1" dirty="0"/>
              <a:t>Example:</a:t>
            </a:r>
            <a:r>
              <a:rPr lang="en-IN" sz="2000" dirty="0"/>
              <a:t> Self-Instruct</a:t>
            </a:r>
          </a:p>
          <a:p>
            <a:pPr lvl="1"/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Hybrid Pipeline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Small gold set → synthetic expansion → human validation loop → final IFT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81A411-FCAD-F6B6-C839-21B256D27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IFT Data Preparation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26D75-DECF-D829-B76E-00339996CA33}"/>
              </a:ext>
            </a:extLst>
          </p:cNvPr>
          <p:cNvSpPr txBox="1"/>
          <p:nvPr/>
        </p:nvSpPr>
        <p:spPr>
          <a:xfrm>
            <a:off x="438150" y="5621643"/>
            <a:ext cx="1131570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IN" dirty="0"/>
              <a:t>IFT dataset can be stored in JSONL (JSON Lines) — one training record per line, and read natively by </a:t>
            </a:r>
            <a:r>
              <a:rPr lang="en-IN" dirty="0" err="1"/>
              <a:t>HuggingFace</a:t>
            </a:r>
            <a:r>
              <a:rPr lang="en-IN" dirty="0"/>
              <a:t> </a:t>
            </a:r>
            <a:r>
              <a:rPr lang="en-IN" dirty="0" err="1"/>
              <a:t>load_dataset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81458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2952AF-B2F8-5EC6-DBF6-ABE868CC6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schema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4BCD86-B695-C34C-311E-F402E6E08508}"/>
              </a:ext>
            </a:extLst>
          </p:cNvPr>
          <p:cNvSpPr txBox="1"/>
          <p:nvPr/>
        </p:nvSpPr>
        <p:spPr>
          <a:xfrm>
            <a:off x="95250" y="1877525"/>
            <a:ext cx="5210175" cy="147732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Context  : The Eiffel Tower is located in Paris, France.</a:t>
            </a:r>
          </a:p>
          <a:p>
            <a:r>
              <a:rPr lang="en-IN" dirty="0"/>
              <a:t>           It was constructed between 1887 and 1889.</a:t>
            </a:r>
          </a:p>
          <a:p>
            <a:r>
              <a:rPr lang="en-IN" dirty="0"/>
              <a:t>           It stands 330 metres tall.</a:t>
            </a:r>
          </a:p>
          <a:p>
            <a:r>
              <a:rPr lang="en-IN" dirty="0"/>
              <a:t>Question : When was the Eiffel Tower built?</a:t>
            </a:r>
          </a:p>
          <a:p>
            <a:r>
              <a:rPr lang="en-IN" dirty="0"/>
              <a:t>Answer   : between 1887 and 1889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0B340-2D4F-3F6F-CECE-BB34305AAD52}"/>
              </a:ext>
            </a:extLst>
          </p:cNvPr>
          <p:cNvSpPr txBox="1"/>
          <p:nvPr/>
        </p:nvSpPr>
        <p:spPr>
          <a:xfrm>
            <a:off x="5745405" y="1447821"/>
            <a:ext cx="6715125" cy="3139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{</a:t>
            </a:r>
          </a:p>
          <a:p>
            <a:r>
              <a:rPr lang="en-IN" dirty="0"/>
              <a:t>  </a:t>
            </a:r>
            <a:r>
              <a:rPr lang="en-IN" b="1" dirty="0">
                <a:solidFill>
                  <a:srgbClr val="FF0000"/>
                </a:solidFill>
              </a:rPr>
              <a:t>"instruction"    </a:t>
            </a:r>
            <a:r>
              <a:rPr lang="en-IN" dirty="0"/>
              <a:t>: "Answer the question using only the information in the context. If the answer is not present, say 'The answer is not present in the provided context.'",</a:t>
            </a:r>
          </a:p>
          <a:p>
            <a:r>
              <a:rPr lang="en-IN" dirty="0"/>
              <a:t>  </a:t>
            </a:r>
            <a:r>
              <a:rPr lang="en-IN" b="1" dirty="0">
                <a:solidFill>
                  <a:srgbClr val="FF0000"/>
                </a:solidFill>
              </a:rPr>
              <a:t>"input"      </a:t>
            </a:r>
            <a:r>
              <a:rPr lang="en-IN" dirty="0"/>
              <a:t>    : "Context: The Eiffel Tower is located in Paris, France. It was constructed between 1887 and 1889. It stands 330 metres tall.\n\</a:t>
            </a:r>
            <a:r>
              <a:rPr lang="en-IN" dirty="0" err="1"/>
              <a:t>nQuestion</a:t>
            </a:r>
            <a:r>
              <a:rPr lang="en-IN" dirty="0"/>
              <a:t>: When was the Eiffel Tower built?",</a:t>
            </a:r>
          </a:p>
          <a:p>
            <a:r>
              <a:rPr lang="en-IN" dirty="0"/>
              <a:t>  </a:t>
            </a:r>
            <a:r>
              <a:rPr lang="en-IN" b="1" dirty="0">
                <a:solidFill>
                  <a:srgbClr val="FF0000"/>
                </a:solidFill>
              </a:rPr>
              <a:t>"output"         </a:t>
            </a:r>
            <a:r>
              <a:rPr lang="en-IN" dirty="0"/>
              <a:t>: "The Eiffel Tower was built between 1887 and 1889.",</a:t>
            </a:r>
          </a:p>
          <a:p>
            <a:r>
              <a:rPr lang="en-IN" dirty="0"/>
              <a:t>  </a:t>
            </a:r>
            <a:r>
              <a:rPr lang="en-IN" b="1" dirty="0">
                <a:solidFill>
                  <a:srgbClr val="FF0000"/>
                </a:solidFill>
              </a:rPr>
              <a:t>"</a:t>
            </a:r>
            <a:r>
              <a:rPr lang="en-IN" b="1" dirty="0" err="1">
                <a:solidFill>
                  <a:srgbClr val="FF0000"/>
                </a:solidFill>
              </a:rPr>
              <a:t>task_type</a:t>
            </a:r>
            <a:r>
              <a:rPr lang="en-IN" b="1" dirty="0">
                <a:solidFill>
                  <a:srgbClr val="FF0000"/>
                </a:solidFill>
              </a:rPr>
              <a:t>"      </a:t>
            </a:r>
            <a:r>
              <a:rPr lang="en-IN" dirty="0"/>
              <a:t>: "</a:t>
            </a:r>
            <a:r>
              <a:rPr lang="en-IN" dirty="0" err="1"/>
              <a:t>question_answering</a:t>
            </a:r>
            <a:r>
              <a:rPr lang="en-IN" dirty="0"/>
              <a:t>",</a:t>
            </a:r>
          </a:p>
          <a:p>
            <a:r>
              <a:rPr lang="en-IN" dirty="0"/>
              <a:t>  "</a:t>
            </a:r>
            <a:r>
              <a:rPr lang="en-IN" b="1" dirty="0" err="1">
                <a:solidFill>
                  <a:srgbClr val="FF0000"/>
                </a:solidFill>
              </a:rPr>
              <a:t>source_dataset</a:t>
            </a:r>
            <a:r>
              <a:rPr lang="en-IN" b="1" dirty="0">
                <a:solidFill>
                  <a:srgbClr val="FF0000"/>
                </a:solidFill>
              </a:rPr>
              <a:t>" </a:t>
            </a:r>
            <a:r>
              <a:rPr lang="en-IN" dirty="0"/>
              <a:t>: "squad_v2"</a:t>
            </a:r>
          </a:p>
          <a:p>
            <a:r>
              <a:rPr lang="en-IN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28464-43C1-EB90-82BB-AF0755CB38E3}"/>
              </a:ext>
            </a:extLst>
          </p:cNvPr>
          <p:cNvSpPr txBox="1"/>
          <p:nvPr/>
        </p:nvSpPr>
        <p:spPr>
          <a:xfrm>
            <a:off x="482842" y="4587142"/>
            <a:ext cx="10525125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&lt;s&gt;[INST] Answer the question using only the information in the context.</a:t>
            </a:r>
          </a:p>
          <a:p>
            <a:r>
              <a:rPr lang="en-IN" dirty="0"/>
              <a:t>If the answer is not present, say 'The answer is not present in the provided context.'</a:t>
            </a:r>
          </a:p>
          <a:p>
            <a:r>
              <a:rPr lang="en-IN" dirty="0"/>
              <a:t>Context: The Eiffel Tower is located in Paris, France.</a:t>
            </a:r>
          </a:p>
          <a:p>
            <a:r>
              <a:rPr lang="en-IN" dirty="0"/>
              <a:t>It was constructed between 1887 and 1889. It stands 330 metres tall.</a:t>
            </a:r>
          </a:p>
          <a:p>
            <a:r>
              <a:rPr lang="en-IN" dirty="0"/>
              <a:t>Question: When was the Eiffel Tower built? [/INST]</a:t>
            </a:r>
          </a:p>
          <a:p>
            <a:endParaRPr lang="en-IN" dirty="0"/>
          </a:p>
          <a:p>
            <a:r>
              <a:rPr lang="en-IN" dirty="0"/>
              <a:t>The Eiffel Tower was built between 1887 and 1889.&lt;/s&gt;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32A4C8-2F9F-DF88-9DD1-F0586F24D3A9}"/>
              </a:ext>
            </a:extLst>
          </p:cNvPr>
          <p:cNvSpPr txBox="1"/>
          <p:nvPr/>
        </p:nvSpPr>
        <p:spPr>
          <a:xfrm>
            <a:off x="733425" y="1403595"/>
            <a:ext cx="3028950" cy="36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 Raw Data (from </a:t>
            </a:r>
            <a:r>
              <a:rPr lang="en-US" b="0" i="0" dirty="0" err="1">
                <a:solidFill>
                  <a:srgbClr val="27251E"/>
                </a:solidFill>
                <a:effectLst/>
                <a:latin typeface="pplxSerif"/>
              </a:rPr>
              <a:t>SQuAD</a:t>
            </a: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 2.0)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F8D4B8-8AB7-01E9-B41C-EA092452D596}"/>
              </a:ext>
            </a:extLst>
          </p:cNvPr>
          <p:cNvSpPr txBox="1"/>
          <p:nvPr/>
        </p:nvSpPr>
        <p:spPr>
          <a:xfrm>
            <a:off x="6783630" y="709639"/>
            <a:ext cx="4951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27251E"/>
                </a:solidFill>
                <a:effectLst/>
                <a:latin typeface="pplxSerif"/>
              </a:rPr>
              <a:t>Stored Schema (model-agnostic JSON), never changes regardless of which model you train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D2A97-7EEB-B995-C3CA-C836FEE67684}"/>
              </a:ext>
            </a:extLst>
          </p:cNvPr>
          <p:cNvSpPr txBox="1"/>
          <p:nvPr/>
        </p:nvSpPr>
        <p:spPr>
          <a:xfrm>
            <a:off x="586702" y="3762142"/>
            <a:ext cx="4167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 dirty="0">
                <a:solidFill>
                  <a:srgbClr val="27251E"/>
                </a:solidFill>
                <a:effectLst/>
                <a:latin typeface="pplxSerif"/>
              </a:rPr>
              <a:t>Template Rendering (model-specific)</a:t>
            </a:r>
          </a:p>
          <a:p>
            <a:r>
              <a:rPr lang="en-IN" dirty="0"/>
              <a:t>Mistral Instruct</a:t>
            </a:r>
            <a:endParaRPr lang="en-IN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244504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11616" y="1326284"/>
            <a:ext cx="12080383" cy="45259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semi-automated process for instruction-tuning a </a:t>
            </a:r>
            <a:r>
              <a:rPr lang="en-US" sz="2000" dirty="0" err="1"/>
              <a:t>pretrained</a:t>
            </a:r>
            <a:r>
              <a:rPr lang="en-US" sz="2000" dirty="0"/>
              <a:t> LM using instructional signals from the model itself, Base model – GPT-3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Given: 175 seed tasks with 1 instruction and 1 instance per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 Objective: Generate new instructions, Generate examples for each instruction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Classify</a:t>
            </a:r>
            <a:r>
              <a:rPr lang="en-US" sz="2000" spc="-6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whether</a:t>
            </a:r>
            <a:r>
              <a:rPr lang="en-US" sz="2000" spc="-6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the</a:t>
            </a:r>
            <a:r>
              <a:rPr lang="en-US" sz="2000" spc="-6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generated</a:t>
            </a:r>
            <a:r>
              <a:rPr lang="en-US" sz="2000" spc="-7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instruction</a:t>
            </a:r>
            <a:r>
              <a:rPr lang="en-US" sz="2000" spc="-3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is</a:t>
            </a:r>
            <a:r>
              <a:rPr lang="en-US" sz="2000" spc="-6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</a:t>
            </a:r>
            <a:r>
              <a:rPr lang="en-US" sz="2000" spc="-6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classification</a:t>
            </a:r>
            <a:r>
              <a:rPr lang="en-US" sz="2000" spc="-55" dirty="0">
                <a:cs typeface="Calibri"/>
              </a:rPr>
              <a:t> </a:t>
            </a:r>
            <a:r>
              <a:rPr lang="en-US" sz="2000" spc="-20" dirty="0">
                <a:cs typeface="Calibri"/>
              </a:rPr>
              <a:t>task</a:t>
            </a:r>
            <a:endParaRPr lang="en-US" sz="20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SELF-INSTRUCT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706" y="2952395"/>
            <a:ext cx="7181304" cy="32642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1616" y="6581001"/>
            <a:ext cx="6248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Cambria" panose="02040503050406030204" pitchFamily="18" charset="0"/>
                <a:ea typeface="Cambria" panose="02040503050406030204" pitchFamily="18" charset="0"/>
              </a:rPr>
              <a:t>SELF-INSTRUCT: Aligning Language Models with Self-Generated Instructions</a:t>
            </a:r>
          </a:p>
        </p:txBody>
      </p:sp>
    </p:spTree>
    <p:extLst>
      <p:ext uri="{BB962C8B-B14F-4D97-AF65-F5344CB8AC3E}">
        <p14:creationId xmlns:p14="http://schemas.microsoft.com/office/powerpoint/2010/main" val="2051451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9260" y="2458387"/>
            <a:ext cx="10881209" cy="1219200"/>
          </a:xfrm>
        </p:spPr>
        <p:txBody>
          <a:bodyPr>
            <a:normAutofit fontScale="90000"/>
          </a:bodyPr>
          <a:lstStyle/>
          <a:p>
            <a:r>
              <a:rPr lang="en-US" dirty="0"/>
              <a:t>Parameter efficient fine-tuning (PEFT)</a:t>
            </a:r>
            <a:br>
              <a:rPr lang="en-US" dirty="0"/>
            </a:br>
            <a:r>
              <a:rPr lang="en-US" sz="2700" b="1" dirty="0">
                <a:solidFill>
                  <a:srgbClr val="FF0000"/>
                </a:solidFill>
              </a:rPr>
              <a:t>Why? GPUs don’t grow on trees</a:t>
            </a:r>
            <a:br>
              <a:rPr lang="en-US" sz="2700" b="1" dirty="0">
                <a:solidFill>
                  <a:srgbClr val="FF0000"/>
                </a:solidFill>
              </a:rPr>
            </a:br>
            <a:endParaRPr lang="en-IN" sz="27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781A39-9EBB-725D-8E67-78BF74BB3FDF}"/>
              </a:ext>
            </a:extLst>
          </p:cNvPr>
          <p:cNvSpPr txBox="1"/>
          <p:nvPr/>
        </p:nvSpPr>
        <p:spPr>
          <a:xfrm>
            <a:off x="247651" y="4969855"/>
            <a:ext cx="11444101" cy="1323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As models get larger and larger, full fine-tuning becomes infeasible to train on consumer hardware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Storing and deploying fine-tuned models independently for each downstream task becomes very expensive as </a:t>
            </a:r>
            <a:r>
              <a:rPr lang="en-US" sz="20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fine-tuned models are the same size as the original pretrained model. </a:t>
            </a:r>
          </a:p>
        </p:txBody>
      </p:sp>
    </p:spTree>
    <p:extLst>
      <p:ext uri="{BB962C8B-B14F-4D97-AF65-F5344CB8AC3E}">
        <p14:creationId xmlns:p14="http://schemas.microsoft.com/office/powerpoint/2010/main" val="3099342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C00F02-1B58-EBFD-7554-CB43AF7B4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efficient fine-tuning (PEFT)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6CA646-FC18-611F-744A-92F0B67B69EA}"/>
              </a:ext>
            </a:extLst>
          </p:cNvPr>
          <p:cNvPicPr>
            <a:picLocks noGrp="1" noChangeAspect="1" noChangeArrowheads="1"/>
          </p:cNvPicPr>
          <p:nvPr>
            <p:ph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37" y="1471649"/>
            <a:ext cx="5784463" cy="3090874"/>
          </a:xfrm>
          <a:prstGeom prst="rect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5E58B3-96F1-EF5E-354A-9FE6AECC22DA}"/>
              </a:ext>
            </a:extLst>
          </p:cNvPr>
          <p:cNvSpPr txBox="1"/>
          <p:nvPr/>
        </p:nvSpPr>
        <p:spPr>
          <a:xfrm>
            <a:off x="6096000" y="1385876"/>
            <a:ext cx="57844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251E"/>
                </a:solidFill>
                <a:effectLst/>
                <a:latin typeface="pplxSerif"/>
              </a:rPr>
              <a:t>PEFT:</a:t>
            </a:r>
            <a:r>
              <a:rPr lang="en-IN" b="0" i="0" dirty="0">
                <a:solidFill>
                  <a:srgbClr val="27251E"/>
                </a:solidFill>
                <a:effectLst/>
                <a:latin typeface="pplxSerif"/>
              </a:rPr>
              <a:t> Adapt large pretrained models by tuning only a small subset of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Three</a:t>
            </a:r>
            <a:r>
              <a:rPr lang="en-IN" spc="100" dirty="0"/>
              <a:t> </a:t>
            </a:r>
            <a:r>
              <a:rPr lang="en-IN" dirty="0"/>
              <a:t>Categories</a:t>
            </a:r>
            <a:endParaRPr lang="en-IN" b="0" i="0" dirty="0">
              <a:solidFill>
                <a:srgbClr val="27251E"/>
              </a:solidFill>
              <a:effectLst/>
              <a:latin typeface="pplxSerif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251E"/>
                </a:solidFill>
                <a:effectLst/>
                <a:latin typeface="pplxSerif"/>
              </a:rPr>
              <a:t>Addition:</a:t>
            </a:r>
            <a:r>
              <a:rPr lang="en-IN" b="0" i="0" dirty="0">
                <a:solidFill>
                  <a:srgbClr val="27251E"/>
                </a:solidFill>
                <a:effectLst/>
                <a:latin typeface="pplxSerif"/>
              </a:rPr>
              <a:t> Add trainable modules, Prompt tuning, Prefix tuning, Adapters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251E"/>
                </a:solidFill>
                <a:effectLst/>
                <a:latin typeface="pplxSerif"/>
              </a:rPr>
              <a:t>Selective tuning:</a:t>
            </a:r>
            <a:r>
              <a:rPr lang="en-IN" b="0" i="0" dirty="0">
                <a:solidFill>
                  <a:srgbClr val="27251E"/>
                </a:solidFill>
                <a:effectLst/>
                <a:latin typeface="pplxSerif"/>
              </a:rPr>
              <a:t> Tune selected existing parameters, Layer freezing, </a:t>
            </a:r>
            <a:r>
              <a:rPr lang="en-IN" b="0" i="0" dirty="0" err="1">
                <a:solidFill>
                  <a:srgbClr val="27251E"/>
                </a:solidFill>
                <a:effectLst/>
                <a:latin typeface="pplxSerif"/>
              </a:rPr>
              <a:t>BitFit</a:t>
            </a:r>
            <a:r>
              <a:rPr lang="en-IN" b="0" i="0" dirty="0">
                <a:solidFill>
                  <a:srgbClr val="27251E"/>
                </a:solidFill>
                <a:effectLst/>
                <a:latin typeface="pplxSerif"/>
              </a:rPr>
              <a:t>, Diff pruning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251E"/>
                </a:solidFill>
                <a:effectLst/>
                <a:latin typeface="pplxSerif"/>
              </a:rPr>
              <a:t>Reparameterization:</a:t>
            </a:r>
            <a:r>
              <a:rPr lang="en-IN" b="0" i="0" dirty="0">
                <a:solidFill>
                  <a:srgbClr val="27251E"/>
                </a:solidFill>
                <a:effectLst/>
                <a:latin typeface="pplxSerif"/>
              </a:rPr>
              <a:t> Learn efficient update forms, </a:t>
            </a:r>
            <a:r>
              <a:rPr lang="en-IN" b="0" i="0" dirty="0" err="1">
                <a:solidFill>
                  <a:srgbClr val="27251E"/>
                </a:solidFill>
                <a:effectLst/>
                <a:latin typeface="pplxSerif"/>
              </a:rPr>
              <a:t>LoRA</a:t>
            </a:r>
            <a:endParaRPr lang="en-IN" dirty="0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2D77C4AA-EDC8-9FEA-831E-E9DD1DFC11E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5062" y="4562523"/>
            <a:ext cx="5546338" cy="1876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747EB63-8C23-9F04-CC60-C8D3329EFCA1}"/>
              </a:ext>
            </a:extLst>
          </p:cNvPr>
          <p:cNvSpPr/>
          <p:nvPr/>
        </p:nvSpPr>
        <p:spPr>
          <a:xfrm>
            <a:off x="7000876" y="6611779"/>
            <a:ext cx="553528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111111"/>
                </a:solidFill>
                <a:latin typeface="Titillium Web"/>
              </a:rPr>
              <a:t>Image Credit :CMU : Large Language Models: Methods and Applications</a:t>
            </a:r>
            <a:endParaRPr lang="en-IN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4E217F-CBC1-2130-A9C8-0002638516A5}"/>
              </a:ext>
            </a:extLst>
          </p:cNvPr>
          <p:cNvSpPr txBox="1"/>
          <p:nvPr/>
        </p:nvSpPr>
        <p:spPr>
          <a:xfrm>
            <a:off x="304801" y="4699556"/>
            <a:ext cx="487918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Image Credits : https://magazine.sebastianraschka.com/p/finetuning-llms-with-adapters</a:t>
            </a:r>
          </a:p>
        </p:txBody>
      </p:sp>
    </p:spTree>
    <p:extLst>
      <p:ext uri="{BB962C8B-B14F-4D97-AF65-F5344CB8AC3E}">
        <p14:creationId xmlns:p14="http://schemas.microsoft.com/office/powerpoint/2010/main" val="4025978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292E30-8CD6-3BDF-5B04-A9D72F4AC0C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078" y="1489869"/>
            <a:ext cx="5509297" cy="45259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Hard prompt tuning</a:t>
            </a:r>
            <a:r>
              <a:rPr lang="en-US" sz="2000" dirty="0"/>
              <a:t> changes the wording of discrete text prompts, such as rephrasing an instruction like “Translate this to German,” so the prompt tokens themselves are not differentiable.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Soft prompt tuning</a:t>
            </a:r>
            <a:r>
              <a:rPr lang="en-US" sz="2000" dirty="0"/>
              <a:t> keeps the pretrained model frozen and learns a small set of continuous prompt embeddings through backpropagation.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</a:rPr>
              <a:t>These learned prompt vectors are attached to the input representation and act as task-specific signals for the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5A232B-B8CA-10D3-9335-C03535C2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Prompt Tuning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F5D6D-0C9D-ABEC-2F24-E1648478A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405" y="76201"/>
            <a:ext cx="615315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49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6BD57D-A97B-AFF5-E3C8-3E5850337E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0" y="1494131"/>
            <a:ext cx="6491141" cy="471270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Extends soft prompting by inserting trainable prefix vectors into all transformer layers instead of only the input embedding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However, these added vectors do not correspond to a specific word or token—</a:t>
            </a:r>
            <a:r>
              <a:rPr lang="en-US" sz="2000" i="1" dirty="0"/>
              <a:t>we train the entries of these vectors just like normal model parameters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freeze all model parameters and train only a small set of prefix token vectors added to the model’s input layer for each task.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These trainable prefix tokens can be shared across a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Many extensions exists.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135382-7230-6836-FDFC-A84A1FA2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Prefix tuning</a:t>
            </a: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25E56A8-D9C0-A86A-5B35-44EC1971D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503" y="247651"/>
            <a:ext cx="5070988" cy="623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F5A55C-85DE-03D9-F136-C83CD517374A}"/>
              </a:ext>
            </a:extLst>
          </p:cNvPr>
          <p:cNvSpPr txBox="1"/>
          <p:nvPr/>
        </p:nvSpPr>
        <p:spPr>
          <a:xfrm>
            <a:off x="80963" y="6488668"/>
            <a:ext cx="61245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Prefix-Tuning: Optimizing Continuous Prompts for Generation</a:t>
            </a:r>
          </a:p>
        </p:txBody>
      </p:sp>
    </p:spTree>
    <p:extLst>
      <p:ext uri="{BB962C8B-B14F-4D97-AF65-F5344CB8AC3E}">
        <p14:creationId xmlns:p14="http://schemas.microsoft.com/office/powerpoint/2010/main" val="3715099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E5729D-1B39-7F29-B152-515A65D145F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509370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Prefix tuning</a:t>
            </a:r>
            <a:r>
              <a:rPr lang="en-US" dirty="0"/>
              <a:t> adds extra task-specific information at several layers of the model. So, it changes more parts of the model than soft prompt tuning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Soft prompt tuning</a:t>
            </a:r>
            <a:r>
              <a:rPr lang="en-US" dirty="0"/>
              <a:t> changes only the input prompt embeddings. Because of this, soft prompt tuning trains fewer parameters and is easier to run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Prefix tuning may give better performance because it can influence the model more deeply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But it also needs more computation and may overfit more easily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Soft prompt tuning is more efficient, but its performance may be lower on difficult tasks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239F43-9253-37E7-0E7D-E5895D3E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 tuning  Vs Soft prompt tuning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7348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57A7E6-91D8-72E4-42F2-E13E4885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Adapters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B5FB2-0267-A1BF-5E38-4610F18055A3}"/>
              </a:ext>
            </a:extLst>
          </p:cNvPr>
          <p:cNvSpPr txBox="1"/>
          <p:nvPr/>
        </p:nvSpPr>
        <p:spPr>
          <a:xfrm>
            <a:off x="8170073" y="1144835"/>
            <a:ext cx="4045742" cy="412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Adapters are lightweight trainable modules inserted into a pretrained transformer.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pretrained backbone remains frozen; only adapter parameters are optimized.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standard bottleneck adapter performs down-projection, nonlinearity, and up-projection with a residual connection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1E312E5D-CB0B-4E2A-36D8-067411D55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" y="1085850"/>
            <a:ext cx="7865272" cy="40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637BEF-3C7E-C6E9-F30C-4D94CD6E8588}"/>
                  </a:ext>
                </a:extLst>
              </p:cNvPr>
              <p:cNvSpPr txBox="1"/>
              <p:nvPr/>
            </p:nvSpPr>
            <p:spPr>
              <a:xfrm>
                <a:off x="140493" y="5191470"/>
                <a:ext cx="11746706" cy="132343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Example: for hidden size 1024 and bottleneck size 24, </a:t>
                </a:r>
              </a:p>
              <a:p>
                <a:r>
                  <a:rPr lang="en-US" sz="2000" dirty="0"/>
                  <a:t>adapter weights = 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1024×24+24×1024=49,152</m:t>
                    </m:r>
                  </m:oMath>
                </a14:m>
                <a:r>
                  <a:rPr lang="en-US" sz="2000" dirty="0"/>
                  <a:t> parameters, excluding biases</a:t>
                </a:r>
              </a:p>
              <a:p>
                <a:r>
                  <a:rPr lang="en-US" sz="2000" dirty="0"/>
                  <a:t>In contrast, a single fully connected layer that reprojects a 1024-dim input into a 1,024-dim space would have 1,024 x 1024 = 1,048,576 parameters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637BEF-3C7E-C6E9-F30C-4D94CD6E8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93" y="5191470"/>
                <a:ext cx="11746706" cy="1323439"/>
              </a:xfrm>
              <a:prstGeom prst="rect">
                <a:avLst/>
              </a:prstGeom>
              <a:blipFill>
                <a:blip r:embed="rId4"/>
                <a:stretch>
                  <a:fillRect l="-519" t="-2765" b="-73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B8A6D83-D4B6-C8E2-E995-B06CE2CAF4B9}"/>
              </a:ext>
            </a:extLst>
          </p:cNvPr>
          <p:cNvSpPr txBox="1"/>
          <p:nvPr/>
        </p:nvSpPr>
        <p:spPr>
          <a:xfrm>
            <a:off x="140493" y="6574215"/>
            <a:ext cx="6115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https://magazine.sebastianraschka.com/p/finetuning-llms-with-adapters</a:t>
            </a:r>
          </a:p>
        </p:txBody>
      </p:sp>
    </p:spTree>
    <p:extLst>
      <p:ext uri="{BB962C8B-B14F-4D97-AF65-F5344CB8AC3E}">
        <p14:creationId xmlns:p14="http://schemas.microsoft.com/office/powerpoint/2010/main" val="3124896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207A76-A96F-4C1C-C624-97374BADA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Finetuning</a:t>
            </a:r>
            <a:endParaRPr lang="en-IN" dirty="0"/>
          </a:p>
        </p:txBody>
      </p:sp>
      <p:pic>
        <p:nvPicPr>
          <p:cNvPr id="6146" name="Picture 2" descr="Llm finetuning lora regular finetuning">
            <a:extLst>
              <a:ext uri="{FF2B5EF4-FFF2-40B4-BE49-F238E27FC236}">
                <a16:creationId xmlns:a16="http://schemas.microsoft.com/office/drawing/2014/main" id="{AA48172C-56FC-7030-F829-837B5252929E}"/>
              </a:ext>
            </a:extLst>
          </p:cNvPr>
          <p:cNvPicPr>
            <a:picLocks noGrp="1" noChangeAspect="1" noChangeArrowheads="1"/>
          </p:cNvPicPr>
          <p:nvPr>
            <p:ph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1035369"/>
            <a:ext cx="6610349" cy="331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FB16CF-3BBC-888E-28AB-981305C63DB6}"/>
              </a:ext>
            </a:extLst>
          </p:cNvPr>
          <p:cNvSpPr txBox="1"/>
          <p:nvPr/>
        </p:nvSpPr>
        <p:spPr>
          <a:xfrm>
            <a:off x="7696199" y="1219200"/>
            <a:ext cx="40862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dirty="0">
                <a:solidFill>
                  <a:srgbClr val="11111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Weight update</a:t>
            </a:r>
          </a:p>
          <a:p>
            <a:r>
              <a:rPr lang="el-GR" sz="2400" b="1" i="0" u="none" strike="noStrike" dirty="0">
                <a:solidFill>
                  <a:srgbClr val="11111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Δ</a:t>
            </a:r>
            <a:r>
              <a:rPr lang="en-IN" sz="2400" b="1" i="0" u="none" strike="noStrike" dirty="0">
                <a:solidFill>
                  <a:srgbClr val="11111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W=</a:t>
            </a:r>
            <a:r>
              <a:rPr lang="el-GR" sz="2400" b="1" i="0" u="none" strike="noStrike" dirty="0">
                <a:solidFill>
                  <a:srgbClr val="11111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α(−∇</a:t>
            </a:r>
            <a:r>
              <a:rPr lang="en-IN" sz="2400" b="1" i="0" u="none" strike="noStrike" dirty="0">
                <a:solidFill>
                  <a:srgbClr val="11111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en-IN" sz="2400" b="1" i="0" u="none" strike="noStrike" baseline="-25000" dirty="0">
                <a:solidFill>
                  <a:srgbClr val="11111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IN" sz="2400" b="1" i="0" u="none" strike="noStrike" dirty="0">
                <a:solidFill>
                  <a:srgbClr val="11111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endParaRPr lang="en-IN" sz="2400" b="1" dirty="0">
              <a:solidFill>
                <a:srgbClr val="11111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W′=W+</a:t>
            </a:r>
            <a:r>
              <a:rPr lang="el-GR" sz="2400" b="1" dirty="0">
                <a:latin typeface="Cambria" panose="02040503050406030204" pitchFamily="18" charset="0"/>
                <a:ea typeface="Cambria" panose="02040503050406030204" pitchFamily="18" charset="0"/>
              </a:rPr>
              <a:t>Δ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82BE4-959A-F09A-B170-B132A5B1A0E7}"/>
              </a:ext>
            </a:extLst>
          </p:cNvPr>
          <p:cNvSpPr txBox="1"/>
          <p:nvPr/>
        </p:nvSpPr>
        <p:spPr>
          <a:xfrm>
            <a:off x="2345974" y="4474214"/>
            <a:ext cx="64504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Alternatively, we can keep the weight update matrix separate and compute the outputs as follows:</a:t>
            </a:r>
          </a:p>
          <a:p>
            <a:r>
              <a:rPr lang="en-IN" sz="2400" b="1" i="0" u="none" strike="noStrike" dirty="0">
                <a:solidFill>
                  <a:srgbClr val="11111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h=W x+</a:t>
            </a:r>
            <a:r>
              <a:rPr lang="el-GR" sz="2400" b="1" i="0" u="none" strike="noStrike" dirty="0">
                <a:solidFill>
                  <a:srgbClr val="11111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Δ</a:t>
            </a:r>
            <a:r>
              <a:rPr lang="en-IN" sz="2400" b="1" i="0" u="none" strike="noStrike" dirty="0">
                <a:solidFill>
                  <a:srgbClr val="11111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 x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0B626B-34B5-A0FD-124F-058D8B90F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1801" y="2936476"/>
            <a:ext cx="2971678" cy="3503453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2B6629F8-5851-B2D8-2ABE-45A9BEDAB66E}"/>
              </a:ext>
            </a:extLst>
          </p:cNvPr>
          <p:cNvSpPr/>
          <p:nvPr/>
        </p:nvSpPr>
        <p:spPr>
          <a:xfrm>
            <a:off x="8279892" y="472408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D4EDDD-0609-9F00-09DE-C91C2A762EBC}"/>
              </a:ext>
            </a:extLst>
          </p:cNvPr>
          <p:cNvSpPr txBox="1"/>
          <p:nvPr/>
        </p:nvSpPr>
        <p:spPr>
          <a:xfrm>
            <a:off x="101812" y="5793598"/>
            <a:ext cx="8877300" cy="6463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Problem: W is huge (e.g., 4096x4096), which means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W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is also huge. Training this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W </a:t>
            </a: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directly is Full Finetuning</a:t>
            </a:r>
          </a:p>
        </p:txBody>
      </p:sp>
    </p:spTree>
    <p:extLst>
      <p:ext uri="{BB962C8B-B14F-4D97-AF65-F5344CB8AC3E}">
        <p14:creationId xmlns:p14="http://schemas.microsoft.com/office/powerpoint/2010/main" val="3008727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20457C9-C4CC-88B2-5BCC-ED4CDD9E2F00}"/>
                  </a:ext>
                </a:extLst>
              </p:cNvPr>
              <p:cNvSpPr>
                <a:spLocks noGrp="1"/>
              </p:cNvSpPr>
              <p:nvPr>
                <p:ph idx="10"/>
              </p:nvPr>
            </p:nvSpPr>
            <p:spPr>
              <a:xfrm>
                <a:off x="66675" y="1459499"/>
                <a:ext cx="11658600" cy="1969501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err="1"/>
                  <a:t>LoRA</a:t>
                </a:r>
                <a:r>
                  <a:rPr lang="en-US" sz="2000" dirty="0"/>
                  <a:t> assumes the adaptation update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 lies largely in a low-dimensional subspace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Instead of learning a full update matrix, </a:t>
                </a:r>
                <a:r>
                  <a:rPr lang="en-US" sz="2000" dirty="0" err="1"/>
                  <a:t>LoRA</a:t>
                </a:r>
                <a:r>
                  <a:rPr lang="en-US" sz="2000" dirty="0"/>
                  <a:t> learns two smaller matrices whose product approximates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This example builds intuition for why low-rank decompositions can reduce trainable parameters while retaining useful adaptation information.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IN" sz="2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20457C9-C4CC-88B2-5BCC-ED4CDD9E2F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xfrm>
                <a:off x="66675" y="1459499"/>
                <a:ext cx="11658600" cy="1969501"/>
              </a:xfrm>
              <a:blipFill>
                <a:blip r:embed="rId2"/>
                <a:stretch>
                  <a:fillRect l="-471" t="-1543" r="-7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2778D19-62FD-15B8-FFD3-4F7DCC0B3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Low-Rank Adaptation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D45B6-D16A-9F06-6DF3-0A9CDE9E917A}"/>
              </a:ext>
            </a:extLst>
          </p:cNvPr>
          <p:cNvSpPr txBox="1"/>
          <p:nvPr/>
        </p:nvSpPr>
        <p:spPr>
          <a:xfrm>
            <a:off x="309562" y="3193017"/>
            <a:ext cx="10876448" cy="16312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store this matrix, we need to save 9 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But look closer at the relationship between the rows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Row 2 is exactly 2 X Row 1 and row 3 is exactly 0.5 X Row 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There is actually only one unique row of information here (10, 20, 30)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Matrix Size is 3 X 3but Rows are dependent, so the matrix rank is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C5F9F4-7773-D8ED-2CDE-4D5D1109A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25" y="3480458"/>
            <a:ext cx="2209800" cy="1056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FD58F5-6C2D-858B-F1D9-D7550702079B}"/>
              </a:ext>
            </a:extLst>
          </p:cNvPr>
          <p:cNvSpPr txBox="1"/>
          <p:nvPr/>
        </p:nvSpPr>
        <p:spPr>
          <a:xfrm>
            <a:off x="466725" y="5162518"/>
            <a:ext cx="11515725" cy="12809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r>
              <a:rPr lang="en-US" b="1" dirty="0" err="1"/>
              <a:t>LoRA</a:t>
            </a:r>
            <a:r>
              <a:rPr lang="en-US" b="1" dirty="0"/>
              <a:t> exploits this</a:t>
            </a:r>
          </a:p>
          <a:p>
            <a:endParaRPr lang="en-US" b="1" dirty="0"/>
          </a:p>
          <a:p>
            <a:r>
              <a:rPr lang="en-US" dirty="0"/>
              <a:t>Related to PCA and SVD, where we approximate a high-dim matrix or dataset using a lower-dim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853243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0463CC57-128D-2455-EC87-5D8A91DB6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DDDAF3D8-F0AA-1330-68AF-B626216D44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r>
              <a:rPr lang="en-US" b="1" dirty="0"/>
              <a:t>Lo</a:t>
            </a:r>
            <a:r>
              <a:rPr lang="en-US" dirty="0"/>
              <a:t>w </a:t>
            </a:r>
            <a:r>
              <a:rPr lang="en-US" b="1" dirty="0"/>
              <a:t>R</a:t>
            </a:r>
            <a:r>
              <a:rPr lang="en-US" dirty="0"/>
              <a:t>ank </a:t>
            </a:r>
            <a:r>
              <a:rPr lang="en-US" b="1" dirty="0"/>
              <a:t>A</a:t>
            </a:r>
            <a:r>
              <a:rPr lang="en-US" dirty="0"/>
              <a:t>dapters - </a:t>
            </a:r>
            <a:r>
              <a:rPr lang="en-US" dirty="0" err="1"/>
              <a:t>LoRA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Google Shape;107;p15">
                <a:extLst>
                  <a:ext uri="{FF2B5EF4-FFF2-40B4-BE49-F238E27FC236}">
                    <a16:creationId xmlns:a16="http://schemas.microsoft.com/office/drawing/2014/main" id="{7C8D3158-D1DC-0D1D-D6F1-6BAEA69C6645}"/>
                  </a:ext>
                </a:extLst>
              </p:cNvPr>
              <p:cNvSpPr txBox="1">
                <a:spLocks noGrp="1"/>
              </p:cNvSpPr>
              <p:nvPr>
                <p:ph type="body" sz="quarter" idx="10"/>
              </p:nvPr>
            </p:nvSpPr>
            <p:spPr>
              <a:xfrm>
                <a:off x="159393" y="1445052"/>
                <a:ext cx="7679682" cy="2965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vert="horz" wrap="square" lIns="91425" tIns="45700" rIns="91425" bIns="45700" rtlCol="0" anchor="t" anchorCtr="0"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 err="1"/>
                  <a:t>LoRA</a:t>
                </a:r>
                <a:r>
                  <a:rPr lang="en-IN" sz="2000" dirty="0"/>
                  <a:t> freezes the pretrained weights and learns a low-rank update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20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l-G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Instead of learning a full update matrix, it learns two small matrices whose product approximates the update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en-US" sz="2000" dirty="0"/>
                  <a:t>Instead of learning W, </a:t>
                </a:r>
                <a:r>
                  <a:rPr lang="en-US" altLang="en-US" sz="2000" dirty="0" err="1"/>
                  <a:t>LoRA</a:t>
                </a:r>
                <a:r>
                  <a:rPr lang="en-US" altLang="en-US" sz="2000" dirty="0"/>
                  <a:t> learns two much smaller matrices,  W</a:t>
                </a:r>
                <a:r>
                  <a:rPr lang="en-US" altLang="en-US" sz="2000" baseline="-25000" dirty="0"/>
                  <a:t>A </a:t>
                </a:r>
                <a:r>
                  <a:rPr lang="en-US" altLang="en-US" sz="2000" dirty="0"/>
                  <a:t>and W</a:t>
                </a:r>
                <a:r>
                  <a:rPr lang="en-US" altLang="en-US" sz="2000" baseline="-25000" dirty="0"/>
                  <a:t>B</a:t>
                </a:r>
                <a:r>
                  <a:rPr lang="en-US" altLang="en-US" sz="2000" dirty="0"/>
                  <a:t>, such that </a:t>
                </a:r>
                <a:r>
                  <a:rPr lang="en-US" sz="2000" dirty="0"/>
                  <a:t> </a:t>
                </a:r>
                <a:r>
                  <a:rPr lang="el-GR" sz="2000" i="1" dirty="0"/>
                  <a:t>Δ</a:t>
                </a:r>
                <a:r>
                  <a:rPr lang="en-IN" sz="2000" i="1" dirty="0"/>
                  <a:t>W = W</a:t>
                </a:r>
                <a:r>
                  <a:rPr lang="en-IN" sz="2000" i="1" baseline="-25000" dirty="0"/>
                  <a:t>A </a:t>
                </a:r>
                <a:r>
                  <a:rPr lang="en-IN" sz="2000" i="1" dirty="0"/>
                  <a:t>W</a:t>
                </a:r>
                <a:r>
                  <a:rPr lang="en-IN" sz="2000" i="1" baseline="-25000" dirty="0"/>
                  <a:t>B</a:t>
                </a:r>
                <a:endParaRPr lang="en-US" sz="2000" baseline="-25000" dirty="0">
                  <a:solidFill>
                    <a:srgbClr val="0E0E0E"/>
                  </a:solidFill>
                  <a:effectLst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E0E0E"/>
                  </a:solidFill>
                  <a:effectLst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0E0E0E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07" name="Google Shape;107;p15">
                <a:extLst>
                  <a:ext uri="{FF2B5EF4-FFF2-40B4-BE49-F238E27FC236}">
                    <a16:creationId xmlns:a16="http://schemas.microsoft.com/office/drawing/2014/main" id="{7C8D3158-D1DC-0D1D-D6F1-6BAEA69C664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159393" y="1445052"/>
                <a:ext cx="7679682" cy="2965023"/>
              </a:xfrm>
              <a:prstGeom prst="rect">
                <a:avLst/>
              </a:prstGeom>
              <a:blipFill>
                <a:blip r:embed="rId3"/>
                <a:stretch>
                  <a:fillRect l="-714" t="-10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6E07AAF-4FE0-F463-0948-6141CB5853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94"/>
          <a:stretch/>
        </p:blipFill>
        <p:spPr>
          <a:xfrm>
            <a:off x="8237930" y="731425"/>
            <a:ext cx="3954070" cy="34624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FC02D3-36FA-1637-DEED-F2F782EAF0A5}"/>
              </a:ext>
            </a:extLst>
          </p:cNvPr>
          <p:cNvSpPr txBox="1"/>
          <p:nvPr/>
        </p:nvSpPr>
        <p:spPr>
          <a:xfrm>
            <a:off x="304801" y="3727128"/>
            <a:ext cx="7343774" cy="23083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en-US" sz="2400" dirty="0"/>
              <a:t>Pre-trained weight matrix :  W∈R</a:t>
            </a:r>
            <a:r>
              <a:rPr lang="en-US" altLang="en-US" sz="2400" baseline="30000" dirty="0"/>
              <a:t>A×B</a:t>
            </a:r>
          </a:p>
          <a:p>
            <a:r>
              <a:rPr lang="en-US" altLang="en-US" sz="2400" dirty="0"/>
              <a:t>Decompose weight update matrix into two smaller matrices: </a:t>
            </a:r>
          </a:p>
          <a:p>
            <a:r>
              <a:rPr lang="en-US" altLang="en-US" sz="2400" dirty="0"/>
              <a:t>ΔW=W</a:t>
            </a:r>
            <a:r>
              <a:rPr lang="en-US" altLang="en-US" sz="2400" baseline="-25000" dirty="0"/>
              <a:t>A</a:t>
            </a:r>
            <a:r>
              <a:rPr lang="en-US" altLang="en-US" sz="2400" dirty="0"/>
              <a:t> W</a:t>
            </a:r>
            <a:r>
              <a:rPr lang="en-US" altLang="en-US" sz="2400" baseline="-25000" dirty="0"/>
              <a:t>B</a:t>
            </a:r>
            <a:r>
              <a:rPr lang="en-US" altLang="en-US" sz="2400" dirty="0"/>
              <a:t>, where  </a:t>
            </a:r>
            <a:r>
              <a:rPr lang="en-US" altLang="en-US" sz="2400" dirty="0" err="1"/>
              <a:t>W</a:t>
            </a:r>
            <a:r>
              <a:rPr lang="en-US" altLang="en-US" sz="2400" baseline="-25000" dirty="0" err="1"/>
              <a:t>A</a:t>
            </a:r>
            <a:r>
              <a:rPr lang="en-US" altLang="en-US" sz="2400" dirty="0" err="1"/>
              <a:t>∈R</a:t>
            </a:r>
            <a:r>
              <a:rPr lang="en-US" altLang="en-US" sz="2400" baseline="30000" dirty="0" err="1"/>
              <a:t>A×r</a:t>
            </a:r>
            <a:r>
              <a:rPr lang="en-US" altLang="en-US" sz="2400" dirty="0"/>
              <a:t> and </a:t>
            </a:r>
            <a:r>
              <a:rPr lang="en-US" altLang="en-US" sz="2400" dirty="0" err="1"/>
              <a:t>W</a:t>
            </a:r>
            <a:r>
              <a:rPr lang="en-US" altLang="en-US" sz="2400" baseline="-25000" dirty="0" err="1"/>
              <a:t>B</a:t>
            </a:r>
            <a:r>
              <a:rPr lang="en-US" altLang="en-US" sz="2400" dirty="0" err="1"/>
              <a:t>∈R</a:t>
            </a:r>
            <a:r>
              <a:rPr lang="en-US" altLang="en-US" sz="2400" baseline="30000" dirty="0" err="1"/>
              <a:t>r×B</a:t>
            </a:r>
            <a:r>
              <a:rPr lang="en-US" altLang="en-US" sz="2400" dirty="0"/>
              <a:t> </a:t>
            </a:r>
          </a:p>
          <a:p>
            <a:r>
              <a:rPr lang="en-US" altLang="en-US" sz="2400" dirty="0"/>
              <a:t>Keep the original weight W frozen and only train the new matrices called LORA weights W</a:t>
            </a:r>
            <a:r>
              <a:rPr lang="en-US" altLang="en-US" sz="2400" baseline="-25000" dirty="0"/>
              <a:t>A</a:t>
            </a:r>
            <a:r>
              <a:rPr lang="en-US" altLang="en-US" sz="2400" dirty="0"/>
              <a:t> and W</a:t>
            </a:r>
            <a:r>
              <a:rPr lang="en-US" altLang="en-US" sz="2400" baseline="-25000" dirty="0"/>
              <a:t>B</a:t>
            </a:r>
            <a:endParaRPr lang="en-IN" sz="24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E2C2F9-80CA-B1CC-C798-C2C3C08624DC}"/>
                  </a:ext>
                </a:extLst>
              </p:cNvPr>
              <p:cNvSpPr txBox="1"/>
              <p:nvPr/>
            </p:nvSpPr>
            <p:spPr>
              <a:xfrm>
                <a:off x="7991475" y="4558124"/>
                <a:ext cx="4048124" cy="147732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IN" sz="1800" b="1" i="0" u="none" strike="noStrike" dirty="0">
                    <a:solidFill>
                      <a:srgbClr val="11111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h=W x+</a:t>
                </a:r>
                <a:r>
                  <a:rPr lang="el-GR" sz="1800" b="1" i="0" u="none" strike="noStrike" dirty="0">
                    <a:solidFill>
                      <a:srgbClr val="11111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Δ</a:t>
                </a:r>
                <a:r>
                  <a:rPr lang="en-IN" sz="1800" b="1" i="0" u="none" strike="noStrike" dirty="0">
                    <a:solidFill>
                      <a:srgbClr val="11111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W x</a:t>
                </a:r>
              </a:p>
              <a:p>
                <a:r>
                  <a:rPr lang="en-IN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 </a:t>
                </a:r>
                <a:r>
                  <a:rPr lang="en-IN" b="1" dirty="0">
                    <a:solidFill>
                      <a:srgbClr val="11111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= (W + </a:t>
                </a:r>
                <a:r>
                  <a:rPr lang="el-GR" b="1" dirty="0">
                    <a:solidFill>
                      <a:srgbClr val="11111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Δ</a:t>
                </a:r>
                <a:r>
                  <a:rPr lang="en-IN" b="1" dirty="0">
                    <a:solidFill>
                      <a:srgbClr val="11111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 )x </a:t>
                </a:r>
              </a:p>
              <a:p>
                <a:r>
                  <a:rPr lang="en-IN" b="1" dirty="0">
                    <a:solidFill>
                      <a:srgbClr val="11111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 = (W +  W</a:t>
                </a:r>
                <a:r>
                  <a:rPr lang="en-IN" b="1" baseline="-25000" dirty="0">
                    <a:solidFill>
                      <a:srgbClr val="11111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</a:t>
                </a:r>
                <a:r>
                  <a:rPr lang="en-IN" b="1" dirty="0">
                    <a:solidFill>
                      <a:srgbClr val="11111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W</a:t>
                </a:r>
                <a:r>
                  <a:rPr lang="en-IN" b="1" baseline="-25000" dirty="0">
                    <a:solidFill>
                      <a:srgbClr val="11111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</a:t>
                </a:r>
                <a:r>
                  <a:rPr lang="en-IN" b="1" dirty="0">
                    <a:solidFill>
                      <a:srgbClr val="11111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)x</a:t>
                </a:r>
              </a:p>
              <a:p>
                <a:r>
                  <a:rPr lang="en-IN" dirty="0">
                    <a:solidFill>
                      <a:srgbClr val="27251E"/>
                    </a:solidFill>
                    <a:latin typeface="pplxSerif"/>
                  </a:rPr>
                  <a:t>or, in standard notation,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𝐵𝐴</m:t>
                        </m:r>
                      </m:e>
                    </m:d>
                  </m:oMath>
                </a14:m>
                <a:endParaRPr lang="en-IN" b="1" dirty="0">
                  <a:solidFill>
                    <a:srgbClr val="11111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IN" b="1" dirty="0">
                    <a:solidFill>
                      <a:srgbClr val="11111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E2C2F9-80CA-B1CC-C798-C2C3C0862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475" y="4558124"/>
                <a:ext cx="4048124" cy="1477328"/>
              </a:xfrm>
              <a:prstGeom prst="rect">
                <a:avLst/>
              </a:prstGeom>
              <a:blipFill>
                <a:blip r:embed="rId5"/>
                <a:stretch>
                  <a:fillRect l="-1355" t="-28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803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71F5539-4A30-15B8-7EE9-85051240CA64}"/>
                  </a:ext>
                </a:extLst>
              </p:cNvPr>
              <p:cNvSpPr>
                <a:spLocks noGrp="1"/>
              </p:cNvSpPr>
              <p:nvPr>
                <p:ph idx="10"/>
              </p:nvPr>
            </p:nvSpPr>
            <p:spPr>
              <a:xfrm>
                <a:off x="304801" y="1326149"/>
                <a:ext cx="12658725" cy="4525963"/>
              </a:xfrm>
            </p:spPr>
            <p:txBody>
              <a:bodyPr>
                <a:normAutofit/>
              </a:bodyPr>
              <a:lstStyle/>
              <a:p>
                <a:r>
                  <a:rPr lang="en-IN" sz="2000" dirty="0"/>
                  <a:t>Full update: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20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l-GR" sz="20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10000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20000</m:t>
                        </m:r>
                      </m:sup>
                    </m:sSup>
                  </m:oMath>
                </a14:m>
                <a:r>
                  <a:rPr lang="ar-AE" sz="2000" dirty="0"/>
                  <a:t> </a:t>
                </a:r>
                <a:r>
                  <a:rPr lang="en-IN" sz="2000" dirty="0"/>
                  <a:t>requires 200,000,000 parameters</a:t>
                </a:r>
              </a:p>
              <a:p>
                <a:endParaRPr lang="en-IN" sz="2000" dirty="0"/>
              </a:p>
              <a:p>
                <a:r>
                  <a:rPr lang="en-IN" sz="2000" dirty="0"/>
                  <a:t>With </a:t>
                </a:r>
                <a:r>
                  <a:rPr lang="en-IN" sz="2000" dirty="0" err="1"/>
                  <a:t>LoRA</a:t>
                </a:r>
                <a:r>
                  <a:rPr lang="en-IN" sz="2000" dirty="0"/>
                  <a:t> rank 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IN" sz="2000" dirty="0"/>
                  <a:t>: 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10000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ar-AE" sz="2000" dirty="0"/>
                  <a:t>, </a:t>
                </a:r>
                <a14:m>
                  <m:oMath xmlns:m="http://schemas.openxmlformats.org/officeDocument/2006/math">
                    <m:r>
                      <a:rPr lang="ar-AE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20000</m:t>
                        </m:r>
                      </m:sup>
                    </m:sSup>
                  </m:oMath>
                </a14:m>
                <a:r>
                  <a:rPr lang="ar-AE" sz="2000" dirty="0"/>
                  <a:t>.</a:t>
                </a:r>
                <a:endParaRPr lang="en-US" sz="2000" dirty="0"/>
              </a:p>
              <a:p>
                <a:endParaRPr lang="ar-AE" sz="2000" dirty="0"/>
              </a:p>
              <a:p>
                <a:r>
                  <a:rPr lang="en-IN" sz="2000" dirty="0" err="1"/>
                  <a:t>LoRA</a:t>
                </a:r>
                <a:r>
                  <a:rPr lang="en-IN" sz="2000" dirty="0"/>
                  <a:t> parameters for this layer: </a:t>
                </a: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</a:rPr>
                      <m:t>10000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20000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240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en-IN" sz="2000" dirty="0"/>
                  <a:t>.</a:t>
                </a:r>
              </a:p>
              <a:p>
                <a:r>
                  <a:rPr lang="en-IN" sz="2000" dirty="0"/>
                  <a:t>This is a reduction of about </a:t>
                </a:r>
                <a:r>
                  <a:rPr lang="en-IN" sz="2000" b="1" dirty="0"/>
                  <a:t>99.88%</a:t>
                </a:r>
                <a:r>
                  <a:rPr lang="en-IN" sz="2000" dirty="0"/>
                  <a:t> compared with the full update for that layer</a:t>
                </a:r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71F5539-4A30-15B8-7EE9-85051240CA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xfrm>
                <a:off x="304801" y="1326149"/>
                <a:ext cx="12658725" cy="4525963"/>
              </a:xfrm>
              <a:blipFill>
                <a:blip r:embed="rId2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2C6C375-A548-77EB-54CF-C1DCDDA67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C06C50-3034-66FC-A072-7BCDDF687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874" y="3429000"/>
            <a:ext cx="6842325" cy="281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54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F212B71-66C1-A1BD-D5A9-F52722C160BA}"/>
                  </a:ext>
                </a:extLst>
              </p:cNvPr>
              <p:cNvSpPr>
                <a:spLocks noGrp="1"/>
              </p:cNvSpPr>
              <p:nvPr>
                <p:ph idx="10"/>
              </p:nvPr>
            </p:nvSpPr>
            <p:spPr>
              <a:xfrm>
                <a:off x="142875" y="1449974"/>
                <a:ext cx="7426968" cy="4997125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IN" b="1" dirty="0"/>
                  <a:t>Initialization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Create two small matrices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dirty="0"/>
                  <a:t> and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IN" dirty="0"/>
                  <a:t> for the target layer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Initialize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dirty="0"/>
                  <a:t> randomly and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IN" dirty="0"/>
                  <a:t> to zero, so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𝐵𝐴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dirty="0"/>
                  <a:t> at the start of training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Therefore, the model initially behaves exactly like the original pretrained model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b="1" dirty="0"/>
                  <a:t>Forward pass:</a:t>
                </a:r>
                <a:r>
                  <a:rPr lang="en-IN" dirty="0"/>
                  <a:t> layer output is the sum of the frozen base term and the </a:t>
                </a:r>
                <a:r>
                  <a:rPr lang="en-IN" dirty="0" err="1"/>
                  <a:t>LoRA</a:t>
                </a:r>
                <a:r>
                  <a:rPr lang="en-IN" dirty="0"/>
                  <a:t> update: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𝑊𝑥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ar-AE" i="1">
                        <a:latin typeface="Cambria Math" panose="02040503050406030204" pitchFamily="18" charset="0"/>
                      </a:rPr>
                      <m:t>𝐵𝐴𝑥</m:t>
                    </m:r>
                  </m:oMath>
                </a14:m>
                <a:r>
                  <a:rPr lang="ar-AE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b="1" dirty="0"/>
                  <a:t>Role of hyperparameters:</a:t>
                </a:r>
                <a:r>
                  <a:rPr lang="en-IN" dirty="0"/>
                  <a:t>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IN" dirty="0"/>
                  <a:t> controls the rank of the low-rank update, while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dirty="0"/>
                  <a:t> controls its scale through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ar-AE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b="1" dirty="0"/>
                  <a:t>Backward pass:</a:t>
                </a:r>
                <a:r>
                  <a:rPr lang="en-IN" dirty="0"/>
                  <a:t> Only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dirty="0"/>
                  <a:t> and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IN" dirty="0"/>
                  <a:t> are optimized; pretrained weights remain frozen.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IN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F212B71-66C1-A1BD-D5A9-F52722C16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xfrm>
                <a:off x="142875" y="1449974"/>
                <a:ext cx="7426968" cy="4997125"/>
              </a:xfrm>
              <a:blipFill>
                <a:blip r:embed="rId3"/>
                <a:stretch>
                  <a:fillRect l="-1231" t="-1707" r="-1805" b="-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572A4DC-5CF4-79FB-1730-C5700A80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LoRA</a:t>
            </a:r>
            <a:r>
              <a:rPr lang="en-US" dirty="0"/>
              <a:t> finetuning process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B86428-240E-4DF1-EA7B-C97AB362C6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94"/>
          <a:stretch/>
        </p:blipFill>
        <p:spPr>
          <a:xfrm>
            <a:off x="8095055" y="1067091"/>
            <a:ext cx="3954070" cy="34624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7282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720610C-107E-C865-B620-72F34487534F}"/>
                  </a:ext>
                </a:extLst>
              </p:cNvPr>
              <p:cNvSpPr>
                <a:spLocks noGrp="1"/>
              </p:cNvSpPr>
              <p:nvPr>
                <p:ph idx="10"/>
              </p:nvPr>
            </p:nvSpPr>
            <p:spPr>
              <a:xfrm>
                <a:off x="104774" y="1421399"/>
                <a:ext cx="12087225" cy="4525963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One shared base model can serve many task-specific </a:t>
                </a:r>
                <a:r>
                  <a:rPr lang="en-IN" dirty="0" err="1"/>
                  <a:t>LoRA</a:t>
                </a:r>
                <a:r>
                  <a:rPr lang="en-IN" dirty="0"/>
                  <a:t> adapters.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Different adapter requests can be handled efficiently in the same serving system.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For task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dirty="0"/>
                  <a:t>: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Store </a:t>
                </a:r>
                <a:r>
                  <a:rPr lang="en-IN" b="1" dirty="0"/>
                  <a:t>1 base model + N </a:t>
                </a:r>
                <a:r>
                  <a:rPr lang="en-IN" b="1" dirty="0" err="1"/>
                  <a:t>LoRA</a:t>
                </a:r>
                <a:r>
                  <a:rPr lang="en-IN" b="1" dirty="0"/>
                  <a:t> adapters</a:t>
                </a:r>
                <a:r>
                  <a:rPr lang="en-IN" dirty="0"/>
                  <a:t>, instead of </a:t>
                </a:r>
                <a:r>
                  <a:rPr lang="en-IN" b="1" dirty="0"/>
                  <a:t>N full fine-tuned models</a:t>
                </a:r>
                <a:endParaRPr lang="en-I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720610C-107E-C865-B620-72F344875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xfrm>
                <a:off x="104774" y="1421399"/>
                <a:ext cx="12087225" cy="4525963"/>
              </a:xfrm>
              <a:blipFill>
                <a:blip r:embed="rId2"/>
                <a:stretch>
                  <a:fillRect l="-656" t="-10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E0C3BAC-E0EB-4010-795A-2F9DCE0B3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Multi-tenant serving - </a:t>
            </a:r>
            <a:r>
              <a:rPr lang="en-US" dirty="0" err="1">
                <a:solidFill>
                  <a:srgbClr val="282828"/>
                </a:solidFill>
              </a:rPr>
              <a:t>LoRA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2F4FC5-B24B-87EA-A608-A67113C8F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1" y="3429000"/>
            <a:ext cx="6362700" cy="278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98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304801" y="3157538"/>
            <a:ext cx="11216401" cy="322663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rgbClr val="363737"/>
                </a:solidFill>
              </a:rPr>
              <a:t> </a:t>
            </a:r>
            <a:r>
              <a:rPr lang="en-US" dirty="0">
                <a:solidFill>
                  <a:srgbClr val="363737"/>
                </a:solidFill>
              </a:rPr>
              <a:t>Quantization 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04801" y="1463318"/>
            <a:ext cx="115491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Quantization is the process of reducing the precision of a model's parameters (e.g., from 32-bit floating point to 8-bit integer) to reduce model size and latency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262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C417FA-B291-8651-3091-197CC249B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QLoRA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F9366E-003F-1364-B3AE-4C42AA06C7DB}"/>
              </a:ext>
            </a:extLst>
          </p:cNvPr>
          <p:cNvSpPr txBox="1"/>
          <p:nvPr/>
        </p:nvSpPr>
        <p:spPr>
          <a:xfrm>
            <a:off x="119062" y="1357849"/>
            <a:ext cx="1195387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PEFT on a quantized model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Load the massive pre-trained model in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4-bit precision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(heavily compressed)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But add trainable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LoRA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adapters in standard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16-bit precision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3 specific technical tricks to make this hybrid precision work without losing accuracy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 new data type: 4-bit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NormalFloat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(NF4)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Designed to be information-theoretically optimal for normally distributed neural-network weights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Double Quantization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Quantization uses 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quantization constants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(scales) to reconstruct compressed values, and these constants also consume memory.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QLoRA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further 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quantizes those quantization constants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to reduce memory overhead.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Paged Optimizers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These use 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CUDA unified memory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 so optimizer states can be paged between GPU memory and CPU memory when GPU memory becomes tight.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helps prevent 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training crashes during memory spikes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259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6EC868-1690-6A03-83C1-D84B8B566F6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1925" y="1449974"/>
            <a:ext cx="6076950" cy="452596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Compression:</a:t>
            </a:r>
            <a:r>
              <a:rPr lang="en-US" sz="2000" dirty="0"/>
              <a:t> The pretrained base model is stored in frozen </a:t>
            </a:r>
            <a:r>
              <a:rPr lang="en-US" sz="2000" b="1" dirty="0"/>
              <a:t>4-bit NF4</a:t>
            </a:r>
            <a:r>
              <a:rPr lang="en-US" sz="2000" dirty="0"/>
              <a:t> 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Adapter injection:</a:t>
            </a:r>
            <a:r>
              <a:rPr lang="en-US" sz="2000" dirty="0"/>
              <a:t> Small trainable </a:t>
            </a:r>
            <a:r>
              <a:rPr lang="en-US" sz="2000" dirty="0" err="1"/>
              <a:t>LoRA</a:t>
            </a:r>
            <a:r>
              <a:rPr lang="en-US" sz="2000" dirty="0"/>
              <a:t> matrices are added in a higher-precision format, typically </a:t>
            </a:r>
            <a:r>
              <a:rPr lang="en-US" sz="2000" b="1" dirty="0"/>
              <a:t>bf16/fp16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Forward pass:</a:t>
            </a:r>
            <a:r>
              <a:rPr lang="en-US" sz="2000" dirty="0"/>
              <a:t> Quantized base weights are </a:t>
            </a:r>
            <a:r>
              <a:rPr lang="en-US" sz="2000" b="1" dirty="0"/>
              <a:t>dequantized on the fly</a:t>
            </a:r>
            <a:r>
              <a:rPr lang="en-US" sz="2000" dirty="0"/>
              <a:t> to the compute precision for matrix operations, then discarded after 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Backward pass:</a:t>
            </a:r>
            <a:r>
              <a:rPr lang="en-US" sz="2000" dirty="0"/>
              <a:t> Gradients flow through the computation, but </a:t>
            </a:r>
            <a:r>
              <a:rPr lang="en-US" sz="2000" b="1" dirty="0"/>
              <a:t>only the </a:t>
            </a:r>
            <a:r>
              <a:rPr lang="en-US" sz="2000" b="1" dirty="0" err="1"/>
              <a:t>LoRA</a:t>
            </a:r>
            <a:r>
              <a:rPr lang="en-US" sz="2000" b="1" dirty="0"/>
              <a:t> adapter weights are updated</a:t>
            </a:r>
            <a:r>
              <a:rPr lang="en-US" sz="2000" dirty="0"/>
              <a:t>; the base weights remain frozen.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Benefit:</a:t>
            </a:r>
            <a:r>
              <a:rPr lang="en-US" sz="2000" dirty="0"/>
              <a:t> </a:t>
            </a:r>
            <a:r>
              <a:rPr lang="en-US" sz="2000" dirty="0" err="1"/>
              <a:t>QLoRA</a:t>
            </a:r>
            <a:r>
              <a:rPr lang="en-US" sz="2000" dirty="0"/>
              <a:t> achieves memory-efficient fine-tuning while preserving performance close to higher-precision </a:t>
            </a:r>
            <a:r>
              <a:rPr lang="en-US" sz="2000" dirty="0" err="1"/>
              <a:t>LoRA</a:t>
            </a:r>
            <a:r>
              <a:rPr lang="en-US" sz="2000" dirty="0"/>
              <a:t> or full fine-tuning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9E023D-480F-FCBC-ABBB-34E93B07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QLoRA</a:t>
            </a:r>
            <a:r>
              <a:rPr lang="en-US" dirty="0"/>
              <a:t> fine-tuning</a:t>
            </a:r>
            <a:endParaRPr lang="en-IN" dirty="0"/>
          </a:p>
        </p:txBody>
      </p:sp>
      <p:pic>
        <p:nvPicPr>
          <p:cNvPr id="4" name="Picture 2" descr="QLoRA is LoRA with quantized pretrained weights">
            <a:extLst>
              <a:ext uri="{FF2B5EF4-FFF2-40B4-BE49-F238E27FC236}">
                <a16:creationId xmlns:a16="http://schemas.microsoft.com/office/drawing/2014/main" id="{F0A26328-83D0-922D-ED14-559E8FBD1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912" y="2962275"/>
            <a:ext cx="5730163" cy="236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0516BF-7A52-25E7-4409-227E8483FB86}"/>
              </a:ext>
            </a:extLst>
          </p:cNvPr>
          <p:cNvSpPr txBox="1"/>
          <p:nvPr/>
        </p:nvSpPr>
        <p:spPr>
          <a:xfrm>
            <a:off x="7208901" y="1580210"/>
            <a:ext cx="45053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1A1A1A"/>
                </a:solidFill>
                <a:effectLst/>
                <a:latin typeface="NVIDIA"/>
              </a:rPr>
              <a:t>QLoRA</a:t>
            </a:r>
            <a:r>
              <a:rPr lang="en-US" b="0" i="0" dirty="0">
                <a:solidFill>
                  <a:srgbClr val="1A1A1A"/>
                </a:solidFill>
                <a:effectLst/>
                <a:latin typeface="NVIDIA"/>
              </a:rPr>
              <a:t> is </a:t>
            </a:r>
            <a:r>
              <a:rPr lang="en-US" b="0" i="0" dirty="0" err="1">
                <a:solidFill>
                  <a:srgbClr val="1A1A1A"/>
                </a:solidFill>
                <a:effectLst/>
                <a:latin typeface="NVIDIA"/>
              </a:rPr>
              <a:t>LoRA</a:t>
            </a:r>
            <a:r>
              <a:rPr lang="en-US" b="0" i="0" dirty="0">
                <a:solidFill>
                  <a:srgbClr val="1A1A1A"/>
                </a:solidFill>
                <a:effectLst/>
                <a:latin typeface="NVIDIA"/>
              </a:rPr>
              <a:t> with quantized linear layers in the base model. The adapters are identical to those of </a:t>
            </a:r>
            <a:r>
              <a:rPr lang="en-US" b="0" i="0" dirty="0" err="1">
                <a:solidFill>
                  <a:srgbClr val="1A1A1A"/>
                </a:solidFill>
                <a:effectLst/>
                <a:latin typeface="NVIDIA"/>
              </a:rPr>
              <a:t>LoRA</a:t>
            </a:r>
            <a:r>
              <a:rPr lang="en-US" b="0" i="0" dirty="0">
                <a:solidFill>
                  <a:srgbClr val="1A1A1A"/>
                </a:solidFill>
                <a:effectLst/>
                <a:latin typeface="NVIDIA"/>
              </a:rPr>
              <a:t> and kept in higher precision (BF16) during </a:t>
            </a:r>
            <a:r>
              <a:rPr lang="en-US" b="0" i="0" dirty="0" err="1">
                <a:solidFill>
                  <a:srgbClr val="1A1A1A"/>
                </a:solidFill>
                <a:effectLst/>
                <a:latin typeface="NVIDIA"/>
              </a:rPr>
              <a:t>QLoRA</a:t>
            </a:r>
            <a:r>
              <a:rPr lang="en-US" b="0" i="0" dirty="0">
                <a:solidFill>
                  <a:srgbClr val="1A1A1A"/>
                </a:solidFill>
                <a:effectLst/>
                <a:latin typeface="NVIDIA"/>
              </a:rPr>
              <a:t> training.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9B4B9-61F6-5638-8EC6-14D1A7927067}"/>
              </a:ext>
            </a:extLst>
          </p:cNvPr>
          <p:cNvSpPr txBox="1"/>
          <p:nvPr/>
        </p:nvSpPr>
        <p:spPr>
          <a:xfrm>
            <a:off x="142875" y="6554609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Image credits : https://docs.nvidia.com/nemo-framework/user-guide/24.09/sft_peft/qlora.html</a:t>
            </a:r>
          </a:p>
        </p:txBody>
      </p:sp>
    </p:spTree>
    <p:extLst>
      <p:ext uri="{BB962C8B-B14F-4D97-AF65-F5344CB8AC3E}">
        <p14:creationId xmlns:p14="http://schemas.microsoft.com/office/powerpoint/2010/main" val="4229665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5FA1F3-2EDC-0CB3-E6A0-557C54C3DA7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50" y="1526174"/>
            <a:ext cx="6905625" cy="452596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 merging combines two or more </a:t>
            </a:r>
            <a:r>
              <a:rPr lang="en-US" b="1" dirty="0"/>
              <a:t>compatible fine-tuned models or adapters</a:t>
            </a:r>
            <a:r>
              <a:rPr lang="en-US" dirty="0"/>
              <a:t> into a single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most effective when the models share the </a:t>
            </a:r>
            <a:r>
              <a:rPr lang="en-US" b="1" dirty="0"/>
              <a:t>same base architecture</a:t>
            </a:r>
            <a:r>
              <a:rPr lang="en-US" dirty="0"/>
              <a:t>, and often the same base checkpoint.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Unlike </a:t>
            </a:r>
            <a:r>
              <a:rPr lang="en-US" dirty="0" err="1"/>
              <a:t>ensembling</a:t>
            </a:r>
            <a:r>
              <a:rPr lang="en-US" dirty="0"/>
              <a:t>, merging produces </a:t>
            </a:r>
            <a:r>
              <a:rPr lang="en-US" b="1" dirty="0"/>
              <a:t>one deployable model</a:t>
            </a:r>
            <a:r>
              <a:rPr lang="en-US" dirty="0"/>
              <a:t>, so inference cost does not scale with the number of source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simple example is </a:t>
            </a:r>
            <a:r>
              <a:rPr lang="en-US" b="1" dirty="0"/>
              <a:t>linear weight averaging</a:t>
            </a:r>
            <a:r>
              <a:rPr lang="en-US" dirty="0"/>
              <a:t>, where corresponding parameters from multiple fine-tuned models are averaged.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Model Soups</a:t>
            </a:r>
            <a:r>
              <a:rPr lang="en-US" dirty="0"/>
              <a:t> paper showed that averaging multiple fine-tuned models can improve accuracy and robustness </a:t>
            </a:r>
            <a:r>
              <a:rPr lang="en-US" b="1" dirty="0"/>
              <a:t>without increasing inference time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53E5E7-3589-AEF5-6699-4A529BC1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38100"/>
            <a:ext cx="10881209" cy="1219200"/>
          </a:xfrm>
        </p:spPr>
        <p:txBody>
          <a:bodyPr>
            <a:normAutofit/>
          </a:bodyPr>
          <a:lstStyle/>
          <a:p>
            <a:r>
              <a:rPr lang="en-IN" sz="2800" dirty="0"/>
              <a:t>Model Merging: Combining Fine-Tuned Models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195EEB0-1082-AAB7-2EE3-3E56EC31C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221" y="3152775"/>
            <a:ext cx="4856478" cy="274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F111FD-D2FF-CC77-2531-0D0CEC9C8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647" y="607536"/>
            <a:ext cx="3814676" cy="2424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BA228D-EB31-D5D2-6C49-AD02CC6C911E}"/>
              </a:ext>
            </a:extLst>
          </p:cNvPr>
          <p:cNvSpPr txBox="1"/>
          <p:nvPr/>
        </p:nvSpPr>
        <p:spPr>
          <a:xfrm>
            <a:off x="95250" y="620806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Model soups: averaging weights of multiple fine-tuned </a:t>
            </a:r>
            <a:r>
              <a:rPr lang="en-IN" sz="1200" dirty="0" err="1"/>
              <a:t>modelsimproves</a:t>
            </a:r>
            <a:r>
              <a:rPr lang="en-IN" sz="1200" dirty="0"/>
              <a:t> accuracy without increasing inference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D0B9B-A26F-A246-5AF6-BC3363A16E30}"/>
              </a:ext>
            </a:extLst>
          </p:cNvPr>
          <p:cNvSpPr txBox="1"/>
          <p:nvPr/>
        </p:nvSpPr>
        <p:spPr>
          <a:xfrm>
            <a:off x="6772275" y="6205012"/>
            <a:ext cx="5191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Image credits : https://lightning.ai/lightning-ai/templates/efficient-linear-model-merging-for-llms?section=featured</a:t>
            </a:r>
          </a:p>
        </p:txBody>
      </p:sp>
    </p:spTree>
    <p:extLst>
      <p:ext uri="{BB962C8B-B14F-4D97-AF65-F5344CB8AC3E}">
        <p14:creationId xmlns:p14="http://schemas.microsoft.com/office/powerpoint/2010/main" val="2190750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Book chapters: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Hands-On Large Language Models: Language Understanding and Generation Book by Jay </a:t>
            </a:r>
            <a:r>
              <a:rPr lang="en-US" dirty="0" err="1"/>
              <a:t>Alammar</a:t>
            </a:r>
            <a:r>
              <a:rPr lang="en-US" dirty="0"/>
              <a:t> and Maarten </a:t>
            </a:r>
            <a:r>
              <a:rPr lang="en-US" dirty="0" err="1"/>
              <a:t>Grootendorst</a:t>
            </a:r>
            <a:r>
              <a:rPr lang="en-US" dirty="0"/>
              <a:t> – </a:t>
            </a:r>
            <a:r>
              <a:rPr lang="en-US" dirty="0" err="1"/>
              <a:t>Ch</a:t>
            </a:r>
            <a:r>
              <a:rPr lang="en-US" dirty="0"/>
              <a:t> 12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Speech and Language Processing by Daniel </a:t>
            </a:r>
            <a:r>
              <a:rPr lang="en-US" dirty="0" err="1"/>
              <a:t>Jurafsky</a:t>
            </a:r>
            <a:r>
              <a:rPr lang="en-US" dirty="0"/>
              <a:t> and James H. Martin - </a:t>
            </a:r>
            <a:r>
              <a:rPr lang="en-US" dirty="0" err="1"/>
              <a:t>Ch</a:t>
            </a:r>
            <a:r>
              <a:rPr lang="en-US" dirty="0"/>
              <a:t> -7 and 10 </a:t>
            </a:r>
          </a:p>
          <a:p>
            <a:r>
              <a:rPr lang="en-US" dirty="0"/>
              <a:t>Web references: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https://lightning.ai/pages/community/tutorial/lora-llm/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https://lightning.ai/pages/community/article/understanding-llama-adapters/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https://magazine.sebastianraschka.com/p/practical-tips-for-finetuning-llms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https://magazine.sebastianraschka.com/p/llm-research-insights-instruction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https://lightning.ai/pages/community/article/understanding-llama-adapters/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075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24495" y="1467950"/>
            <a:ext cx="11775583" cy="4525963"/>
          </a:xfrm>
        </p:spPr>
        <p:txBody>
          <a:bodyPr>
            <a:noAutofit/>
          </a:bodyPr>
          <a:lstStyle/>
          <a:p>
            <a:r>
              <a:rPr lang="en-US" sz="2000" dirty="0"/>
              <a:t> Research Papers: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Prefix-Tuning: Optimizing Continuous Prompts for Generation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Parameter-Efficient Transfer Learning for NLP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Multitask Prompted Training Enables Zero-shot Task Generalization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LORA: LOW-RANK ADAPTATION OF LARGE LANGUAGE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QLORA:Efficient</a:t>
            </a:r>
            <a:r>
              <a:rPr lang="en-US" sz="2000" dirty="0"/>
              <a:t> Finetuning of Quantized LLMs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Model soups: averaging weights of multiple fine-tuned </a:t>
            </a:r>
            <a:r>
              <a:rPr lang="en-IN" sz="2000" dirty="0" err="1"/>
              <a:t>modelsimproves</a:t>
            </a:r>
            <a:r>
              <a:rPr lang="en-IN" sz="2000" dirty="0"/>
              <a:t> accuracy without increasing inference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cross task generalization via natural language crowdsourcing instructions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Question Answering on </a:t>
            </a:r>
            <a:r>
              <a:rPr lang="en-US" sz="2000" dirty="0" err="1"/>
              <a:t>SQuAD</a:t>
            </a:r>
            <a:r>
              <a:rPr lang="en-US" sz="2000" dirty="0"/>
              <a:t> 2.0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SELF-INSTRUCT: Aligning Language Models with Self-Generated Instructions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SUPER-NATURALINSTRUCTIONS: Generalization via Declarative Instructions on 1600+ NLP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Power of Scale for Parameter-Efficient Prompt Tuning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LLAMA-ADAPTER: EFFICIENT FINE-TUNING OF LARGE LANGUAGE MODELS WITH ZERO-INITIALIZED ATTENTION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3325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2460</Words>
  <Application>Microsoft Office PowerPoint</Application>
  <PresentationFormat>Widescreen</PresentationFormat>
  <Paragraphs>240</Paragraphs>
  <Slides>28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Arial</vt:lpstr>
      <vt:lpstr>Arial MT</vt:lpstr>
      <vt:lpstr>Calibri</vt:lpstr>
      <vt:lpstr>Calibri Light</vt:lpstr>
      <vt:lpstr>Cambria</vt:lpstr>
      <vt:lpstr>Cambria Math</vt:lpstr>
      <vt:lpstr>Montserrat</vt:lpstr>
      <vt:lpstr>NVIDIA</vt:lpstr>
      <vt:lpstr>pplxSerif</vt:lpstr>
      <vt:lpstr>Tahoma</vt:lpstr>
      <vt:lpstr>Times New Roman</vt:lpstr>
      <vt:lpstr>Titillium Web</vt:lpstr>
      <vt:lpstr>Office Theme</vt:lpstr>
      <vt:lpstr>1_Office Theme</vt:lpstr>
      <vt:lpstr>Large Language Models for Generative AI</vt:lpstr>
      <vt:lpstr>Large Language Models for Generative AI</vt:lpstr>
      <vt:lpstr>Agenda</vt:lpstr>
      <vt:lpstr>Fine-tuning</vt:lpstr>
      <vt:lpstr>Fine tuning</vt:lpstr>
      <vt:lpstr>Few shot learning</vt:lpstr>
      <vt:lpstr>Instruction fine tuning</vt:lpstr>
      <vt:lpstr>IFT Data Preparation</vt:lpstr>
      <vt:lpstr>Dataset schema</vt:lpstr>
      <vt:lpstr>SELF-INSTRUCT</vt:lpstr>
      <vt:lpstr>Parameter efficient fine-tuning (PEFT) Why? GPUs don’t grow on trees </vt:lpstr>
      <vt:lpstr>Parameter efficient fine-tuning (PEFT)</vt:lpstr>
      <vt:lpstr>Prompt Tuning</vt:lpstr>
      <vt:lpstr>Prefix tuning</vt:lpstr>
      <vt:lpstr>Prefix tuning  Vs Soft prompt tuning </vt:lpstr>
      <vt:lpstr>Adapters</vt:lpstr>
      <vt:lpstr>Regular Finetuning</vt:lpstr>
      <vt:lpstr>Low-Rank Adaptation </vt:lpstr>
      <vt:lpstr>Low Rank Adapters - LoRA</vt:lpstr>
      <vt:lpstr>Example</vt:lpstr>
      <vt:lpstr>LoRA finetuning process</vt:lpstr>
      <vt:lpstr>Multi-tenant serving - LoRA</vt:lpstr>
      <vt:lpstr> Quantization </vt:lpstr>
      <vt:lpstr>QLoRA</vt:lpstr>
      <vt:lpstr>QLoRA fine-tuning</vt:lpstr>
      <vt:lpstr>Model Merging: Combining Fine-Tuned Models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2025-12-06T05:25:13Z</dcterms:created>
  <dcterms:modified xsi:type="dcterms:W3CDTF">2026-05-15T12:26:21Z</dcterms:modified>
</cp:coreProperties>
</file>