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674" r:id="rId2"/>
  </p:sldMasterIdLst>
  <p:notesMasterIdLst>
    <p:notesMasterId r:id="rId57"/>
  </p:notesMasterIdLst>
  <p:sldIdLst>
    <p:sldId id="257" r:id="rId3"/>
    <p:sldId id="441" r:id="rId4"/>
    <p:sldId id="262" r:id="rId5"/>
    <p:sldId id="476" r:id="rId6"/>
    <p:sldId id="377" r:id="rId7"/>
    <p:sldId id="442" r:id="rId8"/>
    <p:sldId id="421" r:id="rId9"/>
    <p:sldId id="472" r:id="rId10"/>
    <p:sldId id="462" r:id="rId11"/>
    <p:sldId id="466" r:id="rId12"/>
    <p:sldId id="468" r:id="rId13"/>
    <p:sldId id="471" r:id="rId14"/>
    <p:sldId id="477" r:id="rId15"/>
    <p:sldId id="469" r:id="rId16"/>
    <p:sldId id="438" r:id="rId17"/>
    <p:sldId id="393" r:id="rId18"/>
    <p:sldId id="437" r:id="rId19"/>
    <p:sldId id="433" r:id="rId20"/>
    <p:sldId id="432" r:id="rId21"/>
    <p:sldId id="434" r:id="rId22"/>
    <p:sldId id="478" r:id="rId23"/>
    <p:sldId id="475" r:id="rId24"/>
    <p:sldId id="450" r:id="rId25"/>
    <p:sldId id="480" r:id="rId26"/>
    <p:sldId id="473" r:id="rId27"/>
    <p:sldId id="464" r:id="rId28"/>
    <p:sldId id="482" r:id="rId29"/>
    <p:sldId id="474" r:id="rId30"/>
    <p:sldId id="446" r:id="rId31"/>
    <p:sldId id="427" r:id="rId32"/>
    <p:sldId id="407" r:id="rId33"/>
    <p:sldId id="415" r:id="rId34"/>
    <p:sldId id="408" r:id="rId35"/>
    <p:sldId id="416" r:id="rId36"/>
    <p:sldId id="484" r:id="rId37"/>
    <p:sldId id="417" r:id="rId38"/>
    <p:sldId id="479" r:id="rId39"/>
    <p:sldId id="306" r:id="rId40"/>
    <p:sldId id="460" r:id="rId41"/>
    <p:sldId id="396" r:id="rId42"/>
    <p:sldId id="397" r:id="rId43"/>
    <p:sldId id="398" r:id="rId44"/>
    <p:sldId id="399" r:id="rId45"/>
    <p:sldId id="360" r:id="rId46"/>
    <p:sldId id="367" r:id="rId47"/>
    <p:sldId id="463" r:id="rId48"/>
    <p:sldId id="368" r:id="rId49"/>
    <p:sldId id="400" r:id="rId50"/>
    <p:sldId id="401" r:id="rId51"/>
    <p:sldId id="402" r:id="rId52"/>
    <p:sldId id="403" r:id="rId53"/>
    <p:sldId id="404" r:id="rId54"/>
    <p:sldId id="405" r:id="rId55"/>
    <p:sldId id="406"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05" autoAdjust="0"/>
    <p:restoredTop sz="79319" autoAdjust="0"/>
  </p:normalViewPr>
  <p:slideViewPr>
    <p:cSldViewPr snapToGrid="0">
      <p:cViewPr varScale="1">
        <p:scale>
          <a:sx n="59" d="100"/>
          <a:sy n="59" d="100"/>
        </p:scale>
        <p:origin x="90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6311DD-96BC-48D8-A887-C0241ACEBCEC}" type="datetimeFigureOut">
              <a:rPr lang="en-IN" smtClean="0"/>
              <a:t>30-04-2026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AD1180-89B7-4B77-82A2-F71C55345F5A}" type="slidenum">
              <a:rPr lang="en-IN" smtClean="0"/>
              <a:t>‹#›</a:t>
            </a:fld>
            <a:endParaRPr lang="en-IN"/>
          </a:p>
        </p:txBody>
      </p:sp>
    </p:spTree>
    <p:extLst>
      <p:ext uri="{BB962C8B-B14F-4D97-AF65-F5344CB8AC3E}">
        <p14:creationId xmlns:p14="http://schemas.microsoft.com/office/powerpoint/2010/main" val="675481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6970AE6-DCD3-4194-8EBC-1D1301B67315}" type="slidenum">
              <a:rPr lang="en-IN" smtClean="0"/>
              <a:t>5</a:t>
            </a:fld>
            <a:endParaRPr lang="en-IN"/>
          </a:p>
        </p:txBody>
      </p:sp>
    </p:spTree>
    <p:extLst>
      <p:ext uri="{BB962C8B-B14F-4D97-AF65-F5344CB8AC3E}">
        <p14:creationId xmlns:p14="http://schemas.microsoft.com/office/powerpoint/2010/main" val="2035944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6</a:t>
            </a:fld>
            <a:endParaRPr lang="en-IN"/>
          </a:p>
        </p:txBody>
      </p:sp>
    </p:spTree>
    <p:extLst>
      <p:ext uri="{BB962C8B-B14F-4D97-AF65-F5344CB8AC3E}">
        <p14:creationId xmlns:p14="http://schemas.microsoft.com/office/powerpoint/2010/main" val="3810092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9</a:t>
            </a:fld>
            <a:endParaRPr lang="en-IN"/>
          </a:p>
        </p:txBody>
      </p:sp>
    </p:spTree>
    <p:extLst>
      <p:ext uri="{BB962C8B-B14F-4D97-AF65-F5344CB8AC3E}">
        <p14:creationId xmlns:p14="http://schemas.microsoft.com/office/powerpoint/2010/main" val="1548320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14</a:t>
            </a:fld>
            <a:endParaRPr lang="en-IN"/>
          </a:p>
        </p:txBody>
      </p:sp>
    </p:spTree>
    <p:extLst>
      <p:ext uri="{BB962C8B-B14F-4D97-AF65-F5344CB8AC3E}">
        <p14:creationId xmlns:p14="http://schemas.microsoft.com/office/powerpoint/2010/main" val="4022964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58CCBC78-3C03-8403-9502-57842CD32EC7}"/>
            </a:ext>
          </a:extLst>
        </p:cNvPr>
        <p:cNvGrpSpPr/>
        <p:nvPr/>
      </p:nvGrpSpPr>
      <p:grpSpPr>
        <a:xfrm>
          <a:off x="0" y="0"/>
          <a:ext cx="0" cy="0"/>
          <a:chOff x="0" y="0"/>
          <a:chExt cx="0" cy="0"/>
        </a:xfrm>
      </p:grpSpPr>
      <p:sp>
        <p:nvSpPr>
          <p:cNvPr id="103" name="Google Shape;103;p2:notes">
            <a:extLst>
              <a:ext uri="{FF2B5EF4-FFF2-40B4-BE49-F238E27FC236}">
                <a16:creationId xmlns:a16="http://schemas.microsoft.com/office/drawing/2014/main" id="{53036E75-C056-DAE9-2199-D6B3E567AEC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4" name="Google Shape;104;p2:notes">
            <a:extLst>
              <a:ext uri="{FF2B5EF4-FFF2-40B4-BE49-F238E27FC236}">
                <a16:creationId xmlns:a16="http://schemas.microsoft.com/office/drawing/2014/main" id="{CD032490-F6CC-3C75-633F-D2290883DB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6508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23</a:t>
            </a:fld>
            <a:endParaRPr lang="en-IN"/>
          </a:p>
        </p:txBody>
      </p:sp>
    </p:spTree>
    <p:extLst>
      <p:ext uri="{BB962C8B-B14F-4D97-AF65-F5344CB8AC3E}">
        <p14:creationId xmlns:p14="http://schemas.microsoft.com/office/powerpoint/2010/main" val="1870907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24</a:t>
            </a:fld>
            <a:endParaRPr lang="en-IN"/>
          </a:p>
        </p:txBody>
      </p:sp>
    </p:spTree>
    <p:extLst>
      <p:ext uri="{BB962C8B-B14F-4D97-AF65-F5344CB8AC3E}">
        <p14:creationId xmlns:p14="http://schemas.microsoft.com/office/powerpoint/2010/main" val="25197870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26</a:t>
            </a:fld>
            <a:endParaRPr lang="en-IN"/>
          </a:p>
        </p:txBody>
      </p:sp>
    </p:spTree>
    <p:extLst>
      <p:ext uri="{BB962C8B-B14F-4D97-AF65-F5344CB8AC3E}">
        <p14:creationId xmlns:p14="http://schemas.microsoft.com/office/powerpoint/2010/main" val="3813081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27</a:t>
            </a:fld>
            <a:endParaRPr lang="en-IN"/>
          </a:p>
        </p:txBody>
      </p:sp>
    </p:spTree>
    <p:extLst>
      <p:ext uri="{BB962C8B-B14F-4D97-AF65-F5344CB8AC3E}">
        <p14:creationId xmlns:p14="http://schemas.microsoft.com/office/powerpoint/2010/main" val="1263921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29</a:t>
            </a:fld>
            <a:endParaRPr lang="en-IN"/>
          </a:p>
        </p:txBody>
      </p:sp>
    </p:spTree>
    <p:extLst>
      <p:ext uri="{BB962C8B-B14F-4D97-AF65-F5344CB8AC3E}">
        <p14:creationId xmlns:p14="http://schemas.microsoft.com/office/powerpoint/2010/main" val="350488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AD1180-89B7-4B77-82A2-F71C55345F5A}" type="slidenum">
              <a:rPr lang="en-IN" smtClean="0"/>
              <a:t>31</a:t>
            </a:fld>
            <a:endParaRPr lang="en-IN"/>
          </a:p>
        </p:txBody>
      </p:sp>
    </p:spTree>
    <p:extLst>
      <p:ext uri="{BB962C8B-B14F-4D97-AF65-F5344CB8AC3E}">
        <p14:creationId xmlns:p14="http://schemas.microsoft.com/office/powerpoint/2010/main" val="39453505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AD1180-89B7-4B77-82A2-F71C55345F5A}" type="slidenum">
              <a:rPr lang="en-IN" smtClean="0"/>
              <a:t>32</a:t>
            </a:fld>
            <a:endParaRPr lang="en-IN"/>
          </a:p>
        </p:txBody>
      </p:sp>
    </p:spTree>
    <p:extLst>
      <p:ext uri="{BB962C8B-B14F-4D97-AF65-F5344CB8AC3E}">
        <p14:creationId xmlns:p14="http://schemas.microsoft.com/office/powerpoint/2010/main" val="12944119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AD1180-89B7-4B77-82A2-F71C55345F5A}" type="slidenum">
              <a:rPr lang="en-IN" smtClean="0"/>
              <a:t>33</a:t>
            </a:fld>
            <a:endParaRPr lang="en-IN"/>
          </a:p>
        </p:txBody>
      </p:sp>
    </p:spTree>
    <p:extLst>
      <p:ext uri="{BB962C8B-B14F-4D97-AF65-F5344CB8AC3E}">
        <p14:creationId xmlns:p14="http://schemas.microsoft.com/office/powerpoint/2010/main" val="3791294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34</a:t>
            </a:fld>
            <a:endParaRPr lang="en-IN"/>
          </a:p>
        </p:txBody>
      </p:sp>
    </p:spTree>
    <p:extLst>
      <p:ext uri="{BB962C8B-B14F-4D97-AF65-F5344CB8AC3E}">
        <p14:creationId xmlns:p14="http://schemas.microsoft.com/office/powerpoint/2010/main" val="35120436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AD1180-89B7-4B77-82A2-F71C55345F5A}" type="slidenum">
              <a:rPr lang="en-IN" smtClean="0"/>
              <a:t>36</a:t>
            </a:fld>
            <a:endParaRPr lang="en-IN"/>
          </a:p>
        </p:txBody>
      </p:sp>
    </p:spTree>
    <p:extLst>
      <p:ext uri="{BB962C8B-B14F-4D97-AF65-F5344CB8AC3E}">
        <p14:creationId xmlns:p14="http://schemas.microsoft.com/office/powerpoint/2010/main" val="1954311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44</a:t>
            </a:fld>
            <a:endParaRPr lang="en-IN"/>
          </a:p>
        </p:txBody>
      </p:sp>
    </p:spTree>
    <p:extLst>
      <p:ext uri="{BB962C8B-B14F-4D97-AF65-F5344CB8AC3E}">
        <p14:creationId xmlns:p14="http://schemas.microsoft.com/office/powerpoint/2010/main" val="12260317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72551D-67D7-44EA-BF0C-246838C0E902}" type="slidenum">
              <a:rPr lang="en-IN" smtClean="0"/>
              <a:t>48</a:t>
            </a:fld>
            <a:endParaRPr lang="en-IN"/>
          </a:p>
        </p:txBody>
      </p:sp>
    </p:spTree>
    <p:extLst>
      <p:ext uri="{BB962C8B-B14F-4D97-AF65-F5344CB8AC3E}">
        <p14:creationId xmlns:p14="http://schemas.microsoft.com/office/powerpoint/2010/main" val="641724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30-04-2026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918817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30-04-2026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176519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30-04-2026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80268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93CF500-1D26-44BC-BC6C-88E98416E58A}" type="datetimeFigureOut">
              <a:rPr lang="en-IN" smtClean="0">
                <a:solidFill>
                  <a:prstClr val="black">
                    <a:tint val="75000"/>
                  </a:prstClr>
                </a:solidFill>
              </a:rPr>
              <a:pPr/>
              <a:t>30-04-2026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79321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93CF500-1D26-44BC-BC6C-88E98416E58A}" type="datetimeFigureOut">
              <a:rPr lang="en-IN" smtClean="0">
                <a:solidFill>
                  <a:prstClr val="black">
                    <a:tint val="75000"/>
                  </a:prstClr>
                </a:solidFill>
              </a:rPr>
              <a:pPr/>
              <a:t>30-04-2026</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515482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93CF500-1D26-44BC-BC6C-88E98416E58A}" type="datetimeFigureOut">
              <a:rPr lang="en-IN" smtClean="0">
                <a:solidFill>
                  <a:prstClr val="black">
                    <a:tint val="75000"/>
                  </a:prstClr>
                </a:solidFill>
              </a:rPr>
              <a:pPr/>
              <a:t>30-04-2026</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204951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3CF500-1D26-44BC-BC6C-88E98416E58A}" type="datetimeFigureOut">
              <a:rPr lang="en-IN" smtClean="0">
                <a:solidFill>
                  <a:prstClr val="black">
                    <a:tint val="75000"/>
                  </a:prstClr>
                </a:solidFill>
              </a:rPr>
              <a:pPr/>
              <a:t>30-04-2026</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95124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3CF500-1D26-44BC-BC6C-88E98416E58A}" type="datetimeFigureOut">
              <a:rPr lang="en-IN" smtClean="0">
                <a:solidFill>
                  <a:prstClr val="black">
                    <a:tint val="75000"/>
                  </a:prstClr>
                </a:solidFill>
              </a:rPr>
              <a:pPr/>
              <a:t>30-04-2026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43790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3CF500-1D26-44BC-BC6C-88E98416E58A}" type="datetimeFigureOut">
              <a:rPr lang="en-IN" smtClean="0">
                <a:solidFill>
                  <a:prstClr val="black">
                    <a:tint val="75000"/>
                  </a:prstClr>
                </a:solidFill>
              </a:rPr>
              <a:pPr/>
              <a:t>30-04-2026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202721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30-04-2026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73301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30-04-2026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5048428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0" name="TextBox 9"/>
          <p:cNvSpPr txBox="1"/>
          <p:nvPr/>
        </p:nvSpPr>
        <p:spPr>
          <a:xfrm>
            <a:off x="-101600" y="5257800"/>
            <a:ext cx="2946400" cy="427040"/>
          </a:xfrm>
          <a:prstGeom prst="rect">
            <a:avLst/>
          </a:prstGeom>
          <a:noFill/>
        </p:spPr>
        <p:txBody>
          <a:bodyPr>
            <a:spAutoFit/>
          </a:bodyPr>
          <a:lstStyle/>
          <a:p>
            <a:pPr algn="ctr" fontAlgn="base">
              <a:spcBef>
                <a:spcPct val="0"/>
              </a:spcBef>
              <a:spcAft>
                <a:spcPct val="0"/>
              </a:spcAft>
              <a:defRPr/>
            </a:pPr>
            <a:r>
              <a:rPr lang="en-US" sz="2175" b="1" spc="-113" dirty="0">
                <a:solidFill>
                  <a:prstClr val="white"/>
                </a:solidFill>
                <a:latin typeface="Arial"/>
                <a:cs typeface="Arial"/>
              </a:rPr>
              <a:t>BITS</a:t>
            </a:r>
            <a:r>
              <a:rPr lang="en-US" sz="2175" spc="-113" dirty="0">
                <a:solidFill>
                  <a:prstClr val="white"/>
                </a:solidFill>
                <a:latin typeface="Arial"/>
                <a:cs typeface="Arial"/>
              </a:rPr>
              <a:t> Pilani</a:t>
            </a:r>
          </a:p>
        </p:txBody>
      </p:sp>
      <p:sp>
        <p:nvSpPr>
          <p:cNvPr id="11" name="TextBox 10"/>
          <p:cNvSpPr txBox="1"/>
          <p:nvPr/>
        </p:nvSpPr>
        <p:spPr>
          <a:xfrm>
            <a:off x="203200" y="5667376"/>
            <a:ext cx="2540000" cy="230832"/>
          </a:xfrm>
          <a:prstGeom prst="rect">
            <a:avLst/>
          </a:prstGeom>
          <a:noFill/>
        </p:spPr>
        <p:txBody>
          <a:bodyPr>
            <a:spAutoFit/>
          </a:bodyPr>
          <a:lstStyle/>
          <a:p>
            <a:pPr fontAlgn="base">
              <a:spcBef>
                <a:spcPct val="0"/>
              </a:spcBef>
              <a:spcAft>
                <a:spcPct val="0"/>
              </a:spcAft>
              <a:defRPr/>
            </a:pPr>
            <a:r>
              <a:rPr lang="en-US" sz="900" dirty="0">
                <a:solidFill>
                  <a:srgbClr val="FFFFFF"/>
                </a:solidFill>
                <a:latin typeface="Arial"/>
                <a:cs typeface="Arial"/>
              </a:rPr>
              <a:t>Pilani Campus</a:t>
            </a:r>
          </a:p>
        </p:txBody>
      </p:sp>
      <p:sp>
        <p:nvSpPr>
          <p:cNvPr id="12" name="Rectangle 11"/>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dirty="0">
              <a:solidFill>
                <a:prstClr val="white"/>
              </a:solidFill>
              <a:latin typeface="Arial" pitchFamily="34" charset="0"/>
              <a:cs typeface="Arial" pitchFamily="34" charset="0"/>
            </a:endParaRPr>
          </a:p>
        </p:txBody>
      </p:sp>
      <p:sp>
        <p:nvSpPr>
          <p:cNvPr id="13" name="Rectangle 12"/>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4" name="Rectangle 13"/>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5" name="Rectangle 14"/>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7" name="TextBox 16"/>
          <p:cNvSpPr txBox="1"/>
          <p:nvPr/>
        </p:nvSpPr>
        <p:spPr>
          <a:xfrm>
            <a:off x="-101600" y="5257800"/>
            <a:ext cx="2946400" cy="427040"/>
          </a:xfrm>
          <a:prstGeom prst="rect">
            <a:avLst/>
          </a:prstGeom>
          <a:noFill/>
        </p:spPr>
        <p:txBody>
          <a:bodyPr>
            <a:spAutoFit/>
          </a:bodyPr>
          <a:lstStyle/>
          <a:p>
            <a:pPr algn="ctr" fontAlgn="base">
              <a:spcBef>
                <a:spcPct val="0"/>
              </a:spcBef>
              <a:spcAft>
                <a:spcPct val="0"/>
              </a:spcAft>
              <a:defRPr/>
            </a:pPr>
            <a:r>
              <a:rPr lang="en-US" sz="2175" b="1" spc="-113" dirty="0">
                <a:solidFill>
                  <a:prstClr val="white"/>
                </a:solidFill>
                <a:latin typeface="Arial"/>
                <a:cs typeface="Arial"/>
              </a:rPr>
              <a:t>BITS</a:t>
            </a:r>
            <a:r>
              <a:rPr lang="en-US" sz="2175" spc="-113" dirty="0">
                <a:solidFill>
                  <a:prstClr val="white"/>
                </a:solidFill>
                <a:latin typeface="Arial"/>
                <a:cs typeface="Arial"/>
              </a:rPr>
              <a:t> Pilani</a:t>
            </a:r>
          </a:p>
        </p:txBody>
      </p:sp>
      <p:sp>
        <p:nvSpPr>
          <p:cNvPr id="18" name="TextBox 17"/>
          <p:cNvSpPr txBox="1"/>
          <p:nvPr/>
        </p:nvSpPr>
        <p:spPr>
          <a:xfrm>
            <a:off x="203200" y="5667376"/>
            <a:ext cx="2540000" cy="230832"/>
          </a:xfrm>
          <a:prstGeom prst="rect">
            <a:avLst/>
          </a:prstGeom>
          <a:noFill/>
        </p:spPr>
        <p:txBody>
          <a:bodyPr>
            <a:spAutoFit/>
          </a:bodyPr>
          <a:lstStyle/>
          <a:p>
            <a:pPr fontAlgn="base">
              <a:spcBef>
                <a:spcPct val="0"/>
              </a:spcBef>
              <a:spcAft>
                <a:spcPct val="0"/>
              </a:spcAft>
              <a:defRPr/>
            </a:pPr>
            <a:r>
              <a:rPr lang="en-US" sz="9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8647272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08187" y="400303"/>
            <a:ext cx="3600027" cy="574040"/>
          </a:xfrm>
          <a:prstGeom prst="rect">
            <a:avLst/>
          </a:prstGeom>
        </p:spPr>
        <p:txBody>
          <a:bodyPr wrap="square" lIns="0" tIns="0" rIns="0" bIns="0">
            <a:spAutoFit/>
          </a:bodyPr>
          <a:lstStyle>
            <a:lvl1pPr>
              <a:defRPr sz="3600" b="1" i="0">
                <a:solidFill>
                  <a:schemeClr val="tx1"/>
                </a:solidFill>
                <a:latin typeface="Cambria"/>
                <a:cs typeface="Cambria"/>
              </a:defRPr>
            </a:lvl1pPr>
          </a:lstStyle>
          <a:p>
            <a:endParaRPr/>
          </a:p>
        </p:txBody>
      </p:sp>
      <p:sp>
        <p:nvSpPr>
          <p:cNvPr id="3" name="Holder 3"/>
          <p:cNvSpPr>
            <a:spLocks noGrp="1"/>
          </p:cNvSpPr>
          <p:nvPr>
            <p:ph type="subTitle" idx="4"/>
          </p:nvPr>
        </p:nvSpPr>
        <p:spPr>
          <a:xfrm>
            <a:off x="1828800" y="3840480"/>
            <a:ext cx="8534400" cy="246221"/>
          </a:xfrm>
          <a:prstGeom prst="rect">
            <a:avLst/>
          </a:prstGeom>
        </p:spPr>
        <p:txBody>
          <a:bodyPr wrap="square" lIns="0" tIns="0" rIns="0" bIns="0">
            <a:spAutoFit/>
          </a:bodyPr>
          <a:lstStyle>
            <a:lvl1pPr>
              <a:defRPr sz="16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4/30/2026</a:t>
            </a:fld>
            <a:endParaRPr lang="en-US" kern="0">
              <a:solidFill>
                <a:prstClr val="black">
                  <a:tint val="75000"/>
                </a:prstClr>
              </a:solidFill>
            </a:endParaRPr>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11605217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6246475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6" name="Holder 6"/>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4/30/2026</a:t>
            </a:fld>
            <a:endParaRPr lang="en-US" kern="0">
              <a:solidFill>
                <a:prstClr val="black">
                  <a:tint val="75000"/>
                </a:prstClr>
              </a:solidFill>
            </a:endParaRPr>
          </a:p>
        </p:txBody>
      </p:sp>
      <p:sp>
        <p:nvSpPr>
          <p:cNvPr id="7" name="Holder 7"/>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4160371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839200" y="0"/>
            <a:ext cx="2924048" cy="693420"/>
          </a:xfrm>
          <a:prstGeom prst="rect">
            <a:avLst/>
          </a:prstGeom>
        </p:spPr>
      </p:pic>
      <p:sp>
        <p:nvSpPr>
          <p:cNvPr id="17" name="bg object 17"/>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8" name="bg object 18"/>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20" name="bg object 20"/>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1" name="bg object 21"/>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2" name="bg object 22"/>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4" name="Holder 4"/>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4/30/2026</a:t>
            </a:fld>
            <a:endParaRPr lang="en-US" kern="0">
              <a:solidFill>
                <a:prstClr val="black">
                  <a:tint val="75000"/>
                </a:prstClr>
              </a:solidFill>
            </a:endParaRPr>
          </a:p>
        </p:txBody>
      </p:sp>
      <p:sp>
        <p:nvSpPr>
          <p:cNvPr id="5" name="Holder 5"/>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31234963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 y="1"/>
            <a:ext cx="12191999" cy="6857999"/>
          </a:xfrm>
          <a:prstGeom prst="rect">
            <a:avLst/>
          </a:prstGeom>
        </p:spPr>
      </p:pic>
      <p:sp>
        <p:nvSpPr>
          <p:cNvPr id="17" name="bg object 17"/>
          <p:cNvSpPr/>
          <p:nvPr/>
        </p:nvSpPr>
        <p:spPr>
          <a:xfrm>
            <a:off x="38608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8" name="bg object 18"/>
          <p:cNvSpPr/>
          <p:nvPr/>
        </p:nvSpPr>
        <p:spPr>
          <a:xfrm>
            <a:off x="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77216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F0000"/>
          </a:solidFill>
        </p:spPr>
        <p:txBody>
          <a:bodyPr wrap="square" lIns="0" tIns="0" rIns="0" bIns="0" rtlCol="0"/>
          <a:lstStyle/>
          <a:p>
            <a:endParaRPr kern="0">
              <a:solidFill>
                <a:sysClr val="windowText" lastClr="000000"/>
              </a:solidFill>
            </a:endParaRPr>
          </a:p>
        </p:txBody>
      </p:sp>
      <p:pic>
        <p:nvPicPr>
          <p:cNvPr id="20" name="bg object 20"/>
          <p:cNvPicPr/>
          <p:nvPr/>
        </p:nvPicPr>
        <p:blipFill>
          <a:blip r:embed="rId3" cstate="print"/>
          <a:stretch>
            <a:fillRect/>
          </a:stretch>
        </p:blipFill>
        <p:spPr>
          <a:xfrm>
            <a:off x="101600" y="3352800"/>
            <a:ext cx="2743200" cy="1979676"/>
          </a:xfrm>
          <a:prstGeom prst="rect">
            <a:avLst/>
          </a:prstGeom>
        </p:spPr>
      </p:pic>
      <p:sp>
        <p:nvSpPr>
          <p:cNvPr id="2" name="Holder 2"/>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3" name="Holder 3"/>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4/30/2026</a:t>
            </a:fld>
            <a:endParaRPr lang="en-US" kern="0">
              <a:solidFill>
                <a:prstClr val="black">
                  <a:tint val="75000"/>
                </a:prstClr>
              </a:solidFill>
            </a:endParaRPr>
          </a:p>
        </p:txBody>
      </p:sp>
      <p:sp>
        <p:nvSpPr>
          <p:cNvPr id="4" name="Holder 4"/>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33937752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3113836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323031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6440964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2260030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5012528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5594132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107751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6705202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1736898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8124679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342621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2377346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0790751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100179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6778269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42817675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15504297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9655394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36534896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18617908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30956022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fontAlgn="base">
              <a:spcBef>
                <a:spcPct val="0"/>
              </a:spcBef>
              <a:spcAft>
                <a:spcPct val="0"/>
              </a:spcAft>
              <a:defRPr/>
            </a:pPr>
            <a:r>
              <a:rPr lang="en-US" sz="1100" b="1" dirty="0">
                <a:solidFill>
                  <a:srgbClr val="101141"/>
                </a:solidFill>
                <a:cs typeface="Arial" panose="020B0604020202020204" pitchFamily="34" charset="0"/>
              </a:rPr>
              <a:t>BITS </a:t>
            </a:r>
            <a:r>
              <a:rPr lang="en-US" sz="1100" dirty="0" err="1">
                <a:solidFill>
                  <a:srgbClr val="101141"/>
                </a:solidFill>
                <a:cs typeface="Arial" panose="020B0604020202020204" pitchFamily="34" charset="0"/>
              </a:rPr>
              <a:t>Pilani</a:t>
            </a:r>
            <a:endParaRPr lang="en-US" sz="1100" dirty="0">
              <a:solidFill>
                <a:srgbClr val="101141"/>
              </a:solidFill>
              <a:cs typeface="Arial" panose="020B0604020202020204" pitchFamily="34" charset="0"/>
            </a:endParaRP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406400" y="1600201"/>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0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000">
                <a:latin typeface="Cambria" panose="02040503050406030204" pitchFamily="18" charset="0"/>
                <a:ea typeface="Cambria" panose="02040503050406030204" pitchFamily="18" charset="0"/>
                <a:cs typeface="Times New Roman" panose="02020603050405020304" pitchFamily="18" charset="0"/>
              </a:defRPr>
            </a:lvl2pPr>
            <a:lvl3pPr>
              <a:defRPr sz="2000">
                <a:latin typeface="Cambria" panose="02040503050406030204" pitchFamily="18" charset="0"/>
                <a:ea typeface="Cambria" panose="02040503050406030204" pitchFamily="18" charset="0"/>
                <a:cs typeface="Times New Roman" panose="02020603050405020304" pitchFamily="18" charset="0"/>
              </a:defRPr>
            </a:lvl3pPr>
            <a:lvl4pPr>
              <a:defRPr sz="2000">
                <a:latin typeface="Cambria" panose="02040503050406030204" pitchFamily="18" charset="0"/>
                <a:ea typeface="Cambria" panose="02040503050406030204" pitchFamily="18" charset="0"/>
                <a:cs typeface="Times New Roman" panose="02020603050405020304" pitchFamily="18" charset="0"/>
              </a:defRPr>
            </a:lvl4pPr>
            <a:lvl5pPr>
              <a:defRPr sz="20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chemeClr val="accent2"/>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
        <p:nvSpPr>
          <p:cNvPr id="2" name="Date Placeholder 1"/>
          <p:cNvSpPr>
            <a:spLocks noGrp="1"/>
          </p:cNvSpPr>
          <p:nvPr>
            <p:ph type="dt" sz="half" idx="11"/>
          </p:nvPr>
        </p:nvSpPr>
        <p:spPr>
          <a:xfrm>
            <a:off x="609600" y="6356351"/>
            <a:ext cx="2844800" cy="365125"/>
          </a:xfrm>
          <a:prstGeom prst="rect">
            <a:avLst/>
          </a:prstGeom>
        </p:spPr>
        <p:txBody>
          <a:bodyPr/>
          <a:lstStyle/>
          <a:p>
            <a:pPr fontAlgn="base">
              <a:spcBef>
                <a:spcPct val="0"/>
              </a:spcBef>
              <a:spcAft>
                <a:spcPct val="0"/>
              </a:spcAft>
              <a:defRPr/>
            </a:pPr>
            <a:endParaRPr lang="en-US" sz="1600">
              <a:solidFill>
                <a:prstClr val="black">
                  <a:tint val="75000"/>
                </a:prstClr>
              </a:solidFill>
              <a:latin typeface="Tahoma" charset="0"/>
            </a:endParaRPr>
          </a:p>
        </p:txBody>
      </p:sp>
      <p:sp>
        <p:nvSpPr>
          <p:cNvPr id="18" name="Footer Placeholder 17"/>
          <p:cNvSpPr>
            <a:spLocks noGrp="1"/>
          </p:cNvSpPr>
          <p:nvPr>
            <p:ph type="ftr" sz="quarter" idx="12"/>
          </p:nvPr>
        </p:nvSpPr>
        <p:spPr>
          <a:xfrm>
            <a:off x="4165600" y="6356351"/>
            <a:ext cx="3860800" cy="365125"/>
          </a:xfrm>
          <a:prstGeom prst="rect">
            <a:avLst/>
          </a:prstGeom>
        </p:spPr>
        <p:txBody>
          <a:bodyPr/>
          <a:lstStyle/>
          <a:p>
            <a:pPr fontAlgn="base">
              <a:spcBef>
                <a:spcPct val="0"/>
              </a:spcBef>
              <a:spcAft>
                <a:spcPct val="0"/>
              </a:spcAft>
              <a:defRPr/>
            </a:pPr>
            <a:endParaRPr lang="en-US" sz="1600" dirty="0">
              <a:solidFill>
                <a:prstClr val="black">
                  <a:tint val="75000"/>
                </a:prstClr>
              </a:solidFill>
              <a:latin typeface="Tahoma" charset="0"/>
            </a:endParaRPr>
          </a:p>
        </p:txBody>
      </p:sp>
      <p:sp>
        <p:nvSpPr>
          <p:cNvPr id="19" name="Slide Number Placeholder 18"/>
          <p:cNvSpPr>
            <a:spLocks noGrp="1"/>
          </p:cNvSpPr>
          <p:nvPr>
            <p:ph type="sldNum" sz="quarter" idx="13"/>
          </p:nvPr>
        </p:nvSpPr>
        <p:spPr>
          <a:xfrm>
            <a:off x="4114800" y="6424613"/>
            <a:ext cx="2844800" cy="365125"/>
          </a:xfrm>
          <a:prstGeom prst="rect">
            <a:avLst/>
          </a:prstGeom>
        </p:spPr>
        <p:txBody>
          <a:bodyPr/>
          <a:lstStyle>
            <a:lvl1pPr>
              <a:defRPr>
                <a:solidFill>
                  <a:srgbClr val="C00000"/>
                </a:solidFill>
              </a:defRPr>
            </a:lvl1pPr>
          </a:lstStyle>
          <a:p>
            <a:pPr fontAlgn="base">
              <a:spcBef>
                <a:spcPct val="0"/>
              </a:spcBef>
              <a:spcAft>
                <a:spcPct val="0"/>
              </a:spcAft>
            </a:pPr>
            <a:fld id="{DB1C2494-8932-4549-9EEA-B787E7A0F253}" type="slidenum">
              <a:rPr lang="en-US" sz="1600" smtClean="0">
                <a:latin typeface="Tahoma" charset="0"/>
              </a:rPr>
              <a:pPr fontAlgn="base">
                <a:spcBef>
                  <a:spcPct val="0"/>
                </a:spcBef>
                <a:spcAft>
                  <a:spcPct val="0"/>
                </a:spcAft>
              </a:pPr>
              <a:t>‹#›</a:t>
            </a:fld>
            <a:endParaRPr lang="en-US" sz="1600" dirty="0">
              <a:latin typeface="Tahoma" charset="0"/>
            </a:endParaRPr>
          </a:p>
        </p:txBody>
      </p:sp>
    </p:spTree>
    <p:extLst>
      <p:ext uri="{BB962C8B-B14F-4D97-AF65-F5344CB8AC3E}">
        <p14:creationId xmlns:p14="http://schemas.microsoft.com/office/powerpoint/2010/main" val="119226133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6855596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4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8374221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2038135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12242406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2672207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0482822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643335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964877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0583519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7"/>
            <a:ext cx="10972800" cy="1920526"/>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a:latin typeface="Cambria" panose="02040503050406030204" pitchFamily="18" charset="0"/>
                <a:ea typeface="Cambria" panose="02040503050406030204" pitchFamily="18" charset="0"/>
                <a:cs typeface="Times New Roman" panose="02020603050405020304" pitchFamily="18" charset="0"/>
              </a:defRPr>
            </a:lvl2pPr>
            <a:lvl3pPr>
              <a:defRPr sz="2400">
                <a:latin typeface="Cambria" panose="02040503050406030204" pitchFamily="18" charset="0"/>
                <a:ea typeface="Cambria" panose="02040503050406030204" pitchFamily="18" charset="0"/>
                <a:cs typeface="Times New Roman" panose="02020603050405020304" pitchFamily="18" charset="0"/>
              </a:defRPr>
            </a:lvl3pPr>
            <a:lvl4pPr>
              <a:defRPr sz="2400">
                <a:latin typeface="Cambria" panose="02040503050406030204" pitchFamily="18" charset="0"/>
                <a:ea typeface="Cambria" panose="02040503050406030204" pitchFamily="18" charset="0"/>
                <a:cs typeface="Times New Roman" panose="02020603050405020304" pitchFamily="18" charset="0"/>
              </a:defRPr>
            </a:lvl4pPr>
            <a:lvl5pPr>
              <a:defRPr sz="24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0" spc="-150" baseline="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2966583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Montserrat"/>
              <a:buNone/>
              <a:defRPr>
                <a:latin typeface="Montserrat"/>
                <a:ea typeface="Montserrat"/>
                <a:cs typeface="Montserrat"/>
                <a:sym typeface="Montserrat"/>
              </a:defRPr>
            </a:lvl1pPr>
            <a:lvl2pPr lvl="1">
              <a:spcBef>
                <a:spcPts val="0"/>
              </a:spcBef>
              <a:spcAft>
                <a:spcPts val="0"/>
              </a:spcAft>
              <a:buSzPts val="2800"/>
              <a:buFont typeface="Montserrat"/>
              <a:buNone/>
              <a:defRPr>
                <a:latin typeface="Montserrat"/>
                <a:ea typeface="Montserrat"/>
                <a:cs typeface="Montserrat"/>
                <a:sym typeface="Montserrat"/>
              </a:defRPr>
            </a:lvl2pPr>
            <a:lvl3pPr lvl="2">
              <a:spcBef>
                <a:spcPts val="0"/>
              </a:spcBef>
              <a:spcAft>
                <a:spcPts val="0"/>
              </a:spcAft>
              <a:buSzPts val="2800"/>
              <a:buFont typeface="Montserrat"/>
              <a:buNone/>
              <a:defRPr>
                <a:latin typeface="Montserrat"/>
                <a:ea typeface="Montserrat"/>
                <a:cs typeface="Montserrat"/>
                <a:sym typeface="Montserrat"/>
              </a:defRPr>
            </a:lvl3pPr>
            <a:lvl4pPr lvl="3">
              <a:spcBef>
                <a:spcPts val="0"/>
              </a:spcBef>
              <a:spcAft>
                <a:spcPts val="0"/>
              </a:spcAft>
              <a:buSzPts val="2800"/>
              <a:buFont typeface="Montserrat"/>
              <a:buNone/>
              <a:defRPr>
                <a:latin typeface="Montserrat"/>
                <a:ea typeface="Montserrat"/>
                <a:cs typeface="Montserrat"/>
                <a:sym typeface="Montserrat"/>
              </a:defRPr>
            </a:lvl4pPr>
            <a:lvl5pPr lvl="4">
              <a:spcBef>
                <a:spcPts val="0"/>
              </a:spcBef>
              <a:spcAft>
                <a:spcPts val="0"/>
              </a:spcAft>
              <a:buSzPts val="2800"/>
              <a:buFont typeface="Montserrat"/>
              <a:buNone/>
              <a:defRPr>
                <a:latin typeface="Montserrat"/>
                <a:ea typeface="Montserrat"/>
                <a:cs typeface="Montserrat"/>
                <a:sym typeface="Montserrat"/>
              </a:defRPr>
            </a:lvl5pPr>
            <a:lvl6pPr lvl="5">
              <a:spcBef>
                <a:spcPts val="0"/>
              </a:spcBef>
              <a:spcAft>
                <a:spcPts val="0"/>
              </a:spcAft>
              <a:buSzPts val="2800"/>
              <a:buFont typeface="Montserrat"/>
              <a:buNone/>
              <a:defRPr>
                <a:latin typeface="Montserrat"/>
                <a:ea typeface="Montserrat"/>
                <a:cs typeface="Montserrat"/>
                <a:sym typeface="Montserrat"/>
              </a:defRPr>
            </a:lvl6pPr>
            <a:lvl7pPr lvl="6">
              <a:spcBef>
                <a:spcPts val="0"/>
              </a:spcBef>
              <a:spcAft>
                <a:spcPts val="0"/>
              </a:spcAft>
              <a:buSzPts val="2800"/>
              <a:buFont typeface="Montserrat"/>
              <a:buNone/>
              <a:defRPr>
                <a:latin typeface="Montserrat"/>
                <a:ea typeface="Montserrat"/>
                <a:cs typeface="Montserrat"/>
                <a:sym typeface="Montserrat"/>
              </a:defRPr>
            </a:lvl7pPr>
            <a:lvl8pPr lvl="7">
              <a:spcBef>
                <a:spcPts val="0"/>
              </a:spcBef>
              <a:spcAft>
                <a:spcPts val="0"/>
              </a:spcAft>
              <a:buSzPts val="2800"/>
              <a:buFont typeface="Montserrat"/>
              <a:buNone/>
              <a:defRPr>
                <a:latin typeface="Montserrat"/>
                <a:ea typeface="Montserrat"/>
                <a:cs typeface="Montserrat"/>
                <a:sym typeface="Montserrat"/>
              </a:defRPr>
            </a:lvl8pPr>
            <a:lvl9pPr lvl="8">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Font typeface="Montserrat"/>
              <a:buChar char="●"/>
              <a:defRPr>
                <a:latin typeface="Montserrat"/>
                <a:ea typeface="Montserrat"/>
                <a:cs typeface="Montserrat"/>
                <a:sym typeface="Montserrat"/>
              </a:defRPr>
            </a:lvl1pPr>
            <a:lvl2pPr marL="914400" lvl="1" indent="-317500">
              <a:spcBef>
                <a:spcPts val="0"/>
              </a:spcBef>
              <a:spcAft>
                <a:spcPts val="0"/>
              </a:spcAft>
              <a:buSzPts val="1400"/>
              <a:buFont typeface="Montserrat"/>
              <a:buChar char="○"/>
              <a:defRPr>
                <a:latin typeface="Montserrat"/>
                <a:ea typeface="Montserrat"/>
                <a:cs typeface="Montserrat"/>
                <a:sym typeface="Montserrat"/>
              </a:defRPr>
            </a:lvl2pPr>
            <a:lvl3pPr marL="1371600" lvl="2" indent="-317500">
              <a:spcBef>
                <a:spcPts val="0"/>
              </a:spcBef>
              <a:spcAft>
                <a:spcPts val="0"/>
              </a:spcAft>
              <a:buSzPts val="1400"/>
              <a:buFont typeface="Montserrat"/>
              <a:buChar char="■"/>
              <a:defRPr>
                <a:latin typeface="Montserrat"/>
                <a:ea typeface="Montserrat"/>
                <a:cs typeface="Montserrat"/>
                <a:sym typeface="Montserrat"/>
              </a:defRPr>
            </a:lvl3pPr>
            <a:lvl4pPr marL="1828800" lvl="3" indent="-317500">
              <a:spcBef>
                <a:spcPts val="0"/>
              </a:spcBef>
              <a:spcAft>
                <a:spcPts val="0"/>
              </a:spcAft>
              <a:buSzPts val="1400"/>
              <a:buFont typeface="Montserrat"/>
              <a:buChar char="●"/>
              <a:defRPr>
                <a:latin typeface="Montserrat"/>
                <a:ea typeface="Montserrat"/>
                <a:cs typeface="Montserrat"/>
                <a:sym typeface="Montserrat"/>
              </a:defRPr>
            </a:lvl4pPr>
            <a:lvl5pPr marL="2286000" lvl="4" indent="-317500">
              <a:spcBef>
                <a:spcPts val="0"/>
              </a:spcBef>
              <a:spcAft>
                <a:spcPts val="0"/>
              </a:spcAft>
              <a:buSzPts val="1400"/>
              <a:buFont typeface="Montserrat"/>
              <a:buChar char="○"/>
              <a:defRPr>
                <a:latin typeface="Montserrat"/>
                <a:ea typeface="Montserrat"/>
                <a:cs typeface="Montserrat"/>
                <a:sym typeface="Montserrat"/>
              </a:defRPr>
            </a:lvl5pPr>
            <a:lvl6pPr marL="2743200" lvl="5" indent="-317500">
              <a:spcBef>
                <a:spcPts val="0"/>
              </a:spcBef>
              <a:spcAft>
                <a:spcPts val="0"/>
              </a:spcAft>
              <a:buSzPts val="1400"/>
              <a:buFont typeface="Montserrat"/>
              <a:buChar char="■"/>
              <a:defRPr>
                <a:latin typeface="Montserrat"/>
                <a:ea typeface="Montserrat"/>
                <a:cs typeface="Montserrat"/>
                <a:sym typeface="Montserrat"/>
              </a:defRPr>
            </a:lvl6pPr>
            <a:lvl7pPr marL="3200400" lvl="6" indent="-317500">
              <a:spcBef>
                <a:spcPts val="0"/>
              </a:spcBef>
              <a:spcAft>
                <a:spcPts val="0"/>
              </a:spcAft>
              <a:buSzPts val="1400"/>
              <a:buFont typeface="Montserrat"/>
              <a:buChar char="●"/>
              <a:defRPr>
                <a:latin typeface="Montserrat"/>
                <a:ea typeface="Montserrat"/>
                <a:cs typeface="Montserrat"/>
                <a:sym typeface="Montserrat"/>
              </a:defRPr>
            </a:lvl7pPr>
            <a:lvl8pPr marL="3657600" lvl="7" indent="-317500">
              <a:spcBef>
                <a:spcPts val="0"/>
              </a:spcBef>
              <a:spcAft>
                <a:spcPts val="0"/>
              </a:spcAft>
              <a:buSzPts val="1400"/>
              <a:buFont typeface="Montserrat"/>
              <a:buChar char="○"/>
              <a:defRPr>
                <a:latin typeface="Montserrat"/>
                <a:ea typeface="Montserrat"/>
                <a:cs typeface="Montserrat"/>
                <a:sym typeface="Montserrat"/>
              </a:defRPr>
            </a:lvl8pPr>
            <a:lvl9pPr marL="4114800" lvl="8" indent="-317500">
              <a:spcBef>
                <a:spcPts val="0"/>
              </a:spcBef>
              <a:spcAft>
                <a:spcPts val="0"/>
              </a:spcAft>
              <a:buSzPts val="1400"/>
              <a:buFont typeface="Montserrat"/>
              <a:buChar char="■"/>
              <a:defRPr>
                <a:latin typeface="Montserrat"/>
                <a:ea typeface="Montserrat"/>
                <a:cs typeface="Montserrat"/>
                <a:sym typeface="Montserrat"/>
              </a:defRPr>
            </a:lvl9pPr>
          </a:lstStyle>
          <a:p>
            <a:endParaRPr/>
          </a:p>
        </p:txBody>
      </p:sp>
      <p:sp>
        <p:nvSpPr>
          <p:cNvPr id="21" name="Google Shape;2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kern="0" smtClean="0">
                <a:solidFill>
                  <a:sysClr val="windowText" lastClr="000000"/>
                </a:solidFill>
              </a:rPr>
              <a:pPr algn="r"/>
              <a:t>‹#›</a:t>
            </a:fld>
            <a:endParaRPr lang="en" kern="0">
              <a:solidFill>
                <a:sysClr val="windowText" lastClr="000000"/>
              </a:solidFill>
            </a:endParaRPr>
          </a:p>
        </p:txBody>
      </p:sp>
      <p:pic>
        <p:nvPicPr>
          <p:cNvPr id="22" name="Google Shape;22;p4"/>
          <p:cNvPicPr preferRelativeResize="0"/>
          <p:nvPr/>
        </p:nvPicPr>
        <p:blipFill rotWithShape="1">
          <a:blip r:embed="rId2">
            <a:alphaModFix amt="24000"/>
          </a:blip>
          <a:srcRect b="93593"/>
          <a:stretch/>
        </p:blipFill>
        <p:spPr>
          <a:xfrm>
            <a:off x="2" y="6594465"/>
            <a:ext cx="12192004" cy="263533"/>
          </a:xfrm>
          <a:prstGeom prst="rect">
            <a:avLst/>
          </a:prstGeom>
          <a:noFill/>
          <a:ln>
            <a:noFill/>
          </a:ln>
        </p:spPr>
      </p:pic>
    </p:spTree>
    <p:extLst>
      <p:ext uri="{BB962C8B-B14F-4D97-AF65-F5344CB8AC3E}">
        <p14:creationId xmlns:p14="http://schemas.microsoft.com/office/powerpoint/2010/main" val="90018680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cSld name="2_Title and Content">
    <p:bg>
      <p:bgPr>
        <a:solidFill>
          <a:srgbClr val="FFFFFF"/>
        </a:solidFill>
        <a:effectLst/>
      </p:bgPr>
    </p:bg>
    <p:spTree>
      <p:nvGrpSpPr>
        <p:cNvPr id="1" name=""/>
        <p:cNvGrpSpPr/>
        <p:nvPr/>
      </p:nvGrpSpPr>
      <p:grpSpPr>
        <a:xfrm>
          <a:off x="0" y="0"/>
          <a:ext cx="0" cy="0"/>
          <a:chOff x="0" y="0"/>
          <a:chExt cx="0" cy="0"/>
        </a:xfrm>
      </p:grpSpPr>
      <p:sp>
        <p:nvSpPr>
          <p:cNvPr id="100" name="Body Level One…"/>
          <p:cNvSpPr txBox="1">
            <a:spLocks noGrp="1"/>
          </p:cNvSpPr>
          <p:nvPr>
            <p:ph type="body" sz="quarter" idx="1"/>
          </p:nvPr>
        </p:nvSpPr>
        <p:spPr>
          <a:xfrm>
            <a:off x="406400" y="152400"/>
            <a:ext cx="84328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t>Body Level One</a:t>
            </a:r>
          </a:p>
          <a:p>
            <a:pPr lvl="1"/>
            <a:r>
              <a:t>Body Level Two</a:t>
            </a:r>
          </a:p>
          <a:p>
            <a:pPr lvl="2"/>
            <a:r>
              <a:t>Body Level Three</a:t>
            </a:r>
          </a:p>
          <a:p>
            <a:pPr lvl="3"/>
            <a:r>
              <a:t>Body Level Four</a:t>
            </a:r>
          </a:p>
          <a:p>
            <a:pPr lvl="4"/>
            <a:r>
              <a:t>Body Level Five</a:t>
            </a:r>
          </a:p>
        </p:txBody>
      </p:sp>
      <p:sp>
        <p:nvSpPr>
          <p:cNvPr id="102" name="Slide Number"/>
          <p:cNvSpPr txBox="1">
            <a:spLocks noGrp="1"/>
          </p:cNvSpPr>
          <p:nvPr>
            <p:ph type="sldNum" sz="quarter" idx="2"/>
          </p:nvPr>
        </p:nvSpPr>
        <p:spPr>
          <a:xfrm>
            <a:off x="5892800" y="6172201"/>
            <a:ext cx="2844800" cy="368301"/>
          </a:xfrm>
          <a:prstGeom prst="rect">
            <a:avLst/>
          </a:prstGeom>
        </p:spPr>
        <p:txBody>
          <a:bodyPr/>
          <a:lstStyle/>
          <a:p>
            <a:fld id="{86CB4B4D-7CA3-9044-876B-883B54F8677D}" type="slidenum">
              <a:rPr>
                <a:solidFill>
                  <a:prstClr val="black"/>
                </a:solidFill>
              </a:rPr>
              <a:pPr/>
              <a:t>‹#›</a:t>
            </a:fld>
            <a:endParaRPr>
              <a:solidFill>
                <a:prstClr val="black"/>
              </a:solidFill>
            </a:endParaRPr>
          </a:p>
        </p:txBody>
      </p:sp>
    </p:spTree>
    <p:extLst>
      <p:ext uri="{BB962C8B-B14F-4D97-AF65-F5344CB8AC3E}">
        <p14:creationId xmlns:p14="http://schemas.microsoft.com/office/powerpoint/2010/main" val="17855161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slideLayout" Target="../slideLayouts/slideLayout51.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41"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theme" Target="../theme/theme2.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8" Type="http://schemas.openxmlformats.org/officeDocument/2006/relationships/slideLayout" Target="../slideLayouts/slideLayout20.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3CF500-1D26-44BC-BC6C-88E98416E58A}" type="datetimeFigureOut">
              <a:rPr lang="en-IN" smtClean="0">
                <a:solidFill>
                  <a:prstClr val="black">
                    <a:tint val="75000"/>
                  </a:prstClr>
                </a:solidFill>
              </a:rPr>
              <a:pPr/>
              <a:t>30-04-2026</a:t>
            </a:fld>
            <a:endParaRPr lang="en-IN">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8725909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175248" y="6550153"/>
            <a:ext cx="3105573" cy="48895"/>
          </a:xfrm>
          <a:custGeom>
            <a:avLst/>
            <a:gdLst/>
            <a:ahLst/>
            <a:cxnLst/>
            <a:rect l="l" t="t" r="r" b="b"/>
            <a:pathLst>
              <a:path w="2329179" h="48895">
                <a:moveTo>
                  <a:pt x="2328671" y="0"/>
                </a:moveTo>
                <a:lnTo>
                  <a:pt x="0" y="0"/>
                </a:lnTo>
                <a:lnTo>
                  <a:pt x="0" y="48768"/>
                </a:lnTo>
                <a:lnTo>
                  <a:pt x="2328671" y="48768"/>
                </a:lnTo>
                <a:lnTo>
                  <a:pt x="2328671"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7" name="bg object 17"/>
          <p:cNvSpPr/>
          <p:nvPr/>
        </p:nvSpPr>
        <p:spPr>
          <a:xfrm>
            <a:off x="9211056" y="6550152"/>
            <a:ext cx="2981113"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kern="0">
              <a:solidFill>
                <a:sysClr val="windowText" lastClr="000000"/>
              </a:solidFill>
            </a:endParaRPr>
          </a:p>
        </p:txBody>
      </p:sp>
      <p:sp>
        <p:nvSpPr>
          <p:cNvPr id="18" name="bg object 18"/>
          <p:cNvSpPr/>
          <p:nvPr/>
        </p:nvSpPr>
        <p:spPr>
          <a:xfrm>
            <a:off x="2779776" y="6550153"/>
            <a:ext cx="3440853" cy="48895"/>
          </a:xfrm>
          <a:custGeom>
            <a:avLst/>
            <a:gdLst/>
            <a:ahLst/>
            <a:cxnLst/>
            <a:rect l="l" t="t" r="r" b="b"/>
            <a:pathLst>
              <a:path w="2580640" h="48895">
                <a:moveTo>
                  <a:pt x="2580132" y="0"/>
                </a:moveTo>
                <a:lnTo>
                  <a:pt x="0" y="0"/>
                </a:lnTo>
                <a:lnTo>
                  <a:pt x="0" y="48768"/>
                </a:lnTo>
                <a:lnTo>
                  <a:pt x="2580132" y="48768"/>
                </a:lnTo>
                <a:lnTo>
                  <a:pt x="2580132"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0" name="bg object 20"/>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1" name="bg object 21"/>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pic>
        <p:nvPicPr>
          <p:cNvPr id="22" name="bg object 22"/>
          <p:cNvPicPr/>
          <p:nvPr/>
        </p:nvPicPr>
        <p:blipFill>
          <a:blip r:embed="rId41" cstate="print"/>
          <a:stretch>
            <a:fillRect/>
          </a:stretch>
        </p:blipFill>
        <p:spPr>
          <a:xfrm>
            <a:off x="8839201" y="0"/>
            <a:ext cx="2926079" cy="691896"/>
          </a:xfrm>
          <a:prstGeom prst="rect">
            <a:avLst/>
          </a:prstGeom>
        </p:spPr>
      </p:pic>
      <p:sp>
        <p:nvSpPr>
          <p:cNvPr id="23" name="bg object 23"/>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4" name="bg object 24"/>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5" name="bg object 25"/>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8" name="Title Placeholder 7"/>
          <p:cNvSpPr>
            <a:spLocks noGrp="1"/>
          </p:cNvSpPr>
          <p:nvPr>
            <p:ph type="title"/>
          </p:nvPr>
        </p:nvSpPr>
        <p:spPr>
          <a:xfrm>
            <a:off x="231987" y="32163"/>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9" name="Text Placeholder 8"/>
          <p:cNvSpPr>
            <a:spLocks noGrp="1"/>
          </p:cNvSpPr>
          <p:nvPr>
            <p:ph type="body" idx="1"/>
          </p:nvPr>
        </p:nvSpPr>
        <p:spPr>
          <a:xfrm>
            <a:off x="406400" y="167640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23821528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 id="2147483698" r:id="rId23"/>
    <p:sldLayoutId id="2147483699" r:id="rId24"/>
    <p:sldLayoutId id="2147483700" r:id="rId25"/>
    <p:sldLayoutId id="2147483701" r:id="rId26"/>
    <p:sldLayoutId id="2147483702" r:id="rId27"/>
    <p:sldLayoutId id="2147483703" r:id="rId28"/>
    <p:sldLayoutId id="2147483704" r:id="rId29"/>
    <p:sldLayoutId id="2147483705" r:id="rId30"/>
    <p:sldLayoutId id="2147483706" r:id="rId31"/>
    <p:sldLayoutId id="2147483707" r:id="rId32"/>
    <p:sldLayoutId id="2147483708" r:id="rId33"/>
    <p:sldLayoutId id="2147483709" r:id="rId34"/>
    <p:sldLayoutId id="2147483710" r:id="rId35"/>
    <p:sldLayoutId id="2147483711" r:id="rId36"/>
    <p:sldLayoutId id="2147483712" r:id="rId37"/>
    <p:sldLayoutId id="2147483713" r:id="rId38"/>
    <p:sldLayoutId id="2147483714" r:id="rId39"/>
  </p:sldLayoutIdLst>
  <p:txStyles>
    <p:titleStyle>
      <a:lvl1pPr>
        <a:defRPr sz="3600">
          <a:latin typeface="Cambria" panose="02040503050406030204" pitchFamily="18" charset="0"/>
          <a:ea typeface="Cambria" panose="02040503050406030204" pitchFamily="18" charset="0"/>
          <a:cs typeface="+mj-cs"/>
        </a:defRPr>
      </a:lvl1pPr>
    </p:titleStyle>
    <p:body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1.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1.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51.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1.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1.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51.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4.xml"/><Relationship Id="rId1" Type="http://schemas.openxmlformats.org/officeDocument/2006/relationships/slideLayout" Target="../slideLayouts/slideLayout51.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1.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5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8.xml.rels><?xml version="1.0" encoding="UTF-8" standalone="yes"?>
<Relationships xmlns="http://schemas.openxmlformats.org/package/2006/relationships"><Relationship Id="rId3" Type="http://schemas.openxmlformats.org/officeDocument/2006/relationships/hyperlink" Target="https://huggingface.co/spaces/HuggingFaceTB/smol-training-playbook#introduction" TargetMode="External"/><Relationship Id="rId2" Type="http://schemas.openxmlformats.org/officeDocument/2006/relationships/hyperlink" Target="https://aws.amazon.com/blogs/machine-learning/an-introduction-to-preparing-your-own-dataset-for-llm-training/" TargetMode="External"/><Relationship Id="rId1" Type="http://schemas.openxmlformats.org/officeDocument/2006/relationships/slideLayout" Target="../slideLayouts/slideLayout5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51.xml"/></Relationships>
</file>

<file path=ppt/slides/_rels/slide45.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51.xml"/></Relationships>
</file>

<file path=ppt/slides/_rels/slide46.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51.xml"/></Relationships>
</file>

<file path=ppt/slides/_rels/slide47.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5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438650" y="3714750"/>
            <a:ext cx="4629150" cy="1143000"/>
          </a:xfrm>
        </p:spPr>
        <p:txBody>
          <a:bodyPr/>
          <a:lstStyle/>
          <a:p>
            <a:pPr>
              <a:defRPr/>
            </a:pPr>
            <a:br>
              <a:rPr lang="en-US" sz="3000" dirty="0">
                <a:latin typeface="Times New Roman" panose="02020603050405020304" pitchFamily="18" charset="0"/>
                <a:cs typeface="Times New Roman" panose="02020603050405020304" pitchFamily="18" charset="0"/>
              </a:rPr>
            </a:br>
            <a:endParaRPr lang="en-US" sz="3000" dirty="0">
              <a:latin typeface="Times New Roman" panose="02020603050405020304" pitchFamily="18" charset="0"/>
              <a:cs typeface="Times New Roman" panose="02020603050405020304" pitchFamily="18" charset="0"/>
            </a:endParaRPr>
          </a:p>
        </p:txBody>
      </p:sp>
      <p:sp>
        <p:nvSpPr>
          <p:cNvPr id="14339" name="Content Placeholder 5"/>
          <p:cNvSpPr>
            <a:spLocks noGrp="1"/>
          </p:cNvSpPr>
          <p:nvPr>
            <p:ph sz="quarter" idx="13"/>
          </p:nvPr>
        </p:nvSpPr>
        <p:spPr>
          <a:xfrm>
            <a:off x="3198056" y="5140863"/>
            <a:ext cx="8026400" cy="533400"/>
          </a:xfrm>
        </p:spPr>
        <p:txBody>
          <a:bodyPr/>
          <a:lstStyle/>
          <a:p>
            <a:pPr eaLnBrk="1" hangingPunct="1">
              <a:spcBef>
                <a:spcPct val="0"/>
              </a:spcBef>
            </a:pPr>
            <a:r>
              <a:rPr lang="en-US" sz="1500" i="1" dirty="0">
                <a:latin typeface="Times New Roman" pitchFamily="18" charset="0"/>
                <a:cs typeface="Times New Roman" pitchFamily="18" charset="0"/>
              </a:rPr>
              <a:t>Dr. </a:t>
            </a:r>
            <a:r>
              <a:rPr lang="en-US" sz="1500" i="1" dirty="0" err="1">
                <a:latin typeface="Times New Roman" pitchFamily="18" charset="0"/>
                <a:cs typeface="Times New Roman" pitchFamily="18" charset="0"/>
              </a:rPr>
              <a:t>Monali</a:t>
            </a:r>
            <a:r>
              <a:rPr lang="en-US" sz="1500" i="1" dirty="0">
                <a:latin typeface="Times New Roman" pitchFamily="18" charset="0"/>
                <a:cs typeface="Times New Roman" pitchFamily="18" charset="0"/>
              </a:rPr>
              <a:t> </a:t>
            </a:r>
            <a:r>
              <a:rPr lang="en-US" sz="1500" i="1" dirty="0" err="1">
                <a:latin typeface="Times New Roman" pitchFamily="18" charset="0"/>
                <a:cs typeface="Times New Roman" pitchFamily="18" charset="0"/>
              </a:rPr>
              <a:t>Mavani</a:t>
            </a:r>
            <a:endParaRPr lang="en-US" sz="1500" i="1" dirty="0">
              <a:latin typeface="Times New Roman" pitchFamily="18" charset="0"/>
              <a:cs typeface="Times New Roman" pitchFamily="18" charset="0"/>
            </a:endParaRPr>
          </a:p>
        </p:txBody>
      </p:sp>
      <p:sp>
        <p:nvSpPr>
          <p:cNvPr id="4" name="Title 4"/>
          <p:cNvSpPr txBox="1">
            <a:spLocks/>
          </p:cNvSpPr>
          <p:nvPr/>
        </p:nvSpPr>
        <p:spPr>
          <a:xfrm>
            <a:off x="3329835" y="3562110"/>
            <a:ext cx="7113271" cy="1143000"/>
          </a:xfrm>
          <a:prstGeom prst="rect">
            <a:avLst/>
          </a:prstGeom>
        </p:spPr>
        <p:txBody>
          <a:bodyPr vert="horz" lIns="91440" tIns="45720" rIns="91440" bIns="45720" rtlCol="0" anchor="ctr" anchorCtr="0">
            <a:noAutofit/>
          </a:bodyPr>
          <a:lstStyle>
            <a:lvl1pPr algn="l" defTabSz="914400" rtl="0" eaLnBrk="1" latinLnBrk="0" hangingPunct="1">
              <a:lnSpc>
                <a:spcPts val="3000"/>
              </a:lnSpc>
              <a:spcBef>
                <a:spcPct val="0"/>
              </a:spcBef>
              <a:buNone/>
              <a:defRPr sz="3300" kern="1200" baseline="0">
                <a:solidFill>
                  <a:schemeClr val="bg1"/>
                </a:solidFill>
                <a:latin typeface="+mj-lt"/>
                <a:ea typeface="+mj-ea"/>
                <a:cs typeface="+mj-cs"/>
              </a:defRPr>
            </a:lvl1pPr>
          </a:lstStyle>
          <a:p>
            <a:pPr>
              <a:defRPr/>
            </a:pPr>
            <a:br>
              <a:rPr lang="en-US" sz="3000" dirty="0">
                <a:solidFill>
                  <a:prstClr val="white"/>
                </a:solidFill>
                <a:latin typeface="Times New Roman" panose="02020603050405020304" pitchFamily="18" charset="0"/>
                <a:cs typeface="Times New Roman" panose="02020603050405020304" pitchFamily="18" charset="0"/>
              </a:rPr>
            </a:br>
            <a:r>
              <a:rPr lang="en-US" sz="3000" dirty="0">
                <a:solidFill>
                  <a:prstClr val="white"/>
                </a:solidFill>
                <a:latin typeface="Times New Roman" panose="02020603050405020304" pitchFamily="18" charset="0"/>
                <a:cs typeface="Times New Roman" panose="02020603050405020304" pitchFamily="18" charset="0"/>
              </a:rPr>
              <a:t>Large Language Models for Generative AI</a:t>
            </a:r>
          </a:p>
          <a:p>
            <a:pPr>
              <a:defRPr/>
            </a:pPr>
            <a:r>
              <a:rPr lang="en-IN" sz="3200" dirty="0">
                <a:solidFill>
                  <a:prstClr val="white"/>
                </a:solidFill>
              </a:rPr>
              <a:t>AIML* ZG536</a:t>
            </a:r>
            <a:endParaRPr lang="en-US" sz="3000" dirty="0">
              <a:solidFill>
                <a:prstClr val="whit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182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latin typeface="Times New Roman" panose="02020603050405020304" pitchFamily="18" charset="0"/>
                <a:cs typeface="Times New Roman" panose="02020603050405020304" pitchFamily="18" charset="0"/>
              </a:rPr>
              <a:t>Large Language Models for Generative AI</a:t>
            </a:r>
            <a:endParaRPr lang="en-IN" dirty="0"/>
          </a:p>
          <a:p>
            <a:endParaRPr lang="en-IN" dirty="0"/>
          </a:p>
        </p:txBody>
      </p:sp>
      <p:sp>
        <p:nvSpPr>
          <p:cNvPr id="11" name="object 3">
            <a:extLst>
              <a:ext uri="{FF2B5EF4-FFF2-40B4-BE49-F238E27FC236}">
                <a16:creationId xmlns:a16="http://schemas.microsoft.com/office/drawing/2014/main" id="{71559224-CCC8-4C16-D35A-4A3643423349}"/>
              </a:ext>
            </a:extLst>
          </p:cNvPr>
          <p:cNvSpPr txBox="1"/>
          <p:nvPr/>
        </p:nvSpPr>
        <p:spPr>
          <a:xfrm>
            <a:off x="2758786" y="4133141"/>
            <a:ext cx="6777644" cy="848137"/>
          </a:xfrm>
          <a:prstGeom prst="rect">
            <a:avLst/>
          </a:prstGeom>
        </p:spPr>
        <p:txBody>
          <a:bodyPr vert="horz" wrap="square" lIns="0" tIns="24595" rIns="0" bIns="0" rtlCol="0">
            <a:spAutoFit/>
          </a:bodyPr>
          <a:lstStyle/>
          <a:p>
            <a:pPr marL="99961" marR="29325" lvl="0" indent="-93969" algn="l" defTabSz="914400" rtl="0" eaLnBrk="1" fontAlgn="base" latinLnBrk="0" hangingPunct="1">
              <a:lnSpc>
                <a:spcPts val="1153"/>
              </a:lnSpc>
              <a:spcBef>
                <a:spcPts val="194"/>
              </a:spcBef>
              <a:spcAft>
                <a:spcPct val="0"/>
              </a:spcAft>
              <a:buClrTx/>
              <a:buSzTx/>
              <a:buFont typeface="Arial MT"/>
              <a:buChar char="•"/>
              <a:tabLst>
                <a:tab pos="100276" algn="l"/>
              </a:tabLst>
              <a:defRPr/>
            </a:pP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content </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for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these slides has been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obtained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from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books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and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various other </a:t>
            </a:r>
            <a:r>
              <a:rPr kumimoji="0" sz="1200" b="0" i="0" u="none" strike="noStrike" kern="1200" cap="none" spc="-236"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source</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on the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Internet</a:t>
            </a:r>
            <a:endPar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endParaRPr>
          </a:p>
          <a:p>
            <a:pPr marL="99961" marR="0" lvl="0" indent="-93969" algn="l" defTabSz="914400" rtl="0" eaLnBrk="1" fontAlgn="base" latinLnBrk="0" hangingPunct="1">
              <a:lnSpc>
                <a:spcPct val="100000"/>
              </a:lnSpc>
              <a:spcBef>
                <a:spcPts val="258"/>
              </a:spcBef>
              <a:spcAft>
                <a:spcPct val="0"/>
              </a:spcAft>
              <a:buClrTx/>
              <a:buSzTx/>
              <a:buFont typeface="Arial MT"/>
              <a:buChar char="•"/>
              <a:tabLst>
                <a:tab pos="100276" algn="l"/>
              </a:tabLst>
              <a:defRPr/>
            </a:pP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here</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by</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acknowledge</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all</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contributors</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for</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their</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material</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and</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inputs.</a:t>
            </a:r>
            <a:endPar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endParaRPr>
          </a:p>
          <a:p>
            <a:pPr marL="99961" marR="0" lvl="0" indent="-93969" algn="l" defTabSz="914400" rtl="0" eaLnBrk="1" fontAlgn="base" latinLnBrk="0" hangingPunct="1">
              <a:lnSpc>
                <a:spcPct val="100000"/>
              </a:lnSpc>
              <a:spcBef>
                <a:spcPts val="281"/>
              </a:spcBef>
              <a:spcAft>
                <a:spcPct val="0"/>
              </a:spcAft>
              <a:buClrTx/>
              <a:buSzTx/>
              <a:buFont typeface="Arial MT"/>
              <a:buChar char="•"/>
              <a:tabLst>
                <a:tab pos="100276" algn="l"/>
              </a:tabLst>
              <a:defRPr/>
            </a:pP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 </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have</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provided</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source</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information</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wherever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necessary</a:t>
            </a:r>
            <a:endPar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endParaRPr>
          </a:p>
          <a:p>
            <a:pPr marL="99961" marR="0" lvl="0" indent="-93969" algn="l" defTabSz="914400" rtl="0" eaLnBrk="1" fontAlgn="base" latinLnBrk="0" hangingPunct="1">
              <a:lnSpc>
                <a:spcPct val="100000"/>
              </a:lnSpc>
              <a:spcBef>
                <a:spcPts val="281"/>
              </a:spcBef>
              <a:spcAft>
                <a:spcPct val="0"/>
              </a:spcAft>
              <a:buClrTx/>
              <a:buSzTx/>
              <a:buFont typeface="Arial MT"/>
              <a:buChar char="•"/>
              <a:tabLst>
                <a:tab pos="100276" algn="l"/>
              </a:tabLst>
              <a:defRPr/>
            </a:pP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 </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have</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added</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and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modified</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content to</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suit the</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requirements</a:t>
            </a:r>
            <a:r>
              <a:rPr kumimoji="0" sz="1200" b="0" i="0" u="none" strike="noStrike" kern="1200" cap="none" spc="-1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of the</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course</a:t>
            </a:r>
            <a:endPar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endParaRPr>
          </a:p>
        </p:txBody>
      </p:sp>
      <p:sp>
        <p:nvSpPr>
          <p:cNvPr id="12" name="object 4">
            <a:extLst>
              <a:ext uri="{FF2B5EF4-FFF2-40B4-BE49-F238E27FC236}">
                <a16:creationId xmlns:a16="http://schemas.microsoft.com/office/drawing/2014/main" id="{9A90E0B6-F04D-52C8-030F-1CE337EA31C8}"/>
              </a:ext>
            </a:extLst>
          </p:cNvPr>
          <p:cNvSpPr txBox="1"/>
          <p:nvPr/>
        </p:nvSpPr>
        <p:spPr>
          <a:xfrm>
            <a:off x="4467389" y="2171701"/>
            <a:ext cx="4274196" cy="233216"/>
          </a:xfrm>
          <a:prstGeom prst="rect">
            <a:avLst/>
          </a:prstGeom>
        </p:spPr>
        <p:txBody>
          <a:bodyPr vert="horz" wrap="square" lIns="0" tIns="7568" rIns="0" bIns="0" rtlCol="0">
            <a:spAutoFit/>
          </a:bodyPr>
          <a:lstStyle/>
          <a:p>
            <a:pPr marL="6306" marR="0" lvl="0" indent="0" algn="l" defTabSz="914400" rtl="0" eaLnBrk="1" fontAlgn="base" latinLnBrk="0" hangingPunct="1">
              <a:lnSpc>
                <a:spcPct val="100000"/>
              </a:lnSpc>
              <a:spcBef>
                <a:spcPts val="59"/>
              </a:spcBef>
              <a:spcAft>
                <a:spcPct val="0"/>
              </a:spcAft>
              <a:buClrTx/>
              <a:buSzTx/>
              <a:buFontTx/>
              <a:buNone/>
              <a:tabLst/>
              <a:defRPr/>
            </a:pPr>
            <a:r>
              <a:rPr kumimoji="0" sz="1466" b="0" i="0" u="none" strike="noStrike" kern="1200" cap="none" spc="-8"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Disclaimer</a:t>
            </a:r>
            <a:r>
              <a:rPr kumimoji="0" sz="1466" b="0" i="0" u="none" strike="noStrike" kern="1200" cap="none" spc="-35"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 </a:t>
            </a:r>
            <a:r>
              <a:rPr kumimoji="0" sz="1466" b="0" i="0" u="none" strike="noStrike" kern="1200" cap="none" spc="-5"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and</a:t>
            </a:r>
            <a:r>
              <a:rPr kumimoji="0" sz="1466" b="0" i="0" u="none" strike="noStrike" kern="1200" cap="none" spc="-35"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 </a:t>
            </a:r>
            <a:r>
              <a:rPr kumimoji="0" sz="1466" b="0" i="0" u="none" strike="noStrike" kern="1200" cap="none" spc="-12"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Acknowledgement</a:t>
            </a:r>
            <a:endParaRPr kumimoji="0" sz="1466"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Light"/>
            </a:endParaRPr>
          </a:p>
        </p:txBody>
      </p:sp>
      <p:pic>
        <p:nvPicPr>
          <p:cNvPr id="13" name="object 5">
            <a:extLst>
              <a:ext uri="{FF2B5EF4-FFF2-40B4-BE49-F238E27FC236}">
                <a16:creationId xmlns:a16="http://schemas.microsoft.com/office/drawing/2014/main" id="{4251F471-DEA0-6983-32A0-6AD5B097A233}"/>
              </a:ext>
            </a:extLst>
          </p:cNvPr>
          <p:cNvPicPr/>
          <p:nvPr/>
        </p:nvPicPr>
        <p:blipFill>
          <a:blip r:embed="rId2" cstate="print"/>
          <a:stretch>
            <a:fillRect/>
          </a:stretch>
        </p:blipFill>
        <p:spPr>
          <a:xfrm>
            <a:off x="5280598" y="2823275"/>
            <a:ext cx="815403" cy="891476"/>
          </a:xfrm>
          <a:prstGeom prst="rect">
            <a:avLst/>
          </a:prstGeom>
        </p:spPr>
      </p:pic>
    </p:spTree>
    <p:extLst>
      <p:ext uri="{BB962C8B-B14F-4D97-AF65-F5344CB8AC3E}">
        <p14:creationId xmlns:p14="http://schemas.microsoft.com/office/powerpoint/2010/main" val="90051559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Agenda</a:t>
            </a:r>
            <a:endParaRPr lang="en-IN" dirty="0"/>
          </a:p>
          <a:p>
            <a:endParaRPr lang="en-IN" dirty="0"/>
          </a:p>
        </p:txBody>
      </p:sp>
      <p:sp>
        <p:nvSpPr>
          <p:cNvPr id="3" name="Rectangle 2"/>
          <p:cNvSpPr/>
          <p:nvPr/>
        </p:nvSpPr>
        <p:spPr>
          <a:xfrm>
            <a:off x="163132" y="1411954"/>
            <a:ext cx="10217239" cy="3046988"/>
          </a:xfrm>
          <a:prstGeom prst="rect">
            <a:avLst/>
          </a:prstGeom>
        </p:spPr>
        <p:txBody>
          <a:bodyPr wrap="square">
            <a:spAutoFit/>
          </a:bodyPr>
          <a:lstStyle/>
          <a:p>
            <a:pPr marL="285750" lvl="0" indent="-285750">
              <a:buFont typeface="Arial" panose="020B0604020202020204" pitchFamily="34" charset="0"/>
              <a:buChar char="•"/>
            </a:pPr>
            <a:r>
              <a:rPr lang="en-IN" sz="3200" dirty="0"/>
              <a:t>LLM Pre-training</a:t>
            </a:r>
          </a:p>
          <a:p>
            <a:pPr marL="285750" lvl="0" indent="-285750">
              <a:buFont typeface="Arial" panose="020B0604020202020204" pitchFamily="34" charset="0"/>
              <a:buChar char="•"/>
            </a:pPr>
            <a:r>
              <a:rPr lang="en-IN" sz="3200" dirty="0"/>
              <a:t>Pre-training Objectives</a:t>
            </a:r>
          </a:p>
          <a:p>
            <a:pPr marL="285750" lvl="0" indent="-285750">
              <a:buFont typeface="Arial" panose="020B0604020202020204" pitchFamily="34" charset="0"/>
              <a:buChar char="•"/>
            </a:pPr>
            <a:r>
              <a:rPr lang="en-IN" sz="3200" dirty="0"/>
              <a:t>Pre-training Data </a:t>
            </a:r>
          </a:p>
          <a:p>
            <a:pPr marL="285750" lvl="0" indent="-285750">
              <a:buFont typeface="Arial" panose="020B0604020202020204" pitchFamily="34" charset="0"/>
              <a:buChar char="•"/>
            </a:pPr>
            <a:r>
              <a:rPr lang="en-IN" sz="3200" dirty="0"/>
              <a:t>Continuous Pre training (CPT) and Domain Adaptation</a:t>
            </a:r>
          </a:p>
          <a:p>
            <a:pPr marL="285750" lvl="0" indent="-285750">
              <a:buFont typeface="Arial" panose="020B0604020202020204" pitchFamily="34" charset="0"/>
              <a:buChar char="•"/>
            </a:pPr>
            <a:r>
              <a:rPr lang="en-IN" sz="3200" dirty="0"/>
              <a:t>Scaling Laws </a:t>
            </a:r>
          </a:p>
          <a:p>
            <a:pPr marL="285750" lvl="0" indent="-285750">
              <a:buFont typeface="Arial" panose="020B0604020202020204" pitchFamily="34" charset="0"/>
              <a:buChar char="•"/>
            </a:pPr>
            <a:r>
              <a:rPr lang="en-IN" sz="3200" dirty="0"/>
              <a:t>Pretraining of popular frontier models</a:t>
            </a:r>
          </a:p>
        </p:txBody>
      </p:sp>
    </p:spTree>
    <p:extLst>
      <p:ext uri="{BB962C8B-B14F-4D97-AF65-F5344CB8AC3E}">
        <p14:creationId xmlns:p14="http://schemas.microsoft.com/office/powerpoint/2010/main" val="402558075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5137B7-391C-D586-1A6C-6CB915E0ACC3}"/>
              </a:ext>
            </a:extLst>
          </p:cNvPr>
          <p:cNvSpPr>
            <a:spLocks noGrp="1"/>
          </p:cNvSpPr>
          <p:nvPr>
            <p:ph type="body" sz="quarter" idx="1"/>
          </p:nvPr>
        </p:nvSpPr>
        <p:spPr/>
        <p:txBody>
          <a:bodyPr/>
          <a:lstStyle/>
          <a:p>
            <a:r>
              <a:rPr lang="en-US" dirty="0"/>
              <a:t>Building a large language model</a:t>
            </a:r>
            <a:endParaRPr lang="en-IN" dirty="0"/>
          </a:p>
        </p:txBody>
      </p:sp>
      <p:pic>
        <p:nvPicPr>
          <p:cNvPr id="4" name="Picture 3">
            <a:extLst>
              <a:ext uri="{FF2B5EF4-FFF2-40B4-BE49-F238E27FC236}">
                <a16:creationId xmlns:a16="http://schemas.microsoft.com/office/drawing/2014/main" id="{CBE79AA7-D0BE-1DE8-3D29-FC879D1DBBC5}"/>
              </a:ext>
            </a:extLst>
          </p:cNvPr>
          <p:cNvPicPr>
            <a:picLocks noChangeAspect="1"/>
          </p:cNvPicPr>
          <p:nvPr/>
        </p:nvPicPr>
        <p:blipFill>
          <a:blip r:embed="rId2"/>
          <a:stretch>
            <a:fillRect/>
          </a:stretch>
        </p:blipFill>
        <p:spPr>
          <a:xfrm>
            <a:off x="437931" y="1097643"/>
            <a:ext cx="10816846" cy="5607957"/>
          </a:xfrm>
          <a:prstGeom prst="rect">
            <a:avLst/>
          </a:prstGeom>
        </p:spPr>
      </p:pic>
    </p:spTree>
    <p:extLst>
      <p:ext uri="{BB962C8B-B14F-4D97-AF65-F5344CB8AC3E}">
        <p14:creationId xmlns:p14="http://schemas.microsoft.com/office/powerpoint/2010/main" val="379472588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0" y="1313996"/>
            <a:ext cx="5244661" cy="5201940"/>
          </a:xfrm>
        </p:spPr>
        <p:txBody>
          <a:bodyPr>
            <a:noAutofit/>
          </a:bodyPr>
          <a:lstStyle/>
          <a:p>
            <a:pPr marL="342900" indent="-342900">
              <a:buFont typeface="Arial" panose="020B0604020202020204" pitchFamily="34" charset="0"/>
              <a:buChar char="•"/>
            </a:pPr>
            <a:r>
              <a:rPr lang="en-US" sz="2000"/>
              <a:t>Model learns the structure of language simply by reading vast amounts of text and trying to predict the next word (GPT) or fill in the blank(BERT)</a:t>
            </a:r>
          </a:p>
          <a:p>
            <a:pPr marL="342900" indent="-342900">
              <a:buFont typeface="Arial" panose="020B0604020202020204" pitchFamily="34" charset="0"/>
              <a:buChar char="•"/>
            </a:pPr>
            <a:r>
              <a:rPr lang="en-US" sz="2000"/>
              <a:t>It requires no human labeling because the "correct answer" is always just the next word in the sentence</a:t>
            </a:r>
          </a:p>
          <a:p>
            <a:pPr marL="342900" indent="-342900">
              <a:buFont typeface="Arial" panose="020B0604020202020204" pitchFamily="34" charset="0"/>
              <a:buChar char="•"/>
            </a:pPr>
            <a:r>
              <a:rPr lang="en-US" sz="2000"/>
              <a:t>We find a way to obtain labels from the dataset’s structure to formulate a prediction task for the neural network</a:t>
            </a:r>
          </a:p>
          <a:p>
            <a:pPr marL="342900" indent="-342900">
              <a:buFont typeface="Arial" panose="020B0604020202020204" pitchFamily="34" charset="0"/>
              <a:buChar char="•"/>
            </a:pPr>
            <a:r>
              <a:rPr lang="en-US" sz="2000"/>
              <a:t>These self-supervised training tasks are also called </a:t>
            </a:r>
            <a:r>
              <a:rPr lang="en-US" sz="2000" i="1"/>
              <a:t>pretext tasks</a:t>
            </a:r>
            <a:r>
              <a:rPr lang="en-US" sz="2000"/>
              <a:t>.</a:t>
            </a:r>
          </a:p>
          <a:p>
            <a:pPr marL="342900" indent="-342900">
              <a:buFont typeface="Arial" panose="020B0604020202020204" pitchFamily="34" charset="0"/>
              <a:buChar char="•"/>
            </a:pPr>
            <a:endParaRPr lang="en-IN" sz="2000" dirty="0"/>
          </a:p>
        </p:txBody>
      </p:sp>
      <p:sp>
        <p:nvSpPr>
          <p:cNvPr id="3" name="Title 2"/>
          <p:cNvSpPr>
            <a:spLocks noGrp="1"/>
          </p:cNvSpPr>
          <p:nvPr>
            <p:ph type="title"/>
          </p:nvPr>
        </p:nvSpPr>
        <p:spPr/>
        <p:txBody>
          <a:bodyPr/>
          <a:lstStyle/>
          <a:p>
            <a:r>
              <a:rPr lang="en-US" dirty="0"/>
              <a:t>Self-Supervised Learning</a:t>
            </a:r>
          </a:p>
        </p:txBody>
      </p:sp>
      <p:pic>
        <p:nvPicPr>
          <p:cNvPr id="5124" name="Picture 4" descr="SELF Supervised">
            <a:extLst>
              <a:ext uri="{FF2B5EF4-FFF2-40B4-BE49-F238E27FC236}">
                <a16:creationId xmlns:a16="http://schemas.microsoft.com/office/drawing/2014/main" id="{7DE18912-052F-D6A7-AF51-738C8A954C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2045129"/>
            <a:ext cx="6292248" cy="380387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0B81683-C672-82E5-5F77-DAE1BDD6C90A}"/>
              </a:ext>
            </a:extLst>
          </p:cNvPr>
          <p:cNvSpPr txBox="1"/>
          <p:nvPr/>
        </p:nvSpPr>
        <p:spPr>
          <a:xfrm>
            <a:off x="0" y="6515936"/>
            <a:ext cx="6122276" cy="246221"/>
          </a:xfrm>
          <a:prstGeom prst="rect">
            <a:avLst/>
          </a:prstGeom>
          <a:noFill/>
        </p:spPr>
        <p:txBody>
          <a:bodyPr wrap="square">
            <a:spAutoFit/>
          </a:bodyPr>
          <a:lstStyle/>
          <a:p>
            <a:r>
              <a:rPr lang="en-IN" sz="1000" dirty="0"/>
              <a:t>https://sebastianraschka.com/faq/docs/self-supervised.html</a:t>
            </a:r>
          </a:p>
        </p:txBody>
      </p:sp>
    </p:spTree>
    <p:extLst>
      <p:ext uri="{BB962C8B-B14F-4D97-AF65-F5344CB8AC3E}">
        <p14:creationId xmlns:p14="http://schemas.microsoft.com/office/powerpoint/2010/main" val="1583975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BFE79E-8DF0-9787-0C22-8A6F5A94D0CB}"/>
              </a:ext>
            </a:extLst>
          </p:cNvPr>
          <p:cNvSpPr>
            <a:spLocks noGrp="1"/>
          </p:cNvSpPr>
          <p:nvPr>
            <p:ph type="body" sz="quarter" idx="1"/>
          </p:nvPr>
        </p:nvSpPr>
        <p:spPr/>
        <p:txBody>
          <a:bodyPr/>
          <a:lstStyle/>
          <a:p>
            <a:r>
              <a:rPr lang="en-IN" dirty="0"/>
              <a:t>Pre-training Objectives</a:t>
            </a:r>
          </a:p>
        </p:txBody>
      </p:sp>
      <p:pic>
        <p:nvPicPr>
          <p:cNvPr id="4" name="Picture 3">
            <a:extLst>
              <a:ext uri="{FF2B5EF4-FFF2-40B4-BE49-F238E27FC236}">
                <a16:creationId xmlns:a16="http://schemas.microsoft.com/office/drawing/2014/main" id="{01194C91-9016-1A2E-CC79-DC45BAF2A8A1}"/>
              </a:ext>
            </a:extLst>
          </p:cNvPr>
          <p:cNvPicPr>
            <a:picLocks noChangeAspect="1"/>
          </p:cNvPicPr>
          <p:nvPr/>
        </p:nvPicPr>
        <p:blipFill>
          <a:blip r:embed="rId3"/>
          <a:stretch>
            <a:fillRect/>
          </a:stretch>
        </p:blipFill>
        <p:spPr>
          <a:xfrm>
            <a:off x="568293" y="1266497"/>
            <a:ext cx="10236726" cy="4673840"/>
          </a:xfrm>
          <a:prstGeom prst="rect">
            <a:avLst/>
          </a:prstGeom>
        </p:spPr>
      </p:pic>
      <p:sp>
        <p:nvSpPr>
          <p:cNvPr id="6" name="TextBox 5">
            <a:extLst>
              <a:ext uri="{FF2B5EF4-FFF2-40B4-BE49-F238E27FC236}">
                <a16:creationId xmlns:a16="http://schemas.microsoft.com/office/drawing/2014/main" id="{E3940ECC-C423-F95D-7EAB-81B96592150F}"/>
              </a:ext>
            </a:extLst>
          </p:cNvPr>
          <p:cNvSpPr txBox="1"/>
          <p:nvPr/>
        </p:nvSpPr>
        <p:spPr>
          <a:xfrm>
            <a:off x="69011" y="6582489"/>
            <a:ext cx="6096000" cy="246221"/>
          </a:xfrm>
          <a:prstGeom prst="rect">
            <a:avLst/>
          </a:prstGeom>
          <a:noFill/>
        </p:spPr>
        <p:txBody>
          <a:bodyPr wrap="square">
            <a:spAutoFit/>
          </a:bodyPr>
          <a:lstStyle/>
          <a:p>
            <a:r>
              <a:rPr lang="en-IN" sz="1000" dirty="0"/>
              <a:t>Credits : https://taoyds.github.io/courses/comp3361</a:t>
            </a:r>
          </a:p>
        </p:txBody>
      </p:sp>
      <p:sp>
        <p:nvSpPr>
          <p:cNvPr id="9" name="TextBox 8">
            <a:extLst>
              <a:ext uri="{FF2B5EF4-FFF2-40B4-BE49-F238E27FC236}">
                <a16:creationId xmlns:a16="http://schemas.microsoft.com/office/drawing/2014/main" id="{7CCE4445-1DF6-894C-C4F1-D066F4E4EE10}"/>
              </a:ext>
            </a:extLst>
          </p:cNvPr>
          <p:cNvSpPr txBox="1"/>
          <p:nvPr/>
        </p:nvSpPr>
        <p:spPr>
          <a:xfrm>
            <a:off x="7757019" y="6167459"/>
            <a:ext cx="6096000" cy="369332"/>
          </a:xfrm>
          <a:prstGeom prst="rect">
            <a:avLst/>
          </a:prstGeom>
          <a:noFill/>
        </p:spPr>
        <p:txBody>
          <a:bodyPr wrap="square">
            <a:spAutoFit/>
          </a:bodyPr>
          <a:lstStyle/>
          <a:p>
            <a:r>
              <a:rPr lang="en-US" sz="1800" b="1" dirty="0"/>
              <a:t>Causal Language Modeling (CLM)</a:t>
            </a:r>
            <a:endParaRPr lang="en-IN" dirty="0"/>
          </a:p>
        </p:txBody>
      </p:sp>
      <p:sp>
        <p:nvSpPr>
          <p:cNvPr id="11" name="TextBox 10">
            <a:extLst>
              <a:ext uri="{FF2B5EF4-FFF2-40B4-BE49-F238E27FC236}">
                <a16:creationId xmlns:a16="http://schemas.microsoft.com/office/drawing/2014/main" id="{3236EF4D-A9AC-6441-C24D-1A7E45F72F79}"/>
              </a:ext>
            </a:extLst>
          </p:cNvPr>
          <p:cNvSpPr txBox="1"/>
          <p:nvPr/>
        </p:nvSpPr>
        <p:spPr>
          <a:xfrm>
            <a:off x="406400" y="6076747"/>
            <a:ext cx="2767724" cy="646331"/>
          </a:xfrm>
          <a:prstGeom prst="rect">
            <a:avLst/>
          </a:prstGeom>
          <a:noFill/>
        </p:spPr>
        <p:txBody>
          <a:bodyPr wrap="square">
            <a:spAutoFit/>
          </a:bodyPr>
          <a:lstStyle/>
          <a:p>
            <a:r>
              <a:rPr lang="en-US" altLang="en-US" dirty="0"/>
              <a:t>Masked Language Modeling (MLM)</a:t>
            </a:r>
          </a:p>
        </p:txBody>
      </p:sp>
    </p:spTree>
    <p:extLst>
      <p:ext uri="{BB962C8B-B14F-4D97-AF65-F5344CB8AC3E}">
        <p14:creationId xmlns:p14="http://schemas.microsoft.com/office/powerpoint/2010/main" val="295660364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0"/>
          </p:nvPr>
        </p:nvPicPr>
        <p:blipFill>
          <a:blip r:embed="rId2"/>
          <a:stretch>
            <a:fillRect/>
          </a:stretch>
        </p:blipFill>
        <p:spPr>
          <a:xfrm>
            <a:off x="1402475" y="1219905"/>
            <a:ext cx="8172450" cy="4717733"/>
          </a:xfrm>
          <a:prstGeom prst="rect">
            <a:avLst/>
          </a:prstGeom>
        </p:spPr>
      </p:pic>
      <p:sp>
        <p:nvSpPr>
          <p:cNvPr id="3" name="Title 2"/>
          <p:cNvSpPr>
            <a:spLocks noGrp="1"/>
          </p:cNvSpPr>
          <p:nvPr>
            <p:ph type="title"/>
          </p:nvPr>
        </p:nvSpPr>
        <p:spPr/>
        <p:txBody>
          <a:bodyPr/>
          <a:lstStyle/>
          <a:p>
            <a:r>
              <a:rPr lang="en-US" altLang="en-US" dirty="0">
                <a:solidFill>
                  <a:schemeClr val="tx1"/>
                </a:solidFill>
              </a:rPr>
              <a:t>LLM training</a:t>
            </a:r>
            <a:endParaRPr lang="en-IN" dirty="0"/>
          </a:p>
        </p:txBody>
      </p:sp>
    </p:spTree>
    <p:extLst>
      <p:ext uri="{BB962C8B-B14F-4D97-AF65-F5344CB8AC3E}">
        <p14:creationId xmlns:p14="http://schemas.microsoft.com/office/powerpoint/2010/main" val="1090839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148036-ED35-DB44-19CC-B63AF4C294D1}"/>
              </a:ext>
            </a:extLst>
          </p:cNvPr>
          <p:cNvSpPr>
            <a:spLocks noGrp="1"/>
          </p:cNvSpPr>
          <p:nvPr>
            <p:ph type="title"/>
          </p:nvPr>
        </p:nvSpPr>
        <p:spPr/>
        <p:txBody>
          <a:bodyPr/>
          <a:lstStyle/>
          <a:p>
            <a:r>
              <a:rPr lang="en-US" dirty="0"/>
              <a:t>Modern LLM development and training pipeline</a:t>
            </a:r>
            <a:endParaRPr lang="en-IN" dirty="0"/>
          </a:p>
        </p:txBody>
      </p:sp>
      <p:pic>
        <p:nvPicPr>
          <p:cNvPr id="1026" name="Picture 2">
            <a:extLst>
              <a:ext uri="{FF2B5EF4-FFF2-40B4-BE49-F238E27FC236}">
                <a16:creationId xmlns:a16="http://schemas.microsoft.com/office/drawing/2014/main" id="{0375AA7D-D28B-87A3-433E-B2FAACECF509}"/>
              </a:ext>
            </a:extLst>
          </p:cNvPr>
          <p:cNvPicPr>
            <a:picLocks noGrp="1" noChangeAspect="1" noChangeArrowheads="1"/>
          </p:cNvPicPr>
          <p:nvPr>
            <p:ph idx="10"/>
          </p:nvPr>
        </p:nvPicPr>
        <p:blipFill>
          <a:blip r:embed="rId2">
            <a:extLst>
              <a:ext uri="{28A0092B-C50C-407E-A947-70E740481C1C}">
                <a14:useLocalDpi xmlns:a14="http://schemas.microsoft.com/office/drawing/2010/main" val="0"/>
              </a:ext>
            </a:extLst>
          </a:blip>
          <a:srcRect/>
          <a:stretch>
            <a:fillRect/>
          </a:stretch>
        </p:blipFill>
        <p:spPr bwMode="auto">
          <a:xfrm>
            <a:off x="304800" y="1837944"/>
            <a:ext cx="11480800" cy="393934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13D70B7-3136-5726-F999-D4AA408D66D3}"/>
              </a:ext>
            </a:extLst>
          </p:cNvPr>
          <p:cNvSpPr txBox="1"/>
          <p:nvPr/>
        </p:nvSpPr>
        <p:spPr>
          <a:xfrm>
            <a:off x="0" y="6611779"/>
            <a:ext cx="10089931" cy="246221"/>
          </a:xfrm>
          <a:prstGeom prst="rect">
            <a:avLst/>
          </a:prstGeom>
          <a:noFill/>
        </p:spPr>
        <p:txBody>
          <a:bodyPr wrap="square">
            <a:spAutoFit/>
          </a:bodyPr>
          <a:lstStyle/>
          <a:p>
            <a:r>
              <a:rPr lang="en-IN" sz="1000" dirty="0"/>
              <a:t>Credits: https://magazine.sebastianraschka.com/p/new-llm-pre-training-and-post-training</a:t>
            </a:r>
          </a:p>
        </p:txBody>
      </p:sp>
    </p:spTree>
    <p:extLst>
      <p:ext uri="{BB962C8B-B14F-4D97-AF65-F5344CB8AC3E}">
        <p14:creationId xmlns:p14="http://schemas.microsoft.com/office/powerpoint/2010/main" val="2881578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973314B-DE61-8C6A-CBE0-A3E20DF91E98}"/>
              </a:ext>
            </a:extLst>
          </p:cNvPr>
          <p:cNvSpPr>
            <a:spLocks noGrp="1"/>
          </p:cNvSpPr>
          <p:nvPr>
            <p:ph type="body" sz="quarter" idx="1"/>
          </p:nvPr>
        </p:nvSpPr>
        <p:spPr/>
        <p:txBody>
          <a:bodyPr/>
          <a:lstStyle/>
          <a:p>
            <a:r>
              <a:rPr lang="en-US" dirty="0"/>
              <a:t>Modern pre-training</a:t>
            </a:r>
            <a:endParaRPr lang="en-IN" dirty="0"/>
          </a:p>
        </p:txBody>
      </p:sp>
      <p:pic>
        <p:nvPicPr>
          <p:cNvPr id="5" name="Picture 4">
            <a:extLst>
              <a:ext uri="{FF2B5EF4-FFF2-40B4-BE49-F238E27FC236}">
                <a16:creationId xmlns:a16="http://schemas.microsoft.com/office/drawing/2014/main" id="{23427EEF-B0CD-C5ED-AF81-B5AB4C2EBDF2}"/>
              </a:ext>
            </a:extLst>
          </p:cNvPr>
          <p:cNvPicPr>
            <a:picLocks noChangeAspect="1"/>
          </p:cNvPicPr>
          <p:nvPr/>
        </p:nvPicPr>
        <p:blipFill>
          <a:blip r:embed="rId3"/>
          <a:stretch>
            <a:fillRect/>
          </a:stretch>
        </p:blipFill>
        <p:spPr>
          <a:xfrm>
            <a:off x="931345" y="1539799"/>
            <a:ext cx="9524620" cy="5049845"/>
          </a:xfrm>
          <a:prstGeom prst="rect">
            <a:avLst/>
          </a:prstGeom>
        </p:spPr>
      </p:pic>
    </p:spTree>
    <p:extLst>
      <p:ext uri="{BB962C8B-B14F-4D97-AF65-F5344CB8AC3E}">
        <p14:creationId xmlns:p14="http://schemas.microsoft.com/office/powerpoint/2010/main" val="103671895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0E21EE-D042-D796-DA54-2904207B7F35}"/>
              </a:ext>
            </a:extLst>
          </p:cNvPr>
          <p:cNvSpPr>
            <a:spLocks noGrp="1"/>
          </p:cNvSpPr>
          <p:nvPr>
            <p:ph type="body" sz="quarter" idx="1"/>
          </p:nvPr>
        </p:nvSpPr>
        <p:spPr/>
        <p:txBody>
          <a:bodyPr/>
          <a:lstStyle/>
          <a:p>
            <a:r>
              <a:rPr lang="en-IN" dirty="0"/>
              <a:t>Data mixture</a:t>
            </a:r>
          </a:p>
        </p:txBody>
      </p:sp>
      <p:pic>
        <p:nvPicPr>
          <p:cNvPr id="4" name="Picture 3">
            <a:extLst>
              <a:ext uri="{FF2B5EF4-FFF2-40B4-BE49-F238E27FC236}">
                <a16:creationId xmlns:a16="http://schemas.microsoft.com/office/drawing/2014/main" id="{99229409-E230-E1F0-F8B1-9653D807C0DA}"/>
              </a:ext>
            </a:extLst>
          </p:cNvPr>
          <p:cNvPicPr>
            <a:picLocks noChangeAspect="1"/>
          </p:cNvPicPr>
          <p:nvPr/>
        </p:nvPicPr>
        <p:blipFill>
          <a:blip r:embed="rId2"/>
          <a:stretch>
            <a:fillRect/>
          </a:stretch>
        </p:blipFill>
        <p:spPr>
          <a:xfrm>
            <a:off x="241737" y="1127234"/>
            <a:ext cx="7583245" cy="3454121"/>
          </a:xfrm>
          <a:prstGeom prst="rect">
            <a:avLst/>
          </a:prstGeom>
        </p:spPr>
      </p:pic>
      <p:sp>
        <p:nvSpPr>
          <p:cNvPr id="6" name="TextBox 5">
            <a:extLst>
              <a:ext uri="{FF2B5EF4-FFF2-40B4-BE49-F238E27FC236}">
                <a16:creationId xmlns:a16="http://schemas.microsoft.com/office/drawing/2014/main" id="{43C2ED4C-688C-E6EA-A5EF-ACB8AEEB3AC4}"/>
              </a:ext>
            </a:extLst>
          </p:cNvPr>
          <p:cNvSpPr txBox="1"/>
          <p:nvPr/>
        </p:nvSpPr>
        <p:spPr>
          <a:xfrm>
            <a:off x="7824982" y="1570241"/>
            <a:ext cx="4456386" cy="2246769"/>
          </a:xfrm>
          <a:prstGeom prst="rect">
            <a:avLst/>
          </a:prstGeom>
          <a:noFill/>
        </p:spPr>
        <p:txBody>
          <a:bodyPr wrap="square">
            <a:spAutoFit/>
          </a:bodyPr>
          <a:lstStyle/>
          <a:p>
            <a:pPr marL="34290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Two levels</a:t>
            </a:r>
          </a:p>
          <a:p>
            <a:pPr marL="800100" lvl="1"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Global level (i.e., the distribution of the entire pre-training data) </a:t>
            </a:r>
          </a:p>
          <a:p>
            <a:pPr marL="800100" lvl="1"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Locally set to varied proportions at different training stages</a:t>
            </a:r>
          </a:p>
        </p:txBody>
      </p:sp>
      <p:sp>
        <p:nvSpPr>
          <p:cNvPr id="8" name="TextBox 7">
            <a:extLst>
              <a:ext uri="{FF2B5EF4-FFF2-40B4-BE49-F238E27FC236}">
                <a16:creationId xmlns:a16="http://schemas.microsoft.com/office/drawing/2014/main" id="{81445D85-BF02-6BD8-04DB-D1E4D35538AC}"/>
              </a:ext>
            </a:extLst>
          </p:cNvPr>
          <p:cNvSpPr txBox="1"/>
          <p:nvPr/>
        </p:nvSpPr>
        <p:spPr>
          <a:xfrm>
            <a:off x="247023" y="4919008"/>
            <a:ext cx="11850384" cy="1015663"/>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Llama 3 </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Knowledge cutoff end of 2023</a:t>
            </a:r>
          </a:p>
          <a:p>
            <a:pPr marL="342900" indent="-342900">
              <a:buFont typeface="Arial" panose="020B0604020202020204" pitchFamily="34" charset="0"/>
              <a:buChar char="•"/>
            </a:pPr>
            <a:r>
              <a:rPr lang="en-IN" sz="2000" dirty="0" err="1">
                <a:latin typeface="Cambria" panose="02040503050406030204" pitchFamily="18" charset="0"/>
                <a:ea typeface="Cambria" panose="02040503050406030204" pitchFamily="18" charset="0"/>
              </a:rPr>
              <a:t>Downsample</a:t>
            </a:r>
            <a:r>
              <a:rPr lang="en-IN" sz="2000" dirty="0">
                <a:latin typeface="Cambria" panose="02040503050406030204" pitchFamily="18" charset="0"/>
                <a:ea typeface="Cambria" panose="02040503050406030204" pitchFamily="18" charset="0"/>
              </a:rPr>
              <a:t> data categories that are over-represented on the web, for example, arts and entertainment</a:t>
            </a:r>
          </a:p>
        </p:txBody>
      </p:sp>
    </p:spTree>
    <p:extLst>
      <p:ext uri="{BB962C8B-B14F-4D97-AF65-F5344CB8AC3E}">
        <p14:creationId xmlns:p14="http://schemas.microsoft.com/office/powerpoint/2010/main" val="216333779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5F65DC-F750-C5D8-78E9-DFBAAD7525DF}"/>
              </a:ext>
            </a:extLst>
          </p:cNvPr>
          <p:cNvSpPr>
            <a:spLocks noGrp="1"/>
          </p:cNvSpPr>
          <p:nvPr>
            <p:ph type="body" sz="quarter" idx="1"/>
          </p:nvPr>
        </p:nvSpPr>
        <p:spPr/>
        <p:txBody>
          <a:bodyPr/>
          <a:lstStyle/>
          <a:p>
            <a:r>
              <a:rPr lang="en-US" dirty="0"/>
              <a:t>Data Curriculum</a:t>
            </a:r>
            <a:endParaRPr lang="en-IN" dirty="0"/>
          </a:p>
        </p:txBody>
      </p:sp>
      <p:sp>
        <p:nvSpPr>
          <p:cNvPr id="4" name="TextBox 3">
            <a:extLst>
              <a:ext uri="{FF2B5EF4-FFF2-40B4-BE49-F238E27FC236}">
                <a16:creationId xmlns:a16="http://schemas.microsoft.com/office/drawing/2014/main" id="{A3FBC364-B26E-C9E2-BFA1-20244E528E85}"/>
              </a:ext>
            </a:extLst>
          </p:cNvPr>
          <p:cNvSpPr txBox="1"/>
          <p:nvPr/>
        </p:nvSpPr>
        <p:spPr>
          <a:xfrm>
            <a:off x="5976883" y="1653226"/>
            <a:ext cx="6097656" cy="1938992"/>
          </a:xfrm>
          <a:prstGeom prst="rect">
            <a:avLst/>
          </a:prstGeom>
          <a:noFill/>
        </p:spPr>
        <p:txBody>
          <a:bodyPr wrap="square">
            <a:spAutoFit/>
          </a:bodyPr>
          <a:lstStyle/>
          <a:p>
            <a:r>
              <a:rPr lang="en-IN" sz="2400" dirty="0">
                <a:latin typeface="Cambria" panose="02040503050406030204" pitchFamily="18" charset="0"/>
                <a:ea typeface="Cambria" panose="02040503050406030204" pitchFamily="18" charset="0"/>
              </a:rPr>
              <a:t>It aims to organize different parts of pre-training data for LLMs in a specific order, e.g., starting with easy/general examples and progressively introducing more challenging/specialized ones</a:t>
            </a:r>
          </a:p>
        </p:txBody>
      </p:sp>
      <p:pic>
        <p:nvPicPr>
          <p:cNvPr id="6" name="Picture 5">
            <a:extLst>
              <a:ext uri="{FF2B5EF4-FFF2-40B4-BE49-F238E27FC236}">
                <a16:creationId xmlns:a16="http://schemas.microsoft.com/office/drawing/2014/main" id="{308B3AF3-E741-925F-468E-7F59BB2ECFAB}"/>
              </a:ext>
            </a:extLst>
          </p:cNvPr>
          <p:cNvPicPr>
            <a:picLocks noChangeAspect="1"/>
          </p:cNvPicPr>
          <p:nvPr/>
        </p:nvPicPr>
        <p:blipFill>
          <a:blip r:embed="rId2"/>
          <a:stretch>
            <a:fillRect/>
          </a:stretch>
        </p:blipFill>
        <p:spPr>
          <a:xfrm>
            <a:off x="227492" y="1528475"/>
            <a:ext cx="5129907" cy="2896380"/>
          </a:xfrm>
          <a:prstGeom prst="rect">
            <a:avLst/>
          </a:prstGeom>
        </p:spPr>
      </p:pic>
      <p:sp>
        <p:nvSpPr>
          <p:cNvPr id="8" name="TextBox 7">
            <a:extLst>
              <a:ext uri="{FF2B5EF4-FFF2-40B4-BE49-F238E27FC236}">
                <a16:creationId xmlns:a16="http://schemas.microsoft.com/office/drawing/2014/main" id="{FE877C67-0488-497C-6E20-B83F6A0A9EBD}"/>
              </a:ext>
            </a:extLst>
          </p:cNvPr>
          <p:cNvSpPr txBox="1"/>
          <p:nvPr/>
        </p:nvSpPr>
        <p:spPr>
          <a:xfrm>
            <a:off x="227492" y="4970233"/>
            <a:ext cx="6096000" cy="1261884"/>
          </a:xfrm>
          <a:prstGeom prst="rect">
            <a:avLst/>
          </a:prstGeom>
          <a:noFill/>
        </p:spPr>
        <p:txBody>
          <a:bodyPr wrap="square">
            <a:spAutoFit/>
          </a:bodyPr>
          <a:lstStyle>
            <a:defPPr>
              <a:defRPr lang="en-US"/>
            </a:defPPr>
            <a:lvl1pPr>
              <a:defRPr sz="2400">
                <a:latin typeface="Cambria" panose="02040503050406030204" pitchFamily="18" charset="0"/>
                <a:ea typeface="Cambria" panose="02040503050406030204" pitchFamily="18" charset="0"/>
              </a:defRPr>
            </a:lvl1pPr>
          </a:lstStyle>
          <a:p>
            <a:r>
              <a:rPr lang="en-US" dirty="0"/>
              <a:t>Llama 3 </a:t>
            </a:r>
          </a:p>
          <a:p>
            <a:pPr lvl="1"/>
            <a:r>
              <a:rPr lang="en-US" dirty="0"/>
              <a:t>Data annealing improved the performance of a pre-trained Llama 3 8B model</a:t>
            </a:r>
          </a:p>
          <a:p>
            <a:pPr lvl="1"/>
            <a:r>
              <a:rPr lang="en-US" dirty="0"/>
              <a:t>improvements on the 405B model are negligible</a:t>
            </a:r>
            <a:endParaRPr lang="en-IN" dirty="0"/>
          </a:p>
        </p:txBody>
      </p:sp>
    </p:spTree>
    <p:extLst>
      <p:ext uri="{BB962C8B-B14F-4D97-AF65-F5344CB8AC3E}">
        <p14:creationId xmlns:p14="http://schemas.microsoft.com/office/powerpoint/2010/main" val="32064148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4C2546D-7132-6A2F-20D2-BA380884A44C}"/>
              </a:ext>
            </a:extLst>
          </p:cNvPr>
          <p:cNvSpPr>
            <a:spLocks noGrp="1"/>
          </p:cNvSpPr>
          <p:nvPr>
            <p:ph type="body" sz="quarter" idx="1"/>
          </p:nvPr>
        </p:nvSpPr>
        <p:spPr/>
        <p:txBody>
          <a:bodyPr/>
          <a:lstStyle/>
          <a:p>
            <a:r>
              <a:rPr lang="en-US" dirty="0"/>
              <a:t>Commonly Used Corpora for Pre-training</a:t>
            </a:r>
            <a:endParaRPr lang="en-IN" dirty="0"/>
          </a:p>
        </p:txBody>
      </p:sp>
      <p:pic>
        <p:nvPicPr>
          <p:cNvPr id="4" name="Picture 3">
            <a:extLst>
              <a:ext uri="{FF2B5EF4-FFF2-40B4-BE49-F238E27FC236}">
                <a16:creationId xmlns:a16="http://schemas.microsoft.com/office/drawing/2014/main" id="{C6E9B6E2-2B9E-877B-6EBA-187F884C86DF}"/>
              </a:ext>
            </a:extLst>
          </p:cNvPr>
          <p:cNvPicPr>
            <a:picLocks noChangeAspect="1"/>
          </p:cNvPicPr>
          <p:nvPr/>
        </p:nvPicPr>
        <p:blipFill>
          <a:blip r:embed="rId2"/>
          <a:stretch>
            <a:fillRect/>
          </a:stretch>
        </p:blipFill>
        <p:spPr>
          <a:xfrm>
            <a:off x="577738" y="1295400"/>
            <a:ext cx="8261462" cy="5136157"/>
          </a:xfrm>
          <a:prstGeom prst="rect">
            <a:avLst/>
          </a:prstGeom>
        </p:spPr>
      </p:pic>
    </p:spTree>
    <p:extLst>
      <p:ext uri="{BB962C8B-B14F-4D97-AF65-F5344CB8AC3E}">
        <p14:creationId xmlns:p14="http://schemas.microsoft.com/office/powerpoint/2010/main" val="105704489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E987556-4624-5DDA-49B2-9F760D95E114}"/>
              </a:ext>
            </a:extLst>
          </p:cNvPr>
          <p:cNvSpPr>
            <a:spLocks noGrp="1"/>
          </p:cNvSpPr>
          <p:nvPr>
            <p:ph type="body" sz="quarter" idx="1"/>
          </p:nvPr>
        </p:nvSpPr>
        <p:spPr/>
        <p:txBody>
          <a:bodyPr/>
          <a:lstStyle/>
          <a:p>
            <a:r>
              <a:rPr lang="en-US" dirty="0"/>
              <a:t>Data Preprocessing pipeline</a:t>
            </a:r>
            <a:endParaRPr lang="en-IN" dirty="0"/>
          </a:p>
        </p:txBody>
      </p:sp>
      <p:pic>
        <p:nvPicPr>
          <p:cNvPr id="4" name="Picture 3">
            <a:extLst>
              <a:ext uri="{FF2B5EF4-FFF2-40B4-BE49-F238E27FC236}">
                <a16:creationId xmlns:a16="http://schemas.microsoft.com/office/drawing/2014/main" id="{BDA98898-50B0-9245-7422-BBA4BBD6CEC5}"/>
              </a:ext>
            </a:extLst>
          </p:cNvPr>
          <p:cNvPicPr>
            <a:picLocks noChangeAspect="1"/>
          </p:cNvPicPr>
          <p:nvPr/>
        </p:nvPicPr>
        <p:blipFill>
          <a:blip r:embed="rId2"/>
          <a:stretch>
            <a:fillRect/>
          </a:stretch>
        </p:blipFill>
        <p:spPr>
          <a:xfrm>
            <a:off x="-158475" y="1451075"/>
            <a:ext cx="12350475" cy="3257559"/>
          </a:xfrm>
          <a:prstGeom prst="rect">
            <a:avLst/>
          </a:prstGeom>
        </p:spPr>
      </p:pic>
      <p:sp>
        <p:nvSpPr>
          <p:cNvPr id="5" name="TextBox 4">
            <a:extLst>
              <a:ext uri="{FF2B5EF4-FFF2-40B4-BE49-F238E27FC236}">
                <a16:creationId xmlns:a16="http://schemas.microsoft.com/office/drawing/2014/main" id="{CBE3C69E-21F4-39B5-7288-E7939D93C7CC}"/>
              </a:ext>
            </a:extLst>
          </p:cNvPr>
          <p:cNvSpPr txBox="1"/>
          <p:nvPr/>
        </p:nvSpPr>
        <p:spPr>
          <a:xfrm>
            <a:off x="234320" y="4974893"/>
            <a:ext cx="11564883" cy="1323439"/>
          </a:xfrm>
          <a:prstGeom prst="rect">
            <a:avLst/>
          </a:prstGeom>
          <a:noFill/>
        </p:spPr>
        <p:txBody>
          <a:bodyPr wrap="square">
            <a:spAutoFit/>
          </a:bodyPr>
          <a:lstStyle/>
          <a:p>
            <a:pPr marL="34290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De-duplication</a:t>
            </a:r>
          </a:p>
          <a:p>
            <a:pPr marL="800100" lvl="1"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Low-quality sentences that contain repeated words and phrases</a:t>
            </a:r>
          </a:p>
          <a:p>
            <a:pPr marL="800100" lvl="1"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words and n-grams overlap between documents to detect and remove duplicated documents </a:t>
            </a:r>
          </a:p>
          <a:p>
            <a:pPr marL="800100" lvl="1"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Helps in dataset contamination problem (overlap between the training and evaluation sets)</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9654095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289017-3292-4E53-F6F1-068BAF248DBA}"/>
              </a:ext>
            </a:extLst>
          </p:cNvPr>
          <p:cNvSpPr>
            <a:spLocks noGrp="1"/>
          </p:cNvSpPr>
          <p:nvPr>
            <p:ph type="body" sz="quarter" idx="1"/>
          </p:nvPr>
        </p:nvSpPr>
        <p:spPr/>
        <p:txBody>
          <a:bodyPr/>
          <a:lstStyle/>
          <a:p>
            <a:r>
              <a:rPr lang="en-IN" dirty="0"/>
              <a:t>Data Filtering and Selection</a:t>
            </a:r>
          </a:p>
        </p:txBody>
      </p:sp>
      <p:pic>
        <p:nvPicPr>
          <p:cNvPr id="5" name="Picture 4">
            <a:extLst>
              <a:ext uri="{FF2B5EF4-FFF2-40B4-BE49-F238E27FC236}">
                <a16:creationId xmlns:a16="http://schemas.microsoft.com/office/drawing/2014/main" id="{0F78614E-7A5E-04ED-B1A2-6D0A1137D304}"/>
              </a:ext>
            </a:extLst>
          </p:cNvPr>
          <p:cNvPicPr>
            <a:picLocks noChangeAspect="1"/>
          </p:cNvPicPr>
          <p:nvPr/>
        </p:nvPicPr>
        <p:blipFill>
          <a:blip r:embed="rId3"/>
          <a:stretch>
            <a:fillRect/>
          </a:stretch>
        </p:blipFill>
        <p:spPr>
          <a:xfrm>
            <a:off x="0" y="1410743"/>
            <a:ext cx="10432985" cy="4261840"/>
          </a:xfrm>
          <a:prstGeom prst="rect">
            <a:avLst/>
          </a:prstGeom>
        </p:spPr>
      </p:pic>
    </p:spTree>
    <p:extLst>
      <p:ext uri="{BB962C8B-B14F-4D97-AF65-F5344CB8AC3E}">
        <p14:creationId xmlns:p14="http://schemas.microsoft.com/office/powerpoint/2010/main" val="269981410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Data Packing</a:t>
            </a:r>
            <a:endParaRPr lang="en-IN" dirty="0"/>
          </a:p>
        </p:txBody>
      </p:sp>
      <p:pic>
        <p:nvPicPr>
          <p:cNvPr id="3" name="Picture 2"/>
          <p:cNvPicPr>
            <a:picLocks noChangeAspect="1"/>
          </p:cNvPicPr>
          <p:nvPr/>
        </p:nvPicPr>
        <p:blipFill>
          <a:blip r:embed="rId2"/>
          <a:stretch>
            <a:fillRect/>
          </a:stretch>
        </p:blipFill>
        <p:spPr>
          <a:xfrm>
            <a:off x="556573" y="1767171"/>
            <a:ext cx="8282627" cy="4673225"/>
          </a:xfrm>
          <a:prstGeom prst="rect">
            <a:avLst/>
          </a:prstGeom>
        </p:spPr>
      </p:pic>
    </p:spTree>
    <p:extLst>
      <p:ext uri="{BB962C8B-B14F-4D97-AF65-F5344CB8AC3E}">
        <p14:creationId xmlns:p14="http://schemas.microsoft.com/office/powerpoint/2010/main" val="387866955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1E6AD742-6C81-8B2A-3D8C-5C99F676491D}"/>
            </a:ext>
          </a:extLst>
        </p:cNvPr>
        <p:cNvGrpSpPr/>
        <p:nvPr/>
      </p:nvGrpSpPr>
      <p:grpSpPr>
        <a:xfrm>
          <a:off x="0" y="0"/>
          <a:ext cx="0" cy="0"/>
          <a:chOff x="0" y="0"/>
          <a:chExt cx="0" cy="0"/>
        </a:xfrm>
      </p:grpSpPr>
      <p:pic>
        <p:nvPicPr>
          <p:cNvPr id="207" name="Watermark 207"/>
          <p:cNvPicPr>
            <a:picLocks noChangeAspect="1"/>
          </p:cNvPicPr>
          <p:nvPr/>
        </p:nvPicPr>
        <p:blipFill>
          <a:blip r:embed="rId3"/>
          <a:stretch>
            <a:fillRect/>
          </a:stretch>
        </p:blipFill>
        <p:spPr>
          <a:xfrm rot="1789776">
            <a:off x="2641269" y="2061094"/>
            <a:ext cx="5246055" cy="5246055"/>
          </a:xfrm>
          <a:prstGeom prst="rect">
            <a:avLst/>
          </a:prstGeom>
        </p:spPr>
      </p:pic>
      <p:sp>
        <p:nvSpPr>
          <p:cNvPr id="106" name="Google Shape;106;p15">
            <a:extLst>
              <a:ext uri="{FF2B5EF4-FFF2-40B4-BE49-F238E27FC236}">
                <a16:creationId xmlns:a16="http://schemas.microsoft.com/office/drawing/2014/main" id="{FFA8F77F-CF47-7713-205C-69118A81AE52}"/>
              </a:ext>
            </a:extLst>
          </p:cNvPr>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r>
              <a:rPr lang="en-US" dirty="0"/>
              <a:t>Continued Pre-training (CPT)</a:t>
            </a:r>
            <a:endParaRPr dirty="0"/>
          </a:p>
        </p:txBody>
      </p:sp>
      <p:sp>
        <p:nvSpPr>
          <p:cNvPr id="107" name="Google Shape;107;p15">
            <a:extLst>
              <a:ext uri="{FF2B5EF4-FFF2-40B4-BE49-F238E27FC236}">
                <a16:creationId xmlns:a16="http://schemas.microsoft.com/office/drawing/2014/main" id="{A13E5EA8-EF18-8110-94C4-0DCF8966EA6D}"/>
              </a:ext>
            </a:extLst>
          </p:cNvPr>
          <p:cNvSpPr txBox="1">
            <a:spLocks noGrp="1"/>
          </p:cNvSpPr>
          <p:nvPr>
            <p:ph type="body" sz="quarter" idx="10"/>
          </p:nvPr>
        </p:nvSpPr>
        <p:spPr>
          <a:xfrm>
            <a:off x="164625" y="1368934"/>
            <a:ext cx="12188401" cy="4556499"/>
          </a:xfrm>
          <a:prstGeom prst="rect">
            <a:avLst/>
          </a:prstGeom>
          <a:noFill/>
          <a:ln>
            <a:noFill/>
          </a:ln>
        </p:spPr>
        <p:txBody>
          <a:bodyPr spcFirstLastPara="1" vert="horz" wrap="square" lIns="91425" tIns="45700" rIns="91425" bIns="45700" rtlCol="0" anchor="t" anchorCtr="0">
            <a:noAutofit/>
          </a:bodyPr>
          <a:lstStyle/>
          <a:p>
            <a:r>
              <a:rPr lang="en-US" sz="2000" b="1" dirty="0"/>
              <a:t>Regular </a:t>
            </a:r>
            <a:r>
              <a:rPr lang="en-US" sz="2000" b="1" dirty="0" err="1"/>
              <a:t>pretraining</a:t>
            </a:r>
            <a:r>
              <a:rPr lang="en-US" sz="2000" dirty="0"/>
              <a:t>: Initializing a model with random weights and </a:t>
            </a:r>
            <a:r>
              <a:rPr lang="en-US" sz="2000" dirty="0" err="1"/>
              <a:t>pretraining</a:t>
            </a:r>
            <a:r>
              <a:rPr lang="en-US" sz="2000" dirty="0"/>
              <a:t> it on dataset D1.</a:t>
            </a:r>
          </a:p>
          <a:p>
            <a:r>
              <a:rPr lang="en-US" sz="2000" b="1" dirty="0"/>
              <a:t>Continued </a:t>
            </a:r>
            <a:r>
              <a:rPr lang="en-US" sz="2000" b="1" dirty="0" err="1"/>
              <a:t>pretraining</a:t>
            </a:r>
            <a:r>
              <a:rPr lang="en-US" sz="2000" dirty="0"/>
              <a:t>: Taking the </a:t>
            </a:r>
            <a:r>
              <a:rPr lang="en-US" sz="2000" dirty="0" err="1"/>
              <a:t>pretrained</a:t>
            </a:r>
            <a:r>
              <a:rPr lang="en-US" sz="2000" dirty="0"/>
              <a:t> model from the scenario above and further </a:t>
            </a:r>
            <a:r>
              <a:rPr lang="en-US" sz="2000" dirty="0" err="1"/>
              <a:t>pretraining</a:t>
            </a:r>
            <a:r>
              <a:rPr lang="en-US" sz="2000" dirty="0"/>
              <a:t> it on dataset D2.</a:t>
            </a:r>
          </a:p>
          <a:p>
            <a:r>
              <a:rPr lang="en-US" sz="2000" b="1" dirty="0"/>
              <a:t>Retraining on the combined dataset</a:t>
            </a:r>
            <a:r>
              <a:rPr lang="en-US" sz="2000" dirty="0"/>
              <a:t>: Initializing a model with random weights, as in the first scenario, but training it on the combination (union) of datasets D1 and D2.</a:t>
            </a:r>
          </a:p>
        </p:txBody>
      </p:sp>
      <p:sp>
        <p:nvSpPr>
          <p:cNvPr id="2" name="Rectangle 1"/>
          <p:cNvSpPr/>
          <p:nvPr/>
        </p:nvSpPr>
        <p:spPr>
          <a:xfrm>
            <a:off x="0" y="6581001"/>
            <a:ext cx="8522175" cy="276999"/>
          </a:xfrm>
          <a:prstGeom prst="rect">
            <a:avLst/>
          </a:prstGeom>
        </p:spPr>
        <p:txBody>
          <a:bodyPr wrap="square">
            <a:spAutoFit/>
          </a:bodyPr>
          <a:lstStyle/>
          <a:p>
            <a:pPr lvl="0"/>
            <a:r>
              <a:rPr lang="en-US" sz="1200" dirty="0"/>
              <a:t>https://magazine.sebastianraschka.com/p/tips-for-llm-pretraining-and-evaluating-rms</a:t>
            </a:r>
          </a:p>
        </p:txBody>
      </p:sp>
      <p:pic>
        <p:nvPicPr>
          <p:cNvPr id="12" name="Picture 11"/>
          <p:cNvPicPr>
            <a:picLocks noChangeAspect="1"/>
          </p:cNvPicPr>
          <p:nvPr/>
        </p:nvPicPr>
        <p:blipFill>
          <a:blip r:embed="rId4"/>
          <a:stretch>
            <a:fillRect/>
          </a:stretch>
        </p:blipFill>
        <p:spPr>
          <a:xfrm>
            <a:off x="1314089" y="3109352"/>
            <a:ext cx="9755687" cy="3314006"/>
          </a:xfrm>
          <a:prstGeom prst="rect">
            <a:avLst/>
          </a:prstGeom>
        </p:spPr>
      </p:pic>
    </p:spTree>
    <p:extLst>
      <p:ext uri="{BB962C8B-B14F-4D97-AF65-F5344CB8AC3E}">
        <p14:creationId xmlns:p14="http://schemas.microsoft.com/office/powerpoint/2010/main" val="169191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solidFill>
                  <a:srgbClr val="000000"/>
                </a:solidFill>
              </a:rPr>
              <a:t>Catastrophic forgetting</a:t>
            </a:r>
            <a:endParaRPr lang="en-IN" dirty="0"/>
          </a:p>
        </p:txBody>
      </p:sp>
      <p:sp>
        <p:nvSpPr>
          <p:cNvPr id="4" name="Rectangle 3"/>
          <p:cNvSpPr/>
          <p:nvPr/>
        </p:nvSpPr>
        <p:spPr>
          <a:xfrm>
            <a:off x="113731" y="1485291"/>
            <a:ext cx="11950889" cy="4154984"/>
          </a:xfrm>
          <a:prstGeom prst="rect">
            <a:avLst/>
          </a:prstGeom>
        </p:spPr>
        <p:txBody>
          <a:bodyPr wrap="square">
            <a:spAutoFit/>
          </a:bodyPr>
          <a:lstStyle/>
          <a:p>
            <a:pPr marL="342900" indent="-342900" fontAlgn="base">
              <a:buFont typeface="Arial" panose="020B0604020202020204" pitchFamily="34" charset="0"/>
              <a:buChar char="•"/>
            </a:pPr>
            <a:r>
              <a:rPr lang="en-US" sz="2400" dirty="0"/>
              <a:t>Neural network, especially in sequential learning tasks, forgets previously learned information upon learning new information</a:t>
            </a:r>
          </a:p>
          <a:p>
            <a:pPr marL="342900" indent="-342900" fontAlgn="base">
              <a:buFont typeface="Arial" panose="020B0604020202020204" pitchFamily="34" charset="0"/>
              <a:buChar char="•"/>
            </a:pPr>
            <a:r>
              <a:rPr lang="en-US" sz="2400" dirty="0"/>
              <a:t>Particularly problematic in models trained across diverse datasets or tasks over time</a:t>
            </a:r>
          </a:p>
          <a:p>
            <a:pPr marL="342900" indent="-342900" fontAlgn="base">
              <a:buFont typeface="Arial" panose="020B0604020202020204" pitchFamily="34" charset="0"/>
              <a:buChar char="•"/>
            </a:pPr>
            <a:r>
              <a:rPr lang="en-IN" sz="2400" dirty="0"/>
              <a:t>How to Mitigate It</a:t>
            </a:r>
          </a:p>
          <a:p>
            <a:pPr marL="800100" lvl="1" indent="-342900">
              <a:buFont typeface="Arial" panose="020B0604020202020204" pitchFamily="34" charset="0"/>
              <a:buChar char="•"/>
            </a:pPr>
            <a:r>
              <a:rPr lang="en-US" sz="2400" b="1" dirty="0"/>
              <a:t>Lower learning rate</a:t>
            </a:r>
            <a:r>
              <a:rPr lang="en-US" sz="2400" dirty="0"/>
              <a:t> — small weight updates preserve old knowledge</a:t>
            </a:r>
          </a:p>
          <a:p>
            <a:pPr marL="800100" lvl="1" indent="-342900">
              <a:buFont typeface="Arial" panose="020B0604020202020204" pitchFamily="34" charset="0"/>
              <a:buChar char="•"/>
            </a:pPr>
            <a:r>
              <a:rPr lang="en-US" sz="2400" b="1" dirty="0"/>
              <a:t>LR warmup</a:t>
            </a:r>
            <a:r>
              <a:rPr lang="en-US" sz="2400" dirty="0"/>
              <a:t> — gradual ramp prevents aggressive early overwriting</a:t>
            </a:r>
          </a:p>
          <a:p>
            <a:pPr marL="800100" lvl="1" indent="-342900">
              <a:buFont typeface="Arial" panose="020B0604020202020204" pitchFamily="34" charset="0"/>
              <a:buChar char="•"/>
            </a:pPr>
            <a:r>
              <a:rPr lang="en-US" sz="2400" b="1" dirty="0"/>
              <a:t>Data mixing</a:t>
            </a:r>
            <a:r>
              <a:rPr lang="en-US" sz="2400" dirty="0"/>
              <a:t> — blend new domain data with small % of original </a:t>
            </a:r>
            <a:r>
              <a:rPr lang="en-US" sz="2400" dirty="0" err="1"/>
              <a:t>pretraining</a:t>
            </a:r>
            <a:r>
              <a:rPr lang="en-US" sz="2400" dirty="0"/>
              <a:t> data (replay)</a:t>
            </a:r>
          </a:p>
          <a:p>
            <a:pPr marL="800100" lvl="1" indent="-342900">
              <a:buFont typeface="Arial" panose="020B0604020202020204" pitchFamily="34" charset="0"/>
              <a:buChar char="•"/>
            </a:pPr>
            <a:r>
              <a:rPr lang="en-US" sz="2400" b="1" dirty="0"/>
              <a:t>EWC (Elastic Weight Consolidation)</a:t>
            </a:r>
            <a:r>
              <a:rPr lang="en-US" sz="2400" dirty="0"/>
              <a:t> — selectively slows learning on weights critical to old tasks by adding penalty in loss term</a:t>
            </a:r>
          </a:p>
          <a:p>
            <a:pPr marL="800100" lvl="1" indent="-342900">
              <a:buFont typeface="Arial" panose="020B0604020202020204" pitchFamily="34" charset="0"/>
              <a:buChar char="•"/>
            </a:pPr>
            <a:r>
              <a:rPr lang="en-US" sz="2400" b="1" dirty="0" err="1"/>
              <a:t>LoRA</a:t>
            </a:r>
            <a:r>
              <a:rPr lang="en-US" sz="2400" b="1" dirty="0"/>
              <a:t> / PEFT</a:t>
            </a:r>
            <a:r>
              <a:rPr lang="en-US" sz="2400" dirty="0"/>
              <a:t> — fine-tune only small adapter weights, leaving base weights frozen</a:t>
            </a:r>
          </a:p>
          <a:p>
            <a:pPr marL="342900" indent="-342900"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100200300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LR warmup</a:t>
            </a:r>
            <a:endParaRPr lang="en-IN" dirty="0"/>
          </a:p>
        </p:txBody>
      </p:sp>
      <p:pic>
        <p:nvPicPr>
          <p:cNvPr id="3" name="Content Placeholder 3"/>
          <p:cNvPicPr>
            <a:picLocks noChangeAspect="1"/>
          </p:cNvPicPr>
          <p:nvPr/>
        </p:nvPicPr>
        <p:blipFill>
          <a:blip r:embed="rId2"/>
          <a:stretch>
            <a:fillRect/>
          </a:stretch>
        </p:blipFill>
        <p:spPr>
          <a:xfrm>
            <a:off x="1070584" y="2583656"/>
            <a:ext cx="9062831" cy="3243938"/>
          </a:xfrm>
          <a:prstGeom prst="rect">
            <a:avLst/>
          </a:prstGeom>
        </p:spPr>
      </p:pic>
      <p:sp>
        <p:nvSpPr>
          <p:cNvPr id="4" name="Rectangle 3"/>
          <p:cNvSpPr/>
          <p:nvPr/>
        </p:nvSpPr>
        <p:spPr>
          <a:xfrm>
            <a:off x="285035" y="1414750"/>
            <a:ext cx="11159320" cy="830997"/>
          </a:xfrm>
          <a:prstGeom prst="rect">
            <a:avLst/>
          </a:prstGeom>
        </p:spPr>
        <p:txBody>
          <a:bodyPr wrap="square">
            <a:spAutoFit/>
          </a:bodyPr>
          <a:lstStyle/>
          <a:p>
            <a:r>
              <a:rPr lang="en-US" sz="2400" dirty="0">
                <a:solidFill>
                  <a:srgbClr val="363737"/>
                </a:solidFill>
                <a:latin typeface="SF Pro Display"/>
              </a:rPr>
              <a:t>Employ the exact same learning rate schedule that was used during the initial pre training stage</a:t>
            </a:r>
            <a:endParaRPr lang="en-IN" sz="2400" dirty="0"/>
          </a:p>
        </p:txBody>
      </p:sp>
      <p:sp>
        <p:nvSpPr>
          <p:cNvPr id="5" name="Rectangle 4"/>
          <p:cNvSpPr/>
          <p:nvPr/>
        </p:nvSpPr>
        <p:spPr>
          <a:xfrm>
            <a:off x="0" y="6581001"/>
            <a:ext cx="8522175" cy="276999"/>
          </a:xfrm>
          <a:prstGeom prst="rect">
            <a:avLst/>
          </a:prstGeom>
        </p:spPr>
        <p:txBody>
          <a:bodyPr wrap="square">
            <a:spAutoFit/>
          </a:bodyPr>
          <a:lstStyle/>
          <a:p>
            <a:pPr lvl="0"/>
            <a:r>
              <a:rPr lang="en-US" sz="1200" dirty="0"/>
              <a:t>https://magazine.sebastianraschka.com/p/tips-for-llm-pretraining-and-evaluating-rms</a:t>
            </a:r>
          </a:p>
        </p:txBody>
      </p:sp>
    </p:spTree>
    <p:extLst>
      <p:ext uri="{BB962C8B-B14F-4D97-AF65-F5344CB8AC3E}">
        <p14:creationId xmlns:p14="http://schemas.microsoft.com/office/powerpoint/2010/main" val="310224427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Domain Adaptation</a:t>
            </a:r>
            <a:endParaRPr lang="en-IN" dirty="0"/>
          </a:p>
        </p:txBody>
      </p:sp>
      <p:pic>
        <p:nvPicPr>
          <p:cNvPr id="3" name="Picture 2"/>
          <p:cNvPicPr>
            <a:picLocks noChangeAspect="1"/>
          </p:cNvPicPr>
          <p:nvPr/>
        </p:nvPicPr>
        <p:blipFill>
          <a:blip r:embed="rId2"/>
          <a:stretch>
            <a:fillRect/>
          </a:stretch>
        </p:blipFill>
        <p:spPr>
          <a:xfrm>
            <a:off x="0" y="1627041"/>
            <a:ext cx="5523562" cy="2812790"/>
          </a:xfrm>
          <a:prstGeom prst="rect">
            <a:avLst/>
          </a:prstGeom>
        </p:spPr>
      </p:pic>
      <p:pic>
        <p:nvPicPr>
          <p:cNvPr id="4" name="Picture 3"/>
          <p:cNvPicPr>
            <a:picLocks noChangeAspect="1"/>
          </p:cNvPicPr>
          <p:nvPr/>
        </p:nvPicPr>
        <p:blipFill>
          <a:blip r:embed="rId3"/>
          <a:stretch>
            <a:fillRect/>
          </a:stretch>
        </p:blipFill>
        <p:spPr>
          <a:xfrm>
            <a:off x="5545231" y="1666697"/>
            <a:ext cx="6328393" cy="2397314"/>
          </a:xfrm>
          <a:prstGeom prst="rect">
            <a:avLst/>
          </a:prstGeom>
        </p:spPr>
      </p:pic>
      <p:pic>
        <p:nvPicPr>
          <p:cNvPr id="5" name="Picture 4"/>
          <p:cNvPicPr>
            <a:picLocks noChangeAspect="1"/>
          </p:cNvPicPr>
          <p:nvPr/>
        </p:nvPicPr>
        <p:blipFill>
          <a:blip r:embed="rId4"/>
          <a:stretch>
            <a:fillRect/>
          </a:stretch>
        </p:blipFill>
        <p:spPr>
          <a:xfrm>
            <a:off x="3166849" y="4407217"/>
            <a:ext cx="6134100" cy="1743075"/>
          </a:xfrm>
          <a:prstGeom prst="rect">
            <a:avLst/>
          </a:prstGeom>
        </p:spPr>
      </p:pic>
      <p:sp>
        <p:nvSpPr>
          <p:cNvPr id="7" name="Rectangle 6"/>
          <p:cNvSpPr/>
          <p:nvPr/>
        </p:nvSpPr>
        <p:spPr>
          <a:xfrm>
            <a:off x="2908874" y="6150292"/>
            <a:ext cx="4298164" cy="369332"/>
          </a:xfrm>
          <a:prstGeom prst="rect">
            <a:avLst/>
          </a:prstGeom>
          <a:ln>
            <a:solidFill>
              <a:schemeClr val="tx1"/>
            </a:solidFill>
          </a:ln>
        </p:spPr>
        <p:txBody>
          <a:bodyPr wrap="none">
            <a:spAutoFit/>
          </a:bodyPr>
          <a:lstStyle/>
          <a:p>
            <a:r>
              <a:rPr lang="en-IN" b="1" dirty="0"/>
              <a:t>Domain-Specific Pre-training (from scratch)</a:t>
            </a:r>
          </a:p>
        </p:txBody>
      </p:sp>
      <p:sp>
        <p:nvSpPr>
          <p:cNvPr id="8" name="Rectangle 7"/>
          <p:cNvSpPr/>
          <p:nvPr/>
        </p:nvSpPr>
        <p:spPr>
          <a:xfrm>
            <a:off x="1613082" y="1393359"/>
            <a:ext cx="3477234" cy="369332"/>
          </a:xfrm>
          <a:prstGeom prst="rect">
            <a:avLst/>
          </a:prstGeom>
          <a:ln>
            <a:solidFill>
              <a:schemeClr val="tx2"/>
            </a:solidFill>
          </a:ln>
        </p:spPr>
        <p:txBody>
          <a:bodyPr wrap="none">
            <a:spAutoFit/>
          </a:bodyPr>
          <a:lstStyle/>
          <a:p>
            <a:r>
              <a:rPr lang="en-IN" b="1" dirty="0"/>
              <a:t>Regular Pre-training (from scratch)</a:t>
            </a:r>
          </a:p>
        </p:txBody>
      </p:sp>
      <p:sp>
        <p:nvSpPr>
          <p:cNvPr id="9" name="Rectangle 8"/>
          <p:cNvSpPr/>
          <p:nvPr/>
        </p:nvSpPr>
        <p:spPr>
          <a:xfrm>
            <a:off x="6974006" y="1393359"/>
            <a:ext cx="4653887" cy="369332"/>
          </a:xfrm>
          <a:prstGeom prst="rect">
            <a:avLst/>
          </a:prstGeom>
          <a:ln>
            <a:solidFill>
              <a:schemeClr val="tx2"/>
            </a:solidFill>
          </a:ln>
        </p:spPr>
        <p:txBody>
          <a:bodyPr wrap="square">
            <a:spAutoFit/>
          </a:bodyPr>
          <a:lstStyle/>
          <a:p>
            <a:r>
              <a:rPr lang="en-US" b="1" dirty="0"/>
              <a:t>Continue Pre-training (CPT) </a:t>
            </a:r>
            <a:r>
              <a:rPr lang="en-IN" b="1" dirty="0"/>
              <a:t>e.g. </a:t>
            </a:r>
            <a:r>
              <a:rPr lang="en-IN" b="1" dirty="0" err="1"/>
              <a:t>FinLlama</a:t>
            </a:r>
            <a:r>
              <a:rPr lang="en-IN" dirty="0"/>
              <a:t> </a:t>
            </a:r>
            <a:endParaRPr lang="en-IN" b="1" dirty="0"/>
          </a:p>
        </p:txBody>
      </p:sp>
    </p:spTree>
    <p:extLst>
      <p:ext uri="{BB962C8B-B14F-4D97-AF65-F5344CB8AC3E}">
        <p14:creationId xmlns:p14="http://schemas.microsoft.com/office/powerpoint/2010/main" val="409706269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Domain Adaptation</a:t>
            </a:r>
            <a:endParaRPr lang="en-IN" dirty="0"/>
          </a:p>
          <a:p>
            <a:endParaRPr lang="en-IN" dirty="0"/>
          </a:p>
        </p:txBody>
      </p:sp>
      <p:sp>
        <p:nvSpPr>
          <p:cNvPr id="3" name="Rectangle 2"/>
          <p:cNvSpPr/>
          <p:nvPr/>
        </p:nvSpPr>
        <p:spPr>
          <a:xfrm>
            <a:off x="175146" y="2402942"/>
            <a:ext cx="5120186" cy="2554545"/>
          </a:xfrm>
          <a:prstGeom prst="rect">
            <a:avLst/>
          </a:prstGeom>
          <a:solidFill>
            <a:schemeClr val="bg1"/>
          </a:solidFill>
        </p:spPr>
        <p:txBody>
          <a:bodyPr wrap="square">
            <a:spAutoFit/>
          </a:bodyPr>
          <a:lstStyle/>
          <a:p>
            <a:pPr marL="342900" indent="-342900">
              <a:buFont typeface="Arial" panose="020B0604020202020204" pitchFamily="34" charset="0"/>
              <a:buChar char="•"/>
            </a:pPr>
            <a:r>
              <a:rPr lang="en-US" sz="2000" dirty="0" err="1"/>
              <a:t>BloombergGPT</a:t>
            </a:r>
            <a:r>
              <a:rPr lang="en-US" sz="2000" dirty="0"/>
              <a:t> is a 50B parameter language model for finance, trained on 363B tokens from finance data and 345B tokens from a general, publicly available dataset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Adopted Chinchilla scaling laws (found 50B parameter be a good size given the available size of the finance data)</a:t>
            </a:r>
            <a:endParaRPr lang="en-IN" sz="2000" dirty="0"/>
          </a:p>
        </p:txBody>
      </p:sp>
      <p:sp>
        <p:nvSpPr>
          <p:cNvPr id="6" name="Rectangle 5"/>
          <p:cNvSpPr/>
          <p:nvPr/>
        </p:nvSpPr>
        <p:spPr>
          <a:xfrm>
            <a:off x="6205182" y="2110555"/>
            <a:ext cx="5695666" cy="3139321"/>
          </a:xfrm>
          <a:prstGeom prst="rect">
            <a:avLst/>
          </a:prstGeom>
        </p:spPr>
        <p:txBody>
          <a:bodyPr wrap="square">
            <a:spAutoFit/>
          </a:bodyPr>
          <a:lstStyle/>
          <a:p>
            <a:pPr marL="285750" indent="-285750">
              <a:buFont typeface="Arial" panose="020B0604020202020204" pitchFamily="34" charset="0"/>
              <a:buChar char="•"/>
            </a:pPr>
            <a:r>
              <a:rPr lang="en-IN" dirty="0" err="1"/>
              <a:t>FinLLaMA</a:t>
            </a:r>
            <a:r>
              <a:rPr lang="en-IN" dirty="0"/>
              <a:t> is an 8B parameter model for financial analysis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Base Model: Meta Llama 3 (8B). It inherits the massive general-knowledge reasoning of Llama 3 from the start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CPT Strategy: Trained on a 52B token financial corpus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To prevent Catastrophic Forgetting, it was trained on a mixture of 52B financial tokens and 18B general-domain tokens (a roughly 75/25 split)</a:t>
            </a:r>
          </a:p>
        </p:txBody>
      </p:sp>
      <p:sp>
        <p:nvSpPr>
          <p:cNvPr id="7" name="Rectangle 6"/>
          <p:cNvSpPr/>
          <p:nvPr/>
        </p:nvSpPr>
        <p:spPr>
          <a:xfrm>
            <a:off x="1149127" y="1519523"/>
            <a:ext cx="4298164" cy="369332"/>
          </a:xfrm>
          <a:prstGeom prst="rect">
            <a:avLst/>
          </a:prstGeom>
          <a:ln>
            <a:solidFill>
              <a:schemeClr val="tx1"/>
            </a:solidFill>
          </a:ln>
        </p:spPr>
        <p:txBody>
          <a:bodyPr wrap="none">
            <a:spAutoFit/>
          </a:bodyPr>
          <a:lstStyle/>
          <a:p>
            <a:r>
              <a:rPr lang="en-IN" b="1" dirty="0"/>
              <a:t>Domain-Specific Pre-training (from scratch)</a:t>
            </a:r>
          </a:p>
        </p:txBody>
      </p:sp>
      <p:sp>
        <p:nvSpPr>
          <p:cNvPr id="8" name="Rectangle 7"/>
          <p:cNvSpPr/>
          <p:nvPr/>
        </p:nvSpPr>
        <p:spPr>
          <a:xfrm>
            <a:off x="8083639" y="1427142"/>
            <a:ext cx="2785506" cy="369332"/>
          </a:xfrm>
          <a:prstGeom prst="rect">
            <a:avLst/>
          </a:prstGeom>
          <a:ln>
            <a:solidFill>
              <a:schemeClr val="tx2"/>
            </a:solidFill>
          </a:ln>
        </p:spPr>
        <p:txBody>
          <a:bodyPr wrap="none">
            <a:spAutoFit/>
          </a:bodyPr>
          <a:lstStyle/>
          <a:p>
            <a:r>
              <a:rPr lang="en-US" b="1" dirty="0"/>
              <a:t>Continue Pre-training (CPT)</a:t>
            </a:r>
          </a:p>
        </p:txBody>
      </p:sp>
    </p:spTree>
    <p:extLst>
      <p:ext uri="{BB962C8B-B14F-4D97-AF65-F5344CB8AC3E}">
        <p14:creationId xmlns:p14="http://schemas.microsoft.com/office/powerpoint/2010/main" val="3641005544"/>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DDFC67F-30FD-4BA7-B774-FE12F39E8892}"/>
              </a:ext>
            </a:extLst>
          </p:cNvPr>
          <p:cNvSpPr>
            <a:spLocks noGrp="1"/>
          </p:cNvSpPr>
          <p:nvPr>
            <p:ph type="body" sz="quarter" idx="1"/>
          </p:nvPr>
        </p:nvSpPr>
        <p:spPr>
          <a:xfrm>
            <a:off x="1552028" y="2769475"/>
            <a:ext cx="8432800" cy="1143000"/>
          </a:xfrm>
        </p:spPr>
        <p:txBody>
          <a:bodyPr/>
          <a:lstStyle/>
          <a:p>
            <a:r>
              <a:rPr lang="en-US" dirty="0"/>
              <a:t>Model case studies</a:t>
            </a:r>
            <a:endParaRPr lang="en-IN" dirty="0"/>
          </a:p>
        </p:txBody>
      </p:sp>
    </p:spTree>
    <p:extLst>
      <p:ext uri="{BB962C8B-B14F-4D97-AF65-F5344CB8AC3E}">
        <p14:creationId xmlns:p14="http://schemas.microsoft.com/office/powerpoint/2010/main" val="330412254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36E45E-54B0-CD31-78E1-E2E7267AD0D1}"/>
              </a:ext>
            </a:extLst>
          </p:cNvPr>
          <p:cNvSpPr>
            <a:spLocks noGrp="1"/>
          </p:cNvSpPr>
          <p:nvPr>
            <p:ph type="body" sz="quarter" idx="1"/>
          </p:nvPr>
        </p:nvSpPr>
        <p:spPr/>
        <p:txBody>
          <a:bodyPr/>
          <a:lstStyle/>
          <a:p>
            <a:r>
              <a:rPr lang="en-US" b="0" dirty="0">
                <a:solidFill>
                  <a:srgbClr val="27251E"/>
                </a:solidFill>
              </a:rPr>
              <a:t>Llama 3 Models: 3-stage pretraining process</a:t>
            </a:r>
            <a:endParaRPr lang="en-IN" dirty="0"/>
          </a:p>
          <a:p>
            <a:endParaRPr lang="en-IN" dirty="0"/>
          </a:p>
        </p:txBody>
      </p:sp>
      <p:pic>
        <p:nvPicPr>
          <p:cNvPr id="4098" name="Picture 2">
            <a:extLst>
              <a:ext uri="{FF2B5EF4-FFF2-40B4-BE49-F238E27FC236}">
                <a16:creationId xmlns:a16="http://schemas.microsoft.com/office/drawing/2014/main" id="{2266C009-274B-B5F7-9F57-BEF858511D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400" y="1145800"/>
            <a:ext cx="10699656" cy="52314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874717C-C1AA-5BE3-119E-D95B6A65796C}"/>
              </a:ext>
            </a:extLst>
          </p:cNvPr>
          <p:cNvSpPr txBox="1"/>
          <p:nvPr/>
        </p:nvSpPr>
        <p:spPr>
          <a:xfrm>
            <a:off x="0" y="6622289"/>
            <a:ext cx="10089931" cy="246221"/>
          </a:xfrm>
          <a:prstGeom prst="rect">
            <a:avLst/>
          </a:prstGeom>
          <a:noFill/>
        </p:spPr>
        <p:txBody>
          <a:bodyPr wrap="square">
            <a:spAutoFit/>
          </a:bodyPr>
          <a:lstStyle/>
          <a:p>
            <a:r>
              <a:rPr lang="en-IN" sz="1000" dirty="0"/>
              <a:t>Credits: https://magazine.sebastianraschka.com/p/new-llm-pre-training-and-post-training</a:t>
            </a:r>
          </a:p>
        </p:txBody>
      </p:sp>
    </p:spTree>
    <p:extLst>
      <p:ext uri="{BB962C8B-B14F-4D97-AF65-F5344CB8AC3E}">
        <p14:creationId xmlns:p14="http://schemas.microsoft.com/office/powerpoint/2010/main" val="771439611"/>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3A5C10-23D6-F8D1-D2EC-B93AE771076A}"/>
              </a:ext>
            </a:extLst>
          </p:cNvPr>
          <p:cNvSpPr>
            <a:spLocks noGrp="1"/>
          </p:cNvSpPr>
          <p:nvPr>
            <p:ph type="body" sz="quarter" idx="1"/>
          </p:nvPr>
        </p:nvSpPr>
        <p:spPr/>
        <p:txBody>
          <a:bodyPr/>
          <a:lstStyle/>
          <a:p>
            <a:r>
              <a:rPr lang="en-US" b="0" dirty="0">
                <a:solidFill>
                  <a:srgbClr val="27251E"/>
                </a:solidFill>
              </a:rPr>
              <a:t>Llama 3 Models: 3-stage pretraining process</a:t>
            </a:r>
            <a:endParaRPr lang="en-IN" dirty="0"/>
          </a:p>
          <a:p>
            <a:endParaRPr lang="en-IN" dirty="0"/>
          </a:p>
        </p:txBody>
      </p:sp>
      <p:sp>
        <p:nvSpPr>
          <p:cNvPr id="4" name="TextBox 3">
            <a:extLst>
              <a:ext uri="{FF2B5EF4-FFF2-40B4-BE49-F238E27FC236}">
                <a16:creationId xmlns:a16="http://schemas.microsoft.com/office/drawing/2014/main" id="{F18D2593-E8D3-7952-9214-CF2CCB4E065F}"/>
              </a:ext>
            </a:extLst>
          </p:cNvPr>
          <p:cNvSpPr txBox="1"/>
          <p:nvPr/>
        </p:nvSpPr>
        <p:spPr>
          <a:xfrm>
            <a:off x="221742" y="1414195"/>
            <a:ext cx="11839194" cy="5016758"/>
          </a:xfrm>
          <a:prstGeom prst="rect">
            <a:avLst/>
          </a:prstGeom>
          <a:noFill/>
        </p:spPr>
        <p:txBody>
          <a:bodyPr wrap="square">
            <a:spAutoFit/>
          </a:bodyPr>
          <a:lstStyle/>
          <a:p>
            <a:pPr marL="342900" indent="-342900">
              <a:buAutoNum type="arabicParenR"/>
            </a:pPr>
            <a:r>
              <a:rPr lang="en-IN" sz="2000" dirty="0">
                <a:latin typeface="Cambria" panose="02040503050406030204" pitchFamily="18" charset="0"/>
                <a:ea typeface="Cambria" panose="02040503050406030204" pitchFamily="18" charset="0"/>
              </a:rPr>
              <a:t>Initial pre-training : Stability through Gradual Scaling</a:t>
            </a:r>
          </a:p>
          <a:p>
            <a:pPr marL="742950" lvl="1"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Dynamic Batch Size &amp; Sequence Length:</a:t>
            </a:r>
          </a:p>
          <a:p>
            <a:pPr marL="1200150" lvl="2"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Phase 1: 4M token batch size / 4,096 sequence length (Early stability).</a:t>
            </a:r>
          </a:p>
          <a:p>
            <a:pPr marL="1200150" lvl="2"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Phase 2: 8M token batch size / 8,192 sequence length (Scaling up).</a:t>
            </a:r>
          </a:p>
          <a:p>
            <a:pPr marL="1200150" lvl="2"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Phase 3: 16M token batch size / 8,192 sequence length (Final throughput)</a:t>
            </a:r>
          </a:p>
          <a:p>
            <a:pPr marL="742950" lvl="1"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Stable standard </a:t>
            </a:r>
            <a:r>
              <a:rPr lang="en-US" sz="2000" dirty="0" err="1">
                <a:latin typeface="Cambria" panose="02040503050406030204" pitchFamily="18" charset="0"/>
                <a:ea typeface="Cambria" panose="02040503050406030204" pitchFamily="18" charset="0"/>
              </a:rPr>
              <a:t>AdamW</a:t>
            </a:r>
            <a:r>
              <a:rPr lang="en-US" sz="2000" dirty="0">
                <a:latin typeface="Cambria" panose="02040503050406030204" pitchFamily="18" charset="0"/>
                <a:ea typeface="Cambria" panose="02040503050406030204" pitchFamily="18" charset="0"/>
              </a:rPr>
              <a:t> instead of more aggressive optimizers </a:t>
            </a:r>
          </a:p>
          <a:p>
            <a:pPr marL="342900" indent="-342900">
              <a:buAutoNum type="arabicParenR"/>
            </a:pPr>
            <a:r>
              <a:rPr lang="en-IN" sz="2000" dirty="0">
                <a:latin typeface="Cambria" panose="02040503050406030204" pitchFamily="18" charset="0"/>
                <a:ea typeface="Cambria" panose="02040503050406030204" pitchFamily="18" charset="0"/>
              </a:rPr>
              <a:t>long-context pre-training</a:t>
            </a:r>
          </a:p>
          <a:p>
            <a:pPr marL="742950" lvl="1"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Increased context length gradually in six stages, starting from the original 8K context window and ending in the final 128K context window, using approx. 800B training tokens</a:t>
            </a:r>
          </a:p>
          <a:p>
            <a:r>
              <a:rPr lang="en-IN" sz="2000" dirty="0">
                <a:latin typeface="Cambria" panose="02040503050406030204" pitchFamily="18" charset="0"/>
                <a:ea typeface="Cambria" panose="02040503050406030204" pitchFamily="18" charset="0"/>
              </a:rPr>
              <a:t>(3) Annealing </a:t>
            </a:r>
          </a:p>
          <a:p>
            <a:pPr marL="742950" lvl="1" indent="-285750">
              <a:buFont typeface="Arial" panose="020B0604020202020204" pitchFamily="34" charset="0"/>
              <a:buChar char="•"/>
            </a:pPr>
            <a:r>
              <a:rPr lang="en-IN" sz="2000" dirty="0">
                <a:latin typeface="Cambria" panose="02040503050406030204" pitchFamily="18" charset="0"/>
                <a:ea typeface="Cambria" panose="02040503050406030204" pitchFamily="18" charset="0"/>
              </a:rPr>
              <a:t>P</a:t>
            </a:r>
            <a:r>
              <a:rPr lang="en-US" sz="2000" dirty="0" err="1">
                <a:latin typeface="Cambria" panose="02040503050406030204" pitchFamily="18" charset="0"/>
                <a:ea typeface="Cambria" panose="02040503050406030204" pitchFamily="18" charset="0"/>
              </a:rPr>
              <a:t>ractice</a:t>
            </a:r>
            <a:r>
              <a:rPr lang="en-US" sz="2000" dirty="0">
                <a:latin typeface="Cambria" panose="02040503050406030204" pitchFamily="18" charset="0"/>
                <a:ea typeface="Cambria" panose="02040503050406030204" pitchFamily="18" charset="0"/>
              </a:rPr>
              <a:t> of training a model on a small, ultra-high-quality subset of data during the final stages of its pre-training, usually while simultaneously decaying the learning rate to near zero. (Llama 3 used on math and code data)</a:t>
            </a:r>
          </a:p>
          <a:p>
            <a:pPr marL="742950" lvl="1"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Annealing dataset size was 40 billion tokens (0.02% of the total dataset size); this 40B annealing dataset was used to assess data quality. The actual annealing was done only on 40 million tokens (0.1% of the annealing data).</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7977375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0C9D11-05C7-3962-7AD3-41D236C76F72}"/>
              </a:ext>
            </a:extLst>
          </p:cNvPr>
          <p:cNvSpPr>
            <a:spLocks noGrp="1"/>
          </p:cNvSpPr>
          <p:nvPr>
            <p:ph type="body" sz="quarter" idx="1"/>
          </p:nvPr>
        </p:nvSpPr>
        <p:spPr>
          <a:xfrm>
            <a:off x="196192" y="106205"/>
            <a:ext cx="10482317" cy="1143000"/>
          </a:xfrm>
        </p:spPr>
        <p:txBody>
          <a:bodyPr>
            <a:normAutofit/>
          </a:bodyPr>
          <a:lstStyle/>
          <a:p>
            <a:r>
              <a:rPr lang="en-US" sz="3200" dirty="0"/>
              <a:t>Model-as-a-Judge for data curation (Llama 3)</a:t>
            </a:r>
            <a:endParaRPr lang="en-IN" sz="3200" dirty="0"/>
          </a:p>
          <a:p>
            <a:endParaRPr lang="en-IN" sz="3200" dirty="0"/>
          </a:p>
        </p:txBody>
      </p:sp>
      <p:sp>
        <p:nvSpPr>
          <p:cNvPr id="4" name="TextBox 3">
            <a:extLst>
              <a:ext uri="{FF2B5EF4-FFF2-40B4-BE49-F238E27FC236}">
                <a16:creationId xmlns:a16="http://schemas.microsoft.com/office/drawing/2014/main" id="{DEC8B7F9-D284-8AE2-E979-19F6BBA99F3B}"/>
              </a:ext>
            </a:extLst>
          </p:cNvPr>
          <p:cNvSpPr txBox="1"/>
          <p:nvPr/>
        </p:nvSpPr>
        <p:spPr>
          <a:xfrm>
            <a:off x="-1" y="1541002"/>
            <a:ext cx="5833241" cy="5016758"/>
          </a:xfrm>
          <a:prstGeom prst="rect">
            <a:avLst/>
          </a:prstGeom>
          <a:noFill/>
        </p:spPr>
        <p:txBody>
          <a:bodyPr wrap="square">
            <a:spAutoFit/>
          </a:bodyPr>
          <a:lstStyle>
            <a:defPPr>
              <a:defRPr lang="en-US"/>
            </a:defPPr>
            <a:lvl1pPr marL="285750" indent="-285750">
              <a:buFont typeface="Arial" panose="020B0604020202020204" pitchFamily="34" charset="0"/>
              <a:buChar char="•"/>
              <a:defRPr sz="2000">
                <a:latin typeface="Cambria" panose="02040503050406030204" pitchFamily="18" charset="0"/>
                <a:ea typeface="Cambria" panose="02040503050406030204" pitchFamily="18" charset="0"/>
              </a:defRPr>
            </a:lvl1pPr>
            <a:lvl2pPr marL="742950" lvl="1" indent="-285750">
              <a:buFont typeface="Arial" panose="020B0604020202020204" pitchFamily="34" charset="0"/>
              <a:buChar char="•"/>
              <a:defRPr sz="2000">
                <a:latin typeface="Cambria" panose="02040503050406030204" pitchFamily="18" charset="0"/>
                <a:ea typeface="Cambria" panose="02040503050406030204" pitchFamily="18" charset="0"/>
              </a:defRPr>
            </a:lvl2pPr>
          </a:lstStyle>
          <a:p>
            <a:r>
              <a:rPr lang="en-US" dirty="0"/>
              <a:t>Llama 3 used model-based data curation to filter large amounts of public web data before pretraining.</a:t>
            </a:r>
          </a:p>
          <a:p>
            <a:r>
              <a:rPr lang="en-US" dirty="0"/>
              <a:t>Meta combined heuristic filters, semantic deduplication, and learned text-quality classifiers to keep higher-quality training data.</a:t>
            </a:r>
          </a:p>
          <a:p>
            <a:r>
              <a:rPr lang="en-US" dirty="0"/>
              <a:t>A fast early-pass classifier based on </a:t>
            </a:r>
            <a:r>
              <a:rPr lang="en-US" dirty="0" err="1"/>
              <a:t>fastText</a:t>
            </a:r>
            <a:r>
              <a:rPr lang="en-US" dirty="0"/>
              <a:t> was used to identify text that looked more like content that would be referenced by Wikipedia.</a:t>
            </a:r>
          </a:p>
          <a:p>
            <a:r>
              <a:rPr lang="en-US" dirty="0"/>
              <a:t>Meta also trained stronger </a:t>
            </a:r>
            <a:r>
              <a:rPr lang="en-US" dirty="0" err="1"/>
              <a:t>RoBERTa</a:t>
            </a:r>
            <a:r>
              <a:rPr lang="en-US" dirty="0"/>
              <a:t>-family quality classifiers using supervision generated by Llama 2.</a:t>
            </a:r>
          </a:p>
          <a:p>
            <a:r>
              <a:rPr lang="en-US" dirty="0"/>
              <a:t>For efficient large-scale scoring, Meta used </a:t>
            </a:r>
            <a:r>
              <a:rPr lang="en-US" dirty="0" err="1"/>
              <a:t>DistilRoBERTa</a:t>
            </a:r>
            <a:r>
              <a:rPr lang="en-US" dirty="0"/>
              <a:t> to assign quality scores to documents.</a:t>
            </a:r>
            <a:br>
              <a:rPr lang="en-US" dirty="0"/>
            </a:br>
            <a:endParaRPr lang="en-IN" dirty="0"/>
          </a:p>
        </p:txBody>
      </p:sp>
      <p:pic>
        <p:nvPicPr>
          <p:cNvPr id="10" name="Picture 9">
            <a:extLst>
              <a:ext uri="{FF2B5EF4-FFF2-40B4-BE49-F238E27FC236}">
                <a16:creationId xmlns:a16="http://schemas.microsoft.com/office/drawing/2014/main" id="{268F958D-C0B1-EFE5-8D81-8B640E59ED95}"/>
              </a:ext>
            </a:extLst>
          </p:cNvPr>
          <p:cNvPicPr>
            <a:picLocks noChangeAspect="1"/>
          </p:cNvPicPr>
          <p:nvPr/>
        </p:nvPicPr>
        <p:blipFill>
          <a:blip r:embed="rId3"/>
          <a:stretch>
            <a:fillRect/>
          </a:stretch>
        </p:blipFill>
        <p:spPr>
          <a:xfrm>
            <a:off x="5946345" y="987066"/>
            <a:ext cx="6245655" cy="5570694"/>
          </a:xfrm>
          <a:prstGeom prst="rect">
            <a:avLst/>
          </a:prstGeom>
        </p:spPr>
      </p:pic>
    </p:spTree>
    <p:extLst>
      <p:ext uri="{BB962C8B-B14F-4D97-AF65-F5344CB8AC3E}">
        <p14:creationId xmlns:p14="http://schemas.microsoft.com/office/powerpoint/2010/main" val="979556773"/>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BD2EE8C-D56C-EF61-BE9D-2B821B2C56B6}"/>
              </a:ext>
            </a:extLst>
          </p:cNvPr>
          <p:cNvSpPr>
            <a:spLocks noGrp="1"/>
          </p:cNvSpPr>
          <p:nvPr>
            <p:ph type="body" sz="quarter" idx="1"/>
          </p:nvPr>
        </p:nvSpPr>
        <p:spPr/>
        <p:txBody>
          <a:bodyPr/>
          <a:lstStyle/>
          <a:p>
            <a:r>
              <a:rPr lang="en-US" dirty="0"/>
              <a:t>Qwen 2 pretraining</a:t>
            </a:r>
            <a:endParaRPr lang="en-IN" dirty="0"/>
          </a:p>
        </p:txBody>
      </p:sp>
      <p:pic>
        <p:nvPicPr>
          <p:cNvPr id="2050" name="Picture 2">
            <a:extLst>
              <a:ext uri="{FF2B5EF4-FFF2-40B4-BE49-F238E27FC236}">
                <a16:creationId xmlns:a16="http://schemas.microsoft.com/office/drawing/2014/main" id="{48A5DE56-D920-4AD0-ED60-0B3A7FD86C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94" y="1712749"/>
            <a:ext cx="6556997" cy="31615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5F5FFE5-8E8B-816C-50A4-9AE2C31E25B2}"/>
              </a:ext>
            </a:extLst>
          </p:cNvPr>
          <p:cNvSpPr txBox="1"/>
          <p:nvPr/>
        </p:nvSpPr>
        <p:spPr>
          <a:xfrm>
            <a:off x="7260603" y="1337004"/>
            <a:ext cx="4784253" cy="4670509"/>
          </a:xfrm>
          <a:prstGeom prst="rect">
            <a:avLst/>
          </a:prstGeom>
          <a:noFill/>
        </p:spPr>
        <p:txBody>
          <a:bodyPr wrap="square">
            <a:spAutoFit/>
          </a:bodyPr>
          <a:lstStyle/>
          <a:p>
            <a:pPr marL="342900" indent="-342900" algn="l">
              <a:spcAft>
                <a:spcPts val="1500"/>
              </a:spcAft>
              <a:buFont typeface="Arial" panose="020B0604020202020204" pitchFamily="34" charset="0"/>
              <a:buChar char="•"/>
            </a:pPr>
            <a:r>
              <a:rPr lang="en-US" sz="2000" b="0" i="0" dirty="0">
                <a:solidFill>
                  <a:srgbClr val="363737"/>
                </a:solidFill>
                <a:effectLst/>
                <a:latin typeface="Cambria" panose="02040503050406030204" pitchFamily="18" charset="0"/>
                <a:ea typeface="Cambria" panose="02040503050406030204" pitchFamily="18" charset="0"/>
              </a:rPr>
              <a:t> Use of </a:t>
            </a:r>
            <a:r>
              <a:rPr lang="en-US" sz="2000" b="1" i="0" dirty="0">
                <a:solidFill>
                  <a:srgbClr val="363737"/>
                </a:solidFill>
                <a:effectLst/>
                <a:latin typeface="Cambria" panose="02040503050406030204" pitchFamily="18" charset="0"/>
                <a:ea typeface="Cambria" panose="02040503050406030204" pitchFamily="18" charset="0"/>
              </a:rPr>
              <a:t>previous generation Qwen models</a:t>
            </a:r>
            <a:r>
              <a:rPr lang="en-US" sz="2000" b="0" i="0" dirty="0">
                <a:solidFill>
                  <a:srgbClr val="363737"/>
                </a:solidFill>
                <a:effectLst/>
                <a:latin typeface="Cambria" panose="02040503050406030204" pitchFamily="18" charset="0"/>
                <a:ea typeface="Cambria" panose="02040503050406030204" pitchFamily="18" charset="0"/>
              </a:rPr>
              <a:t> to synthesize additional pre-training data. </a:t>
            </a:r>
          </a:p>
          <a:p>
            <a:pPr marL="342900" indent="-342900" algn="l">
              <a:spcAft>
                <a:spcPts val="1500"/>
              </a:spcAft>
              <a:buFont typeface="Arial" panose="020B0604020202020204" pitchFamily="34" charset="0"/>
              <a:buChar char="•"/>
            </a:pPr>
            <a:r>
              <a:rPr lang="en-US" sz="2000" b="0" i="0" dirty="0">
                <a:solidFill>
                  <a:srgbClr val="363737"/>
                </a:solidFill>
                <a:effectLst/>
                <a:latin typeface="Cambria" panose="02040503050406030204" pitchFamily="18" charset="0"/>
                <a:ea typeface="Cambria" panose="02040503050406030204" pitchFamily="18" charset="0"/>
              </a:rPr>
              <a:t>pre-training involved “</a:t>
            </a:r>
            <a:r>
              <a:rPr lang="en-US" sz="2000" b="1" i="0" dirty="0">
                <a:solidFill>
                  <a:srgbClr val="363737"/>
                </a:solidFill>
                <a:effectLst/>
                <a:latin typeface="Cambria" panose="02040503050406030204" pitchFamily="18" charset="0"/>
                <a:ea typeface="Cambria" panose="02040503050406030204" pitchFamily="18" charset="0"/>
              </a:rPr>
              <a:t>multi-task instruction data </a:t>
            </a:r>
            <a:r>
              <a:rPr lang="en-US" sz="2000" b="0" i="0" dirty="0">
                <a:solidFill>
                  <a:srgbClr val="363737"/>
                </a:solidFill>
                <a:effectLst/>
                <a:latin typeface="Cambria" panose="02040503050406030204" pitchFamily="18" charset="0"/>
                <a:ea typeface="Cambria" panose="02040503050406030204" pitchFamily="18" charset="0"/>
              </a:rPr>
              <a:t>to enhance in-context learning and instruction-following abilities</a:t>
            </a:r>
          </a:p>
          <a:p>
            <a:pPr marL="342900" indent="-342900" algn="l">
              <a:spcAft>
                <a:spcPts val="1500"/>
              </a:spcAft>
              <a:buFont typeface="Arial" panose="020B0604020202020204" pitchFamily="34" charset="0"/>
              <a:buChar char="•"/>
            </a:pPr>
            <a:r>
              <a:rPr lang="en-US" sz="2000" dirty="0">
                <a:solidFill>
                  <a:srgbClr val="363737"/>
                </a:solidFill>
                <a:latin typeface="Cambria" panose="02040503050406030204" pitchFamily="18" charset="0"/>
                <a:ea typeface="Cambria" panose="02040503050406030204" pitchFamily="18" charset="0"/>
              </a:rPr>
              <a:t>T</a:t>
            </a:r>
            <a:r>
              <a:rPr lang="en-US" sz="2000" b="0" i="0" dirty="0">
                <a:solidFill>
                  <a:srgbClr val="363737"/>
                </a:solidFill>
                <a:effectLst/>
                <a:latin typeface="Cambria" panose="02040503050406030204" pitchFamily="18" charset="0"/>
                <a:ea typeface="Cambria" panose="02040503050406030204" pitchFamily="18" charset="0"/>
              </a:rPr>
              <a:t>raining in </a:t>
            </a:r>
            <a:r>
              <a:rPr lang="en-US" sz="2000" b="1" i="0" dirty="0">
                <a:solidFill>
                  <a:srgbClr val="363737"/>
                </a:solidFill>
                <a:effectLst/>
                <a:latin typeface="Cambria" panose="02040503050406030204" pitchFamily="18" charset="0"/>
                <a:ea typeface="Cambria" panose="02040503050406030204" pitchFamily="18" charset="0"/>
              </a:rPr>
              <a:t>two </a:t>
            </a:r>
            <a:r>
              <a:rPr lang="en-US" sz="2000" b="0" i="0" dirty="0">
                <a:solidFill>
                  <a:srgbClr val="363737"/>
                </a:solidFill>
                <a:effectLst/>
                <a:latin typeface="Cambria" panose="02040503050406030204" pitchFamily="18" charset="0"/>
                <a:ea typeface="Cambria" panose="02040503050406030204" pitchFamily="18" charset="0"/>
              </a:rPr>
              <a:t>stages: </a:t>
            </a:r>
            <a:r>
              <a:rPr lang="en-US" sz="2000" b="1" i="0" dirty="0">
                <a:solidFill>
                  <a:srgbClr val="363737"/>
                </a:solidFill>
                <a:effectLst/>
                <a:latin typeface="Cambria" panose="02040503050406030204" pitchFamily="18" charset="0"/>
                <a:ea typeface="Cambria" panose="02040503050406030204" pitchFamily="18" charset="0"/>
              </a:rPr>
              <a:t>regular pre-training followed by long-context training</a:t>
            </a:r>
            <a:endParaRPr lang="en-US" sz="2000" b="1" dirty="0">
              <a:solidFill>
                <a:srgbClr val="363737"/>
              </a:solidFill>
              <a:latin typeface="Cambria" panose="02040503050406030204" pitchFamily="18" charset="0"/>
              <a:ea typeface="Cambria" panose="02040503050406030204" pitchFamily="18" charset="0"/>
            </a:endParaRPr>
          </a:p>
          <a:p>
            <a:pPr marL="342900" indent="-342900" algn="l">
              <a:spcAft>
                <a:spcPts val="1500"/>
              </a:spcAft>
              <a:buFont typeface="Arial" panose="020B0604020202020204" pitchFamily="34" charset="0"/>
              <a:buChar char="•"/>
            </a:pPr>
            <a:r>
              <a:rPr lang="en-US" sz="2000" b="0" i="0" dirty="0">
                <a:solidFill>
                  <a:srgbClr val="363737"/>
                </a:solidFill>
                <a:effectLst/>
                <a:latin typeface="Cambria" panose="02040503050406030204" pitchFamily="18" charset="0"/>
                <a:ea typeface="Cambria" panose="02040503050406030204" pitchFamily="18" charset="0"/>
              </a:rPr>
              <a:t>context length from 4,096 to 32,768 tokens at the end phase of pre-training using "high-quality, lengthy data</a:t>
            </a:r>
          </a:p>
        </p:txBody>
      </p:sp>
      <p:sp>
        <p:nvSpPr>
          <p:cNvPr id="3" name="TextBox 2">
            <a:extLst>
              <a:ext uri="{FF2B5EF4-FFF2-40B4-BE49-F238E27FC236}">
                <a16:creationId xmlns:a16="http://schemas.microsoft.com/office/drawing/2014/main" id="{DE335FFC-EC95-4407-3B0A-6991FB106B08}"/>
              </a:ext>
            </a:extLst>
          </p:cNvPr>
          <p:cNvSpPr txBox="1"/>
          <p:nvPr/>
        </p:nvSpPr>
        <p:spPr>
          <a:xfrm>
            <a:off x="0" y="6611779"/>
            <a:ext cx="10089931" cy="246221"/>
          </a:xfrm>
          <a:prstGeom prst="rect">
            <a:avLst/>
          </a:prstGeom>
          <a:noFill/>
        </p:spPr>
        <p:txBody>
          <a:bodyPr wrap="square">
            <a:spAutoFit/>
          </a:bodyPr>
          <a:lstStyle/>
          <a:p>
            <a:r>
              <a:rPr lang="en-IN" sz="1000" dirty="0"/>
              <a:t>Credits: https://magazine.sebastianraschka.com/p/new-llm-pre-training-and-post-training</a:t>
            </a:r>
          </a:p>
        </p:txBody>
      </p:sp>
    </p:spTree>
    <p:extLst>
      <p:ext uri="{BB962C8B-B14F-4D97-AF65-F5344CB8AC3E}">
        <p14:creationId xmlns:p14="http://schemas.microsoft.com/office/powerpoint/2010/main" val="982047104"/>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8A5AFC-B300-3B55-39EF-3DBFEFD9D425}"/>
              </a:ext>
            </a:extLst>
          </p:cNvPr>
          <p:cNvSpPr>
            <a:spLocks noGrp="1"/>
          </p:cNvSpPr>
          <p:nvPr>
            <p:ph type="body" sz="quarter" idx="1"/>
          </p:nvPr>
        </p:nvSpPr>
        <p:spPr/>
        <p:txBody>
          <a:bodyPr/>
          <a:lstStyle/>
          <a:p>
            <a:r>
              <a:rPr lang="en-US" b="0" dirty="0">
                <a:solidFill>
                  <a:srgbClr val="27251E"/>
                </a:solidFill>
              </a:rPr>
              <a:t>Qwen 3 : 3-stage pretraining process</a:t>
            </a:r>
            <a:endParaRPr lang="en-IN" dirty="0"/>
          </a:p>
          <a:p>
            <a:endParaRPr lang="en-IN" dirty="0"/>
          </a:p>
        </p:txBody>
      </p:sp>
      <p:pic>
        <p:nvPicPr>
          <p:cNvPr id="4" name="Picture 3">
            <a:extLst>
              <a:ext uri="{FF2B5EF4-FFF2-40B4-BE49-F238E27FC236}">
                <a16:creationId xmlns:a16="http://schemas.microsoft.com/office/drawing/2014/main" id="{BDC4BE46-BA5C-21C6-BA44-9D6A626B90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026" y="1444787"/>
            <a:ext cx="8895522" cy="4852103"/>
          </a:xfrm>
          <a:prstGeom prst="rect">
            <a:avLst/>
          </a:prstGeom>
        </p:spPr>
      </p:pic>
      <p:sp>
        <p:nvSpPr>
          <p:cNvPr id="6" name="TextBox 5">
            <a:extLst>
              <a:ext uri="{FF2B5EF4-FFF2-40B4-BE49-F238E27FC236}">
                <a16:creationId xmlns:a16="http://schemas.microsoft.com/office/drawing/2014/main" id="{DD9DFC0B-82A9-9D40-1036-973235D8DF89}"/>
              </a:ext>
            </a:extLst>
          </p:cNvPr>
          <p:cNvSpPr txBox="1"/>
          <p:nvPr/>
        </p:nvSpPr>
        <p:spPr>
          <a:xfrm>
            <a:off x="9054548" y="3870838"/>
            <a:ext cx="2978426" cy="1754326"/>
          </a:xfrm>
          <a:prstGeom prst="rect">
            <a:avLst/>
          </a:prstGeom>
          <a:noFill/>
        </p:spPr>
        <p:txBody>
          <a:bodyPr wrap="square">
            <a:spAutoFit/>
          </a:bodyPr>
          <a:lstStyle/>
          <a:p>
            <a:r>
              <a:rPr lang="en-IN" dirty="0">
                <a:latin typeface="Cambria" panose="02040503050406030204" pitchFamily="18" charset="0"/>
                <a:ea typeface="Cambria" panose="02040503050406030204" pitchFamily="18" charset="0"/>
              </a:rPr>
              <a:t>High quality long context corpus includes 75% of text between 16,384 to 32,768 tokens in length, and 25% of text between 4,096 to 16,384 in length</a:t>
            </a:r>
          </a:p>
        </p:txBody>
      </p:sp>
    </p:spTree>
    <p:extLst>
      <p:ext uri="{BB962C8B-B14F-4D97-AF65-F5344CB8AC3E}">
        <p14:creationId xmlns:p14="http://schemas.microsoft.com/office/powerpoint/2010/main" val="59601212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EC273A-AEF8-E0FF-EED7-2F91F42C9DBB}"/>
              </a:ext>
            </a:extLst>
          </p:cNvPr>
          <p:cNvSpPr>
            <a:spLocks noGrp="1"/>
          </p:cNvSpPr>
          <p:nvPr>
            <p:ph type="body" sz="quarter" idx="1"/>
          </p:nvPr>
        </p:nvSpPr>
        <p:spPr/>
        <p:txBody>
          <a:bodyPr/>
          <a:lstStyle/>
          <a:p>
            <a:r>
              <a:rPr lang="en-US" dirty="0"/>
              <a:t>Qwen3 Pretraining Data</a:t>
            </a:r>
          </a:p>
          <a:p>
            <a:endParaRPr lang="en-IN" dirty="0"/>
          </a:p>
        </p:txBody>
      </p:sp>
      <p:pic>
        <p:nvPicPr>
          <p:cNvPr id="4" name="Picture 3">
            <a:extLst>
              <a:ext uri="{FF2B5EF4-FFF2-40B4-BE49-F238E27FC236}">
                <a16:creationId xmlns:a16="http://schemas.microsoft.com/office/drawing/2014/main" id="{03BFAD67-90A7-B261-CD89-3DADDE3B0E19}"/>
              </a:ext>
            </a:extLst>
          </p:cNvPr>
          <p:cNvPicPr>
            <a:picLocks noChangeAspect="1"/>
          </p:cNvPicPr>
          <p:nvPr/>
        </p:nvPicPr>
        <p:blipFill>
          <a:blip r:embed="rId3"/>
          <a:stretch>
            <a:fillRect/>
          </a:stretch>
        </p:blipFill>
        <p:spPr>
          <a:xfrm>
            <a:off x="241594" y="1146298"/>
            <a:ext cx="11319035" cy="4899582"/>
          </a:xfrm>
          <a:prstGeom prst="rect">
            <a:avLst/>
          </a:prstGeom>
        </p:spPr>
      </p:pic>
    </p:spTree>
    <p:extLst>
      <p:ext uri="{BB962C8B-B14F-4D97-AF65-F5344CB8AC3E}">
        <p14:creationId xmlns:p14="http://schemas.microsoft.com/office/powerpoint/2010/main" val="2698590874"/>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11FF37-015D-1B32-6077-C7B56AF94232}"/>
              </a:ext>
            </a:extLst>
          </p:cNvPr>
          <p:cNvSpPr>
            <a:spLocks noGrp="1"/>
          </p:cNvSpPr>
          <p:nvPr>
            <p:ph type="body" sz="quarter" idx="1"/>
          </p:nvPr>
        </p:nvSpPr>
        <p:spPr/>
        <p:txBody>
          <a:bodyPr/>
          <a:lstStyle/>
          <a:p>
            <a:r>
              <a:rPr lang="en-US" dirty="0"/>
              <a:t>Gemma 2 pre training</a:t>
            </a:r>
            <a:endParaRPr lang="en-IN" dirty="0"/>
          </a:p>
        </p:txBody>
      </p:sp>
      <p:pic>
        <p:nvPicPr>
          <p:cNvPr id="3074" name="Picture 2">
            <a:extLst>
              <a:ext uri="{FF2B5EF4-FFF2-40B4-BE49-F238E27FC236}">
                <a16:creationId xmlns:a16="http://schemas.microsoft.com/office/drawing/2014/main" id="{DA14AF0A-11E6-CEED-172A-F7EF4B1E97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208" y="1593366"/>
            <a:ext cx="6884276" cy="345737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06A9F59-252D-08E4-88FB-43F18C7449E3}"/>
              </a:ext>
            </a:extLst>
          </p:cNvPr>
          <p:cNvSpPr txBox="1"/>
          <p:nvPr/>
        </p:nvSpPr>
        <p:spPr>
          <a:xfrm>
            <a:off x="7641021" y="1481032"/>
            <a:ext cx="4466896" cy="347787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Small models are often undertrained </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They focus on maintaining quality and achieve improvements through knowledge distillation rather than simply increasing the size of the training dataset</a:t>
            </a:r>
            <a:endParaRPr lang="en-US" sz="2000" b="0" i="0" dirty="0">
              <a:solidFill>
                <a:srgbClr val="363737"/>
              </a:solidFill>
              <a:effectLst/>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US" sz="2000" b="0" i="0" dirty="0">
                <a:solidFill>
                  <a:srgbClr val="363737"/>
                </a:solidFill>
                <a:effectLst/>
                <a:latin typeface="Cambria" panose="02040503050406030204" pitchFamily="18" charset="0"/>
                <a:ea typeface="Cambria" panose="02040503050406030204" pitchFamily="18" charset="0"/>
              </a:rPr>
              <a:t>27B Gemma 2 model was trained from scratch</a:t>
            </a:r>
            <a:endParaRPr lang="en-US" sz="2000" dirty="0">
              <a:solidFill>
                <a:srgbClr val="363737"/>
              </a:solidFill>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US" sz="2000" b="0" i="0" dirty="0">
                <a:solidFill>
                  <a:srgbClr val="363737"/>
                </a:solidFill>
                <a:effectLst/>
                <a:latin typeface="Cambria" panose="02040503050406030204" pitchFamily="18" charset="0"/>
                <a:ea typeface="Cambria" panose="02040503050406030204" pitchFamily="18" charset="0"/>
              </a:rPr>
              <a:t>Smaller models were trained using knowledge distillation </a:t>
            </a:r>
            <a:endParaRPr lang="en-IN" sz="2000"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A3A54C6D-B1B8-38AD-09CB-1E479392FC22}"/>
              </a:ext>
            </a:extLst>
          </p:cNvPr>
          <p:cNvSpPr txBox="1"/>
          <p:nvPr/>
        </p:nvSpPr>
        <p:spPr>
          <a:xfrm>
            <a:off x="0" y="6611779"/>
            <a:ext cx="10089931" cy="246221"/>
          </a:xfrm>
          <a:prstGeom prst="rect">
            <a:avLst/>
          </a:prstGeom>
          <a:noFill/>
        </p:spPr>
        <p:txBody>
          <a:bodyPr wrap="square">
            <a:spAutoFit/>
          </a:bodyPr>
          <a:lstStyle/>
          <a:p>
            <a:r>
              <a:rPr lang="en-IN" sz="1000" dirty="0"/>
              <a:t>Credits: https://magazine.sebastianraschka.com/p/new-llm-pre-training-and-post-training</a:t>
            </a:r>
          </a:p>
        </p:txBody>
      </p:sp>
    </p:spTree>
    <p:extLst>
      <p:ext uri="{BB962C8B-B14F-4D97-AF65-F5344CB8AC3E}">
        <p14:creationId xmlns:p14="http://schemas.microsoft.com/office/powerpoint/2010/main" val="2283323324"/>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2CCECCA-08E2-1072-B3D9-73AD019D3B9C}"/>
              </a:ext>
            </a:extLst>
          </p:cNvPr>
          <p:cNvSpPr>
            <a:spLocks noGrp="1"/>
          </p:cNvSpPr>
          <p:nvPr>
            <p:ph type="body" sz="quarter" idx="1"/>
          </p:nvPr>
        </p:nvSpPr>
        <p:spPr/>
        <p:txBody>
          <a:bodyPr/>
          <a:lstStyle/>
          <a:p>
            <a:r>
              <a:rPr lang="en-US" b="0" dirty="0">
                <a:solidFill>
                  <a:srgbClr val="27251E"/>
                </a:solidFill>
                <a:latin typeface="pplxSerif"/>
              </a:rPr>
              <a:t>Gemma 4</a:t>
            </a:r>
            <a:endParaRPr lang="en-IN" dirty="0"/>
          </a:p>
        </p:txBody>
      </p:sp>
      <p:sp>
        <p:nvSpPr>
          <p:cNvPr id="4" name="TextBox 3">
            <a:extLst>
              <a:ext uri="{FF2B5EF4-FFF2-40B4-BE49-F238E27FC236}">
                <a16:creationId xmlns:a16="http://schemas.microsoft.com/office/drawing/2014/main" id="{55ABFAC4-99AD-194A-CCE0-54B5A54DB20B}"/>
              </a:ext>
            </a:extLst>
          </p:cNvPr>
          <p:cNvSpPr txBox="1"/>
          <p:nvPr/>
        </p:nvSpPr>
        <p:spPr>
          <a:xfrm>
            <a:off x="174171" y="1523800"/>
            <a:ext cx="11843657" cy="4524315"/>
          </a:xfrm>
          <a:prstGeom prst="rect">
            <a:avLst/>
          </a:prstGeom>
          <a:noFill/>
        </p:spPr>
        <p:txBody>
          <a:bodyPr wrap="square">
            <a:spAutoFit/>
          </a:bodyPr>
          <a:lstStyle>
            <a:defPPr>
              <a:defRPr lang="en-US"/>
            </a:defPPr>
            <a:lvl1pPr indent="-285750">
              <a:buFont typeface="Arial" panose="020B0604020202020204" pitchFamily="34" charset="0"/>
              <a:buChar char="•"/>
              <a:defRPr sz="2000">
                <a:solidFill>
                  <a:srgbClr val="27251E"/>
                </a:solidFill>
                <a:latin typeface="Cambria" panose="02040503050406030204" pitchFamily="18" charset="0"/>
                <a:ea typeface="Cambria" panose="02040503050406030204" pitchFamily="18" charset="0"/>
              </a:defRPr>
            </a:lvl1pPr>
            <a:lvl2pPr marL="742950" lvl="1" indent="-285750">
              <a:buFont typeface="Arial" panose="020B0604020202020204" pitchFamily="34" charset="0"/>
              <a:buChar char="•"/>
              <a:defRPr sz="2000" b="0" i="0">
                <a:solidFill>
                  <a:srgbClr val="27251E"/>
                </a:solidFill>
                <a:effectLst/>
                <a:latin typeface="Cambria" panose="02040503050406030204" pitchFamily="18" charset="0"/>
                <a:ea typeface="Cambria" panose="02040503050406030204" pitchFamily="18" charset="0"/>
              </a:defRPr>
            </a:lvl2pPr>
          </a:lstStyle>
          <a:p>
            <a:r>
              <a:rPr lang="en-US" sz="2400" dirty="0"/>
              <a:t>Deployable multimodal long-context pretraining </a:t>
            </a:r>
          </a:p>
          <a:p>
            <a:r>
              <a:rPr lang="en-US" sz="2400" dirty="0"/>
              <a:t>Released in 2026 as open-weight pre-trained and instruction-tuned models</a:t>
            </a:r>
          </a:p>
          <a:p>
            <a:r>
              <a:rPr lang="en-US" sz="2400" b="1" dirty="0">
                <a:solidFill>
                  <a:schemeClr val="tx1"/>
                </a:solidFill>
              </a:rPr>
              <a:t>Pre-trained (Base) Models</a:t>
            </a:r>
          </a:p>
          <a:p>
            <a:pPr lvl="1"/>
            <a:r>
              <a:rPr lang="en-US" sz="2400" b="1" dirty="0">
                <a:solidFill>
                  <a:schemeClr val="tx1"/>
                </a:solidFill>
              </a:rPr>
              <a:t>T</a:t>
            </a:r>
            <a:r>
              <a:rPr lang="en-US" sz="2400" dirty="0">
                <a:solidFill>
                  <a:schemeClr val="tx1"/>
                </a:solidFill>
              </a:rPr>
              <a:t>rained on a massive, diverse dataset (web documents, code, math, images, audio) to understand language patterns and multimodal data. </a:t>
            </a:r>
          </a:p>
          <a:p>
            <a:pPr lvl="1"/>
            <a:r>
              <a:rPr lang="en-US" sz="2400" dirty="0">
                <a:solidFill>
                  <a:schemeClr val="tx1"/>
                </a:solidFill>
              </a:rPr>
              <a:t>Designed for developers who wish to perform further specialized training (pre-training on new data or complex fine-tuning)</a:t>
            </a:r>
          </a:p>
          <a:p>
            <a:r>
              <a:rPr lang="en-US" sz="2400" b="1" dirty="0">
                <a:solidFill>
                  <a:schemeClr val="tx1"/>
                </a:solidFill>
              </a:rPr>
              <a:t>Instruction-Tuned  Models</a:t>
            </a:r>
          </a:p>
          <a:p>
            <a:pPr lvl="1"/>
            <a:r>
              <a:rPr lang="en-US" sz="2400" b="1" dirty="0">
                <a:solidFill>
                  <a:schemeClr val="tx1"/>
                </a:solidFill>
              </a:rPr>
              <a:t>B</a:t>
            </a:r>
            <a:r>
              <a:rPr lang="en-US" sz="2400" dirty="0">
                <a:solidFill>
                  <a:schemeClr val="tx1"/>
                </a:solidFill>
              </a:rPr>
              <a:t>ase models further trained on human-annotated data to follow instructions, engage in multi-turn conversations, and use system prompts. </a:t>
            </a:r>
          </a:p>
          <a:p>
            <a:pPr lvl="1"/>
            <a:r>
              <a:rPr lang="en-US" sz="2400" dirty="0">
                <a:solidFill>
                  <a:schemeClr val="tx1"/>
                </a:solidFill>
              </a:rPr>
              <a:t>Native support for function-calling, structured JSON output, and safety filters</a:t>
            </a:r>
          </a:p>
          <a:p>
            <a:r>
              <a:rPr lang="en-US" sz="2400" b="1" dirty="0"/>
              <a:t>large-scale </a:t>
            </a:r>
            <a:r>
              <a:rPr lang="en-US" sz="2400" dirty="0"/>
              <a:t>multilingual (140 languages), </a:t>
            </a:r>
            <a:r>
              <a:rPr lang="en-US" sz="2400" b="1" dirty="0"/>
              <a:t>multimodal pretraining corpus</a:t>
            </a:r>
            <a:endParaRPr lang="en-US" sz="2400" dirty="0"/>
          </a:p>
        </p:txBody>
      </p:sp>
    </p:spTree>
    <p:extLst>
      <p:ext uri="{BB962C8B-B14F-4D97-AF65-F5344CB8AC3E}">
        <p14:creationId xmlns:p14="http://schemas.microsoft.com/office/powerpoint/2010/main" val="4204110587"/>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a:xfrm>
            <a:off x="1197971" y="2445223"/>
            <a:ext cx="8432800" cy="1143000"/>
          </a:xfrm>
        </p:spPr>
        <p:txBody>
          <a:bodyPr/>
          <a:lstStyle/>
          <a:p>
            <a:r>
              <a:rPr lang="en-US" dirty="0">
                <a:solidFill>
                  <a:schemeClr val="tx1"/>
                </a:solidFill>
                <a:latin typeface="NVIDIA-NALA"/>
              </a:rPr>
              <a:t>Scaling laws</a:t>
            </a:r>
            <a:endParaRPr lang="en-IN" dirty="0"/>
          </a:p>
        </p:txBody>
      </p:sp>
    </p:spTree>
    <p:extLst>
      <p:ext uri="{BB962C8B-B14F-4D97-AF65-F5344CB8AC3E}">
        <p14:creationId xmlns:p14="http://schemas.microsoft.com/office/powerpoint/2010/main" val="1995022490"/>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spc="-7" dirty="0"/>
              <a:t>Scaling Laws</a:t>
            </a:r>
            <a:endParaRPr lang="en-IN" dirty="0"/>
          </a:p>
        </p:txBody>
      </p:sp>
      <p:sp>
        <p:nvSpPr>
          <p:cNvPr id="3" name="object 3"/>
          <p:cNvSpPr txBox="1"/>
          <p:nvPr/>
        </p:nvSpPr>
        <p:spPr>
          <a:xfrm>
            <a:off x="162795" y="1295400"/>
            <a:ext cx="12029205" cy="2763406"/>
          </a:xfrm>
          <a:prstGeom prst="rect">
            <a:avLst/>
          </a:prstGeom>
        </p:spPr>
        <p:txBody>
          <a:bodyPr vert="horz" wrap="square" lIns="0" tIns="176361" rIns="0" bIns="0" rtlCol="0">
            <a:spAutoFit/>
          </a:bodyPr>
          <a:lstStyle/>
          <a:p>
            <a:pPr marL="17859">
              <a:buSzPct val="145312"/>
              <a:tabLst>
                <a:tab pos="329494" algn="l"/>
              </a:tabLst>
            </a:pPr>
            <a:r>
              <a:rPr lang="en-IN" sz="2400" dirty="0">
                <a:ea typeface="Cambria" panose="02040503050406030204" pitchFamily="18" charset="0"/>
              </a:rPr>
              <a:t>What</a:t>
            </a:r>
            <a:r>
              <a:rPr lang="en-IN" sz="2400" spc="21" dirty="0">
                <a:ea typeface="Cambria" panose="02040503050406030204" pitchFamily="18" charset="0"/>
              </a:rPr>
              <a:t> </a:t>
            </a:r>
            <a:r>
              <a:rPr lang="en-IN" sz="2400" dirty="0">
                <a:ea typeface="Cambria" panose="02040503050406030204" pitchFamily="18" charset="0"/>
              </a:rPr>
              <a:t>can</a:t>
            </a:r>
            <a:r>
              <a:rPr lang="en-IN" sz="2400" spc="25" dirty="0">
                <a:ea typeface="Cambria" panose="02040503050406030204" pitchFamily="18" charset="0"/>
              </a:rPr>
              <a:t> </a:t>
            </a:r>
            <a:r>
              <a:rPr lang="en-IN" sz="2400" spc="112" dirty="0">
                <a:ea typeface="Cambria" panose="02040503050406030204" pitchFamily="18" charset="0"/>
              </a:rPr>
              <a:t>we</a:t>
            </a:r>
            <a:r>
              <a:rPr lang="en-IN" sz="2400" spc="25" dirty="0">
                <a:ea typeface="Cambria" panose="02040503050406030204" pitchFamily="18" charset="0"/>
              </a:rPr>
              <a:t> </a:t>
            </a:r>
            <a:r>
              <a:rPr lang="en-IN" sz="2400" spc="-7" dirty="0">
                <a:ea typeface="Cambria" panose="02040503050406030204" pitchFamily="18" charset="0"/>
              </a:rPr>
              <a:t>scale?</a:t>
            </a:r>
            <a:endParaRPr lang="en-US" sz="2400" dirty="0">
              <a:ea typeface="Cambria" panose="02040503050406030204" pitchFamily="18" charset="0"/>
              <a:cs typeface="Arial MT"/>
            </a:endParaRPr>
          </a:p>
          <a:p>
            <a:pPr marL="817959" lvl="1" indent="-342900">
              <a:buSzPct val="145312"/>
              <a:buFont typeface="Arial" panose="020B0604020202020204" pitchFamily="34" charset="0"/>
              <a:buChar char="•"/>
              <a:tabLst>
                <a:tab pos="329494" algn="l"/>
              </a:tabLst>
            </a:pPr>
            <a:r>
              <a:rPr sz="2400" dirty="0">
                <a:ea typeface="Cambria" panose="02040503050406030204" pitchFamily="18" charset="0"/>
                <a:cs typeface="Arial MT"/>
              </a:rPr>
              <a:t>Model</a:t>
            </a:r>
            <a:r>
              <a:rPr sz="2400" spc="120" dirty="0">
                <a:ea typeface="Cambria" panose="02040503050406030204" pitchFamily="18" charset="0"/>
                <a:cs typeface="Arial MT"/>
              </a:rPr>
              <a:t> </a:t>
            </a:r>
            <a:r>
              <a:rPr sz="2400" spc="-14" dirty="0">
                <a:ea typeface="Cambria" panose="02040503050406030204" pitchFamily="18" charset="0"/>
                <a:cs typeface="Arial MT"/>
              </a:rPr>
              <a:t>size</a:t>
            </a:r>
            <a:r>
              <a:rPr lang="en-US" sz="2400" spc="-14" dirty="0">
                <a:ea typeface="Cambria" panose="02040503050406030204" pitchFamily="18" charset="0"/>
                <a:cs typeface="Arial MT"/>
              </a:rPr>
              <a:t> (</a:t>
            </a:r>
            <a:r>
              <a:rPr lang="en-US" sz="2400" dirty="0"/>
              <a:t>number of parameters not counting </a:t>
            </a:r>
            <a:r>
              <a:rPr lang="en-US" sz="2400" dirty="0" err="1"/>
              <a:t>embeddings</a:t>
            </a:r>
            <a:r>
              <a:rPr lang="en-US" sz="2400" dirty="0"/>
              <a:t>)</a:t>
            </a:r>
            <a:endParaRPr sz="2400" dirty="0">
              <a:ea typeface="Cambria" panose="02040503050406030204" pitchFamily="18" charset="0"/>
              <a:cs typeface="Arial MT"/>
            </a:endParaRPr>
          </a:p>
          <a:p>
            <a:pPr marL="817959" lvl="1" indent="-342900">
              <a:buSzPct val="145312"/>
              <a:buFont typeface="Arial" panose="020B0604020202020204" pitchFamily="34" charset="0"/>
              <a:buChar char="•"/>
              <a:tabLst>
                <a:tab pos="329494" algn="l"/>
              </a:tabLst>
            </a:pPr>
            <a:r>
              <a:rPr sz="2400" dirty="0">
                <a:ea typeface="Cambria" panose="02040503050406030204" pitchFamily="18" charset="0"/>
                <a:cs typeface="Arial MT"/>
              </a:rPr>
              <a:t>Dataset </a:t>
            </a:r>
            <a:r>
              <a:rPr sz="2400" spc="-14" dirty="0">
                <a:ea typeface="Cambria" panose="02040503050406030204" pitchFamily="18" charset="0"/>
                <a:cs typeface="Arial MT"/>
              </a:rPr>
              <a:t>size</a:t>
            </a:r>
            <a:endParaRPr sz="2400" dirty="0">
              <a:ea typeface="Cambria" panose="02040503050406030204" pitchFamily="18" charset="0"/>
              <a:cs typeface="Arial MT"/>
            </a:endParaRPr>
          </a:p>
          <a:p>
            <a:pPr marL="817959" marR="12501" lvl="1" indent="-342900">
              <a:buSzPct val="145312"/>
              <a:buFont typeface="Arial" panose="020B0604020202020204" pitchFamily="34" charset="0"/>
              <a:buChar char="•"/>
              <a:tabLst>
                <a:tab pos="330387" algn="l"/>
              </a:tabLst>
            </a:pPr>
            <a:r>
              <a:rPr sz="2400" dirty="0">
                <a:ea typeface="Cambria" panose="02040503050406030204" pitchFamily="18" charset="0"/>
                <a:cs typeface="Arial MT"/>
              </a:rPr>
              <a:t>Amount</a:t>
            </a:r>
            <a:r>
              <a:rPr sz="2400" spc="70" dirty="0">
                <a:ea typeface="Cambria" panose="02040503050406030204" pitchFamily="18" charset="0"/>
                <a:cs typeface="Arial MT"/>
              </a:rPr>
              <a:t> </a:t>
            </a:r>
            <a:r>
              <a:rPr sz="2400" spc="35" dirty="0">
                <a:ea typeface="Cambria" panose="02040503050406030204" pitchFamily="18" charset="0"/>
                <a:cs typeface="Arial MT"/>
              </a:rPr>
              <a:t>of</a:t>
            </a:r>
            <a:r>
              <a:rPr sz="2400" spc="74" dirty="0">
                <a:ea typeface="Cambria" panose="02040503050406030204" pitchFamily="18" charset="0"/>
                <a:cs typeface="Arial MT"/>
              </a:rPr>
              <a:t> </a:t>
            </a:r>
            <a:r>
              <a:rPr sz="2400" dirty="0">
                <a:ea typeface="Cambria" panose="02040503050406030204" pitchFamily="18" charset="0"/>
                <a:cs typeface="Arial MT"/>
              </a:rPr>
              <a:t>total</a:t>
            </a:r>
            <a:r>
              <a:rPr sz="2400" spc="74" dirty="0">
                <a:ea typeface="Cambria" panose="02040503050406030204" pitchFamily="18" charset="0"/>
                <a:cs typeface="Arial MT"/>
              </a:rPr>
              <a:t> </a:t>
            </a:r>
            <a:r>
              <a:rPr sz="2400" spc="35" dirty="0">
                <a:ea typeface="Cambria" panose="02040503050406030204" pitchFamily="18" charset="0"/>
                <a:cs typeface="Arial MT"/>
              </a:rPr>
              <a:t>compute</a:t>
            </a:r>
            <a:r>
              <a:rPr sz="2400" spc="74" dirty="0">
                <a:ea typeface="Cambria" panose="02040503050406030204" pitchFamily="18" charset="0"/>
                <a:cs typeface="Arial MT"/>
              </a:rPr>
              <a:t> </a:t>
            </a:r>
            <a:r>
              <a:rPr sz="2400" dirty="0">
                <a:ea typeface="Cambria" panose="02040503050406030204" pitchFamily="18" charset="0"/>
                <a:cs typeface="Arial MT"/>
              </a:rPr>
              <a:t>used</a:t>
            </a:r>
            <a:r>
              <a:rPr sz="2400" spc="70" dirty="0">
                <a:ea typeface="Cambria" panose="02040503050406030204" pitchFamily="18" charset="0"/>
                <a:cs typeface="Arial MT"/>
              </a:rPr>
              <a:t> </a:t>
            </a:r>
            <a:r>
              <a:rPr sz="2400" dirty="0">
                <a:ea typeface="Cambria" panose="02040503050406030204" pitchFamily="18" charset="0"/>
                <a:cs typeface="Arial MT"/>
              </a:rPr>
              <a:t>during</a:t>
            </a:r>
            <a:r>
              <a:rPr sz="2400" spc="74" dirty="0">
                <a:ea typeface="Cambria" panose="02040503050406030204" pitchFamily="18" charset="0"/>
                <a:cs typeface="Arial MT"/>
              </a:rPr>
              <a:t> </a:t>
            </a:r>
            <a:r>
              <a:rPr sz="2400" dirty="0">
                <a:ea typeface="Cambria" panose="02040503050406030204" pitchFamily="18" charset="0"/>
                <a:cs typeface="Arial MT"/>
              </a:rPr>
              <a:t>training</a:t>
            </a:r>
            <a:r>
              <a:rPr sz="2400" spc="74" dirty="0">
                <a:ea typeface="Cambria" panose="02040503050406030204" pitchFamily="18" charset="0"/>
                <a:cs typeface="Arial MT"/>
              </a:rPr>
              <a:t> </a:t>
            </a:r>
            <a:r>
              <a:rPr sz="2400" spc="-7" dirty="0">
                <a:ea typeface="Cambria" panose="02040503050406030204" pitchFamily="18" charset="0"/>
                <a:cs typeface="Arial MT"/>
              </a:rPr>
              <a:t>(e.g., </a:t>
            </a:r>
            <a:r>
              <a:rPr sz="2400" dirty="0">
                <a:ea typeface="Cambria" panose="02040503050406030204" pitchFamily="18" charset="0"/>
                <a:cs typeface="Arial MT"/>
              </a:rPr>
              <a:t>number</a:t>
            </a:r>
            <a:r>
              <a:rPr sz="2400" spc="49" dirty="0">
                <a:ea typeface="Cambria" panose="02040503050406030204" pitchFamily="18" charset="0"/>
                <a:cs typeface="Arial MT"/>
              </a:rPr>
              <a:t> </a:t>
            </a:r>
            <a:r>
              <a:rPr sz="2400" spc="35" dirty="0">
                <a:ea typeface="Cambria" panose="02040503050406030204" pitchFamily="18" charset="0"/>
                <a:cs typeface="Arial MT"/>
              </a:rPr>
              <a:t>of</a:t>
            </a:r>
            <a:r>
              <a:rPr sz="2400" spc="53" dirty="0">
                <a:ea typeface="Cambria" panose="02040503050406030204" pitchFamily="18" charset="0"/>
                <a:cs typeface="Arial MT"/>
              </a:rPr>
              <a:t> </a:t>
            </a:r>
            <a:r>
              <a:rPr sz="2400" dirty="0">
                <a:ea typeface="Cambria" panose="02040503050406030204" pitchFamily="18" charset="0"/>
                <a:cs typeface="Arial MT"/>
              </a:rPr>
              <a:t>training</a:t>
            </a:r>
            <a:r>
              <a:rPr sz="2400" spc="49" dirty="0">
                <a:ea typeface="Cambria" panose="02040503050406030204" pitchFamily="18" charset="0"/>
                <a:cs typeface="Arial MT"/>
              </a:rPr>
              <a:t> </a:t>
            </a:r>
            <a:r>
              <a:rPr sz="2400" spc="-7" dirty="0">
                <a:ea typeface="Cambria" panose="02040503050406030204" pitchFamily="18" charset="0"/>
                <a:cs typeface="Arial MT"/>
              </a:rPr>
              <a:t>steps)</a:t>
            </a:r>
            <a:endParaRPr lang="en-US" sz="2400" spc="-7" dirty="0">
              <a:ea typeface="Cambria" panose="02040503050406030204" pitchFamily="18" charset="0"/>
              <a:cs typeface="Arial MT"/>
            </a:endParaRPr>
          </a:p>
          <a:p>
            <a:pPr marL="360759" marR="12501" indent="-342900">
              <a:buSzPct val="145312"/>
              <a:buFont typeface="Arial" panose="020B0604020202020204" pitchFamily="34" charset="0"/>
              <a:buChar char="•"/>
              <a:tabLst>
                <a:tab pos="330387" algn="l"/>
              </a:tabLst>
            </a:pPr>
            <a:r>
              <a:rPr lang="en-US" sz="2400" dirty="0"/>
              <a:t>Relationships between these factors and performance are known as </a:t>
            </a:r>
            <a:r>
              <a:rPr lang="en-US" sz="2400" b="1" i="1" dirty="0"/>
              <a:t>scaling laws</a:t>
            </a:r>
          </a:p>
          <a:p>
            <a:pPr marL="360759" marR="12501" indent="-342900">
              <a:buSzPct val="145312"/>
              <a:buFont typeface="Arial" panose="020B0604020202020204" pitchFamily="34" charset="0"/>
              <a:buChar char="•"/>
              <a:tabLst>
                <a:tab pos="330387" algn="l"/>
              </a:tabLst>
            </a:pPr>
            <a:r>
              <a:rPr lang="en-US" sz="2400" dirty="0"/>
              <a:t>Performance of a large language model (loss) scales as a power-law with each of these three properties of model training</a:t>
            </a:r>
            <a:endParaRPr sz="2400" dirty="0">
              <a:ea typeface="Cambria" panose="02040503050406030204" pitchFamily="18" charset="0"/>
              <a:cs typeface="Arial MT"/>
            </a:endParaRPr>
          </a:p>
        </p:txBody>
      </p:sp>
      <p:sp>
        <p:nvSpPr>
          <p:cNvPr id="4" name="object 2"/>
          <p:cNvSpPr txBox="1"/>
          <p:nvPr/>
        </p:nvSpPr>
        <p:spPr>
          <a:xfrm>
            <a:off x="313943" y="4176990"/>
            <a:ext cx="11726908" cy="624570"/>
          </a:xfrm>
          <a:prstGeom prst="rect">
            <a:avLst/>
          </a:prstGeom>
        </p:spPr>
        <p:txBody>
          <a:bodyPr vert="horz" wrap="square" lIns="0" tIns="8930" rIns="0" bIns="0" rtlCol="0">
            <a:spAutoFit/>
          </a:bodyPr>
          <a:lstStyle/>
          <a:p>
            <a:pPr marL="8929" marR="3572"/>
            <a:r>
              <a:rPr sz="2000" b="1" spc="-14" dirty="0">
                <a:solidFill>
                  <a:srgbClr val="C00000"/>
                </a:solidFill>
                <a:latin typeface="Cambria" panose="02040503050406030204" pitchFamily="18" charset="0"/>
                <a:ea typeface="Cambria" panose="02040503050406030204" pitchFamily="18" charset="0"/>
                <a:cs typeface="Arial"/>
              </a:rPr>
              <a:t>Given</a:t>
            </a:r>
            <a:r>
              <a:rPr sz="2000" b="1" spc="-28" dirty="0">
                <a:solidFill>
                  <a:srgbClr val="C00000"/>
                </a:solidFill>
                <a:latin typeface="Cambria" panose="02040503050406030204" pitchFamily="18" charset="0"/>
                <a:ea typeface="Cambria" panose="02040503050406030204" pitchFamily="18" charset="0"/>
                <a:cs typeface="Arial"/>
              </a:rPr>
              <a:t> </a:t>
            </a:r>
            <a:r>
              <a:rPr sz="2000" b="1" spc="53" dirty="0">
                <a:solidFill>
                  <a:srgbClr val="C00000"/>
                </a:solidFill>
                <a:latin typeface="Cambria" panose="02040503050406030204" pitchFamily="18" charset="0"/>
                <a:ea typeface="Cambria" panose="02040503050406030204" pitchFamily="18" charset="0"/>
                <a:cs typeface="Arial"/>
              </a:rPr>
              <a:t>a</a:t>
            </a:r>
            <a:r>
              <a:rPr sz="2000" b="1" spc="-28" dirty="0">
                <a:solidFill>
                  <a:srgbClr val="C00000"/>
                </a:solidFill>
                <a:latin typeface="Cambria" panose="02040503050406030204" pitchFamily="18" charset="0"/>
                <a:ea typeface="Cambria" panose="02040503050406030204" pitchFamily="18" charset="0"/>
                <a:cs typeface="Arial"/>
              </a:rPr>
              <a:t> </a:t>
            </a:r>
            <a:r>
              <a:rPr sz="2000" b="1" dirty="0">
                <a:solidFill>
                  <a:srgbClr val="C00000"/>
                </a:solidFill>
                <a:latin typeface="Cambria" panose="02040503050406030204" pitchFamily="18" charset="0"/>
                <a:ea typeface="Cambria" panose="02040503050406030204" pitchFamily="18" charset="0"/>
                <a:cs typeface="Arial"/>
              </a:rPr>
              <a:t>fixed</a:t>
            </a:r>
            <a:r>
              <a:rPr sz="2000" b="1" spc="-28" dirty="0">
                <a:solidFill>
                  <a:srgbClr val="C00000"/>
                </a:solidFill>
                <a:latin typeface="Cambria" panose="02040503050406030204" pitchFamily="18" charset="0"/>
                <a:ea typeface="Cambria" panose="02040503050406030204" pitchFamily="18" charset="0"/>
                <a:cs typeface="Arial"/>
              </a:rPr>
              <a:t> </a:t>
            </a:r>
            <a:r>
              <a:rPr sz="2000" b="1" dirty="0">
                <a:solidFill>
                  <a:srgbClr val="C00000"/>
                </a:solidFill>
                <a:latin typeface="Cambria" panose="02040503050406030204" pitchFamily="18" charset="0"/>
                <a:ea typeface="Cambria" panose="02040503050406030204" pitchFamily="18" charset="0"/>
                <a:cs typeface="Arial"/>
              </a:rPr>
              <a:t>compute</a:t>
            </a:r>
            <a:r>
              <a:rPr sz="2000" b="1" spc="-25" dirty="0">
                <a:solidFill>
                  <a:srgbClr val="C00000"/>
                </a:solidFill>
                <a:latin typeface="Cambria" panose="02040503050406030204" pitchFamily="18" charset="0"/>
                <a:ea typeface="Cambria" panose="02040503050406030204" pitchFamily="18" charset="0"/>
                <a:cs typeface="Arial"/>
              </a:rPr>
              <a:t> </a:t>
            </a:r>
            <a:r>
              <a:rPr sz="2000" b="1" dirty="0">
                <a:solidFill>
                  <a:srgbClr val="C00000"/>
                </a:solidFill>
                <a:latin typeface="Cambria" panose="02040503050406030204" pitchFamily="18" charset="0"/>
                <a:ea typeface="Cambria" panose="02040503050406030204" pitchFamily="18" charset="0"/>
                <a:cs typeface="Arial"/>
              </a:rPr>
              <a:t>budget,</a:t>
            </a:r>
            <a:r>
              <a:rPr sz="2000" b="1" spc="-28" dirty="0">
                <a:solidFill>
                  <a:srgbClr val="C00000"/>
                </a:solidFill>
                <a:latin typeface="Cambria" panose="02040503050406030204" pitchFamily="18" charset="0"/>
                <a:ea typeface="Cambria" panose="02040503050406030204" pitchFamily="18" charset="0"/>
                <a:cs typeface="Arial"/>
              </a:rPr>
              <a:t> </a:t>
            </a:r>
            <a:r>
              <a:rPr sz="2000" b="1" spc="21" dirty="0">
                <a:solidFill>
                  <a:srgbClr val="C00000"/>
                </a:solidFill>
                <a:latin typeface="Cambria" panose="02040503050406030204" pitchFamily="18" charset="0"/>
                <a:ea typeface="Cambria" panose="02040503050406030204" pitchFamily="18" charset="0"/>
                <a:cs typeface="Arial"/>
              </a:rPr>
              <a:t>what </a:t>
            </a:r>
            <a:r>
              <a:rPr sz="2000" b="1" dirty="0">
                <a:solidFill>
                  <a:srgbClr val="C00000"/>
                </a:solidFill>
                <a:latin typeface="Cambria" panose="02040503050406030204" pitchFamily="18" charset="0"/>
                <a:ea typeface="Cambria" panose="02040503050406030204" pitchFamily="18" charset="0"/>
                <a:cs typeface="Arial"/>
              </a:rPr>
              <a:t>is</a:t>
            </a:r>
            <a:r>
              <a:rPr sz="2000" b="1" spc="-25" dirty="0">
                <a:solidFill>
                  <a:srgbClr val="C00000"/>
                </a:solidFill>
                <a:latin typeface="Cambria" panose="02040503050406030204" pitchFamily="18" charset="0"/>
                <a:ea typeface="Cambria" panose="02040503050406030204" pitchFamily="18" charset="0"/>
                <a:cs typeface="Arial"/>
              </a:rPr>
              <a:t> </a:t>
            </a:r>
            <a:r>
              <a:rPr sz="2000" b="1" dirty="0">
                <a:solidFill>
                  <a:srgbClr val="C00000"/>
                </a:solidFill>
                <a:latin typeface="Cambria" panose="02040503050406030204" pitchFamily="18" charset="0"/>
                <a:ea typeface="Cambria" panose="02040503050406030204" pitchFamily="18" charset="0"/>
                <a:cs typeface="Arial"/>
              </a:rPr>
              <a:t>the</a:t>
            </a:r>
            <a:r>
              <a:rPr sz="2000" b="1" spc="-25" dirty="0">
                <a:solidFill>
                  <a:srgbClr val="C00000"/>
                </a:solidFill>
                <a:latin typeface="Cambria" panose="02040503050406030204" pitchFamily="18" charset="0"/>
                <a:ea typeface="Cambria" panose="02040503050406030204" pitchFamily="18" charset="0"/>
                <a:cs typeface="Arial"/>
              </a:rPr>
              <a:t> </a:t>
            </a:r>
            <a:r>
              <a:rPr sz="2000" b="1" dirty="0">
                <a:solidFill>
                  <a:srgbClr val="C00000"/>
                </a:solidFill>
                <a:latin typeface="Cambria" panose="02040503050406030204" pitchFamily="18" charset="0"/>
                <a:ea typeface="Cambria" panose="02040503050406030204" pitchFamily="18" charset="0"/>
                <a:cs typeface="Arial"/>
              </a:rPr>
              <a:t>optimal</a:t>
            </a:r>
            <a:r>
              <a:rPr sz="2000" b="1" spc="-25" dirty="0">
                <a:solidFill>
                  <a:srgbClr val="C00000"/>
                </a:solidFill>
                <a:latin typeface="Cambria" panose="02040503050406030204" pitchFamily="18" charset="0"/>
                <a:ea typeface="Cambria" panose="02040503050406030204" pitchFamily="18" charset="0"/>
                <a:cs typeface="Arial"/>
              </a:rPr>
              <a:t> </a:t>
            </a:r>
            <a:r>
              <a:rPr sz="2000" b="1" dirty="0">
                <a:solidFill>
                  <a:srgbClr val="C00000"/>
                </a:solidFill>
                <a:latin typeface="Cambria" panose="02040503050406030204" pitchFamily="18" charset="0"/>
                <a:ea typeface="Cambria" panose="02040503050406030204" pitchFamily="18" charset="0"/>
                <a:cs typeface="Arial"/>
              </a:rPr>
              <a:t>model</a:t>
            </a:r>
            <a:r>
              <a:rPr sz="2000" b="1" spc="-25" dirty="0">
                <a:solidFill>
                  <a:srgbClr val="C00000"/>
                </a:solidFill>
                <a:latin typeface="Cambria" panose="02040503050406030204" pitchFamily="18" charset="0"/>
                <a:ea typeface="Cambria" panose="02040503050406030204" pitchFamily="18" charset="0"/>
                <a:cs typeface="Arial"/>
              </a:rPr>
              <a:t> </a:t>
            </a:r>
            <a:r>
              <a:rPr sz="2000" b="1" dirty="0">
                <a:solidFill>
                  <a:srgbClr val="C00000"/>
                </a:solidFill>
                <a:latin typeface="Cambria" panose="02040503050406030204" pitchFamily="18" charset="0"/>
                <a:ea typeface="Cambria" panose="02040503050406030204" pitchFamily="18" charset="0"/>
                <a:cs typeface="Arial"/>
              </a:rPr>
              <a:t>size</a:t>
            </a:r>
            <a:r>
              <a:rPr sz="2000" b="1" spc="-25" dirty="0">
                <a:solidFill>
                  <a:srgbClr val="C00000"/>
                </a:solidFill>
                <a:latin typeface="Cambria" panose="02040503050406030204" pitchFamily="18" charset="0"/>
                <a:ea typeface="Cambria" panose="02040503050406030204" pitchFamily="18" charset="0"/>
                <a:cs typeface="Arial"/>
              </a:rPr>
              <a:t> </a:t>
            </a:r>
            <a:r>
              <a:rPr sz="2000" b="1" dirty="0">
                <a:solidFill>
                  <a:srgbClr val="C00000"/>
                </a:solidFill>
                <a:latin typeface="Cambria" panose="02040503050406030204" pitchFamily="18" charset="0"/>
                <a:ea typeface="Cambria" panose="02040503050406030204" pitchFamily="18" charset="0"/>
                <a:cs typeface="Arial"/>
              </a:rPr>
              <a:t>and</a:t>
            </a:r>
            <a:r>
              <a:rPr sz="2000" b="1" spc="-21" dirty="0">
                <a:solidFill>
                  <a:srgbClr val="C00000"/>
                </a:solidFill>
                <a:latin typeface="Cambria" panose="02040503050406030204" pitchFamily="18" charset="0"/>
                <a:ea typeface="Cambria" panose="02040503050406030204" pitchFamily="18" charset="0"/>
                <a:cs typeface="Arial"/>
              </a:rPr>
              <a:t> </a:t>
            </a:r>
            <a:r>
              <a:rPr sz="2000" b="1" spc="-7" dirty="0">
                <a:solidFill>
                  <a:srgbClr val="C00000"/>
                </a:solidFill>
                <a:latin typeface="Cambria" panose="02040503050406030204" pitchFamily="18" charset="0"/>
                <a:ea typeface="Cambria" panose="02040503050406030204" pitchFamily="18" charset="0"/>
                <a:cs typeface="Arial"/>
              </a:rPr>
              <a:t>training </a:t>
            </a:r>
            <a:r>
              <a:rPr sz="2000" b="1" dirty="0">
                <a:solidFill>
                  <a:srgbClr val="C00000"/>
                </a:solidFill>
                <a:latin typeface="Cambria" panose="02040503050406030204" pitchFamily="18" charset="0"/>
                <a:ea typeface="Cambria" panose="02040503050406030204" pitchFamily="18" charset="0"/>
                <a:cs typeface="Arial"/>
              </a:rPr>
              <a:t>dataset</a:t>
            </a:r>
            <a:r>
              <a:rPr sz="2000" b="1" spc="-14" dirty="0">
                <a:solidFill>
                  <a:srgbClr val="C00000"/>
                </a:solidFill>
                <a:latin typeface="Cambria" panose="02040503050406030204" pitchFamily="18" charset="0"/>
                <a:ea typeface="Cambria" panose="02040503050406030204" pitchFamily="18" charset="0"/>
                <a:cs typeface="Arial"/>
              </a:rPr>
              <a:t> </a:t>
            </a:r>
            <a:r>
              <a:rPr sz="2000" b="1" dirty="0">
                <a:solidFill>
                  <a:srgbClr val="C00000"/>
                </a:solidFill>
                <a:latin typeface="Cambria" panose="02040503050406030204" pitchFamily="18" charset="0"/>
                <a:ea typeface="Cambria" panose="02040503050406030204" pitchFamily="18" charset="0"/>
                <a:cs typeface="Arial"/>
              </a:rPr>
              <a:t>size</a:t>
            </a:r>
            <a:r>
              <a:rPr sz="2000" b="1" spc="-14" dirty="0">
                <a:solidFill>
                  <a:srgbClr val="C00000"/>
                </a:solidFill>
                <a:latin typeface="Cambria" panose="02040503050406030204" pitchFamily="18" charset="0"/>
                <a:ea typeface="Cambria" panose="02040503050406030204" pitchFamily="18" charset="0"/>
                <a:cs typeface="Arial"/>
              </a:rPr>
              <a:t> </a:t>
            </a:r>
            <a:r>
              <a:rPr sz="2000" b="1" dirty="0">
                <a:solidFill>
                  <a:srgbClr val="C00000"/>
                </a:solidFill>
                <a:latin typeface="Cambria" panose="02040503050406030204" pitchFamily="18" charset="0"/>
                <a:ea typeface="Cambria" panose="02040503050406030204" pitchFamily="18" charset="0"/>
                <a:cs typeface="Arial"/>
              </a:rPr>
              <a:t>for</a:t>
            </a:r>
            <a:r>
              <a:rPr sz="2000" b="1" spc="-14" dirty="0">
                <a:solidFill>
                  <a:srgbClr val="C00000"/>
                </a:solidFill>
                <a:latin typeface="Cambria" panose="02040503050406030204" pitchFamily="18" charset="0"/>
                <a:ea typeface="Cambria" panose="02040503050406030204" pitchFamily="18" charset="0"/>
                <a:cs typeface="Arial"/>
              </a:rPr>
              <a:t> </a:t>
            </a:r>
            <a:r>
              <a:rPr sz="2000" b="1" spc="-7" dirty="0">
                <a:solidFill>
                  <a:srgbClr val="C00000"/>
                </a:solidFill>
                <a:latin typeface="Cambria" panose="02040503050406030204" pitchFamily="18" charset="0"/>
                <a:ea typeface="Cambria" panose="02040503050406030204" pitchFamily="18" charset="0"/>
                <a:cs typeface="Arial"/>
              </a:rPr>
              <a:t>training</a:t>
            </a:r>
            <a:r>
              <a:rPr sz="2000" b="1" spc="-14" dirty="0">
                <a:solidFill>
                  <a:srgbClr val="C00000"/>
                </a:solidFill>
                <a:latin typeface="Cambria" panose="02040503050406030204" pitchFamily="18" charset="0"/>
                <a:ea typeface="Cambria" panose="02040503050406030204" pitchFamily="18" charset="0"/>
                <a:cs typeface="Arial"/>
              </a:rPr>
              <a:t> </a:t>
            </a:r>
            <a:r>
              <a:rPr sz="2000" b="1" spc="18" dirty="0">
                <a:solidFill>
                  <a:srgbClr val="C00000"/>
                </a:solidFill>
                <a:latin typeface="Cambria" panose="02040503050406030204" pitchFamily="18" charset="0"/>
                <a:ea typeface="Cambria" panose="02040503050406030204" pitchFamily="18" charset="0"/>
                <a:cs typeface="Arial"/>
              </a:rPr>
              <a:t>a </a:t>
            </a:r>
            <a:r>
              <a:rPr sz="2000" b="1" spc="-14" dirty="0">
                <a:solidFill>
                  <a:srgbClr val="C00000"/>
                </a:solidFill>
                <a:latin typeface="Cambria" panose="02040503050406030204" pitchFamily="18" charset="0"/>
                <a:ea typeface="Cambria" panose="02040503050406030204" pitchFamily="18" charset="0"/>
                <a:cs typeface="Arial"/>
              </a:rPr>
              <a:t>Transformer</a:t>
            </a:r>
            <a:r>
              <a:rPr sz="2000" b="1" spc="-158" dirty="0">
                <a:solidFill>
                  <a:srgbClr val="C00000"/>
                </a:solidFill>
                <a:latin typeface="Cambria" panose="02040503050406030204" pitchFamily="18" charset="0"/>
                <a:ea typeface="Cambria" panose="02040503050406030204" pitchFamily="18" charset="0"/>
                <a:cs typeface="Arial"/>
              </a:rPr>
              <a:t> </a:t>
            </a:r>
            <a:r>
              <a:rPr sz="2000" b="1" spc="-18" dirty="0">
                <a:solidFill>
                  <a:srgbClr val="C00000"/>
                </a:solidFill>
                <a:latin typeface="Cambria" panose="02040503050406030204" pitchFamily="18" charset="0"/>
                <a:ea typeface="Cambria" panose="02040503050406030204" pitchFamily="18" charset="0"/>
                <a:cs typeface="Arial"/>
              </a:rPr>
              <a:t>LM?</a:t>
            </a:r>
            <a:endParaRPr sz="2000" b="1" dirty="0">
              <a:solidFill>
                <a:srgbClr val="C00000"/>
              </a:solidFill>
              <a:latin typeface="Cambria" panose="02040503050406030204" pitchFamily="18" charset="0"/>
              <a:ea typeface="Cambria" panose="02040503050406030204" pitchFamily="18" charset="0"/>
              <a:cs typeface="Arial"/>
            </a:endParaRPr>
          </a:p>
        </p:txBody>
      </p:sp>
      <p:sp>
        <p:nvSpPr>
          <p:cNvPr id="5" name="object 3"/>
          <p:cNvSpPr txBox="1"/>
          <p:nvPr/>
        </p:nvSpPr>
        <p:spPr>
          <a:xfrm>
            <a:off x="2771676" y="4861250"/>
            <a:ext cx="7586216" cy="1409190"/>
          </a:xfrm>
          <a:prstGeom prst="rect">
            <a:avLst/>
          </a:prstGeom>
          <a:solidFill>
            <a:schemeClr val="accent3">
              <a:lumMod val="40000"/>
              <a:lumOff val="60000"/>
            </a:schemeClr>
          </a:solidFill>
        </p:spPr>
        <p:txBody>
          <a:bodyPr vert="horz" wrap="square" lIns="0" tIns="176361" rIns="0" bIns="0" rtlCol="0">
            <a:spAutoFit/>
          </a:bodyPr>
          <a:lstStyle/>
          <a:p>
            <a:pPr marL="26788">
              <a:buSzPct val="145312"/>
              <a:tabLst>
                <a:tab pos="338423" algn="l"/>
              </a:tabLst>
            </a:pPr>
            <a:r>
              <a:rPr lang="en-US" sz="2000" spc="-14" dirty="0">
                <a:latin typeface="Cambria" panose="02040503050406030204" pitchFamily="18" charset="0"/>
                <a:ea typeface="Cambria" panose="02040503050406030204" pitchFamily="18" charset="0"/>
              </a:rPr>
              <a:t>Let’s</a:t>
            </a:r>
            <a:r>
              <a:rPr lang="en-US" sz="2000" spc="-169"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say</a:t>
            </a:r>
            <a:r>
              <a:rPr lang="en-US" sz="2000" spc="-169" dirty="0">
                <a:latin typeface="Cambria" panose="02040503050406030204" pitchFamily="18" charset="0"/>
                <a:ea typeface="Cambria" panose="02040503050406030204" pitchFamily="18" charset="0"/>
              </a:rPr>
              <a:t> </a:t>
            </a:r>
            <a:r>
              <a:rPr lang="en-US" sz="2000" spc="-7" dirty="0">
                <a:latin typeface="Cambria" panose="02040503050406030204" pitchFamily="18" charset="0"/>
                <a:ea typeface="Cambria" panose="02040503050406030204" pitchFamily="18" charset="0"/>
              </a:rPr>
              <a:t>you</a:t>
            </a:r>
            <a:r>
              <a:rPr lang="en-US" sz="2000" spc="-165"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can</a:t>
            </a:r>
            <a:r>
              <a:rPr lang="en-US" sz="2000" spc="-169"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use</a:t>
            </a:r>
            <a:r>
              <a:rPr lang="en-US" sz="2000" spc="-165" dirty="0">
                <a:latin typeface="Cambria" panose="02040503050406030204" pitchFamily="18" charset="0"/>
                <a:ea typeface="Cambria" panose="02040503050406030204" pitchFamily="18" charset="0"/>
              </a:rPr>
              <a:t> </a:t>
            </a:r>
            <a:r>
              <a:rPr lang="en-US" sz="2000" spc="-18" dirty="0">
                <a:latin typeface="Cambria" panose="02040503050406030204" pitchFamily="18" charset="0"/>
                <a:ea typeface="Cambria" panose="02040503050406030204" pitchFamily="18" charset="0"/>
              </a:rPr>
              <a:t>one </a:t>
            </a:r>
            <a:r>
              <a:rPr lang="en-US" sz="2000" dirty="0">
                <a:latin typeface="Cambria" panose="02040503050406030204" pitchFamily="18" charset="0"/>
                <a:ea typeface="Cambria" panose="02040503050406030204" pitchFamily="18" charset="0"/>
              </a:rPr>
              <a:t>GPU</a:t>
            </a:r>
            <a:r>
              <a:rPr lang="en-US" sz="2000" spc="-21"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for</a:t>
            </a:r>
            <a:r>
              <a:rPr lang="en-US" sz="2000" spc="-18"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one</a:t>
            </a:r>
            <a:r>
              <a:rPr lang="en-US" sz="2000" spc="-18" dirty="0">
                <a:latin typeface="Cambria" panose="02040503050406030204" pitchFamily="18" charset="0"/>
                <a:ea typeface="Cambria" panose="02040503050406030204" pitchFamily="18" charset="0"/>
              </a:rPr>
              <a:t> day</a:t>
            </a:r>
            <a:endParaRPr lang="en-US" sz="2000" dirty="0">
              <a:latin typeface="Cambria" panose="02040503050406030204" pitchFamily="18" charset="0"/>
              <a:ea typeface="Cambria" panose="02040503050406030204" pitchFamily="18" charset="0"/>
              <a:cs typeface="Arial MT"/>
            </a:endParaRPr>
          </a:p>
          <a:p>
            <a:pPr marL="369688" indent="-342900">
              <a:buSzPct val="145312"/>
              <a:buFont typeface="Arial" panose="020B0604020202020204" pitchFamily="34" charset="0"/>
              <a:buChar char="•"/>
              <a:tabLst>
                <a:tab pos="338423" algn="l"/>
              </a:tabLst>
            </a:pPr>
            <a:r>
              <a:rPr sz="2000" dirty="0">
                <a:latin typeface="Cambria" panose="02040503050406030204" pitchFamily="18" charset="0"/>
                <a:ea typeface="Cambria" panose="02040503050406030204" pitchFamily="18" charset="0"/>
                <a:cs typeface="Arial MT"/>
              </a:rPr>
              <a:t>Would</a:t>
            </a:r>
            <a:r>
              <a:rPr sz="2000" spc="7"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you</a:t>
            </a:r>
            <a:r>
              <a:rPr sz="2000" spc="7"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train</a:t>
            </a:r>
            <a:r>
              <a:rPr sz="2000" spc="11"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a</a:t>
            </a:r>
            <a:r>
              <a:rPr sz="2000" spc="7"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5</a:t>
            </a:r>
            <a:r>
              <a:rPr sz="2000" spc="11"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million</a:t>
            </a:r>
            <a:r>
              <a:rPr sz="2000" spc="7"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parameter</a:t>
            </a:r>
            <a:r>
              <a:rPr sz="2000" spc="7"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LM</a:t>
            </a:r>
            <a:r>
              <a:rPr sz="2000" spc="11"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on</a:t>
            </a:r>
            <a:r>
              <a:rPr sz="2000" spc="7"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100</a:t>
            </a:r>
            <a:r>
              <a:rPr sz="2000" spc="11" dirty="0">
                <a:latin typeface="Cambria" panose="02040503050406030204" pitchFamily="18" charset="0"/>
                <a:ea typeface="Cambria" panose="02040503050406030204" pitchFamily="18" charset="0"/>
                <a:cs typeface="Arial MT"/>
              </a:rPr>
              <a:t> </a:t>
            </a:r>
            <a:r>
              <a:rPr sz="2000" spc="28" dirty="0">
                <a:latin typeface="Cambria" panose="02040503050406030204" pitchFamily="18" charset="0"/>
                <a:ea typeface="Cambria" panose="02040503050406030204" pitchFamily="18" charset="0"/>
                <a:cs typeface="Arial MT"/>
              </a:rPr>
              <a:t>books?</a:t>
            </a:r>
            <a:endParaRPr sz="2000" dirty="0">
              <a:latin typeface="Cambria" panose="02040503050406030204" pitchFamily="18" charset="0"/>
              <a:ea typeface="Cambria" panose="02040503050406030204" pitchFamily="18" charset="0"/>
              <a:cs typeface="Arial MT"/>
            </a:endParaRPr>
          </a:p>
          <a:p>
            <a:pPr marL="369688" indent="-342900">
              <a:buSzPct val="145312"/>
              <a:buFont typeface="Arial" panose="020B0604020202020204" pitchFamily="34" charset="0"/>
              <a:buChar char="•"/>
              <a:tabLst>
                <a:tab pos="338423" algn="l"/>
              </a:tabLst>
            </a:pPr>
            <a:r>
              <a:rPr sz="2000" dirty="0">
                <a:latin typeface="Cambria" panose="02040503050406030204" pitchFamily="18" charset="0"/>
                <a:ea typeface="Cambria" panose="02040503050406030204" pitchFamily="18" charset="0"/>
                <a:cs typeface="Arial MT"/>
              </a:rPr>
              <a:t>What</a:t>
            </a:r>
            <a:r>
              <a:rPr sz="2000" spc="28"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about</a:t>
            </a:r>
            <a:r>
              <a:rPr sz="2000" spc="32"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a</a:t>
            </a:r>
            <a:r>
              <a:rPr sz="2000" spc="28"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500</a:t>
            </a:r>
            <a:r>
              <a:rPr sz="2000" spc="32"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million</a:t>
            </a:r>
            <a:r>
              <a:rPr sz="2000" spc="28"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parameter</a:t>
            </a:r>
            <a:r>
              <a:rPr sz="2000" spc="32"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LM</a:t>
            </a:r>
            <a:r>
              <a:rPr sz="2000" spc="28"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on</a:t>
            </a:r>
            <a:r>
              <a:rPr sz="2000" spc="32"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one</a:t>
            </a:r>
            <a:r>
              <a:rPr sz="2000" spc="28" dirty="0">
                <a:latin typeface="Cambria" panose="02040503050406030204" pitchFamily="18" charset="0"/>
                <a:ea typeface="Cambria" panose="02040503050406030204" pitchFamily="18" charset="0"/>
                <a:cs typeface="Arial MT"/>
              </a:rPr>
              <a:t> book?</a:t>
            </a:r>
            <a:endParaRPr sz="2000" dirty="0">
              <a:latin typeface="Cambria" panose="02040503050406030204" pitchFamily="18" charset="0"/>
              <a:ea typeface="Cambria" panose="02040503050406030204" pitchFamily="18" charset="0"/>
              <a:cs typeface="Arial MT"/>
            </a:endParaRPr>
          </a:p>
          <a:p>
            <a:pPr marL="369688" indent="-342900">
              <a:buSzPct val="145312"/>
              <a:buFont typeface="Arial" panose="020B0604020202020204" pitchFamily="34" charset="0"/>
              <a:buChar char="•"/>
              <a:tabLst>
                <a:tab pos="338423" algn="l"/>
              </a:tabLst>
            </a:pPr>
            <a:r>
              <a:rPr sz="2000" dirty="0">
                <a:latin typeface="Cambria" panose="02040503050406030204" pitchFamily="18" charset="0"/>
                <a:ea typeface="Cambria" panose="02040503050406030204" pitchFamily="18" charset="0"/>
                <a:cs typeface="Arial MT"/>
              </a:rPr>
              <a:t>Or</a:t>
            </a:r>
            <a:r>
              <a:rPr sz="2000" spc="7"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a</a:t>
            </a:r>
            <a:r>
              <a:rPr sz="2000" spc="7"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100k</a:t>
            </a:r>
            <a:r>
              <a:rPr sz="2000" spc="11"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parameter</a:t>
            </a:r>
            <a:r>
              <a:rPr sz="2000" spc="7"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LM</a:t>
            </a:r>
            <a:r>
              <a:rPr sz="2000" spc="11"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on</a:t>
            </a:r>
            <a:r>
              <a:rPr sz="2000" spc="7" dirty="0">
                <a:latin typeface="Cambria" panose="02040503050406030204" pitchFamily="18" charset="0"/>
                <a:ea typeface="Cambria" panose="02040503050406030204" pitchFamily="18" charset="0"/>
                <a:cs typeface="Arial MT"/>
              </a:rPr>
              <a:t> </a:t>
            </a:r>
            <a:r>
              <a:rPr sz="2000" dirty="0">
                <a:latin typeface="Cambria" panose="02040503050406030204" pitchFamily="18" charset="0"/>
                <a:ea typeface="Cambria" panose="02040503050406030204" pitchFamily="18" charset="0"/>
                <a:cs typeface="Arial MT"/>
              </a:rPr>
              <a:t>5k</a:t>
            </a:r>
            <a:r>
              <a:rPr sz="2000" spc="11" dirty="0">
                <a:latin typeface="Cambria" panose="02040503050406030204" pitchFamily="18" charset="0"/>
                <a:ea typeface="Cambria" panose="02040503050406030204" pitchFamily="18" charset="0"/>
                <a:cs typeface="Arial MT"/>
              </a:rPr>
              <a:t> </a:t>
            </a:r>
            <a:r>
              <a:rPr sz="2000" spc="28" dirty="0">
                <a:latin typeface="Cambria" panose="02040503050406030204" pitchFamily="18" charset="0"/>
                <a:ea typeface="Cambria" panose="02040503050406030204" pitchFamily="18" charset="0"/>
                <a:cs typeface="Arial MT"/>
              </a:rPr>
              <a:t>books?</a:t>
            </a:r>
            <a:endParaRPr sz="2000" dirty="0">
              <a:latin typeface="Cambria" panose="02040503050406030204" pitchFamily="18" charset="0"/>
              <a:ea typeface="Cambria" panose="02040503050406030204" pitchFamily="18" charset="0"/>
              <a:cs typeface="Arial MT"/>
            </a:endParaRPr>
          </a:p>
        </p:txBody>
      </p:sp>
      <p:sp>
        <p:nvSpPr>
          <p:cNvPr id="6" name="TextBox 5"/>
          <p:cNvSpPr txBox="1"/>
          <p:nvPr/>
        </p:nvSpPr>
        <p:spPr>
          <a:xfrm>
            <a:off x="0" y="6596390"/>
            <a:ext cx="2201244" cy="261610"/>
          </a:xfrm>
          <a:prstGeom prst="rect">
            <a:avLst/>
          </a:prstGeom>
          <a:noFill/>
        </p:spPr>
        <p:txBody>
          <a:bodyPr wrap="none" rtlCol="0">
            <a:spAutoFit/>
          </a:bodyPr>
          <a:lstStyle/>
          <a:p>
            <a:r>
              <a:rPr lang="en-US" sz="1100" dirty="0"/>
              <a:t>Adopted from </a:t>
            </a:r>
            <a:r>
              <a:rPr lang="en-US" sz="1100" b="1" dirty="0"/>
              <a:t>UMass CS685 slides</a:t>
            </a:r>
            <a:r>
              <a:rPr lang="en-US" sz="1100" dirty="0"/>
              <a:t> </a:t>
            </a:r>
            <a:endParaRPr lang="en-IN" sz="1100" dirty="0"/>
          </a:p>
        </p:txBody>
      </p:sp>
    </p:spTree>
    <p:extLst>
      <p:ext uri="{BB962C8B-B14F-4D97-AF65-F5344CB8AC3E}">
        <p14:creationId xmlns:p14="http://schemas.microsoft.com/office/powerpoint/2010/main" val="1014973465"/>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solidFill>
                  <a:schemeClr val="tx1"/>
                </a:solidFill>
                <a:latin typeface="NVIDIA-NALA"/>
              </a:rPr>
              <a:t>Scaling laws</a:t>
            </a:r>
            <a:endParaRPr lang="en-IN" dirty="0">
              <a:solidFill>
                <a:schemeClr val="tx1"/>
              </a:solidFill>
            </a:endParaRPr>
          </a:p>
        </p:txBody>
      </p:sp>
      <p:sp>
        <p:nvSpPr>
          <p:cNvPr id="3" name="Rectangle 2"/>
          <p:cNvSpPr/>
          <p:nvPr/>
        </p:nvSpPr>
        <p:spPr>
          <a:xfrm>
            <a:off x="192867" y="1510328"/>
            <a:ext cx="11806265" cy="3785652"/>
          </a:xfrm>
          <a:prstGeom prst="rect">
            <a:avLst/>
          </a:prstGeom>
        </p:spPr>
        <p:txBody>
          <a:bodyPr wrap="square">
            <a:spAutoFit/>
          </a:bodyPr>
          <a:lstStyle/>
          <a:p>
            <a:pPr marL="342900" indent="-342900">
              <a:buFont typeface="Arial" panose="020B0604020202020204" pitchFamily="34" charset="0"/>
              <a:buChar char="•"/>
            </a:pPr>
            <a:r>
              <a:rPr lang="en-US" sz="2400" dirty="0">
                <a:solidFill>
                  <a:srgbClr val="1F2937"/>
                </a:solidFill>
                <a:latin typeface="Cambria" panose="02040503050406030204" pitchFamily="18" charset="0"/>
                <a:ea typeface="Cambria" panose="02040503050406030204" pitchFamily="18" charset="0"/>
              </a:rPr>
              <a:t>Quantitative approach to characterizing the scaling (model size, data size, and total compute) effect</a:t>
            </a:r>
          </a:p>
          <a:p>
            <a:pPr marL="342900" indent="-342900">
              <a:buFont typeface="Arial" panose="020B0604020202020204" pitchFamily="34" charset="0"/>
              <a:buChar char="•"/>
            </a:pPr>
            <a:r>
              <a:rPr lang="en-US" sz="2400" dirty="0">
                <a:solidFill>
                  <a:srgbClr val="1F2937"/>
                </a:solidFill>
                <a:latin typeface="Cambria" panose="02040503050406030204" pitchFamily="18" charset="0"/>
                <a:ea typeface="Cambria" panose="02040503050406030204" pitchFamily="18" charset="0"/>
              </a:rPr>
              <a:t>Scaling laws can be used to instruct the training of LLMs</a:t>
            </a:r>
          </a:p>
          <a:p>
            <a:pPr marL="342900" indent="-342900">
              <a:buFont typeface="Arial" panose="020B0604020202020204" pitchFamily="34" charset="0"/>
              <a:buChar char="•"/>
            </a:pPr>
            <a:r>
              <a:rPr lang="en-US" sz="2400" dirty="0">
                <a:solidFill>
                  <a:srgbClr val="1F2937"/>
                </a:solidFill>
                <a:latin typeface="Cambria" panose="02040503050406030204" pitchFamily="18" charset="0"/>
                <a:ea typeface="Cambria" panose="02040503050406030204" pitchFamily="18" charset="0"/>
              </a:rPr>
              <a:t>Predictable scaling : estimate the performance of larger models based on that of smaller models </a:t>
            </a:r>
          </a:p>
          <a:p>
            <a:pPr marL="342900" indent="-342900">
              <a:buFont typeface="Arial" panose="020B0604020202020204" pitchFamily="34" charset="0"/>
              <a:buChar char="•"/>
            </a:pPr>
            <a:r>
              <a:rPr lang="en-US" sz="2400" dirty="0">
                <a:solidFill>
                  <a:srgbClr val="1F2937"/>
                </a:solidFill>
                <a:latin typeface="Cambria" panose="02040503050406030204" pitchFamily="18" charset="0"/>
                <a:ea typeface="Cambria" panose="02040503050406030204" pitchFamily="18" charset="0"/>
              </a:rPr>
              <a:t>E.g. Llama 3 used </a:t>
            </a:r>
            <a:r>
              <a:rPr lang="en-US" sz="2400" dirty="0">
                <a:latin typeface="Cambria" panose="02040503050406030204" pitchFamily="18" charset="0"/>
                <a:ea typeface="Cambria" panose="02040503050406030204" pitchFamily="18" charset="0"/>
              </a:rPr>
              <a:t> Scaling law experiments to determine the best data mix. Train several small models on a data mix and use that to predict the performance of a large model on that mix</a:t>
            </a:r>
          </a:p>
          <a:p>
            <a:pPr marL="342900" indent="-342900">
              <a:buFont typeface="Arial" panose="020B0604020202020204" pitchFamily="34" charset="0"/>
              <a:buChar char="•"/>
            </a:pPr>
            <a:endParaRPr lang="en-US" sz="2400" dirty="0">
              <a:solidFill>
                <a:srgbClr val="1F2937"/>
              </a:solidFill>
              <a:latin typeface="Cambria" panose="02040503050406030204" pitchFamily="18" charset="0"/>
              <a:ea typeface="Cambria" panose="02040503050406030204" pitchFamily="18" charset="0"/>
            </a:endParaRPr>
          </a:p>
          <a:p>
            <a:pPr lvl="1"/>
            <a:endParaRPr lang="en-IN"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4256359"/>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a:xfrm>
            <a:off x="158428" y="120245"/>
            <a:ext cx="8303647" cy="1143000"/>
          </a:xfrm>
        </p:spPr>
        <p:txBody>
          <a:bodyPr/>
          <a:lstStyle/>
          <a:p>
            <a:r>
              <a:rPr lang="en-US" dirty="0"/>
              <a:t>Scaling Laws - </a:t>
            </a:r>
            <a:r>
              <a:rPr lang="en-IN" dirty="0"/>
              <a:t>Kaplan</a:t>
            </a:r>
            <a:r>
              <a:rPr lang="en-IN" spc="-77" dirty="0"/>
              <a:t> </a:t>
            </a:r>
            <a:r>
              <a:rPr lang="en-IN" spc="56" dirty="0"/>
              <a:t>et</a:t>
            </a:r>
            <a:r>
              <a:rPr lang="en-IN" spc="-77" dirty="0"/>
              <a:t> </a:t>
            </a:r>
            <a:r>
              <a:rPr lang="en-IN" dirty="0"/>
              <a:t>al.,</a:t>
            </a:r>
            <a:r>
              <a:rPr lang="en-IN" spc="-77" dirty="0"/>
              <a:t> </a:t>
            </a:r>
            <a:r>
              <a:rPr lang="en-IN" spc="-14" dirty="0"/>
              <a:t>2020</a:t>
            </a:r>
            <a:endParaRPr lang="en-IN" dirty="0"/>
          </a:p>
        </p:txBody>
      </p:sp>
      <p:pic>
        <p:nvPicPr>
          <p:cNvPr id="3" name="Picture 2"/>
          <p:cNvPicPr>
            <a:picLocks noChangeAspect="1"/>
          </p:cNvPicPr>
          <p:nvPr/>
        </p:nvPicPr>
        <p:blipFill>
          <a:blip r:embed="rId3"/>
          <a:stretch>
            <a:fillRect/>
          </a:stretch>
        </p:blipFill>
        <p:spPr>
          <a:xfrm>
            <a:off x="227495" y="1480326"/>
            <a:ext cx="2469209" cy="2588929"/>
          </a:xfrm>
          <a:prstGeom prst="rect">
            <a:avLst/>
          </a:prstGeom>
        </p:spPr>
      </p:pic>
      <p:sp>
        <p:nvSpPr>
          <p:cNvPr id="5" name="Rectangle 4"/>
          <p:cNvSpPr/>
          <p:nvPr/>
        </p:nvSpPr>
        <p:spPr>
          <a:xfrm>
            <a:off x="7928611" y="1399325"/>
            <a:ext cx="4263389" cy="2554545"/>
          </a:xfrm>
          <a:prstGeom prst="rect">
            <a:avLst/>
          </a:prstGeom>
        </p:spPr>
        <p:txBody>
          <a:bodyPr wrap="square">
            <a:spAutoFit/>
          </a:bodyPr>
          <a:lstStyle/>
          <a:p>
            <a:r>
              <a:rPr lang="en-US" sz="2000" dirty="0"/>
              <a:t>L = loss </a:t>
            </a:r>
          </a:p>
          <a:p>
            <a:r>
              <a:rPr lang="en-US" sz="2000" dirty="0"/>
              <a:t> N = No. of non-embedding parameters</a:t>
            </a:r>
          </a:p>
          <a:p>
            <a:r>
              <a:rPr lang="en-US" sz="2000" dirty="0"/>
              <a:t>D= dataset size,</a:t>
            </a:r>
          </a:p>
          <a:p>
            <a:r>
              <a:rPr lang="en-US" sz="2000" dirty="0"/>
              <a:t>C =compute budget </a:t>
            </a:r>
          </a:p>
          <a:p>
            <a:r>
              <a:rPr lang="en-US" sz="2000" dirty="0"/>
              <a:t>d = </a:t>
            </a:r>
            <a:r>
              <a:rPr lang="en-IN" sz="2000" b="1" dirty="0"/>
              <a:t>model's hidden dimension</a:t>
            </a:r>
          </a:p>
          <a:p>
            <a:r>
              <a:rPr lang="en-US" altLang="en-US" sz="2000" dirty="0"/>
              <a:t>Nc, Dc, Cc: constants (scaling coefficients)</a:t>
            </a:r>
          </a:p>
          <a:p>
            <a:r>
              <a:rPr lang="en-IN" sz="2000" b="1" dirty="0"/>
              <a:t> </a:t>
            </a:r>
            <a:endParaRPr lang="en-IN" sz="2000" dirty="0"/>
          </a:p>
        </p:txBody>
      </p:sp>
      <p:sp>
        <p:nvSpPr>
          <p:cNvPr id="6" name="Rectangle 5"/>
          <p:cNvSpPr/>
          <p:nvPr/>
        </p:nvSpPr>
        <p:spPr>
          <a:xfrm>
            <a:off x="375403" y="4286336"/>
            <a:ext cx="4026115" cy="1938992"/>
          </a:xfrm>
          <a:prstGeom prst="rect">
            <a:avLst/>
          </a:prstGeom>
          <a:solidFill>
            <a:schemeClr val="tx2">
              <a:lumMod val="40000"/>
              <a:lumOff val="60000"/>
            </a:schemeClr>
          </a:solidFill>
        </p:spPr>
        <p:txBody>
          <a:bodyPr wrap="square">
            <a:spAutoFit/>
          </a:bodyPr>
          <a:lstStyle/>
          <a:p>
            <a:r>
              <a:rPr lang="en-US" sz="2400" b="1" dirty="0"/>
              <a:t>GPT-3</a:t>
            </a:r>
          </a:p>
          <a:p>
            <a:r>
              <a:rPr lang="en-US" sz="2400" b="1" dirty="0"/>
              <a:t> n = 96 layers </a:t>
            </a:r>
          </a:p>
          <a:p>
            <a:r>
              <a:rPr lang="en-US" sz="2400" b="1" dirty="0"/>
              <a:t>d = 12288</a:t>
            </a:r>
          </a:p>
          <a:p>
            <a:r>
              <a:rPr lang="en-US" sz="2400" b="1" dirty="0"/>
              <a:t>N = 12 x 96 x 12288</a:t>
            </a:r>
            <a:r>
              <a:rPr lang="en-US" sz="2400" b="1" baseline="30000" dirty="0"/>
              <a:t>2</a:t>
            </a:r>
            <a:r>
              <a:rPr lang="en-US" sz="2400" b="1" dirty="0"/>
              <a:t> </a:t>
            </a:r>
          </a:p>
          <a:p>
            <a:r>
              <a:rPr lang="en-US" sz="2400" b="1" dirty="0"/>
              <a:t>      ~ 175 billion parameters</a:t>
            </a:r>
            <a:endParaRPr lang="en-IN" sz="2400" b="1" dirty="0"/>
          </a:p>
        </p:txBody>
      </p:sp>
      <p:pic>
        <p:nvPicPr>
          <p:cNvPr id="7" name="Picture 6"/>
          <p:cNvPicPr>
            <a:picLocks noChangeAspect="1"/>
          </p:cNvPicPr>
          <p:nvPr/>
        </p:nvPicPr>
        <p:blipFill>
          <a:blip r:embed="rId4"/>
          <a:stretch>
            <a:fillRect/>
          </a:stretch>
        </p:blipFill>
        <p:spPr>
          <a:xfrm>
            <a:off x="3185699" y="1367550"/>
            <a:ext cx="4369531" cy="1717678"/>
          </a:xfrm>
          <a:prstGeom prst="rect">
            <a:avLst/>
          </a:prstGeom>
        </p:spPr>
      </p:pic>
      <p:sp>
        <p:nvSpPr>
          <p:cNvPr id="8" name="Rectangle 7"/>
          <p:cNvSpPr/>
          <p:nvPr/>
        </p:nvSpPr>
        <p:spPr>
          <a:xfrm>
            <a:off x="4706317" y="3956018"/>
            <a:ext cx="7485683" cy="2308324"/>
          </a:xfrm>
          <a:prstGeom prst="rect">
            <a:avLst/>
          </a:prstGeom>
        </p:spPr>
        <p:txBody>
          <a:bodyPr wrap="square">
            <a:spAutoFit/>
          </a:bodyPr>
          <a:lstStyle/>
          <a:p>
            <a:pPr marL="360759" indent="-342900">
              <a:buSzPct val="145312"/>
              <a:buFont typeface="Arial" panose="020B0604020202020204" pitchFamily="34" charset="0"/>
              <a:buChar char="•"/>
              <a:tabLst>
                <a:tab pos="329494" algn="l"/>
              </a:tabLst>
            </a:pPr>
            <a:r>
              <a:rPr lang="en-US" sz="2400" dirty="0"/>
              <a:t>Performance depends strongly on scale, weakly on model shape (e.g., depth, width)</a:t>
            </a:r>
          </a:p>
          <a:p>
            <a:pPr marL="360759" indent="-342900">
              <a:buSzPct val="145312"/>
              <a:buFont typeface="Arial" panose="020B0604020202020204" pitchFamily="34" charset="0"/>
              <a:buChar char="•"/>
              <a:tabLst>
                <a:tab pos="329494" algn="l"/>
              </a:tabLst>
            </a:pPr>
            <a:r>
              <a:rPr lang="en-US" sz="2400" dirty="0"/>
              <a:t>if you’re able to increase your compute budget, you should prioritize increasing model size over data size</a:t>
            </a:r>
          </a:p>
          <a:p>
            <a:pPr marL="360759" indent="-342900">
              <a:buSzPct val="145312"/>
              <a:buFont typeface="Arial" panose="020B0604020202020204" pitchFamily="34" charset="0"/>
              <a:buChar char="•"/>
              <a:tabLst>
                <a:tab pos="329494" algn="l"/>
              </a:tabLst>
            </a:pPr>
            <a:r>
              <a:rPr lang="en-US" sz="2400" dirty="0"/>
              <a:t>Led to the creation of very large models trained on relatively small datasets (e.g., GPT-3, 300B tokens)</a:t>
            </a:r>
          </a:p>
        </p:txBody>
      </p:sp>
    </p:spTree>
    <p:extLst>
      <p:ext uri="{BB962C8B-B14F-4D97-AF65-F5344CB8AC3E}">
        <p14:creationId xmlns:p14="http://schemas.microsoft.com/office/powerpoint/2010/main" val="2662287940"/>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6"/>
          <p:cNvSpPr txBox="1">
            <a:spLocks/>
          </p:cNvSpPr>
          <p:nvPr/>
        </p:nvSpPr>
        <p:spPr>
          <a:xfrm>
            <a:off x="0" y="1286305"/>
            <a:ext cx="12073180" cy="4525963"/>
          </a:xfrm>
          <a:prstGeom prst="rect">
            <a:avLst/>
          </a:prstGeom>
        </p:spPr>
        <p:txBody>
          <a:bodyPr>
            <a:normAutofit/>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60759" indent="-342900" algn="l" rtl="0">
              <a:buSzPct val="145312"/>
              <a:buFont typeface="Arial" panose="020B0604020202020204" pitchFamily="34" charset="0"/>
              <a:buChar char="•"/>
              <a:tabLst>
                <a:tab pos="329494" algn="l"/>
              </a:tabLst>
            </a:pPr>
            <a:r>
              <a:rPr lang="en-US" sz="2000" kern="1200" dirty="0">
                <a:solidFill>
                  <a:schemeClr val="tx1"/>
                </a:solidFill>
              </a:rPr>
              <a:t>Kaplan laws</a:t>
            </a:r>
          </a:p>
          <a:p>
            <a:pPr marL="817959" lvl="1" indent="-342900" algn="l" rtl="0">
              <a:buSzPct val="145312"/>
              <a:buFont typeface="Arial" panose="020B0604020202020204" pitchFamily="34" charset="0"/>
              <a:buChar char="•"/>
              <a:tabLst>
                <a:tab pos="329494" algn="l"/>
              </a:tabLst>
            </a:pPr>
            <a:r>
              <a:rPr lang="en-US" sz="2000" kern="1200" dirty="0">
                <a:solidFill>
                  <a:schemeClr val="tx1"/>
                </a:solidFill>
              </a:rPr>
              <a:t>With a 10x compute increase, you should increase model size by 5x and data size by 2x</a:t>
            </a:r>
          </a:p>
          <a:p>
            <a:pPr marL="360759" marR="269667" indent="-342900">
              <a:buSzPct val="145312"/>
              <a:buFont typeface="Arial" panose="020B0604020202020204" pitchFamily="34" charset="0"/>
              <a:buChar char="•"/>
              <a:tabLst>
                <a:tab pos="330387" algn="l"/>
              </a:tabLst>
            </a:pPr>
            <a:r>
              <a:rPr lang="en-IN" sz="2000" kern="0" spc="-25" dirty="0">
                <a:solidFill>
                  <a:schemeClr val="tx1"/>
                </a:solidFill>
              </a:rPr>
              <a:t>Chinchilla  </a:t>
            </a:r>
            <a:r>
              <a:rPr lang="en-US" sz="2000" kern="0" dirty="0">
                <a:solidFill>
                  <a:schemeClr val="tx1"/>
                </a:solidFill>
                <a:cs typeface="Arial MT"/>
              </a:rPr>
              <a:t>:</a:t>
            </a:r>
            <a:r>
              <a:rPr lang="en-US" sz="2000" kern="0" spc="14" dirty="0">
                <a:solidFill>
                  <a:schemeClr val="tx1"/>
                </a:solidFill>
                <a:cs typeface="Arial MT"/>
              </a:rPr>
              <a:t> </a:t>
            </a:r>
            <a:r>
              <a:rPr lang="en-US" sz="2000" kern="0" dirty="0">
                <a:solidFill>
                  <a:schemeClr val="tx1"/>
                </a:solidFill>
                <a:cs typeface="Arial MT"/>
              </a:rPr>
              <a:t>you</a:t>
            </a:r>
            <a:r>
              <a:rPr lang="en-US" sz="2000" kern="0" spc="18" dirty="0">
                <a:solidFill>
                  <a:schemeClr val="tx1"/>
                </a:solidFill>
                <a:cs typeface="Arial MT"/>
              </a:rPr>
              <a:t> </a:t>
            </a:r>
            <a:r>
              <a:rPr lang="en-US" sz="2000" kern="0" dirty="0">
                <a:solidFill>
                  <a:schemeClr val="tx1"/>
                </a:solidFill>
                <a:cs typeface="Arial MT"/>
              </a:rPr>
              <a:t>should</a:t>
            </a:r>
            <a:r>
              <a:rPr lang="en-US" sz="2000" kern="0" spc="18" dirty="0">
                <a:solidFill>
                  <a:schemeClr val="tx1"/>
                </a:solidFill>
                <a:cs typeface="Arial MT"/>
              </a:rPr>
              <a:t> </a:t>
            </a:r>
            <a:r>
              <a:rPr lang="en-US" sz="2000" kern="0" dirty="0">
                <a:solidFill>
                  <a:schemeClr val="tx1"/>
                </a:solidFill>
                <a:cs typeface="Arial MT"/>
              </a:rPr>
              <a:t>increase</a:t>
            </a:r>
            <a:r>
              <a:rPr lang="en-US" sz="2000" kern="0" spc="18" dirty="0">
                <a:solidFill>
                  <a:schemeClr val="tx1"/>
                </a:solidFill>
                <a:cs typeface="Arial MT"/>
              </a:rPr>
              <a:t> </a:t>
            </a:r>
            <a:r>
              <a:rPr lang="en-US" sz="2000" kern="0" dirty="0">
                <a:solidFill>
                  <a:schemeClr val="tx1"/>
                </a:solidFill>
                <a:cs typeface="Arial MT"/>
              </a:rPr>
              <a:t>model</a:t>
            </a:r>
            <a:r>
              <a:rPr lang="en-US" sz="2000" kern="0" spc="14" dirty="0">
                <a:solidFill>
                  <a:schemeClr val="tx1"/>
                </a:solidFill>
                <a:cs typeface="Arial MT"/>
              </a:rPr>
              <a:t> </a:t>
            </a:r>
            <a:r>
              <a:rPr lang="en-US" sz="2000" kern="0" spc="-18" dirty="0">
                <a:solidFill>
                  <a:schemeClr val="tx1"/>
                </a:solidFill>
                <a:cs typeface="Arial MT"/>
              </a:rPr>
              <a:t>and </a:t>
            </a:r>
            <a:r>
              <a:rPr lang="en-US" sz="2000" kern="0" dirty="0">
                <a:solidFill>
                  <a:schemeClr val="tx1"/>
                </a:solidFill>
                <a:cs typeface="Arial MT"/>
              </a:rPr>
              <a:t>data</a:t>
            </a:r>
            <a:r>
              <a:rPr lang="en-US" sz="2000" kern="0" spc="-7" dirty="0">
                <a:solidFill>
                  <a:schemeClr val="tx1"/>
                </a:solidFill>
                <a:cs typeface="Arial MT"/>
              </a:rPr>
              <a:t> </a:t>
            </a:r>
            <a:r>
              <a:rPr lang="en-US" sz="2000" kern="0" dirty="0">
                <a:solidFill>
                  <a:schemeClr val="tx1"/>
                </a:solidFill>
                <a:cs typeface="Arial MT"/>
              </a:rPr>
              <a:t>size</a:t>
            </a:r>
            <a:r>
              <a:rPr lang="en-US" sz="2000" kern="0" spc="-4" dirty="0">
                <a:solidFill>
                  <a:schemeClr val="tx1"/>
                </a:solidFill>
                <a:cs typeface="Arial MT"/>
              </a:rPr>
              <a:t> </a:t>
            </a:r>
            <a:r>
              <a:rPr lang="en-US" sz="2000" kern="0" dirty="0">
                <a:solidFill>
                  <a:schemeClr val="tx1"/>
                </a:solidFill>
                <a:cs typeface="Arial MT"/>
              </a:rPr>
              <a:t>at</a:t>
            </a:r>
            <a:r>
              <a:rPr lang="en-US" sz="2000" kern="0" spc="-4" dirty="0">
                <a:solidFill>
                  <a:schemeClr val="tx1"/>
                </a:solidFill>
                <a:cs typeface="Arial MT"/>
              </a:rPr>
              <a:t> </a:t>
            </a:r>
            <a:r>
              <a:rPr lang="en-US" sz="2000" kern="0" dirty="0">
                <a:solidFill>
                  <a:schemeClr val="tx1"/>
                </a:solidFill>
                <a:cs typeface="Arial MT"/>
              </a:rPr>
              <a:t>the</a:t>
            </a:r>
            <a:r>
              <a:rPr lang="en-US" sz="2000" kern="0" spc="-4" dirty="0">
                <a:solidFill>
                  <a:schemeClr val="tx1"/>
                </a:solidFill>
                <a:cs typeface="Arial MT"/>
              </a:rPr>
              <a:t> </a:t>
            </a:r>
            <a:r>
              <a:rPr lang="en-US" sz="2000" kern="0" dirty="0">
                <a:solidFill>
                  <a:schemeClr val="tx1"/>
                </a:solidFill>
                <a:cs typeface="Arial MT"/>
              </a:rPr>
              <a:t>same</a:t>
            </a:r>
            <a:r>
              <a:rPr lang="en-US" sz="2000" kern="0" spc="-4" dirty="0">
                <a:solidFill>
                  <a:schemeClr val="tx1"/>
                </a:solidFill>
                <a:cs typeface="Arial MT"/>
              </a:rPr>
              <a:t> </a:t>
            </a:r>
            <a:r>
              <a:rPr lang="en-US" sz="2000" kern="0" spc="-14" dirty="0">
                <a:solidFill>
                  <a:schemeClr val="tx1"/>
                </a:solidFill>
                <a:cs typeface="Arial MT"/>
              </a:rPr>
              <a:t>rate</a:t>
            </a:r>
            <a:endParaRPr lang="en-US" sz="2000" kern="0" dirty="0">
              <a:solidFill>
                <a:schemeClr val="tx1"/>
              </a:solidFill>
              <a:cs typeface="Arial MT"/>
            </a:endParaRPr>
          </a:p>
          <a:p>
            <a:pPr marL="800100" marR="30360" lvl="1" indent="-342900">
              <a:buSzPct val="144230"/>
              <a:buFont typeface="Arial" panose="020B0604020202020204" pitchFamily="34" charset="0"/>
              <a:buChar char="•"/>
              <a:tabLst>
                <a:tab pos="642915" algn="l"/>
              </a:tabLst>
            </a:pPr>
            <a:r>
              <a:rPr lang="en-US" sz="2000" kern="0" dirty="0">
                <a:solidFill>
                  <a:schemeClr val="tx1"/>
                </a:solidFill>
                <a:cs typeface="Arial MT"/>
              </a:rPr>
              <a:t>With</a:t>
            </a:r>
            <a:r>
              <a:rPr lang="en-US" sz="2000" kern="0" spc="4" dirty="0">
                <a:solidFill>
                  <a:schemeClr val="tx1"/>
                </a:solidFill>
                <a:cs typeface="Arial MT"/>
              </a:rPr>
              <a:t> </a:t>
            </a:r>
            <a:r>
              <a:rPr lang="en-US" sz="2000" kern="0" dirty="0">
                <a:solidFill>
                  <a:schemeClr val="tx1"/>
                </a:solidFill>
                <a:cs typeface="Arial MT"/>
              </a:rPr>
              <a:t>a</a:t>
            </a:r>
            <a:r>
              <a:rPr lang="en-US" sz="2000" kern="0" spc="7" dirty="0">
                <a:solidFill>
                  <a:schemeClr val="tx1"/>
                </a:solidFill>
                <a:cs typeface="Arial MT"/>
              </a:rPr>
              <a:t> </a:t>
            </a:r>
            <a:r>
              <a:rPr lang="en-US" sz="2000" kern="0" dirty="0">
                <a:solidFill>
                  <a:schemeClr val="tx1"/>
                </a:solidFill>
                <a:cs typeface="Arial MT"/>
              </a:rPr>
              <a:t>10x</a:t>
            </a:r>
            <a:r>
              <a:rPr lang="en-US" sz="2000" kern="0" spc="7" dirty="0">
                <a:solidFill>
                  <a:schemeClr val="tx1"/>
                </a:solidFill>
                <a:cs typeface="Arial MT"/>
              </a:rPr>
              <a:t> </a:t>
            </a:r>
            <a:r>
              <a:rPr lang="en-US" sz="2000" kern="0" dirty="0">
                <a:solidFill>
                  <a:schemeClr val="tx1"/>
                </a:solidFill>
                <a:cs typeface="Arial MT"/>
              </a:rPr>
              <a:t>compute</a:t>
            </a:r>
            <a:r>
              <a:rPr lang="en-US" sz="2000" kern="0" spc="7" dirty="0">
                <a:solidFill>
                  <a:schemeClr val="tx1"/>
                </a:solidFill>
                <a:cs typeface="Arial MT"/>
              </a:rPr>
              <a:t> </a:t>
            </a:r>
            <a:r>
              <a:rPr lang="en-US" sz="2000" kern="0" dirty="0">
                <a:solidFill>
                  <a:schemeClr val="tx1"/>
                </a:solidFill>
                <a:cs typeface="Arial MT"/>
              </a:rPr>
              <a:t>increase,</a:t>
            </a:r>
            <a:r>
              <a:rPr lang="en-US" sz="2000" kern="0" spc="7" dirty="0">
                <a:solidFill>
                  <a:schemeClr val="tx1"/>
                </a:solidFill>
                <a:cs typeface="Arial MT"/>
              </a:rPr>
              <a:t> </a:t>
            </a:r>
            <a:r>
              <a:rPr lang="en-US" sz="2000" kern="0" dirty="0">
                <a:solidFill>
                  <a:schemeClr val="tx1"/>
                </a:solidFill>
                <a:cs typeface="Arial MT"/>
              </a:rPr>
              <a:t>you</a:t>
            </a:r>
            <a:r>
              <a:rPr lang="en-US" sz="2000" kern="0" spc="7" dirty="0">
                <a:solidFill>
                  <a:schemeClr val="tx1"/>
                </a:solidFill>
                <a:cs typeface="Arial MT"/>
              </a:rPr>
              <a:t> </a:t>
            </a:r>
            <a:r>
              <a:rPr lang="en-US" sz="2000" kern="0" dirty="0">
                <a:solidFill>
                  <a:schemeClr val="tx1"/>
                </a:solidFill>
                <a:cs typeface="Arial MT"/>
              </a:rPr>
              <a:t>should</a:t>
            </a:r>
            <a:r>
              <a:rPr lang="en-US" sz="2000" kern="0" spc="7" dirty="0">
                <a:solidFill>
                  <a:schemeClr val="tx1"/>
                </a:solidFill>
                <a:cs typeface="Arial MT"/>
              </a:rPr>
              <a:t> </a:t>
            </a:r>
            <a:r>
              <a:rPr lang="en-US" sz="2000" kern="0" dirty="0">
                <a:solidFill>
                  <a:schemeClr val="tx1"/>
                </a:solidFill>
                <a:cs typeface="Arial MT"/>
              </a:rPr>
              <a:t>increase</a:t>
            </a:r>
            <a:r>
              <a:rPr lang="en-US" sz="2000" kern="0" spc="7" dirty="0">
                <a:solidFill>
                  <a:schemeClr val="tx1"/>
                </a:solidFill>
                <a:cs typeface="Arial MT"/>
              </a:rPr>
              <a:t> </a:t>
            </a:r>
            <a:r>
              <a:rPr lang="en-US" sz="2000" kern="0" spc="35" dirty="0">
                <a:solidFill>
                  <a:schemeClr val="tx1"/>
                </a:solidFill>
                <a:cs typeface="Arial MT"/>
              </a:rPr>
              <a:t>both</a:t>
            </a:r>
            <a:r>
              <a:rPr lang="en-US" sz="2000" kern="0" spc="7" dirty="0">
                <a:solidFill>
                  <a:schemeClr val="tx1"/>
                </a:solidFill>
                <a:cs typeface="Arial MT"/>
              </a:rPr>
              <a:t> </a:t>
            </a:r>
            <a:r>
              <a:rPr lang="en-US" sz="2000" kern="0" dirty="0">
                <a:solidFill>
                  <a:schemeClr val="tx1"/>
                </a:solidFill>
                <a:cs typeface="Arial MT"/>
              </a:rPr>
              <a:t>model</a:t>
            </a:r>
            <a:r>
              <a:rPr lang="en-US" sz="2000" kern="0" spc="7" dirty="0">
                <a:solidFill>
                  <a:schemeClr val="tx1"/>
                </a:solidFill>
                <a:cs typeface="Arial MT"/>
              </a:rPr>
              <a:t> </a:t>
            </a:r>
            <a:r>
              <a:rPr lang="en-US" sz="2000" kern="0" spc="-14" dirty="0">
                <a:solidFill>
                  <a:schemeClr val="tx1"/>
                </a:solidFill>
                <a:cs typeface="Arial MT"/>
              </a:rPr>
              <a:t>size </a:t>
            </a:r>
            <a:r>
              <a:rPr lang="en-US" sz="2000" kern="0" dirty="0">
                <a:solidFill>
                  <a:schemeClr val="tx1"/>
                </a:solidFill>
                <a:cs typeface="Arial MT"/>
              </a:rPr>
              <a:t>and</a:t>
            </a:r>
            <a:r>
              <a:rPr lang="en-US" sz="2000" kern="0" spc="-4" dirty="0">
                <a:solidFill>
                  <a:schemeClr val="tx1"/>
                </a:solidFill>
                <a:cs typeface="Arial MT"/>
              </a:rPr>
              <a:t> </a:t>
            </a:r>
            <a:r>
              <a:rPr lang="en-US" sz="2000" kern="0" dirty="0">
                <a:solidFill>
                  <a:schemeClr val="tx1"/>
                </a:solidFill>
                <a:cs typeface="Arial MT"/>
              </a:rPr>
              <a:t>data size by</a:t>
            </a:r>
            <a:r>
              <a:rPr lang="en-US" sz="2000" kern="0" spc="-4" dirty="0">
                <a:solidFill>
                  <a:schemeClr val="tx1"/>
                </a:solidFill>
                <a:cs typeface="Arial MT"/>
              </a:rPr>
              <a:t> </a:t>
            </a:r>
            <a:r>
              <a:rPr lang="en-US" sz="2000" kern="0" spc="-14" dirty="0">
                <a:solidFill>
                  <a:schemeClr val="tx1"/>
                </a:solidFill>
                <a:cs typeface="Arial MT"/>
              </a:rPr>
              <a:t>3.1x</a:t>
            </a:r>
            <a:endParaRPr lang="en-US" sz="2000" kern="0" dirty="0">
              <a:solidFill>
                <a:schemeClr val="tx1"/>
              </a:solidFill>
              <a:cs typeface="Arial MT"/>
            </a:endParaRPr>
          </a:p>
          <a:p>
            <a:pPr marL="800100" lvl="1" indent="-342900">
              <a:buSzPct val="144230"/>
              <a:buFont typeface="Arial" panose="020B0604020202020204" pitchFamily="34" charset="0"/>
              <a:buChar char="•"/>
              <a:tabLst>
                <a:tab pos="642468" algn="l"/>
              </a:tabLst>
            </a:pPr>
            <a:r>
              <a:rPr lang="en-US" sz="2000" kern="0" dirty="0">
                <a:solidFill>
                  <a:schemeClr val="tx1"/>
                </a:solidFill>
              </a:rPr>
              <a:t>Showed that existing large models were "undertrained" and </a:t>
            </a:r>
            <a:r>
              <a:rPr lang="en-US" sz="2000" b="1" kern="0" dirty="0">
                <a:solidFill>
                  <a:schemeClr val="tx1"/>
                </a:solidFill>
              </a:rPr>
              <a:t>that smaller models with more data could perform better. </a:t>
            </a:r>
            <a:endParaRPr lang="en-US" sz="2000" kern="0" dirty="0">
              <a:solidFill>
                <a:schemeClr val="tx1"/>
              </a:solidFill>
            </a:endParaRPr>
          </a:p>
          <a:p>
            <a:pPr marL="800100" lvl="1" indent="-342900">
              <a:buSzPct val="144230"/>
              <a:buFont typeface="Arial" panose="020B0604020202020204" pitchFamily="34" charset="0"/>
              <a:buChar char="•"/>
              <a:tabLst>
                <a:tab pos="642468" algn="l"/>
              </a:tabLst>
            </a:pPr>
            <a:r>
              <a:rPr lang="en-US" sz="2000" b="1" dirty="0"/>
              <a:t>The Rule of Thumb:</a:t>
            </a:r>
            <a:r>
              <a:rPr lang="en-US" sz="2000" dirty="0"/>
              <a:t> For every 1 parameter in your model, you should train it on at least </a:t>
            </a:r>
            <a:r>
              <a:rPr lang="en-US" sz="2000" b="1" dirty="0"/>
              <a:t>20 tokens</a:t>
            </a:r>
            <a:r>
              <a:rPr lang="en-US" sz="2000" dirty="0"/>
              <a:t> of data.</a:t>
            </a:r>
          </a:p>
          <a:p>
            <a:pPr marL="800100" lvl="1" indent="-342900">
              <a:buSzPct val="144230"/>
              <a:buFont typeface="Arial" panose="020B0604020202020204" pitchFamily="34" charset="0"/>
              <a:buChar char="•"/>
              <a:tabLst>
                <a:tab pos="642468" algn="l"/>
              </a:tabLst>
            </a:pPr>
            <a:endParaRPr lang="en-US" sz="2000" kern="0" dirty="0">
              <a:solidFill>
                <a:schemeClr val="tx1"/>
              </a:solidFill>
              <a:cs typeface="Arial MT"/>
            </a:endParaRPr>
          </a:p>
          <a:p>
            <a:pPr marL="351829" indent="-342900">
              <a:buFont typeface="Arial" panose="020B0604020202020204" pitchFamily="34" charset="0"/>
              <a:buChar char="•"/>
            </a:pPr>
            <a:endParaRPr lang="en-US" sz="2000" kern="0" dirty="0">
              <a:solidFill>
                <a:schemeClr val="tx1"/>
              </a:solidFill>
              <a:cs typeface="Arial MT"/>
            </a:endParaRPr>
          </a:p>
          <a:p>
            <a:pPr marL="342900" indent="-342900">
              <a:buFont typeface="Arial" panose="020B0604020202020204" pitchFamily="34" charset="0"/>
              <a:buChar char="•"/>
            </a:pPr>
            <a:endParaRPr lang="en-US" sz="2000" kern="0" dirty="0">
              <a:solidFill>
                <a:schemeClr val="tx1"/>
              </a:solidFill>
              <a:cs typeface="Arial MT"/>
            </a:endParaRPr>
          </a:p>
          <a:p>
            <a:pPr marL="342900" indent="-342900">
              <a:buFont typeface="Arial" panose="020B0604020202020204" pitchFamily="34" charset="0"/>
              <a:buChar char="•"/>
            </a:pPr>
            <a:endParaRPr lang="en-IN" sz="2000" kern="0" dirty="0">
              <a:solidFill>
                <a:schemeClr val="tx1"/>
              </a:solidFill>
            </a:endParaRPr>
          </a:p>
        </p:txBody>
      </p:sp>
      <p:pic>
        <p:nvPicPr>
          <p:cNvPr id="5" name="object 3"/>
          <p:cNvPicPr/>
          <p:nvPr/>
        </p:nvPicPr>
        <p:blipFill>
          <a:blip r:embed="rId3" cstate="print"/>
          <a:stretch>
            <a:fillRect/>
          </a:stretch>
        </p:blipFill>
        <p:spPr>
          <a:xfrm>
            <a:off x="3200176" y="4180910"/>
            <a:ext cx="7992070" cy="2415480"/>
          </a:xfrm>
          <a:prstGeom prst="rect">
            <a:avLst/>
          </a:prstGeom>
        </p:spPr>
      </p:pic>
      <p:sp>
        <p:nvSpPr>
          <p:cNvPr id="6" name="TextBox 5"/>
          <p:cNvSpPr txBox="1"/>
          <p:nvPr/>
        </p:nvSpPr>
        <p:spPr>
          <a:xfrm>
            <a:off x="0" y="6596390"/>
            <a:ext cx="2201244" cy="261610"/>
          </a:xfrm>
          <a:prstGeom prst="rect">
            <a:avLst/>
          </a:prstGeom>
          <a:noFill/>
        </p:spPr>
        <p:txBody>
          <a:bodyPr wrap="none" rtlCol="0">
            <a:spAutoFit/>
          </a:bodyPr>
          <a:lstStyle/>
          <a:p>
            <a:r>
              <a:rPr lang="en-US" sz="1100" dirty="0"/>
              <a:t>Adopted from </a:t>
            </a:r>
            <a:r>
              <a:rPr lang="en-US" sz="1100" b="1" dirty="0"/>
              <a:t>UMass CS685 slides</a:t>
            </a:r>
            <a:r>
              <a:rPr lang="en-US" sz="1100" dirty="0"/>
              <a:t> </a:t>
            </a:r>
            <a:endParaRPr lang="en-IN" sz="1100" dirty="0"/>
          </a:p>
        </p:txBody>
      </p:sp>
      <p:sp>
        <p:nvSpPr>
          <p:cNvPr id="7" name="object 2"/>
          <p:cNvSpPr txBox="1">
            <a:spLocks noGrp="1"/>
          </p:cNvSpPr>
          <p:nvPr>
            <p:ph type="body" sz="quarter" idx="1"/>
          </p:nvPr>
        </p:nvSpPr>
        <p:spPr>
          <a:prstGeom prst="rect">
            <a:avLst/>
          </a:prstGeom>
        </p:spPr>
        <p:txBody>
          <a:bodyPr vert="horz" lIns="91440" tIns="45720" rIns="91440" bIns="45720" rtlCol="0" anchor="ctr">
            <a:normAutofit/>
          </a:bodyPr>
          <a:lstStyle/>
          <a:p>
            <a:r>
              <a:rPr lang="en-US" dirty="0">
                <a:solidFill>
                  <a:schemeClr val="tx1"/>
                </a:solidFill>
              </a:rPr>
              <a:t>Scaling Laws - Hoffmann et al., 2022 (</a:t>
            </a:r>
            <a:r>
              <a:rPr lang="en-IN" dirty="0">
                <a:solidFill>
                  <a:schemeClr val="tx1"/>
                </a:solidFill>
              </a:rPr>
              <a:t>Chinchilla ) </a:t>
            </a:r>
            <a:endParaRPr dirty="0">
              <a:solidFill>
                <a:schemeClr val="tx1"/>
              </a:solidFill>
            </a:endParaRPr>
          </a:p>
        </p:txBody>
      </p:sp>
    </p:spTree>
    <p:extLst>
      <p:ext uri="{BB962C8B-B14F-4D97-AF65-F5344CB8AC3E}">
        <p14:creationId xmlns:p14="http://schemas.microsoft.com/office/powerpoint/2010/main" val="2695890816"/>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EDC3622-4F9C-FEEE-A16F-C1CFEF395817}"/>
              </a:ext>
            </a:extLst>
          </p:cNvPr>
          <p:cNvSpPr>
            <a:spLocks noGrp="1"/>
          </p:cNvSpPr>
          <p:nvPr>
            <p:ph type="body" sz="quarter" idx="1"/>
          </p:nvPr>
        </p:nvSpPr>
        <p:spPr/>
        <p:txBody>
          <a:bodyPr/>
          <a:lstStyle/>
          <a:p>
            <a:r>
              <a:rPr lang="en-IN" dirty="0"/>
              <a:t>Modern Scaling Laws</a:t>
            </a:r>
          </a:p>
        </p:txBody>
      </p:sp>
      <p:sp>
        <p:nvSpPr>
          <p:cNvPr id="4" name="TextBox 3">
            <a:extLst>
              <a:ext uri="{FF2B5EF4-FFF2-40B4-BE49-F238E27FC236}">
                <a16:creationId xmlns:a16="http://schemas.microsoft.com/office/drawing/2014/main" id="{DB02EE0B-0E7F-5E9C-D07C-8CCB5DB23FCF}"/>
              </a:ext>
            </a:extLst>
          </p:cNvPr>
          <p:cNvSpPr txBox="1"/>
          <p:nvPr/>
        </p:nvSpPr>
        <p:spPr>
          <a:xfrm>
            <a:off x="210950" y="1351508"/>
            <a:ext cx="6096000" cy="4154984"/>
          </a:xfrm>
          <a:prstGeom prst="rect">
            <a:avLst/>
          </a:prstGeom>
        </p:spPr>
        <p:txBody>
          <a:bodyPr wrap="square">
            <a:spAutoFit/>
          </a:bodyPr>
          <a:lstStyle>
            <a:defPPr>
              <a:defRPr lang="en-US"/>
            </a:defPPr>
            <a:lvl1pPr marL="342900" indent="-342900">
              <a:buFont typeface="Arial" panose="020B0604020202020204" pitchFamily="34" charset="0"/>
              <a:buChar char="•"/>
              <a:defRPr sz="2200"/>
            </a:lvl1pPr>
            <a:lvl2pPr marL="800100" lvl="1" indent="-342900">
              <a:buFont typeface="Arial" panose="020B0604020202020204" pitchFamily="34" charset="0"/>
              <a:buChar char="•"/>
              <a:defRPr sz="2200" b="1"/>
            </a:lvl2pPr>
          </a:lstStyle>
          <a:p>
            <a:r>
              <a:rPr lang="en-US" dirty="0"/>
              <a:t>Old view: better models come from larger models, more data, and more training compute.</a:t>
            </a:r>
          </a:p>
          <a:p>
            <a:r>
              <a:rPr lang="en-US" dirty="0"/>
              <a:t>Chinchilla heuristic: about 20 training tokens per parameter.</a:t>
            </a:r>
          </a:p>
          <a:p>
            <a:r>
              <a:rPr lang="en-US" dirty="0"/>
              <a:t>Example: an 8B model would be “compute-optimal” at about 160B tokens.</a:t>
            </a:r>
          </a:p>
          <a:p>
            <a:r>
              <a:rPr lang="en-US" dirty="0"/>
              <a:t>Modern practice: Llama 3 models were trained on over 15T tokens, far beyond that heuristic.</a:t>
            </a:r>
          </a:p>
          <a:p>
            <a:r>
              <a:rPr lang="en-US" dirty="0"/>
              <a:t>New view: accuracy can also improve by spending more compute during inference.</a:t>
            </a:r>
          </a:p>
          <a:p>
            <a:r>
              <a:rPr lang="en-US" dirty="0"/>
              <a:t>Result: today’s scaling laws involve both pretraining scale and test-time compute.</a:t>
            </a:r>
          </a:p>
        </p:txBody>
      </p:sp>
      <p:pic>
        <p:nvPicPr>
          <p:cNvPr id="5" name="Picture 4">
            <a:extLst>
              <a:ext uri="{FF2B5EF4-FFF2-40B4-BE49-F238E27FC236}">
                <a16:creationId xmlns:a16="http://schemas.microsoft.com/office/drawing/2014/main" id="{AA31313B-084E-D28C-97DF-BFCB9C28B068}"/>
              </a:ext>
            </a:extLst>
          </p:cNvPr>
          <p:cNvPicPr>
            <a:picLocks noChangeAspect="1"/>
          </p:cNvPicPr>
          <p:nvPr/>
        </p:nvPicPr>
        <p:blipFill>
          <a:blip r:embed="rId2"/>
          <a:stretch>
            <a:fillRect/>
          </a:stretch>
        </p:blipFill>
        <p:spPr>
          <a:xfrm>
            <a:off x="6977743" y="2116350"/>
            <a:ext cx="5003307" cy="2815194"/>
          </a:xfrm>
          <a:prstGeom prst="rect">
            <a:avLst/>
          </a:prstGeom>
        </p:spPr>
      </p:pic>
    </p:spTree>
    <p:extLst>
      <p:ext uri="{BB962C8B-B14F-4D97-AF65-F5344CB8AC3E}">
        <p14:creationId xmlns:p14="http://schemas.microsoft.com/office/powerpoint/2010/main" val="3318750864"/>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Emergent abilities of LLMs</a:t>
            </a:r>
            <a:endParaRPr lang="en-IN" dirty="0"/>
          </a:p>
        </p:txBody>
      </p:sp>
      <p:sp>
        <p:nvSpPr>
          <p:cNvPr id="3" name="Content Placeholder 1"/>
          <p:cNvSpPr txBox="1">
            <a:spLocks/>
          </p:cNvSpPr>
          <p:nvPr/>
        </p:nvSpPr>
        <p:spPr>
          <a:xfrm>
            <a:off x="118534" y="1295400"/>
            <a:ext cx="11887200" cy="4525963"/>
          </a:xfrm>
          <a:prstGeom prst="rect">
            <a:avLst/>
          </a:prstGeom>
        </p:spPr>
        <p:txBody>
          <a:bodyPr>
            <a:normAutofit/>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nSpc>
                <a:spcPct val="110000"/>
              </a:lnSpc>
              <a:buFont typeface="Arial" panose="020B0604020202020204" pitchFamily="34" charset="0"/>
              <a:buChar char="•"/>
            </a:pPr>
            <a:r>
              <a:rPr lang="en-US" sz="2000" i="1" kern="0" dirty="0">
                <a:solidFill>
                  <a:sysClr val="windowText" lastClr="000000"/>
                </a:solidFill>
                <a:latin typeface="+mn-lt"/>
              </a:rPr>
              <a:t>“An ability is emergent if it is not present in smaller models but is present in larger models.”</a:t>
            </a:r>
          </a:p>
          <a:p>
            <a:pPr marL="342900" indent="-342900">
              <a:lnSpc>
                <a:spcPct val="110000"/>
              </a:lnSpc>
              <a:buFont typeface="Arial" panose="020B0604020202020204" pitchFamily="34" charset="0"/>
              <a:buChar char="•"/>
            </a:pPr>
            <a:r>
              <a:rPr lang="en-US" sz="2000" kern="0" dirty="0">
                <a:solidFill>
                  <a:sysClr val="windowText" lastClr="000000"/>
                </a:solidFill>
                <a:latin typeface="+mn-lt"/>
              </a:rPr>
              <a:t>Emergent abilities cannot be predicted simply by extrapolating the performance of smaller models</a:t>
            </a:r>
          </a:p>
          <a:p>
            <a:pPr marL="342900" marR="97155" indent="-342900">
              <a:lnSpc>
                <a:spcPct val="110000"/>
              </a:lnSpc>
              <a:buFont typeface="Arial" panose="020B0604020202020204" pitchFamily="34" charset="0"/>
              <a:buChar char="•"/>
            </a:pPr>
            <a:r>
              <a:rPr lang="en-US" sz="2000" kern="0" dirty="0">
                <a:solidFill>
                  <a:sysClr val="windowText" lastClr="000000"/>
                </a:solidFill>
                <a:latin typeface="+mn-lt"/>
              </a:rPr>
              <a:t>Ability is emergent when a model has random performance until a certain scale, after which performance increases to well-above random.</a:t>
            </a:r>
          </a:p>
          <a:p>
            <a:pPr marL="800100" lvl="1" indent="-342900">
              <a:buFont typeface="Arial" panose="020B0604020202020204" pitchFamily="34" charset="0"/>
              <a:buChar char="•"/>
            </a:pPr>
            <a:endParaRPr lang="en-US" sz="2000" kern="0" dirty="0">
              <a:solidFill>
                <a:sysClr val="windowText" lastClr="000000"/>
              </a:solidFill>
              <a:latin typeface="+mn-lt"/>
            </a:endParaRPr>
          </a:p>
          <a:p>
            <a:pPr marL="342900" indent="-342900">
              <a:buFont typeface="Arial" panose="020B0604020202020204" pitchFamily="34" charset="0"/>
              <a:buChar char="•"/>
            </a:pPr>
            <a:endParaRPr lang="en-IN" sz="2000" kern="0" dirty="0">
              <a:solidFill>
                <a:sysClr val="windowText" lastClr="000000"/>
              </a:solidFill>
              <a:latin typeface="+mn-lt"/>
            </a:endParaRPr>
          </a:p>
        </p:txBody>
      </p:sp>
      <p:pic>
        <p:nvPicPr>
          <p:cNvPr id="4" name="Picture 3"/>
          <p:cNvPicPr>
            <a:picLocks noChangeAspect="1"/>
          </p:cNvPicPr>
          <p:nvPr/>
        </p:nvPicPr>
        <p:blipFill>
          <a:blip r:embed="rId3"/>
          <a:stretch>
            <a:fillRect/>
          </a:stretch>
        </p:blipFill>
        <p:spPr>
          <a:xfrm>
            <a:off x="406400" y="4373989"/>
            <a:ext cx="6640166" cy="1959055"/>
          </a:xfrm>
          <a:prstGeom prst="rect">
            <a:avLst/>
          </a:prstGeom>
        </p:spPr>
      </p:pic>
      <p:sp>
        <p:nvSpPr>
          <p:cNvPr id="5" name="Rectangle 4"/>
          <p:cNvSpPr/>
          <p:nvPr/>
        </p:nvSpPr>
        <p:spPr>
          <a:xfrm>
            <a:off x="3505200" y="2742773"/>
            <a:ext cx="8500534" cy="1631216"/>
          </a:xfrm>
          <a:prstGeom prst="rect">
            <a:avLst/>
          </a:prstGeom>
          <a:solidFill>
            <a:schemeClr val="tx2">
              <a:lumMod val="40000"/>
              <a:lumOff val="60000"/>
            </a:schemeClr>
          </a:solidFill>
        </p:spPr>
        <p:txBody>
          <a:bodyPr wrap="square">
            <a:spAutoFit/>
          </a:bodyPr>
          <a:lstStyle/>
          <a:p>
            <a:r>
              <a:rPr lang="en-US" sz="2000" dirty="0"/>
              <a:t>Schaeffer et.al.. 2023</a:t>
            </a:r>
          </a:p>
          <a:p>
            <a:r>
              <a:rPr lang="en-US" sz="2000" dirty="0"/>
              <a:t>Sharpness: Transitioning seemingly instantaneously from not present to present</a:t>
            </a:r>
          </a:p>
          <a:p>
            <a:r>
              <a:rPr lang="en-US" sz="2000" dirty="0"/>
              <a:t>Unpredictability: Appearing at seemingly unforeseeable model scales</a:t>
            </a:r>
          </a:p>
          <a:p>
            <a:r>
              <a:rPr lang="en-US" sz="2000" b="1" i="1" dirty="0">
                <a:solidFill>
                  <a:srgbClr val="FF0000"/>
                </a:solidFill>
              </a:rPr>
              <a:t>Alleged emergent abilities evaporate with different metrics or with better statistics, and may not be a fundamental property of scaling AI models</a:t>
            </a:r>
            <a:endParaRPr lang="en-IN" sz="2000" b="1" i="1" dirty="0">
              <a:solidFill>
                <a:srgbClr val="FF0000"/>
              </a:solidFill>
            </a:endParaRPr>
          </a:p>
        </p:txBody>
      </p:sp>
    </p:spTree>
    <p:extLst>
      <p:ext uri="{BB962C8B-B14F-4D97-AF65-F5344CB8AC3E}">
        <p14:creationId xmlns:p14="http://schemas.microsoft.com/office/powerpoint/2010/main" val="3710573856"/>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10093D9-F703-035F-7559-FCC168925944}"/>
              </a:ext>
            </a:extLst>
          </p:cNvPr>
          <p:cNvSpPr>
            <a:spLocks noGrp="1"/>
          </p:cNvSpPr>
          <p:nvPr>
            <p:ph type="body" sz="quarter" idx="1"/>
          </p:nvPr>
        </p:nvSpPr>
        <p:spPr/>
        <p:txBody>
          <a:bodyPr/>
          <a:lstStyle/>
          <a:p>
            <a:r>
              <a:rPr lang="en-US" dirty="0"/>
              <a:t>Emergent abilities of LLMs</a:t>
            </a:r>
            <a:endParaRPr lang="en-IN" dirty="0"/>
          </a:p>
          <a:p>
            <a:endParaRPr lang="en-IN" dirty="0"/>
          </a:p>
        </p:txBody>
      </p:sp>
      <p:sp>
        <p:nvSpPr>
          <p:cNvPr id="4" name="TextBox 3">
            <a:extLst>
              <a:ext uri="{FF2B5EF4-FFF2-40B4-BE49-F238E27FC236}">
                <a16:creationId xmlns:a16="http://schemas.microsoft.com/office/drawing/2014/main" id="{EDEDC1C6-D1DB-FCF2-960C-9A31730CF9A4}"/>
              </a:ext>
            </a:extLst>
          </p:cNvPr>
          <p:cNvSpPr txBox="1"/>
          <p:nvPr/>
        </p:nvSpPr>
        <p:spPr>
          <a:xfrm>
            <a:off x="147143" y="1443841"/>
            <a:ext cx="12128939" cy="4401205"/>
          </a:xfrm>
          <a:prstGeom prst="rect">
            <a:avLst/>
          </a:prstGeom>
          <a:noFill/>
        </p:spPr>
        <p:txBody>
          <a:bodyPr wrap="square">
            <a:spAutoFit/>
          </a:bodyPr>
          <a:lstStyle/>
          <a:p>
            <a:r>
              <a:rPr lang="en-IN" sz="2000" b="1" dirty="0">
                <a:latin typeface="Cambria" panose="02040503050406030204" pitchFamily="18" charset="0"/>
                <a:ea typeface="Cambria" panose="02040503050406030204" pitchFamily="18" charset="0"/>
              </a:rPr>
              <a:t>In-context learning:  F</a:t>
            </a:r>
            <a:r>
              <a:rPr lang="en-IN" sz="2000" dirty="0">
                <a:latin typeface="Cambria" panose="02040503050406030204" pitchFamily="18" charset="0"/>
                <a:ea typeface="Cambria" panose="02040503050406030204" pitchFamily="18" charset="0"/>
              </a:rPr>
              <a:t>ormally introduced by GPT-3  assuming that the language model has been provided with a natural language instruction and/or several task demonstrations, it can generate the expected output for the test instances by completing the word sequence of input text, without requiring additional training or gradient update</a:t>
            </a:r>
          </a:p>
          <a:p>
            <a:endParaRPr lang="en-IN" sz="2000"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Instruction following</a:t>
            </a:r>
            <a:r>
              <a:rPr lang="en-US" sz="2000" dirty="0">
                <a:latin typeface="Cambria" panose="02040503050406030204" pitchFamily="18" charset="0"/>
                <a:ea typeface="Cambria" panose="02040503050406030204" pitchFamily="18" charset="0"/>
              </a:rPr>
              <a:t>:  By fine-tuning with a mixture of multi-task datasets formatted via natural language descriptions (called instruction tuning), LLMs are shown to perform well on unseen tasks that are also described in the form of instructions. With instruction tuning, LLMs are enabled to follow the task instructions for new tasks without using explicit examples, thus having an improved generalization ability.</a:t>
            </a:r>
          </a:p>
          <a:p>
            <a:endParaRPr lang="en-US" sz="2000"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Step-by-step reasoning</a:t>
            </a:r>
            <a:r>
              <a:rPr lang="en-US" sz="2000" dirty="0">
                <a:latin typeface="Cambria" panose="02040503050406030204" pitchFamily="18" charset="0"/>
                <a:ea typeface="Cambria" panose="02040503050406030204" pitchFamily="18" charset="0"/>
              </a:rPr>
              <a:t>: For small language models, it is usually difficult to solve complex tasks that involve multiple reasoning steps, e.g., mathematical word problems. In contrast, with the chain-of-thought (</a:t>
            </a:r>
            <a:r>
              <a:rPr lang="en-US" sz="2000" dirty="0" err="1">
                <a:latin typeface="Cambria" panose="02040503050406030204" pitchFamily="18" charset="0"/>
                <a:ea typeface="Cambria" panose="02040503050406030204" pitchFamily="18" charset="0"/>
              </a:rPr>
              <a:t>CoT</a:t>
            </a:r>
            <a:r>
              <a:rPr lang="en-US" sz="2000" dirty="0">
                <a:latin typeface="Cambria" panose="02040503050406030204" pitchFamily="18" charset="0"/>
                <a:ea typeface="Cambria" panose="02040503050406030204" pitchFamily="18" charset="0"/>
              </a:rPr>
              <a:t>) prompting strategy,  LLMs can solve such tasks by utilizing the prompting mechanism that involves intermediate reasoning steps for deriving the final answer</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29767040"/>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References</a:t>
            </a:r>
            <a:endParaRPr lang="en-IN" dirty="0"/>
          </a:p>
        </p:txBody>
      </p:sp>
      <p:sp>
        <p:nvSpPr>
          <p:cNvPr id="3" name="Rectangle 2"/>
          <p:cNvSpPr/>
          <p:nvPr/>
        </p:nvSpPr>
        <p:spPr>
          <a:xfrm>
            <a:off x="0" y="1295400"/>
            <a:ext cx="11732136" cy="5262979"/>
          </a:xfrm>
          <a:prstGeom prst="rect">
            <a:avLst/>
          </a:prstGeom>
        </p:spPr>
        <p:txBody>
          <a:bodyPr wrap="square">
            <a:spAutoFit/>
          </a:bodyPr>
          <a:lstStyle/>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Speech and Language Processing (3rd ed. draft) Dan </a:t>
            </a:r>
            <a:r>
              <a:rPr lang="en-US" sz="2400" dirty="0" err="1">
                <a:latin typeface="Cambria" panose="02040503050406030204" pitchFamily="18" charset="0"/>
                <a:ea typeface="Cambria" panose="02040503050406030204" pitchFamily="18" charset="0"/>
              </a:rPr>
              <a:t>Jurafsky</a:t>
            </a:r>
            <a:r>
              <a:rPr lang="en-US" sz="2400" dirty="0">
                <a:latin typeface="Cambria" panose="02040503050406030204" pitchFamily="18" charset="0"/>
                <a:ea typeface="Cambria" panose="02040503050406030204" pitchFamily="18" charset="0"/>
              </a:rPr>
              <a:t> Jan 2026 - </a:t>
            </a:r>
            <a:r>
              <a:rPr lang="en-US" sz="2400" dirty="0" err="1">
                <a:latin typeface="Cambria" panose="02040503050406030204" pitchFamily="18" charset="0"/>
                <a:ea typeface="Cambria" panose="02040503050406030204" pitchFamily="18" charset="0"/>
              </a:rPr>
              <a:t>Ch</a:t>
            </a:r>
            <a:r>
              <a:rPr lang="en-US" sz="2400" dirty="0">
                <a:latin typeface="Cambria" panose="02040503050406030204" pitchFamily="18" charset="0"/>
                <a:ea typeface="Cambria" panose="02040503050406030204" pitchFamily="18" charset="0"/>
              </a:rPr>
              <a:t>- 7, 8 </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Build a Large Language Model (From Scratch) </a:t>
            </a:r>
            <a:r>
              <a:rPr lang="en-IN" sz="2400" dirty="0">
                <a:latin typeface="Cambria" panose="02040503050406030204" pitchFamily="18" charset="0"/>
                <a:ea typeface="Cambria" panose="02040503050406030204" pitchFamily="18" charset="0"/>
              </a:rPr>
              <a:t>SEBASTIAN RASCHKA </a:t>
            </a:r>
            <a:r>
              <a:rPr lang="en-US" sz="2400" dirty="0">
                <a:latin typeface="Cambria" panose="02040503050406030204" pitchFamily="18" charset="0"/>
                <a:ea typeface="Cambria" panose="02040503050406030204" pitchFamily="18" charset="0"/>
              </a:rPr>
              <a:t>: Ch-2,5</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hlinkClick r:id="rId2"/>
              </a:rPr>
              <a:t>https://aws.amazon.com/blogs/machine-learning/an-introduction-to-preparing-your-own-dataset-for-llm-training/</a:t>
            </a:r>
            <a:endParaRPr lang="en-US" sz="24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IN" sz="2400" dirty="0">
                <a:hlinkClick r:id="rId3"/>
              </a:rPr>
              <a:t>https://huggingface.co/spaces/HuggingFaceTB/smol-training-playbook#introduction</a:t>
            </a:r>
            <a:endParaRPr lang="en-IN" sz="2400" dirty="0"/>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Research Papers</a:t>
            </a:r>
          </a:p>
          <a:p>
            <a:pPr marL="800100" lvl="1"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Scaling Laws for Neural Language Models (Kaplan law)</a:t>
            </a:r>
          </a:p>
          <a:p>
            <a:pPr marL="800100" lvl="1"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Training Compute-Optimal Large Language Models (Chinchilla)</a:t>
            </a:r>
          </a:p>
          <a:p>
            <a:pPr marL="800100" lvl="1"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Emergent Abilities of Large Language Models</a:t>
            </a:r>
          </a:p>
          <a:p>
            <a:pPr marL="800100" lvl="1"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Are Emergent Abilities of Large Language Models a Mirage?</a:t>
            </a:r>
          </a:p>
          <a:p>
            <a:pPr marL="800100" lvl="1" indent="-342900">
              <a:buFont typeface="Arial" panose="020B0604020202020204" pitchFamily="34" charset="0"/>
              <a:buChar char="•"/>
            </a:pPr>
            <a:r>
              <a:rPr lang="en-US" sz="2400" dirty="0" err="1">
                <a:latin typeface="Cambria" panose="02040503050406030204" pitchFamily="18" charset="0"/>
                <a:ea typeface="Cambria" panose="02040503050406030204" pitchFamily="18" charset="0"/>
              </a:rPr>
              <a:t>BloombergGPT:A</a:t>
            </a:r>
            <a:r>
              <a:rPr lang="en-US" sz="2400" dirty="0">
                <a:latin typeface="Cambria" panose="02040503050406030204" pitchFamily="18" charset="0"/>
                <a:ea typeface="Cambria" panose="02040503050406030204" pitchFamily="18" charset="0"/>
              </a:rPr>
              <a:t> Large Language Model  for Finance</a:t>
            </a:r>
          </a:p>
          <a:p>
            <a:pPr marL="800100" lvl="1"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The Llama 3 Herd of Models</a:t>
            </a:r>
          </a:p>
          <a:p>
            <a:pPr marL="800100" lvl="1"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Qwen3 Technical Report</a:t>
            </a:r>
          </a:p>
          <a:p>
            <a:pPr marL="800100" lvl="1"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A Survey of Large Language Models (https://arxiv.org/pdf/2303.18223)</a:t>
            </a:r>
          </a:p>
        </p:txBody>
      </p:sp>
    </p:spTree>
    <p:extLst>
      <p:ext uri="{BB962C8B-B14F-4D97-AF65-F5344CB8AC3E}">
        <p14:creationId xmlns:p14="http://schemas.microsoft.com/office/powerpoint/2010/main" val="440815354"/>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1000F5-E9E5-544A-78A6-1943C4D0160D}"/>
              </a:ext>
            </a:extLst>
          </p:cNvPr>
          <p:cNvSpPr>
            <a:spLocks noGrp="1"/>
          </p:cNvSpPr>
          <p:nvPr>
            <p:ph type="title"/>
          </p:nvPr>
        </p:nvSpPr>
        <p:spPr>
          <a:xfrm>
            <a:off x="771940" y="2703443"/>
            <a:ext cx="10881209" cy="1219200"/>
          </a:xfrm>
        </p:spPr>
        <p:txBody>
          <a:bodyPr/>
          <a:lstStyle/>
          <a:p>
            <a:r>
              <a:rPr lang="en-US" dirty="0"/>
              <a:t>Extra Slides (not for exam)</a:t>
            </a:r>
            <a:endParaRPr lang="en-IN" dirty="0"/>
          </a:p>
        </p:txBody>
      </p:sp>
    </p:spTree>
    <p:extLst>
      <p:ext uri="{BB962C8B-B14F-4D97-AF65-F5344CB8AC3E}">
        <p14:creationId xmlns:p14="http://schemas.microsoft.com/office/powerpoint/2010/main" val="8963618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304801" y="1341072"/>
            <a:ext cx="11480800" cy="5323268"/>
          </a:xfrm>
        </p:spPr>
        <p:txBody>
          <a:bodyPr>
            <a:noAutofit/>
          </a:bodyPr>
          <a:lstStyle/>
          <a:p>
            <a:pPr marL="342900" indent="-342900">
              <a:buFont typeface="Arial" panose="020B0604020202020204" pitchFamily="34" charset="0"/>
              <a:buChar char="•"/>
            </a:pPr>
            <a:r>
              <a:rPr lang="en-US" sz="2000" dirty="0"/>
              <a:t> Innovations</a:t>
            </a:r>
          </a:p>
          <a:p>
            <a:pPr marL="800100" lvl="1" indent="-342900">
              <a:buFont typeface="Arial" panose="020B0604020202020204" pitchFamily="34" charset="0"/>
              <a:buChar char="•"/>
            </a:pPr>
            <a:r>
              <a:rPr lang="en-US" sz="2000" dirty="0"/>
              <a:t>Generative </a:t>
            </a:r>
            <a:r>
              <a:rPr lang="en-US" sz="2000" dirty="0" err="1"/>
              <a:t>Pretraining</a:t>
            </a:r>
            <a:r>
              <a:rPr lang="en-US" sz="2000" dirty="0"/>
              <a:t>: GPT-1 introduced the idea of unsupervised </a:t>
            </a:r>
            <a:r>
              <a:rPr lang="en-US" sz="2000" dirty="0" err="1"/>
              <a:t>pretraining</a:t>
            </a:r>
            <a:r>
              <a:rPr lang="en-US" sz="2000" dirty="0"/>
              <a:t> (learning general language representations from large text corpora) followed by supervised fine-tuning on specific tasks.</a:t>
            </a:r>
          </a:p>
          <a:p>
            <a:pPr marL="800100" lvl="1" indent="-342900">
              <a:buFont typeface="Arial" panose="020B0604020202020204" pitchFamily="34" charset="0"/>
              <a:buChar char="•"/>
            </a:pPr>
            <a:r>
              <a:rPr lang="en-US" sz="2000" dirty="0"/>
              <a:t>Unidirectional Context: GPT-1 only attends to the left context (previous tokens) in a sequence, as opposed to bidirectional models like BERT.</a:t>
            </a:r>
            <a:endParaRPr lang="en-IN" sz="2000" dirty="0"/>
          </a:p>
          <a:p>
            <a:pPr marL="342900" indent="-342900">
              <a:buFont typeface="Arial" panose="020B0604020202020204" pitchFamily="34" charset="0"/>
              <a:buChar char="•"/>
            </a:pPr>
            <a:r>
              <a:rPr lang="en-US" sz="2000" dirty="0"/>
              <a:t>Architecture</a:t>
            </a:r>
          </a:p>
          <a:p>
            <a:pPr marL="800100" lvl="1" indent="-342900">
              <a:buFont typeface="Arial" panose="020B0604020202020204" pitchFamily="34" charset="0"/>
              <a:buChar char="•"/>
            </a:pPr>
            <a:r>
              <a:rPr lang="en-US" sz="2000" dirty="0"/>
              <a:t>Model Type: Transformer-based decoder model.</a:t>
            </a:r>
          </a:p>
          <a:p>
            <a:pPr marL="800100" lvl="1" indent="-342900">
              <a:buFont typeface="Arial" panose="020B0604020202020204" pitchFamily="34" charset="0"/>
              <a:buChar char="•"/>
            </a:pPr>
            <a:r>
              <a:rPr lang="en-US" sz="2000" dirty="0"/>
              <a:t>Pre-training type : causal language model</a:t>
            </a:r>
          </a:p>
          <a:p>
            <a:pPr marL="342900" indent="-342900">
              <a:buFont typeface="Arial" panose="020B0604020202020204" pitchFamily="34" charset="0"/>
              <a:buChar char="•"/>
            </a:pPr>
            <a:r>
              <a:rPr lang="en-US" sz="2000" dirty="0"/>
              <a:t> Key Model Parameters</a:t>
            </a:r>
          </a:p>
          <a:p>
            <a:pPr marL="800100" lvl="1" indent="-342900">
              <a:buFont typeface="Arial" panose="020B0604020202020204" pitchFamily="34" charset="0"/>
              <a:buChar char="•"/>
            </a:pPr>
            <a:r>
              <a:rPr lang="en-US" sz="2000" dirty="0"/>
              <a:t>Number of Layers: 12 transformer blocks (stacked layers).</a:t>
            </a:r>
          </a:p>
          <a:p>
            <a:pPr marL="800100" lvl="1" indent="-342900">
              <a:buFont typeface="Arial" panose="020B0604020202020204" pitchFamily="34" charset="0"/>
              <a:buChar char="•"/>
            </a:pPr>
            <a:r>
              <a:rPr lang="en-US" sz="2000" dirty="0"/>
              <a:t>Hidden Size: 768-dimensional hidden states in each layer.</a:t>
            </a:r>
          </a:p>
          <a:p>
            <a:pPr marL="800100" lvl="1" indent="-342900">
              <a:buFont typeface="Arial" panose="020B0604020202020204" pitchFamily="34" charset="0"/>
              <a:buChar char="•"/>
            </a:pPr>
            <a:r>
              <a:rPr lang="en-US" sz="2000" dirty="0"/>
              <a:t>Number of Attention Heads: 12 heads in the multi-head self-attention</a:t>
            </a:r>
          </a:p>
          <a:p>
            <a:pPr marL="800100" lvl="1" indent="-342900">
              <a:buFont typeface="Arial" panose="020B0604020202020204" pitchFamily="34" charset="0"/>
              <a:buChar char="•"/>
            </a:pPr>
            <a:r>
              <a:rPr lang="en-US" sz="2000" dirty="0"/>
              <a:t>Feedforward Network Size: 3072 (hidden size × 4).</a:t>
            </a:r>
          </a:p>
          <a:p>
            <a:pPr marL="800100" lvl="1" indent="-342900">
              <a:buFont typeface="Arial" panose="020B0604020202020204" pitchFamily="34" charset="0"/>
              <a:buChar char="•"/>
            </a:pPr>
            <a:r>
              <a:rPr lang="en-US" sz="2000" dirty="0"/>
              <a:t>Number of Parameters: ~117 million total.</a:t>
            </a:r>
          </a:p>
          <a:p>
            <a:pPr marL="800100" lvl="1" indent="-342900">
              <a:buFont typeface="Arial" panose="020B0604020202020204" pitchFamily="34" charset="0"/>
              <a:buChar char="•"/>
            </a:pPr>
            <a:r>
              <a:rPr lang="en-US" sz="2000" dirty="0"/>
              <a:t>Vocabulary Size: 40,000 tokens (using Byte Pair Encoding)</a:t>
            </a:r>
          </a:p>
          <a:p>
            <a:pPr marL="800100" lvl="1" indent="-342900">
              <a:buFont typeface="Arial" panose="020B0604020202020204" pitchFamily="34" charset="0"/>
              <a:buChar char="•"/>
            </a:pPr>
            <a:r>
              <a:rPr lang="en-US" sz="2000" i="1" dirty="0"/>
              <a:t>Activation function</a:t>
            </a:r>
            <a:r>
              <a:rPr lang="en-US" sz="2000" dirty="0"/>
              <a:t>: GELU (</a:t>
            </a:r>
            <a:r>
              <a:rPr lang="en-IN" sz="2000" dirty="0"/>
              <a:t>Gaussian Error Linear Unit)</a:t>
            </a:r>
            <a:endParaRPr lang="en-US" sz="2000" dirty="0"/>
          </a:p>
        </p:txBody>
      </p:sp>
      <p:sp>
        <p:nvSpPr>
          <p:cNvPr id="3" name="Title 2"/>
          <p:cNvSpPr>
            <a:spLocks noGrp="1"/>
          </p:cNvSpPr>
          <p:nvPr>
            <p:ph type="title"/>
          </p:nvPr>
        </p:nvSpPr>
        <p:spPr/>
        <p:txBody>
          <a:bodyPr/>
          <a:lstStyle/>
          <a:p>
            <a:r>
              <a:rPr lang="en-US" dirty="0"/>
              <a:t>GPT-1</a:t>
            </a:r>
            <a:endParaRPr lang="en-IN" dirty="0"/>
          </a:p>
        </p:txBody>
      </p:sp>
    </p:spTree>
    <p:extLst>
      <p:ext uri="{BB962C8B-B14F-4D97-AF65-F5344CB8AC3E}">
        <p14:creationId xmlns:p14="http://schemas.microsoft.com/office/powerpoint/2010/main" val="32917364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100116" y="1419984"/>
            <a:ext cx="11480800" cy="4525963"/>
          </a:xfrm>
        </p:spPr>
        <p:txBody>
          <a:bodyPr>
            <a:normAutofit/>
          </a:bodyPr>
          <a:lstStyle/>
          <a:p>
            <a:pPr marL="342900" indent="-342900">
              <a:buFont typeface="Arial" panose="020B0604020202020204" pitchFamily="34" charset="0"/>
              <a:buChar char="•"/>
            </a:pPr>
            <a:r>
              <a:rPr lang="en-US" sz="2000" dirty="0"/>
              <a:t>Input and Sequence Details</a:t>
            </a:r>
          </a:p>
          <a:p>
            <a:pPr marL="800100" lvl="1" indent="-342900">
              <a:buFont typeface="Arial" panose="020B0604020202020204" pitchFamily="34" charset="0"/>
              <a:buChar char="•"/>
            </a:pPr>
            <a:r>
              <a:rPr lang="en-US" sz="2000" dirty="0"/>
              <a:t>Data Pre processing : </a:t>
            </a:r>
            <a:r>
              <a:rPr lang="en-US" sz="2000" dirty="0" err="1"/>
              <a:t>ftfy</a:t>
            </a:r>
            <a:r>
              <a:rPr lang="en-US" sz="2000" dirty="0"/>
              <a:t> library to clean the raw text in </a:t>
            </a:r>
            <a:r>
              <a:rPr lang="en-US" sz="2000" dirty="0" err="1"/>
              <a:t>BooksCorpus</a:t>
            </a:r>
            <a:r>
              <a:rPr lang="en-US" sz="2000" dirty="0"/>
              <a:t>, standardize some punctuation and whitespace, and use the </a:t>
            </a:r>
            <a:r>
              <a:rPr lang="en-US" sz="2000" dirty="0" err="1"/>
              <a:t>spaCy</a:t>
            </a:r>
            <a:r>
              <a:rPr lang="en-US" sz="2000" dirty="0"/>
              <a:t> tokenizer.</a:t>
            </a:r>
          </a:p>
          <a:p>
            <a:pPr marL="800100" lvl="1" indent="-342900">
              <a:buFont typeface="Arial" panose="020B0604020202020204" pitchFamily="34" charset="0"/>
              <a:buChar char="•"/>
            </a:pPr>
            <a:r>
              <a:rPr lang="en-US" sz="2000" dirty="0"/>
              <a:t>Maximum Sequence Length: 512 tokens.</a:t>
            </a:r>
          </a:p>
          <a:p>
            <a:pPr marL="800100" lvl="1" indent="-342900">
              <a:buFont typeface="Arial" panose="020B0604020202020204" pitchFamily="34" charset="0"/>
              <a:buChar char="•"/>
            </a:pPr>
            <a:r>
              <a:rPr lang="en-US" sz="2000" dirty="0"/>
              <a:t>Longer inputs are truncated, and shorter ones are padded.</a:t>
            </a:r>
          </a:p>
          <a:p>
            <a:pPr marL="800100" lvl="1" indent="-342900">
              <a:buFont typeface="Arial" panose="020B0604020202020204" pitchFamily="34" charset="0"/>
              <a:buChar char="•"/>
            </a:pPr>
            <a:r>
              <a:rPr lang="en-US" sz="2000" dirty="0"/>
              <a:t>Tokenization: Uses Byte Pair Encoding (BPE)</a:t>
            </a:r>
          </a:p>
          <a:p>
            <a:pPr marL="342900" indent="-342900">
              <a:buFont typeface="Arial" panose="020B0604020202020204" pitchFamily="34" charset="0"/>
              <a:buChar char="•"/>
            </a:pPr>
            <a:r>
              <a:rPr lang="en-US" sz="2000" dirty="0"/>
              <a:t>Positional Encodings : learned positional </a:t>
            </a:r>
            <a:r>
              <a:rPr lang="en-US" sz="2000" dirty="0" err="1"/>
              <a:t>embeddings</a:t>
            </a:r>
            <a:r>
              <a:rPr lang="en-US" sz="2000" dirty="0"/>
              <a:t> instead of sinusoidal</a:t>
            </a:r>
          </a:p>
          <a:p>
            <a:pPr marL="342900" indent="-342900">
              <a:buFont typeface="Arial" panose="020B0604020202020204" pitchFamily="34" charset="0"/>
              <a:buChar char="•"/>
            </a:pPr>
            <a:r>
              <a:rPr lang="en-US" sz="2000" dirty="0"/>
              <a:t>Attention Mechanism</a:t>
            </a:r>
          </a:p>
          <a:p>
            <a:pPr marL="800100" lvl="1" indent="-342900">
              <a:buFont typeface="Arial" panose="020B0604020202020204" pitchFamily="34" charset="0"/>
              <a:buChar char="•"/>
            </a:pPr>
            <a:r>
              <a:rPr lang="en-US" sz="2000" dirty="0"/>
              <a:t>Self-Attention: Uses scaled dot-product attention.</a:t>
            </a:r>
          </a:p>
          <a:p>
            <a:pPr marL="800100" lvl="1" indent="-342900">
              <a:buFont typeface="Arial" panose="020B0604020202020204" pitchFamily="34" charset="0"/>
              <a:buChar char="•"/>
            </a:pPr>
            <a:r>
              <a:rPr lang="en-US" sz="2000" dirty="0"/>
              <a:t>Queries, keys, and values are projected into a 64-dimensional space for each head (768 ÷ 12 heads = 64 per head).</a:t>
            </a:r>
          </a:p>
          <a:p>
            <a:r>
              <a:rPr lang="en-US" sz="2000" dirty="0"/>
              <a:t> </a:t>
            </a:r>
          </a:p>
          <a:p>
            <a:pPr marL="342900" indent="-342900">
              <a:buFont typeface="Arial" panose="020B0604020202020204" pitchFamily="34" charset="0"/>
              <a:buChar char="•"/>
            </a:pPr>
            <a:endParaRPr lang="en-IN" sz="2000" dirty="0"/>
          </a:p>
          <a:p>
            <a:endParaRPr lang="en-IN" sz="2000" dirty="0"/>
          </a:p>
        </p:txBody>
      </p:sp>
      <p:sp>
        <p:nvSpPr>
          <p:cNvPr id="3" name="Title 2"/>
          <p:cNvSpPr>
            <a:spLocks noGrp="1"/>
          </p:cNvSpPr>
          <p:nvPr>
            <p:ph type="title"/>
          </p:nvPr>
        </p:nvSpPr>
        <p:spPr/>
        <p:txBody>
          <a:bodyPr/>
          <a:lstStyle/>
          <a:p>
            <a:r>
              <a:rPr lang="en-US" dirty="0"/>
              <a:t>GPT-1</a:t>
            </a:r>
            <a:endParaRPr lang="en-IN" dirty="0"/>
          </a:p>
        </p:txBody>
      </p:sp>
    </p:spTree>
    <p:extLst>
      <p:ext uri="{BB962C8B-B14F-4D97-AF65-F5344CB8AC3E}">
        <p14:creationId xmlns:p14="http://schemas.microsoft.com/office/powerpoint/2010/main" val="12033378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489857" y="1431688"/>
            <a:ext cx="11480800" cy="4525963"/>
          </a:xfrm>
        </p:spPr>
        <p:txBody>
          <a:bodyPr>
            <a:noAutofit/>
          </a:bodyPr>
          <a:lstStyle/>
          <a:p>
            <a:pPr marL="342900" indent="-342900">
              <a:buFont typeface="Arial" panose="020B0604020202020204" pitchFamily="34" charset="0"/>
              <a:buChar char="•"/>
            </a:pPr>
            <a:r>
              <a:rPr lang="en-US" sz="2000" dirty="0"/>
              <a:t> Training Setup</a:t>
            </a:r>
          </a:p>
          <a:p>
            <a:pPr marL="800100" lvl="1" indent="-342900">
              <a:buFont typeface="Arial" panose="020B0604020202020204" pitchFamily="34" charset="0"/>
              <a:buChar char="•"/>
            </a:pPr>
            <a:r>
              <a:rPr lang="en-US" sz="2000" dirty="0"/>
              <a:t>Dataset:  </a:t>
            </a:r>
            <a:r>
              <a:rPr lang="en-US" sz="2000" dirty="0" err="1"/>
              <a:t>BooksCorpus</a:t>
            </a:r>
            <a:r>
              <a:rPr lang="en-US" sz="2000" dirty="0"/>
              <a:t> dataset, containing ~7,000 books with ~800 million words.</a:t>
            </a:r>
          </a:p>
          <a:p>
            <a:pPr marL="800100" lvl="1" indent="-342900">
              <a:buFont typeface="Arial" panose="020B0604020202020204" pitchFamily="34" charset="0"/>
              <a:buChar char="•"/>
            </a:pPr>
            <a:r>
              <a:rPr lang="en-US" sz="2000" dirty="0"/>
              <a:t>Objective: Causal Language Modeling (Next-Token Prediction)</a:t>
            </a:r>
          </a:p>
          <a:p>
            <a:pPr marL="800100" lvl="1" indent="-342900">
              <a:buFont typeface="Arial" panose="020B0604020202020204" pitchFamily="34" charset="0"/>
              <a:buChar char="•"/>
            </a:pPr>
            <a:r>
              <a:rPr lang="en-US" sz="2000" dirty="0"/>
              <a:t>Loss function: Cross-Entropy Loss.</a:t>
            </a:r>
          </a:p>
          <a:p>
            <a:pPr marL="800100" lvl="1" indent="-342900">
              <a:buFont typeface="Arial" panose="020B0604020202020204" pitchFamily="34" charset="0"/>
              <a:buChar char="•"/>
            </a:pPr>
            <a:r>
              <a:rPr lang="en-US" sz="2000" dirty="0"/>
              <a:t>Batch Size: 64 sequences per </a:t>
            </a:r>
            <a:r>
              <a:rPr lang="en-US" sz="2000" dirty="0" err="1"/>
              <a:t>minibatch</a:t>
            </a:r>
            <a:r>
              <a:rPr lang="en-US" sz="2000" dirty="0"/>
              <a:t>.</a:t>
            </a:r>
          </a:p>
          <a:p>
            <a:pPr marL="800100" lvl="1" indent="-342900">
              <a:buFont typeface="Arial" panose="020B0604020202020204" pitchFamily="34" charset="0"/>
              <a:buChar char="•"/>
            </a:pPr>
            <a:r>
              <a:rPr lang="en-US" sz="2000" dirty="0"/>
              <a:t>Sequence Length: 512 tokens per sequence.</a:t>
            </a:r>
          </a:p>
          <a:p>
            <a:pPr marL="800100" lvl="1" indent="-342900">
              <a:buFont typeface="Arial" panose="020B0604020202020204" pitchFamily="34" charset="0"/>
              <a:buChar char="•"/>
            </a:pPr>
            <a:r>
              <a:rPr lang="en-US" sz="2000" dirty="0"/>
              <a:t>Learning Rate Schedule: Linear warm-up for the first 2000 updates. Cosine decay thereafter.</a:t>
            </a:r>
          </a:p>
          <a:p>
            <a:pPr marL="800100" lvl="1" indent="-342900">
              <a:buFont typeface="Arial" panose="020B0604020202020204" pitchFamily="34" charset="0"/>
              <a:buChar char="•"/>
            </a:pPr>
            <a:r>
              <a:rPr lang="en-US" sz="2000" dirty="0"/>
              <a:t>Optimizer: Adam optimizer</a:t>
            </a:r>
          </a:p>
          <a:p>
            <a:pPr marL="800100" lvl="1" indent="-342900">
              <a:buFont typeface="Arial" panose="020B0604020202020204" pitchFamily="34" charset="0"/>
              <a:buChar char="•"/>
            </a:pPr>
            <a:r>
              <a:rPr lang="en-US" sz="2000" dirty="0"/>
              <a:t>100 epochs</a:t>
            </a:r>
          </a:p>
          <a:p>
            <a:pPr marL="800100" lvl="1" indent="-342900">
              <a:buFont typeface="Arial" panose="020B0604020202020204" pitchFamily="34" charset="0"/>
              <a:buChar char="•"/>
            </a:pPr>
            <a:r>
              <a:rPr lang="en-US" sz="2000" dirty="0"/>
              <a:t>Regularization : attention dropouts with a rate of 0.1 and modified L2 regularization</a:t>
            </a:r>
          </a:p>
          <a:p>
            <a:pPr marL="342900" indent="-342900">
              <a:buFont typeface="Arial" panose="020B0604020202020204" pitchFamily="34" charset="0"/>
              <a:buChar char="•"/>
            </a:pPr>
            <a:r>
              <a:rPr lang="en-US" sz="2000" dirty="0"/>
              <a:t>Output : Uses a </a:t>
            </a:r>
            <a:r>
              <a:rPr lang="en-US" sz="2000" dirty="0" err="1"/>
              <a:t>softmax</a:t>
            </a:r>
            <a:r>
              <a:rPr lang="en-US" sz="2000" dirty="0"/>
              <a:t> layer to generate these probabilities.</a:t>
            </a:r>
          </a:p>
        </p:txBody>
      </p:sp>
      <p:sp>
        <p:nvSpPr>
          <p:cNvPr id="3" name="Title 2"/>
          <p:cNvSpPr>
            <a:spLocks noGrp="1"/>
          </p:cNvSpPr>
          <p:nvPr>
            <p:ph type="title"/>
          </p:nvPr>
        </p:nvSpPr>
        <p:spPr/>
        <p:txBody>
          <a:bodyPr/>
          <a:lstStyle/>
          <a:p>
            <a:r>
              <a:rPr lang="en-US" dirty="0"/>
              <a:t>GPT-1</a:t>
            </a:r>
            <a:endParaRPr lang="en-IN" dirty="0"/>
          </a:p>
        </p:txBody>
      </p:sp>
    </p:spTree>
    <p:extLst>
      <p:ext uri="{BB962C8B-B14F-4D97-AF65-F5344CB8AC3E}">
        <p14:creationId xmlns:p14="http://schemas.microsoft.com/office/powerpoint/2010/main" val="36097526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170543" y="1512567"/>
            <a:ext cx="11480800" cy="4525963"/>
          </a:xfrm>
        </p:spPr>
        <p:txBody>
          <a:bodyPr/>
          <a:lstStyle/>
          <a:p>
            <a:pPr marL="342900" indent="-342900">
              <a:buFont typeface="Arial" panose="020B0604020202020204" pitchFamily="34" charset="0"/>
              <a:buChar char="•"/>
            </a:pPr>
            <a:r>
              <a:rPr lang="en-US" dirty="0"/>
              <a:t>Fine tuning</a:t>
            </a:r>
          </a:p>
          <a:p>
            <a:pPr marL="800100" lvl="1" indent="-342900">
              <a:buFont typeface="Arial" panose="020B0604020202020204" pitchFamily="34" charset="0"/>
              <a:buChar char="•"/>
            </a:pPr>
            <a:r>
              <a:rPr lang="en-US" dirty="0"/>
              <a:t>Same </a:t>
            </a:r>
            <a:r>
              <a:rPr lang="en-US" dirty="0" err="1"/>
              <a:t>hyperparameter</a:t>
            </a:r>
            <a:r>
              <a:rPr lang="en-US" dirty="0"/>
              <a:t> settings from unsupervised pre-training. dropout to the classifier with a rate of 0.1. </a:t>
            </a:r>
          </a:p>
          <a:p>
            <a:pPr marL="800100" lvl="1" indent="-342900">
              <a:buFont typeface="Arial" panose="020B0604020202020204" pitchFamily="34" charset="0"/>
              <a:buChar char="•"/>
            </a:pPr>
            <a:r>
              <a:rPr lang="en-US" dirty="0"/>
              <a:t>learning rate of 6.25e-5 </a:t>
            </a:r>
          </a:p>
          <a:p>
            <a:pPr marL="800100" lvl="1" indent="-342900">
              <a:buFont typeface="Arial" panose="020B0604020202020204" pitchFamily="34" charset="0"/>
              <a:buChar char="•"/>
            </a:pPr>
            <a:r>
              <a:rPr lang="en-US" dirty="0" err="1"/>
              <a:t>batchsize</a:t>
            </a:r>
            <a:r>
              <a:rPr lang="en-US" dirty="0"/>
              <a:t> of 32</a:t>
            </a:r>
          </a:p>
          <a:p>
            <a:pPr marL="800100" lvl="1" indent="-342900">
              <a:buFont typeface="Arial" panose="020B0604020202020204" pitchFamily="34" charset="0"/>
              <a:buChar char="•"/>
            </a:pPr>
            <a:r>
              <a:rPr lang="en-US" dirty="0"/>
              <a:t>3 epochs of training </a:t>
            </a:r>
          </a:p>
          <a:p>
            <a:pPr marL="800100" lvl="1" indent="-342900">
              <a:buFont typeface="Arial" panose="020B0604020202020204" pitchFamily="34" charset="0"/>
              <a:buChar char="•"/>
            </a:pPr>
            <a:r>
              <a:rPr lang="en-US" dirty="0"/>
              <a:t>We use a linear learning rate decay schedule with warmup over 0.2% of training</a:t>
            </a:r>
          </a:p>
          <a:p>
            <a:pPr marL="800100" lvl="1" indent="-342900">
              <a:buFont typeface="Arial" panose="020B0604020202020204" pitchFamily="34" charset="0"/>
              <a:buChar char="•"/>
            </a:pPr>
            <a:r>
              <a:rPr lang="en-US" dirty="0"/>
              <a:t>λ = 0.5</a:t>
            </a:r>
            <a:endParaRPr lang="en-IN" dirty="0"/>
          </a:p>
        </p:txBody>
      </p:sp>
      <p:sp>
        <p:nvSpPr>
          <p:cNvPr id="4" name="Title 2"/>
          <p:cNvSpPr>
            <a:spLocks noGrp="1"/>
          </p:cNvSpPr>
          <p:nvPr>
            <p:ph type="title"/>
          </p:nvPr>
        </p:nvSpPr>
        <p:spPr/>
        <p:txBody>
          <a:bodyPr/>
          <a:lstStyle/>
          <a:p>
            <a:r>
              <a:rPr lang="en-US" dirty="0"/>
              <a:t>GPT-1</a:t>
            </a:r>
            <a:endParaRPr lang="en-IN" dirty="0"/>
          </a:p>
        </p:txBody>
      </p:sp>
    </p:spTree>
    <p:extLst>
      <p:ext uri="{BB962C8B-B14F-4D97-AF65-F5344CB8AC3E}">
        <p14:creationId xmlns:p14="http://schemas.microsoft.com/office/powerpoint/2010/main" val="3937064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LLM downstream  tasks: GPT-1</a:t>
            </a:r>
            <a:endParaRPr lang="en-IN" dirty="0"/>
          </a:p>
        </p:txBody>
      </p:sp>
      <p:pic>
        <p:nvPicPr>
          <p:cNvPr id="3" name="Content Placeholder 3"/>
          <p:cNvPicPr>
            <a:picLocks noChangeAspect="1"/>
          </p:cNvPicPr>
          <p:nvPr/>
        </p:nvPicPr>
        <p:blipFill>
          <a:blip r:embed="rId3"/>
          <a:stretch>
            <a:fillRect/>
          </a:stretch>
        </p:blipFill>
        <p:spPr>
          <a:xfrm>
            <a:off x="0" y="999812"/>
            <a:ext cx="6911472" cy="3592961"/>
          </a:xfrm>
          <a:prstGeom prst="rect">
            <a:avLst/>
          </a:prstGeom>
        </p:spPr>
      </p:pic>
      <p:sp>
        <p:nvSpPr>
          <p:cNvPr id="7" name="TextBox 6">
            <a:extLst>
              <a:ext uri="{FF2B5EF4-FFF2-40B4-BE49-F238E27FC236}">
                <a16:creationId xmlns:a16="http://schemas.microsoft.com/office/drawing/2014/main" id="{70C07A1D-BAB6-94A7-7BFA-170CE9A65C36}"/>
              </a:ext>
            </a:extLst>
          </p:cNvPr>
          <p:cNvSpPr txBox="1"/>
          <p:nvPr/>
        </p:nvSpPr>
        <p:spPr>
          <a:xfrm>
            <a:off x="7336221" y="1673935"/>
            <a:ext cx="4792717" cy="2554545"/>
          </a:xfrm>
          <a:prstGeom prst="rect">
            <a:avLst/>
          </a:prstGeom>
          <a:noFill/>
        </p:spPr>
        <p:txBody>
          <a:bodyPr wrap="square">
            <a:spAutoFit/>
          </a:bodyPr>
          <a:lstStyle/>
          <a:p>
            <a:pPr marL="342900" indent="-342900" eaLnBrk="0" fontAlgn="base" hangingPunct="0">
              <a:spcBef>
                <a:spcPct val="0"/>
              </a:spcBef>
              <a:spcAft>
                <a:spcPct val="0"/>
              </a:spcAft>
              <a:buFont typeface="Arial" panose="020B0604020202020204" pitchFamily="34" charset="0"/>
              <a:buChar char="•"/>
            </a:pPr>
            <a:r>
              <a:rPr lang="en-US" altLang="en-US" sz="2000" kern="0" dirty="0">
                <a:solidFill>
                  <a:schemeClr val="tx1"/>
                </a:solidFill>
              </a:rPr>
              <a:t>Format the input using special tokens like </a:t>
            </a:r>
            <a:r>
              <a:rPr lang="en-US" altLang="en-US" sz="2000" i="1" kern="0" dirty="0">
                <a:solidFill>
                  <a:schemeClr val="tx1"/>
                </a:solidFill>
              </a:rPr>
              <a:t>Start, Delim (delimiter), and Extract.</a:t>
            </a:r>
          </a:p>
          <a:p>
            <a:pPr marL="342900" indent="-342900" eaLnBrk="0" fontAlgn="base" hangingPunct="0">
              <a:spcBef>
                <a:spcPct val="0"/>
              </a:spcBef>
              <a:spcAft>
                <a:spcPct val="0"/>
              </a:spcAft>
              <a:buFont typeface="Arial" panose="020B0604020202020204" pitchFamily="34" charset="0"/>
              <a:buChar char="•"/>
            </a:pPr>
            <a:r>
              <a:rPr lang="en-US" altLang="en-US" sz="2000" kern="0" dirty="0">
                <a:solidFill>
                  <a:schemeClr val="tx1"/>
                </a:solidFill>
              </a:rPr>
              <a:t>Pass this formatted text through the </a:t>
            </a:r>
            <a:r>
              <a:rPr lang="en-US" altLang="en-US" sz="2000" i="1" kern="0" dirty="0">
                <a:solidFill>
                  <a:schemeClr val="tx1"/>
                </a:solidFill>
              </a:rPr>
              <a:t>same</a:t>
            </a:r>
            <a:r>
              <a:rPr lang="en-US" altLang="en-US" sz="2000" kern="0" dirty="0">
                <a:solidFill>
                  <a:schemeClr val="tx1"/>
                </a:solidFill>
              </a:rPr>
              <a:t> pre-trained Transformer model.</a:t>
            </a:r>
          </a:p>
          <a:p>
            <a:pPr marL="342900" indent="-342900" eaLnBrk="0" fontAlgn="base" hangingPunct="0">
              <a:spcBef>
                <a:spcPct val="0"/>
              </a:spcBef>
              <a:spcAft>
                <a:spcPct val="0"/>
              </a:spcAft>
              <a:buFont typeface="Arial" panose="020B0604020202020204" pitchFamily="34" charset="0"/>
              <a:buChar char="•"/>
            </a:pPr>
            <a:r>
              <a:rPr lang="en-US" altLang="en-US" sz="2000" kern="0" dirty="0">
                <a:solidFill>
                  <a:schemeClr val="tx1"/>
                </a:solidFill>
              </a:rPr>
              <a:t>Take the Transformer's output vector corresponding to the Extract token.</a:t>
            </a:r>
          </a:p>
          <a:p>
            <a:pPr marL="342900" indent="-342900" eaLnBrk="0" fontAlgn="base" hangingPunct="0">
              <a:spcBef>
                <a:spcPct val="0"/>
              </a:spcBef>
              <a:spcAft>
                <a:spcPct val="0"/>
              </a:spcAft>
              <a:buFont typeface="Arial" panose="020B0604020202020204" pitchFamily="34" charset="0"/>
              <a:buChar char="•"/>
            </a:pPr>
            <a:r>
              <a:rPr lang="en-US" altLang="en-US" sz="2000" kern="0" dirty="0">
                <a:solidFill>
                  <a:schemeClr val="tx1"/>
                </a:solidFill>
              </a:rPr>
              <a:t>Feed that single vector into a simple Linear layer to get the final answer</a:t>
            </a:r>
          </a:p>
        </p:txBody>
      </p:sp>
      <p:sp>
        <p:nvSpPr>
          <p:cNvPr id="9" name="TextBox 8">
            <a:extLst>
              <a:ext uri="{FF2B5EF4-FFF2-40B4-BE49-F238E27FC236}">
                <a16:creationId xmlns:a16="http://schemas.microsoft.com/office/drawing/2014/main" id="{39B076CD-6988-D4B6-331A-A58E4D5ECCAA}"/>
              </a:ext>
            </a:extLst>
          </p:cNvPr>
          <p:cNvSpPr txBox="1"/>
          <p:nvPr/>
        </p:nvSpPr>
        <p:spPr>
          <a:xfrm>
            <a:off x="0" y="4971308"/>
            <a:ext cx="11978706" cy="1323439"/>
          </a:xfrm>
          <a:prstGeom prst="rect">
            <a:avLst/>
          </a:prstGeom>
          <a:solidFill>
            <a:schemeClr val="accent2">
              <a:lumMod val="20000"/>
              <a:lumOff val="80000"/>
            </a:schemeClr>
          </a:solidFill>
        </p:spPr>
        <p:txBody>
          <a:bodyPr wrap="square">
            <a:spAutoFit/>
          </a:bodyPr>
          <a:lstStyle/>
          <a:p>
            <a:pPr algn="l"/>
            <a:r>
              <a:rPr lang="en-US" sz="2000" b="0" i="0" dirty="0">
                <a:solidFill>
                  <a:srgbClr val="27251E"/>
                </a:solidFill>
                <a:effectLst/>
                <a:latin typeface="Cambria" panose="02040503050406030204" pitchFamily="18" charset="0"/>
                <a:ea typeface="Cambria" panose="02040503050406030204" pitchFamily="18" charset="0"/>
              </a:rPr>
              <a:t>Input: &lt;start&gt; This movie was surprisingly emotional, beautifully acted, and worth watching again. &lt;extract&gt;</a:t>
            </a:r>
          </a:p>
          <a:p>
            <a:pPr algn="l"/>
            <a:r>
              <a:rPr lang="en-US" sz="2000" b="0" i="0" dirty="0">
                <a:solidFill>
                  <a:srgbClr val="27251E"/>
                </a:solidFill>
                <a:effectLst/>
                <a:latin typeface="Cambria" panose="02040503050406030204" pitchFamily="18" charset="0"/>
                <a:ea typeface="Cambria" panose="02040503050406030204" pitchFamily="18" charset="0"/>
              </a:rPr>
              <a:t>Output label: Positive</a:t>
            </a:r>
          </a:p>
          <a:p>
            <a:pPr algn="l"/>
            <a:r>
              <a:rPr lang="en-US" sz="2000" b="0" i="0" dirty="0">
                <a:solidFill>
                  <a:srgbClr val="27251E"/>
                </a:solidFill>
                <a:effectLst/>
                <a:latin typeface="Cambria" panose="02040503050406030204" pitchFamily="18" charset="0"/>
                <a:ea typeface="Cambria" panose="02040503050406030204" pitchFamily="18" charset="0"/>
              </a:rPr>
              <a:t>Idea: use the representation of the &lt;extract&gt; token as the feature for classification</a:t>
            </a:r>
          </a:p>
          <a:p>
            <a:pPr algn="l"/>
            <a:r>
              <a:rPr lang="en-US" sz="2000" b="0" i="0" dirty="0">
                <a:solidFill>
                  <a:srgbClr val="27251E"/>
                </a:solidFill>
                <a:effectLst/>
                <a:latin typeface="Cambria" panose="02040503050406030204" pitchFamily="18" charset="0"/>
                <a:ea typeface="Cambria" panose="02040503050406030204" pitchFamily="18" charset="0"/>
              </a:rPr>
              <a:t>The model learns this during fine-tuning on labeled sentiment data</a:t>
            </a:r>
          </a:p>
        </p:txBody>
      </p:sp>
    </p:spTree>
    <p:extLst>
      <p:ext uri="{BB962C8B-B14F-4D97-AF65-F5344CB8AC3E}">
        <p14:creationId xmlns:p14="http://schemas.microsoft.com/office/powerpoint/2010/main" val="3968088933"/>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T5</a:t>
            </a:r>
            <a:r>
              <a:rPr lang="en-US" spc="-70" dirty="0"/>
              <a:t> </a:t>
            </a:r>
            <a:r>
              <a:rPr lang="en-US" spc="-20" dirty="0"/>
              <a:t>(Text-to-</a:t>
            </a:r>
            <a:r>
              <a:rPr lang="en-US" dirty="0"/>
              <a:t>Text</a:t>
            </a:r>
            <a:r>
              <a:rPr lang="en-US" spc="-45" dirty="0"/>
              <a:t> </a:t>
            </a:r>
            <a:r>
              <a:rPr lang="en-US" dirty="0"/>
              <a:t>Transfer</a:t>
            </a:r>
            <a:r>
              <a:rPr lang="en-US" spc="-60" dirty="0"/>
              <a:t> </a:t>
            </a:r>
            <a:r>
              <a:rPr lang="en-US" spc="-10" dirty="0"/>
              <a:t>Transformer)</a:t>
            </a:r>
            <a:endParaRPr lang="en-IN" dirty="0"/>
          </a:p>
        </p:txBody>
      </p:sp>
      <p:sp>
        <p:nvSpPr>
          <p:cNvPr id="3" name="Content Placeholder 1"/>
          <p:cNvSpPr txBox="1">
            <a:spLocks/>
          </p:cNvSpPr>
          <p:nvPr/>
        </p:nvSpPr>
        <p:spPr>
          <a:xfrm>
            <a:off x="5004" y="1365115"/>
            <a:ext cx="12186995" cy="4525963"/>
          </a:xfrm>
          <a:prstGeom prst="rect">
            <a:avLst/>
          </a:prstGeom>
        </p:spPr>
        <p:txBody>
          <a:bodyPr>
            <a:normAutofit/>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54965" marR="503555" indent="-342900">
              <a:lnSpc>
                <a:spcPct val="114999"/>
              </a:lnSpc>
              <a:spcBef>
                <a:spcPts val="95"/>
              </a:spcBef>
              <a:buFont typeface="Arial" panose="020B0604020202020204" pitchFamily="34" charset="0"/>
              <a:buChar char="•"/>
              <a:tabLst>
                <a:tab pos="393065" algn="l"/>
              </a:tabLst>
            </a:pPr>
            <a:r>
              <a:rPr lang="en-IN" sz="2000" kern="0" spc="-25">
                <a:solidFill>
                  <a:sysClr val="windowText" lastClr="000000"/>
                </a:solidFill>
                <a:cs typeface="Arial MT"/>
              </a:rPr>
              <a:t>Pre-</a:t>
            </a:r>
            <a:r>
              <a:rPr lang="en-IN" sz="2000" kern="0">
                <a:solidFill>
                  <a:sysClr val="windowText" lastClr="000000"/>
                </a:solidFill>
                <a:cs typeface="Arial MT"/>
              </a:rPr>
              <a:t>train</a:t>
            </a:r>
            <a:r>
              <a:rPr lang="en-IN" sz="2000" kern="0" spc="-50">
                <a:solidFill>
                  <a:sysClr val="windowText" lastClr="000000"/>
                </a:solidFill>
                <a:cs typeface="Arial MT"/>
              </a:rPr>
              <a:t> </a:t>
            </a:r>
            <a:r>
              <a:rPr lang="en-IN" sz="2000" kern="0">
                <a:solidFill>
                  <a:sysClr val="windowText" lastClr="000000"/>
                </a:solidFill>
                <a:cs typeface="Arial MT"/>
              </a:rPr>
              <a:t>a</a:t>
            </a:r>
            <a:r>
              <a:rPr lang="en-IN" sz="2000" kern="0" spc="-55">
                <a:solidFill>
                  <a:sysClr val="windowText" lastClr="000000"/>
                </a:solidFill>
                <a:cs typeface="Arial MT"/>
              </a:rPr>
              <a:t> </a:t>
            </a:r>
            <a:r>
              <a:rPr lang="en-IN" sz="2000" kern="0">
                <a:solidFill>
                  <a:sysClr val="windowText" lastClr="000000"/>
                </a:solidFill>
                <a:cs typeface="Arial MT"/>
              </a:rPr>
              <a:t>Transformer</a:t>
            </a:r>
            <a:r>
              <a:rPr lang="en-IN" sz="2000" kern="0" spc="-40">
                <a:solidFill>
                  <a:sysClr val="windowText" lastClr="000000"/>
                </a:solidFill>
                <a:cs typeface="Arial MT"/>
              </a:rPr>
              <a:t> </a:t>
            </a:r>
            <a:r>
              <a:rPr lang="en-IN" sz="2000" kern="0" spc="-25">
                <a:solidFill>
                  <a:sysClr val="windowText" lastClr="000000"/>
                </a:solidFill>
                <a:cs typeface="Arial MT"/>
              </a:rPr>
              <a:t>Encoder-</a:t>
            </a:r>
            <a:r>
              <a:rPr lang="en-IN" sz="2000" kern="0">
                <a:solidFill>
                  <a:sysClr val="windowText" lastClr="000000"/>
                </a:solidFill>
                <a:cs typeface="Arial MT"/>
              </a:rPr>
              <a:t>Decoder</a:t>
            </a:r>
            <a:r>
              <a:rPr lang="en-IN" sz="2000" kern="0" spc="-30">
                <a:solidFill>
                  <a:sysClr val="windowText" lastClr="000000"/>
                </a:solidFill>
                <a:cs typeface="Arial MT"/>
              </a:rPr>
              <a:t> </a:t>
            </a:r>
            <a:r>
              <a:rPr lang="en-IN" sz="2000" kern="0">
                <a:solidFill>
                  <a:sysClr val="windowText" lastClr="000000"/>
                </a:solidFill>
                <a:cs typeface="Arial MT"/>
              </a:rPr>
              <a:t>model</a:t>
            </a:r>
            <a:r>
              <a:rPr lang="en-IN" sz="2000" kern="0" spc="-45">
                <a:solidFill>
                  <a:sysClr val="windowText" lastClr="000000"/>
                </a:solidFill>
                <a:cs typeface="Arial MT"/>
              </a:rPr>
              <a:t> </a:t>
            </a:r>
            <a:r>
              <a:rPr lang="en-IN" sz="2000" kern="0">
                <a:solidFill>
                  <a:sysClr val="windowText" lastClr="000000"/>
                </a:solidFill>
                <a:cs typeface="Arial MT"/>
              </a:rPr>
              <a:t>on</a:t>
            </a:r>
            <a:r>
              <a:rPr lang="en-IN" sz="2000" kern="0" spc="-55">
                <a:solidFill>
                  <a:sysClr val="windowText" lastClr="000000"/>
                </a:solidFill>
                <a:cs typeface="Arial MT"/>
              </a:rPr>
              <a:t> </a:t>
            </a:r>
            <a:r>
              <a:rPr lang="en-IN" sz="2000" kern="0" spc="-50">
                <a:solidFill>
                  <a:sysClr val="windowText" lastClr="000000"/>
                </a:solidFill>
                <a:cs typeface="Arial MT"/>
              </a:rPr>
              <a:t>a </a:t>
            </a:r>
            <a:r>
              <a:rPr lang="en-IN" sz="2000" kern="0">
                <a:solidFill>
                  <a:sysClr val="windowText" lastClr="000000"/>
                </a:solidFill>
                <a:cs typeface="Arial MT"/>
              </a:rPr>
              <a:t>large</a:t>
            </a:r>
            <a:r>
              <a:rPr lang="en-IN" sz="2000" kern="0" spc="-80">
                <a:solidFill>
                  <a:sysClr val="windowText" lastClr="000000"/>
                </a:solidFill>
                <a:cs typeface="Arial MT"/>
              </a:rPr>
              <a:t> </a:t>
            </a:r>
            <a:r>
              <a:rPr lang="en-IN" sz="2000" kern="0">
                <a:solidFill>
                  <a:sysClr val="windowText" lastClr="000000"/>
                </a:solidFill>
                <a:cs typeface="Arial MT"/>
              </a:rPr>
              <a:t>unlabeled</a:t>
            </a:r>
            <a:r>
              <a:rPr lang="en-IN" sz="2000" kern="0" spc="-75">
                <a:solidFill>
                  <a:sysClr val="windowText" lastClr="000000"/>
                </a:solidFill>
                <a:cs typeface="Arial MT"/>
              </a:rPr>
              <a:t> </a:t>
            </a:r>
            <a:r>
              <a:rPr lang="en-IN" sz="2000" kern="0">
                <a:solidFill>
                  <a:sysClr val="windowText" lastClr="000000"/>
                </a:solidFill>
                <a:cs typeface="Arial MT"/>
              </a:rPr>
              <a:t>web</a:t>
            </a:r>
            <a:r>
              <a:rPr lang="en-IN" sz="2000" kern="0" spc="-90">
                <a:solidFill>
                  <a:sysClr val="windowText" lastClr="000000"/>
                </a:solidFill>
                <a:cs typeface="Arial MT"/>
              </a:rPr>
              <a:t> </a:t>
            </a:r>
            <a:r>
              <a:rPr lang="en-IN" sz="2000" kern="0">
                <a:solidFill>
                  <a:sysClr val="windowText" lastClr="000000"/>
                </a:solidFill>
                <a:cs typeface="Arial MT"/>
              </a:rPr>
              <a:t>crawl</a:t>
            </a:r>
            <a:r>
              <a:rPr lang="en-IN" sz="2000" kern="0" spc="-85">
                <a:solidFill>
                  <a:sysClr val="windowText" lastClr="000000"/>
                </a:solidFill>
                <a:cs typeface="Arial MT"/>
              </a:rPr>
              <a:t> </a:t>
            </a:r>
            <a:r>
              <a:rPr lang="en-IN" sz="2000" kern="0" spc="-20">
                <a:solidFill>
                  <a:sysClr val="windowText" lastClr="000000"/>
                </a:solidFill>
                <a:cs typeface="Arial MT"/>
              </a:rPr>
              <a:t>text</a:t>
            </a:r>
            <a:endParaRPr lang="en-IN" sz="2000" kern="0">
              <a:solidFill>
                <a:sysClr val="windowText" lastClr="000000"/>
              </a:solidFill>
              <a:cs typeface="Arial MT"/>
            </a:endParaRPr>
          </a:p>
          <a:p>
            <a:pPr marL="354965" marR="503555" indent="-342900">
              <a:lnSpc>
                <a:spcPct val="114999"/>
              </a:lnSpc>
              <a:spcBef>
                <a:spcPts val="95"/>
              </a:spcBef>
              <a:buFont typeface="Arial" panose="020B0604020202020204" pitchFamily="34" charset="0"/>
              <a:buChar char="•"/>
              <a:tabLst>
                <a:tab pos="393065" algn="l"/>
              </a:tabLst>
            </a:pPr>
            <a:r>
              <a:rPr lang="en-US" sz="2000" kern="0" spc="-25">
                <a:solidFill>
                  <a:sysClr val="windowText" lastClr="000000"/>
                </a:solidFill>
                <a:cs typeface="Arial MT"/>
              </a:rPr>
              <a:t>T5 treats every NLP problem as a text-to-text problem. </a:t>
            </a:r>
          </a:p>
          <a:p>
            <a:pPr marL="342900" indent="-342900">
              <a:buFont typeface="Arial" panose="020B0604020202020204" pitchFamily="34" charset="0"/>
              <a:buChar char="•"/>
            </a:pPr>
            <a:r>
              <a:rPr lang="en-US" sz="2000" kern="0" spc="-25">
                <a:solidFill>
                  <a:sysClr val="windowText" lastClr="000000"/>
                </a:solidFill>
                <a:cs typeface="Arial MT"/>
              </a:rPr>
              <a:t>Same model, objective, training procedure, and decoding process to every downstream task</a:t>
            </a:r>
          </a:p>
          <a:p>
            <a:pPr marL="342900" indent="-342900">
              <a:buFont typeface="Arial" panose="020B0604020202020204" pitchFamily="34" charset="0"/>
              <a:buChar char="•"/>
            </a:pPr>
            <a:r>
              <a:rPr lang="en-US" sz="2000" kern="0">
                <a:solidFill>
                  <a:sysClr val="windowText" lastClr="000000"/>
                </a:solidFill>
              </a:rPr>
              <a:t>Baseline size: two stacks of size BERTBASE</a:t>
            </a:r>
          </a:p>
          <a:p>
            <a:pPr marL="342900" indent="-342900">
              <a:buFont typeface="Arial" panose="020B0604020202020204" pitchFamily="34" charset="0"/>
              <a:buChar char="•"/>
            </a:pPr>
            <a:endParaRPr lang="en-US" sz="2000" kern="0" spc="-25">
              <a:solidFill>
                <a:sysClr val="windowText" lastClr="000000"/>
              </a:solidFill>
              <a:cs typeface="Arial MT"/>
            </a:endParaRPr>
          </a:p>
          <a:p>
            <a:endParaRPr lang="en-IN" sz="2000" kern="0" dirty="0">
              <a:solidFill>
                <a:sysClr val="windowText" lastClr="000000"/>
              </a:solidFill>
            </a:endParaRPr>
          </a:p>
        </p:txBody>
      </p:sp>
      <p:pic>
        <p:nvPicPr>
          <p:cNvPr id="4" name="object 3"/>
          <p:cNvPicPr/>
          <p:nvPr/>
        </p:nvPicPr>
        <p:blipFill>
          <a:blip r:embed="rId2" cstate="print"/>
          <a:stretch>
            <a:fillRect/>
          </a:stretch>
        </p:blipFill>
        <p:spPr>
          <a:xfrm>
            <a:off x="6012872" y="2812473"/>
            <a:ext cx="5856046" cy="3338944"/>
          </a:xfrm>
          <a:prstGeom prst="rect">
            <a:avLst/>
          </a:prstGeom>
        </p:spPr>
      </p:pic>
      <p:sp>
        <p:nvSpPr>
          <p:cNvPr id="5" name="object 4"/>
          <p:cNvSpPr txBox="1"/>
          <p:nvPr/>
        </p:nvSpPr>
        <p:spPr>
          <a:xfrm>
            <a:off x="5004" y="6151417"/>
            <a:ext cx="11784330" cy="228909"/>
          </a:xfrm>
          <a:prstGeom prst="rect">
            <a:avLst/>
          </a:prstGeom>
        </p:spPr>
        <p:txBody>
          <a:bodyPr vert="horz" wrap="square" lIns="0" tIns="12700" rIns="0" bIns="0" rtlCol="0">
            <a:spAutoFit/>
          </a:bodyPr>
          <a:lstStyle/>
          <a:p>
            <a:pPr marL="12700" marR="5080">
              <a:lnSpc>
                <a:spcPct val="117200"/>
              </a:lnSpc>
              <a:spcBef>
                <a:spcPts val="100"/>
              </a:spcBef>
            </a:pPr>
            <a:r>
              <a:rPr sz="1200" dirty="0">
                <a:latin typeface="Calibri"/>
                <a:cs typeface="Calibri"/>
              </a:rPr>
              <a:t>Raffel,</a:t>
            </a:r>
            <a:r>
              <a:rPr sz="1200" spc="-25" dirty="0">
                <a:latin typeface="Calibri"/>
                <a:cs typeface="Calibri"/>
              </a:rPr>
              <a:t> </a:t>
            </a:r>
            <a:r>
              <a:rPr sz="1200" dirty="0">
                <a:latin typeface="Calibri"/>
                <a:cs typeface="Calibri"/>
              </a:rPr>
              <a:t>C.,</a:t>
            </a:r>
            <a:r>
              <a:rPr sz="1200" spc="-15" dirty="0">
                <a:latin typeface="Calibri"/>
                <a:cs typeface="Calibri"/>
              </a:rPr>
              <a:t> </a:t>
            </a:r>
            <a:r>
              <a:rPr sz="1200" dirty="0">
                <a:latin typeface="Calibri"/>
                <a:cs typeface="Calibri"/>
              </a:rPr>
              <a:t>Shazeer,</a:t>
            </a:r>
            <a:r>
              <a:rPr sz="1200" spc="-20" dirty="0">
                <a:latin typeface="Calibri"/>
                <a:cs typeface="Calibri"/>
              </a:rPr>
              <a:t> </a:t>
            </a:r>
            <a:r>
              <a:rPr sz="1200" dirty="0">
                <a:latin typeface="Calibri"/>
                <a:cs typeface="Calibri"/>
              </a:rPr>
              <a:t>N.,</a:t>
            </a:r>
            <a:r>
              <a:rPr sz="1200" spc="-25" dirty="0">
                <a:latin typeface="Calibri"/>
                <a:cs typeface="Calibri"/>
              </a:rPr>
              <a:t> </a:t>
            </a:r>
            <a:r>
              <a:rPr sz="1200" dirty="0">
                <a:latin typeface="Calibri"/>
                <a:cs typeface="Calibri"/>
              </a:rPr>
              <a:t>Roberts,</a:t>
            </a:r>
            <a:r>
              <a:rPr sz="1200" spc="-20" dirty="0">
                <a:latin typeface="Calibri"/>
                <a:cs typeface="Calibri"/>
              </a:rPr>
              <a:t> </a:t>
            </a:r>
            <a:r>
              <a:rPr sz="1200" dirty="0">
                <a:latin typeface="Calibri"/>
                <a:cs typeface="Calibri"/>
              </a:rPr>
              <a:t>A.,</a:t>
            </a:r>
            <a:r>
              <a:rPr sz="1200" spc="-25" dirty="0">
                <a:latin typeface="Calibri"/>
                <a:cs typeface="Calibri"/>
              </a:rPr>
              <a:t> </a:t>
            </a:r>
            <a:r>
              <a:rPr sz="1200" dirty="0">
                <a:latin typeface="Calibri"/>
                <a:cs typeface="Calibri"/>
              </a:rPr>
              <a:t>Lee,</a:t>
            </a:r>
            <a:r>
              <a:rPr sz="1200" spc="-20" dirty="0">
                <a:latin typeface="Calibri"/>
                <a:cs typeface="Calibri"/>
              </a:rPr>
              <a:t> </a:t>
            </a:r>
            <a:r>
              <a:rPr sz="1200" dirty="0">
                <a:latin typeface="Calibri"/>
                <a:cs typeface="Calibri"/>
              </a:rPr>
              <a:t>K.,</a:t>
            </a:r>
            <a:r>
              <a:rPr sz="1200" spc="-20" dirty="0">
                <a:latin typeface="Calibri"/>
                <a:cs typeface="Calibri"/>
              </a:rPr>
              <a:t> </a:t>
            </a:r>
            <a:r>
              <a:rPr sz="1200" dirty="0">
                <a:latin typeface="Calibri"/>
                <a:cs typeface="Calibri"/>
              </a:rPr>
              <a:t>Narang,</a:t>
            </a:r>
            <a:r>
              <a:rPr sz="1200" spc="-30" dirty="0">
                <a:latin typeface="Calibri"/>
                <a:cs typeface="Calibri"/>
              </a:rPr>
              <a:t> </a:t>
            </a:r>
            <a:r>
              <a:rPr sz="1200" dirty="0">
                <a:latin typeface="Calibri"/>
                <a:cs typeface="Calibri"/>
              </a:rPr>
              <a:t>S.,</a:t>
            </a:r>
            <a:r>
              <a:rPr sz="1200" spc="-25" dirty="0">
                <a:latin typeface="Calibri"/>
                <a:cs typeface="Calibri"/>
              </a:rPr>
              <a:t> </a:t>
            </a:r>
            <a:r>
              <a:rPr sz="1200" dirty="0">
                <a:latin typeface="Calibri"/>
                <a:cs typeface="Calibri"/>
              </a:rPr>
              <a:t>Matena,</a:t>
            </a:r>
            <a:r>
              <a:rPr sz="1200" spc="-20" dirty="0">
                <a:latin typeface="Calibri"/>
                <a:cs typeface="Calibri"/>
              </a:rPr>
              <a:t> </a:t>
            </a:r>
            <a:r>
              <a:rPr sz="1200" dirty="0">
                <a:latin typeface="Calibri"/>
                <a:cs typeface="Calibri"/>
              </a:rPr>
              <a:t>M.,</a:t>
            </a:r>
            <a:r>
              <a:rPr sz="1200" spc="-25" dirty="0">
                <a:latin typeface="Calibri"/>
                <a:cs typeface="Calibri"/>
              </a:rPr>
              <a:t> </a:t>
            </a:r>
            <a:r>
              <a:rPr sz="1200" dirty="0">
                <a:latin typeface="Calibri"/>
                <a:cs typeface="Calibri"/>
              </a:rPr>
              <a:t>...</a:t>
            </a:r>
            <a:r>
              <a:rPr sz="1200" spc="-35" dirty="0">
                <a:latin typeface="Calibri"/>
                <a:cs typeface="Calibri"/>
              </a:rPr>
              <a:t> </a:t>
            </a:r>
            <a:r>
              <a:rPr sz="1200" dirty="0">
                <a:latin typeface="Calibri"/>
                <a:cs typeface="Calibri"/>
              </a:rPr>
              <a:t>&amp;</a:t>
            </a:r>
            <a:r>
              <a:rPr sz="1200" spc="-30" dirty="0">
                <a:latin typeface="Calibri"/>
                <a:cs typeface="Calibri"/>
              </a:rPr>
              <a:t> </a:t>
            </a:r>
            <a:r>
              <a:rPr sz="1200" dirty="0">
                <a:latin typeface="Calibri"/>
                <a:cs typeface="Calibri"/>
              </a:rPr>
              <a:t>Liu,</a:t>
            </a:r>
            <a:r>
              <a:rPr sz="1200" spc="-5" dirty="0">
                <a:latin typeface="Calibri"/>
                <a:cs typeface="Calibri"/>
              </a:rPr>
              <a:t> </a:t>
            </a:r>
            <a:r>
              <a:rPr sz="1200" dirty="0">
                <a:latin typeface="Calibri"/>
                <a:cs typeface="Calibri"/>
              </a:rPr>
              <a:t>P.</a:t>
            </a:r>
            <a:r>
              <a:rPr sz="1200" spc="-30" dirty="0">
                <a:latin typeface="Calibri"/>
                <a:cs typeface="Calibri"/>
              </a:rPr>
              <a:t> </a:t>
            </a:r>
            <a:r>
              <a:rPr sz="1200" dirty="0">
                <a:latin typeface="Calibri"/>
                <a:cs typeface="Calibri"/>
              </a:rPr>
              <a:t>J.</a:t>
            </a:r>
            <a:r>
              <a:rPr sz="1200" spc="-25" dirty="0">
                <a:latin typeface="Calibri"/>
                <a:cs typeface="Calibri"/>
              </a:rPr>
              <a:t> </a:t>
            </a:r>
            <a:r>
              <a:rPr sz="1200" dirty="0">
                <a:latin typeface="Calibri"/>
                <a:cs typeface="Calibri"/>
              </a:rPr>
              <a:t>(2020).</a:t>
            </a:r>
            <a:r>
              <a:rPr sz="1200" spc="-10" dirty="0">
                <a:latin typeface="Calibri"/>
                <a:cs typeface="Calibri"/>
              </a:rPr>
              <a:t> </a:t>
            </a:r>
            <a:r>
              <a:rPr sz="1200" dirty="0">
                <a:latin typeface="Calibri"/>
                <a:cs typeface="Calibri"/>
              </a:rPr>
              <a:t>Exploring</a:t>
            </a:r>
            <a:r>
              <a:rPr sz="1200" spc="-10" dirty="0">
                <a:latin typeface="Calibri"/>
                <a:cs typeface="Calibri"/>
              </a:rPr>
              <a:t> </a:t>
            </a:r>
            <a:r>
              <a:rPr sz="1200" dirty="0">
                <a:latin typeface="Calibri"/>
                <a:cs typeface="Calibri"/>
              </a:rPr>
              <a:t>the</a:t>
            </a:r>
            <a:r>
              <a:rPr sz="1200" spc="-25" dirty="0">
                <a:latin typeface="Calibri"/>
                <a:cs typeface="Calibri"/>
              </a:rPr>
              <a:t> </a:t>
            </a:r>
            <a:r>
              <a:rPr sz="1200" dirty="0">
                <a:latin typeface="Calibri"/>
                <a:cs typeface="Calibri"/>
              </a:rPr>
              <a:t>limits</a:t>
            </a:r>
            <a:r>
              <a:rPr sz="1200" spc="-10" dirty="0">
                <a:latin typeface="Calibri"/>
                <a:cs typeface="Calibri"/>
              </a:rPr>
              <a:t> </a:t>
            </a:r>
            <a:r>
              <a:rPr sz="1200" dirty="0">
                <a:latin typeface="Calibri"/>
                <a:cs typeface="Calibri"/>
              </a:rPr>
              <a:t>of</a:t>
            </a:r>
            <a:r>
              <a:rPr sz="1200" spc="-30" dirty="0">
                <a:latin typeface="Calibri"/>
                <a:cs typeface="Calibri"/>
              </a:rPr>
              <a:t> </a:t>
            </a:r>
            <a:r>
              <a:rPr sz="1200" dirty="0">
                <a:latin typeface="Calibri"/>
                <a:cs typeface="Calibri"/>
              </a:rPr>
              <a:t>transfer</a:t>
            </a:r>
            <a:r>
              <a:rPr sz="1200" spc="-25" dirty="0">
                <a:latin typeface="Calibri"/>
                <a:cs typeface="Calibri"/>
              </a:rPr>
              <a:t> </a:t>
            </a:r>
            <a:r>
              <a:rPr sz="1200" spc="-10" dirty="0">
                <a:latin typeface="Calibri"/>
                <a:cs typeface="Calibri"/>
              </a:rPr>
              <a:t>learning </a:t>
            </a:r>
            <a:r>
              <a:rPr sz="1200" dirty="0">
                <a:latin typeface="Calibri"/>
                <a:cs typeface="Calibri"/>
              </a:rPr>
              <a:t>with</a:t>
            </a:r>
            <a:r>
              <a:rPr sz="1200" spc="-25" dirty="0">
                <a:latin typeface="Calibri"/>
                <a:cs typeface="Calibri"/>
              </a:rPr>
              <a:t> </a:t>
            </a:r>
            <a:r>
              <a:rPr sz="1200" dirty="0">
                <a:latin typeface="Calibri"/>
                <a:cs typeface="Calibri"/>
              </a:rPr>
              <a:t>a</a:t>
            </a:r>
            <a:r>
              <a:rPr sz="1200" spc="-40" dirty="0">
                <a:latin typeface="Calibri"/>
                <a:cs typeface="Calibri"/>
              </a:rPr>
              <a:t> </a:t>
            </a:r>
            <a:r>
              <a:rPr sz="1200" dirty="0">
                <a:latin typeface="Calibri"/>
                <a:cs typeface="Calibri"/>
              </a:rPr>
              <a:t>unified</a:t>
            </a:r>
            <a:r>
              <a:rPr sz="1200" spc="-5" dirty="0">
                <a:latin typeface="Calibri"/>
                <a:cs typeface="Calibri"/>
              </a:rPr>
              <a:t> </a:t>
            </a:r>
            <a:r>
              <a:rPr sz="1200" dirty="0">
                <a:latin typeface="Calibri"/>
                <a:cs typeface="Calibri"/>
              </a:rPr>
              <a:t>text-</a:t>
            </a:r>
            <a:r>
              <a:rPr sz="1200" spc="-10" dirty="0">
                <a:latin typeface="Calibri"/>
                <a:cs typeface="Calibri"/>
              </a:rPr>
              <a:t>to-</a:t>
            </a:r>
            <a:r>
              <a:rPr sz="1200" dirty="0">
                <a:latin typeface="Calibri"/>
                <a:cs typeface="Calibri"/>
              </a:rPr>
              <a:t>text</a:t>
            </a:r>
            <a:r>
              <a:rPr sz="1200" spc="-50" dirty="0">
                <a:latin typeface="Calibri"/>
                <a:cs typeface="Calibri"/>
              </a:rPr>
              <a:t> </a:t>
            </a:r>
            <a:r>
              <a:rPr sz="1200" dirty="0">
                <a:latin typeface="Calibri"/>
                <a:cs typeface="Calibri"/>
              </a:rPr>
              <a:t>transformer.</a:t>
            </a:r>
            <a:r>
              <a:rPr sz="1200" spc="-35" dirty="0">
                <a:latin typeface="Calibri"/>
                <a:cs typeface="Calibri"/>
              </a:rPr>
              <a:t> </a:t>
            </a:r>
            <a:r>
              <a:rPr sz="1200" spc="-10" dirty="0">
                <a:latin typeface="Calibri"/>
                <a:cs typeface="Calibri"/>
              </a:rPr>
              <a:t>JMLR.</a:t>
            </a:r>
            <a:endParaRPr sz="1200" dirty="0">
              <a:latin typeface="Calibri"/>
              <a:cs typeface="Calibri"/>
            </a:endParaRPr>
          </a:p>
        </p:txBody>
      </p:sp>
    </p:spTree>
    <p:extLst>
      <p:ext uri="{BB962C8B-B14F-4D97-AF65-F5344CB8AC3E}">
        <p14:creationId xmlns:p14="http://schemas.microsoft.com/office/powerpoint/2010/main" val="2250168320"/>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26104-EFF5-59A5-6476-78228B2520B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CE4F2B9-BD69-CAD9-0A91-74874FAF1891}"/>
              </a:ext>
            </a:extLst>
          </p:cNvPr>
          <p:cNvSpPr>
            <a:spLocks noGrp="1"/>
          </p:cNvSpPr>
          <p:nvPr>
            <p:ph type="body" sz="quarter" idx="1"/>
          </p:nvPr>
        </p:nvSpPr>
        <p:spPr/>
        <p:txBody>
          <a:bodyPr/>
          <a:lstStyle/>
          <a:p>
            <a:r>
              <a:rPr lang="en-US" dirty="0"/>
              <a:t>T5</a:t>
            </a:r>
            <a:r>
              <a:rPr lang="en-US" spc="-70" dirty="0"/>
              <a:t> </a:t>
            </a:r>
            <a:r>
              <a:rPr lang="en-US" spc="-20" dirty="0"/>
              <a:t>(Text-to-</a:t>
            </a:r>
            <a:r>
              <a:rPr lang="en-US" dirty="0"/>
              <a:t>Text</a:t>
            </a:r>
            <a:r>
              <a:rPr lang="en-US" spc="-45" dirty="0"/>
              <a:t> </a:t>
            </a:r>
            <a:r>
              <a:rPr lang="en-US" dirty="0"/>
              <a:t>Transfer</a:t>
            </a:r>
            <a:r>
              <a:rPr lang="en-US" spc="-60" dirty="0"/>
              <a:t> </a:t>
            </a:r>
            <a:r>
              <a:rPr lang="en-US" spc="-10" dirty="0"/>
              <a:t>Transformer)</a:t>
            </a:r>
            <a:endParaRPr lang="en-IN" dirty="0"/>
          </a:p>
        </p:txBody>
      </p:sp>
      <p:sp>
        <p:nvSpPr>
          <p:cNvPr id="3" name="Content Placeholder 1">
            <a:extLst>
              <a:ext uri="{FF2B5EF4-FFF2-40B4-BE49-F238E27FC236}">
                <a16:creationId xmlns:a16="http://schemas.microsoft.com/office/drawing/2014/main" id="{504259F5-8C0C-B904-AEEE-F1552DBFE3E8}"/>
              </a:ext>
            </a:extLst>
          </p:cNvPr>
          <p:cNvSpPr txBox="1">
            <a:spLocks/>
          </p:cNvSpPr>
          <p:nvPr/>
        </p:nvSpPr>
        <p:spPr>
          <a:xfrm>
            <a:off x="5004" y="1365115"/>
            <a:ext cx="12186995" cy="4525963"/>
          </a:xfrm>
          <a:prstGeom prst="rect">
            <a:avLst/>
          </a:prstGeom>
        </p:spPr>
        <p:txBody>
          <a:bodyPr>
            <a:normAutofit/>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54965" marR="503555" indent="-342900">
              <a:lnSpc>
                <a:spcPct val="114999"/>
              </a:lnSpc>
              <a:spcBef>
                <a:spcPts val="95"/>
              </a:spcBef>
              <a:buFont typeface="Arial" panose="020B0604020202020204" pitchFamily="34" charset="0"/>
              <a:buChar char="•"/>
              <a:tabLst>
                <a:tab pos="393065" algn="l"/>
              </a:tabLst>
            </a:pPr>
            <a:r>
              <a:rPr lang="en-IN" sz="2000" kern="0" spc="-25">
                <a:solidFill>
                  <a:sysClr val="windowText" lastClr="000000"/>
                </a:solidFill>
                <a:cs typeface="Arial MT"/>
              </a:rPr>
              <a:t>Pre-</a:t>
            </a:r>
            <a:r>
              <a:rPr lang="en-IN" sz="2000" kern="0">
                <a:solidFill>
                  <a:sysClr val="windowText" lastClr="000000"/>
                </a:solidFill>
                <a:cs typeface="Arial MT"/>
              </a:rPr>
              <a:t>train</a:t>
            </a:r>
            <a:r>
              <a:rPr lang="en-IN" sz="2000" kern="0" spc="-50">
                <a:solidFill>
                  <a:sysClr val="windowText" lastClr="000000"/>
                </a:solidFill>
                <a:cs typeface="Arial MT"/>
              </a:rPr>
              <a:t> </a:t>
            </a:r>
            <a:r>
              <a:rPr lang="en-IN" sz="2000" kern="0">
                <a:solidFill>
                  <a:sysClr val="windowText" lastClr="000000"/>
                </a:solidFill>
                <a:cs typeface="Arial MT"/>
              </a:rPr>
              <a:t>a</a:t>
            </a:r>
            <a:r>
              <a:rPr lang="en-IN" sz="2000" kern="0" spc="-55">
                <a:solidFill>
                  <a:sysClr val="windowText" lastClr="000000"/>
                </a:solidFill>
                <a:cs typeface="Arial MT"/>
              </a:rPr>
              <a:t> </a:t>
            </a:r>
            <a:r>
              <a:rPr lang="en-IN" sz="2000" kern="0">
                <a:solidFill>
                  <a:sysClr val="windowText" lastClr="000000"/>
                </a:solidFill>
                <a:cs typeface="Arial MT"/>
              </a:rPr>
              <a:t>Transformer</a:t>
            </a:r>
            <a:r>
              <a:rPr lang="en-IN" sz="2000" kern="0" spc="-40">
                <a:solidFill>
                  <a:sysClr val="windowText" lastClr="000000"/>
                </a:solidFill>
                <a:cs typeface="Arial MT"/>
              </a:rPr>
              <a:t> </a:t>
            </a:r>
            <a:r>
              <a:rPr lang="en-IN" sz="2000" kern="0" spc="-25">
                <a:solidFill>
                  <a:sysClr val="windowText" lastClr="000000"/>
                </a:solidFill>
                <a:cs typeface="Arial MT"/>
              </a:rPr>
              <a:t>Encoder-</a:t>
            </a:r>
            <a:r>
              <a:rPr lang="en-IN" sz="2000" kern="0">
                <a:solidFill>
                  <a:sysClr val="windowText" lastClr="000000"/>
                </a:solidFill>
                <a:cs typeface="Arial MT"/>
              </a:rPr>
              <a:t>Decoder</a:t>
            </a:r>
            <a:r>
              <a:rPr lang="en-IN" sz="2000" kern="0" spc="-30">
                <a:solidFill>
                  <a:sysClr val="windowText" lastClr="000000"/>
                </a:solidFill>
                <a:cs typeface="Arial MT"/>
              </a:rPr>
              <a:t> </a:t>
            </a:r>
            <a:r>
              <a:rPr lang="en-IN" sz="2000" kern="0">
                <a:solidFill>
                  <a:sysClr val="windowText" lastClr="000000"/>
                </a:solidFill>
                <a:cs typeface="Arial MT"/>
              </a:rPr>
              <a:t>model</a:t>
            </a:r>
            <a:r>
              <a:rPr lang="en-IN" sz="2000" kern="0" spc="-45">
                <a:solidFill>
                  <a:sysClr val="windowText" lastClr="000000"/>
                </a:solidFill>
                <a:cs typeface="Arial MT"/>
              </a:rPr>
              <a:t> </a:t>
            </a:r>
            <a:r>
              <a:rPr lang="en-IN" sz="2000" kern="0">
                <a:solidFill>
                  <a:sysClr val="windowText" lastClr="000000"/>
                </a:solidFill>
                <a:cs typeface="Arial MT"/>
              </a:rPr>
              <a:t>on</a:t>
            </a:r>
            <a:r>
              <a:rPr lang="en-IN" sz="2000" kern="0" spc="-55">
                <a:solidFill>
                  <a:sysClr val="windowText" lastClr="000000"/>
                </a:solidFill>
                <a:cs typeface="Arial MT"/>
              </a:rPr>
              <a:t> </a:t>
            </a:r>
            <a:r>
              <a:rPr lang="en-IN" sz="2000" kern="0" spc="-50">
                <a:solidFill>
                  <a:sysClr val="windowText" lastClr="000000"/>
                </a:solidFill>
                <a:cs typeface="Arial MT"/>
              </a:rPr>
              <a:t>a </a:t>
            </a:r>
            <a:r>
              <a:rPr lang="en-IN" sz="2000" kern="0">
                <a:solidFill>
                  <a:sysClr val="windowText" lastClr="000000"/>
                </a:solidFill>
                <a:cs typeface="Arial MT"/>
              </a:rPr>
              <a:t>large</a:t>
            </a:r>
            <a:r>
              <a:rPr lang="en-IN" sz="2000" kern="0" spc="-80">
                <a:solidFill>
                  <a:sysClr val="windowText" lastClr="000000"/>
                </a:solidFill>
                <a:cs typeface="Arial MT"/>
              </a:rPr>
              <a:t> </a:t>
            </a:r>
            <a:r>
              <a:rPr lang="en-IN" sz="2000" kern="0">
                <a:solidFill>
                  <a:sysClr val="windowText" lastClr="000000"/>
                </a:solidFill>
                <a:cs typeface="Arial MT"/>
              </a:rPr>
              <a:t>unlabeled</a:t>
            </a:r>
            <a:r>
              <a:rPr lang="en-IN" sz="2000" kern="0" spc="-75">
                <a:solidFill>
                  <a:sysClr val="windowText" lastClr="000000"/>
                </a:solidFill>
                <a:cs typeface="Arial MT"/>
              </a:rPr>
              <a:t> </a:t>
            </a:r>
            <a:r>
              <a:rPr lang="en-IN" sz="2000" kern="0">
                <a:solidFill>
                  <a:sysClr val="windowText" lastClr="000000"/>
                </a:solidFill>
                <a:cs typeface="Arial MT"/>
              </a:rPr>
              <a:t>web</a:t>
            </a:r>
            <a:r>
              <a:rPr lang="en-IN" sz="2000" kern="0" spc="-90">
                <a:solidFill>
                  <a:sysClr val="windowText" lastClr="000000"/>
                </a:solidFill>
                <a:cs typeface="Arial MT"/>
              </a:rPr>
              <a:t> </a:t>
            </a:r>
            <a:r>
              <a:rPr lang="en-IN" sz="2000" kern="0">
                <a:solidFill>
                  <a:sysClr val="windowText" lastClr="000000"/>
                </a:solidFill>
                <a:cs typeface="Arial MT"/>
              </a:rPr>
              <a:t>crawl</a:t>
            </a:r>
            <a:r>
              <a:rPr lang="en-IN" sz="2000" kern="0" spc="-85">
                <a:solidFill>
                  <a:sysClr val="windowText" lastClr="000000"/>
                </a:solidFill>
                <a:cs typeface="Arial MT"/>
              </a:rPr>
              <a:t> </a:t>
            </a:r>
            <a:r>
              <a:rPr lang="en-IN" sz="2000" kern="0" spc="-20">
                <a:solidFill>
                  <a:sysClr val="windowText" lastClr="000000"/>
                </a:solidFill>
                <a:cs typeface="Arial MT"/>
              </a:rPr>
              <a:t>text</a:t>
            </a:r>
            <a:endParaRPr lang="en-IN" sz="2000" kern="0">
              <a:solidFill>
                <a:sysClr val="windowText" lastClr="000000"/>
              </a:solidFill>
              <a:cs typeface="Arial MT"/>
            </a:endParaRPr>
          </a:p>
          <a:p>
            <a:pPr marL="354965" marR="503555" indent="-342900">
              <a:lnSpc>
                <a:spcPct val="114999"/>
              </a:lnSpc>
              <a:spcBef>
                <a:spcPts val="95"/>
              </a:spcBef>
              <a:buFont typeface="Arial" panose="020B0604020202020204" pitchFamily="34" charset="0"/>
              <a:buChar char="•"/>
              <a:tabLst>
                <a:tab pos="393065" algn="l"/>
              </a:tabLst>
            </a:pPr>
            <a:r>
              <a:rPr lang="en-US" sz="2000" kern="0" spc="-25">
                <a:solidFill>
                  <a:sysClr val="windowText" lastClr="000000"/>
                </a:solidFill>
                <a:cs typeface="Arial MT"/>
              </a:rPr>
              <a:t>T5 treats every NLP problem as a text-to-text problem. </a:t>
            </a:r>
          </a:p>
          <a:p>
            <a:pPr marL="342900" indent="-342900">
              <a:buFont typeface="Arial" panose="020B0604020202020204" pitchFamily="34" charset="0"/>
              <a:buChar char="•"/>
            </a:pPr>
            <a:r>
              <a:rPr lang="en-US" sz="2000" kern="0" spc="-25">
                <a:solidFill>
                  <a:sysClr val="windowText" lastClr="000000"/>
                </a:solidFill>
                <a:cs typeface="Arial MT"/>
              </a:rPr>
              <a:t>Same model, objective, training procedure, and decoding process to every downstream task</a:t>
            </a:r>
          </a:p>
          <a:p>
            <a:pPr marL="342900" indent="-342900">
              <a:buFont typeface="Arial" panose="020B0604020202020204" pitchFamily="34" charset="0"/>
              <a:buChar char="•"/>
            </a:pPr>
            <a:r>
              <a:rPr lang="en-US" sz="2000" kern="0">
                <a:solidFill>
                  <a:sysClr val="windowText" lastClr="000000"/>
                </a:solidFill>
              </a:rPr>
              <a:t>Baseline size: two stacks of size BERTBASE</a:t>
            </a:r>
          </a:p>
          <a:p>
            <a:pPr marL="342900" indent="-342900">
              <a:buFont typeface="Arial" panose="020B0604020202020204" pitchFamily="34" charset="0"/>
              <a:buChar char="•"/>
            </a:pPr>
            <a:endParaRPr lang="en-US" sz="2000" kern="0" spc="-25">
              <a:solidFill>
                <a:sysClr val="windowText" lastClr="000000"/>
              </a:solidFill>
              <a:cs typeface="Arial MT"/>
            </a:endParaRPr>
          </a:p>
          <a:p>
            <a:endParaRPr lang="en-IN" sz="2000" kern="0" dirty="0">
              <a:solidFill>
                <a:sysClr val="windowText" lastClr="000000"/>
              </a:solidFill>
            </a:endParaRPr>
          </a:p>
        </p:txBody>
      </p:sp>
      <p:pic>
        <p:nvPicPr>
          <p:cNvPr id="4" name="object 3">
            <a:extLst>
              <a:ext uri="{FF2B5EF4-FFF2-40B4-BE49-F238E27FC236}">
                <a16:creationId xmlns:a16="http://schemas.microsoft.com/office/drawing/2014/main" id="{9AE9D96B-1EF3-AB57-0DBF-B1298D529D4C}"/>
              </a:ext>
            </a:extLst>
          </p:cNvPr>
          <p:cNvPicPr/>
          <p:nvPr/>
        </p:nvPicPr>
        <p:blipFill>
          <a:blip r:embed="rId2" cstate="print"/>
          <a:stretch>
            <a:fillRect/>
          </a:stretch>
        </p:blipFill>
        <p:spPr>
          <a:xfrm>
            <a:off x="6012872" y="2812473"/>
            <a:ext cx="5856046" cy="3338944"/>
          </a:xfrm>
          <a:prstGeom prst="rect">
            <a:avLst/>
          </a:prstGeom>
        </p:spPr>
      </p:pic>
      <p:sp>
        <p:nvSpPr>
          <p:cNvPr id="5" name="object 4">
            <a:extLst>
              <a:ext uri="{FF2B5EF4-FFF2-40B4-BE49-F238E27FC236}">
                <a16:creationId xmlns:a16="http://schemas.microsoft.com/office/drawing/2014/main" id="{3060B603-11A9-3907-73D9-284DB4D9C0D4}"/>
              </a:ext>
            </a:extLst>
          </p:cNvPr>
          <p:cNvSpPr txBox="1"/>
          <p:nvPr/>
        </p:nvSpPr>
        <p:spPr>
          <a:xfrm>
            <a:off x="5004" y="6151417"/>
            <a:ext cx="11784330" cy="228909"/>
          </a:xfrm>
          <a:prstGeom prst="rect">
            <a:avLst/>
          </a:prstGeom>
        </p:spPr>
        <p:txBody>
          <a:bodyPr vert="horz" wrap="square" lIns="0" tIns="12700" rIns="0" bIns="0" rtlCol="0">
            <a:spAutoFit/>
          </a:bodyPr>
          <a:lstStyle/>
          <a:p>
            <a:pPr marL="12700" marR="5080">
              <a:lnSpc>
                <a:spcPct val="117200"/>
              </a:lnSpc>
              <a:spcBef>
                <a:spcPts val="100"/>
              </a:spcBef>
            </a:pPr>
            <a:r>
              <a:rPr sz="1200" dirty="0">
                <a:latin typeface="Calibri"/>
                <a:cs typeface="Calibri"/>
              </a:rPr>
              <a:t>Raffel,</a:t>
            </a:r>
            <a:r>
              <a:rPr sz="1200" spc="-25" dirty="0">
                <a:latin typeface="Calibri"/>
                <a:cs typeface="Calibri"/>
              </a:rPr>
              <a:t> </a:t>
            </a:r>
            <a:r>
              <a:rPr sz="1200" dirty="0">
                <a:latin typeface="Calibri"/>
                <a:cs typeface="Calibri"/>
              </a:rPr>
              <a:t>C.,</a:t>
            </a:r>
            <a:r>
              <a:rPr sz="1200" spc="-15" dirty="0">
                <a:latin typeface="Calibri"/>
                <a:cs typeface="Calibri"/>
              </a:rPr>
              <a:t> </a:t>
            </a:r>
            <a:r>
              <a:rPr sz="1200" dirty="0">
                <a:latin typeface="Calibri"/>
                <a:cs typeface="Calibri"/>
              </a:rPr>
              <a:t>Shazeer,</a:t>
            </a:r>
            <a:r>
              <a:rPr sz="1200" spc="-20" dirty="0">
                <a:latin typeface="Calibri"/>
                <a:cs typeface="Calibri"/>
              </a:rPr>
              <a:t> </a:t>
            </a:r>
            <a:r>
              <a:rPr sz="1200" dirty="0">
                <a:latin typeface="Calibri"/>
                <a:cs typeface="Calibri"/>
              </a:rPr>
              <a:t>N.,</a:t>
            </a:r>
            <a:r>
              <a:rPr sz="1200" spc="-25" dirty="0">
                <a:latin typeface="Calibri"/>
                <a:cs typeface="Calibri"/>
              </a:rPr>
              <a:t> </a:t>
            </a:r>
            <a:r>
              <a:rPr sz="1200" dirty="0">
                <a:latin typeface="Calibri"/>
                <a:cs typeface="Calibri"/>
              </a:rPr>
              <a:t>Roberts,</a:t>
            </a:r>
            <a:r>
              <a:rPr sz="1200" spc="-20" dirty="0">
                <a:latin typeface="Calibri"/>
                <a:cs typeface="Calibri"/>
              </a:rPr>
              <a:t> </a:t>
            </a:r>
            <a:r>
              <a:rPr sz="1200" dirty="0">
                <a:latin typeface="Calibri"/>
                <a:cs typeface="Calibri"/>
              </a:rPr>
              <a:t>A.,</a:t>
            </a:r>
            <a:r>
              <a:rPr sz="1200" spc="-25" dirty="0">
                <a:latin typeface="Calibri"/>
                <a:cs typeface="Calibri"/>
              </a:rPr>
              <a:t> </a:t>
            </a:r>
            <a:r>
              <a:rPr sz="1200" dirty="0">
                <a:latin typeface="Calibri"/>
                <a:cs typeface="Calibri"/>
              </a:rPr>
              <a:t>Lee,</a:t>
            </a:r>
            <a:r>
              <a:rPr sz="1200" spc="-20" dirty="0">
                <a:latin typeface="Calibri"/>
                <a:cs typeface="Calibri"/>
              </a:rPr>
              <a:t> </a:t>
            </a:r>
            <a:r>
              <a:rPr sz="1200" dirty="0">
                <a:latin typeface="Calibri"/>
                <a:cs typeface="Calibri"/>
              </a:rPr>
              <a:t>K.,</a:t>
            </a:r>
            <a:r>
              <a:rPr sz="1200" spc="-20" dirty="0">
                <a:latin typeface="Calibri"/>
                <a:cs typeface="Calibri"/>
              </a:rPr>
              <a:t> </a:t>
            </a:r>
            <a:r>
              <a:rPr sz="1200" dirty="0">
                <a:latin typeface="Calibri"/>
                <a:cs typeface="Calibri"/>
              </a:rPr>
              <a:t>Narang,</a:t>
            </a:r>
            <a:r>
              <a:rPr sz="1200" spc="-30" dirty="0">
                <a:latin typeface="Calibri"/>
                <a:cs typeface="Calibri"/>
              </a:rPr>
              <a:t> </a:t>
            </a:r>
            <a:r>
              <a:rPr sz="1200" dirty="0">
                <a:latin typeface="Calibri"/>
                <a:cs typeface="Calibri"/>
              </a:rPr>
              <a:t>S.,</a:t>
            </a:r>
            <a:r>
              <a:rPr sz="1200" spc="-25" dirty="0">
                <a:latin typeface="Calibri"/>
                <a:cs typeface="Calibri"/>
              </a:rPr>
              <a:t> </a:t>
            </a:r>
            <a:r>
              <a:rPr sz="1200" dirty="0">
                <a:latin typeface="Calibri"/>
                <a:cs typeface="Calibri"/>
              </a:rPr>
              <a:t>Matena,</a:t>
            </a:r>
            <a:r>
              <a:rPr sz="1200" spc="-20" dirty="0">
                <a:latin typeface="Calibri"/>
                <a:cs typeface="Calibri"/>
              </a:rPr>
              <a:t> </a:t>
            </a:r>
            <a:r>
              <a:rPr sz="1200" dirty="0">
                <a:latin typeface="Calibri"/>
                <a:cs typeface="Calibri"/>
              </a:rPr>
              <a:t>M.,</a:t>
            </a:r>
            <a:r>
              <a:rPr sz="1200" spc="-25" dirty="0">
                <a:latin typeface="Calibri"/>
                <a:cs typeface="Calibri"/>
              </a:rPr>
              <a:t> </a:t>
            </a:r>
            <a:r>
              <a:rPr sz="1200" dirty="0">
                <a:latin typeface="Calibri"/>
                <a:cs typeface="Calibri"/>
              </a:rPr>
              <a:t>...</a:t>
            </a:r>
            <a:r>
              <a:rPr sz="1200" spc="-35" dirty="0">
                <a:latin typeface="Calibri"/>
                <a:cs typeface="Calibri"/>
              </a:rPr>
              <a:t> </a:t>
            </a:r>
            <a:r>
              <a:rPr sz="1200" dirty="0">
                <a:latin typeface="Calibri"/>
                <a:cs typeface="Calibri"/>
              </a:rPr>
              <a:t>&amp;</a:t>
            </a:r>
            <a:r>
              <a:rPr sz="1200" spc="-30" dirty="0">
                <a:latin typeface="Calibri"/>
                <a:cs typeface="Calibri"/>
              </a:rPr>
              <a:t> </a:t>
            </a:r>
            <a:r>
              <a:rPr sz="1200" dirty="0">
                <a:latin typeface="Calibri"/>
                <a:cs typeface="Calibri"/>
              </a:rPr>
              <a:t>Liu,</a:t>
            </a:r>
            <a:r>
              <a:rPr sz="1200" spc="-5" dirty="0">
                <a:latin typeface="Calibri"/>
                <a:cs typeface="Calibri"/>
              </a:rPr>
              <a:t> </a:t>
            </a:r>
            <a:r>
              <a:rPr sz="1200" dirty="0">
                <a:latin typeface="Calibri"/>
                <a:cs typeface="Calibri"/>
              </a:rPr>
              <a:t>P.</a:t>
            </a:r>
            <a:r>
              <a:rPr sz="1200" spc="-30" dirty="0">
                <a:latin typeface="Calibri"/>
                <a:cs typeface="Calibri"/>
              </a:rPr>
              <a:t> </a:t>
            </a:r>
            <a:r>
              <a:rPr sz="1200" dirty="0">
                <a:latin typeface="Calibri"/>
                <a:cs typeface="Calibri"/>
              </a:rPr>
              <a:t>J.</a:t>
            </a:r>
            <a:r>
              <a:rPr sz="1200" spc="-25" dirty="0">
                <a:latin typeface="Calibri"/>
                <a:cs typeface="Calibri"/>
              </a:rPr>
              <a:t> </a:t>
            </a:r>
            <a:r>
              <a:rPr sz="1200" dirty="0">
                <a:latin typeface="Calibri"/>
                <a:cs typeface="Calibri"/>
              </a:rPr>
              <a:t>(2020).</a:t>
            </a:r>
            <a:r>
              <a:rPr sz="1200" spc="-10" dirty="0">
                <a:latin typeface="Calibri"/>
                <a:cs typeface="Calibri"/>
              </a:rPr>
              <a:t> </a:t>
            </a:r>
            <a:r>
              <a:rPr sz="1200" dirty="0">
                <a:latin typeface="Calibri"/>
                <a:cs typeface="Calibri"/>
              </a:rPr>
              <a:t>Exploring</a:t>
            </a:r>
            <a:r>
              <a:rPr sz="1200" spc="-10" dirty="0">
                <a:latin typeface="Calibri"/>
                <a:cs typeface="Calibri"/>
              </a:rPr>
              <a:t> </a:t>
            </a:r>
            <a:r>
              <a:rPr sz="1200" dirty="0">
                <a:latin typeface="Calibri"/>
                <a:cs typeface="Calibri"/>
              </a:rPr>
              <a:t>the</a:t>
            </a:r>
            <a:r>
              <a:rPr sz="1200" spc="-25" dirty="0">
                <a:latin typeface="Calibri"/>
                <a:cs typeface="Calibri"/>
              </a:rPr>
              <a:t> </a:t>
            </a:r>
            <a:r>
              <a:rPr sz="1200" dirty="0">
                <a:latin typeface="Calibri"/>
                <a:cs typeface="Calibri"/>
              </a:rPr>
              <a:t>limits</a:t>
            </a:r>
            <a:r>
              <a:rPr sz="1200" spc="-10" dirty="0">
                <a:latin typeface="Calibri"/>
                <a:cs typeface="Calibri"/>
              </a:rPr>
              <a:t> </a:t>
            </a:r>
            <a:r>
              <a:rPr sz="1200" dirty="0">
                <a:latin typeface="Calibri"/>
                <a:cs typeface="Calibri"/>
              </a:rPr>
              <a:t>of</a:t>
            </a:r>
            <a:r>
              <a:rPr sz="1200" spc="-30" dirty="0">
                <a:latin typeface="Calibri"/>
                <a:cs typeface="Calibri"/>
              </a:rPr>
              <a:t> </a:t>
            </a:r>
            <a:r>
              <a:rPr sz="1200" dirty="0">
                <a:latin typeface="Calibri"/>
                <a:cs typeface="Calibri"/>
              </a:rPr>
              <a:t>transfer</a:t>
            </a:r>
            <a:r>
              <a:rPr sz="1200" spc="-25" dirty="0">
                <a:latin typeface="Calibri"/>
                <a:cs typeface="Calibri"/>
              </a:rPr>
              <a:t> </a:t>
            </a:r>
            <a:r>
              <a:rPr sz="1200" spc="-10" dirty="0">
                <a:latin typeface="Calibri"/>
                <a:cs typeface="Calibri"/>
              </a:rPr>
              <a:t>learning </a:t>
            </a:r>
            <a:r>
              <a:rPr sz="1200" dirty="0">
                <a:latin typeface="Calibri"/>
                <a:cs typeface="Calibri"/>
              </a:rPr>
              <a:t>with</a:t>
            </a:r>
            <a:r>
              <a:rPr sz="1200" spc="-25" dirty="0">
                <a:latin typeface="Calibri"/>
                <a:cs typeface="Calibri"/>
              </a:rPr>
              <a:t> </a:t>
            </a:r>
            <a:r>
              <a:rPr sz="1200" dirty="0">
                <a:latin typeface="Calibri"/>
                <a:cs typeface="Calibri"/>
              </a:rPr>
              <a:t>a</a:t>
            </a:r>
            <a:r>
              <a:rPr sz="1200" spc="-40" dirty="0">
                <a:latin typeface="Calibri"/>
                <a:cs typeface="Calibri"/>
              </a:rPr>
              <a:t> </a:t>
            </a:r>
            <a:r>
              <a:rPr sz="1200" dirty="0">
                <a:latin typeface="Calibri"/>
                <a:cs typeface="Calibri"/>
              </a:rPr>
              <a:t>unified</a:t>
            </a:r>
            <a:r>
              <a:rPr sz="1200" spc="-5" dirty="0">
                <a:latin typeface="Calibri"/>
                <a:cs typeface="Calibri"/>
              </a:rPr>
              <a:t> </a:t>
            </a:r>
            <a:r>
              <a:rPr sz="1200" dirty="0">
                <a:latin typeface="Calibri"/>
                <a:cs typeface="Calibri"/>
              </a:rPr>
              <a:t>text-</a:t>
            </a:r>
            <a:r>
              <a:rPr sz="1200" spc="-10" dirty="0">
                <a:latin typeface="Calibri"/>
                <a:cs typeface="Calibri"/>
              </a:rPr>
              <a:t>to-</a:t>
            </a:r>
            <a:r>
              <a:rPr sz="1200" dirty="0">
                <a:latin typeface="Calibri"/>
                <a:cs typeface="Calibri"/>
              </a:rPr>
              <a:t>text</a:t>
            </a:r>
            <a:r>
              <a:rPr sz="1200" spc="-50" dirty="0">
                <a:latin typeface="Calibri"/>
                <a:cs typeface="Calibri"/>
              </a:rPr>
              <a:t> </a:t>
            </a:r>
            <a:r>
              <a:rPr sz="1200" dirty="0">
                <a:latin typeface="Calibri"/>
                <a:cs typeface="Calibri"/>
              </a:rPr>
              <a:t>transformer.</a:t>
            </a:r>
            <a:r>
              <a:rPr sz="1200" spc="-35" dirty="0">
                <a:latin typeface="Calibri"/>
                <a:cs typeface="Calibri"/>
              </a:rPr>
              <a:t> </a:t>
            </a:r>
            <a:r>
              <a:rPr sz="1200" spc="-10" dirty="0">
                <a:latin typeface="Calibri"/>
                <a:cs typeface="Calibri"/>
              </a:rPr>
              <a:t>JMLR.</a:t>
            </a:r>
            <a:endParaRPr sz="1200" dirty="0">
              <a:latin typeface="Calibri"/>
              <a:cs typeface="Calibri"/>
            </a:endParaRPr>
          </a:p>
        </p:txBody>
      </p:sp>
    </p:spTree>
    <p:extLst>
      <p:ext uri="{BB962C8B-B14F-4D97-AF65-F5344CB8AC3E}">
        <p14:creationId xmlns:p14="http://schemas.microsoft.com/office/powerpoint/2010/main" val="3717934282"/>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T5 </a:t>
            </a:r>
            <a:r>
              <a:rPr lang="en-IN" spc="-10" dirty="0"/>
              <a:t>Attention – Prefix LM</a:t>
            </a:r>
            <a:endParaRPr lang="en-IN" dirty="0"/>
          </a:p>
        </p:txBody>
      </p:sp>
      <p:sp>
        <p:nvSpPr>
          <p:cNvPr id="3" name="object 3"/>
          <p:cNvSpPr txBox="1"/>
          <p:nvPr/>
        </p:nvSpPr>
        <p:spPr>
          <a:xfrm>
            <a:off x="152696" y="1357978"/>
            <a:ext cx="12150140" cy="2291653"/>
          </a:xfrm>
          <a:prstGeom prst="rect">
            <a:avLst/>
          </a:prstGeom>
        </p:spPr>
        <p:txBody>
          <a:bodyPr vert="horz" wrap="square" lIns="0" tIns="46990" rIns="0" bIns="0" rtlCol="0">
            <a:spAutoFit/>
          </a:bodyPr>
          <a:lstStyle/>
          <a:p>
            <a:pPr marL="240029" indent="-227329">
              <a:lnSpc>
                <a:spcPct val="100000"/>
              </a:lnSpc>
              <a:spcBef>
                <a:spcPts val="370"/>
              </a:spcBef>
              <a:buFont typeface="Arial MT"/>
              <a:buChar char="•"/>
              <a:tabLst>
                <a:tab pos="240029" algn="l"/>
              </a:tabLst>
            </a:pPr>
            <a:r>
              <a:rPr sz="2000" dirty="0">
                <a:latin typeface="Cambria" panose="02040503050406030204" pitchFamily="18" charset="0"/>
                <a:ea typeface="Cambria" panose="02040503050406030204" pitchFamily="18" charset="0"/>
                <a:cs typeface="Calibri"/>
              </a:rPr>
              <a:t>A</a:t>
            </a:r>
            <a:r>
              <a:rPr sz="2000" spc="-50" dirty="0">
                <a:latin typeface="Cambria" panose="02040503050406030204" pitchFamily="18" charset="0"/>
                <a:ea typeface="Cambria" panose="02040503050406030204" pitchFamily="18" charset="0"/>
                <a:cs typeface="Calibri"/>
              </a:rPr>
              <a:t> </a:t>
            </a:r>
            <a:r>
              <a:rPr sz="2000" spc="-10" dirty="0">
                <a:latin typeface="Cambria" panose="02040503050406030204" pitchFamily="18" charset="0"/>
                <a:ea typeface="Cambria" panose="02040503050406030204" pitchFamily="18" charset="0"/>
                <a:cs typeface="Calibri"/>
              </a:rPr>
              <a:t>“fully-</a:t>
            </a:r>
            <a:r>
              <a:rPr sz="2000" dirty="0">
                <a:latin typeface="Cambria" panose="02040503050406030204" pitchFamily="18" charset="0"/>
                <a:ea typeface="Cambria" panose="02040503050406030204" pitchFamily="18" charset="0"/>
                <a:cs typeface="Calibri"/>
              </a:rPr>
              <a:t>visible”</a:t>
            </a:r>
            <a:r>
              <a:rPr sz="2000" spc="-15"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attention</a:t>
            </a:r>
            <a:r>
              <a:rPr sz="2000" spc="-40"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mechanism</a:t>
            </a:r>
            <a:r>
              <a:rPr sz="2000" spc="-30"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is</a:t>
            </a:r>
            <a:r>
              <a:rPr sz="2000" spc="-65"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placed</a:t>
            </a:r>
            <a:r>
              <a:rPr sz="2000" spc="-40"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at</a:t>
            </a:r>
            <a:r>
              <a:rPr sz="2000" spc="-55"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the</a:t>
            </a:r>
            <a:r>
              <a:rPr sz="2000" spc="-50"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input</a:t>
            </a:r>
            <a:r>
              <a:rPr sz="2000" spc="-20" dirty="0">
                <a:latin typeface="Cambria" panose="02040503050406030204" pitchFamily="18" charset="0"/>
                <a:ea typeface="Cambria" panose="02040503050406030204" pitchFamily="18" charset="0"/>
                <a:cs typeface="Calibri"/>
              </a:rPr>
              <a:t> </a:t>
            </a:r>
            <a:r>
              <a:rPr sz="2000" spc="-10" dirty="0">
                <a:latin typeface="Cambria" panose="02040503050406030204" pitchFamily="18" charset="0"/>
                <a:ea typeface="Cambria" panose="02040503050406030204" pitchFamily="18" charset="0"/>
                <a:cs typeface="Calibri"/>
              </a:rPr>
              <a:t>sequence.</a:t>
            </a:r>
            <a:endParaRPr sz="2000" dirty="0">
              <a:latin typeface="Cambria" panose="02040503050406030204" pitchFamily="18" charset="0"/>
              <a:ea typeface="Cambria" panose="02040503050406030204" pitchFamily="18" charset="0"/>
              <a:cs typeface="Calibri"/>
            </a:endParaRPr>
          </a:p>
          <a:p>
            <a:pPr marL="697230" lvl="1" indent="-227329">
              <a:lnSpc>
                <a:spcPct val="100000"/>
              </a:lnSpc>
              <a:spcBef>
                <a:spcPts val="235"/>
              </a:spcBef>
              <a:buFont typeface="Arial MT"/>
              <a:buChar char="•"/>
              <a:tabLst>
                <a:tab pos="697230" algn="l"/>
              </a:tabLst>
            </a:pPr>
            <a:r>
              <a:rPr sz="2000" dirty="0">
                <a:latin typeface="Cambria" panose="02040503050406030204" pitchFamily="18" charset="0"/>
                <a:ea typeface="Cambria" panose="02040503050406030204" pitchFamily="18" charset="0"/>
                <a:cs typeface="Calibri"/>
              </a:rPr>
              <a:t>Input</a:t>
            </a:r>
            <a:r>
              <a:rPr sz="2000" spc="-10" dirty="0">
                <a:latin typeface="Cambria" panose="02040503050406030204" pitchFamily="18" charset="0"/>
                <a:ea typeface="Cambria" panose="02040503050406030204" pitchFamily="18" charset="0"/>
                <a:cs typeface="Calibri"/>
              </a:rPr>
              <a:t> Sequence:</a:t>
            </a:r>
            <a:r>
              <a:rPr lang="en-US" sz="2000" spc="-10" dirty="0">
                <a:latin typeface="Cambria" panose="02040503050406030204" pitchFamily="18" charset="0"/>
                <a:ea typeface="Cambria" panose="02040503050406030204" pitchFamily="18" charset="0"/>
                <a:cs typeface="Calibri"/>
              </a:rPr>
              <a:t> </a:t>
            </a:r>
            <a:r>
              <a:rPr sz="2000" b="1" dirty="0">
                <a:solidFill>
                  <a:srgbClr val="FF0000"/>
                </a:solidFill>
                <a:latin typeface="Cambria" panose="02040503050406030204" pitchFamily="18" charset="0"/>
                <a:ea typeface="Cambria" panose="02040503050406030204" pitchFamily="18" charset="0"/>
                <a:cs typeface="Calibri"/>
              </a:rPr>
              <a:t>translate</a:t>
            </a:r>
            <a:r>
              <a:rPr sz="2000" b="1" spc="-10" dirty="0">
                <a:solidFill>
                  <a:srgbClr val="FF0000"/>
                </a:solidFill>
                <a:latin typeface="Cambria" panose="02040503050406030204" pitchFamily="18" charset="0"/>
                <a:ea typeface="Cambria" panose="02040503050406030204" pitchFamily="18" charset="0"/>
                <a:cs typeface="Calibri"/>
              </a:rPr>
              <a:t> </a:t>
            </a:r>
            <a:r>
              <a:rPr sz="2000" b="1" dirty="0">
                <a:solidFill>
                  <a:srgbClr val="FF0000"/>
                </a:solidFill>
                <a:latin typeface="Cambria" panose="02040503050406030204" pitchFamily="18" charset="0"/>
                <a:ea typeface="Cambria" panose="02040503050406030204" pitchFamily="18" charset="0"/>
                <a:cs typeface="Calibri"/>
              </a:rPr>
              <a:t>English</a:t>
            </a:r>
            <a:r>
              <a:rPr sz="2000" b="1" spc="-55" dirty="0">
                <a:solidFill>
                  <a:srgbClr val="FF0000"/>
                </a:solidFill>
                <a:latin typeface="Cambria" panose="02040503050406030204" pitchFamily="18" charset="0"/>
                <a:ea typeface="Cambria" panose="02040503050406030204" pitchFamily="18" charset="0"/>
                <a:cs typeface="Calibri"/>
              </a:rPr>
              <a:t> </a:t>
            </a:r>
            <a:r>
              <a:rPr sz="2000" b="1" dirty="0">
                <a:solidFill>
                  <a:srgbClr val="FF0000"/>
                </a:solidFill>
                <a:latin typeface="Cambria" panose="02040503050406030204" pitchFamily="18" charset="0"/>
                <a:ea typeface="Cambria" panose="02040503050406030204" pitchFamily="18" charset="0"/>
                <a:cs typeface="Calibri"/>
              </a:rPr>
              <a:t>to</a:t>
            </a:r>
            <a:r>
              <a:rPr sz="2000" b="1" spc="-30" dirty="0">
                <a:solidFill>
                  <a:srgbClr val="FF0000"/>
                </a:solidFill>
                <a:latin typeface="Cambria" panose="02040503050406030204" pitchFamily="18" charset="0"/>
                <a:ea typeface="Cambria" panose="02040503050406030204" pitchFamily="18" charset="0"/>
                <a:cs typeface="Calibri"/>
              </a:rPr>
              <a:t> </a:t>
            </a:r>
            <a:r>
              <a:rPr sz="2000" b="1" dirty="0">
                <a:solidFill>
                  <a:srgbClr val="FF0000"/>
                </a:solidFill>
                <a:latin typeface="Cambria" panose="02040503050406030204" pitchFamily="18" charset="0"/>
                <a:ea typeface="Cambria" panose="02040503050406030204" pitchFamily="18" charset="0"/>
                <a:cs typeface="Calibri"/>
              </a:rPr>
              <a:t>German</a:t>
            </a:r>
            <a:r>
              <a:rPr sz="2000" b="1" spc="-30" dirty="0">
                <a:solidFill>
                  <a:srgbClr val="FF0000"/>
                </a:solidFill>
                <a:latin typeface="Cambria" panose="02040503050406030204" pitchFamily="18" charset="0"/>
                <a:ea typeface="Cambria" panose="02040503050406030204" pitchFamily="18" charset="0"/>
                <a:cs typeface="Calibri"/>
              </a:rPr>
              <a:t> </a:t>
            </a:r>
            <a:r>
              <a:rPr sz="2000" b="1" dirty="0">
                <a:solidFill>
                  <a:srgbClr val="FF0000"/>
                </a:solidFill>
                <a:latin typeface="Cambria" panose="02040503050406030204" pitchFamily="18" charset="0"/>
                <a:ea typeface="Cambria" panose="02040503050406030204" pitchFamily="18" charset="0"/>
                <a:cs typeface="Calibri"/>
              </a:rPr>
              <a:t>:</a:t>
            </a:r>
            <a:r>
              <a:rPr sz="2000" b="1" spc="-30" dirty="0">
                <a:solidFill>
                  <a:srgbClr val="FF0000"/>
                </a:solidFill>
                <a:latin typeface="Cambria" panose="02040503050406030204" pitchFamily="18" charset="0"/>
                <a:ea typeface="Cambria" panose="02040503050406030204" pitchFamily="18" charset="0"/>
                <a:cs typeface="Calibri"/>
              </a:rPr>
              <a:t> </a:t>
            </a:r>
            <a:r>
              <a:rPr sz="2000" b="1" dirty="0">
                <a:solidFill>
                  <a:srgbClr val="FF0000"/>
                </a:solidFill>
                <a:latin typeface="Cambria" panose="02040503050406030204" pitchFamily="18" charset="0"/>
                <a:ea typeface="Cambria" panose="02040503050406030204" pitchFamily="18" charset="0"/>
                <a:cs typeface="Calibri"/>
              </a:rPr>
              <a:t>That</a:t>
            </a:r>
            <a:r>
              <a:rPr sz="2000" b="1" spc="-25" dirty="0">
                <a:solidFill>
                  <a:srgbClr val="FF0000"/>
                </a:solidFill>
                <a:latin typeface="Cambria" panose="02040503050406030204" pitchFamily="18" charset="0"/>
                <a:ea typeface="Cambria" panose="02040503050406030204" pitchFamily="18" charset="0"/>
                <a:cs typeface="Calibri"/>
              </a:rPr>
              <a:t> </a:t>
            </a:r>
            <a:r>
              <a:rPr sz="2000" b="1" dirty="0">
                <a:solidFill>
                  <a:srgbClr val="FF0000"/>
                </a:solidFill>
                <a:latin typeface="Cambria" panose="02040503050406030204" pitchFamily="18" charset="0"/>
                <a:ea typeface="Cambria" panose="02040503050406030204" pitchFamily="18" charset="0"/>
                <a:cs typeface="Calibri"/>
              </a:rPr>
              <a:t>is</a:t>
            </a:r>
            <a:r>
              <a:rPr sz="2000" b="1" spc="-25" dirty="0">
                <a:solidFill>
                  <a:srgbClr val="FF0000"/>
                </a:solidFill>
                <a:latin typeface="Cambria" panose="02040503050406030204" pitchFamily="18" charset="0"/>
                <a:ea typeface="Cambria" panose="02040503050406030204" pitchFamily="18" charset="0"/>
                <a:cs typeface="Calibri"/>
              </a:rPr>
              <a:t> </a:t>
            </a:r>
            <a:r>
              <a:rPr sz="2000" b="1" dirty="0">
                <a:solidFill>
                  <a:srgbClr val="FF0000"/>
                </a:solidFill>
                <a:latin typeface="Cambria" panose="02040503050406030204" pitchFamily="18" charset="0"/>
                <a:ea typeface="Cambria" panose="02040503050406030204" pitchFamily="18" charset="0"/>
                <a:cs typeface="Calibri"/>
              </a:rPr>
              <a:t>good</a:t>
            </a:r>
            <a:r>
              <a:rPr sz="2000" b="1" spc="-60" dirty="0">
                <a:solidFill>
                  <a:srgbClr val="FF0000"/>
                </a:solidFill>
                <a:latin typeface="Cambria" panose="02040503050406030204" pitchFamily="18" charset="0"/>
                <a:ea typeface="Cambria" panose="02040503050406030204" pitchFamily="18" charset="0"/>
                <a:cs typeface="Calibri"/>
              </a:rPr>
              <a:t> </a:t>
            </a:r>
            <a:r>
              <a:rPr sz="2000" b="1" dirty="0">
                <a:solidFill>
                  <a:srgbClr val="FF0000"/>
                </a:solidFill>
                <a:latin typeface="Cambria" panose="02040503050406030204" pitchFamily="18" charset="0"/>
                <a:ea typeface="Cambria" panose="02040503050406030204" pitchFamily="18" charset="0"/>
                <a:cs typeface="Calibri"/>
              </a:rPr>
              <a:t>.</a:t>
            </a:r>
            <a:r>
              <a:rPr sz="2000" b="1" spc="-45" dirty="0">
                <a:solidFill>
                  <a:srgbClr val="FF0000"/>
                </a:solidFill>
                <a:latin typeface="Cambria" panose="02040503050406030204" pitchFamily="18" charset="0"/>
                <a:ea typeface="Cambria" panose="02040503050406030204" pitchFamily="18" charset="0"/>
                <a:cs typeface="Calibri"/>
              </a:rPr>
              <a:t> </a:t>
            </a:r>
            <a:r>
              <a:rPr sz="2000" b="1" dirty="0">
                <a:solidFill>
                  <a:srgbClr val="FF0000"/>
                </a:solidFill>
                <a:latin typeface="Cambria" panose="02040503050406030204" pitchFamily="18" charset="0"/>
                <a:ea typeface="Cambria" panose="02040503050406030204" pitchFamily="18" charset="0"/>
                <a:cs typeface="Calibri"/>
              </a:rPr>
              <a:t>target</a:t>
            </a:r>
            <a:r>
              <a:rPr sz="2000" b="1" spc="-35" dirty="0">
                <a:solidFill>
                  <a:srgbClr val="FF0000"/>
                </a:solidFill>
                <a:latin typeface="Cambria" panose="02040503050406030204" pitchFamily="18" charset="0"/>
                <a:ea typeface="Cambria" panose="02040503050406030204" pitchFamily="18" charset="0"/>
                <a:cs typeface="Calibri"/>
              </a:rPr>
              <a:t> </a:t>
            </a:r>
            <a:r>
              <a:rPr sz="2000" b="1" spc="-50" dirty="0">
                <a:solidFill>
                  <a:srgbClr val="FF0000"/>
                </a:solidFill>
                <a:latin typeface="Cambria" panose="02040503050406030204" pitchFamily="18" charset="0"/>
                <a:ea typeface="Cambria" panose="02040503050406030204" pitchFamily="18" charset="0"/>
                <a:cs typeface="Calibri"/>
              </a:rPr>
              <a:t>:</a:t>
            </a:r>
            <a:endParaRPr sz="2000" b="1" dirty="0">
              <a:solidFill>
                <a:srgbClr val="FF0000"/>
              </a:solidFill>
              <a:latin typeface="Cambria" panose="02040503050406030204" pitchFamily="18" charset="0"/>
              <a:ea typeface="Cambria" panose="02040503050406030204" pitchFamily="18" charset="0"/>
              <a:cs typeface="Calibri"/>
            </a:endParaRPr>
          </a:p>
          <a:p>
            <a:pPr marL="697230" lvl="1" indent="-227329">
              <a:lnSpc>
                <a:spcPct val="100000"/>
              </a:lnSpc>
              <a:spcBef>
                <a:spcPts val="175"/>
              </a:spcBef>
              <a:buFont typeface="Arial MT"/>
              <a:buChar char="•"/>
              <a:tabLst>
                <a:tab pos="697230" algn="l"/>
              </a:tabLst>
            </a:pPr>
            <a:r>
              <a:rPr sz="2000" dirty="0">
                <a:latin typeface="Cambria" panose="02040503050406030204" pitchFamily="18" charset="0"/>
                <a:ea typeface="Cambria" panose="02040503050406030204" pitchFamily="18" charset="0"/>
                <a:cs typeface="Calibri"/>
              </a:rPr>
              <a:t>Target</a:t>
            </a:r>
            <a:r>
              <a:rPr sz="2000" spc="-70" dirty="0">
                <a:latin typeface="Cambria" panose="02040503050406030204" pitchFamily="18" charset="0"/>
                <a:ea typeface="Cambria" panose="02040503050406030204" pitchFamily="18" charset="0"/>
                <a:cs typeface="Calibri"/>
              </a:rPr>
              <a:t> </a:t>
            </a:r>
            <a:r>
              <a:rPr sz="2000" spc="-10" dirty="0">
                <a:latin typeface="Cambria" panose="02040503050406030204" pitchFamily="18" charset="0"/>
                <a:ea typeface="Cambria" panose="02040503050406030204" pitchFamily="18" charset="0"/>
                <a:cs typeface="Calibri"/>
              </a:rPr>
              <a:t>Output:</a:t>
            </a:r>
            <a:r>
              <a:rPr lang="en-US" sz="2000" spc="-10" dirty="0">
                <a:latin typeface="Cambria" panose="02040503050406030204" pitchFamily="18" charset="0"/>
                <a:ea typeface="Cambria" panose="02040503050406030204" pitchFamily="18" charset="0"/>
                <a:cs typeface="Calibri"/>
              </a:rPr>
              <a:t> </a:t>
            </a:r>
            <a:r>
              <a:rPr sz="2000" b="1" dirty="0">
                <a:solidFill>
                  <a:srgbClr val="FF0000"/>
                </a:solidFill>
                <a:latin typeface="Cambria" panose="02040503050406030204" pitchFamily="18" charset="0"/>
                <a:ea typeface="Cambria" panose="02040503050406030204" pitchFamily="18" charset="0"/>
                <a:cs typeface="Calibri"/>
              </a:rPr>
              <a:t>Das</a:t>
            </a:r>
            <a:r>
              <a:rPr sz="2000" b="1" spc="-35" dirty="0">
                <a:solidFill>
                  <a:srgbClr val="FF0000"/>
                </a:solidFill>
                <a:latin typeface="Cambria" panose="02040503050406030204" pitchFamily="18" charset="0"/>
                <a:ea typeface="Cambria" panose="02040503050406030204" pitchFamily="18" charset="0"/>
                <a:cs typeface="Calibri"/>
              </a:rPr>
              <a:t> </a:t>
            </a:r>
            <a:r>
              <a:rPr sz="2000" b="1" dirty="0">
                <a:solidFill>
                  <a:srgbClr val="FF0000"/>
                </a:solidFill>
                <a:latin typeface="Cambria" panose="02040503050406030204" pitchFamily="18" charset="0"/>
                <a:ea typeface="Cambria" panose="02040503050406030204" pitchFamily="18" charset="0"/>
                <a:cs typeface="Calibri"/>
              </a:rPr>
              <a:t>ist gut</a:t>
            </a:r>
            <a:r>
              <a:rPr sz="2000" b="1" spc="-25" dirty="0">
                <a:solidFill>
                  <a:srgbClr val="FF0000"/>
                </a:solidFill>
                <a:latin typeface="Cambria" panose="02040503050406030204" pitchFamily="18" charset="0"/>
                <a:ea typeface="Cambria" panose="02040503050406030204" pitchFamily="18" charset="0"/>
                <a:cs typeface="Calibri"/>
              </a:rPr>
              <a:t> </a:t>
            </a:r>
            <a:r>
              <a:rPr sz="2000" b="1" spc="-50" dirty="0">
                <a:solidFill>
                  <a:srgbClr val="FF0000"/>
                </a:solidFill>
                <a:latin typeface="Cambria" panose="02040503050406030204" pitchFamily="18" charset="0"/>
                <a:ea typeface="Cambria" panose="02040503050406030204" pitchFamily="18" charset="0"/>
                <a:cs typeface="Calibri"/>
              </a:rPr>
              <a:t>.</a:t>
            </a:r>
            <a:endParaRPr lang="en-US" sz="2000" b="1" spc="-50" dirty="0">
              <a:solidFill>
                <a:srgbClr val="FF0000"/>
              </a:solidFill>
              <a:latin typeface="Cambria" panose="02040503050406030204" pitchFamily="18" charset="0"/>
              <a:ea typeface="Cambria" panose="02040503050406030204" pitchFamily="18" charset="0"/>
              <a:cs typeface="Calibri"/>
            </a:endParaRPr>
          </a:p>
          <a:p>
            <a:pPr marL="800100" lvl="1"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Fully-visible masking would be applied to the prefix “</a:t>
            </a:r>
            <a:r>
              <a:rPr lang="en-US" sz="2000" b="1" dirty="0">
                <a:solidFill>
                  <a:srgbClr val="FF0000"/>
                </a:solidFill>
                <a:latin typeface="Cambria" panose="02040503050406030204" pitchFamily="18" charset="0"/>
                <a:ea typeface="Cambria" panose="02040503050406030204" pitchFamily="18" charset="0"/>
              </a:rPr>
              <a:t>translate English to German: That is good. target:</a:t>
            </a:r>
            <a:r>
              <a:rPr lang="en-US" sz="2000" dirty="0">
                <a:latin typeface="Cambria" panose="02040503050406030204" pitchFamily="18" charset="0"/>
                <a:ea typeface="Cambria" panose="02040503050406030204" pitchFamily="18" charset="0"/>
              </a:rPr>
              <a:t>” </a:t>
            </a:r>
          </a:p>
          <a:p>
            <a:pPr marL="800100" lvl="1"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Causal masking during training for predicting the target “</a:t>
            </a:r>
            <a:r>
              <a:rPr lang="en-US" sz="2000" b="1" dirty="0">
                <a:solidFill>
                  <a:srgbClr val="FF0000"/>
                </a:solidFill>
                <a:latin typeface="Cambria" panose="02040503050406030204" pitchFamily="18" charset="0"/>
                <a:ea typeface="Cambria" panose="02040503050406030204" pitchFamily="18" charset="0"/>
              </a:rPr>
              <a:t>Das </a:t>
            </a:r>
            <a:r>
              <a:rPr lang="en-US" sz="2000" b="1" dirty="0" err="1">
                <a:solidFill>
                  <a:srgbClr val="FF0000"/>
                </a:solidFill>
                <a:latin typeface="Cambria" panose="02040503050406030204" pitchFamily="18" charset="0"/>
                <a:ea typeface="Cambria" panose="02040503050406030204" pitchFamily="18" charset="0"/>
              </a:rPr>
              <a:t>ist</a:t>
            </a:r>
            <a:r>
              <a:rPr lang="en-US" sz="2000" b="1" dirty="0">
                <a:solidFill>
                  <a:srgbClr val="FF0000"/>
                </a:solidFill>
                <a:latin typeface="Cambria" panose="02040503050406030204" pitchFamily="18" charset="0"/>
                <a:ea typeface="Cambria" panose="02040503050406030204" pitchFamily="18" charset="0"/>
              </a:rPr>
              <a:t> gut.</a:t>
            </a:r>
            <a:r>
              <a:rPr lang="en-US" sz="2000" dirty="0">
                <a:latin typeface="Cambria" panose="02040503050406030204" pitchFamily="18" charset="0"/>
                <a:ea typeface="Cambria" panose="02040503050406030204" pitchFamily="18" charset="0"/>
              </a:rPr>
              <a:t>” </a:t>
            </a:r>
            <a:endParaRPr lang="en-IN" sz="2000" dirty="0">
              <a:latin typeface="Cambria" panose="02040503050406030204" pitchFamily="18" charset="0"/>
              <a:ea typeface="Cambria" panose="02040503050406030204" pitchFamily="18" charset="0"/>
            </a:endParaRPr>
          </a:p>
          <a:p>
            <a:pPr marL="1155065" lvl="2" indent="-227965">
              <a:lnSpc>
                <a:spcPct val="100000"/>
              </a:lnSpc>
              <a:spcBef>
                <a:spcPts val="330"/>
              </a:spcBef>
              <a:buFont typeface="Arial MT"/>
              <a:buChar char="•"/>
              <a:tabLst>
                <a:tab pos="1155065" algn="l"/>
              </a:tabLst>
            </a:pPr>
            <a:endParaRPr sz="2000" dirty="0">
              <a:latin typeface="Cambria" panose="02040503050406030204" pitchFamily="18" charset="0"/>
              <a:ea typeface="Cambria" panose="02040503050406030204" pitchFamily="18" charset="0"/>
              <a:cs typeface="Calibri"/>
            </a:endParaRPr>
          </a:p>
        </p:txBody>
      </p:sp>
      <p:pic>
        <p:nvPicPr>
          <p:cNvPr id="4" name="object 4"/>
          <p:cNvPicPr/>
          <p:nvPr/>
        </p:nvPicPr>
        <p:blipFill>
          <a:blip r:embed="rId2" cstate="print"/>
          <a:stretch>
            <a:fillRect/>
          </a:stretch>
        </p:blipFill>
        <p:spPr>
          <a:xfrm>
            <a:off x="7437813" y="3837408"/>
            <a:ext cx="4436363" cy="2618232"/>
          </a:xfrm>
          <a:prstGeom prst="rect">
            <a:avLst/>
          </a:prstGeom>
        </p:spPr>
      </p:pic>
      <p:pic>
        <p:nvPicPr>
          <p:cNvPr id="5" name="object 5"/>
          <p:cNvPicPr/>
          <p:nvPr/>
        </p:nvPicPr>
        <p:blipFill>
          <a:blip r:embed="rId3" cstate="print"/>
          <a:stretch>
            <a:fillRect/>
          </a:stretch>
        </p:blipFill>
        <p:spPr>
          <a:xfrm>
            <a:off x="304801" y="3915155"/>
            <a:ext cx="6350508" cy="2324100"/>
          </a:xfrm>
          <a:prstGeom prst="rect">
            <a:avLst/>
          </a:prstGeom>
        </p:spPr>
      </p:pic>
    </p:spTree>
    <p:extLst>
      <p:ext uri="{BB962C8B-B14F-4D97-AF65-F5344CB8AC3E}">
        <p14:creationId xmlns:p14="http://schemas.microsoft.com/office/powerpoint/2010/main" val="1378224038"/>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5005" y="1618796"/>
            <a:ext cx="11480800" cy="4525963"/>
          </a:xfrm>
        </p:spPr>
        <p:txBody>
          <a:bodyPr>
            <a:normAutofit fontScale="92500"/>
          </a:bodyPr>
          <a:lstStyle/>
          <a:p>
            <a:pPr marL="342900" indent="-342900">
              <a:buFont typeface="Arial" panose="020B0604020202020204" pitchFamily="34" charset="0"/>
              <a:buChar char="•"/>
            </a:pPr>
            <a:r>
              <a:rPr lang="en-IN" dirty="0"/>
              <a:t>Proposed “Colossal Clean Crawled </a:t>
            </a:r>
            <a:r>
              <a:rPr lang="en-US" dirty="0"/>
              <a:t>Corpus” (C4) , 750 GB, the Common Crawl-based data set created as a source of unlabeled text </a:t>
            </a:r>
            <a:r>
              <a:rPr lang="en-IN" dirty="0"/>
              <a:t>data (available </a:t>
            </a:r>
            <a:r>
              <a:rPr lang="en-US" dirty="0"/>
              <a:t>as part of </a:t>
            </a:r>
            <a:r>
              <a:rPr lang="en-US" dirty="0" err="1"/>
              <a:t>TensorFlow</a:t>
            </a:r>
            <a:r>
              <a:rPr lang="en-US" dirty="0"/>
              <a:t> Datasets)</a:t>
            </a:r>
          </a:p>
          <a:p>
            <a:pPr marL="342900" indent="-342900">
              <a:buFont typeface="Arial" panose="020B0604020202020204" pitchFamily="34" charset="0"/>
              <a:buChar char="•"/>
            </a:pPr>
            <a:r>
              <a:rPr lang="en-US" dirty="0"/>
              <a:t>English language only (</a:t>
            </a:r>
            <a:r>
              <a:rPr lang="en-US" dirty="0" err="1"/>
              <a:t>langdetect</a:t>
            </a:r>
            <a:r>
              <a:rPr lang="en-US" dirty="0"/>
              <a:t>)</a:t>
            </a:r>
          </a:p>
          <a:p>
            <a:pPr marL="342900" indent="-342900">
              <a:buFont typeface="Arial" panose="020B0604020202020204" pitchFamily="34" charset="0"/>
              <a:buChar char="•"/>
            </a:pPr>
            <a:r>
              <a:rPr lang="en-US" dirty="0"/>
              <a:t>Roughly equivalent to the original Transformer proposed in</a:t>
            </a:r>
          </a:p>
          <a:p>
            <a:r>
              <a:rPr lang="en-US" dirty="0"/>
              <a:t>    “Attention Is All You Need” with the exception </a:t>
            </a:r>
          </a:p>
          <a:p>
            <a:pPr marL="800100" lvl="1" indent="-342900">
              <a:buFont typeface="Arial" panose="020B0604020202020204" pitchFamily="34" charset="0"/>
              <a:buChar char="•"/>
            </a:pPr>
            <a:r>
              <a:rPr lang="en-US" dirty="0"/>
              <a:t>removing the Layer Norm bias, </a:t>
            </a:r>
          </a:p>
          <a:p>
            <a:pPr marL="800100" lvl="1" indent="-342900">
              <a:buFont typeface="Arial" panose="020B0604020202020204" pitchFamily="34" charset="0"/>
              <a:buChar char="•"/>
            </a:pPr>
            <a:r>
              <a:rPr lang="en-US" dirty="0"/>
              <a:t> placing the layer normalization outside the residual path, </a:t>
            </a:r>
          </a:p>
          <a:p>
            <a:pPr marL="800100" lvl="1" indent="-342900">
              <a:buFont typeface="Arial" panose="020B0604020202020204" pitchFamily="34" charset="0"/>
              <a:buChar char="•"/>
            </a:pPr>
            <a:r>
              <a:rPr lang="en-US" dirty="0"/>
              <a:t>Learned  relative position </a:t>
            </a:r>
            <a:r>
              <a:rPr lang="en-US" dirty="0" err="1"/>
              <a:t>embeddings</a:t>
            </a:r>
            <a:r>
              <a:rPr lang="en-US" dirty="0"/>
              <a:t> according to the offset between the “key” and “query” being compared in the self-attention mechanism</a:t>
            </a:r>
          </a:p>
          <a:p>
            <a:pPr marL="342900" indent="-342900">
              <a:buFont typeface="Arial" panose="020B0604020202020204" pitchFamily="34" charset="0"/>
              <a:buChar char="•"/>
            </a:pPr>
            <a:r>
              <a:rPr lang="en-US" dirty="0"/>
              <a:t>Consistent training objective (maximum likelihood objective using “teacher forcing”)  both for pre-training and fine-tuning.</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Baseline size: two stacks of size BERTBASE</a:t>
            </a:r>
          </a:p>
          <a:p>
            <a:pPr marL="800100" lvl="1" indent="-342900">
              <a:buFont typeface="Arial" panose="020B0604020202020204" pitchFamily="34" charset="0"/>
              <a:buChar char="•"/>
            </a:pPr>
            <a:endParaRPr lang="en-IN" dirty="0"/>
          </a:p>
        </p:txBody>
      </p:sp>
      <p:sp>
        <p:nvSpPr>
          <p:cNvPr id="3" name="Title 2"/>
          <p:cNvSpPr>
            <a:spLocks noGrp="1"/>
          </p:cNvSpPr>
          <p:nvPr>
            <p:ph type="title"/>
          </p:nvPr>
        </p:nvSpPr>
        <p:spPr/>
        <p:txBody>
          <a:bodyPr/>
          <a:lstStyle/>
          <a:p>
            <a:r>
              <a:rPr lang="en-US"/>
              <a:t>T5</a:t>
            </a:r>
            <a:endParaRPr lang="en-IN"/>
          </a:p>
        </p:txBody>
      </p:sp>
    </p:spTree>
    <p:extLst>
      <p:ext uri="{BB962C8B-B14F-4D97-AF65-F5344CB8AC3E}">
        <p14:creationId xmlns:p14="http://schemas.microsoft.com/office/powerpoint/2010/main" val="28430248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304801" y="1503182"/>
            <a:ext cx="11480800" cy="4525963"/>
          </a:xfrm>
        </p:spPr>
        <p:txBody>
          <a:bodyPr>
            <a:normAutofit/>
          </a:bodyPr>
          <a:lstStyle/>
          <a:p>
            <a:pPr marL="342900" indent="-342900">
              <a:buFont typeface="Arial" panose="020B0604020202020204" pitchFamily="34" charset="0"/>
              <a:buChar char="•"/>
            </a:pPr>
            <a:r>
              <a:rPr lang="en-US" dirty="0"/>
              <a:t>To specify which task the model should perform, a task-specific (text) prefix is added to the original input sequence</a:t>
            </a:r>
          </a:p>
          <a:p>
            <a:pPr marL="342900" indent="-342900">
              <a:buFont typeface="Arial" panose="020B0604020202020204" pitchFamily="34" charset="0"/>
              <a:buChar char="•"/>
            </a:pPr>
            <a:r>
              <a:rPr lang="en-US" b="1" dirty="0"/>
              <a:t>Example task</a:t>
            </a:r>
            <a:r>
              <a:rPr lang="en-IN" b="1" dirty="0"/>
              <a:t> :English to German translation</a:t>
            </a:r>
          </a:p>
          <a:p>
            <a:pPr marL="342900" indent="-342900">
              <a:buFont typeface="Arial" panose="020B0604020202020204" pitchFamily="34" charset="0"/>
              <a:buChar char="•"/>
            </a:pPr>
            <a:r>
              <a:rPr lang="en-IN" dirty="0"/>
              <a:t> </a:t>
            </a:r>
            <a:r>
              <a:rPr lang="en-IN" b="1" dirty="0"/>
              <a:t>T</a:t>
            </a:r>
            <a:r>
              <a:rPr lang="en-US" b="1" dirty="0"/>
              <a:t>raining </a:t>
            </a:r>
            <a:r>
              <a:rPr lang="en-US" b="1" dirty="0" err="1"/>
              <a:t>datapoint</a:t>
            </a:r>
            <a:r>
              <a:rPr lang="en-US" b="1" dirty="0"/>
              <a:t> </a:t>
            </a:r>
            <a:r>
              <a:rPr lang="en-US" dirty="0"/>
              <a:t>:  </a:t>
            </a:r>
          </a:p>
          <a:p>
            <a:pPr lvl="1"/>
            <a:r>
              <a:rPr lang="en-US" dirty="0"/>
              <a:t>input - “That is good.” </a:t>
            </a:r>
          </a:p>
          <a:p>
            <a:pPr lvl="1"/>
            <a:r>
              <a:rPr lang="en-US" dirty="0"/>
              <a:t>target - “Das </a:t>
            </a:r>
            <a:r>
              <a:rPr lang="en-US" dirty="0" err="1"/>
              <a:t>ist</a:t>
            </a:r>
            <a:r>
              <a:rPr lang="en-US" dirty="0"/>
              <a:t> gut.”</a:t>
            </a:r>
          </a:p>
          <a:p>
            <a:pPr marL="342900" indent="-342900">
              <a:buFont typeface="Arial" panose="020B0604020202020204" pitchFamily="34" charset="0"/>
              <a:buChar char="•"/>
            </a:pPr>
            <a:r>
              <a:rPr lang="en-US" b="1" dirty="0"/>
              <a:t>Input for T5: </a:t>
            </a:r>
          </a:p>
          <a:p>
            <a:pPr lvl="1"/>
            <a:r>
              <a:rPr lang="en-US" dirty="0"/>
              <a:t>“translate English to German: That is good. target: Das </a:t>
            </a:r>
            <a:r>
              <a:rPr lang="en-US" dirty="0" err="1"/>
              <a:t>ist</a:t>
            </a:r>
            <a:r>
              <a:rPr lang="en-US" dirty="0"/>
              <a:t> gut”</a:t>
            </a:r>
          </a:p>
          <a:p>
            <a:pPr marL="342900" indent="-342900">
              <a:buFont typeface="Arial" panose="020B0604020202020204" pitchFamily="34" charset="0"/>
              <a:buChar char="•"/>
            </a:pPr>
            <a:r>
              <a:rPr lang="en-US" b="1" dirty="0"/>
              <a:t>Prefix:</a:t>
            </a:r>
            <a:r>
              <a:rPr lang="en-US" dirty="0"/>
              <a:t> “translate English to German: That is good. target:” </a:t>
            </a:r>
          </a:p>
          <a:p>
            <a:pPr marL="342900" indent="-342900">
              <a:buFont typeface="Arial" panose="020B0604020202020204" pitchFamily="34" charset="0"/>
              <a:buChar char="•"/>
            </a:pPr>
            <a:r>
              <a:rPr lang="en-US" b="1" dirty="0"/>
              <a:t>Output :</a:t>
            </a:r>
            <a:r>
              <a:rPr lang="en-US" dirty="0"/>
              <a:t>  “Das </a:t>
            </a:r>
            <a:r>
              <a:rPr lang="en-US" dirty="0" err="1"/>
              <a:t>ist</a:t>
            </a:r>
            <a:r>
              <a:rPr lang="en-US" dirty="0"/>
              <a:t> gut “ </a:t>
            </a:r>
          </a:p>
          <a:p>
            <a:pPr marL="342900" indent="-342900">
              <a:buFont typeface="Arial" panose="020B0604020202020204" pitchFamily="34" charset="0"/>
              <a:buChar char="•"/>
            </a:pPr>
            <a:r>
              <a:rPr lang="en-US" dirty="0"/>
              <a:t>Output autoregressively generated</a:t>
            </a:r>
            <a:endParaRPr lang="en-IN" dirty="0"/>
          </a:p>
          <a:p>
            <a:pPr marL="342900" indent="-342900">
              <a:buFont typeface="Arial" panose="020B0604020202020204" pitchFamily="34" charset="0"/>
              <a:buChar char="•"/>
            </a:pPr>
            <a:endParaRPr lang="en-IN" dirty="0"/>
          </a:p>
        </p:txBody>
      </p:sp>
      <p:sp>
        <p:nvSpPr>
          <p:cNvPr id="3" name="Title 2"/>
          <p:cNvSpPr>
            <a:spLocks noGrp="1"/>
          </p:cNvSpPr>
          <p:nvPr>
            <p:ph type="title"/>
          </p:nvPr>
        </p:nvSpPr>
        <p:spPr/>
        <p:txBody>
          <a:bodyPr/>
          <a:lstStyle/>
          <a:p>
            <a:r>
              <a:rPr lang="en-US" dirty="0"/>
              <a:t>T5 - Input-Output</a:t>
            </a:r>
            <a:endParaRPr lang="en-IN" dirty="0"/>
          </a:p>
        </p:txBody>
      </p:sp>
    </p:spTree>
    <p:extLst>
      <p:ext uri="{BB962C8B-B14F-4D97-AF65-F5344CB8AC3E}">
        <p14:creationId xmlns:p14="http://schemas.microsoft.com/office/powerpoint/2010/main" val="1557906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355600" y="1681859"/>
            <a:ext cx="11480800" cy="4525963"/>
          </a:xfrm>
        </p:spPr>
        <p:txBody>
          <a:bodyPr>
            <a:normAutofit lnSpcReduction="10000"/>
          </a:bodyPr>
          <a:lstStyle/>
          <a:p>
            <a:pPr marL="342900" indent="-342900">
              <a:buFont typeface="Arial" panose="020B0604020202020204" pitchFamily="34" charset="0"/>
              <a:buChar char="•"/>
            </a:pPr>
            <a:r>
              <a:rPr lang="en-US" b="1" dirty="0"/>
              <a:t>MNLI benchmark example</a:t>
            </a:r>
            <a:r>
              <a:rPr lang="en-US" dirty="0"/>
              <a:t> (Multiclass classification with 3 classes </a:t>
            </a:r>
            <a:r>
              <a:rPr lang="en-US" dirty="0">
                <a:latin typeface="Arial MT"/>
                <a:cs typeface="Arial MT"/>
              </a:rPr>
              <a:t>‘entailment’,</a:t>
            </a:r>
            <a:r>
              <a:rPr lang="en-US" spc="-75" dirty="0">
                <a:latin typeface="Arial MT"/>
                <a:cs typeface="Arial MT"/>
              </a:rPr>
              <a:t> </a:t>
            </a:r>
            <a:r>
              <a:rPr lang="en-US" dirty="0">
                <a:latin typeface="Arial MT"/>
                <a:cs typeface="Arial MT"/>
              </a:rPr>
              <a:t>‘contradiction’</a:t>
            </a:r>
            <a:r>
              <a:rPr lang="en-US" spc="-70" dirty="0">
                <a:latin typeface="Arial MT"/>
                <a:cs typeface="Arial MT"/>
              </a:rPr>
              <a:t> </a:t>
            </a:r>
            <a:r>
              <a:rPr lang="en-US" dirty="0">
                <a:latin typeface="Arial MT"/>
                <a:cs typeface="Arial MT"/>
              </a:rPr>
              <a:t>and</a:t>
            </a:r>
            <a:r>
              <a:rPr lang="en-US" spc="-90" dirty="0">
                <a:latin typeface="Arial MT"/>
                <a:cs typeface="Arial MT"/>
              </a:rPr>
              <a:t> </a:t>
            </a:r>
            <a:r>
              <a:rPr lang="en-US" spc="-10" dirty="0">
                <a:latin typeface="Arial MT"/>
                <a:cs typeface="Arial MT"/>
              </a:rPr>
              <a:t>‘neutral’)</a:t>
            </a:r>
            <a:endParaRPr lang="en-US" dirty="0">
              <a:latin typeface="Arial MT"/>
              <a:cs typeface="Arial MT"/>
            </a:endParaRPr>
          </a:p>
          <a:p>
            <a:pPr lvl="2"/>
            <a:r>
              <a:rPr lang="en-US" b="1" dirty="0"/>
              <a:t>Premise</a:t>
            </a:r>
            <a:r>
              <a:rPr lang="en-US" dirty="0"/>
              <a:t> : “I hate pigeons.”</a:t>
            </a:r>
          </a:p>
          <a:p>
            <a:pPr lvl="2"/>
            <a:r>
              <a:rPr lang="en-US" b="1" dirty="0"/>
              <a:t>Hypothesis</a:t>
            </a:r>
            <a:r>
              <a:rPr lang="en-US" dirty="0"/>
              <a:t> : “My feelings towards pigeons are filled with animosity.”</a:t>
            </a:r>
          </a:p>
          <a:p>
            <a:pPr lvl="2"/>
            <a:r>
              <a:rPr lang="en-US" b="1" dirty="0"/>
              <a:t> Label</a:t>
            </a:r>
            <a:r>
              <a:rPr lang="en-US" dirty="0"/>
              <a:t>:  “entailment”</a:t>
            </a:r>
          </a:p>
          <a:p>
            <a:pPr marL="342900" indent="-342900">
              <a:buFont typeface="Arial" panose="020B0604020202020204" pitchFamily="34" charset="0"/>
              <a:buChar char="•"/>
            </a:pPr>
            <a:r>
              <a:rPr lang="en-US" b="1" dirty="0"/>
              <a:t>Input for T5:  </a:t>
            </a:r>
            <a:r>
              <a:rPr lang="en-US" dirty="0"/>
              <a:t>“</a:t>
            </a:r>
            <a:r>
              <a:rPr lang="en-US" dirty="0" err="1"/>
              <a:t>mnli</a:t>
            </a:r>
            <a:r>
              <a:rPr lang="en-US" dirty="0"/>
              <a:t> premise: I hate pigeons. hypothesis: My feelings towards pigeons are filled with animosity. target: entailment”</a:t>
            </a:r>
          </a:p>
          <a:p>
            <a:pPr marL="342900" indent="-342900">
              <a:buFont typeface="Arial" panose="020B0604020202020204" pitchFamily="34" charset="0"/>
              <a:buChar char="•"/>
            </a:pPr>
            <a:r>
              <a:rPr lang="en-US" b="1" dirty="0"/>
              <a:t>Prefix</a:t>
            </a:r>
            <a:r>
              <a:rPr lang="en-US" dirty="0"/>
              <a:t>: : “</a:t>
            </a:r>
            <a:r>
              <a:rPr lang="en-US" dirty="0" err="1"/>
              <a:t>mnli</a:t>
            </a:r>
            <a:r>
              <a:rPr lang="en-US" dirty="0"/>
              <a:t> premise: I hate pigeons. hypothesis: My feelings towards pigeons are filled with animosity. target:”</a:t>
            </a:r>
          </a:p>
          <a:p>
            <a:pPr marL="342900" indent="-342900">
              <a:buFont typeface="Arial" panose="020B0604020202020204" pitchFamily="34" charset="0"/>
              <a:buChar char="•"/>
            </a:pPr>
            <a:r>
              <a:rPr lang="en-US" b="1" dirty="0"/>
              <a:t>Output </a:t>
            </a:r>
            <a:r>
              <a:rPr lang="en-US" dirty="0"/>
              <a:t>: “entailment”</a:t>
            </a:r>
          </a:p>
          <a:p>
            <a:pPr marL="342900" indent="-342900">
              <a:buFont typeface="Arial" panose="020B0604020202020204" pitchFamily="34" charset="0"/>
              <a:buChar char="•"/>
            </a:pPr>
            <a:r>
              <a:rPr lang="en-US" dirty="0"/>
              <a:t>Output is analogous to the “classification” token used in BERT</a:t>
            </a:r>
          </a:p>
          <a:p>
            <a:pPr marL="342900" indent="-342900">
              <a:buFont typeface="Arial" panose="020B0604020202020204" pitchFamily="34" charset="0"/>
              <a:buChar char="•"/>
            </a:pPr>
            <a:r>
              <a:rPr lang="en-US" dirty="0"/>
              <a:t>difference between a prefix LM and the BERT architecture is that the classifier is simply integrated into the output layer of the Transformer decoder</a:t>
            </a:r>
            <a:endParaRPr lang="en-IN" dirty="0"/>
          </a:p>
        </p:txBody>
      </p:sp>
      <p:sp>
        <p:nvSpPr>
          <p:cNvPr id="4" name="Title 2"/>
          <p:cNvSpPr>
            <a:spLocks noGrp="1"/>
          </p:cNvSpPr>
          <p:nvPr>
            <p:ph type="title"/>
          </p:nvPr>
        </p:nvSpPr>
        <p:spPr/>
        <p:txBody>
          <a:bodyPr/>
          <a:lstStyle/>
          <a:p>
            <a:r>
              <a:rPr lang="en-US" dirty="0"/>
              <a:t>T5- Input-Output</a:t>
            </a:r>
            <a:endParaRPr lang="en-IN" dirty="0"/>
          </a:p>
        </p:txBody>
      </p:sp>
    </p:spTree>
    <p:extLst>
      <p:ext uri="{BB962C8B-B14F-4D97-AF65-F5344CB8AC3E}">
        <p14:creationId xmlns:p14="http://schemas.microsoft.com/office/powerpoint/2010/main" val="13218558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9818712" y="5704185"/>
            <a:ext cx="205104" cy="128240"/>
          </a:xfrm>
          <a:prstGeom prst="rect">
            <a:avLst/>
          </a:prstGeom>
        </p:spPr>
        <p:txBody>
          <a:bodyPr vert="horz" wrap="square" lIns="0" tIns="0" rIns="0" bIns="0" rtlCol="0">
            <a:spAutoFit/>
          </a:bodyPr>
          <a:lstStyle/>
          <a:p>
            <a:pPr marL="38100">
              <a:lnSpc>
                <a:spcPts val="955"/>
              </a:lnSpc>
            </a:pPr>
            <a:fld id="{81D60167-4931-47E6-BA6A-407CBD079E47}" type="slidenum">
              <a:rPr sz="900" spc="-25" dirty="0">
                <a:solidFill>
                  <a:srgbClr val="888888"/>
                </a:solidFill>
                <a:latin typeface="Calibri"/>
                <a:cs typeface="Calibri"/>
              </a:rPr>
              <a:pPr marL="38100">
                <a:lnSpc>
                  <a:spcPts val="955"/>
                </a:lnSpc>
              </a:pPr>
              <a:t>51</a:t>
            </a:fld>
            <a:endParaRPr sz="900" dirty="0">
              <a:latin typeface="Calibri"/>
              <a:cs typeface="Calibri"/>
            </a:endParaRPr>
          </a:p>
        </p:txBody>
      </p:sp>
      <p:sp>
        <p:nvSpPr>
          <p:cNvPr id="5" name="Content Placeholder 4"/>
          <p:cNvSpPr>
            <a:spLocks noGrp="1"/>
          </p:cNvSpPr>
          <p:nvPr>
            <p:ph idx="10"/>
          </p:nvPr>
        </p:nvSpPr>
        <p:spPr/>
        <p:txBody>
          <a:bodyPr>
            <a:normAutofit/>
          </a:bodyPr>
          <a:lstStyle/>
          <a:p>
            <a:pPr marL="355600" indent="-342900">
              <a:spcBef>
                <a:spcPts val="645"/>
              </a:spcBef>
              <a:buFont typeface="Arial" panose="020B0604020202020204" pitchFamily="34" charset="0"/>
              <a:buChar char="•"/>
              <a:tabLst>
                <a:tab pos="144145" algn="l"/>
              </a:tabLst>
            </a:pPr>
            <a:r>
              <a:rPr lang="en-US" dirty="0">
                <a:cs typeface="Calibri"/>
              </a:rPr>
              <a:t>32,000</a:t>
            </a:r>
            <a:r>
              <a:rPr lang="en-US" spc="-55" dirty="0">
                <a:cs typeface="Calibri"/>
              </a:rPr>
              <a:t> </a:t>
            </a:r>
            <a:r>
              <a:rPr lang="en-US" spc="-10" dirty="0" err="1">
                <a:cs typeface="Calibri"/>
              </a:rPr>
              <a:t>wordpieces</a:t>
            </a:r>
            <a:r>
              <a:rPr lang="en-US" spc="-50" dirty="0">
                <a:cs typeface="Calibri"/>
              </a:rPr>
              <a:t> </a:t>
            </a:r>
            <a:r>
              <a:rPr lang="en-US" dirty="0">
                <a:cs typeface="Calibri"/>
              </a:rPr>
              <a:t>shared</a:t>
            </a:r>
            <a:r>
              <a:rPr lang="en-US" spc="-55" dirty="0">
                <a:cs typeface="Calibri"/>
              </a:rPr>
              <a:t> </a:t>
            </a:r>
            <a:r>
              <a:rPr lang="en-US" dirty="0">
                <a:cs typeface="Calibri"/>
              </a:rPr>
              <a:t>across</a:t>
            </a:r>
            <a:r>
              <a:rPr lang="en-US" spc="-50" dirty="0">
                <a:cs typeface="Calibri"/>
              </a:rPr>
              <a:t> </a:t>
            </a:r>
            <a:r>
              <a:rPr lang="en-US" dirty="0">
                <a:cs typeface="Calibri"/>
              </a:rPr>
              <a:t>input</a:t>
            </a:r>
            <a:r>
              <a:rPr lang="en-US" spc="-55" dirty="0">
                <a:cs typeface="Calibri"/>
              </a:rPr>
              <a:t> </a:t>
            </a:r>
            <a:r>
              <a:rPr lang="en-US" dirty="0">
                <a:cs typeface="Calibri"/>
              </a:rPr>
              <a:t>and</a:t>
            </a:r>
            <a:r>
              <a:rPr lang="en-US" spc="-50" dirty="0">
                <a:cs typeface="Calibri"/>
              </a:rPr>
              <a:t> </a:t>
            </a:r>
            <a:r>
              <a:rPr lang="en-US" spc="-10" dirty="0">
                <a:cs typeface="Calibri"/>
              </a:rPr>
              <a:t>output</a:t>
            </a:r>
            <a:endParaRPr lang="en-US" dirty="0">
              <a:cs typeface="Calibri"/>
            </a:endParaRPr>
          </a:p>
          <a:p>
            <a:pPr marL="354965" marR="5080" indent="-342900">
              <a:lnSpc>
                <a:spcPts val="2270"/>
              </a:lnSpc>
              <a:spcBef>
                <a:spcPts val="835"/>
              </a:spcBef>
              <a:buFont typeface="Arial" panose="020B0604020202020204" pitchFamily="34" charset="0"/>
              <a:buChar char="•"/>
              <a:tabLst>
                <a:tab pos="144145" algn="l"/>
              </a:tabLst>
            </a:pPr>
            <a:r>
              <a:rPr lang="en-US" spc="-30" dirty="0">
                <a:cs typeface="Calibri"/>
              </a:rPr>
              <a:t>Pre-</a:t>
            </a:r>
            <a:r>
              <a:rPr lang="en-US" dirty="0">
                <a:cs typeface="Calibri"/>
              </a:rPr>
              <a:t>training</a:t>
            </a:r>
            <a:r>
              <a:rPr lang="en-US" spc="-55" dirty="0">
                <a:cs typeface="Calibri"/>
              </a:rPr>
              <a:t> </a:t>
            </a:r>
            <a:r>
              <a:rPr lang="en-US" dirty="0">
                <a:cs typeface="Calibri"/>
              </a:rPr>
              <a:t>is</a:t>
            </a:r>
            <a:r>
              <a:rPr lang="en-US" spc="-55" dirty="0">
                <a:cs typeface="Calibri"/>
              </a:rPr>
              <a:t> </a:t>
            </a:r>
            <a:r>
              <a:rPr lang="en-US" dirty="0">
                <a:cs typeface="Calibri"/>
              </a:rPr>
              <a:t>English,</a:t>
            </a:r>
            <a:r>
              <a:rPr lang="en-US" spc="-50" dirty="0">
                <a:cs typeface="Calibri"/>
              </a:rPr>
              <a:t> </a:t>
            </a:r>
            <a:r>
              <a:rPr lang="en-US" dirty="0">
                <a:cs typeface="Calibri"/>
              </a:rPr>
              <a:t>but</a:t>
            </a:r>
            <a:r>
              <a:rPr lang="en-US" spc="-55" dirty="0">
                <a:cs typeface="Calibri"/>
              </a:rPr>
              <a:t> </a:t>
            </a:r>
            <a:r>
              <a:rPr lang="en-US" spc="-10" dirty="0">
                <a:cs typeface="Calibri"/>
              </a:rPr>
              <a:t>fine-</a:t>
            </a:r>
            <a:r>
              <a:rPr lang="en-US" dirty="0">
                <a:cs typeface="Calibri"/>
              </a:rPr>
              <a:t>tuning</a:t>
            </a:r>
            <a:r>
              <a:rPr lang="en-US" spc="-55" dirty="0">
                <a:cs typeface="Calibri"/>
              </a:rPr>
              <a:t> </a:t>
            </a:r>
            <a:r>
              <a:rPr lang="en-US" dirty="0">
                <a:cs typeface="Calibri"/>
              </a:rPr>
              <a:t>includes</a:t>
            </a:r>
            <a:r>
              <a:rPr lang="en-US" spc="-50" dirty="0">
                <a:cs typeface="Calibri"/>
              </a:rPr>
              <a:t> </a:t>
            </a:r>
            <a:r>
              <a:rPr lang="en-US" dirty="0">
                <a:cs typeface="Calibri"/>
              </a:rPr>
              <a:t>German,</a:t>
            </a:r>
            <a:r>
              <a:rPr lang="en-US" spc="-55" dirty="0">
                <a:cs typeface="Calibri"/>
              </a:rPr>
              <a:t> </a:t>
            </a:r>
            <a:r>
              <a:rPr lang="en-US" dirty="0">
                <a:cs typeface="Calibri"/>
              </a:rPr>
              <a:t>French,</a:t>
            </a:r>
            <a:r>
              <a:rPr lang="en-US" spc="-55" dirty="0">
                <a:cs typeface="Calibri"/>
              </a:rPr>
              <a:t> </a:t>
            </a:r>
            <a:r>
              <a:rPr lang="en-US" spc="-25" dirty="0">
                <a:cs typeface="Calibri"/>
              </a:rPr>
              <a:t>and </a:t>
            </a:r>
            <a:r>
              <a:rPr lang="en-US" spc="-10" dirty="0">
                <a:cs typeface="Calibri"/>
              </a:rPr>
              <a:t>Romanian</a:t>
            </a:r>
            <a:endParaRPr lang="en-US" dirty="0">
              <a:cs typeface="Calibri"/>
            </a:endParaRPr>
          </a:p>
          <a:p>
            <a:pPr marL="354965" marR="276860" indent="-342900">
              <a:lnSpc>
                <a:spcPts val="2270"/>
              </a:lnSpc>
              <a:spcBef>
                <a:spcPts val="795"/>
              </a:spcBef>
              <a:buFont typeface="Arial" panose="020B0604020202020204" pitchFamily="34" charset="0"/>
              <a:buChar char="•"/>
              <a:tabLst>
                <a:tab pos="144145" algn="l"/>
              </a:tabLst>
            </a:pPr>
            <a:r>
              <a:rPr lang="en-US" spc="-20" dirty="0">
                <a:cs typeface="Calibri"/>
              </a:rPr>
              <a:t>Trained</a:t>
            </a:r>
            <a:r>
              <a:rPr lang="en-US" spc="-55" dirty="0">
                <a:cs typeface="Calibri"/>
              </a:rPr>
              <a:t> </a:t>
            </a:r>
            <a:r>
              <a:rPr lang="en-US" spc="-10" dirty="0" err="1">
                <a:cs typeface="Calibri"/>
              </a:rPr>
              <a:t>SentencePiece</a:t>
            </a:r>
            <a:r>
              <a:rPr lang="en-US" spc="-55" dirty="0">
                <a:cs typeface="Calibri"/>
              </a:rPr>
              <a:t> </a:t>
            </a:r>
            <a:r>
              <a:rPr lang="en-US" dirty="0">
                <a:cs typeface="Calibri"/>
              </a:rPr>
              <a:t>model</a:t>
            </a:r>
            <a:r>
              <a:rPr lang="en-US" spc="-50" dirty="0">
                <a:cs typeface="Calibri"/>
              </a:rPr>
              <a:t> </a:t>
            </a:r>
            <a:r>
              <a:rPr lang="en-US" dirty="0">
                <a:cs typeface="Calibri"/>
              </a:rPr>
              <a:t>10:1:1:1</a:t>
            </a:r>
            <a:r>
              <a:rPr lang="en-US" spc="-55" dirty="0">
                <a:cs typeface="Calibri"/>
              </a:rPr>
              <a:t> </a:t>
            </a:r>
            <a:r>
              <a:rPr lang="en-US" dirty="0">
                <a:cs typeface="Calibri"/>
              </a:rPr>
              <a:t>English</a:t>
            </a:r>
            <a:r>
              <a:rPr lang="en-US" spc="-50" dirty="0">
                <a:cs typeface="Calibri"/>
              </a:rPr>
              <a:t> </a:t>
            </a:r>
            <a:r>
              <a:rPr lang="en-US" dirty="0">
                <a:cs typeface="Calibri"/>
              </a:rPr>
              <a:t>:</a:t>
            </a:r>
            <a:r>
              <a:rPr lang="en-US" spc="-55" dirty="0">
                <a:cs typeface="Calibri"/>
              </a:rPr>
              <a:t> </a:t>
            </a:r>
            <a:r>
              <a:rPr lang="en-US" dirty="0">
                <a:cs typeface="Calibri"/>
              </a:rPr>
              <a:t>German</a:t>
            </a:r>
            <a:r>
              <a:rPr lang="en-US" spc="-55" dirty="0">
                <a:cs typeface="Calibri"/>
              </a:rPr>
              <a:t> </a:t>
            </a:r>
            <a:r>
              <a:rPr lang="en-US" dirty="0">
                <a:cs typeface="Calibri"/>
              </a:rPr>
              <a:t>:</a:t>
            </a:r>
            <a:r>
              <a:rPr lang="en-US" spc="-50" dirty="0">
                <a:cs typeface="Calibri"/>
              </a:rPr>
              <a:t> </a:t>
            </a:r>
            <a:r>
              <a:rPr lang="en-US" dirty="0">
                <a:cs typeface="Calibri"/>
              </a:rPr>
              <a:t>French</a:t>
            </a:r>
            <a:r>
              <a:rPr lang="en-US" spc="-55" dirty="0">
                <a:cs typeface="Calibri"/>
              </a:rPr>
              <a:t> </a:t>
            </a:r>
            <a:r>
              <a:rPr lang="en-US" spc="-50" dirty="0">
                <a:cs typeface="Calibri"/>
              </a:rPr>
              <a:t>: </a:t>
            </a:r>
            <a:r>
              <a:rPr lang="en-US" spc="-10" dirty="0">
                <a:cs typeface="Calibri"/>
              </a:rPr>
              <a:t>Romanian</a:t>
            </a:r>
            <a:endParaRPr lang="en-US" dirty="0">
              <a:cs typeface="Calibri"/>
            </a:endParaRPr>
          </a:p>
          <a:p>
            <a:pPr marL="647064" lvl="1" indent="-342900">
              <a:spcBef>
                <a:spcPts val="509"/>
              </a:spcBef>
              <a:buFont typeface="Arial" panose="020B0604020202020204" pitchFamily="34" charset="0"/>
              <a:buChar char="•"/>
              <a:tabLst>
                <a:tab pos="486409" algn="l"/>
              </a:tabLst>
            </a:pPr>
            <a:r>
              <a:rPr lang="en-US" dirty="0">
                <a:cs typeface="Calibri"/>
              </a:rPr>
              <a:t>Can</a:t>
            </a:r>
            <a:r>
              <a:rPr lang="en-US" spc="-50" dirty="0">
                <a:cs typeface="Calibri"/>
              </a:rPr>
              <a:t> </a:t>
            </a:r>
            <a:r>
              <a:rPr lang="en-US" dirty="0">
                <a:cs typeface="Calibri"/>
              </a:rPr>
              <a:t>handle</a:t>
            </a:r>
            <a:r>
              <a:rPr lang="en-US" spc="-45" dirty="0">
                <a:cs typeface="Calibri"/>
              </a:rPr>
              <a:t> </a:t>
            </a:r>
            <a:r>
              <a:rPr lang="en-US" dirty="0">
                <a:cs typeface="Calibri"/>
              </a:rPr>
              <a:t>fixed</a:t>
            </a:r>
            <a:r>
              <a:rPr lang="en-US" spc="-45" dirty="0">
                <a:cs typeface="Calibri"/>
              </a:rPr>
              <a:t> </a:t>
            </a:r>
            <a:r>
              <a:rPr lang="en-US" dirty="0">
                <a:cs typeface="Calibri"/>
              </a:rPr>
              <a:t>set</a:t>
            </a:r>
            <a:r>
              <a:rPr lang="en-US" spc="-50" dirty="0">
                <a:cs typeface="Calibri"/>
              </a:rPr>
              <a:t> </a:t>
            </a:r>
            <a:r>
              <a:rPr lang="en-US" dirty="0">
                <a:cs typeface="Calibri"/>
              </a:rPr>
              <a:t>of</a:t>
            </a:r>
            <a:r>
              <a:rPr lang="en-US" spc="-45" dirty="0">
                <a:cs typeface="Calibri"/>
              </a:rPr>
              <a:t> </a:t>
            </a:r>
            <a:r>
              <a:rPr lang="en-US" spc="-10" dirty="0">
                <a:cs typeface="Calibri"/>
              </a:rPr>
              <a:t>languages</a:t>
            </a:r>
            <a:endParaRPr lang="en-US" dirty="0">
              <a:cs typeface="Calibri"/>
            </a:endParaRPr>
          </a:p>
          <a:p>
            <a:pPr marL="342900" indent="-342900">
              <a:buFont typeface="Arial" panose="020B0604020202020204" pitchFamily="34" charset="0"/>
              <a:buChar char="•"/>
            </a:pPr>
            <a:endParaRPr lang="en-IN" dirty="0"/>
          </a:p>
        </p:txBody>
      </p:sp>
      <p:sp>
        <p:nvSpPr>
          <p:cNvPr id="2" name="object 2"/>
          <p:cNvSpPr txBox="1">
            <a:spLocks noGrp="1"/>
          </p:cNvSpPr>
          <p:nvPr>
            <p:ph type="title"/>
          </p:nvPr>
        </p:nvSpPr>
        <p:spPr>
          <a:xfrm>
            <a:off x="1828802" y="199369"/>
            <a:ext cx="10881209" cy="820463"/>
          </a:xfrm>
          <a:prstGeom prst="rect">
            <a:avLst/>
          </a:prstGeom>
        </p:spPr>
        <p:txBody>
          <a:bodyPr vert="horz" wrap="square" lIns="0" tIns="309608" rIns="0" bIns="0" rtlCol="0" anchor="ctr">
            <a:spAutoFit/>
          </a:bodyPr>
          <a:lstStyle/>
          <a:p>
            <a:pPr marL="269240">
              <a:spcBef>
                <a:spcPts val="100"/>
              </a:spcBef>
            </a:pPr>
            <a:r>
              <a:rPr lang="en-US" sz="3300" spc="-20" dirty="0">
                <a:latin typeface="Calibri"/>
                <a:cs typeface="Calibri"/>
              </a:rPr>
              <a:t>T5- </a:t>
            </a:r>
            <a:r>
              <a:rPr sz="3300" spc="-20" dirty="0">
                <a:latin typeface="Calibri"/>
                <a:cs typeface="Calibri"/>
              </a:rPr>
              <a:t>Vocabulary</a:t>
            </a:r>
            <a:endParaRPr sz="3300" dirty="0">
              <a:latin typeface="Calibri"/>
              <a:cs typeface="Calibri"/>
            </a:endParaRPr>
          </a:p>
        </p:txBody>
      </p:sp>
    </p:spTree>
    <p:extLst>
      <p:ext uri="{BB962C8B-B14F-4D97-AF65-F5344CB8AC3E}">
        <p14:creationId xmlns:p14="http://schemas.microsoft.com/office/powerpoint/2010/main" val="17684557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0"/>
              </p:nvPr>
            </p:nvSpPr>
            <p:spPr>
              <a:xfrm>
                <a:off x="355600" y="1571657"/>
                <a:ext cx="11480800" cy="4525963"/>
              </a:xfrm>
            </p:spPr>
            <p:txBody>
              <a:bodyPr>
                <a:normAutofit lnSpcReduction="10000"/>
              </a:bodyPr>
              <a:lstStyle/>
              <a:p>
                <a:pPr marL="355600" indent="-342900">
                  <a:spcBef>
                    <a:spcPts val="530"/>
                  </a:spcBef>
                  <a:buFont typeface="Arial" panose="020B0604020202020204" pitchFamily="34" charset="0"/>
                  <a:buChar char="•"/>
                  <a:tabLst>
                    <a:tab pos="393700" algn="l"/>
                  </a:tabLst>
                </a:pPr>
                <a:r>
                  <a:rPr lang="en-US" spc="-10" dirty="0">
                    <a:cs typeface="Arial MT"/>
                  </a:rPr>
                  <a:t>BERT-</a:t>
                </a:r>
                <a:r>
                  <a:rPr lang="en-US" dirty="0">
                    <a:cs typeface="Arial MT"/>
                  </a:rPr>
                  <a:t>base</a:t>
                </a:r>
                <a:r>
                  <a:rPr lang="en-US" spc="-75" dirty="0">
                    <a:cs typeface="Arial MT"/>
                  </a:rPr>
                  <a:t> </a:t>
                </a:r>
                <a:r>
                  <a:rPr lang="en-US" dirty="0">
                    <a:cs typeface="Arial MT"/>
                  </a:rPr>
                  <a:t>Size</a:t>
                </a:r>
                <a:r>
                  <a:rPr lang="en-US" spc="-70" dirty="0">
                    <a:cs typeface="Arial MT"/>
                  </a:rPr>
                  <a:t> </a:t>
                </a:r>
                <a:r>
                  <a:rPr lang="en-US" dirty="0">
                    <a:cs typeface="Arial MT"/>
                  </a:rPr>
                  <a:t>Encoder</a:t>
                </a:r>
                <a:r>
                  <a:rPr lang="en-US" spc="-65" dirty="0">
                    <a:cs typeface="Arial MT"/>
                  </a:rPr>
                  <a:t> </a:t>
                </a:r>
                <a:r>
                  <a:rPr lang="en-US" dirty="0">
                    <a:cs typeface="Arial MT"/>
                  </a:rPr>
                  <a:t>and</a:t>
                </a:r>
                <a:r>
                  <a:rPr lang="en-US" spc="-75" dirty="0">
                    <a:cs typeface="Arial MT"/>
                  </a:rPr>
                  <a:t> </a:t>
                </a:r>
                <a:r>
                  <a:rPr lang="en-US" dirty="0">
                    <a:cs typeface="Arial MT"/>
                  </a:rPr>
                  <a:t>Decoder</a:t>
                </a:r>
                <a:r>
                  <a:rPr lang="en-US" spc="-55" dirty="0">
                    <a:cs typeface="Arial MT"/>
                  </a:rPr>
                  <a:t> </a:t>
                </a:r>
                <a:r>
                  <a:rPr lang="en-US" dirty="0">
                    <a:cs typeface="Arial MT"/>
                  </a:rPr>
                  <a:t>(L=12,</a:t>
                </a:r>
                <a:r>
                  <a:rPr lang="en-US" spc="-75" dirty="0">
                    <a:cs typeface="Arial MT"/>
                  </a:rPr>
                  <a:t> </a:t>
                </a:r>
                <a:r>
                  <a:rPr lang="en-US" dirty="0">
                    <a:cs typeface="Arial MT"/>
                  </a:rPr>
                  <a:t>Embedding dim=768,</a:t>
                </a:r>
                <a:r>
                  <a:rPr lang="en-US" spc="-70" dirty="0">
                    <a:cs typeface="Arial MT"/>
                  </a:rPr>
                  <a:t> </a:t>
                </a:r>
                <a:r>
                  <a:rPr lang="en-US" spc="-10" dirty="0">
                    <a:cs typeface="Arial MT"/>
                  </a:rPr>
                  <a:t>heads=12)</a:t>
                </a:r>
              </a:p>
              <a:p>
                <a:pPr marL="368300" indent="-342900">
                  <a:spcBef>
                    <a:spcPts val="530"/>
                  </a:spcBef>
                  <a:buFont typeface="Arial" panose="020B0604020202020204" pitchFamily="34" charset="0"/>
                  <a:buChar char="•"/>
                  <a:tabLst>
                    <a:tab pos="405765" algn="l"/>
                  </a:tabLst>
                </a:pPr>
                <a:r>
                  <a:rPr lang="en-IN" dirty="0">
                    <a:cs typeface="Arial MT"/>
                  </a:rPr>
                  <a:t>Max</a:t>
                </a:r>
                <a:r>
                  <a:rPr lang="en-IN" spc="-80" dirty="0">
                    <a:cs typeface="Arial MT"/>
                  </a:rPr>
                  <a:t> </a:t>
                </a:r>
                <a:r>
                  <a:rPr lang="en-IN" dirty="0">
                    <a:cs typeface="Arial MT"/>
                  </a:rPr>
                  <a:t>Sequence</a:t>
                </a:r>
                <a:r>
                  <a:rPr lang="en-IN" spc="-60" dirty="0">
                    <a:cs typeface="Arial MT"/>
                  </a:rPr>
                  <a:t> </a:t>
                </a:r>
                <a:r>
                  <a:rPr lang="en-IN" dirty="0">
                    <a:cs typeface="Arial MT"/>
                  </a:rPr>
                  <a:t>length:</a:t>
                </a:r>
                <a:r>
                  <a:rPr lang="en-IN" spc="-70" dirty="0">
                    <a:cs typeface="Arial MT"/>
                  </a:rPr>
                  <a:t> </a:t>
                </a:r>
                <a:r>
                  <a:rPr lang="en-IN" dirty="0">
                    <a:cs typeface="Arial MT"/>
                  </a:rPr>
                  <a:t>512</a:t>
                </a:r>
                <a:r>
                  <a:rPr lang="en-IN" spc="-75" dirty="0">
                    <a:cs typeface="Arial MT"/>
                  </a:rPr>
                  <a:t> </a:t>
                </a:r>
                <a:r>
                  <a:rPr lang="en-IN" spc="-10" dirty="0">
                    <a:cs typeface="Arial MT"/>
                  </a:rPr>
                  <a:t>tokens</a:t>
                </a:r>
                <a:endParaRPr lang="en-IN" dirty="0">
                  <a:cs typeface="Arial MT"/>
                </a:endParaRPr>
              </a:p>
              <a:p>
                <a:pPr marL="368300" indent="-342900">
                  <a:spcBef>
                    <a:spcPts val="430"/>
                  </a:spcBef>
                  <a:buFont typeface="Arial" panose="020B0604020202020204" pitchFamily="34" charset="0"/>
                  <a:buChar char="•"/>
                  <a:tabLst>
                    <a:tab pos="405765" algn="l"/>
                  </a:tabLst>
                </a:pPr>
                <a:r>
                  <a:rPr lang="en-IN" dirty="0">
                    <a:cs typeface="Arial MT"/>
                  </a:rPr>
                  <a:t>Batch</a:t>
                </a:r>
                <a:r>
                  <a:rPr lang="en-IN" spc="-40" dirty="0">
                    <a:cs typeface="Arial MT"/>
                  </a:rPr>
                  <a:t> </a:t>
                </a:r>
                <a:r>
                  <a:rPr lang="en-IN" dirty="0">
                    <a:cs typeface="Arial MT"/>
                  </a:rPr>
                  <a:t>size:</a:t>
                </a:r>
                <a:r>
                  <a:rPr lang="en-IN" spc="-50" dirty="0">
                    <a:cs typeface="Arial MT"/>
                  </a:rPr>
                  <a:t> </a:t>
                </a:r>
                <a:r>
                  <a:rPr lang="en-IN" dirty="0">
                    <a:cs typeface="Arial MT"/>
                  </a:rPr>
                  <a:t>128</a:t>
                </a:r>
                <a:r>
                  <a:rPr lang="en-IN" spc="-35" dirty="0">
                    <a:cs typeface="Arial MT"/>
                  </a:rPr>
                  <a:t> </a:t>
                </a:r>
                <a:r>
                  <a:rPr lang="en-IN" dirty="0">
                    <a:cs typeface="Arial MT"/>
                  </a:rPr>
                  <a:t>sequences</a:t>
                </a:r>
                <a:r>
                  <a:rPr lang="en-IN" spc="-20" dirty="0">
                    <a:cs typeface="Arial MT"/>
                  </a:rPr>
                  <a:t> </a:t>
                </a:r>
                <a:r>
                  <a:rPr lang="en-IN" dirty="0">
                    <a:cs typeface="Arial MT"/>
                  </a:rPr>
                  <a:t>=</a:t>
                </a:r>
                <a:r>
                  <a:rPr lang="en-IN" spc="-40" dirty="0">
                    <a:cs typeface="Arial MT"/>
                  </a:rPr>
                  <a:t> </a:t>
                </a:r>
                <a:r>
                  <a:rPr lang="en-IN" dirty="0">
                    <a:cs typeface="Arial MT"/>
                  </a:rPr>
                  <a:t>128</a:t>
                </a:r>
                <a:r>
                  <a:rPr lang="en-IN" spc="-30" dirty="0">
                    <a:cs typeface="Arial MT"/>
                  </a:rPr>
                  <a:t> </a:t>
                </a:r>
                <a:r>
                  <a:rPr lang="en-IN" dirty="0">
                    <a:cs typeface="Cambria Math"/>
                  </a:rPr>
                  <a:t>⨯</a:t>
                </a:r>
                <a:r>
                  <a:rPr lang="en-IN" spc="90" dirty="0">
                    <a:cs typeface="Cambria Math"/>
                  </a:rPr>
                  <a:t> </a:t>
                </a:r>
                <a:r>
                  <a:rPr lang="en-IN" dirty="0">
                    <a:cs typeface="Arial MT"/>
                  </a:rPr>
                  <a:t>512</a:t>
                </a:r>
                <a:r>
                  <a:rPr lang="en-IN" spc="-40" dirty="0">
                    <a:cs typeface="Arial MT"/>
                  </a:rPr>
                  <a:t> </a:t>
                </a:r>
                <a:r>
                  <a:rPr lang="en-IN" dirty="0">
                    <a:cs typeface="Arial MT"/>
                  </a:rPr>
                  <a:t>=</a:t>
                </a:r>
                <a:r>
                  <a:rPr lang="en-IN" spc="-50" dirty="0">
                    <a:cs typeface="Arial MT"/>
                  </a:rPr>
                  <a:t> </a:t>
                </a:r>
                <a:r>
                  <a:rPr lang="en-IN" dirty="0">
                    <a:cs typeface="Arial MT"/>
                  </a:rPr>
                  <a:t>2</a:t>
                </a:r>
                <a:r>
                  <a:rPr lang="en-IN" baseline="24305" dirty="0">
                    <a:cs typeface="Arial MT"/>
                  </a:rPr>
                  <a:t>16</a:t>
                </a:r>
                <a:r>
                  <a:rPr lang="en-IN" spc="284" baseline="24305" dirty="0">
                    <a:cs typeface="Arial MT"/>
                  </a:rPr>
                  <a:t> </a:t>
                </a:r>
                <a:r>
                  <a:rPr lang="en-IN" spc="-10" dirty="0">
                    <a:cs typeface="Arial MT"/>
                  </a:rPr>
                  <a:t>tokens</a:t>
                </a:r>
                <a:endParaRPr lang="en-IN" dirty="0">
                  <a:cs typeface="Arial MT"/>
                </a:endParaRPr>
              </a:p>
              <a:p>
                <a:pPr marL="368300" marR="257810" indent="-342900">
                  <a:lnSpc>
                    <a:spcPct val="114999"/>
                  </a:lnSpc>
                  <a:buFont typeface="Arial" panose="020B0604020202020204" pitchFamily="34" charset="0"/>
                  <a:buChar char="•"/>
                  <a:tabLst>
                    <a:tab pos="406400" algn="l"/>
                  </a:tabLst>
                </a:pPr>
                <a:r>
                  <a:rPr lang="en-IN" dirty="0">
                    <a:cs typeface="Arial MT"/>
                  </a:rPr>
                  <a:t>Training</a:t>
                </a:r>
                <a:r>
                  <a:rPr lang="en-IN" spc="-20" dirty="0">
                    <a:cs typeface="Arial MT"/>
                  </a:rPr>
                  <a:t> </a:t>
                </a:r>
                <a:r>
                  <a:rPr lang="en-IN" dirty="0">
                    <a:cs typeface="Arial MT"/>
                  </a:rPr>
                  <a:t>size</a:t>
                </a:r>
                <a:r>
                  <a:rPr lang="en-IN" spc="-35" dirty="0">
                    <a:cs typeface="Arial MT"/>
                  </a:rPr>
                  <a:t> </a:t>
                </a:r>
                <a:r>
                  <a:rPr lang="en-IN" dirty="0">
                    <a:cs typeface="Arial MT"/>
                  </a:rPr>
                  <a:t>=</a:t>
                </a:r>
                <a:r>
                  <a:rPr lang="en-IN" spc="-35" dirty="0">
                    <a:cs typeface="Arial MT"/>
                  </a:rPr>
                  <a:t> </a:t>
                </a:r>
                <a:r>
                  <a:rPr lang="en-IN" dirty="0">
                    <a:cs typeface="Arial MT"/>
                  </a:rPr>
                  <a:t>2</a:t>
                </a:r>
                <a:r>
                  <a:rPr lang="en-IN" baseline="24305" dirty="0">
                    <a:cs typeface="Arial MT"/>
                  </a:rPr>
                  <a:t>19</a:t>
                </a:r>
                <a:r>
                  <a:rPr lang="en-IN" spc="277" baseline="24305" dirty="0">
                    <a:cs typeface="Arial MT"/>
                  </a:rPr>
                  <a:t> </a:t>
                </a:r>
                <a:r>
                  <a:rPr lang="en-IN" dirty="0">
                    <a:cs typeface="Arial MT"/>
                  </a:rPr>
                  <a:t>steps</a:t>
                </a:r>
                <a:r>
                  <a:rPr lang="en-IN" spc="-35" dirty="0">
                    <a:cs typeface="Arial MT"/>
                  </a:rPr>
                  <a:t> </a:t>
                </a:r>
                <a:r>
                  <a:rPr lang="en-IN" dirty="0">
                    <a:cs typeface="Arial MT"/>
                  </a:rPr>
                  <a:t>=</a:t>
                </a:r>
                <a:r>
                  <a:rPr lang="en-IN" spc="-35" dirty="0">
                    <a:cs typeface="Arial MT"/>
                  </a:rPr>
                  <a:t> </a:t>
                </a:r>
                <a:r>
                  <a:rPr lang="en-IN" dirty="0">
                    <a:cs typeface="Arial MT"/>
                  </a:rPr>
                  <a:t>2</a:t>
                </a:r>
                <a:r>
                  <a:rPr lang="en-IN" baseline="24305" dirty="0">
                    <a:cs typeface="Arial MT"/>
                  </a:rPr>
                  <a:t>19</a:t>
                </a:r>
                <a:r>
                  <a:rPr lang="en-IN" spc="277" baseline="24305" dirty="0">
                    <a:cs typeface="Arial MT"/>
                  </a:rPr>
                  <a:t> </a:t>
                </a:r>
                <a:r>
                  <a:rPr lang="en-IN" dirty="0">
                    <a:cs typeface="Cambria Math"/>
                  </a:rPr>
                  <a:t>⨯</a:t>
                </a:r>
                <a:r>
                  <a:rPr lang="en-IN" spc="95" dirty="0">
                    <a:cs typeface="Cambria Math"/>
                  </a:rPr>
                  <a:t> </a:t>
                </a:r>
                <a:r>
                  <a:rPr lang="en-IN" dirty="0">
                    <a:cs typeface="Arial MT"/>
                  </a:rPr>
                  <a:t>2</a:t>
                </a:r>
                <a:r>
                  <a:rPr lang="en-IN" baseline="24305" dirty="0">
                    <a:cs typeface="Arial MT"/>
                  </a:rPr>
                  <a:t>16</a:t>
                </a:r>
                <a:r>
                  <a:rPr lang="en-IN" spc="277" baseline="24305" dirty="0">
                    <a:cs typeface="Arial MT"/>
                  </a:rPr>
                  <a:t> </a:t>
                </a:r>
                <a:r>
                  <a:rPr lang="en-IN" dirty="0">
                    <a:cs typeface="Arial MT"/>
                  </a:rPr>
                  <a:t>=</a:t>
                </a:r>
                <a:r>
                  <a:rPr lang="en-IN" spc="-35" dirty="0">
                    <a:cs typeface="Arial MT"/>
                  </a:rPr>
                  <a:t> </a:t>
                </a:r>
                <a:r>
                  <a:rPr lang="en-IN" dirty="0">
                    <a:cs typeface="Arial MT"/>
                  </a:rPr>
                  <a:t>2</a:t>
                </a:r>
                <a:r>
                  <a:rPr lang="en-IN" baseline="24305" dirty="0">
                    <a:cs typeface="Arial MT"/>
                  </a:rPr>
                  <a:t>35</a:t>
                </a:r>
                <a:r>
                  <a:rPr lang="en-IN" spc="277" baseline="24305" dirty="0">
                    <a:cs typeface="Arial MT"/>
                  </a:rPr>
                  <a:t> </a:t>
                </a:r>
                <a:r>
                  <a:rPr lang="en-IN" dirty="0">
                    <a:cs typeface="Arial MT"/>
                  </a:rPr>
                  <a:t>tokens</a:t>
                </a:r>
                <a:r>
                  <a:rPr lang="en-IN" spc="-30" dirty="0">
                    <a:cs typeface="Arial MT"/>
                  </a:rPr>
                  <a:t> </a:t>
                </a:r>
                <a:r>
                  <a:rPr lang="en-IN" dirty="0">
                    <a:cs typeface="Arial MT"/>
                  </a:rPr>
                  <a:t>≈</a:t>
                </a:r>
                <a:r>
                  <a:rPr lang="en-IN" spc="-35" dirty="0">
                    <a:cs typeface="Arial MT"/>
                  </a:rPr>
                  <a:t> </a:t>
                </a:r>
                <a:r>
                  <a:rPr lang="en-IN" dirty="0">
                    <a:cs typeface="Arial MT"/>
                  </a:rPr>
                  <a:t>34</a:t>
                </a:r>
                <a:r>
                  <a:rPr lang="en-IN" spc="-35" dirty="0">
                    <a:cs typeface="Arial MT"/>
                  </a:rPr>
                  <a:t> </a:t>
                </a:r>
                <a:r>
                  <a:rPr lang="en-IN" spc="-50" dirty="0">
                    <a:cs typeface="Arial MT"/>
                  </a:rPr>
                  <a:t>B </a:t>
                </a:r>
                <a:r>
                  <a:rPr lang="en-IN" dirty="0">
                    <a:cs typeface="Arial MT"/>
                  </a:rPr>
                  <a:t>tokens</a:t>
                </a:r>
                <a:r>
                  <a:rPr lang="en-IN" spc="-30" dirty="0">
                    <a:cs typeface="Arial MT"/>
                  </a:rPr>
                  <a:t> </a:t>
                </a:r>
                <a:r>
                  <a:rPr lang="en-IN" dirty="0">
                    <a:cs typeface="Arial MT"/>
                  </a:rPr>
                  <a:t>&lt;&lt;</a:t>
                </a:r>
                <a:r>
                  <a:rPr lang="en-IN" spc="-40" dirty="0">
                    <a:cs typeface="Arial MT"/>
                  </a:rPr>
                  <a:t> </a:t>
                </a:r>
                <a:r>
                  <a:rPr lang="en-IN" dirty="0">
                    <a:cs typeface="Arial MT"/>
                  </a:rPr>
                  <a:t>BERT</a:t>
                </a:r>
                <a:r>
                  <a:rPr lang="en-IN" spc="-40" dirty="0">
                    <a:cs typeface="Arial MT"/>
                  </a:rPr>
                  <a:t> </a:t>
                </a:r>
                <a:r>
                  <a:rPr lang="en-IN" dirty="0">
                    <a:cs typeface="Arial MT"/>
                  </a:rPr>
                  <a:t>(137B)</a:t>
                </a:r>
                <a:r>
                  <a:rPr lang="en-IN" spc="-30" dirty="0">
                    <a:cs typeface="Arial MT"/>
                  </a:rPr>
                  <a:t> </a:t>
                </a:r>
                <a:r>
                  <a:rPr lang="en-IN" dirty="0">
                    <a:cs typeface="Arial MT"/>
                  </a:rPr>
                  <a:t>&lt;&lt;</a:t>
                </a:r>
                <a:r>
                  <a:rPr lang="en-IN" spc="-30" dirty="0">
                    <a:cs typeface="Arial MT"/>
                  </a:rPr>
                  <a:t> </a:t>
                </a:r>
                <a:r>
                  <a:rPr lang="en-IN" dirty="0" err="1">
                    <a:cs typeface="Arial MT"/>
                  </a:rPr>
                  <a:t>RoBERTa</a:t>
                </a:r>
                <a:r>
                  <a:rPr lang="en-IN" spc="-30" dirty="0">
                    <a:cs typeface="Arial MT"/>
                  </a:rPr>
                  <a:t> </a:t>
                </a:r>
                <a:r>
                  <a:rPr lang="en-IN" spc="-10" dirty="0">
                    <a:cs typeface="Arial MT"/>
                  </a:rPr>
                  <a:t>(2.2T)</a:t>
                </a:r>
                <a:endParaRPr lang="en-IN" dirty="0">
                  <a:cs typeface="Arial MT"/>
                </a:endParaRPr>
              </a:p>
              <a:p>
                <a:pPr marL="342900" indent="-342900">
                  <a:buFont typeface="Arial" panose="020B0604020202020204" pitchFamily="34" charset="0"/>
                  <a:buChar char="•"/>
                </a:pPr>
                <a:r>
                  <a:rPr lang="en-IN" dirty="0">
                    <a:cs typeface="Arial MT"/>
                  </a:rPr>
                  <a:t>inverse</a:t>
                </a:r>
                <a:r>
                  <a:rPr lang="en-IN" spc="-65" dirty="0">
                    <a:cs typeface="Arial MT"/>
                  </a:rPr>
                  <a:t> </a:t>
                </a:r>
                <a:r>
                  <a:rPr lang="en-IN" dirty="0">
                    <a:cs typeface="Arial MT"/>
                  </a:rPr>
                  <a:t>square</a:t>
                </a:r>
                <a:r>
                  <a:rPr lang="en-IN" spc="-55" dirty="0">
                    <a:cs typeface="Arial MT"/>
                  </a:rPr>
                  <a:t> </a:t>
                </a:r>
                <a:r>
                  <a:rPr lang="en-IN" dirty="0">
                    <a:cs typeface="Arial MT"/>
                  </a:rPr>
                  <a:t>root</a:t>
                </a:r>
                <a:r>
                  <a:rPr lang="en-IN" spc="-65" dirty="0">
                    <a:cs typeface="Arial MT"/>
                  </a:rPr>
                  <a:t> </a:t>
                </a:r>
                <a:r>
                  <a:rPr lang="en-IN" dirty="0">
                    <a:cs typeface="Arial MT"/>
                  </a:rPr>
                  <a:t>learning</a:t>
                </a:r>
                <a:r>
                  <a:rPr lang="en-IN" spc="-50" dirty="0">
                    <a:cs typeface="Arial MT"/>
                  </a:rPr>
                  <a:t> </a:t>
                </a:r>
                <a:r>
                  <a:rPr lang="en-IN" dirty="0">
                    <a:cs typeface="Arial MT"/>
                  </a:rPr>
                  <a:t>rate</a:t>
                </a:r>
                <a:r>
                  <a:rPr lang="en-IN" spc="-75" dirty="0">
                    <a:cs typeface="Arial MT"/>
                  </a:rPr>
                  <a:t> </a:t>
                </a:r>
                <a:r>
                  <a:rPr lang="en-IN" dirty="0">
                    <a:cs typeface="Arial MT"/>
                  </a:rPr>
                  <a:t>schedule </a:t>
                </a:r>
                <a14:m>
                  <m:oMath xmlns:m="http://schemas.openxmlformats.org/officeDocument/2006/math">
                    <m:f>
                      <m:fPr>
                        <m:type m:val="lin"/>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𝑚𝑎𝑥</m:t>
                            </m:r>
                            <m:d>
                              <m:dPr>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𝑘</m:t>
                                </m:r>
                              </m:e>
                            </m:d>
                          </m:e>
                        </m:rad>
                      </m:den>
                    </m:f>
                  </m:oMath>
                </a14:m>
                <a:r>
                  <a:rPr lang="en-IN" dirty="0"/>
                  <a:t> </a:t>
                </a:r>
                <a:r>
                  <a:rPr lang="en-IN" spc="-50" dirty="0">
                    <a:cs typeface="Arial MT"/>
                  </a:rPr>
                  <a:t> </a:t>
                </a:r>
                <a:r>
                  <a:rPr lang="en-IN" dirty="0">
                    <a:cs typeface="Arial MT"/>
                  </a:rPr>
                  <a:t>where</a:t>
                </a:r>
                <a:r>
                  <a:rPr lang="en-IN" spc="-65" dirty="0">
                    <a:cs typeface="Arial MT"/>
                  </a:rPr>
                  <a:t> </a:t>
                </a:r>
                <a:r>
                  <a:rPr lang="en-IN" dirty="0">
                    <a:cs typeface="Arial MT"/>
                  </a:rPr>
                  <a:t>k</a:t>
                </a:r>
                <a:r>
                  <a:rPr lang="en-IN" spc="-65" dirty="0">
                    <a:cs typeface="Arial MT"/>
                  </a:rPr>
                  <a:t> </a:t>
                </a:r>
                <a:r>
                  <a:rPr lang="en-IN" dirty="0">
                    <a:cs typeface="Arial MT"/>
                  </a:rPr>
                  <a:t>=</a:t>
                </a:r>
                <a:r>
                  <a:rPr lang="en-IN" spc="-80" dirty="0">
                    <a:cs typeface="Arial MT"/>
                  </a:rPr>
                  <a:t> </a:t>
                </a:r>
                <a:r>
                  <a:rPr lang="en-IN" spc="-25" dirty="0">
                    <a:cs typeface="Arial MT"/>
                  </a:rPr>
                  <a:t>10</a:t>
                </a:r>
                <a:r>
                  <a:rPr lang="en-IN" spc="-37" baseline="24305" dirty="0">
                    <a:cs typeface="Arial MT"/>
                  </a:rPr>
                  <a:t>4 </a:t>
                </a:r>
                <a:r>
                  <a:rPr lang="en-IN" spc="-15" dirty="0">
                    <a:cs typeface="Arial MT"/>
                  </a:rPr>
                  <a:t>warm-</a:t>
                </a:r>
                <a:r>
                  <a:rPr lang="en-IN" dirty="0">
                    <a:cs typeface="Arial MT"/>
                  </a:rPr>
                  <a:t>up</a:t>
                </a:r>
                <a:r>
                  <a:rPr lang="en-IN" spc="-20" dirty="0">
                    <a:cs typeface="Arial MT"/>
                  </a:rPr>
                  <a:t> </a:t>
                </a:r>
                <a:r>
                  <a:rPr lang="en-IN" spc="-10" dirty="0">
                    <a:cs typeface="Arial MT"/>
                  </a:rPr>
                  <a:t>steps and n=current training iteration)</a:t>
                </a:r>
                <a:endParaRPr lang="en-IN" dirty="0">
                  <a:cs typeface="Arial MT"/>
                </a:endParaRPr>
              </a:p>
              <a:p>
                <a:pPr marL="368300" indent="-342900">
                  <a:spcBef>
                    <a:spcPts val="430"/>
                  </a:spcBef>
                  <a:buFont typeface="Arial" panose="020B0604020202020204" pitchFamily="34" charset="0"/>
                  <a:buChar char="•"/>
                  <a:tabLst>
                    <a:tab pos="405765" algn="l"/>
                  </a:tabLst>
                </a:pPr>
                <a:r>
                  <a:rPr lang="en-IN" spc="-10" dirty="0" err="1">
                    <a:cs typeface="Arial MT"/>
                  </a:rPr>
                  <a:t>AdaFactor</a:t>
                </a:r>
                <a:endParaRPr lang="en-IN" dirty="0">
                  <a:cs typeface="Arial MT"/>
                </a:endParaRPr>
              </a:p>
              <a:p>
                <a:pPr marL="368300" indent="-342900">
                  <a:spcBef>
                    <a:spcPts val="434"/>
                  </a:spcBef>
                  <a:buFont typeface="Arial" panose="020B0604020202020204" pitchFamily="34" charset="0"/>
                  <a:buChar char="•"/>
                  <a:tabLst>
                    <a:tab pos="405765" algn="l"/>
                  </a:tabLst>
                </a:pPr>
                <a:r>
                  <a:rPr lang="en-IN" dirty="0">
                    <a:cs typeface="Arial MT"/>
                  </a:rPr>
                  <a:t>Dropout:</a:t>
                </a:r>
                <a:r>
                  <a:rPr lang="en-IN" spc="-80" dirty="0">
                    <a:cs typeface="Arial MT"/>
                  </a:rPr>
                  <a:t> </a:t>
                </a:r>
                <a:r>
                  <a:rPr lang="en-IN" spc="-25" dirty="0">
                    <a:cs typeface="Arial MT"/>
                  </a:rPr>
                  <a:t>0.1</a:t>
                </a:r>
              </a:p>
              <a:p>
                <a:pPr marL="368300" indent="-342900">
                  <a:spcBef>
                    <a:spcPts val="434"/>
                  </a:spcBef>
                  <a:buFont typeface="Arial" panose="020B0604020202020204" pitchFamily="34" charset="0"/>
                  <a:buChar char="•"/>
                  <a:tabLst>
                    <a:tab pos="405765" algn="l"/>
                  </a:tabLst>
                </a:pPr>
                <a:r>
                  <a:rPr lang="en-US" dirty="0"/>
                  <a:t>test time-greedy decoding</a:t>
                </a:r>
                <a:endParaRPr lang="en-IN" spc="-25" dirty="0">
                  <a:cs typeface="Arial MT"/>
                </a:endParaRPr>
              </a:p>
              <a:p>
                <a:pPr marL="368300" indent="-342900">
                  <a:spcBef>
                    <a:spcPts val="434"/>
                  </a:spcBef>
                  <a:buFont typeface="Arial" panose="020B0604020202020204" pitchFamily="34" charset="0"/>
                  <a:buChar char="•"/>
                  <a:tabLst>
                    <a:tab pos="405765" algn="l"/>
                  </a:tabLst>
                </a:pPr>
                <a:r>
                  <a:rPr lang="en-IN" dirty="0"/>
                  <a:t>220 million parameters</a:t>
                </a:r>
                <a:endParaRPr lang="en-IN" dirty="0">
                  <a:cs typeface="Arial MT"/>
                </a:endParaRPr>
              </a:p>
              <a:p>
                <a:pPr marL="355600" indent="-342900">
                  <a:spcBef>
                    <a:spcPts val="530"/>
                  </a:spcBef>
                  <a:buFont typeface="Arial" panose="020B0604020202020204" pitchFamily="34" charset="0"/>
                  <a:buChar char="•"/>
                  <a:tabLst>
                    <a:tab pos="393700" algn="l"/>
                  </a:tabLst>
                </a:pPr>
                <a:endParaRPr lang="en-US" dirty="0">
                  <a:cs typeface="Arial MT"/>
                </a:endParaRPr>
              </a:p>
            </p:txBody>
          </p:sp>
        </mc:Choice>
        <mc:Fallback xmlns="">
          <p:sp>
            <p:nvSpPr>
              <p:cNvPr id="2" name="Content Placeholder 1"/>
              <p:cNvSpPr>
                <a:spLocks noGrp="1" noRot="1" noChangeAspect="1" noMove="1" noResize="1" noEditPoints="1" noAdjustHandles="1" noChangeArrowheads="1" noChangeShapeType="1" noTextEdit="1"/>
              </p:cNvSpPr>
              <p:nvPr>
                <p:ph idx="10"/>
              </p:nvPr>
            </p:nvSpPr>
            <p:spPr>
              <a:xfrm>
                <a:off x="355600" y="1571657"/>
                <a:ext cx="11480800" cy="4525963"/>
              </a:xfrm>
              <a:blipFill>
                <a:blip r:embed="rId2"/>
                <a:stretch>
                  <a:fillRect l="-690" t="-1887"/>
                </a:stretch>
              </a:blipFill>
            </p:spPr>
            <p:txBody>
              <a:bodyPr/>
              <a:lstStyle/>
              <a:p>
                <a:r>
                  <a:rPr lang="en-IN">
                    <a:noFill/>
                  </a:rPr>
                  <a:t> </a:t>
                </a:r>
              </a:p>
            </p:txBody>
          </p:sp>
        </mc:Fallback>
      </mc:AlternateContent>
      <p:sp>
        <p:nvSpPr>
          <p:cNvPr id="3" name="Title 2"/>
          <p:cNvSpPr>
            <a:spLocks noGrp="1"/>
          </p:cNvSpPr>
          <p:nvPr>
            <p:ph type="title"/>
          </p:nvPr>
        </p:nvSpPr>
        <p:spPr/>
        <p:txBody>
          <a:bodyPr/>
          <a:lstStyle/>
          <a:p>
            <a:r>
              <a:rPr lang="en-IN" dirty="0"/>
              <a:t>T5- Baseline</a:t>
            </a:r>
            <a:r>
              <a:rPr lang="en-IN" spc="-100" dirty="0"/>
              <a:t> </a:t>
            </a:r>
            <a:r>
              <a:rPr lang="en-IN" spc="-20" dirty="0"/>
              <a:t>(</a:t>
            </a:r>
            <a:r>
              <a:rPr lang="en-IN" spc="-10" dirty="0"/>
              <a:t>Pre-</a:t>
            </a:r>
            <a:r>
              <a:rPr lang="en-IN" dirty="0"/>
              <a:t>training details)</a:t>
            </a:r>
          </a:p>
        </p:txBody>
      </p:sp>
    </p:spTree>
    <p:extLst>
      <p:ext uri="{BB962C8B-B14F-4D97-AF65-F5344CB8AC3E}">
        <p14:creationId xmlns:p14="http://schemas.microsoft.com/office/powerpoint/2010/main" val="31759851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0"/>
          </p:nvPr>
        </p:nvSpPr>
        <p:spPr>
          <a:xfrm>
            <a:off x="173036" y="1545224"/>
            <a:ext cx="11480800" cy="4525963"/>
          </a:xfrm>
        </p:spPr>
        <p:txBody>
          <a:bodyPr/>
          <a:lstStyle/>
          <a:p>
            <a:pPr marL="368300" indent="-342900">
              <a:spcBef>
                <a:spcPts val="530"/>
              </a:spcBef>
              <a:buFont typeface="Arial" panose="020B0604020202020204" pitchFamily="34" charset="0"/>
              <a:buChar char="•"/>
              <a:tabLst>
                <a:tab pos="406400" algn="l"/>
              </a:tabLst>
            </a:pPr>
            <a:r>
              <a:rPr lang="en-US" dirty="0">
                <a:cs typeface="Arial MT"/>
              </a:rPr>
              <a:t>Batch</a:t>
            </a:r>
            <a:r>
              <a:rPr lang="en-US" spc="-40" dirty="0">
                <a:cs typeface="Arial MT"/>
              </a:rPr>
              <a:t> </a:t>
            </a:r>
            <a:r>
              <a:rPr lang="en-US" dirty="0">
                <a:cs typeface="Arial MT"/>
              </a:rPr>
              <a:t>Size:</a:t>
            </a:r>
            <a:r>
              <a:rPr lang="en-US" spc="-45" dirty="0">
                <a:cs typeface="Arial MT"/>
              </a:rPr>
              <a:t> </a:t>
            </a:r>
            <a:r>
              <a:rPr lang="en-US" spc="-25" dirty="0">
                <a:cs typeface="Arial MT"/>
              </a:rPr>
              <a:t>128</a:t>
            </a:r>
            <a:endParaRPr lang="en-US" dirty="0">
              <a:cs typeface="Arial MT"/>
            </a:endParaRPr>
          </a:p>
          <a:p>
            <a:pPr marL="368300" indent="-342900">
              <a:spcBef>
                <a:spcPts val="430"/>
              </a:spcBef>
              <a:buFont typeface="Arial" panose="020B0604020202020204" pitchFamily="34" charset="0"/>
              <a:buChar char="•"/>
              <a:tabLst>
                <a:tab pos="406400" algn="l"/>
              </a:tabLst>
            </a:pPr>
            <a:r>
              <a:rPr lang="en-US" dirty="0">
                <a:cs typeface="Arial MT"/>
              </a:rPr>
              <a:t>Length:</a:t>
            </a:r>
            <a:r>
              <a:rPr lang="en-US" spc="-60" dirty="0">
                <a:cs typeface="Arial MT"/>
              </a:rPr>
              <a:t> </a:t>
            </a:r>
            <a:r>
              <a:rPr lang="en-US" spc="-25" dirty="0">
                <a:cs typeface="Arial MT"/>
              </a:rPr>
              <a:t>512</a:t>
            </a:r>
            <a:endParaRPr lang="en-US" dirty="0">
              <a:cs typeface="Arial MT"/>
            </a:endParaRPr>
          </a:p>
          <a:p>
            <a:pPr marL="368300" indent="-342900">
              <a:spcBef>
                <a:spcPts val="434"/>
              </a:spcBef>
              <a:buFont typeface="Arial" panose="020B0604020202020204" pitchFamily="34" charset="0"/>
              <a:buChar char="•"/>
              <a:tabLst>
                <a:tab pos="406400" algn="l"/>
              </a:tabLst>
            </a:pPr>
            <a:r>
              <a:rPr lang="en-US" dirty="0">
                <a:cs typeface="Arial MT"/>
              </a:rPr>
              <a:t>Training</a:t>
            </a:r>
            <a:r>
              <a:rPr lang="en-US" spc="-20" dirty="0">
                <a:cs typeface="Arial MT"/>
              </a:rPr>
              <a:t> </a:t>
            </a:r>
            <a:r>
              <a:rPr lang="en-US" dirty="0">
                <a:cs typeface="Arial MT"/>
              </a:rPr>
              <a:t>size</a:t>
            </a:r>
            <a:r>
              <a:rPr lang="en-US" spc="-25" dirty="0">
                <a:cs typeface="Arial MT"/>
              </a:rPr>
              <a:t> </a:t>
            </a:r>
            <a:r>
              <a:rPr lang="en-US" dirty="0">
                <a:cs typeface="Arial MT"/>
              </a:rPr>
              <a:t>=</a:t>
            </a:r>
            <a:r>
              <a:rPr lang="en-US" spc="-25" dirty="0">
                <a:cs typeface="Arial MT"/>
              </a:rPr>
              <a:t> </a:t>
            </a:r>
            <a:r>
              <a:rPr lang="en-US" dirty="0">
                <a:cs typeface="Arial MT"/>
              </a:rPr>
              <a:t>2</a:t>
            </a:r>
            <a:r>
              <a:rPr lang="en-US" baseline="24305" dirty="0">
                <a:cs typeface="Arial MT"/>
              </a:rPr>
              <a:t>18</a:t>
            </a:r>
            <a:r>
              <a:rPr lang="en-US" spc="284" baseline="24305" dirty="0">
                <a:cs typeface="Arial MT"/>
              </a:rPr>
              <a:t> </a:t>
            </a:r>
            <a:r>
              <a:rPr lang="en-US" dirty="0">
                <a:cs typeface="Arial MT"/>
              </a:rPr>
              <a:t>steps</a:t>
            </a:r>
            <a:r>
              <a:rPr lang="en-US" spc="-25" dirty="0">
                <a:cs typeface="Arial MT"/>
              </a:rPr>
              <a:t> </a:t>
            </a:r>
            <a:r>
              <a:rPr lang="en-US" dirty="0">
                <a:cs typeface="Arial MT"/>
              </a:rPr>
              <a:t>=</a:t>
            </a:r>
            <a:r>
              <a:rPr lang="en-US" spc="-25" dirty="0">
                <a:cs typeface="Arial MT"/>
              </a:rPr>
              <a:t> </a:t>
            </a:r>
            <a:r>
              <a:rPr lang="en-US" dirty="0">
                <a:cs typeface="Arial MT"/>
              </a:rPr>
              <a:t>2</a:t>
            </a:r>
            <a:r>
              <a:rPr lang="en-US" baseline="24305" dirty="0">
                <a:cs typeface="Arial MT"/>
              </a:rPr>
              <a:t>18</a:t>
            </a:r>
            <a:r>
              <a:rPr lang="en-US" spc="-22" baseline="24305" dirty="0">
                <a:cs typeface="Arial MT"/>
              </a:rPr>
              <a:t> </a:t>
            </a:r>
            <a:r>
              <a:rPr lang="en-US" dirty="0">
                <a:cs typeface="Cambria Math"/>
              </a:rPr>
              <a:t>⨯</a:t>
            </a:r>
            <a:r>
              <a:rPr lang="en-US" spc="105" dirty="0">
                <a:cs typeface="Cambria Math"/>
              </a:rPr>
              <a:t> </a:t>
            </a:r>
            <a:r>
              <a:rPr lang="en-US" dirty="0">
                <a:cs typeface="Arial MT"/>
              </a:rPr>
              <a:t>2</a:t>
            </a:r>
            <a:r>
              <a:rPr lang="en-US" baseline="24305" dirty="0">
                <a:cs typeface="Arial MT"/>
              </a:rPr>
              <a:t>16</a:t>
            </a:r>
            <a:r>
              <a:rPr lang="en-US" spc="637" baseline="24305" dirty="0">
                <a:cs typeface="Arial MT"/>
              </a:rPr>
              <a:t> </a:t>
            </a:r>
            <a:r>
              <a:rPr lang="en-US" dirty="0">
                <a:cs typeface="Arial MT"/>
              </a:rPr>
              <a:t>=</a:t>
            </a:r>
            <a:r>
              <a:rPr lang="en-US" spc="-25" dirty="0">
                <a:cs typeface="Arial MT"/>
              </a:rPr>
              <a:t> </a:t>
            </a:r>
            <a:r>
              <a:rPr lang="en-US" dirty="0">
                <a:cs typeface="Arial MT"/>
              </a:rPr>
              <a:t>2</a:t>
            </a:r>
            <a:r>
              <a:rPr lang="en-US" baseline="24305" dirty="0">
                <a:cs typeface="Arial MT"/>
              </a:rPr>
              <a:t>34</a:t>
            </a:r>
            <a:r>
              <a:rPr lang="en-US" spc="284" baseline="24305" dirty="0">
                <a:cs typeface="Arial MT"/>
              </a:rPr>
              <a:t> </a:t>
            </a:r>
            <a:r>
              <a:rPr lang="en-US" spc="-10" dirty="0">
                <a:cs typeface="Arial MT"/>
              </a:rPr>
              <a:t>tokens</a:t>
            </a:r>
            <a:endParaRPr lang="en-US" dirty="0">
              <a:cs typeface="Arial MT"/>
            </a:endParaRPr>
          </a:p>
          <a:p>
            <a:pPr marL="368300" indent="-342900">
              <a:spcBef>
                <a:spcPts val="434"/>
              </a:spcBef>
              <a:buFont typeface="Arial" panose="020B0604020202020204" pitchFamily="34" charset="0"/>
              <a:buChar char="•"/>
              <a:tabLst>
                <a:tab pos="406400" algn="l"/>
              </a:tabLst>
            </a:pPr>
            <a:r>
              <a:rPr lang="en-US" dirty="0">
                <a:cs typeface="Arial MT"/>
              </a:rPr>
              <a:t>constant</a:t>
            </a:r>
            <a:r>
              <a:rPr lang="en-US" spc="-95" dirty="0">
                <a:cs typeface="Arial MT"/>
              </a:rPr>
              <a:t> </a:t>
            </a:r>
            <a:r>
              <a:rPr lang="en-US" dirty="0">
                <a:cs typeface="Arial MT"/>
              </a:rPr>
              <a:t>learning</a:t>
            </a:r>
            <a:r>
              <a:rPr lang="en-US" spc="-80" dirty="0">
                <a:cs typeface="Arial MT"/>
              </a:rPr>
              <a:t> </a:t>
            </a:r>
            <a:r>
              <a:rPr lang="en-US" dirty="0">
                <a:cs typeface="Arial MT"/>
              </a:rPr>
              <a:t>rate:</a:t>
            </a:r>
            <a:r>
              <a:rPr lang="en-US" spc="-100" dirty="0">
                <a:cs typeface="Arial MT"/>
              </a:rPr>
              <a:t> </a:t>
            </a:r>
            <a:r>
              <a:rPr lang="en-US" spc="-10" dirty="0">
                <a:cs typeface="Arial MT"/>
              </a:rPr>
              <a:t>0.001</a:t>
            </a:r>
            <a:endParaRPr lang="en-US" dirty="0">
              <a:cs typeface="Arial MT"/>
            </a:endParaRPr>
          </a:p>
          <a:p>
            <a:pPr marL="368300" indent="-342900">
              <a:spcBef>
                <a:spcPts val="430"/>
              </a:spcBef>
              <a:buFont typeface="Arial" panose="020B0604020202020204" pitchFamily="34" charset="0"/>
              <a:buChar char="•"/>
              <a:tabLst>
                <a:tab pos="406400" algn="l"/>
              </a:tabLst>
            </a:pPr>
            <a:r>
              <a:rPr lang="en-US" dirty="0">
                <a:cs typeface="Arial MT"/>
              </a:rPr>
              <a:t>5,000</a:t>
            </a:r>
            <a:r>
              <a:rPr lang="en-US" spc="-80" dirty="0">
                <a:cs typeface="Arial MT"/>
              </a:rPr>
              <a:t> </a:t>
            </a:r>
            <a:r>
              <a:rPr lang="en-US" spc="-10" dirty="0">
                <a:cs typeface="Arial MT"/>
              </a:rPr>
              <a:t>steps/checkpoint</a:t>
            </a:r>
            <a:endParaRPr lang="en-US" dirty="0">
              <a:cs typeface="Arial MT"/>
            </a:endParaRPr>
          </a:p>
          <a:p>
            <a:pPr marL="342900" indent="-342900">
              <a:buFont typeface="Arial" panose="020B0604020202020204" pitchFamily="34" charset="0"/>
              <a:buChar char="•"/>
            </a:pPr>
            <a:endParaRPr lang="en-IN" dirty="0"/>
          </a:p>
        </p:txBody>
      </p:sp>
      <p:sp>
        <p:nvSpPr>
          <p:cNvPr id="2" name="object 2"/>
          <p:cNvSpPr txBox="1">
            <a:spLocks noGrp="1"/>
          </p:cNvSpPr>
          <p:nvPr>
            <p:ph type="title"/>
          </p:nvPr>
        </p:nvSpPr>
        <p:spPr>
          <a:prstGeom prst="rect">
            <a:avLst/>
          </a:prstGeom>
        </p:spPr>
        <p:txBody>
          <a:bodyPr vert="horz" wrap="square" lIns="0" tIns="12700" rIns="0" bIns="0" rtlCol="0" anchor="ctr">
            <a:spAutoFit/>
          </a:bodyPr>
          <a:lstStyle/>
          <a:p>
            <a:pPr marL="12700">
              <a:spcBef>
                <a:spcPts val="100"/>
              </a:spcBef>
            </a:pPr>
            <a:r>
              <a:rPr lang="en-US" dirty="0"/>
              <a:t>T5- </a:t>
            </a:r>
            <a:r>
              <a:rPr dirty="0"/>
              <a:t>Baseline</a:t>
            </a:r>
            <a:r>
              <a:rPr spc="-100" dirty="0"/>
              <a:t> </a:t>
            </a:r>
            <a:r>
              <a:rPr spc="-20" dirty="0"/>
              <a:t>(Fine-</a:t>
            </a:r>
            <a:r>
              <a:rPr dirty="0"/>
              <a:t>tuning</a:t>
            </a:r>
            <a:r>
              <a:rPr spc="-100" dirty="0"/>
              <a:t> </a:t>
            </a:r>
            <a:r>
              <a:rPr spc="-10" dirty="0"/>
              <a:t>Details)</a:t>
            </a:r>
          </a:p>
        </p:txBody>
      </p:sp>
    </p:spTree>
    <p:extLst>
      <p:ext uri="{BB962C8B-B14F-4D97-AF65-F5344CB8AC3E}">
        <p14:creationId xmlns:p14="http://schemas.microsoft.com/office/powerpoint/2010/main" val="22150594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0"/>
          </p:nvPr>
        </p:nvSpPr>
        <p:spPr>
          <a:xfrm>
            <a:off x="157656" y="1524203"/>
            <a:ext cx="11480800" cy="4525963"/>
          </a:xfrm>
        </p:spPr>
        <p:txBody>
          <a:bodyPr/>
          <a:lstStyle/>
          <a:p>
            <a:pPr marL="355600" indent="-342900">
              <a:spcBef>
                <a:spcPts val="530"/>
              </a:spcBef>
              <a:buFont typeface="Arial" panose="020B0604020202020204" pitchFamily="34" charset="0"/>
              <a:buChar char="•"/>
              <a:tabLst>
                <a:tab pos="393700" algn="l"/>
              </a:tabLst>
            </a:pPr>
            <a:r>
              <a:rPr lang="en-US" dirty="0">
                <a:cs typeface="Arial MT"/>
              </a:rPr>
              <a:t>Text</a:t>
            </a:r>
            <a:r>
              <a:rPr lang="en-US" spc="-75" dirty="0">
                <a:cs typeface="Arial MT"/>
              </a:rPr>
              <a:t> </a:t>
            </a:r>
            <a:r>
              <a:rPr lang="en-US" dirty="0">
                <a:cs typeface="Arial MT"/>
              </a:rPr>
              <a:t>classification:</a:t>
            </a:r>
            <a:r>
              <a:rPr lang="en-US" spc="-60" dirty="0">
                <a:cs typeface="Arial MT"/>
              </a:rPr>
              <a:t> </a:t>
            </a:r>
            <a:r>
              <a:rPr lang="en-US" dirty="0">
                <a:cs typeface="Arial MT"/>
              </a:rPr>
              <a:t>GLUE</a:t>
            </a:r>
            <a:r>
              <a:rPr lang="en-US" spc="-65" dirty="0">
                <a:cs typeface="Arial MT"/>
              </a:rPr>
              <a:t> </a:t>
            </a:r>
            <a:r>
              <a:rPr lang="en-US" dirty="0">
                <a:cs typeface="Arial MT"/>
              </a:rPr>
              <a:t>and</a:t>
            </a:r>
            <a:r>
              <a:rPr lang="en-US" spc="-65" dirty="0">
                <a:cs typeface="Arial MT"/>
              </a:rPr>
              <a:t> </a:t>
            </a:r>
            <a:r>
              <a:rPr lang="en-US" spc="-10" dirty="0" err="1">
                <a:cs typeface="Arial MT"/>
              </a:rPr>
              <a:t>SuperGLUE</a:t>
            </a:r>
            <a:r>
              <a:rPr lang="en-US" spc="-10" dirty="0">
                <a:cs typeface="Arial MT"/>
              </a:rPr>
              <a:t> (</a:t>
            </a:r>
            <a:r>
              <a:rPr lang="en-US" dirty="0"/>
              <a:t>collection of text classification tasks meant to test general language understanding abilities)</a:t>
            </a:r>
            <a:endParaRPr lang="en-US" dirty="0">
              <a:cs typeface="Arial MT"/>
            </a:endParaRPr>
          </a:p>
          <a:p>
            <a:pPr marL="355600" indent="-342900">
              <a:spcBef>
                <a:spcPts val="430"/>
              </a:spcBef>
              <a:buFont typeface="Arial" panose="020B0604020202020204" pitchFamily="34" charset="0"/>
              <a:buChar char="•"/>
              <a:tabLst>
                <a:tab pos="393700" algn="l"/>
              </a:tabLst>
            </a:pPr>
            <a:r>
              <a:rPr lang="en-US" dirty="0">
                <a:cs typeface="Arial MT"/>
              </a:rPr>
              <a:t>Abstractive</a:t>
            </a:r>
            <a:r>
              <a:rPr lang="en-US" spc="-100" dirty="0">
                <a:cs typeface="Arial MT"/>
              </a:rPr>
              <a:t> </a:t>
            </a:r>
            <a:r>
              <a:rPr lang="en-US" spc="-10" dirty="0">
                <a:cs typeface="Arial MT"/>
              </a:rPr>
              <a:t>summarization:</a:t>
            </a:r>
            <a:r>
              <a:rPr lang="en-US" spc="-75" dirty="0">
                <a:cs typeface="Arial MT"/>
              </a:rPr>
              <a:t> </a:t>
            </a:r>
            <a:r>
              <a:rPr lang="en-US" dirty="0">
                <a:cs typeface="Arial MT"/>
              </a:rPr>
              <a:t>CNN/Daily</a:t>
            </a:r>
            <a:r>
              <a:rPr lang="en-US" spc="-75" dirty="0">
                <a:cs typeface="Arial MT"/>
              </a:rPr>
              <a:t> </a:t>
            </a:r>
            <a:r>
              <a:rPr lang="en-US" spc="-20" dirty="0">
                <a:cs typeface="Arial MT"/>
              </a:rPr>
              <a:t>Mail</a:t>
            </a:r>
            <a:endParaRPr lang="en-US" dirty="0">
              <a:cs typeface="Arial MT"/>
            </a:endParaRPr>
          </a:p>
          <a:p>
            <a:pPr marL="355600" indent="-342900">
              <a:spcBef>
                <a:spcPts val="434"/>
              </a:spcBef>
              <a:buFont typeface="Arial" panose="020B0604020202020204" pitchFamily="34" charset="0"/>
              <a:buChar char="•"/>
              <a:tabLst>
                <a:tab pos="393700" algn="l"/>
              </a:tabLst>
            </a:pPr>
            <a:r>
              <a:rPr lang="en-US" dirty="0">
                <a:cs typeface="Arial MT"/>
              </a:rPr>
              <a:t>QA:</a:t>
            </a:r>
            <a:r>
              <a:rPr lang="en-US" spc="-15" dirty="0">
                <a:cs typeface="Arial MT"/>
              </a:rPr>
              <a:t> </a:t>
            </a:r>
            <a:r>
              <a:rPr lang="en-US" spc="-10" dirty="0" err="1">
                <a:cs typeface="Arial MT"/>
              </a:rPr>
              <a:t>SQuAD</a:t>
            </a:r>
            <a:endParaRPr lang="en-US" dirty="0">
              <a:cs typeface="Arial MT"/>
            </a:endParaRPr>
          </a:p>
          <a:p>
            <a:pPr marL="354965" marR="5080" indent="-342900">
              <a:lnSpc>
                <a:spcPct val="114999"/>
              </a:lnSpc>
              <a:buFont typeface="Arial" panose="020B0604020202020204" pitchFamily="34" charset="0"/>
              <a:buChar char="•"/>
              <a:tabLst>
                <a:tab pos="393700" algn="l"/>
              </a:tabLst>
            </a:pPr>
            <a:r>
              <a:rPr lang="en-US" dirty="0">
                <a:cs typeface="Arial MT"/>
              </a:rPr>
              <a:t>Translation:</a:t>
            </a:r>
            <a:r>
              <a:rPr lang="en-US" spc="-65" dirty="0">
                <a:cs typeface="Arial MT"/>
              </a:rPr>
              <a:t> </a:t>
            </a:r>
            <a:r>
              <a:rPr lang="en-US" dirty="0">
                <a:cs typeface="Arial MT"/>
              </a:rPr>
              <a:t>WMT</a:t>
            </a:r>
            <a:r>
              <a:rPr lang="en-US" spc="-85" dirty="0">
                <a:cs typeface="Arial MT"/>
              </a:rPr>
              <a:t> </a:t>
            </a:r>
            <a:r>
              <a:rPr lang="en-US" dirty="0">
                <a:cs typeface="Arial MT"/>
              </a:rPr>
              <a:t>English</a:t>
            </a:r>
            <a:r>
              <a:rPr lang="en-US" spc="-65" dirty="0">
                <a:cs typeface="Arial MT"/>
              </a:rPr>
              <a:t> </a:t>
            </a:r>
            <a:r>
              <a:rPr lang="en-US" dirty="0">
                <a:cs typeface="Arial MT"/>
              </a:rPr>
              <a:t>to</a:t>
            </a:r>
            <a:r>
              <a:rPr lang="en-US" spc="-85" dirty="0">
                <a:cs typeface="Arial MT"/>
              </a:rPr>
              <a:t> </a:t>
            </a:r>
            <a:r>
              <a:rPr lang="en-US" dirty="0">
                <a:cs typeface="Arial MT"/>
              </a:rPr>
              <a:t>German,</a:t>
            </a:r>
            <a:r>
              <a:rPr lang="en-US" spc="-70" dirty="0">
                <a:cs typeface="Arial MT"/>
              </a:rPr>
              <a:t> </a:t>
            </a:r>
            <a:r>
              <a:rPr lang="en-US" dirty="0">
                <a:cs typeface="Arial MT"/>
              </a:rPr>
              <a:t>French,</a:t>
            </a:r>
            <a:r>
              <a:rPr lang="en-US" spc="-70" dirty="0">
                <a:cs typeface="Arial MT"/>
              </a:rPr>
              <a:t> </a:t>
            </a:r>
            <a:r>
              <a:rPr lang="en-US" spc="-25" dirty="0">
                <a:cs typeface="Arial MT"/>
              </a:rPr>
              <a:t>and </a:t>
            </a:r>
            <a:r>
              <a:rPr lang="en-US" spc="-10" dirty="0">
                <a:cs typeface="Arial MT"/>
              </a:rPr>
              <a:t>Romanian</a:t>
            </a:r>
            <a:endParaRPr lang="en-US" dirty="0">
              <a:cs typeface="Arial MT"/>
            </a:endParaRPr>
          </a:p>
          <a:p>
            <a:endParaRPr lang="en-IN" dirty="0"/>
          </a:p>
        </p:txBody>
      </p:sp>
      <p:sp>
        <p:nvSpPr>
          <p:cNvPr id="2" name="object 2"/>
          <p:cNvSpPr txBox="1">
            <a:spLocks noGrp="1"/>
          </p:cNvSpPr>
          <p:nvPr>
            <p:ph type="title"/>
          </p:nvPr>
        </p:nvSpPr>
        <p:spPr>
          <a:xfrm>
            <a:off x="304801" y="326189"/>
            <a:ext cx="10881209" cy="566822"/>
          </a:xfrm>
          <a:prstGeom prst="rect">
            <a:avLst/>
          </a:prstGeom>
        </p:spPr>
        <p:txBody>
          <a:bodyPr vert="horz" wrap="square" lIns="0" tIns="12700" rIns="0" bIns="0" rtlCol="0" anchor="ctr">
            <a:spAutoFit/>
          </a:bodyPr>
          <a:lstStyle/>
          <a:p>
            <a:pPr marL="12700">
              <a:spcBef>
                <a:spcPts val="100"/>
              </a:spcBef>
            </a:pPr>
            <a:r>
              <a:rPr lang="en-US" spc="-25" dirty="0"/>
              <a:t>T5- </a:t>
            </a:r>
            <a:r>
              <a:rPr spc="-25" dirty="0"/>
              <a:t>Fine-</a:t>
            </a:r>
            <a:r>
              <a:rPr dirty="0"/>
              <a:t>tuning</a:t>
            </a:r>
            <a:r>
              <a:rPr spc="-60" dirty="0"/>
              <a:t> </a:t>
            </a:r>
            <a:r>
              <a:rPr spc="-10" dirty="0"/>
              <a:t>(Downstream)</a:t>
            </a:r>
            <a:r>
              <a:rPr spc="-60" dirty="0"/>
              <a:t> </a:t>
            </a:r>
            <a:r>
              <a:rPr spc="-10" dirty="0"/>
              <a:t>tasks</a:t>
            </a:r>
          </a:p>
        </p:txBody>
      </p:sp>
    </p:spTree>
    <p:extLst>
      <p:ext uri="{BB962C8B-B14F-4D97-AF65-F5344CB8AC3E}">
        <p14:creationId xmlns:p14="http://schemas.microsoft.com/office/powerpoint/2010/main" val="17593529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3726</Words>
  <Application>Microsoft Office PowerPoint</Application>
  <PresentationFormat>Widescreen</PresentationFormat>
  <Paragraphs>361</Paragraphs>
  <Slides>54</Slides>
  <Notes>17</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54</vt:i4>
      </vt:variant>
    </vt:vector>
  </HeadingPairs>
  <TitlesOfParts>
    <vt:vector size="68" baseType="lpstr">
      <vt:lpstr>Arial</vt:lpstr>
      <vt:lpstr>Arial MT</vt:lpstr>
      <vt:lpstr>Calibri</vt:lpstr>
      <vt:lpstr>Calibri Light</vt:lpstr>
      <vt:lpstr>Cambria</vt:lpstr>
      <vt:lpstr>Cambria Math</vt:lpstr>
      <vt:lpstr>Montserrat</vt:lpstr>
      <vt:lpstr>NVIDIA-NALA</vt:lpstr>
      <vt:lpstr>pplxSerif</vt:lpstr>
      <vt:lpstr>SF Pro Display</vt:lpstr>
      <vt:lpstr>Tahoma</vt:lpstr>
      <vt:lpstr>Times New Roman</vt:lpstr>
      <vt:lpstr>1_Office Theme</vt:lpstr>
      <vt:lpstr>2_Office Theme</vt:lpstr>
      <vt:lpstr> </vt:lpstr>
      <vt:lpstr>PowerPoint Presentation</vt:lpstr>
      <vt:lpstr>PowerPoint Presentation</vt:lpstr>
      <vt:lpstr>PowerPoint Presentation</vt:lpstr>
      <vt:lpstr>Self-Supervised Learning</vt:lpstr>
      <vt:lpstr>PowerPoint Presentation</vt:lpstr>
      <vt:lpstr>LLM training</vt:lpstr>
      <vt:lpstr>Modern LLM development and training pipeline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Continued Pre-training (CPT)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Extra Slides (not for exam)</vt:lpstr>
      <vt:lpstr>GPT-1</vt:lpstr>
      <vt:lpstr>GPT-1</vt:lpstr>
      <vt:lpstr>GPT-1</vt:lpstr>
      <vt:lpstr>GPT-1</vt:lpstr>
      <vt:lpstr>PowerPoint Presentation</vt:lpstr>
      <vt:lpstr>PowerPoint Presentation</vt:lpstr>
      <vt:lpstr>PowerPoint Presentation</vt:lpstr>
      <vt:lpstr>PowerPoint Presentation</vt:lpstr>
      <vt:lpstr>T5</vt:lpstr>
      <vt:lpstr>T5 - Input-Output</vt:lpstr>
      <vt:lpstr>T5- Input-Output</vt:lpstr>
      <vt:lpstr>T5- Vocabulary</vt:lpstr>
      <vt:lpstr>T5- Baseline (Pre-training details)</vt:lpstr>
      <vt:lpstr>T5- Baseline (Fine-tuning Details)</vt:lpstr>
      <vt:lpstr>T5- Fine-tuning (Downstream) tasks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2026-04-30T12:20:02Z</dcterms:created>
  <dcterms:modified xsi:type="dcterms:W3CDTF">2026-04-30T12:20:11Z</dcterms:modified>
</cp:coreProperties>
</file>