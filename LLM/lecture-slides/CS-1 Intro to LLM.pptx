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69"/>
  </p:notesMasterIdLst>
  <p:sldIdLst>
    <p:sldId id="257" r:id="rId3"/>
    <p:sldId id="262" r:id="rId4"/>
    <p:sldId id="487" r:id="rId5"/>
    <p:sldId id="486" r:id="rId6"/>
    <p:sldId id="389" r:id="rId7"/>
    <p:sldId id="345" r:id="rId8"/>
    <p:sldId id="344" r:id="rId9"/>
    <p:sldId id="379" r:id="rId10"/>
    <p:sldId id="263" r:id="rId11"/>
    <p:sldId id="343" r:id="rId12"/>
    <p:sldId id="264" r:id="rId13"/>
    <p:sldId id="266" r:id="rId14"/>
    <p:sldId id="390" r:id="rId15"/>
    <p:sldId id="346" r:id="rId16"/>
    <p:sldId id="383" r:id="rId17"/>
    <p:sldId id="382" r:id="rId18"/>
    <p:sldId id="347" r:id="rId19"/>
    <p:sldId id="384" r:id="rId20"/>
    <p:sldId id="482" r:id="rId21"/>
    <p:sldId id="483" r:id="rId22"/>
    <p:sldId id="351" r:id="rId23"/>
    <p:sldId id="352" r:id="rId24"/>
    <p:sldId id="288" r:id="rId25"/>
    <p:sldId id="283" r:id="rId26"/>
    <p:sldId id="284" r:id="rId27"/>
    <p:sldId id="271" r:id="rId28"/>
    <p:sldId id="274" r:id="rId29"/>
    <p:sldId id="277" r:id="rId30"/>
    <p:sldId id="275" r:id="rId31"/>
    <p:sldId id="276" r:id="rId32"/>
    <p:sldId id="279" r:id="rId33"/>
    <p:sldId id="281" r:id="rId34"/>
    <p:sldId id="270" r:id="rId35"/>
    <p:sldId id="282" r:id="rId36"/>
    <p:sldId id="363" r:id="rId37"/>
    <p:sldId id="285" r:id="rId38"/>
    <p:sldId id="353" r:id="rId39"/>
    <p:sldId id="354" r:id="rId40"/>
    <p:sldId id="356" r:id="rId41"/>
    <p:sldId id="361" r:id="rId42"/>
    <p:sldId id="357" r:id="rId43"/>
    <p:sldId id="366" r:id="rId44"/>
    <p:sldId id="376" r:id="rId45"/>
    <p:sldId id="381" r:id="rId46"/>
    <p:sldId id="287" r:id="rId47"/>
    <p:sldId id="290" r:id="rId48"/>
    <p:sldId id="286" r:id="rId49"/>
    <p:sldId id="299" r:id="rId50"/>
    <p:sldId id="303" r:id="rId51"/>
    <p:sldId id="304" r:id="rId52"/>
    <p:sldId id="311" r:id="rId53"/>
    <p:sldId id="484" r:id="rId54"/>
    <p:sldId id="315" r:id="rId55"/>
    <p:sldId id="316" r:id="rId56"/>
    <p:sldId id="317" r:id="rId57"/>
    <p:sldId id="387" r:id="rId58"/>
    <p:sldId id="306" r:id="rId59"/>
    <p:sldId id="267" r:id="rId60"/>
    <p:sldId id="308" r:id="rId61"/>
    <p:sldId id="309" r:id="rId62"/>
    <p:sldId id="310" r:id="rId63"/>
    <p:sldId id="293" r:id="rId64"/>
    <p:sldId id="294" r:id="rId65"/>
    <p:sldId id="295" r:id="rId66"/>
    <p:sldId id="296" r:id="rId67"/>
    <p:sldId id="297"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3577" autoAdjust="0"/>
  </p:normalViewPr>
  <p:slideViewPr>
    <p:cSldViewPr snapToGrid="0">
      <p:cViewPr varScale="1">
        <p:scale>
          <a:sx n="62" d="100"/>
          <a:sy n="62" d="100"/>
        </p:scale>
        <p:origin x="82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6311DD-96BC-48D8-A887-C0241ACEBCEC}" type="datetimeFigureOut">
              <a:rPr lang="en-IN" smtClean="0"/>
              <a:t>24-04-2026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D1180-89B7-4B77-82A2-F71C55345F5A}" type="slidenum">
              <a:rPr lang="en-IN" smtClean="0"/>
              <a:t>‹#›</a:t>
            </a:fld>
            <a:endParaRPr lang="en-IN"/>
          </a:p>
        </p:txBody>
      </p:sp>
    </p:spTree>
    <p:extLst>
      <p:ext uri="{BB962C8B-B14F-4D97-AF65-F5344CB8AC3E}">
        <p14:creationId xmlns:p14="http://schemas.microsoft.com/office/powerpoint/2010/main" val="675481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7</a:t>
            </a:fld>
            <a:endParaRPr lang="en-IN"/>
          </a:p>
        </p:txBody>
      </p:sp>
    </p:spTree>
    <p:extLst>
      <p:ext uri="{BB962C8B-B14F-4D97-AF65-F5344CB8AC3E}">
        <p14:creationId xmlns:p14="http://schemas.microsoft.com/office/powerpoint/2010/main" val="86736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EBC9D2F-5FCE-4B4F-80E6-E39EED6BD8E1}" type="slidenum">
              <a:rPr lang="en-IN" smtClean="0"/>
              <a:pPr/>
              <a:t>8</a:t>
            </a:fld>
            <a:endParaRPr lang="en-IN"/>
          </a:p>
        </p:txBody>
      </p:sp>
    </p:spTree>
    <p:extLst>
      <p:ext uri="{BB962C8B-B14F-4D97-AF65-F5344CB8AC3E}">
        <p14:creationId xmlns:p14="http://schemas.microsoft.com/office/powerpoint/2010/main" val="1127504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Input to the LLM is a piece of text (a prompt )and then have the LLM continue generating text token by token, conditioned on the prompt and the subsequently generated tokens</a:t>
            </a:r>
          </a:p>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10</a:t>
            </a:fld>
            <a:endParaRPr lang="en-IN"/>
          </a:p>
        </p:txBody>
      </p:sp>
    </p:spTree>
    <p:extLst>
      <p:ext uri="{BB962C8B-B14F-4D97-AF65-F5344CB8AC3E}">
        <p14:creationId xmlns:p14="http://schemas.microsoft.com/office/powerpoint/2010/main" val="2351016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attention between “</a:t>
            </a:r>
            <a:r>
              <a:rPr lang="en-US" i="1" dirty="0"/>
              <a:t>My</a:t>
            </a:r>
            <a:r>
              <a:rPr lang="en-US" dirty="0"/>
              <a:t>” and “</a:t>
            </a:r>
            <a:r>
              <a:rPr lang="en-US" i="1" dirty="0"/>
              <a:t>name</a:t>
            </a:r>
            <a:r>
              <a:rPr lang="en-US" dirty="0"/>
              <a:t>” does not need to be calculated first before we calculate the attention between “</a:t>
            </a:r>
            <a:r>
              <a:rPr lang="en-US" i="1" dirty="0"/>
              <a:t>name</a:t>
            </a:r>
            <a:r>
              <a:rPr lang="en-US" dirty="0"/>
              <a:t>” and “</a:t>
            </a:r>
            <a:r>
              <a:rPr lang="en-US" i="1" dirty="0"/>
              <a:t>is</a:t>
            </a:r>
            <a:r>
              <a:rPr lang="en-US" dirty="0"/>
              <a:t>”.</a:t>
            </a:r>
          </a:p>
          <a:p>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16</a:t>
            </a:fld>
            <a:endParaRPr lang="en-IN"/>
          </a:p>
        </p:txBody>
      </p:sp>
    </p:spTree>
    <p:extLst>
      <p:ext uri="{BB962C8B-B14F-4D97-AF65-F5344CB8AC3E}">
        <p14:creationId xmlns:p14="http://schemas.microsoft.com/office/powerpoint/2010/main" val="3536728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Furthermore, the result of a dot product can be an arbitrarily large (positive or negative) value, and </a:t>
            </a:r>
            <a:r>
              <a:rPr lang="en-US" dirty="0" err="1"/>
              <a:t>exponentiating</a:t>
            </a:r>
            <a:r>
              <a:rPr lang="en-US" dirty="0"/>
              <a:t> large values can lead to numerical issues and loss of gradients during training. To avoid this, we scale the dot product by a factor related to the size of the </a:t>
            </a:r>
            <a:r>
              <a:rPr lang="en-US" dirty="0" err="1"/>
              <a:t>embeddings</a:t>
            </a:r>
            <a:r>
              <a:rPr lang="en-US" dirty="0"/>
              <a:t>, via dividing by the square root of the dimensionality of the query and key vectors (</a:t>
            </a:r>
            <a:r>
              <a:rPr lang="en-US" dirty="0" err="1"/>
              <a:t>dk</a:t>
            </a:r>
            <a:r>
              <a:rPr lang="en-US" dirty="0"/>
              <a:t>).</a:t>
            </a:r>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17</a:t>
            </a:fld>
            <a:endParaRPr lang="en-IN"/>
          </a:p>
        </p:txBody>
      </p:sp>
    </p:spTree>
    <p:extLst>
      <p:ext uri="{BB962C8B-B14F-4D97-AF65-F5344CB8AC3E}">
        <p14:creationId xmlns:p14="http://schemas.microsoft.com/office/powerpoint/2010/main" val="4102515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21c8648b289_0_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21c8648b289_0_9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g21c8648b289_0_9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857345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Layer norm is a variation of the z-score from statistics</a:t>
            </a:r>
          </a:p>
          <a:p>
            <a:r>
              <a:rPr lang="en-US" sz="1200" b="0" i="0" kern="1200" dirty="0">
                <a:solidFill>
                  <a:schemeClr val="tx1"/>
                </a:solidFill>
                <a:effectLst/>
                <a:latin typeface="+mn-lt"/>
                <a:ea typeface="+mn-ea"/>
                <a:cs typeface="+mn-cs"/>
              </a:rPr>
              <a:t>The attention layer creates contextualized token representations by mixing information across tokens; the FFN then transforms each token representation independently using a nonlinear mapping</a:t>
            </a:r>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22</a:t>
            </a:fld>
            <a:endParaRPr lang="en-IN"/>
          </a:p>
        </p:txBody>
      </p:sp>
    </p:spTree>
    <p:extLst>
      <p:ext uri="{BB962C8B-B14F-4D97-AF65-F5344CB8AC3E}">
        <p14:creationId xmlns:p14="http://schemas.microsoft.com/office/powerpoint/2010/main" val="1861687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Input:</a:t>
            </a:r>
            <a:r>
              <a:rPr lang="en-US" dirty="0"/>
              <a:t> The list of IDs from the tokenizer.</a:t>
            </a:r>
          </a:p>
          <a:p>
            <a:r>
              <a:rPr lang="en-US" b="1" dirty="0"/>
              <a:t>Action:</a:t>
            </a:r>
            <a:r>
              <a:rPr lang="en-US" dirty="0"/>
              <a:t> Uses each ID as an index to look up a row in a massive mathematical table (the </a:t>
            </a:r>
            <a:r>
              <a:rPr lang="en-US" b="1" dirty="0"/>
              <a:t>Embedding Matrix</a:t>
            </a:r>
            <a:r>
              <a:rPr lang="en-US" dirty="0"/>
              <a:t>).</a:t>
            </a:r>
          </a:p>
          <a:p>
            <a:r>
              <a:rPr lang="en-US" b="1" dirty="0"/>
              <a:t>Output:</a:t>
            </a:r>
            <a:r>
              <a:rPr lang="en-US" dirty="0"/>
              <a:t> A dense vector of floating-point numbers (e.g., a list of 4,096 numbers for a single token)</a:t>
            </a:r>
          </a:p>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31</a:t>
            </a:fld>
            <a:endParaRPr lang="en-IN"/>
          </a:p>
        </p:txBody>
      </p:sp>
    </p:spTree>
    <p:extLst>
      <p:ext uri="{BB962C8B-B14F-4D97-AF65-F5344CB8AC3E}">
        <p14:creationId xmlns:p14="http://schemas.microsoft.com/office/powerpoint/2010/main" val="4016180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Specialized Architectures (SBERT &amp; Doc2Vec)</a:t>
            </a:r>
          </a:p>
          <a:p>
            <a:r>
              <a:rPr lang="en-IN" dirty="0"/>
              <a:t>[CLS] Token Method (Classification) – Sentence</a:t>
            </a:r>
          </a:p>
          <a:p>
            <a:r>
              <a:rPr lang="en-US" b="1" dirty="0"/>
              <a:t>Mean Pooling, Max Pooling:</a:t>
            </a:r>
            <a:endParaRPr lang="en-US" dirty="0"/>
          </a:p>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33</a:t>
            </a:fld>
            <a:endParaRPr lang="en-IN"/>
          </a:p>
        </p:txBody>
      </p:sp>
    </p:spTree>
    <p:extLst>
      <p:ext uri="{BB962C8B-B14F-4D97-AF65-F5344CB8AC3E}">
        <p14:creationId xmlns:p14="http://schemas.microsoft.com/office/powerpoint/2010/main" val="2890382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Training</a:t>
                </a:r>
              </a:p>
              <a:p>
                <a:r>
                  <a:rPr lang="en-US" sz="1200" b="0" i="0" kern="1200" dirty="0">
                    <a:solidFill>
                      <a:schemeClr val="tx1"/>
                    </a:solidFill>
                    <a:effectLst/>
                    <a:latin typeface="+mn-lt"/>
                    <a:ea typeface="+mn-ea"/>
                    <a:cs typeface="+mn-cs"/>
                  </a:rPr>
                  <a:t>For an input sequence of length </a:t>
                </a:r>
                <a14:m>
                  <m:oMath xmlns:m="http://schemas.openxmlformats.org/officeDocument/2006/math">
                    <m:r>
                      <a:rPr lang="en-US" sz="1200" i="1" kern="1200">
                        <a:solidFill>
                          <a:schemeClr val="tx1"/>
                        </a:solidFill>
                        <a:latin typeface="+mn-lt"/>
                        <a:ea typeface="+mn-ea"/>
                        <a:cs typeface="+mn-cs"/>
                      </a:rPr>
                      <m:t>𝑁</m:t>
                    </m:r>
                  </m:oMath>
                </a14:m>
                <a:r>
                  <a:rPr lang="en-US" sz="1200" b="0" i="0" kern="1200" dirty="0">
                    <a:solidFill>
                      <a:schemeClr val="tx1"/>
                    </a:solidFill>
                    <a:effectLst/>
                    <a:latin typeface="+mn-lt"/>
                    <a:ea typeface="+mn-ea"/>
                    <a:cs typeface="+mn-cs"/>
                  </a:rPr>
                  <a:t>, the model produces one logits vector at each position, and each position is trained to predict the token that comes immediately after it.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means the targets are just the input sequence shifted by one position, so the model gets learning signal from many positions in parallel within a single forward pass.</a:t>
                </a:r>
              </a:p>
              <a:p>
                <a:r>
                  <a:rPr lang="en-US" sz="1200" b="0" i="0" kern="1200" dirty="0">
                    <a:solidFill>
                      <a:schemeClr val="tx1"/>
                    </a:solidFill>
                    <a:effectLst/>
                    <a:latin typeface="+mn-lt"/>
                    <a:ea typeface="+mn-ea"/>
                    <a:cs typeface="+mn-cs"/>
                  </a:rPr>
                  <a:t>Generation</a:t>
                </a:r>
              </a:p>
              <a:p>
                <a:r>
                  <a:rPr lang="en-US" sz="1200" b="0" i="0" kern="1200" dirty="0">
                    <a:solidFill>
                      <a:schemeClr val="tx1"/>
                    </a:solidFill>
                    <a:effectLst/>
                    <a:latin typeface="+mn-lt"/>
                    <a:ea typeface="+mn-ea"/>
                    <a:cs typeface="+mn-cs"/>
                  </a:rPr>
                  <a:t>At inference time, the model still computes logits for all positions in the current prefix, but only the logits from the last position are used to pick the next token.</a:t>
                </a:r>
              </a:p>
              <a:p>
                <a:r>
                  <a:rPr lang="en-US" sz="1200" b="0" i="0" kern="1200" dirty="0">
                    <a:solidFill>
                      <a:schemeClr val="tx1"/>
                    </a:solidFill>
                    <a:effectLst/>
                    <a:latin typeface="+mn-lt"/>
                    <a:ea typeface="+mn-ea"/>
                    <a:cs typeface="+mn-cs"/>
                  </a:rPr>
                  <a:t>During training, self-attention is computed for all positions in the sequence in parallel, whereas during inference the initial prompt is also processed across all its tokens, and only the ongoing decoding step focuses on the current last position to produce the next token.</a:t>
                </a:r>
              </a:p>
              <a:p>
                <a:endParaRPr lang="en-IN" dirty="0"/>
              </a:p>
            </p:txBody>
          </p:sp>
        </mc:Choice>
        <mc:Fallback>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Training</a:t>
                </a:r>
              </a:p>
              <a:p>
                <a:r>
                  <a:rPr lang="en-US" sz="1200" b="0" i="0" kern="1200" dirty="0">
                    <a:solidFill>
                      <a:schemeClr val="tx1"/>
                    </a:solidFill>
                    <a:effectLst/>
                    <a:latin typeface="+mn-lt"/>
                    <a:ea typeface="+mn-ea"/>
                    <a:cs typeface="+mn-cs"/>
                  </a:rPr>
                  <a:t>For an input sequence of length </a:t>
                </a:r>
                <a:r>
                  <a:rPr lang="en-US" sz="1200" i="0" kern="1200">
                    <a:solidFill>
                      <a:schemeClr val="tx1"/>
                    </a:solidFill>
                    <a:latin typeface="+mn-lt"/>
                    <a:ea typeface="+mn-ea"/>
                    <a:cs typeface="+mn-cs"/>
                  </a:rPr>
                  <a:t>𝑁</a:t>
                </a:r>
                <a:r>
                  <a:rPr lang="en-US" sz="1200" b="0" i="0" kern="1200" dirty="0">
                    <a:solidFill>
                      <a:schemeClr val="tx1"/>
                    </a:solidFill>
                    <a:effectLst/>
                    <a:latin typeface="+mn-lt"/>
                    <a:ea typeface="+mn-ea"/>
                    <a:cs typeface="+mn-cs"/>
                  </a:rPr>
                  <a:t>, the model produces one logits vector at each position, and each position is trained to predict the token that comes immediately after it.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means the targets are just the input sequence shifted by one position, so the model gets learning signal from many positions in parallel within a single forward pass.</a:t>
                </a:r>
              </a:p>
              <a:p>
                <a:r>
                  <a:rPr lang="en-US" sz="1200" b="0" i="0" kern="1200" dirty="0">
                    <a:solidFill>
                      <a:schemeClr val="tx1"/>
                    </a:solidFill>
                    <a:effectLst/>
                    <a:latin typeface="+mn-lt"/>
                    <a:ea typeface="+mn-ea"/>
                    <a:cs typeface="+mn-cs"/>
                  </a:rPr>
                  <a:t>Generation</a:t>
                </a:r>
              </a:p>
              <a:p>
                <a:r>
                  <a:rPr lang="en-US" sz="1200" b="0" i="0" kern="1200" dirty="0">
                    <a:solidFill>
                      <a:schemeClr val="tx1"/>
                    </a:solidFill>
                    <a:effectLst/>
                    <a:latin typeface="+mn-lt"/>
                    <a:ea typeface="+mn-ea"/>
                    <a:cs typeface="+mn-cs"/>
                  </a:rPr>
                  <a:t>At inference time, the model still computes logits for all positions in the current prefix, but only the logits from the last position are used to pick the next token.</a:t>
                </a:r>
              </a:p>
              <a:p>
                <a:r>
                  <a:rPr lang="en-US" sz="1200" b="0" i="0" kern="1200" dirty="0">
                    <a:solidFill>
                      <a:schemeClr val="tx1"/>
                    </a:solidFill>
                    <a:effectLst/>
                    <a:latin typeface="+mn-lt"/>
                    <a:ea typeface="+mn-ea"/>
                    <a:cs typeface="+mn-cs"/>
                  </a:rPr>
                  <a:t>During training, self-attention is computed for all positions in the sequence in parallel, whereas during inference the initial prompt is also processed across all its tokens, and only the ongoing decoding step focuses on the current last position to produce the next token.</a:t>
                </a:r>
              </a:p>
              <a:p>
                <a:endParaRPr lang="en-IN" dirty="0"/>
              </a:p>
            </p:txBody>
          </p:sp>
        </mc:Fallback>
      </mc:AlternateContent>
      <p:sp>
        <p:nvSpPr>
          <p:cNvPr id="4" name="Slide Number Placeholder 3"/>
          <p:cNvSpPr>
            <a:spLocks noGrp="1"/>
          </p:cNvSpPr>
          <p:nvPr>
            <p:ph type="sldNum" sz="quarter" idx="5"/>
          </p:nvPr>
        </p:nvSpPr>
        <p:spPr/>
        <p:txBody>
          <a:bodyPr/>
          <a:lstStyle/>
          <a:p>
            <a:fld id="{9AAD1180-89B7-4B77-82A2-F71C55345F5A}" type="slidenum">
              <a:rPr lang="en-IN" smtClean="0"/>
              <a:t>36</a:t>
            </a:fld>
            <a:endParaRPr lang="en-IN"/>
          </a:p>
        </p:txBody>
      </p:sp>
    </p:spTree>
    <p:extLst>
      <p:ext uri="{BB962C8B-B14F-4D97-AF65-F5344CB8AC3E}">
        <p14:creationId xmlns:p14="http://schemas.microsoft.com/office/powerpoint/2010/main" val="2086215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large context window allows entire documents to be passed to the LLM</a:t>
            </a:r>
          </a:p>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39</a:t>
            </a:fld>
            <a:endParaRPr lang="en-IN"/>
          </a:p>
        </p:txBody>
      </p:sp>
    </p:spTree>
    <p:extLst>
      <p:ext uri="{BB962C8B-B14F-4D97-AF65-F5344CB8AC3E}">
        <p14:creationId xmlns:p14="http://schemas.microsoft.com/office/powerpoint/2010/main" val="3305200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1200" kern="0" dirty="0">
                <a:solidFill>
                  <a:sysClr val="windowText" lastClr="000000"/>
                </a:solidFill>
              </a:rPr>
              <a:t>Instead of </a:t>
            </a:r>
          </a:p>
          <a:p>
            <a:pPr marL="996943" indent="-342900">
              <a:buFont typeface="Arial" panose="020B0604020202020204" pitchFamily="34" charset="0"/>
              <a:buChar char="•"/>
            </a:pPr>
            <a:r>
              <a:rPr lang="en-US" sz="1200" kern="0" dirty="0">
                <a:solidFill>
                  <a:sysClr val="windowText" lastClr="000000"/>
                </a:solidFill>
              </a:rPr>
              <a:t>white-space segmentation</a:t>
            </a:r>
          </a:p>
          <a:p>
            <a:pPr marL="996943" indent="-342900">
              <a:buFont typeface="Arial" panose="020B0604020202020204" pitchFamily="34" charset="0"/>
              <a:buChar char="•"/>
            </a:pPr>
            <a:r>
              <a:rPr lang="en-US" sz="1200" kern="0" dirty="0">
                <a:solidFill>
                  <a:sysClr val="windowText" lastClr="000000"/>
                </a:solidFill>
              </a:rPr>
              <a:t>single-character segmentation </a:t>
            </a:r>
          </a:p>
          <a:p>
            <a:pPr marL="342900" indent="-342900">
              <a:buFont typeface="Arial" panose="020B0604020202020204" pitchFamily="34" charset="0"/>
              <a:buChar char="•"/>
            </a:pPr>
            <a:r>
              <a:rPr lang="en-US" sz="1200" b="1" kern="0" dirty="0">
                <a:solidFill>
                  <a:sysClr val="windowText" lastClr="000000"/>
                </a:solidFill>
              </a:rPr>
              <a:t>Use the data </a:t>
            </a:r>
            <a:r>
              <a:rPr lang="en-US" sz="1200" kern="0" dirty="0">
                <a:solidFill>
                  <a:sysClr val="windowText" lastClr="000000"/>
                </a:solidFill>
              </a:rPr>
              <a:t>to tell us how to tokenize.</a:t>
            </a:r>
          </a:p>
          <a:p>
            <a:pPr marL="342900" indent="-342900">
              <a:buFont typeface="Arial" panose="020B0604020202020204" pitchFamily="34" charset="0"/>
              <a:buChar char="•"/>
            </a:pPr>
            <a:r>
              <a:rPr lang="en-US" sz="1200" b="1" kern="0" dirty="0" err="1">
                <a:solidFill>
                  <a:sysClr val="windowText" lastClr="000000"/>
                </a:solidFill>
              </a:rPr>
              <a:t>Subword</a:t>
            </a:r>
            <a:r>
              <a:rPr lang="en-US" sz="1200" b="1" kern="0" dirty="0">
                <a:solidFill>
                  <a:sysClr val="windowText" lastClr="000000"/>
                </a:solidFill>
              </a:rPr>
              <a:t> tokenization </a:t>
            </a:r>
            <a:r>
              <a:rPr lang="en-US" sz="1200" kern="0" dirty="0">
                <a:solidFill>
                  <a:sysClr val="windowText" lastClr="000000"/>
                </a:solidFill>
              </a:rPr>
              <a:t>(because tokens can be parts of words as well as whole words)</a:t>
            </a:r>
          </a:p>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46</a:t>
            </a:fld>
            <a:endParaRPr lang="en-IN"/>
          </a:p>
        </p:txBody>
      </p:sp>
    </p:spTree>
    <p:extLst>
      <p:ext uri="{BB962C8B-B14F-4D97-AF65-F5344CB8AC3E}">
        <p14:creationId xmlns:p14="http://schemas.microsoft.com/office/powerpoint/2010/main" val="3430986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Subword</a:t>
            </a:r>
            <a:r>
              <a:rPr lang="en-US" dirty="0"/>
              <a:t> tokens present an advantage over character tokens in the ability to fit more text within the limited context length of a Transformer model. So with a model with a context length of 1,024, you may be able to fit about three times as much text using </a:t>
            </a:r>
            <a:r>
              <a:rPr lang="en-US" dirty="0" err="1"/>
              <a:t>subword</a:t>
            </a:r>
            <a:r>
              <a:rPr lang="en-US" dirty="0"/>
              <a:t> tokenization than using character tokens (</a:t>
            </a:r>
            <a:r>
              <a:rPr lang="en-US" dirty="0" err="1"/>
              <a:t>subword</a:t>
            </a:r>
            <a:r>
              <a:rPr lang="en-US" dirty="0"/>
              <a:t> tokens often average three characters per token).</a:t>
            </a:r>
            <a:endParaRPr lang="en-IN" dirty="0"/>
          </a:p>
        </p:txBody>
      </p:sp>
      <p:sp>
        <p:nvSpPr>
          <p:cNvPr id="4" name="Slide Number Placeholder 3"/>
          <p:cNvSpPr>
            <a:spLocks noGrp="1"/>
          </p:cNvSpPr>
          <p:nvPr>
            <p:ph type="sldNum" sz="quarter" idx="10"/>
          </p:nvPr>
        </p:nvSpPr>
        <p:spPr/>
        <p:txBody>
          <a:bodyPr/>
          <a:lstStyle/>
          <a:p>
            <a:fld id="{9AAD1180-89B7-4B77-82A2-F71C55345F5A}" type="slidenum">
              <a:rPr lang="en-IN" smtClean="0"/>
              <a:t>47</a:t>
            </a:fld>
            <a:endParaRPr lang="en-IN"/>
          </a:p>
        </p:txBody>
      </p:sp>
    </p:spTree>
    <p:extLst>
      <p:ext uri="{BB962C8B-B14F-4D97-AF65-F5344CB8AC3E}">
        <p14:creationId xmlns:p14="http://schemas.microsoft.com/office/powerpoint/2010/main" val="1425056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Many models, including T5, </a:t>
            </a:r>
            <a:r>
              <a:rPr lang="en-US" sz="1200" b="0" i="0" kern="1200" dirty="0" err="1">
                <a:solidFill>
                  <a:schemeClr val="tx1"/>
                </a:solidFill>
                <a:effectLst/>
                <a:latin typeface="+mn-lt"/>
                <a:ea typeface="+mn-ea"/>
                <a:cs typeface="+mn-cs"/>
              </a:rPr>
              <a:t>LLaMA</a:t>
            </a:r>
            <a:r>
              <a:rPr lang="en-US" sz="1200" b="0" i="0" kern="1200" dirty="0">
                <a:solidFill>
                  <a:schemeClr val="tx1"/>
                </a:solidFill>
                <a:effectLst/>
                <a:latin typeface="+mn-lt"/>
                <a:ea typeface="+mn-ea"/>
                <a:cs typeface="+mn-cs"/>
              </a:rPr>
              <a:t>, and Gemma, use </a:t>
            </a:r>
            <a:r>
              <a:rPr lang="en-US" sz="1200" b="0" i="0" kern="1200" dirty="0" err="1">
                <a:solidFill>
                  <a:schemeClr val="tx1"/>
                </a:solidFill>
                <a:effectLst/>
                <a:latin typeface="+mn-lt"/>
                <a:ea typeface="+mn-ea"/>
                <a:cs typeface="+mn-cs"/>
              </a:rPr>
              <a:t>SentencePiece</a:t>
            </a:r>
            <a:r>
              <a:rPr lang="en-US" sz="1200" b="0" i="0" kern="1200" dirty="0">
                <a:solidFill>
                  <a:schemeClr val="tx1"/>
                </a:solidFill>
                <a:effectLst/>
                <a:latin typeface="+mn-lt"/>
                <a:ea typeface="+mn-ea"/>
                <a:cs typeface="+mn-cs"/>
              </a:rPr>
              <a:t>-based tokenizers; the underlying segmentation may be unigram or BPE depending on the model</a:t>
            </a:r>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52</a:t>
            </a:fld>
            <a:endParaRPr lang="en-IN"/>
          </a:p>
        </p:txBody>
      </p:sp>
    </p:spTree>
    <p:extLst>
      <p:ext uri="{BB962C8B-B14F-4D97-AF65-F5344CB8AC3E}">
        <p14:creationId xmlns:p14="http://schemas.microsoft.com/office/powerpoint/2010/main" val="3978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60</a:t>
            </a:fld>
            <a:endParaRPr lang="en-IN"/>
          </a:p>
        </p:txBody>
      </p:sp>
    </p:spTree>
    <p:extLst>
      <p:ext uri="{BB962C8B-B14F-4D97-AF65-F5344CB8AC3E}">
        <p14:creationId xmlns:p14="http://schemas.microsoft.com/office/powerpoint/2010/main" val="36165916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t>Byte:  8 bits</a:t>
            </a:r>
          </a:p>
          <a:p>
            <a:r>
              <a:rPr lang="en-IN" sz="1200" dirty="0"/>
              <a:t>Character (UTF-8): 1 to 4 bytes</a:t>
            </a:r>
          </a:p>
          <a:p>
            <a:r>
              <a:rPr lang="en-IN" sz="1200" dirty="0"/>
              <a:t>BPE Token: 1 to N bytes (where N  is limited by training data and vocabulary size)</a:t>
            </a:r>
          </a:p>
          <a:p>
            <a:endParaRPr lang="en-IN" sz="1200" dirty="0"/>
          </a:p>
          <a:p>
            <a:endParaRPr lang="en-IN" sz="1200" dirty="0"/>
          </a:p>
          <a:p>
            <a:r>
              <a:rPr lang="en-US" sz="1200" dirty="0"/>
              <a:t>Compression: If a model has a context window of 8,000 tokens, and each token averages 4 bytes, the model can "see" 32,000 characters. If the tokenizer was 1-byte-only, the model would only see 8,000 characters.</a:t>
            </a:r>
          </a:p>
          <a:p>
            <a:endParaRPr lang="en-US" sz="1200" dirty="0"/>
          </a:p>
          <a:p>
            <a:r>
              <a:rPr lang="en-US" sz="1200" dirty="0"/>
              <a:t>Cost: users if charged per token, a tokenizer that packs more bytes into one token is cost effective</a:t>
            </a:r>
            <a:endParaRPr lang="en-IN" sz="1200" dirty="0"/>
          </a:p>
          <a:p>
            <a:endParaRPr lang="en-IN" dirty="0"/>
          </a:p>
        </p:txBody>
      </p:sp>
      <p:sp>
        <p:nvSpPr>
          <p:cNvPr id="4" name="Slide Number Placeholder 3"/>
          <p:cNvSpPr>
            <a:spLocks noGrp="1"/>
          </p:cNvSpPr>
          <p:nvPr>
            <p:ph type="sldNum" sz="quarter" idx="5"/>
          </p:nvPr>
        </p:nvSpPr>
        <p:spPr/>
        <p:txBody>
          <a:bodyPr/>
          <a:lstStyle/>
          <a:p>
            <a:fld id="{9AAD1180-89B7-4B77-82A2-F71C55345F5A}" type="slidenum">
              <a:rPr lang="en-IN" smtClean="0"/>
              <a:t>61</a:t>
            </a:fld>
            <a:endParaRPr lang="en-IN"/>
          </a:p>
        </p:txBody>
      </p:sp>
    </p:spTree>
    <p:extLst>
      <p:ext uri="{BB962C8B-B14F-4D97-AF65-F5344CB8AC3E}">
        <p14:creationId xmlns:p14="http://schemas.microsoft.com/office/powerpoint/2010/main" val="3339041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18817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176519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0268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79321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15482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204951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95124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43790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02721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73301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04842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0" name="TextBox 9"/>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1" name="TextBox 10"/>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7" name="TextBox 16"/>
          <p:cNvSpPr txBox="1"/>
          <p:nvPr/>
        </p:nvSpPr>
        <p:spPr>
          <a:xfrm>
            <a:off x="-101600" y="5257800"/>
            <a:ext cx="2946400" cy="427040"/>
          </a:xfrm>
          <a:prstGeom prst="rect">
            <a:avLst/>
          </a:prstGeom>
          <a:noFill/>
        </p:spPr>
        <p:txBody>
          <a:bodyPr>
            <a:spAutoFit/>
          </a:bodyPr>
          <a:lstStyle/>
          <a:p>
            <a:pPr algn="ctr" fontAlgn="base">
              <a:spcBef>
                <a:spcPct val="0"/>
              </a:spcBef>
              <a:spcAft>
                <a:spcPct val="0"/>
              </a:spcAft>
              <a:defRPr/>
            </a:pPr>
            <a:r>
              <a:rPr lang="en-US" sz="2175" b="1" spc="-113" dirty="0">
                <a:solidFill>
                  <a:prstClr val="white"/>
                </a:solidFill>
                <a:latin typeface="Arial"/>
                <a:cs typeface="Arial"/>
              </a:rPr>
              <a:t>BITS</a:t>
            </a:r>
            <a:r>
              <a:rPr lang="en-US" sz="2175" spc="-113" dirty="0">
                <a:solidFill>
                  <a:prstClr val="white"/>
                </a:solidFill>
                <a:latin typeface="Arial"/>
                <a:cs typeface="Arial"/>
              </a:rPr>
              <a:t> Pilani</a:t>
            </a:r>
          </a:p>
        </p:txBody>
      </p:sp>
      <p:sp>
        <p:nvSpPr>
          <p:cNvPr id="18" name="TextBox 17"/>
          <p:cNvSpPr txBox="1"/>
          <p:nvPr/>
        </p:nvSpPr>
        <p:spPr>
          <a:xfrm>
            <a:off x="203200" y="5667376"/>
            <a:ext cx="2540000" cy="230832"/>
          </a:xfrm>
          <a:prstGeom prst="rect">
            <a:avLst/>
          </a:prstGeom>
          <a:noFill/>
        </p:spPr>
        <p:txBody>
          <a:bodyPr>
            <a:spAutoFit/>
          </a:bodyPr>
          <a:lstStyle/>
          <a:p>
            <a:pPr fontAlgn="base">
              <a:spcBef>
                <a:spcPct val="0"/>
              </a:spcBef>
              <a:spcAft>
                <a:spcPct val="0"/>
              </a:spcAft>
              <a:defRPr/>
            </a:pPr>
            <a:r>
              <a:rPr lang="en-US" sz="9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864727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8187" y="400303"/>
            <a:ext cx="3600027"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246221"/>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4/24/2026</a:t>
            </a:fld>
            <a:endParaRPr lang="en-US" kern="0">
              <a:solidFill>
                <a:prstClr val="black">
                  <a:tint val="75000"/>
                </a:prstClr>
              </a:solidFill>
            </a:endParaRPr>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1160521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624647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4/24/2026</a:t>
            </a:fld>
            <a:endParaRPr lang="en-US" kern="0">
              <a:solidFill>
                <a:prstClr val="black">
                  <a:tint val="75000"/>
                </a:prstClr>
              </a:solidFill>
            </a:endParaRPr>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4160371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39200" y="0"/>
            <a:ext cx="2924048" cy="693420"/>
          </a:xfrm>
          <a:prstGeom prst="rect">
            <a:avLst/>
          </a:prstGeom>
        </p:spPr>
      </p:pic>
      <p:sp>
        <p:nvSpPr>
          <p:cNvPr id="17" name="bg object 17"/>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0" name="bg object 20"/>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1" name="bg object 21"/>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2" name="bg object 22"/>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4" name="Holder 4"/>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4/24/2026</a:t>
            </a:fld>
            <a:endParaRPr lang="en-US" kern="0">
              <a:solidFill>
                <a:prstClr val="black">
                  <a:tint val="75000"/>
                </a:prstClr>
              </a:solidFill>
            </a:endParaRPr>
          </a:p>
        </p:txBody>
      </p:sp>
      <p:sp>
        <p:nvSpPr>
          <p:cNvPr id="5" name="Holder 5"/>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123496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1"/>
            <a:ext cx="12191999" cy="6857999"/>
          </a:xfrm>
          <a:prstGeom prst="rect">
            <a:avLst/>
          </a:prstGeom>
        </p:spPr>
      </p:pic>
      <p:sp>
        <p:nvSpPr>
          <p:cNvPr id="17" name="bg object 17"/>
          <p:cNvSpPr/>
          <p:nvPr/>
        </p:nvSpPr>
        <p:spPr>
          <a:xfrm>
            <a:off x="38608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77216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0" name="bg object 20"/>
          <p:cNvPicPr/>
          <p:nvPr/>
        </p:nvPicPr>
        <p:blipFill>
          <a:blip r:embed="rId3" cstate="print"/>
          <a:stretch>
            <a:fillRect/>
          </a:stretch>
        </p:blipFill>
        <p:spPr>
          <a:xfrm>
            <a:off x="101600" y="3352800"/>
            <a:ext cx="2743200" cy="1979676"/>
          </a:xfrm>
          <a:prstGeom prst="rect">
            <a:avLst/>
          </a:prstGeom>
        </p:spPr>
      </p:pic>
      <p:sp>
        <p:nvSpPr>
          <p:cNvPr id="2" name="Holder 2"/>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3" name="Holder 3"/>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4/24/2026</a:t>
            </a:fld>
            <a:endParaRPr lang="en-US" kern="0">
              <a:solidFill>
                <a:prstClr val="black">
                  <a:tint val="75000"/>
                </a:prstClr>
              </a:solidFill>
            </a:endParaRPr>
          </a:p>
        </p:txBody>
      </p:sp>
      <p:sp>
        <p:nvSpPr>
          <p:cNvPr id="4" name="Holder 4"/>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393775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defRPr/>
            </a:pPr>
            <a:r>
              <a:rPr lang="en-US" altLang="en-US" sz="1100" b="1" kern="0">
                <a:solidFill>
                  <a:srgbClr val="101141"/>
                </a:solidFill>
              </a:rPr>
              <a:t>BITS </a:t>
            </a:r>
            <a:r>
              <a:rPr lang="en-US" altLang="en-US" sz="1100" kern="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7217447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3113836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323031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44096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260030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012528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59413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107751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705202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736898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8124679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342621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377346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0790751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100179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778269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42817675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5504297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9655394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6534896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8617908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0956022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fontAlgn="base">
              <a:spcBef>
                <a:spcPct val="0"/>
              </a:spcBef>
              <a:spcAft>
                <a:spcPct val="0"/>
              </a:spcAft>
              <a:defRPr/>
            </a:pPr>
            <a:r>
              <a:rPr lang="en-US" sz="1100" b="1" dirty="0">
                <a:solidFill>
                  <a:srgbClr val="101141"/>
                </a:solidFill>
                <a:cs typeface="Arial" panose="020B0604020202020204" pitchFamily="34" charset="0"/>
              </a:rPr>
              <a:t>BITS </a:t>
            </a:r>
            <a:r>
              <a:rPr lang="en-US" sz="1100" dirty="0" err="1">
                <a:solidFill>
                  <a:srgbClr val="101141"/>
                </a:solidFill>
                <a:cs typeface="Arial" panose="020B0604020202020204" pitchFamily="34" charset="0"/>
              </a:rPr>
              <a:t>Pilani</a:t>
            </a:r>
            <a:endParaRPr lang="en-US" sz="1100" dirty="0">
              <a:solidFill>
                <a:srgbClr val="101141"/>
              </a:solidFill>
              <a:cs typeface="Arial" panose="020B0604020202020204" pitchFamily="34" charset="0"/>
            </a:endParaRP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600201"/>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609600" y="6356351"/>
            <a:ext cx="2844800" cy="365125"/>
          </a:xfrm>
          <a:prstGeom prst="rect">
            <a:avLst/>
          </a:prstGeom>
        </p:spPr>
        <p:txBody>
          <a:bodyPr/>
          <a:lstStyle/>
          <a:p>
            <a:pPr fontAlgn="base">
              <a:spcBef>
                <a:spcPct val="0"/>
              </a:spcBef>
              <a:spcAft>
                <a:spcPct val="0"/>
              </a:spcAft>
              <a:defRPr/>
            </a:pPr>
            <a:endParaRPr lang="en-US" sz="1600">
              <a:solidFill>
                <a:prstClr val="black">
                  <a:tint val="75000"/>
                </a:prstClr>
              </a:solidFill>
              <a:latin typeface="Tahoma" charset="0"/>
            </a:endParaRPr>
          </a:p>
        </p:txBody>
      </p:sp>
      <p:sp>
        <p:nvSpPr>
          <p:cNvPr id="18" name="Footer Placeholder 17"/>
          <p:cNvSpPr>
            <a:spLocks noGrp="1"/>
          </p:cNvSpPr>
          <p:nvPr>
            <p:ph type="ftr" sz="quarter" idx="12"/>
          </p:nvPr>
        </p:nvSpPr>
        <p:spPr>
          <a:xfrm>
            <a:off x="4165600" y="6356351"/>
            <a:ext cx="3860800" cy="365125"/>
          </a:xfrm>
          <a:prstGeom prst="rect">
            <a:avLst/>
          </a:prstGeom>
        </p:spPr>
        <p:txBody>
          <a:bodyPr/>
          <a:lstStyle/>
          <a:p>
            <a:pPr fontAlgn="base">
              <a:spcBef>
                <a:spcPct val="0"/>
              </a:spcBef>
              <a:spcAft>
                <a:spcPct val="0"/>
              </a:spcAft>
              <a:defRPr/>
            </a:pPr>
            <a:endParaRPr lang="en-US" sz="1600" dirty="0">
              <a:solidFill>
                <a:prstClr val="black">
                  <a:tint val="75000"/>
                </a:prstClr>
              </a:solidFill>
              <a:latin typeface="Tahoma" charset="0"/>
            </a:endParaRPr>
          </a:p>
        </p:txBody>
      </p:sp>
      <p:sp>
        <p:nvSpPr>
          <p:cNvPr id="19" name="Slide Number Placeholder 18"/>
          <p:cNvSpPr>
            <a:spLocks noGrp="1"/>
          </p:cNvSpPr>
          <p:nvPr>
            <p:ph type="sldNum" sz="quarter" idx="13"/>
          </p:nvPr>
        </p:nvSpPr>
        <p:spPr>
          <a:xfrm>
            <a:off x="4114800" y="6424613"/>
            <a:ext cx="2844800" cy="365125"/>
          </a:xfrm>
          <a:prstGeom prst="rect">
            <a:avLst/>
          </a:prstGeom>
        </p:spPr>
        <p:txBody>
          <a:bodyPr/>
          <a:lstStyle>
            <a:lvl1pPr>
              <a:defRPr>
                <a:solidFill>
                  <a:srgbClr val="C00000"/>
                </a:solidFill>
              </a:defRPr>
            </a:lvl1pPr>
          </a:lstStyle>
          <a:p>
            <a:pPr fontAlgn="base">
              <a:spcBef>
                <a:spcPct val="0"/>
              </a:spcBef>
              <a:spcAft>
                <a:spcPct val="0"/>
              </a:spcAft>
            </a:pPr>
            <a:fld id="{DB1C2494-8932-4549-9EEA-B787E7A0F253}" type="slidenum">
              <a:rPr lang="en-US" sz="1600" smtClean="0">
                <a:latin typeface="Tahoma" charset="0"/>
              </a:rPr>
              <a:pPr fontAlgn="base">
                <a:spcBef>
                  <a:spcPct val="0"/>
                </a:spcBef>
                <a:spcAft>
                  <a:spcPct val="0"/>
                </a:spcAft>
              </a:pPr>
              <a:t>‹#›</a:t>
            </a:fld>
            <a:endParaRPr lang="en-US" sz="1600" dirty="0">
              <a:latin typeface="Tahoma" charset="0"/>
            </a:endParaRPr>
          </a:p>
        </p:txBody>
      </p:sp>
    </p:spTree>
    <p:extLst>
      <p:ext uri="{BB962C8B-B14F-4D97-AF65-F5344CB8AC3E}">
        <p14:creationId xmlns:p14="http://schemas.microsoft.com/office/powerpoint/2010/main" val="11922613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85559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8374221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203813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1224240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672207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0482822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43335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964877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0583519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7"/>
            <a:ext cx="109728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296658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Montserrat"/>
              <a:buNone/>
              <a:defRPr>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Montserrat"/>
              <a:buChar char="●"/>
              <a:defRPr>
                <a:latin typeface="Montserrat"/>
                <a:ea typeface="Montserrat"/>
                <a:cs typeface="Montserrat"/>
                <a:sym typeface="Montserrat"/>
              </a:defRPr>
            </a:lvl1pPr>
            <a:lvl2pPr marL="914400" lvl="1" indent="-317500">
              <a:spcBef>
                <a:spcPts val="0"/>
              </a:spcBef>
              <a:spcAft>
                <a:spcPts val="0"/>
              </a:spcAft>
              <a:buSzPts val="1400"/>
              <a:buFont typeface="Montserrat"/>
              <a:buChar char="○"/>
              <a:defRPr>
                <a:latin typeface="Montserrat"/>
                <a:ea typeface="Montserrat"/>
                <a:cs typeface="Montserrat"/>
                <a:sym typeface="Montserrat"/>
              </a:defRPr>
            </a:lvl2pPr>
            <a:lvl3pPr marL="1371600" lvl="2" indent="-317500">
              <a:spcBef>
                <a:spcPts val="0"/>
              </a:spcBef>
              <a:spcAft>
                <a:spcPts val="0"/>
              </a:spcAft>
              <a:buSzPts val="1400"/>
              <a:buFont typeface="Montserrat"/>
              <a:buChar char="■"/>
              <a:defRPr>
                <a:latin typeface="Montserrat"/>
                <a:ea typeface="Montserrat"/>
                <a:cs typeface="Montserrat"/>
                <a:sym typeface="Montserrat"/>
              </a:defRPr>
            </a:lvl3pPr>
            <a:lvl4pPr marL="1828800" lvl="3" indent="-317500">
              <a:spcBef>
                <a:spcPts val="0"/>
              </a:spcBef>
              <a:spcAft>
                <a:spcPts val="0"/>
              </a:spcAft>
              <a:buSzPts val="1400"/>
              <a:buFont typeface="Montserrat"/>
              <a:buChar char="●"/>
              <a:defRPr>
                <a:latin typeface="Montserrat"/>
                <a:ea typeface="Montserrat"/>
                <a:cs typeface="Montserrat"/>
                <a:sym typeface="Montserrat"/>
              </a:defRPr>
            </a:lvl4pPr>
            <a:lvl5pPr marL="2286000" lvl="4" indent="-317500">
              <a:spcBef>
                <a:spcPts val="0"/>
              </a:spcBef>
              <a:spcAft>
                <a:spcPts val="0"/>
              </a:spcAft>
              <a:buSzPts val="1400"/>
              <a:buFont typeface="Montserrat"/>
              <a:buChar char="○"/>
              <a:defRPr>
                <a:latin typeface="Montserrat"/>
                <a:ea typeface="Montserrat"/>
                <a:cs typeface="Montserrat"/>
                <a:sym typeface="Montserrat"/>
              </a:defRPr>
            </a:lvl5pPr>
            <a:lvl6pPr marL="2743200" lvl="5" indent="-317500">
              <a:spcBef>
                <a:spcPts val="0"/>
              </a:spcBef>
              <a:spcAft>
                <a:spcPts val="0"/>
              </a:spcAft>
              <a:buSzPts val="1400"/>
              <a:buFont typeface="Montserrat"/>
              <a:buChar char="■"/>
              <a:defRPr>
                <a:latin typeface="Montserrat"/>
                <a:ea typeface="Montserrat"/>
                <a:cs typeface="Montserrat"/>
                <a:sym typeface="Montserrat"/>
              </a:defRPr>
            </a:lvl6pPr>
            <a:lvl7pPr marL="3200400" lvl="6" indent="-317500">
              <a:spcBef>
                <a:spcPts val="0"/>
              </a:spcBef>
              <a:spcAft>
                <a:spcPts val="0"/>
              </a:spcAft>
              <a:buSzPts val="1400"/>
              <a:buFont typeface="Montserrat"/>
              <a:buChar char="●"/>
              <a:defRPr>
                <a:latin typeface="Montserrat"/>
                <a:ea typeface="Montserrat"/>
                <a:cs typeface="Montserrat"/>
                <a:sym typeface="Montserrat"/>
              </a:defRPr>
            </a:lvl7pPr>
            <a:lvl8pPr marL="3657600" lvl="7" indent="-317500">
              <a:spcBef>
                <a:spcPts val="0"/>
              </a:spcBef>
              <a:spcAft>
                <a:spcPts val="0"/>
              </a:spcAft>
              <a:buSzPts val="1400"/>
              <a:buFont typeface="Montserrat"/>
              <a:buChar char="○"/>
              <a:defRPr>
                <a:latin typeface="Montserrat"/>
                <a:ea typeface="Montserrat"/>
                <a:cs typeface="Montserrat"/>
                <a:sym typeface="Montserrat"/>
              </a:defRPr>
            </a:lvl8pPr>
            <a:lvl9pPr marL="4114800" lvl="8" indent="-31750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kern="0" smtClean="0">
                <a:solidFill>
                  <a:sysClr val="windowText" lastClr="000000"/>
                </a:solidFill>
              </a:rPr>
              <a:pPr algn="r"/>
              <a:t>‹#›</a:t>
            </a:fld>
            <a:endParaRPr lang="en" kern="0">
              <a:solidFill>
                <a:sysClr val="windowText" lastClr="000000"/>
              </a:solidFill>
            </a:endParaRPr>
          </a:p>
        </p:txBody>
      </p:sp>
      <p:pic>
        <p:nvPicPr>
          <p:cNvPr id="22" name="Google Shape;22;p4"/>
          <p:cNvPicPr preferRelativeResize="0"/>
          <p:nvPr/>
        </p:nvPicPr>
        <p:blipFill rotWithShape="1">
          <a:blip r:embed="rId2">
            <a:alphaModFix amt="24000"/>
          </a:blip>
          <a:srcRect b="93593"/>
          <a:stretch/>
        </p:blipFill>
        <p:spPr>
          <a:xfrm>
            <a:off x="2" y="6594465"/>
            <a:ext cx="12192004" cy="263533"/>
          </a:xfrm>
          <a:prstGeom prst="rect">
            <a:avLst/>
          </a:prstGeom>
          <a:noFill/>
          <a:ln>
            <a:noFill/>
          </a:ln>
        </p:spPr>
      </p:pic>
    </p:spTree>
    <p:extLst>
      <p:ext uri="{BB962C8B-B14F-4D97-AF65-F5344CB8AC3E}">
        <p14:creationId xmlns:p14="http://schemas.microsoft.com/office/powerpoint/2010/main" val="90018680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2_Title and Content">
    <p:bg>
      <p:bgPr>
        <a:solidFill>
          <a:srgbClr val="FFFFFF"/>
        </a:solidFill>
        <a:effectLst/>
      </p:bgPr>
    </p:bg>
    <p:spTree>
      <p:nvGrpSpPr>
        <p:cNvPr id="1" name=""/>
        <p:cNvGrpSpPr/>
        <p:nvPr/>
      </p:nvGrpSpPr>
      <p:grpSpPr>
        <a:xfrm>
          <a:off x="0" y="0"/>
          <a:ext cx="0" cy="0"/>
          <a:chOff x="0" y="0"/>
          <a:chExt cx="0" cy="0"/>
        </a:xfrm>
      </p:grpSpPr>
      <p:sp>
        <p:nvSpPr>
          <p:cNvPr id="100" name="Body Level One…"/>
          <p:cNvSpPr txBox="1">
            <a:spLocks noGrp="1"/>
          </p:cNvSpPr>
          <p:nvPr>
            <p:ph type="body" sz="quarter" idx="1"/>
          </p:nvPr>
        </p:nvSpPr>
        <p:spPr>
          <a:xfrm>
            <a:off x="406400" y="152400"/>
            <a:ext cx="84328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xfrm>
            <a:off x="5892800" y="6172201"/>
            <a:ext cx="2844800" cy="368301"/>
          </a:xfrm>
          <a:prstGeom prst="rect">
            <a:avLst/>
          </a:prstGeom>
        </p:spPr>
        <p:txBody>
          <a:bodyPr/>
          <a:lstStyle/>
          <a:p>
            <a:fld id="{86CB4B4D-7CA3-9044-876B-883B54F8677D}" type="slidenum">
              <a:rPr>
                <a:solidFill>
                  <a:prstClr val="black"/>
                </a:solidFill>
              </a:rPr>
              <a:pPr/>
              <a:t>‹#›</a:t>
            </a:fld>
            <a:endParaRPr>
              <a:solidFill>
                <a:prstClr val="black"/>
              </a:solidFill>
            </a:endParaRPr>
          </a:p>
        </p:txBody>
      </p:sp>
    </p:spTree>
    <p:extLst>
      <p:ext uri="{BB962C8B-B14F-4D97-AF65-F5344CB8AC3E}">
        <p14:creationId xmlns:p14="http://schemas.microsoft.com/office/powerpoint/2010/main" val="178551615"/>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27381" y="274638"/>
            <a:ext cx="8160907" cy="850106"/>
          </a:xfrm>
          <a:prstGeom prst="rect">
            <a:avLst/>
          </a:prstGeom>
        </p:spPr>
        <p:txBody>
          <a:bodyPr anchor="ctr"/>
          <a:lstStyle>
            <a:lvl1pPr algn="l">
              <a:defRPr sz="360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
        <p:nvSpPr>
          <p:cNvPr id="3" name="Content Placeholder 2"/>
          <p:cNvSpPr>
            <a:spLocks noGrp="1"/>
          </p:cNvSpPr>
          <p:nvPr>
            <p:ph idx="1"/>
          </p:nvPr>
        </p:nvSpPr>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p:cNvSpPr>
            <a:spLocks noGrp="1"/>
          </p:cNvSpPr>
          <p:nvPr>
            <p:ph type="ftr" sz="quarter" idx="11"/>
          </p:nvPr>
        </p:nvSpPr>
        <p:spPr>
          <a:xfrm>
            <a:off x="2927649" y="6237317"/>
            <a:ext cx="5856651" cy="365125"/>
          </a:xfrm>
          <a:prstGeom prst="rect">
            <a:avLst/>
          </a:prstGeom>
        </p:spPr>
        <p:txBody>
          <a:bodyPr/>
          <a:lstStyle>
            <a:lvl1pPr>
              <a:defRPr sz="1200" b="1"/>
            </a:lvl1pPr>
          </a:lstStyle>
          <a:p>
            <a:pPr algn="ctr"/>
            <a:endParaRPr lang="en-IN" dirty="0"/>
          </a:p>
        </p:txBody>
      </p:sp>
      <p:sp>
        <p:nvSpPr>
          <p:cNvPr id="6" name="Slide Number Placeholder 5"/>
          <p:cNvSpPr>
            <a:spLocks noGrp="1"/>
          </p:cNvSpPr>
          <p:nvPr>
            <p:ph type="sldNum" sz="quarter" idx="12"/>
          </p:nvPr>
        </p:nvSpPr>
        <p:spPr>
          <a:xfrm>
            <a:off x="11376588" y="6237317"/>
            <a:ext cx="815413" cy="293117"/>
          </a:xfrm>
          <a:prstGeom prst="rect">
            <a:avLst/>
          </a:prstGeom>
        </p:spPr>
        <p:txBody>
          <a:bodyPr/>
          <a:lstStyle>
            <a:lvl1pPr>
              <a:defRPr sz="1600" b="1"/>
            </a:lvl1pPr>
          </a:lstStyle>
          <a:p>
            <a:fld id="{67F776DB-C4B4-46F1-926D-41EFCFC3A86A}" type="slidenum">
              <a:rPr lang="en-IN" smtClean="0"/>
              <a:pPr/>
              <a:t>‹#›</a:t>
            </a:fld>
            <a:endParaRPr lang="en-IN" dirty="0"/>
          </a:p>
        </p:txBody>
      </p:sp>
    </p:spTree>
    <p:extLst>
      <p:ext uri="{BB962C8B-B14F-4D97-AF65-F5344CB8AC3E}">
        <p14:creationId xmlns:p14="http://schemas.microsoft.com/office/powerpoint/2010/main" val="3762295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theme" Target="../theme/theme2.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41" Type="http://schemas.openxmlformats.org/officeDocument/2006/relationships/slideLayout" Target="../slideLayouts/slideLayout5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image" Target="../media/image3.jpg"/><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3CF500-1D26-44BC-BC6C-88E98416E58A}" type="datetimeFigureOut">
              <a:rPr lang="en-IN" smtClean="0">
                <a:solidFill>
                  <a:prstClr val="black">
                    <a:tint val="75000"/>
                  </a:prstClr>
                </a:solidFill>
              </a:rPr>
              <a:pPr/>
              <a:t>24-04-2026</a:t>
            </a:fld>
            <a:endParaRPr lang="en-IN">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14EA2-AE2F-48FB-9E42-953B9A61852C}"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8725909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75248" y="6550153"/>
            <a:ext cx="3105573"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7" name="bg object 17"/>
          <p:cNvSpPr/>
          <p:nvPr/>
        </p:nvSpPr>
        <p:spPr>
          <a:xfrm>
            <a:off x="9211056" y="6550152"/>
            <a:ext cx="2981113"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kern="0">
              <a:solidFill>
                <a:sysClr val="windowText" lastClr="000000"/>
              </a:solidFill>
            </a:endParaRPr>
          </a:p>
        </p:txBody>
      </p:sp>
      <p:sp>
        <p:nvSpPr>
          <p:cNvPr id="18" name="bg object 18"/>
          <p:cNvSpPr/>
          <p:nvPr/>
        </p:nvSpPr>
        <p:spPr>
          <a:xfrm>
            <a:off x="2779776" y="6550153"/>
            <a:ext cx="3440853"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0" name="bg object 20"/>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1" name="bg object 21"/>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2" name="bg object 22"/>
          <p:cNvPicPr/>
          <p:nvPr/>
        </p:nvPicPr>
        <p:blipFill>
          <a:blip r:embed="rId43" cstate="print"/>
          <a:stretch>
            <a:fillRect/>
          </a:stretch>
        </p:blipFill>
        <p:spPr>
          <a:xfrm>
            <a:off x="8839201" y="0"/>
            <a:ext cx="2926079" cy="691896"/>
          </a:xfrm>
          <a:prstGeom prst="rect">
            <a:avLst/>
          </a:prstGeom>
        </p:spPr>
      </p:pic>
      <p:sp>
        <p:nvSpPr>
          <p:cNvPr id="23" name="bg object 23"/>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4" name="bg object 24"/>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5" name="bg object 25"/>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8" name="Title Placeholder 7"/>
          <p:cNvSpPr>
            <a:spLocks noGrp="1"/>
          </p:cNvSpPr>
          <p:nvPr>
            <p:ph type="title"/>
          </p:nvPr>
        </p:nvSpPr>
        <p:spPr>
          <a:xfrm>
            <a:off x="231987" y="32163"/>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406400" y="167640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23821528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53.xml"/><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5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52.xml"/><Relationship Id="rId4" Type="http://schemas.openxmlformats.org/officeDocument/2006/relationships/image" Target="../media/image23.emf"/></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5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2.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52.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5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5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1.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52.xml"/></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4.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jpg"/><Relationship Id="rId1" Type="http://schemas.openxmlformats.org/officeDocument/2006/relationships/slideLayout" Target="../slideLayouts/slideLayout5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2.xml"/></Relationships>
</file>

<file path=ppt/slides/_rels/slide4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5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2.xml"/></Relationships>
</file>

<file path=ppt/slides/_rels/slide53.xml.rels><?xml version="1.0" encoding="UTF-8" standalone="yes"?>
<Relationships xmlns="http://schemas.openxmlformats.org/package/2006/relationships"><Relationship Id="rId8" Type="http://schemas.openxmlformats.org/officeDocument/2006/relationships/hyperlink" Target="https://arxiv.org/pdf/1701.06538.pdf" TargetMode="External"/><Relationship Id="rId3" Type="http://schemas.openxmlformats.org/officeDocument/2006/relationships/hyperlink" Target="https://www.jmlr.org/papers/volume3/bengio03a/bengio03a.pdf" TargetMode="External"/><Relationship Id="rId7" Type="http://schemas.openxmlformats.org/officeDocument/2006/relationships/hyperlink" Target="https://arxiv.org/pdf/1706.03762.pdf" TargetMode="External"/><Relationship Id="rId2" Type="http://schemas.openxmlformats.org/officeDocument/2006/relationships/hyperlink" Target="https://www.princeton.edu/~wbialek/rome/refs/shannon_51.pdf" TargetMode="External"/><Relationship Id="rId1" Type="http://schemas.openxmlformats.org/officeDocument/2006/relationships/slideLayout" Target="../slideLayouts/slideLayout52.xml"/><Relationship Id="rId6" Type="http://schemas.openxmlformats.org/officeDocument/2006/relationships/hyperlink" Target="https://arxiv.org/pdf/1409.0473.pdf" TargetMode="External"/><Relationship Id="rId11" Type="http://schemas.openxmlformats.org/officeDocument/2006/relationships/hyperlink" Target="https://arxiv.org/pdf/1909.08053.pdf" TargetMode="External"/><Relationship Id="rId5" Type="http://schemas.openxmlformats.org/officeDocument/2006/relationships/hyperlink" Target="https://arxiv.org/pdf/1412.6980.pdf" TargetMode="External"/><Relationship Id="rId10" Type="http://schemas.openxmlformats.org/officeDocument/2006/relationships/hyperlink" Target="https://arxiv.org/abs/1910.02054" TargetMode="External"/><Relationship Id="rId4" Type="http://schemas.openxmlformats.org/officeDocument/2006/relationships/hyperlink" Target="https://arxiv.org/pdf/1409.3215.pdf" TargetMode="External"/><Relationship Id="rId9" Type="http://schemas.openxmlformats.org/officeDocument/2006/relationships/hyperlink" Target="https://arxiv.org/pdf/1811.06965.pdf"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7.xml.rels><?xml version="1.0" encoding="UTF-8" standalone="yes"?>
<Relationships xmlns="http://schemas.openxmlformats.org/package/2006/relationships"><Relationship Id="rId2" Type="http://schemas.openxmlformats.org/officeDocument/2006/relationships/hyperlink" Target="https://huggingface.co/learn/llm-course/en/chapter6/5" TargetMode="External"/><Relationship Id="rId1" Type="http://schemas.openxmlformats.org/officeDocument/2006/relationships/slideLayout" Target="../slideLayouts/slideLayout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2.xml"/></Relationships>
</file>

<file path=ppt/slides/_rels/slide62.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38650" y="3714750"/>
            <a:ext cx="4629150" cy="1143000"/>
          </a:xfrm>
        </p:spPr>
        <p:txBody>
          <a:bodyPr/>
          <a:lstStyle/>
          <a:p>
            <a:pPr>
              <a:defRPr/>
            </a:pPr>
            <a:br>
              <a:rPr lang="en-US" sz="3000" dirty="0">
                <a:latin typeface="Times New Roman" panose="02020603050405020304" pitchFamily="18" charset="0"/>
                <a:cs typeface="Times New Roman" panose="02020603050405020304" pitchFamily="18" charset="0"/>
              </a:rPr>
            </a:br>
            <a:endParaRPr lang="en-US" sz="3000" dirty="0">
              <a:latin typeface="Times New Roman" panose="02020603050405020304" pitchFamily="18" charset="0"/>
              <a:cs typeface="Times New Roman" panose="02020603050405020304" pitchFamily="18" charset="0"/>
            </a:endParaRPr>
          </a:p>
        </p:txBody>
      </p:sp>
      <p:sp>
        <p:nvSpPr>
          <p:cNvPr id="14339" name="Content Placeholder 5"/>
          <p:cNvSpPr>
            <a:spLocks noGrp="1"/>
          </p:cNvSpPr>
          <p:nvPr>
            <p:ph sz="quarter" idx="13"/>
          </p:nvPr>
        </p:nvSpPr>
        <p:spPr>
          <a:xfrm>
            <a:off x="3198056" y="5140863"/>
            <a:ext cx="8026400" cy="533400"/>
          </a:xfrm>
        </p:spPr>
        <p:txBody>
          <a:bodyPr/>
          <a:lstStyle/>
          <a:p>
            <a:pPr eaLnBrk="1" hangingPunct="1">
              <a:spcBef>
                <a:spcPct val="0"/>
              </a:spcBef>
            </a:pPr>
            <a:r>
              <a:rPr lang="en-US" sz="1500" i="1" dirty="0">
                <a:latin typeface="Times New Roman" pitchFamily="18" charset="0"/>
                <a:cs typeface="Times New Roman" pitchFamily="18" charset="0"/>
              </a:rPr>
              <a:t>Dr. </a:t>
            </a:r>
            <a:r>
              <a:rPr lang="en-US" sz="1500" i="1" dirty="0" err="1">
                <a:latin typeface="Times New Roman" pitchFamily="18" charset="0"/>
                <a:cs typeface="Times New Roman" pitchFamily="18" charset="0"/>
              </a:rPr>
              <a:t>Monali</a:t>
            </a:r>
            <a:r>
              <a:rPr lang="en-US" sz="1500" i="1" dirty="0">
                <a:latin typeface="Times New Roman" pitchFamily="18" charset="0"/>
                <a:cs typeface="Times New Roman" pitchFamily="18" charset="0"/>
              </a:rPr>
              <a:t> </a:t>
            </a:r>
            <a:r>
              <a:rPr lang="en-US" sz="1500" i="1" dirty="0" err="1">
                <a:latin typeface="Times New Roman" pitchFamily="18" charset="0"/>
                <a:cs typeface="Times New Roman" pitchFamily="18" charset="0"/>
              </a:rPr>
              <a:t>Mavani</a:t>
            </a:r>
            <a:endParaRPr lang="en-US" sz="1500" i="1" dirty="0">
              <a:latin typeface="Times New Roman" pitchFamily="18" charset="0"/>
              <a:cs typeface="Times New Roman" pitchFamily="18" charset="0"/>
            </a:endParaRPr>
          </a:p>
        </p:txBody>
      </p:sp>
      <p:sp>
        <p:nvSpPr>
          <p:cNvPr id="4" name="Title 4"/>
          <p:cNvSpPr txBox="1">
            <a:spLocks/>
          </p:cNvSpPr>
          <p:nvPr/>
        </p:nvSpPr>
        <p:spPr>
          <a:xfrm>
            <a:off x="3329835" y="3562110"/>
            <a:ext cx="7113271" cy="1143000"/>
          </a:xfrm>
          <a:prstGeom prst="rect">
            <a:avLst/>
          </a:prstGeom>
        </p:spPr>
        <p:txBody>
          <a:bodyPr vert="horz" lIns="91440" tIns="45720" rIns="91440" bIns="45720" rtlCol="0" anchor="ctr" anchorCtr="0">
            <a:noAutofit/>
          </a:bodyPr>
          <a:lstStyle>
            <a:lvl1pPr algn="l" defTabSz="914400" rtl="0" eaLnBrk="1" latinLnBrk="0" hangingPunct="1">
              <a:lnSpc>
                <a:spcPts val="3000"/>
              </a:lnSpc>
              <a:spcBef>
                <a:spcPct val="0"/>
              </a:spcBef>
              <a:buNone/>
              <a:defRPr sz="3300" kern="1200" baseline="0">
                <a:solidFill>
                  <a:schemeClr val="bg1"/>
                </a:solidFill>
                <a:latin typeface="+mj-lt"/>
                <a:ea typeface="+mj-ea"/>
                <a:cs typeface="+mj-cs"/>
              </a:defRPr>
            </a:lvl1pPr>
          </a:lstStyle>
          <a:p>
            <a:pPr>
              <a:defRPr/>
            </a:pPr>
            <a:br>
              <a:rPr lang="en-US" sz="3000" dirty="0">
                <a:solidFill>
                  <a:prstClr val="white"/>
                </a:solidFill>
                <a:latin typeface="Times New Roman" panose="02020603050405020304" pitchFamily="18" charset="0"/>
                <a:cs typeface="Times New Roman" panose="02020603050405020304" pitchFamily="18" charset="0"/>
              </a:rPr>
            </a:br>
            <a:r>
              <a:rPr lang="en-US" sz="3000" dirty="0">
                <a:solidFill>
                  <a:prstClr val="white"/>
                </a:solidFill>
                <a:latin typeface="Times New Roman" panose="02020603050405020304" pitchFamily="18" charset="0"/>
                <a:cs typeface="Times New Roman" panose="02020603050405020304" pitchFamily="18" charset="0"/>
              </a:rPr>
              <a:t>Large Language Models for Generative AI</a:t>
            </a:r>
          </a:p>
          <a:p>
            <a:pPr>
              <a:defRPr/>
            </a:pPr>
            <a:r>
              <a:rPr lang="en-IN" sz="3200" dirty="0">
                <a:solidFill>
                  <a:prstClr val="white"/>
                </a:solidFill>
              </a:rPr>
              <a:t>AIML* ZG536</a:t>
            </a:r>
            <a:endParaRPr lang="en-US" sz="3000" dirty="0">
              <a:solidFill>
                <a:prstClr val="whit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182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latin typeface="Times New Roman" panose="02020603050405020304" pitchFamily="18" charset="0"/>
                <a:cs typeface="Times New Roman" panose="02020603050405020304" pitchFamily="18" charset="0"/>
              </a:rPr>
              <a:t>Large Language Models for Generative AI</a:t>
            </a:r>
            <a:endParaRPr lang="en-IN" dirty="0"/>
          </a:p>
          <a:p>
            <a:endParaRPr lang="en-IN" dirty="0"/>
          </a:p>
        </p:txBody>
      </p:sp>
      <p:sp>
        <p:nvSpPr>
          <p:cNvPr id="11" name="object 3">
            <a:extLst>
              <a:ext uri="{FF2B5EF4-FFF2-40B4-BE49-F238E27FC236}">
                <a16:creationId xmlns:a16="http://schemas.microsoft.com/office/drawing/2014/main" id="{71559224-CCC8-4C16-D35A-4A3643423349}"/>
              </a:ext>
            </a:extLst>
          </p:cNvPr>
          <p:cNvSpPr txBox="1"/>
          <p:nvPr/>
        </p:nvSpPr>
        <p:spPr>
          <a:xfrm>
            <a:off x="2758786" y="4133141"/>
            <a:ext cx="6777644" cy="848137"/>
          </a:xfrm>
          <a:prstGeom prst="rect">
            <a:avLst/>
          </a:prstGeom>
        </p:spPr>
        <p:txBody>
          <a:bodyPr vert="horz" wrap="square" lIns="0" tIns="24595" rIns="0" bIns="0" rtlCol="0">
            <a:spAutoFit/>
          </a:bodyPr>
          <a:lstStyle/>
          <a:p>
            <a:pPr marL="99961" marR="29325" indent="-93969" fontAlgn="base">
              <a:lnSpc>
                <a:spcPts val="1153"/>
              </a:lnSpc>
              <a:spcBef>
                <a:spcPts val="194"/>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The </a:t>
            </a:r>
            <a:r>
              <a:rPr sz="1200" spc="-8" dirty="0">
                <a:solidFill>
                  <a:prstClr val="black"/>
                </a:solidFill>
                <a:latin typeface="Cambria" panose="02040503050406030204" pitchFamily="18" charset="0"/>
                <a:ea typeface="Cambria" panose="02040503050406030204" pitchFamily="18" charset="0"/>
                <a:cs typeface="Calibri"/>
              </a:rPr>
              <a:t>content </a:t>
            </a:r>
            <a:r>
              <a:rPr sz="1200" spc="-10" dirty="0">
                <a:solidFill>
                  <a:prstClr val="black"/>
                </a:solidFill>
                <a:latin typeface="Cambria" panose="02040503050406030204" pitchFamily="18" charset="0"/>
                <a:ea typeface="Cambria" panose="02040503050406030204" pitchFamily="18" charset="0"/>
                <a:cs typeface="Calibri"/>
              </a:rPr>
              <a:t>for </a:t>
            </a:r>
            <a:r>
              <a:rPr sz="1200" spc="-2" dirty="0">
                <a:solidFill>
                  <a:prstClr val="black"/>
                </a:solidFill>
                <a:latin typeface="Cambria" panose="02040503050406030204" pitchFamily="18" charset="0"/>
                <a:ea typeface="Cambria" panose="02040503050406030204" pitchFamily="18" charset="0"/>
                <a:cs typeface="Calibri"/>
              </a:rPr>
              <a:t>these slides has been </a:t>
            </a:r>
            <a:r>
              <a:rPr sz="1200" spc="-5" dirty="0">
                <a:solidFill>
                  <a:prstClr val="black"/>
                </a:solidFill>
                <a:latin typeface="Cambria" panose="02040503050406030204" pitchFamily="18" charset="0"/>
                <a:ea typeface="Cambria" panose="02040503050406030204" pitchFamily="18" charset="0"/>
                <a:cs typeface="Calibri"/>
              </a:rPr>
              <a:t>obtained </a:t>
            </a:r>
            <a:r>
              <a:rPr sz="1200" spc="-8" dirty="0">
                <a:solidFill>
                  <a:prstClr val="black"/>
                </a:solidFill>
                <a:latin typeface="Cambria" panose="02040503050406030204" pitchFamily="18" charset="0"/>
                <a:ea typeface="Cambria" panose="02040503050406030204" pitchFamily="18" charset="0"/>
                <a:cs typeface="Calibri"/>
              </a:rPr>
              <a:t>from </a:t>
            </a:r>
            <a:r>
              <a:rPr sz="1200" spc="-5" dirty="0">
                <a:solidFill>
                  <a:prstClr val="black"/>
                </a:solidFill>
                <a:latin typeface="Cambria" panose="02040503050406030204" pitchFamily="18" charset="0"/>
                <a:ea typeface="Cambria" panose="02040503050406030204" pitchFamily="18" charset="0"/>
                <a:cs typeface="Calibri"/>
              </a:rPr>
              <a:t>books </a:t>
            </a:r>
            <a:r>
              <a:rPr sz="1200" spc="-2" dirty="0">
                <a:solidFill>
                  <a:prstClr val="black"/>
                </a:solidFill>
                <a:latin typeface="Cambria" panose="02040503050406030204" pitchFamily="18" charset="0"/>
                <a:ea typeface="Cambria" panose="02040503050406030204" pitchFamily="18" charset="0"/>
                <a:cs typeface="Calibri"/>
              </a:rPr>
              <a:t>and </a:t>
            </a:r>
            <a:r>
              <a:rPr sz="1200" spc="-5" dirty="0">
                <a:solidFill>
                  <a:prstClr val="black"/>
                </a:solidFill>
                <a:latin typeface="Cambria" panose="02040503050406030204" pitchFamily="18" charset="0"/>
                <a:ea typeface="Cambria" panose="02040503050406030204" pitchFamily="18" charset="0"/>
                <a:cs typeface="Calibri"/>
              </a:rPr>
              <a:t>various other </a:t>
            </a:r>
            <a:r>
              <a:rPr sz="1200" spc="-236"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source</a:t>
            </a:r>
            <a:r>
              <a:rPr sz="1200" spc="-1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on the </a:t>
            </a:r>
            <a:r>
              <a:rPr sz="1200" spc="-8" dirty="0">
                <a:solidFill>
                  <a:prstClr val="black"/>
                </a:solidFill>
                <a:latin typeface="Cambria" panose="02040503050406030204" pitchFamily="18" charset="0"/>
                <a:ea typeface="Cambria" panose="02040503050406030204" pitchFamily="18" charset="0"/>
                <a:cs typeface="Calibri"/>
              </a:rPr>
              <a:t>Internet</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58"/>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a:t>
            </a:r>
            <a:r>
              <a:rPr sz="1200"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here</a:t>
            </a:r>
            <a:r>
              <a:rPr sz="1200"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by</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acknowledge</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all</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a:t>
            </a:r>
            <a:r>
              <a:rPr sz="1200" spc="2"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contributors</a:t>
            </a:r>
            <a:r>
              <a:rPr sz="1200" dirty="0">
                <a:solidFill>
                  <a:prstClr val="black"/>
                </a:solidFill>
                <a:latin typeface="Cambria" panose="02040503050406030204" pitchFamily="18" charset="0"/>
                <a:ea typeface="Cambria" panose="02040503050406030204" pitchFamily="18" charset="0"/>
                <a:cs typeface="Calibri"/>
              </a:rPr>
              <a:t> </a:t>
            </a:r>
            <a:r>
              <a:rPr sz="1200" spc="-10" dirty="0">
                <a:solidFill>
                  <a:prstClr val="black"/>
                </a:solidFill>
                <a:latin typeface="Cambria" panose="02040503050406030204" pitchFamily="18" charset="0"/>
                <a:ea typeface="Cambria" panose="02040503050406030204" pitchFamily="18" charset="0"/>
                <a:cs typeface="Calibri"/>
              </a:rPr>
              <a:t>for</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their</a:t>
            </a:r>
            <a:r>
              <a:rPr sz="1200"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material</a:t>
            </a:r>
            <a:r>
              <a:rPr sz="1200"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and</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inputs.</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81"/>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 </a:t>
            </a:r>
            <a:r>
              <a:rPr sz="1200" spc="-10" dirty="0">
                <a:solidFill>
                  <a:prstClr val="black"/>
                </a:solidFill>
                <a:latin typeface="Cambria" panose="02040503050406030204" pitchFamily="18" charset="0"/>
                <a:ea typeface="Cambria" panose="02040503050406030204" pitchFamily="18" charset="0"/>
                <a:cs typeface="Calibri"/>
              </a:rPr>
              <a:t>have</a:t>
            </a:r>
            <a:r>
              <a:rPr sz="1200" spc="-2"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provided</a:t>
            </a:r>
            <a:r>
              <a:rPr sz="1200" spc="-8"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source</a:t>
            </a:r>
            <a:r>
              <a:rPr sz="1200" spc="-8" dirty="0">
                <a:solidFill>
                  <a:prstClr val="black"/>
                </a:solidFill>
                <a:latin typeface="Cambria" panose="02040503050406030204" pitchFamily="18" charset="0"/>
                <a:ea typeface="Cambria" panose="02040503050406030204" pitchFamily="18" charset="0"/>
                <a:cs typeface="Calibri"/>
              </a:rPr>
              <a:t> information</a:t>
            </a:r>
            <a:r>
              <a:rPr sz="1200" spc="-2" dirty="0">
                <a:solidFill>
                  <a:prstClr val="black"/>
                </a:solidFill>
                <a:latin typeface="Cambria" panose="02040503050406030204" pitchFamily="18" charset="0"/>
                <a:ea typeface="Cambria" panose="02040503050406030204" pitchFamily="18" charset="0"/>
                <a:cs typeface="Calibri"/>
              </a:rPr>
              <a:t> </a:t>
            </a:r>
            <a:r>
              <a:rPr sz="1200" spc="-8" dirty="0">
                <a:solidFill>
                  <a:prstClr val="black"/>
                </a:solidFill>
                <a:latin typeface="Cambria" panose="02040503050406030204" pitchFamily="18" charset="0"/>
                <a:ea typeface="Cambria" panose="02040503050406030204" pitchFamily="18" charset="0"/>
                <a:cs typeface="Calibri"/>
              </a:rPr>
              <a:t>wherever </a:t>
            </a:r>
            <a:r>
              <a:rPr sz="1200" spc="-2" dirty="0">
                <a:solidFill>
                  <a:prstClr val="black"/>
                </a:solidFill>
                <a:latin typeface="Cambria" panose="02040503050406030204" pitchFamily="18" charset="0"/>
                <a:ea typeface="Cambria" panose="02040503050406030204" pitchFamily="18" charset="0"/>
                <a:cs typeface="Calibri"/>
              </a:rPr>
              <a:t>necessary</a:t>
            </a:r>
            <a:endParaRPr sz="1200" dirty="0">
              <a:solidFill>
                <a:prstClr val="black"/>
              </a:solidFill>
              <a:latin typeface="Cambria" panose="02040503050406030204" pitchFamily="18" charset="0"/>
              <a:ea typeface="Cambria" panose="02040503050406030204" pitchFamily="18" charset="0"/>
              <a:cs typeface="Calibri"/>
            </a:endParaRPr>
          </a:p>
          <a:p>
            <a:pPr marL="99961" indent="-93969" fontAlgn="base">
              <a:spcBef>
                <a:spcPts val="281"/>
              </a:spcBef>
              <a:spcAft>
                <a:spcPct val="0"/>
              </a:spcAft>
              <a:buFont typeface="Arial MT"/>
              <a:buChar char="•"/>
              <a:tabLst>
                <a:tab pos="100276" algn="l"/>
              </a:tabLst>
            </a:pPr>
            <a:r>
              <a:rPr sz="1200" spc="-2" dirty="0">
                <a:solidFill>
                  <a:prstClr val="black"/>
                </a:solidFill>
                <a:latin typeface="Cambria" panose="02040503050406030204" pitchFamily="18" charset="0"/>
                <a:ea typeface="Cambria" panose="02040503050406030204" pitchFamily="18" charset="0"/>
                <a:cs typeface="Calibri"/>
              </a:rPr>
              <a:t>I </a:t>
            </a:r>
            <a:r>
              <a:rPr sz="1200" spc="-10" dirty="0">
                <a:solidFill>
                  <a:prstClr val="black"/>
                </a:solidFill>
                <a:latin typeface="Cambria" panose="02040503050406030204" pitchFamily="18" charset="0"/>
                <a:ea typeface="Cambria" panose="02040503050406030204" pitchFamily="18" charset="0"/>
                <a:cs typeface="Calibri"/>
              </a:rPr>
              <a:t>have</a:t>
            </a:r>
            <a:r>
              <a:rPr sz="1200" spc="-2" dirty="0">
                <a:solidFill>
                  <a:prstClr val="black"/>
                </a:solidFill>
                <a:latin typeface="Cambria" panose="02040503050406030204" pitchFamily="18" charset="0"/>
                <a:ea typeface="Cambria" panose="02040503050406030204" pitchFamily="18" charset="0"/>
                <a:cs typeface="Calibri"/>
              </a:rPr>
              <a:t> added</a:t>
            </a:r>
            <a:r>
              <a:rPr sz="1200" spc="-8"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and </a:t>
            </a:r>
            <a:r>
              <a:rPr sz="1200" spc="-5" dirty="0">
                <a:solidFill>
                  <a:prstClr val="black"/>
                </a:solidFill>
                <a:latin typeface="Cambria" panose="02040503050406030204" pitchFamily="18" charset="0"/>
                <a:ea typeface="Cambria" panose="02040503050406030204" pitchFamily="18" charset="0"/>
                <a:cs typeface="Calibri"/>
              </a:rPr>
              <a:t>modified</a:t>
            </a:r>
            <a:r>
              <a:rPr sz="1200" spc="-8"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the</a:t>
            </a:r>
            <a:r>
              <a:rPr sz="1200" spc="-8" dirty="0">
                <a:solidFill>
                  <a:prstClr val="black"/>
                </a:solidFill>
                <a:latin typeface="Cambria" panose="02040503050406030204" pitchFamily="18" charset="0"/>
                <a:ea typeface="Cambria" panose="02040503050406030204" pitchFamily="18" charset="0"/>
                <a:cs typeface="Calibri"/>
              </a:rPr>
              <a:t> content to</a:t>
            </a:r>
            <a:r>
              <a:rPr sz="1200" spc="-2" dirty="0">
                <a:solidFill>
                  <a:prstClr val="black"/>
                </a:solidFill>
                <a:latin typeface="Cambria" panose="02040503050406030204" pitchFamily="18" charset="0"/>
                <a:ea typeface="Cambria" panose="02040503050406030204" pitchFamily="18" charset="0"/>
                <a:cs typeface="Calibri"/>
              </a:rPr>
              <a:t> suit the</a:t>
            </a:r>
            <a:r>
              <a:rPr sz="1200" spc="-8" dirty="0">
                <a:solidFill>
                  <a:prstClr val="black"/>
                </a:solidFill>
                <a:latin typeface="Cambria" panose="02040503050406030204" pitchFamily="18" charset="0"/>
                <a:ea typeface="Cambria" panose="02040503050406030204" pitchFamily="18" charset="0"/>
                <a:cs typeface="Calibri"/>
              </a:rPr>
              <a:t> </a:t>
            </a:r>
            <a:r>
              <a:rPr sz="1200" spc="-5" dirty="0">
                <a:solidFill>
                  <a:prstClr val="black"/>
                </a:solidFill>
                <a:latin typeface="Cambria" panose="02040503050406030204" pitchFamily="18" charset="0"/>
                <a:ea typeface="Cambria" panose="02040503050406030204" pitchFamily="18" charset="0"/>
                <a:cs typeface="Calibri"/>
              </a:rPr>
              <a:t>requirements</a:t>
            </a:r>
            <a:r>
              <a:rPr sz="1200" spc="-12" dirty="0">
                <a:solidFill>
                  <a:prstClr val="black"/>
                </a:solidFill>
                <a:latin typeface="Cambria" panose="02040503050406030204" pitchFamily="18" charset="0"/>
                <a:ea typeface="Cambria" panose="02040503050406030204" pitchFamily="18" charset="0"/>
                <a:cs typeface="Calibri"/>
              </a:rPr>
              <a:t> </a:t>
            </a:r>
            <a:r>
              <a:rPr sz="1200" spc="-2" dirty="0">
                <a:solidFill>
                  <a:prstClr val="black"/>
                </a:solidFill>
                <a:latin typeface="Cambria" panose="02040503050406030204" pitchFamily="18" charset="0"/>
                <a:ea typeface="Cambria" panose="02040503050406030204" pitchFamily="18" charset="0"/>
                <a:cs typeface="Calibri"/>
              </a:rPr>
              <a:t>of the</a:t>
            </a:r>
            <a:r>
              <a:rPr sz="1200" spc="-8" dirty="0">
                <a:solidFill>
                  <a:prstClr val="black"/>
                </a:solidFill>
                <a:latin typeface="Cambria" panose="02040503050406030204" pitchFamily="18" charset="0"/>
                <a:ea typeface="Cambria" panose="02040503050406030204" pitchFamily="18" charset="0"/>
                <a:cs typeface="Calibri"/>
              </a:rPr>
              <a:t> course</a:t>
            </a:r>
            <a:endParaRPr sz="1200" dirty="0">
              <a:solidFill>
                <a:prstClr val="black"/>
              </a:solidFill>
              <a:latin typeface="Cambria" panose="02040503050406030204" pitchFamily="18" charset="0"/>
              <a:ea typeface="Cambria" panose="02040503050406030204" pitchFamily="18" charset="0"/>
              <a:cs typeface="Calibri"/>
            </a:endParaRPr>
          </a:p>
        </p:txBody>
      </p:sp>
      <p:sp>
        <p:nvSpPr>
          <p:cNvPr id="12" name="object 4">
            <a:extLst>
              <a:ext uri="{FF2B5EF4-FFF2-40B4-BE49-F238E27FC236}">
                <a16:creationId xmlns:a16="http://schemas.microsoft.com/office/drawing/2014/main" id="{9A90E0B6-F04D-52C8-030F-1CE337EA31C8}"/>
              </a:ext>
            </a:extLst>
          </p:cNvPr>
          <p:cNvSpPr txBox="1"/>
          <p:nvPr/>
        </p:nvSpPr>
        <p:spPr>
          <a:xfrm>
            <a:off x="4467389" y="2171701"/>
            <a:ext cx="4274196" cy="233216"/>
          </a:xfrm>
          <a:prstGeom prst="rect">
            <a:avLst/>
          </a:prstGeom>
        </p:spPr>
        <p:txBody>
          <a:bodyPr vert="horz" wrap="square" lIns="0" tIns="7568" rIns="0" bIns="0" rtlCol="0">
            <a:spAutoFit/>
          </a:bodyPr>
          <a:lstStyle/>
          <a:p>
            <a:pPr marL="6306" fontAlgn="base">
              <a:spcBef>
                <a:spcPts val="59"/>
              </a:spcBef>
              <a:spcAft>
                <a:spcPct val="0"/>
              </a:spcAft>
            </a:pPr>
            <a:r>
              <a:rPr sz="1466" spc="-8" dirty="0">
                <a:solidFill>
                  <a:srgbClr val="1C1572"/>
                </a:solidFill>
                <a:latin typeface="Cambria" panose="02040503050406030204" pitchFamily="18" charset="0"/>
                <a:ea typeface="Cambria" panose="02040503050406030204" pitchFamily="18" charset="0"/>
                <a:cs typeface="Calibri Light"/>
              </a:rPr>
              <a:t>Disclaimer</a:t>
            </a:r>
            <a:r>
              <a:rPr sz="1466" spc="-35" dirty="0">
                <a:solidFill>
                  <a:srgbClr val="1C1572"/>
                </a:solidFill>
                <a:latin typeface="Cambria" panose="02040503050406030204" pitchFamily="18" charset="0"/>
                <a:ea typeface="Cambria" panose="02040503050406030204" pitchFamily="18" charset="0"/>
                <a:cs typeface="Calibri Light"/>
              </a:rPr>
              <a:t> </a:t>
            </a:r>
            <a:r>
              <a:rPr sz="1466" spc="-5" dirty="0">
                <a:solidFill>
                  <a:srgbClr val="1C1572"/>
                </a:solidFill>
                <a:latin typeface="Cambria" panose="02040503050406030204" pitchFamily="18" charset="0"/>
                <a:ea typeface="Cambria" panose="02040503050406030204" pitchFamily="18" charset="0"/>
                <a:cs typeface="Calibri Light"/>
              </a:rPr>
              <a:t>and</a:t>
            </a:r>
            <a:r>
              <a:rPr sz="1466" spc="-35" dirty="0">
                <a:solidFill>
                  <a:srgbClr val="1C1572"/>
                </a:solidFill>
                <a:latin typeface="Cambria" panose="02040503050406030204" pitchFamily="18" charset="0"/>
                <a:ea typeface="Cambria" panose="02040503050406030204" pitchFamily="18" charset="0"/>
                <a:cs typeface="Calibri Light"/>
              </a:rPr>
              <a:t> </a:t>
            </a:r>
            <a:r>
              <a:rPr sz="1466" spc="-12" dirty="0">
                <a:solidFill>
                  <a:srgbClr val="1C1572"/>
                </a:solidFill>
                <a:latin typeface="Cambria" panose="02040503050406030204" pitchFamily="18" charset="0"/>
                <a:ea typeface="Cambria" panose="02040503050406030204" pitchFamily="18" charset="0"/>
                <a:cs typeface="Calibri Light"/>
              </a:rPr>
              <a:t>Acknowledgement</a:t>
            </a:r>
            <a:endParaRPr sz="1466" dirty="0">
              <a:solidFill>
                <a:prstClr val="black"/>
              </a:solidFill>
              <a:latin typeface="Cambria" panose="02040503050406030204" pitchFamily="18" charset="0"/>
              <a:ea typeface="Cambria" panose="02040503050406030204" pitchFamily="18" charset="0"/>
              <a:cs typeface="Calibri Light"/>
            </a:endParaRPr>
          </a:p>
        </p:txBody>
      </p:sp>
      <p:pic>
        <p:nvPicPr>
          <p:cNvPr id="13" name="object 5">
            <a:extLst>
              <a:ext uri="{FF2B5EF4-FFF2-40B4-BE49-F238E27FC236}">
                <a16:creationId xmlns:a16="http://schemas.microsoft.com/office/drawing/2014/main" id="{4251F471-DEA0-6983-32A0-6AD5B097A233}"/>
              </a:ext>
            </a:extLst>
          </p:cNvPr>
          <p:cNvPicPr/>
          <p:nvPr/>
        </p:nvPicPr>
        <p:blipFill>
          <a:blip r:embed="rId2" cstate="print"/>
          <a:stretch>
            <a:fillRect/>
          </a:stretch>
        </p:blipFill>
        <p:spPr>
          <a:xfrm>
            <a:off x="5280598" y="2823275"/>
            <a:ext cx="815403" cy="891476"/>
          </a:xfrm>
          <a:prstGeom prst="rect">
            <a:avLst/>
          </a:prstGeom>
        </p:spPr>
      </p:pic>
    </p:spTree>
    <p:extLst>
      <p:ext uri="{BB962C8B-B14F-4D97-AF65-F5344CB8AC3E}">
        <p14:creationId xmlns:p14="http://schemas.microsoft.com/office/powerpoint/2010/main" val="402558075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34AFB2-160D-6657-A257-BB0F20901964}"/>
              </a:ext>
            </a:extLst>
          </p:cNvPr>
          <p:cNvSpPr>
            <a:spLocks noGrp="1"/>
          </p:cNvSpPr>
          <p:nvPr>
            <p:ph type="body" sz="quarter" idx="1"/>
          </p:nvPr>
        </p:nvSpPr>
        <p:spPr/>
        <p:txBody>
          <a:bodyPr/>
          <a:lstStyle/>
          <a:p>
            <a:r>
              <a:rPr lang="en-US" dirty="0"/>
              <a:t>Handout</a:t>
            </a:r>
            <a:endParaRPr lang="en-IN" dirty="0"/>
          </a:p>
        </p:txBody>
      </p:sp>
    </p:spTree>
    <p:extLst>
      <p:ext uri="{BB962C8B-B14F-4D97-AF65-F5344CB8AC3E}">
        <p14:creationId xmlns:p14="http://schemas.microsoft.com/office/powerpoint/2010/main" val="289335161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39201" y="84"/>
            <a:ext cx="2925233" cy="692149"/>
          </a:xfrm>
          <a:prstGeom prst="rect">
            <a:avLst/>
          </a:prstGeom>
        </p:spPr>
      </p:pic>
      <p:grpSp>
        <p:nvGrpSpPr>
          <p:cNvPr id="3" name="object 3"/>
          <p:cNvGrpSpPr/>
          <p:nvPr/>
        </p:nvGrpSpPr>
        <p:grpSpPr>
          <a:xfrm>
            <a:off x="0" y="1295421"/>
            <a:ext cx="9347200" cy="46567"/>
            <a:chOff x="0" y="971565"/>
            <a:chExt cx="7010400" cy="34925"/>
          </a:xfrm>
        </p:grpSpPr>
        <p:sp>
          <p:nvSpPr>
            <p:cNvPr id="4" name="object 4"/>
            <p:cNvSpPr/>
            <p:nvPr/>
          </p:nvSpPr>
          <p:spPr>
            <a:xfrm>
              <a:off x="2362200" y="971565"/>
              <a:ext cx="2329180" cy="34925"/>
            </a:xfrm>
            <a:custGeom>
              <a:avLst/>
              <a:gdLst/>
              <a:ahLst/>
              <a:cxnLst/>
              <a:rect l="l" t="t" r="r" b="b"/>
              <a:pathLst>
                <a:path w="2329179" h="34925">
                  <a:moveTo>
                    <a:pt x="2328926" y="0"/>
                  </a:moveTo>
                  <a:lnTo>
                    <a:pt x="0" y="0"/>
                  </a:lnTo>
                  <a:lnTo>
                    <a:pt x="0" y="34528"/>
                  </a:lnTo>
                  <a:lnTo>
                    <a:pt x="2328926" y="34528"/>
                  </a:lnTo>
                  <a:lnTo>
                    <a:pt x="2328926" y="0"/>
                  </a:lnTo>
                  <a:close/>
                </a:path>
              </a:pathLst>
            </a:custGeom>
            <a:solidFill>
              <a:srgbClr val="76C2E4"/>
            </a:solidFill>
          </p:spPr>
          <p:txBody>
            <a:bodyPr wrap="square" lIns="0" tIns="0" rIns="0" bIns="0" rtlCol="0"/>
            <a:lstStyle/>
            <a:p>
              <a:endParaRPr sz="2400"/>
            </a:p>
          </p:txBody>
        </p:sp>
        <p:sp>
          <p:nvSpPr>
            <p:cNvPr id="5" name="object 5"/>
            <p:cNvSpPr/>
            <p:nvPr/>
          </p:nvSpPr>
          <p:spPr>
            <a:xfrm>
              <a:off x="0" y="971565"/>
              <a:ext cx="2362200" cy="34925"/>
            </a:xfrm>
            <a:custGeom>
              <a:avLst/>
              <a:gdLst/>
              <a:ahLst/>
              <a:cxnLst/>
              <a:rect l="l" t="t" r="r" b="b"/>
              <a:pathLst>
                <a:path w="2362200" h="34925">
                  <a:moveTo>
                    <a:pt x="2362200" y="0"/>
                  </a:moveTo>
                  <a:lnTo>
                    <a:pt x="0" y="0"/>
                  </a:lnTo>
                  <a:lnTo>
                    <a:pt x="0" y="34528"/>
                  </a:lnTo>
                  <a:lnTo>
                    <a:pt x="2362200" y="34528"/>
                  </a:lnTo>
                  <a:lnTo>
                    <a:pt x="2362200" y="0"/>
                  </a:lnTo>
                  <a:close/>
                </a:path>
              </a:pathLst>
            </a:custGeom>
            <a:solidFill>
              <a:srgbClr val="FBAF17"/>
            </a:solidFill>
          </p:spPr>
          <p:txBody>
            <a:bodyPr wrap="square" lIns="0" tIns="0" rIns="0" bIns="0" rtlCol="0"/>
            <a:lstStyle/>
            <a:p>
              <a:endParaRPr sz="2400"/>
            </a:p>
          </p:txBody>
        </p:sp>
        <p:sp>
          <p:nvSpPr>
            <p:cNvPr id="6" name="object 6"/>
            <p:cNvSpPr/>
            <p:nvPr/>
          </p:nvSpPr>
          <p:spPr>
            <a:xfrm>
              <a:off x="4681601" y="971565"/>
              <a:ext cx="2329180" cy="34925"/>
            </a:xfrm>
            <a:custGeom>
              <a:avLst/>
              <a:gdLst/>
              <a:ahLst/>
              <a:cxnLst/>
              <a:rect l="l" t="t" r="r" b="b"/>
              <a:pathLst>
                <a:path w="2329179" h="34925">
                  <a:moveTo>
                    <a:pt x="2328799" y="0"/>
                  </a:moveTo>
                  <a:lnTo>
                    <a:pt x="0" y="0"/>
                  </a:lnTo>
                  <a:lnTo>
                    <a:pt x="0" y="34528"/>
                  </a:lnTo>
                  <a:lnTo>
                    <a:pt x="2328799" y="34528"/>
                  </a:lnTo>
                  <a:lnTo>
                    <a:pt x="2328799" y="0"/>
                  </a:lnTo>
                  <a:close/>
                </a:path>
              </a:pathLst>
            </a:custGeom>
            <a:solidFill>
              <a:srgbClr val="FF0000"/>
            </a:solidFill>
          </p:spPr>
          <p:txBody>
            <a:bodyPr wrap="square" lIns="0" tIns="0" rIns="0" bIns="0" rtlCol="0"/>
            <a:lstStyle/>
            <a:p>
              <a:endParaRPr sz="2400"/>
            </a:p>
          </p:txBody>
        </p:sp>
      </p:grpSp>
      <p:sp>
        <p:nvSpPr>
          <p:cNvPr id="9" name="object 9"/>
          <p:cNvSpPr txBox="1">
            <a:spLocks noGrp="1"/>
          </p:cNvSpPr>
          <p:nvPr>
            <p:ph type="ftr" sz="quarter" idx="5"/>
          </p:nvPr>
        </p:nvSpPr>
        <p:spPr>
          <a:prstGeom prst="rect">
            <a:avLst/>
          </a:prstGeom>
        </p:spPr>
        <p:txBody>
          <a:bodyPr vert="horz" wrap="square" lIns="0" tIns="8467" rIns="0" bIns="0" rtlCol="0">
            <a:spAutoFit/>
          </a:bodyPr>
          <a:lstStyle/>
          <a:p>
            <a:pPr marL="577412">
              <a:spcBef>
                <a:spcPts val="67"/>
              </a:spcBef>
            </a:pPr>
            <a:r>
              <a:rPr sz="1067" b="1" dirty="0">
                <a:latin typeface="Arial"/>
                <a:cs typeface="Arial"/>
              </a:rPr>
              <a:t>BITS</a:t>
            </a:r>
            <a:r>
              <a:rPr sz="1067" b="1" spc="13" dirty="0">
                <a:latin typeface="Arial"/>
                <a:cs typeface="Arial"/>
              </a:rPr>
              <a:t> </a:t>
            </a:r>
            <a:r>
              <a:rPr sz="1067" dirty="0"/>
              <a:t>Pilani,</a:t>
            </a:r>
            <a:r>
              <a:rPr sz="1067" spc="87" dirty="0"/>
              <a:t> </a:t>
            </a:r>
            <a:r>
              <a:rPr sz="1067" dirty="0"/>
              <a:t>Pilani</a:t>
            </a:r>
            <a:r>
              <a:rPr sz="1067" spc="107" dirty="0"/>
              <a:t> </a:t>
            </a:r>
            <a:r>
              <a:rPr sz="1067" spc="-13" dirty="0"/>
              <a:t>Campus</a:t>
            </a:r>
            <a:endParaRPr sz="1067">
              <a:latin typeface="Arial"/>
              <a:cs typeface="Arial"/>
            </a:endParaRPr>
          </a:p>
        </p:txBody>
      </p:sp>
      <p:sp>
        <p:nvSpPr>
          <p:cNvPr id="7" name="object 7"/>
          <p:cNvSpPr txBox="1">
            <a:spLocks noGrp="1"/>
          </p:cNvSpPr>
          <p:nvPr>
            <p:ph type="title"/>
          </p:nvPr>
        </p:nvSpPr>
        <p:spPr>
          <a:prstGeom prst="rect">
            <a:avLst/>
          </a:prstGeom>
        </p:spPr>
        <p:txBody>
          <a:bodyPr vert="horz" wrap="square" lIns="0" tIns="16933" rIns="0" bIns="0" rtlCol="0" anchor="ctr">
            <a:spAutoFit/>
          </a:bodyPr>
          <a:lstStyle/>
          <a:p>
            <a:pPr marL="507987">
              <a:spcBef>
                <a:spcPts val="133"/>
              </a:spcBef>
            </a:pPr>
            <a:r>
              <a:rPr spc="-133" dirty="0"/>
              <a:t>Evaluation</a:t>
            </a:r>
            <a:endParaRPr/>
          </a:p>
        </p:txBody>
      </p:sp>
      <p:graphicFrame>
        <p:nvGraphicFramePr>
          <p:cNvPr id="8" name="object 8"/>
          <p:cNvGraphicFramePr>
            <a:graphicFrameLocks noGrp="1"/>
          </p:cNvGraphicFramePr>
          <p:nvPr>
            <p:extLst>
              <p:ext uri="{D42A27DB-BD31-4B8C-83A1-F6EECF244321}">
                <p14:modId xmlns:p14="http://schemas.microsoft.com/office/powerpoint/2010/main" val="2408246438"/>
              </p:ext>
            </p:extLst>
          </p:nvPr>
        </p:nvGraphicFramePr>
        <p:xfrm>
          <a:off x="797933" y="1615949"/>
          <a:ext cx="10261599" cy="3030221"/>
        </p:xfrm>
        <a:graphic>
          <a:graphicData uri="http://schemas.openxmlformats.org/drawingml/2006/table">
            <a:tbl>
              <a:tblPr firstRow="1" bandRow="1">
                <a:tableStyleId>{2D5ABB26-0587-4C30-8999-92F81FD0307C}</a:tableStyleId>
              </a:tblPr>
              <a:tblGrid>
                <a:gridCol w="3306233">
                  <a:extLst>
                    <a:ext uri="{9D8B030D-6E8A-4147-A177-3AD203B41FA5}">
                      <a16:colId xmlns:a16="http://schemas.microsoft.com/office/drawing/2014/main" val="20000"/>
                    </a:ext>
                  </a:extLst>
                </a:gridCol>
                <a:gridCol w="4903047">
                  <a:extLst>
                    <a:ext uri="{9D8B030D-6E8A-4147-A177-3AD203B41FA5}">
                      <a16:colId xmlns:a16="http://schemas.microsoft.com/office/drawing/2014/main" val="20001"/>
                    </a:ext>
                  </a:extLst>
                </a:gridCol>
                <a:gridCol w="2052319">
                  <a:extLst>
                    <a:ext uri="{9D8B030D-6E8A-4147-A177-3AD203B41FA5}">
                      <a16:colId xmlns:a16="http://schemas.microsoft.com/office/drawing/2014/main" val="20002"/>
                    </a:ext>
                  </a:extLst>
                </a:gridCol>
              </a:tblGrid>
              <a:tr h="909320">
                <a:tc>
                  <a:txBody>
                    <a:bodyPr/>
                    <a:lstStyle/>
                    <a:p>
                      <a:pPr marL="593725">
                        <a:lnSpc>
                          <a:spcPct val="100000"/>
                        </a:lnSpc>
                        <a:spcBef>
                          <a:spcPts val="1585"/>
                        </a:spcBef>
                      </a:pPr>
                      <a:r>
                        <a:rPr sz="2400" b="1" spc="-10" dirty="0">
                          <a:solidFill>
                            <a:srgbClr val="006FC0"/>
                          </a:solidFill>
                          <a:latin typeface="Arial"/>
                          <a:cs typeface="Arial"/>
                        </a:rPr>
                        <a:t>Component</a:t>
                      </a:r>
                      <a:endParaRPr sz="2400" dirty="0">
                        <a:latin typeface="Arial"/>
                        <a:cs typeface="Arial"/>
                      </a:endParaRPr>
                    </a:p>
                  </a:txBody>
                  <a:tcPr marL="0" marR="0" marT="268393"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R="31750" algn="ctr">
                        <a:lnSpc>
                          <a:spcPct val="100000"/>
                        </a:lnSpc>
                        <a:spcBef>
                          <a:spcPts val="1580"/>
                        </a:spcBef>
                      </a:pPr>
                      <a:r>
                        <a:rPr sz="2400" b="1" spc="-10" dirty="0">
                          <a:solidFill>
                            <a:srgbClr val="006FC0"/>
                          </a:solidFill>
                          <a:latin typeface="Calibri"/>
                          <a:cs typeface="Calibri"/>
                        </a:rPr>
                        <a:t>Details</a:t>
                      </a:r>
                      <a:endParaRPr sz="2400">
                        <a:latin typeface="Calibri"/>
                        <a:cs typeface="Calibri"/>
                      </a:endParaRPr>
                    </a:p>
                  </a:txBody>
                  <a:tcPr marL="0" marR="0" marT="26754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161925">
                        <a:lnSpc>
                          <a:spcPct val="100000"/>
                        </a:lnSpc>
                        <a:spcBef>
                          <a:spcPts val="1585"/>
                        </a:spcBef>
                      </a:pPr>
                      <a:r>
                        <a:rPr sz="2400" b="1" spc="-10" dirty="0">
                          <a:solidFill>
                            <a:srgbClr val="006FC0"/>
                          </a:solidFill>
                          <a:latin typeface="Arial"/>
                          <a:cs typeface="Arial"/>
                        </a:rPr>
                        <a:t>Weightage</a:t>
                      </a:r>
                      <a:endParaRPr sz="2400">
                        <a:latin typeface="Arial"/>
                        <a:cs typeface="Arial"/>
                      </a:endParaRPr>
                    </a:p>
                  </a:txBody>
                  <a:tcPr marL="0" marR="0" marT="268393"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0"/>
                  </a:ext>
                </a:extLst>
              </a:tr>
              <a:tr h="706967">
                <a:tc>
                  <a:txBody>
                    <a:bodyPr/>
                    <a:lstStyle/>
                    <a:p>
                      <a:pPr marL="87630">
                        <a:lnSpc>
                          <a:spcPct val="100000"/>
                        </a:lnSpc>
                        <a:spcBef>
                          <a:spcPts val="335"/>
                        </a:spcBef>
                      </a:pPr>
                      <a:r>
                        <a:rPr sz="2000" dirty="0">
                          <a:latin typeface="Arial MT"/>
                          <a:cs typeface="Arial MT"/>
                        </a:rPr>
                        <a:t>Assignment</a:t>
                      </a:r>
                      <a:r>
                        <a:rPr lang="en-US" sz="2000" spc="-80" dirty="0">
                          <a:latin typeface="Arial MT"/>
                          <a:cs typeface="Arial MT"/>
                        </a:rPr>
                        <a:t>s</a:t>
                      </a:r>
                      <a:r>
                        <a:rPr lang="en-US" sz="2000" spc="-80" baseline="0" dirty="0">
                          <a:latin typeface="Arial MT"/>
                          <a:cs typeface="Arial MT"/>
                        </a:rPr>
                        <a:t> </a:t>
                      </a:r>
                      <a:endParaRPr sz="2000" dirty="0">
                        <a:latin typeface="Arial MT"/>
                        <a:cs typeface="Arial MT"/>
                      </a:endParaRPr>
                    </a:p>
                  </a:txBody>
                  <a:tcPr marL="0" marR="0" marT="56727"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7EAEC"/>
                    </a:solidFill>
                  </a:tcPr>
                </a:tc>
                <a:tc>
                  <a:txBody>
                    <a:bodyPr/>
                    <a:lstStyle/>
                    <a:p>
                      <a:pPr marL="36195">
                        <a:lnSpc>
                          <a:spcPct val="100000"/>
                        </a:lnSpc>
                        <a:spcBef>
                          <a:spcPts val="335"/>
                        </a:spcBef>
                      </a:pPr>
                      <a:r>
                        <a:rPr lang="en-US" sz="2000" dirty="0">
                          <a:latin typeface="Calibri"/>
                          <a:cs typeface="Calibri"/>
                        </a:rPr>
                        <a:t>Plan will shared by second week</a:t>
                      </a:r>
                      <a:endParaRPr sz="2000" dirty="0">
                        <a:latin typeface="Calibri"/>
                        <a:cs typeface="Calibri"/>
                      </a:endParaRPr>
                    </a:p>
                  </a:txBody>
                  <a:tcPr marL="0" marR="0" marT="56727"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7EAEC"/>
                    </a:solidFill>
                  </a:tcPr>
                </a:tc>
                <a:tc>
                  <a:txBody>
                    <a:bodyPr/>
                    <a:lstStyle/>
                    <a:p>
                      <a:pPr marL="36195">
                        <a:lnSpc>
                          <a:spcPct val="100000"/>
                        </a:lnSpc>
                        <a:spcBef>
                          <a:spcPts val="335"/>
                        </a:spcBef>
                      </a:pPr>
                      <a:r>
                        <a:rPr lang="en-US" sz="2000" spc="-25" dirty="0">
                          <a:latin typeface="Arial MT"/>
                          <a:cs typeface="Arial MT"/>
                        </a:rPr>
                        <a:t>35</a:t>
                      </a:r>
                      <a:r>
                        <a:rPr sz="2000" spc="-25" dirty="0">
                          <a:latin typeface="Arial MT"/>
                          <a:cs typeface="Arial MT"/>
                        </a:rPr>
                        <a:t>%</a:t>
                      </a:r>
                      <a:endParaRPr sz="2000" dirty="0">
                        <a:latin typeface="Arial MT"/>
                        <a:cs typeface="Arial MT"/>
                      </a:endParaRPr>
                    </a:p>
                  </a:txBody>
                  <a:tcPr marL="0" marR="0" marT="56727"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7EAEC"/>
                    </a:solidFill>
                  </a:tcPr>
                </a:tc>
                <a:extLst>
                  <a:ext uri="{0D108BD9-81ED-4DB2-BD59-A6C34878D82A}">
                    <a16:rowId xmlns:a16="http://schemas.microsoft.com/office/drawing/2014/main" val="10001"/>
                  </a:ext>
                </a:extLst>
              </a:tr>
              <a:tr h="706967">
                <a:tc>
                  <a:txBody>
                    <a:bodyPr/>
                    <a:lstStyle/>
                    <a:p>
                      <a:pPr marL="87630">
                        <a:lnSpc>
                          <a:spcPct val="100000"/>
                        </a:lnSpc>
                        <a:spcBef>
                          <a:spcPts val="335"/>
                        </a:spcBef>
                      </a:pPr>
                      <a:r>
                        <a:rPr sz="2000" spc="-10" dirty="0">
                          <a:latin typeface="Arial MT"/>
                          <a:cs typeface="Arial MT"/>
                        </a:rPr>
                        <a:t>Mid-</a:t>
                      </a:r>
                      <a:r>
                        <a:rPr sz="2000" dirty="0">
                          <a:latin typeface="Arial MT"/>
                          <a:cs typeface="Arial MT"/>
                        </a:rPr>
                        <a:t>term</a:t>
                      </a:r>
                      <a:r>
                        <a:rPr sz="2000" spc="-20" dirty="0">
                          <a:latin typeface="Arial MT"/>
                          <a:cs typeface="Arial MT"/>
                        </a:rPr>
                        <a:t> Exam</a:t>
                      </a:r>
                      <a:endParaRPr sz="2000">
                        <a:latin typeface="Arial MT"/>
                        <a:cs typeface="Arial MT"/>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36195">
                        <a:lnSpc>
                          <a:spcPct val="100000"/>
                        </a:lnSpc>
                        <a:spcBef>
                          <a:spcPts val="335"/>
                        </a:spcBef>
                      </a:pPr>
                      <a:r>
                        <a:rPr sz="2000" dirty="0">
                          <a:latin typeface="Calibri"/>
                          <a:cs typeface="Calibri"/>
                        </a:rPr>
                        <a:t>Closed</a:t>
                      </a:r>
                      <a:r>
                        <a:rPr sz="2000" spc="-30" dirty="0">
                          <a:latin typeface="Calibri"/>
                          <a:cs typeface="Calibri"/>
                        </a:rPr>
                        <a:t> </a:t>
                      </a:r>
                      <a:r>
                        <a:rPr sz="2000" spc="-20" dirty="0">
                          <a:latin typeface="Calibri"/>
                          <a:cs typeface="Calibri"/>
                        </a:rPr>
                        <a:t>Book</a:t>
                      </a:r>
                      <a:endParaRPr sz="2000">
                        <a:latin typeface="Calibri"/>
                        <a:cs typeface="Calibri"/>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36195">
                        <a:lnSpc>
                          <a:spcPct val="100000"/>
                        </a:lnSpc>
                        <a:spcBef>
                          <a:spcPts val="335"/>
                        </a:spcBef>
                      </a:pPr>
                      <a:r>
                        <a:rPr sz="2000" spc="-25" dirty="0">
                          <a:latin typeface="Arial MT"/>
                          <a:cs typeface="Arial MT"/>
                        </a:rPr>
                        <a:t>30%</a:t>
                      </a:r>
                      <a:endParaRPr sz="2000" dirty="0">
                        <a:latin typeface="Arial MT"/>
                        <a:cs typeface="Arial MT"/>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2"/>
                  </a:ext>
                </a:extLst>
              </a:tr>
              <a:tr h="706967">
                <a:tc>
                  <a:txBody>
                    <a:bodyPr/>
                    <a:lstStyle/>
                    <a:p>
                      <a:pPr marL="87630">
                        <a:lnSpc>
                          <a:spcPct val="100000"/>
                        </a:lnSpc>
                        <a:spcBef>
                          <a:spcPts val="335"/>
                        </a:spcBef>
                      </a:pPr>
                      <a:r>
                        <a:rPr sz="2000" dirty="0">
                          <a:latin typeface="Arial MT"/>
                          <a:cs typeface="Arial MT"/>
                        </a:rPr>
                        <a:t>End</a:t>
                      </a:r>
                      <a:r>
                        <a:rPr sz="2000" spc="-40" dirty="0">
                          <a:latin typeface="Arial MT"/>
                          <a:cs typeface="Arial MT"/>
                        </a:rPr>
                        <a:t> </a:t>
                      </a:r>
                      <a:r>
                        <a:rPr sz="2000" dirty="0">
                          <a:latin typeface="Arial MT"/>
                          <a:cs typeface="Arial MT"/>
                        </a:rPr>
                        <a:t>Semester</a:t>
                      </a:r>
                      <a:r>
                        <a:rPr sz="2000" spc="-70" dirty="0">
                          <a:latin typeface="Arial MT"/>
                          <a:cs typeface="Arial MT"/>
                        </a:rPr>
                        <a:t> </a:t>
                      </a:r>
                      <a:r>
                        <a:rPr sz="2000" spc="-20" dirty="0">
                          <a:latin typeface="Arial MT"/>
                          <a:cs typeface="Arial MT"/>
                        </a:rPr>
                        <a:t>Exam</a:t>
                      </a:r>
                      <a:endParaRPr sz="2000">
                        <a:latin typeface="Arial MT"/>
                        <a:cs typeface="Arial MT"/>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36195">
                        <a:lnSpc>
                          <a:spcPct val="100000"/>
                        </a:lnSpc>
                        <a:spcBef>
                          <a:spcPts val="335"/>
                        </a:spcBef>
                      </a:pPr>
                      <a:r>
                        <a:rPr sz="2000" dirty="0">
                          <a:latin typeface="Calibri"/>
                          <a:cs typeface="Calibri"/>
                        </a:rPr>
                        <a:t>Open</a:t>
                      </a:r>
                      <a:r>
                        <a:rPr sz="2000" spc="-40" dirty="0">
                          <a:latin typeface="Calibri"/>
                          <a:cs typeface="Calibri"/>
                        </a:rPr>
                        <a:t> </a:t>
                      </a:r>
                      <a:r>
                        <a:rPr sz="2000" spc="-20" dirty="0">
                          <a:latin typeface="Calibri"/>
                          <a:cs typeface="Calibri"/>
                        </a:rPr>
                        <a:t>Book</a:t>
                      </a:r>
                      <a:endParaRPr sz="2000">
                        <a:latin typeface="Calibri"/>
                        <a:cs typeface="Calibri"/>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tc>
                  <a:txBody>
                    <a:bodyPr/>
                    <a:lstStyle/>
                    <a:p>
                      <a:pPr marL="36195">
                        <a:lnSpc>
                          <a:spcPct val="100000"/>
                        </a:lnSpc>
                        <a:spcBef>
                          <a:spcPts val="335"/>
                        </a:spcBef>
                      </a:pPr>
                      <a:r>
                        <a:rPr sz="2000" spc="-25" dirty="0">
                          <a:latin typeface="Arial MT"/>
                          <a:cs typeface="Arial MT"/>
                        </a:rPr>
                        <a:t>3</a:t>
                      </a:r>
                      <a:r>
                        <a:rPr lang="en-US" sz="2000" spc="-25" dirty="0">
                          <a:latin typeface="Arial MT"/>
                          <a:cs typeface="Arial MT"/>
                        </a:rPr>
                        <a:t>5</a:t>
                      </a:r>
                      <a:r>
                        <a:rPr sz="2000" spc="-25" dirty="0">
                          <a:latin typeface="Arial MT"/>
                          <a:cs typeface="Arial MT"/>
                        </a:rPr>
                        <a:t>%</a:t>
                      </a:r>
                      <a:endParaRPr sz="2000" dirty="0">
                        <a:latin typeface="Arial MT"/>
                        <a:cs typeface="Arial MT"/>
                      </a:endParaRPr>
                    </a:p>
                  </a:txBody>
                  <a:tcPr marL="0" marR="0" marT="567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AE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69254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D2006-F0E0-0B9B-8C1D-D3D76CF8F43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014D52F-B04F-5630-3B25-04BF6B5F5AC1}"/>
              </a:ext>
            </a:extLst>
          </p:cNvPr>
          <p:cNvSpPr>
            <a:spLocks noGrp="1"/>
          </p:cNvSpPr>
          <p:nvPr>
            <p:ph type="body" sz="quarter" idx="1"/>
          </p:nvPr>
        </p:nvSpPr>
        <p:spPr/>
        <p:txBody>
          <a:bodyPr/>
          <a:lstStyle/>
          <a:p>
            <a:r>
              <a:rPr lang="en-US" dirty="0"/>
              <a:t>Agenda</a:t>
            </a:r>
            <a:endParaRPr lang="en-IN" dirty="0"/>
          </a:p>
          <a:p>
            <a:endParaRPr lang="en-IN" dirty="0"/>
          </a:p>
        </p:txBody>
      </p:sp>
      <p:sp>
        <p:nvSpPr>
          <p:cNvPr id="3" name="Rectangle 2">
            <a:extLst>
              <a:ext uri="{FF2B5EF4-FFF2-40B4-BE49-F238E27FC236}">
                <a16:creationId xmlns:a16="http://schemas.microsoft.com/office/drawing/2014/main" id="{428CF338-556A-4413-D261-3FBCBEEBBC52}"/>
              </a:ext>
            </a:extLst>
          </p:cNvPr>
          <p:cNvSpPr/>
          <p:nvPr/>
        </p:nvSpPr>
        <p:spPr>
          <a:xfrm>
            <a:off x="163132" y="1411954"/>
            <a:ext cx="10217239" cy="3539430"/>
          </a:xfrm>
          <a:prstGeom prst="rect">
            <a:avLst/>
          </a:prstGeom>
        </p:spPr>
        <p:txBody>
          <a:bodyPr wrap="square">
            <a:spAutoFit/>
          </a:bodyPr>
          <a:lstStyle/>
          <a:p>
            <a:pPr marL="285750" indent="-285750">
              <a:buFont typeface="Arial" panose="020B0604020202020204" pitchFamily="34" charset="0"/>
              <a:buChar char="•"/>
            </a:pPr>
            <a:r>
              <a:rPr lang="en-IN" sz="3200" dirty="0"/>
              <a:t>Foundations of Large Language Models (LLMs)</a:t>
            </a:r>
          </a:p>
          <a:p>
            <a:pPr marL="742950" lvl="1" indent="-285750">
              <a:buFont typeface="Arial" panose="020B0604020202020204" pitchFamily="34" charset="0"/>
              <a:buChar char="•"/>
            </a:pPr>
            <a:r>
              <a:rPr lang="en-IN" sz="3200" dirty="0"/>
              <a:t>Introduction to LLMs and Generative AI</a:t>
            </a:r>
          </a:p>
          <a:p>
            <a:pPr marL="742950" lvl="1" indent="-285750">
              <a:buFont typeface="Arial" panose="020B0604020202020204" pitchFamily="34" charset="0"/>
              <a:buChar char="•"/>
            </a:pPr>
            <a:r>
              <a:rPr lang="en-IN" sz="3200" dirty="0"/>
              <a:t>Attention Mechanism &amp; Transformer (Review)</a:t>
            </a:r>
          </a:p>
          <a:p>
            <a:pPr marL="742950" lvl="1" indent="-285750">
              <a:buFont typeface="Arial" panose="020B0604020202020204" pitchFamily="34" charset="0"/>
              <a:buChar char="•"/>
            </a:pPr>
            <a:r>
              <a:rPr lang="en-IN" sz="3200" dirty="0"/>
              <a:t>Building blocks of LLM</a:t>
            </a:r>
          </a:p>
          <a:p>
            <a:pPr marL="742950" lvl="1" indent="-285750">
              <a:buFont typeface="Arial" panose="020B0604020202020204" pitchFamily="34" charset="0"/>
              <a:buChar char="•"/>
            </a:pPr>
            <a:r>
              <a:rPr lang="en-IN" sz="3200" dirty="0"/>
              <a:t>LLM Architectures</a:t>
            </a:r>
          </a:p>
          <a:p>
            <a:pPr marL="742950" lvl="1" indent="-285750">
              <a:buFont typeface="Arial" panose="020B0604020202020204" pitchFamily="34" charset="0"/>
              <a:buChar char="•"/>
            </a:pPr>
            <a:r>
              <a:rPr lang="en-IN" sz="3200" dirty="0"/>
              <a:t>Tokenization</a:t>
            </a:r>
          </a:p>
          <a:p>
            <a:pPr marL="742950" lvl="1" indent="-285750">
              <a:buFont typeface="Arial" panose="020B0604020202020204" pitchFamily="34" charset="0"/>
              <a:buChar char="•"/>
            </a:pPr>
            <a:r>
              <a:rPr lang="en-IN" sz="3200" dirty="0"/>
              <a:t>LLM landscape</a:t>
            </a:r>
          </a:p>
        </p:txBody>
      </p:sp>
    </p:spTree>
    <p:extLst>
      <p:ext uri="{BB962C8B-B14F-4D97-AF65-F5344CB8AC3E}">
        <p14:creationId xmlns:p14="http://schemas.microsoft.com/office/powerpoint/2010/main" val="19672336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1179133" y="3075905"/>
            <a:ext cx="8432800" cy="1143000"/>
          </a:xfrm>
        </p:spPr>
        <p:txBody>
          <a:bodyPr/>
          <a:lstStyle/>
          <a:p>
            <a:r>
              <a:rPr lang="en-IN" dirty="0"/>
              <a:t>Introduction to LLMs and Generative AI</a:t>
            </a:r>
          </a:p>
          <a:p>
            <a:endParaRPr lang="en-IN" dirty="0"/>
          </a:p>
        </p:txBody>
      </p:sp>
    </p:spTree>
    <p:extLst>
      <p:ext uri="{BB962C8B-B14F-4D97-AF65-F5344CB8AC3E}">
        <p14:creationId xmlns:p14="http://schemas.microsoft.com/office/powerpoint/2010/main" val="74363425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Language AI</a:t>
            </a:r>
          </a:p>
        </p:txBody>
      </p:sp>
      <p:pic>
        <p:nvPicPr>
          <p:cNvPr id="3" name="Picture 2"/>
          <p:cNvPicPr>
            <a:picLocks noChangeAspect="1"/>
          </p:cNvPicPr>
          <p:nvPr/>
        </p:nvPicPr>
        <p:blipFill>
          <a:blip r:embed="rId3"/>
          <a:stretch>
            <a:fillRect/>
          </a:stretch>
        </p:blipFill>
        <p:spPr>
          <a:xfrm>
            <a:off x="2038350" y="1138908"/>
            <a:ext cx="8705850" cy="4889900"/>
          </a:xfrm>
          <a:prstGeom prst="rect">
            <a:avLst/>
          </a:prstGeom>
        </p:spPr>
      </p:pic>
    </p:spTree>
    <p:extLst>
      <p:ext uri="{BB962C8B-B14F-4D97-AF65-F5344CB8AC3E}">
        <p14:creationId xmlns:p14="http://schemas.microsoft.com/office/powerpoint/2010/main" val="324661601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pc="-4" dirty="0">
                <a:cs typeface="Calibri"/>
              </a:rPr>
              <a:t>Probabilistic</a:t>
            </a:r>
            <a:r>
              <a:rPr lang="en-IN" spc="-23" dirty="0">
                <a:cs typeface="Calibri"/>
              </a:rPr>
              <a:t> </a:t>
            </a:r>
            <a:r>
              <a:rPr lang="en-IN" spc="-4" dirty="0">
                <a:cs typeface="Calibri"/>
              </a:rPr>
              <a:t>Language</a:t>
            </a:r>
            <a:r>
              <a:rPr lang="en-IN" spc="-23" dirty="0">
                <a:cs typeface="Calibri"/>
              </a:rPr>
              <a:t> </a:t>
            </a:r>
            <a:r>
              <a:rPr lang="en-IN" spc="-4" dirty="0">
                <a:cs typeface="Calibri"/>
              </a:rPr>
              <a:t>Models</a:t>
            </a:r>
            <a:endParaRPr lang="en-IN" dirty="0"/>
          </a:p>
        </p:txBody>
      </p:sp>
      <p:sp>
        <p:nvSpPr>
          <p:cNvPr id="3" name="Content Placeholder 2"/>
          <p:cNvSpPr>
            <a:spLocks noGrp="1"/>
          </p:cNvSpPr>
          <p:nvPr>
            <p:ph idx="1"/>
          </p:nvPr>
        </p:nvSpPr>
        <p:spPr>
          <a:xfrm>
            <a:off x="274712" y="1417813"/>
            <a:ext cx="11642576" cy="4819702"/>
          </a:xfrm>
        </p:spPr>
        <p:txBody>
          <a:bodyPr>
            <a:normAutofit lnSpcReduction="10000"/>
          </a:bodyPr>
          <a:lstStyle/>
          <a:p>
            <a:pPr marL="457200" indent="-457200">
              <a:buFont typeface="Arial" panose="020B0604020202020204" pitchFamily="34" charset="0"/>
              <a:buChar char="•"/>
            </a:pPr>
            <a:r>
              <a:rPr lang="en-US" sz="2800" dirty="0"/>
              <a:t>A model that computes either of these:</a:t>
            </a:r>
          </a:p>
          <a:p>
            <a:pPr marL="800100" lvl="1" indent="-342900">
              <a:buFont typeface="Arial" panose="020B0604020202020204" pitchFamily="34" charset="0"/>
              <a:buChar char="•"/>
            </a:pPr>
            <a:r>
              <a:rPr lang="en-US" dirty="0"/>
              <a:t>   Probability of a sentence ( P(W) )   or   </a:t>
            </a:r>
          </a:p>
          <a:p>
            <a:pPr marL="800100" lvl="1" indent="-342900">
              <a:buFont typeface="Arial" panose="020B0604020202020204" pitchFamily="34" charset="0"/>
              <a:buChar char="•"/>
            </a:pPr>
            <a:r>
              <a:rPr lang="en-US" dirty="0"/>
              <a:t>   Probability of an upcoming word  (P(w</a:t>
            </a:r>
            <a:r>
              <a:rPr lang="en-US" baseline="-25000" dirty="0"/>
              <a:t>n</a:t>
            </a:r>
            <a:r>
              <a:rPr lang="en-US" dirty="0"/>
              <a:t>|w</a:t>
            </a:r>
            <a:r>
              <a:rPr lang="en-US" baseline="-25000" dirty="0"/>
              <a:t>1</a:t>
            </a:r>
            <a:r>
              <a:rPr lang="en-US" dirty="0"/>
              <a:t>,w</a:t>
            </a:r>
            <a:r>
              <a:rPr lang="en-US" baseline="-25000" dirty="0"/>
              <a:t>2</a:t>
            </a:r>
            <a:r>
              <a:rPr lang="en-US" dirty="0"/>
              <a:t>…w</a:t>
            </a:r>
            <a:r>
              <a:rPr lang="en-US" baseline="-25000" dirty="0"/>
              <a:t>n-1</a:t>
            </a:r>
            <a:r>
              <a:rPr lang="en-US" dirty="0"/>
              <a:t>))   is called a </a:t>
            </a:r>
            <a:r>
              <a:rPr lang="en-US" b="1" dirty="0">
                <a:solidFill>
                  <a:srgbClr val="A50021"/>
                </a:solidFill>
              </a:rPr>
              <a:t>language model</a:t>
            </a:r>
            <a:r>
              <a:rPr lang="en-US" dirty="0"/>
              <a:t>.</a:t>
            </a:r>
          </a:p>
          <a:p>
            <a:pPr marL="800100" lvl="1"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Simply we can say that</a:t>
            </a:r>
          </a:p>
          <a:p>
            <a:pPr marL="800100" lvl="1" indent="-342900">
              <a:buFont typeface="Arial" panose="020B0604020202020204" pitchFamily="34" charset="0"/>
              <a:buChar char="•"/>
            </a:pPr>
            <a:r>
              <a:rPr lang="en-US" dirty="0">
                <a:solidFill>
                  <a:srgbClr val="FF0000"/>
                </a:solidFill>
              </a:rPr>
              <a:t>     A language model learns to predict the probability of a sequence of words.</a:t>
            </a:r>
          </a:p>
          <a:p>
            <a:pPr lvl="1"/>
            <a:endParaRPr lang="en-US" dirty="0">
              <a:solidFill>
                <a:srgbClr val="FF0000"/>
              </a:solidFill>
            </a:endParaRPr>
          </a:p>
          <a:p>
            <a:pPr marL="342900" indent="-342900">
              <a:buFont typeface="Arial" panose="020B0604020202020204" pitchFamily="34" charset="0"/>
              <a:buChar char="•"/>
            </a:pPr>
            <a:r>
              <a:rPr lang="en-IN" dirty="0"/>
              <a:t>A language model assigns a </a:t>
            </a:r>
            <a:r>
              <a:rPr lang="en-US" dirty="0"/>
              <a:t>probability to each possible next word, or equivalently gives a probability distribution </a:t>
            </a:r>
            <a:r>
              <a:rPr lang="en-IN" dirty="0"/>
              <a:t>over possible next words</a:t>
            </a:r>
          </a:p>
          <a:p>
            <a:pPr marL="342900" indent="-342900">
              <a:buFont typeface="Arial" panose="020B0604020202020204" pitchFamily="34" charset="0"/>
              <a:buChar char="•"/>
            </a:pPr>
            <a:endParaRPr lang="en-IN" dirty="0">
              <a:solidFill>
                <a:srgbClr val="FF0000"/>
              </a:solidFill>
            </a:endParaRPr>
          </a:p>
          <a:p>
            <a:pPr marL="342900" indent="-342900">
              <a:buFont typeface="Arial" panose="020B0604020202020204" pitchFamily="34" charset="0"/>
              <a:buChar char="•"/>
            </a:pPr>
            <a:r>
              <a:rPr lang="en-US" dirty="0"/>
              <a:t>LM can  tell us :  P(all of a sudden I notice three guys standing on the sidewalk) &gt; </a:t>
            </a:r>
          </a:p>
          <a:p>
            <a:r>
              <a:rPr lang="en-US" dirty="0"/>
              <a:t>                                     P(on guys all I of notice sidewalk three a sudden standing the )</a:t>
            </a:r>
            <a:endParaRPr lang="en-US" dirty="0">
              <a:solidFill>
                <a:srgbClr val="FF0000"/>
              </a:solidFill>
            </a:endParaRPr>
          </a:p>
        </p:txBody>
      </p:sp>
    </p:spTree>
    <p:extLst>
      <p:ext uri="{BB962C8B-B14F-4D97-AF65-F5344CB8AC3E}">
        <p14:creationId xmlns:p14="http://schemas.microsoft.com/office/powerpoint/2010/main" val="794583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What is a Large Language Model?</a:t>
            </a:r>
          </a:p>
        </p:txBody>
      </p:sp>
      <p:sp>
        <p:nvSpPr>
          <p:cNvPr id="3" name="Rectangle 2"/>
          <p:cNvSpPr/>
          <p:nvPr/>
        </p:nvSpPr>
        <p:spPr>
          <a:xfrm>
            <a:off x="150254" y="1507526"/>
            <a:ext cx="12041746" cy="1631216"/>
          </a:xfrm>
          <a:prstGeom prst="rect">
            <a:avLst/>
          </a:prstGeom>
        </p:spPr>
        <p:txBody>
          <a:bodyPr wrap="square">
            <a:spAutoFit/>
          </a:bodyPr>
          <a:lstStyle/>
          <a:p>
            <a:pPr marL="285750" indent="-285750">
              <a:buFont typeface="Arial" panose="020B0604020202020204" pitchFamily="34" charset="0"/>
              <a:buChar char="•"/>
            </a:pPr>
            <a:r>
              <a:rPr lang="en-US" sz="2000" dirty="0"/>
              <a:t>LLMs are deep neural networks trained on massive amounts of text data, large portions of the entire publicly available text on the internet</a:t>
            </a:r>
          </a:p>
          <a:p>
            <a:pPr marL="285750" indent="-285750">
              <a:buFont typeface="Arial" panose="020B0604020202020204" pitchFamily="34" charset="0"/>
              <a:buChar char="•"/>
            </a:pPr>
            <a:r>
              <a:rPr lang="en-US" sz="2000" dirty="0"/>
              <a:t>The “large” in “large language model” refers to both the model’s size in terms of parameters, immense dataset on which it’s trained and larger context of words </a:t>
            </a:r>
          </a:p>
          <a:p>
            <a:endParaRPr lang="en-US" sz="2000" b="1" i="1" dirty="0"/>
          </a:p>
        </p:txBody>
      </p:sp>
      <p:pic>
        <p:nvPicPr>
          <p:cNvPr id="4" name="Picture 3"/>
          <p:cNvPicPr>
            <a:picLocks noChangeAspect="1"/>
          </p:cNvPicPr>
          <p:nvPr/>
        </p:nvPicPr>
        <p:blipFill>
          <a:blip r:embed="rId2"/>
          <a:stretch>
            <a:fillRect/>
          </a:stretch>
        </p:blipFill>
        <p:spPr>
          <a:xfrm>
            <a:off x="1353457" y="3048771"/>
            <a:ext cx="8236858" cy="3656829"/>
          </a:xfrm>
          <a:prstGeom prst="rect">
            <a:avLst/>
          </a:prstGeom>
        </p:spPr>
      </p:pic>
    </p:spTree>
    <p:extLst>
      <p:ext uri="{BB962C8B-B14F-4D97-AF65-F5344CB8AC3E}">
        <p14:creationId xmlns:p14="http://schemas.microsoft.com/office/powerpoint/2010/main" val="229125842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Conditional generation of text</a:t>
            </a:r>
            <a:endParaRPr lang="en-IN" dirty="0"/>
          </a:p>
        </p:txBody>
      </p:sp>
      <p:pic>
        <p:nvPicPr>
          <p:cNvPr id="3" name="Picture 2"/>
          <p:cNvPicPr>
            <a:picLocks noChangeAspect="1"/>
          </p:cNvPicPr>
          <p:nvPr/>
        </p:nvPicPr>
        <p:blipFill>
          <a:blip r:embed="rId3"/>
          <a:stretch>
            <a:fillRect/>
          </a:stretch>
        </p:blipFill>
        <p:spPr>
          <a:xfrm>
            <a:off x="184393" y="3429000"/>
            <a:ext cx="7031934" cy="2796393"/>
          </a:xfrm>
          <a:prstGeom prst="rect">
            <a:avLst/>
          </a:prstGeom>
        </p:spPr>
      </p:pic>
      <p:sp>
        <p:nvSpPr>
          <p:cNvPr id="4" name="Rectangle 3"/>
          <p:cNvSpPr/>
          <p:nvPr/>
        </p:nvSpPr>
        <p:spPr>
          <a:xfrm>
            <a:off x="97307" y="1499726"/>
            <a:ext cx="11243257" cy="830997"/>
          </a:xfrm>
          <a:prstGeom prst="rect">
            <a:avLst/>
          </a:prstGeom>
        </p:spPr>
        <p:txBody>
          <a:bodyPr wrap="square">
            <a:spAutoFit/>
          </a:bodyPr>
          <a:lstStyle/>
          <a:p>
            <a:r>
              <a:rPr lang="en-US" sz="2400" b="1" i="1" dirty="0"/>
              <a:t>Almost any NLP task can be modeled as word prediction in a large language model</a:t>
            </a:r>
          </a:p>
          <a:p>
            <a:endParaRPr lang="en-US" sz="2400" dirty="0"/>
          </a:p>
        </p:txBody>
      </p:sp>
      <p:sp>
        <p:nvSpPr>
          <p:cNvPr id="5" name="Rectangle 4"/>
          <p:cNvSpPr/>
          <p:nvPr/>
        </p:nvSpPr>
        <p:spPr>
          <a:xfrm>
            <a:off x="337125" y="1970833"/>
            <a:ext cx="11517750" cy="1015663"/>
          </a:xfrm>
          <a:prstGeom prst="rect">
            <a:avLst/>
          </a:prstGeom>
          <a:solidFill>
            <a:schemeClr val="tx2">
              <a:lumMod val="20000"/>
              <a:lumOff val="80000"/>
            </a:schemeClr>
          </a:solidFill>
        </p:spPr>
        <p:txBody>
          <a:bodyPr wrap="square">
            <a:spAutoFit/>
          </a:bodyPr>
          <a:lstStyle/>
          <a:p>
            <a:r>
              <a:rPr lang="en-US" sz="2000" dirty="0"/>
              <a:t>E.g. Sentiment classification: </a:t>
            </a:r>
          </a:p>
          <a:p>
            <a:r>
              <a:rPr lang="en-US" sz="2000" dirty="0"/>
              <a:t>P(“</a:t>
            </a:r>
            <a:r>
              <a:rPr lang="en-US" sz="2000" dirty="0" err="1"/>
              <a:t>positive”|“The</a:t>
            </a:r>
            <a:r>
              <a:rPr lang="en-US" sz="2000" dirty="0"/>
              <a:t> sentiment of the sentence ‘I like Jackie Chan’ is:”) </a:t>
            </a:r>
          </a:p>
          <a:p>
            <a:r>
              <a:rPr lang="en-US" sz="2000" dirty="0"/>
              <a:t>P(“</a:t>
            </a:r>
            <a:r>
              <a:rPr lang="en-US" sz="2000" dirty="0" err="1"/>
              <a:t>negative”|“The</a:t>
            </a:r>
            <a:r>
              <a:rPr lang="en-US" sz="2000" dirty="0"/>
              <a:t> sentiment of the sentence ‘I like Jackie Chan’ is:”)</a:t>
            </a:r>
            <a:endParaRPr lang="en-IN" sz="2000" dirty="0"/>
          </a:p>
        </p:txBody>
      </p:sp>
      <p:sp>
        <p:nvSpPr>
          <p:cNvPr id="6" name="Rectangle 5"/>
          <p:cNvSpPr/>
          <p:nvPr/>
        </p:nvSpPr>
        <p:spPr>
          <a:xfrm>
            <a:off x="7544039" y="4454671"/>
            <a:ext cx="3940389" cy="1015663"/>
          </a:xfrm>
          <a:prstGeom prst="rect">
            <a:avLst/>
          </a:prstGeom>
          <a:solidFill>
            <a:schemeClr val="accent2">
              <a:lumMod val="20000"/>
              <a:lumOff val="80000"/>
            </a:schemeClr>
          </a:solidFill>
        </p:spPr>
        <p:txBody>
          <a:bodyPr wrap="square">
            <a:spAutoFit/>
          </a:bodyPr>
          <a:lstStyle/>
          <a:p>
            <a:r>
              <a:rPr lang="en-US" sz="2000" dirty="0"/>
              <a:t>E.g. Question Answering</a:t>
            </a:r>
          </a:p>
          <a:p>
            <a:r>
              <a:rPr lang="en-US" sz="2000" dirty="0"/>
              <a:t>P(</a:t>
            </a:r>
            <a:r>
              <a:rPr lang="en-US" sz="2000" dirty="0" err="1"/>
              <a:t>w|Q</a:t>
            </a:r>
            <a:r>
              <a:rPr lang="en-US" sz="2000" dirty="0"/>
              <a:t>: Who wrote the book ‘‘The Origin of Species"? A:)</a:t>
            </a:r>
            <a:endParaRPr lang="en-IN" sz="2000" dirty="0"/>
          </a:p>
        </p:txBody>
      </p:sp>
    </p:spTree>
    <p:extLst>
      <p:ext uri="{BB962C8B-B14F-4D97-AF65-F5344CB8AC3E}">
        <p14:creationId xmlns:p14="http://schemas.microsoft.com/office/powerpoint/2010/main" val="119019766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pPr indent="0"/>
            <a:r>
              <a:rPr lang="en-US" dirty="0"/>
              <a:t>Generative AI</a:t>
            </a:r>
            <a:endParaRPr lang="en-IN" dirty="0"/>
          </a:p>
        </p:txBody>
      </p:sp>
      <p:pic>
        <p:nvPicPr>
          <p:cNvPr id="3" name="Picture 2"/>
          <p:cNvPicPr>
            <a:picLocks noChangeAspect="1"/>
          </p:cNvPicPr>
          <p:nvPr/>
        </p:nvPicPr>
        <p:blipFill>
          <a:blip r:embed="rId2"/>
          <a:stretch>
            <a:fillRect/>
          </a:stretch>
        </p:blipFill>
        <p:spPr>
          <a:xfrm>
            <a:off x="5032822" y="1715305"/>
            <a:ext cx="6762750" cy="4457700"/>
          </a:xfrm>
          <a:prstGeom prst="rect">
            <a:avLst/>
          </a:prstGeom>
        </p:spPr>
      </p:pic>
      <p:sp>
        <p:nvSpPr>
          <p:cNvPr id="4" name="Rectangle 3"/>
          <p:cNvSpPr/>
          <p:nvPr/>
        </p:nvSpPr>
        <p:spPr>
          <a:xfrm>
            <a:off x="248940" y="1538987"/>
            <a:ext cx="4878231" cy="4401205"/>
          </a:xfrm>
          <a:prstGeom prst="rect">
            <a:avLst/>
          </a:prstGeom>
        </p:spPr>
        <p:txBody>
          <a:bodyPr wrap="square">
            <a:spAutoFit/>
          </a:bodyPr>
          <a:lstStyle/>
          <a:p>
            <a:pPr marL="285750" indent="-285750">
              <a:buFont typeface="Arial" panose="020B0604020202020204" pitchFamily="34" charset="0"/>
              <a:buChar char="•"/>
            </a:pPr>
            <a:r>
              <a:rPr lang="en-US" sz="2000" dirty="0"/>
              <a:t>Fundamental intuition of language models </a:t>
            </a:r>
          </a:p>
          <a:p>
            <a:pPr marL="742950" lvl="1" indent="-285750">
              <a:buFont typeface="Arial" panose="020B0604020202020204" pitchFamily="34" charset="0"/>
              <a:buChar char="•"/>
            </a:pPr>
            <a:r>
              <a:rPr lang="en-US" sz="2000" dirty="0"/>
              <a:t>A model that can predict text (assigning a distribution over following words) can also be used to </a:t>
            </a:r>
            <a:r>
              <a:rPr lang="en-US" sz="2000" b="1" i="1" dirty="0"/>
              <a:t>generate</a:t>
            </a:r>
            <a:r>
              <a:rPr lang="en-US" sz="2000" dirty="0"/>
              <a:t> text by </a:t>
            </a:r>
            <a:r>
              <a:rPr lang="en-US" sz="2000" b="1" i="1" dirty="0"/>
              <a:t>sampling </a:t>
            </a:r>
            <a:r>
              <a:rPr lang="en-US" sz="2000" dirty="0"/>
              <a:t>from the distribution. (sampling means to choose a word from a distribution)</a:t>
            </a:r>
          </a:p>
          <a:p>
            <a:pPr marL="742950" lvl="1" indent="-285750">
              <a:buFont typeface="Arial" panose="020B0604020202020204" pitchFamily="34" charset="0"/>
              <a:buChar char="•"/>
            </a:pPr>
            <a:r>
              <a:rPr lang="en-IN" sz="2000" dirty="0"/>
              <a:t>Called as autoregressive language model</a:t>
            </a:r>
          </a:p>
          <a:p>
            <a:pPr marL="742950" lvl="1"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idea of using computational models to generate text, code, speech, images, video, audio,  constitutes the important new area called </a:t>
            </a:r>
            <a:r>
              <a:rPr lang="en-US" sz="2000" b="1" i="1" dirty="0"/>
              <a:t>Generative AI</a:t>
            </a:r>
            <a:endParaRPr lang="en-IN" sz="2000" b="1" i="1" dirty="0"/>
          </a:p>
        </p:txBody>
      </p:sp>
    </p:spTree>
    <p:extLst>
      <p:ext uri="{BB962C8B-B14F-4D97-AF65-F5344CB8AC3E}">
        <p14:creationId xmlns:p14="http://schemas.microsoft.com/office/powerpoint/2010/main" val="85684406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LLMs and Gen AI</a:t>
            </a:r>
            <a:endParaRPr lang="en-IN" dirty="0"/>
          </a:p>
        </p:txBody>
      </p:sp>
      <p:pic>
        <p:nvPicPr>
          <p:cNvPr id="3" name="Picture 2"/>
          <p:cNvPicPr>
            <a:picLocks noChangeAspect="1"/>
          </p:cNvPicPr>
          <p:nvPr/>
        </p:nvPicPr>
        <p:blipFill>
          <a:blip r:embed="rId2"/>
          <a:stretch>
            <a:fillRect/>
          </a:stretch>
        </p:blipFill>
        <p:spPr>
          <a:xfrm>
            <a:off x="776378" y="1494016"/>
            <a:ext cx="9684084" cy="4726480"/>
          </a:xfrm>
          <a:prstGeom prst="rect">
            <a:avLst/>
          </a:prstGeom>
        </p:spPr>
      </p:pic>
    </p:spTree>
    <p:extLst>
      <p:ext uri="{BB962C8B-B14F-4D97-AF65-F5344CB8AC3E}">
        <p14:creationId xmlns:p14="http://schemas.microsoft.com/office/powerpoint/2010/main" val="165595958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298" y="121350"/>
            <a:ext cx="9275830" cy="561385"/>
          </a:xfrm>
          <a:prstGeom prst="rect">
            <a:avLst/>
          </a:prstGeom>
        </p:spPr>
        <p:txBody>
          <a:bodyPr vert="horz" wrap="square" lIns="0" tIns="7316" rIns="0" bIns="0" rtlCol="0" anchor="ctr">
            <a:spAutoFit/>
          </a:bodyPr>
          <a:lstStyle/>
          <a:p>
            <a:pPr marL="942637">
              <a:spcBef>
                <a:spcPts val="58"/>
              </a:spcBef>
            </a:pPr>
            <a:r>
              <a:rPr spc="-69" dirty="0"/>
              <a:t>Natural</a:t>
            </a:r>
            <a:r>
              <a:rPr spc="-115" dirty="0"/>
              <a:t> </a:t>
            </a:r>
            <a:r>
              <a:rPr spc="-370" dirty="0"/>
              <a:t>language</a:t>
            </a:r>
            <a:r>
              <a:rPr spc="-3" dirty="0"/>
              <a:t> </a:t>
            </a:r>
            <a:r>
              <a:rPr spc="-176" dirty="0"/>
              <a:t>generation</a:t>
            </a:r>
            <a:r>
              <a:rPr spc="-61" dirty="0"/>
              <a:t> </a:t>
            </a:r>
            <a:r>
              <a:rPr dirty="0"/>
              <a:t>with</a:t>
            </a:r>
            <a:r>
              <a:rPr spc="-58" dirty="0"/>
              <a:t> </a:t>
            </a:r>
            <a:r>
              <a:rPr spc="-340" dirty="0"/>
              <a:t>LLMs</a:t>
            </a:r>
          </a:p>
        </p:txBody>
      </p:sp>
      <p:sp>
        <p:nvSpPr>
          <p:cNvPr id="3" name="object 3"/>
          <p:cNvSpPr txBox="1"/>
          <p:nvPr/>
        </p:nvSpPr>
        <p:spPr>
          <a:xfrm>
            <a:off x="862615" y="1548877"/>
            <a:ext cx="5407077" cy="4485280"/>
          </a:xfrm>
          <a:prstGeom prst="rect">
            <a:avLst/>
          </a:prstGeom>
        </p:spPr>
        <p:txBody>
          <a:bodyPr vert="horz" wrap="square" lIns="0" tIns="7316" rIns="0" bIns="0" rtlCol="0">
            <a:spAutoFit/>
          </a:bodyPr>
          <a:lstStyle/>
          <a:p>
            <a:pPr marL="324994" marR="678483" indent="-317678" algn="just">
              <a:lnSpc>
                <a:spcPct val="113199"/>
              </a:lnSpc>
              <a:spcBef>
                <a:spcPts val="58"/>
              </a:spcBef>
              <a:buChar char="•"/>
              <a:tabLst>
                <a:tab pos="324994" algn="l"/>
                <a:tab pos="325764" algn="l"/>
              </a:tabLst>
            </a:pPr>
            <a:r>
              <a:rPr sz="2062" dirty="0">
                <a:latin typeface="Arial MT"/>
                <a:cs typeface="Arial MT"/>
              </a:rPr>
              <a:t>	Large</a:t>
            </a:r>
            <a:r>
              <a:rPr sz="2062" spc="-42" dirty="0">
                <a:latin typeface="Arial MT"/>
                <a:cs typeface="Arial MT"/>
              </a:rPr>
              <a:t> </a:t>
            </a:r>
            <a:r>
              <a:rPr sz="2062" spc="33" dirty="0">
                <a:latin typeface="Arial MT"/>
                <a:cs typeface="Arial MT"/>
              </a:rPr>
              <a:t>Language</a:t>
            </a:r>
            <a:r>
              <a:rPr sz="2062" spc="-42" dirty="0">
                <a:latin typeface="Arial MT"/>
                <a:cs typeface="Arial MT"/>
              </a:rPr>
              <a:t> </a:t>
            </a:r>
            <a:r>
              <a:rPr sz="2062" spc="55" dirty="0">
                <a:latin typeface="Arial MT"/>
                <a:cs typeface="Arial MT"/>
              </a:rPr>
              <a:t>Models</a:t>
            </a:r>
            <a:r>
              <a:rPr sz="2062" spc="-42" dirty="0">
                <a:latin typeface="Arial MT"/>
                <a:cs typeface="Arial MT"/>
              </a:rPr>
              <a:t> </a:t>
            </a:r>
            <a:r>
              <a:rPr sz="2062" dirty="0">
                <a:latin typeface="Arial MT"/>
                <a:cs typeface="Arial MT"/>
              </a:rPr>
              <a:t>are</a:t>
            </a:r>
            <a:r>
              <a:rPr sz="2062" spc="-42" dirty="0">
                <a:latin typeface="Arial MT"/>
                <a:cs typeface="Arial MT"/>
              </a:rPr>
              <a:t> </a:t>
            </a:r>
            <a:r>
              <a:rPr sz="2062" spc="-6" dirty="0">
                <a:latin typeface="Arial MT"/>
                <a:cs typeface="Arial MT"/>
              </a:rPr>
              <a:t>(mostly) </a:t>
            </a:r>
            <a:r>
              <a:rPr sz="2062" b="1" spc="-76" dirty="0">
                <a:latin typeface="Tahoma"/>
                <a:cs typeface="Tahoma"/>
              </a:rPr>
              <a:t>natural </a:t>
            </a:r>
            <a:r>
              <a:rPr sz="2062" b="1" spc="-21" dirty="0">
                <a:latin typeface="Tahoma"/>
                <a:cs typeface="Tahoma"/>
              </a:rPr>
              <a:t>language</a:t>
            </a:r>
            <a:r>
              <a:rPr sz="2062" b="1" spc="-109" dirty="0">
                <a:latin typeface="Tahoma"/>
                <a:cs typeface="Tahoma"/>
              </a:rPr>
              <a:t> </a:t>
            </a:r>
            <a:r>
              <a:rPr sz="2062" b="1" spc="-30" dirty="0">
                <a:latin typeface="Tahoma"/>
                <a:cs typeface="Tahoma"/>
              </a:rPr>
              <a:t>generation</a:t>
            </a:r>
            <a:r>
              <a:rPr sz="2062" b="1" spc="-91" dirty="0">
                <a:latin typeface="Tahoma"/>
                <a:cs typeface="Tahoma"/>
              </a:rPr>
              <a:t> (NLG) </a:t>
            </a:r>
            <a:r>
              <a:rPr sz="2062" spc="-6" dirty="0">
                <a:latin typeface="Arial MT"/>
                <a:cs typeface="Arial MT"/>
              </a:rPr>
              <a:t>systems!</a:t>
            </a:r>
            <a:endParaRPr sz="2062" dirty="0">
              <a:latin typeface="Arial MT"/>
              <a:cs typeface="Arial MT"/>
            </a:endParaRPr>
          </a:p>
          <a:p>
            <a:pPr marL="324994" marR="1058540" indent="-317678">
              <a:lnSpc>
                <a:spcPct val="113199"/>
              </a:lnSpc>
              <a:spcBef>
                <a:spcPts val="2159"/>
              </a:spcBef>
              <a:buChar char="•"/>
              <a:tabLst>
                <a:tab pos="324994" algn="l"/>
              </a:tabLst>
            </a:pPr>
            <a:r>
              <a:rPr sz="2062" dirty="0">
                <a:latin typeface="Arial MT"/>
                <a:cs typeface="Arial MT"/>
              </a:rPr>
              <a:t>The</a:t>
            </a:r>
            <a:r>
              <a:rPr sz="2062" spc="-52" dirty="0">
                <a:latin typeface="Arial MT"/>
                <a:cs typeface="Arial MT"/>
              </a:rPr>
              <a:t> </a:t>
            </a:r>
            <a:r>
              <a:rPr sz="2062" dirty="0">
                <a:latin typeface="Arial MT"/>
                <a:cs typeface="Arial MT"/>
              </a:rPr>
              <a:t>process</a:t>
            </a:r>
            <a:r>
              <a:rPr sz="2062" spc="-49" dirty="0">
                <a:latin typeface="Arial MT"/>
                <a:cs typeface="Arial MT"/>
              </a:rPr>
              <a:t> </a:t>
            </a:r>
            <a:r>
              <a:rPr sz="2062" spc="67" dirty="0">
                <a:latin typeface="Arial MT"/>
                <a:cs typeface="Arial MT"/>
              </a:rPr>
              <a:t>of</a:t>
            </a:r>
            <a:r>
              <a:rPr sz="2062" spc="-3" dirty="0">
                <a:latin typeface="Arial MT"/>
                <a:cs typeface="Arial MT"/>
              </a:rPr>
              <a:t> </a:t>
            </a:r>
            <a:r>
              <a:rPr sz="2062" spc="55" dirty="0">
                <a:latin typeface="Arial MT"/>
                <a:cs typeface="Arial MT"/>
              </a:rPr>
              <a:t>generating</a:t>
            </a:r>
            <a:r>
              <a:rPr sz="2062" spc="-49" dirty="0">
                <a:latin typeface="Arial MT"/>
                <a:cs typeface="Arial MT"/>
              </a:rPr>
              <a:t> </a:t>
            </a:r>
            <a:r>
              <a:rPr sz="2062" spc="-6" dirty="0">
                <a:latin typeface="Arial MT"/>
                <a:cs typeface="Arial MT"/>
              </a:rPr>
              <a:t>natural </a:t>
            </a:r>
            <a:r>
              <a:rPr sz="2062" spc="52" dirty="0">
                <a:latin typeface="Arial MT"/>
                <a:cs typeface="Arial MT"/>
              </a:rPr>
              <a:t>language</a:t>
            </a:r>
            <a:r>
              <a:rPr sz="2062" spc="-55" dirty="0">
                <a:latin typeface="Arial MT"/>
                <a:cs typeface="Arial MT"/>
              </a:rPr>
              <a:t> </a:t>
            </a:r>
            <a:r>
              <a:rPr sz="2062" dirty="0">
                <a:latin typeface="Arial MT"/>
                <a:cs typeface="Arial MT"/>
              </a:rPr>
              <a:t>text</a:t>
            </a:r>
            <a:r>
              <a:rPr sz="2062" spc="-52" dirty="0">
                <a:latin typeface="Arial MT"/>
                <a:cs typeface="Arial MT"/>
              </a:rPr>
              <a:t> </a:t>
            </a:r>
            <a:r>
              <a:rPr sz="2062" spc="55" dirty="0">
                <a:latin typeface="Arial MT"/>
                <a:cs typeface="Arial MT"/>
              </a:rPr>
              <a:t>with</a:t>
            </a:r>
            <a:r>
              <a:rPr sz="2062" spc="-52" dirty="0">
                <a:latin typeface="Arial MT"/>
                <a:cs typeface="Arial MT"/>
              </a:rPr>
              <a:t> </a:t>
            </a:r>
            <a:r>
              <a:rPr sz="2062" spc="-39" dirty="0">
                <a:latin typeface="Arial MT"/>
                <a:cs typeface="Arial MT"/>
              </a:rPr>
              <a:t>LLMs</a:t>
            </a:r>
            <a:r>
              <a:rPr sz="2062" spc="-52" dirty="0">
                <a:latin typeface="Arial MT"/>
                <a:cs typeface="Arial MT"/>
              </a:rPr>
              <a:t> </a:t>
            </a:r>
            <a:r>
              <a:rPr sz="2062" dirty="0">
                <a:latin typeface="Arial MT"/>
                <a:cs typeface="Arial MT"/>
              </a:rPr>
              <a:t>is</a:t>
            </a:r>
            <a:r>
              <a:rPr sz="2062" spc="-52" dirty="0">
                <a:latin typeface="Arial MT"/>
                <a:cs typeface="Arial MT"/>
              </a:rPr>
              <a:t> </a:t>
            </a:r>
            <a:r>
              <a:rPr sz="2062" spc="36" dirty="0">
                <a:latin typeface="Arial MT"/>
                <a:cs typeface="Arial MT"/>
              </a:rPr>
              <a:t>called </a:t>
            </a:r>
            <a:r>
              <a:rPr sz="2062" b="1" spc="-6" dirty="0">
                <a:latin typeface="Tahoma"/>
                <a:cs typeface="Tahoma"/>
              </a:rPr>
              <a:t>decoding.</a:t>
            </a:r>
            <a:endParaRPr sz="2062" dirty="0">
              <a:latin typeface="Tahoma"/>
              <a:cs typeface="Tahoma"/>
            </a:endParaRPr>
          </a:p>
          <a:p>
            <a:pPr marL="324994" marR="3081" indent="-317678">
              <a:lnSpc>
                <a:spcPct val="113199"/>
              </a:lnSpc>
              <a:spcBef>
                <a:spcPts val="2159"/>
              </a:spcBef>
              <a:buChar char="•"/>
              <a:tabLst>
                <a:tab pos="324994" algn="l"/>
              </a:tabLst>
            </a:pPr>
            <a:r>
              <a:rPr sz="2062" spc="-39" dirty="0">
                <a:latin typeface="Arial MT"/>
                <a:cs typeface="Arial MT"/>
              </a:rPr>
              <a:t>LLMs</a:t>
            </a:r>
            <a:r>
              <a:rPr sz="2062" spc="-82" dirty="0">
                <a:latin typeface="Arial MT"/>
                <a:cs typeface="Arial MT"/>
              </a:rPr>
              <a:t> </a:t>
            </a:r>
            <a:r>
              <a:rPr sz="2062" spc="76" dirty="0">
                <a:latin typeface="Arial MT"/>
                <a:cs typeface="Arial MT"/>
              </a:rPr>
              <a:t>could</a:t>
            </a:r>
            <a:r>
              <a:rPr sz="2062" spc="-79" dirty="0">
                <a:latin typeface="Arial MT"/>
                <a:cs typeface="Arial MT"/>
              </a:rPr>
              <a:t> </a:t>
            </a:r>
            <a:r>
              <a:rPr sz="2062" spc="69" dirty="0">
                <a:latin typeface="Arial MT"/>
                <a:cs typeface="Arial MT"/>
              </a:rPr>
              <a:t>perform</a:t>
            </a:r>
            <a:r>
              <a:rPr sz="2062" spc="-79" dirty="0">
                <a:latin typeface="Arial MT"/>
                <a:cs typeface="Arial MT"/>
              </a:rPr>
              <a:t> </a:t>
            </a:r>
            <a:r>
              <a:rPr sz="2062" dirty="0">
                <a:latin typeface="Arial MT"/>
                <a:cs typeface="Arial MT"/>
              </a:rPr>
              <a:t>NLG</a:t>
            </a:r>
            <a:r>
              <a:rPr sz="2062" spc="-82" dirty="0">
                <a:latin typeface="Arial MT"/>
                <a:cs typeface="Arial MT"/>
              </a:rPr>
              <a:t> </a:t>
            </a:r>
            <a:r>
              <a:rPr sz="2062" spc="-36" dirty="0">
                <a:latin typeface="Arial MT"/>
                <a:cs typeface="Arial MT"/>
              </a:rPr>
              <a:t>tasks</a:t>
            </a:r>
            <a:r>
              <a:rPr sz="2062" spc="-12" dirty="0">
                <a:latin typeface="Arial MT"/>
                <a:cs typeface="Arial MT"/>
              </a:rPr>
              <a:t>,</a:t>
            </a:r>
            <a:r>
              <a:rPr sz="2062" spc="-94" dirty="0">
                <a:latin typeface="Arial MT"/>
                <a:cs typeface="Arial MT"/>
              </a:rPr>
              <a:t> </a:t>
            </a:r>
            <a:r>
              <a:rPr sz="2062" spc="55" dirty="0">
                <a:latin typeface="Arial MT"/>
                <a:cs typeface="Arial MT"/>
              </a:rPr>
              <a:t>and</a:t>
            </a:r>
            <a:r>
              <a:rPr sz="2062" spc="-27" dirty="0">
                <a:latin typeface="Arial MT"/>
                <a:cs typeface="Arial MT"/>
              </a:rPr>
              <a:t> </a:t>
            </a:r>
            <a:r>
              <a:rPr sz="2062" dirty="0">
                <a:latin typeface="Arial MT"/>
                <a:cs typeface="Arial MT"/>
              </a:rPr>
              <a:t>many</a:t>
            </a:r>
            <a:r>
              <a:rPr sz="2062" spc="-24" dirty="0">
                <a:latin typeface="Arial MT"/>
                <a:cs typeface="Arial MT"/>
              </a:rPr>
              <a:t> </a:t>
            </a:r>
            <a:r>
              <a:rPr sz="2062" b="1" spc="-42" dirty="0">
                <a:latin typeface="Tahoma"/>
                <a:cs typeface="Tahoma"/>
              </a:rPr>
              <a:t>other</a:t>
            </a:r>
            <a:r>
              <a:rPr sz="2062" b="1" spc="-61" dirty="0">
                <a:latin typeface="Tahoma"/>
                <a:cs typeface="Tahoma"/>
              </a:rPr>
              <a:t> </a:t>
            </a:r>
            <a:r>
              <a:rPr sz="2062" b="1" spc="-79" dirty="0">
                <a:latin typeface="Tahoma"/>
                <a:cs typeface="Tahoma"/>
              </a:rPr>
              <a:t>tasks</a:t>
            </a:r>
            <a:r>
              <a:rPr sz="2062" b="1" spc="-61" dirty="0">
                <a:latin typeface="Tahoma"/>
                <a:cs typeface="Tahoma"/>
              </a:rPr>
              <a:t> </a:t>
            </a:r>
            <a:r>
              <a:rPr sz="2062" spc="-6" dirty="0">
                <a:latin typeface="Arial MT"/>
                <a:cs typeface="Arial MT"/>
              </a:rPr>
              <a:t>(e.g., </a:t>
            </a:r>
            <a:r>
              <a:rPr sz="2062" spc="49" dirty="0">
                <a:latin typeface="Arial MT"/>
                <a:cs typeface="Arial MT"/>
              </a:rPr>
              <a:t>question</a:t>
            </a:r>
            <a:r>
              <a:rPr sz="2062" spc="12" dirty="0">
                <a:latin typeface="Arial MT"/>
                <a:cs typeface="Arial MT"/>
              </a:rPr>
              <a:t> </a:t>
            </a:r>
            <a:r>
              <a:rPr sz="2062" dirty="0">
                <a:latin typeface="Arial MT"/>
                <a:cs typeface="Arial MT"/>
              </a:rPr>
              <a:t>answering,</a:t>
            </a:r>
            <a:r>
              <a:rPr sz="2062" spc="-61" dirty="0">
                <a:latin typeface="Arial MT"/>
                <a:cs typeface="Arial MT"/>
              </a:rPr>
              <a:t> </a:t>
            </a:r>
            <a:r>
              <a:rPr sz="2062" spc="39" dirty="0">
                <a:latin typeface="Arial MT"/>
                <a:cs typeface="Arial MT"/>
              </a:rPr>
              <a:t>sentiment</a:t>
            </a:r>
            <a:r>
              <a:rPr sz="2062" spc="12" dirty="0">
                <a:latin typeface="Arial MT"/>
                <a:cs typeface="Arial MT"/>
              </a:rPr>
              <a:t> </a:t>
            </a:r>
            <a:r>
              <a:rPr sz="2062" spc="-6" dirty="0">
                <a:latin typeface="Arial MT"/>
                <a:cs typeface="Arial MT"/>
              </a:rPr>
              <a:t>analysis, </a:t>
            </a:r>
            <a:r>
              <a:rPr sz="2062" spc="76" dirty="0">
                <a:latin typeface="Arial MT"/>
                <a:cs typeface="Arial MT"/>
              </a:rPr>
              <a:t>code</a:t>
            </a:r>
            <a:r>
              <a:rPr sz="2062" spc="-39" dirty="0">
                <a:latin typeface="Arial MT"/>
                <a:cs typeface="Arial MT"/>
              </a:rPr>
              <a:t> </a:t>
            </a:r>
            <a:r>
              <a:rPr sz="2062" spc="39" dirty="0">
                <a:latin typeface="Arial MT"/>
                <a:cs typeface="Arial MT"/>
              </a:rPr>
              <a:t>generation,</a:t>
            </a:r>
            <a:r>
              <a:rPr sz="2062" spc="-106" dirty="0">
                <a:latin typeface="Arial MT"/>
                <a:cs typeface="Arial MT"/>
              </a:rPr>
              <a:t> </a:t>
            </a:r>
            <a:r>
              <a:rPr sz="2062" spc="55" dirty="0">
                <a:latin typeface="Arial MT"/>
                <a:cs typeface="Arial MT"/>
              </a:rPr>
              <a:t>information</a:t>
            </a:r>
            <a:r>
              <a:rPr sz="2062" spc="-39" dirty="0">
                <a:latin typeface="Arial MT"/>
                <a:cs typeface="Arial MT"/>
              </a:rPr>
              <a:t> </a:t>
            </a:r>
            <a:r>
              <a:rPr sz="2062" spc="-6" dirty="0">
                <a:latin typeface="Arial MT"/>
                <a:cs typeface="Arial MT"/>
              </a:rPr>
              <a:t>extraction…) </a:t>
            </a:r>
            <a:r>
              <a:rPr sz="2062" dirty="0">
                <a:latin typeface="Arial MT"/>
                <a:cs typeface="Arial MT"/>
              </a:rPr>
              <a:t>can</a:t>
            </a:r>
            <a:r>
              <a:rPr sz="2062" spc="-61" dirty="0">
                <a:latin typeface="Arial MT"/>
                <a:cs typeface="Arial MT"/>
              </a:rPr>
              <a:t> </a:t>
            </a:r>
            <a:r>
              <a:rPr sz="2062" spc="100" dirty="0">
                <a:latin typeface="Arial MT"/>
                <a:cs typeface="Arial MT"/>
              </a:rPr>
              <a:t>be</a:t>
            </a:r>
            <a:r>
              <a:rPr sz="2062" spc="-58" dirty="0">
                <a:latin typeface="Arial MT"/>
                <a:cs typeface="Arial MT"/>
              </a:rPr>
              <a:t> </a:t>
            </a:r>
            <a:r>
              <a:rPr sz="2062" b="1" spc="-49" dirty="0">
                <a:latin typeface="Tahoma"/>
                <a:cs typeface="Tahoma"/>
              </a:rPr>
              <a:t>formatted</a:t>
            </a:r>
            <a:r>
              <a:rPr sz="2062" b="1" spc="-94" dirty="0">
                <a:latin typeface="Tahoma"/>
                <a:cs typeface="Tahoma"/>
              </a:rPr>
              <a:t> </a:t>
            </a:r>
            <a:r>
              <a:rPr sz="2062" b="1" spc="-85" dirty="0">
                <a:latin typeface="Tahoma"/>
                <a:cs typeface="Tahoma"/>
              </a:rPr>
              <a:t>as</a:t>
            </a:r>
            <a:r>
              <a:rPr sz="2062" b="1" spc="-91" dirty="0">
                <a:latin typeface="Tahoma"/>
                <a:cs typeface="Tahoma"/>
              </a:rPr>
              <a:t> </a:t>
            </a:r>
            <a:r>
              <a:rPr sz="2062" b="1" spc="-21" dirty="0">
                <a:latin typeface="Tahoma"/>
                <a:cs typeface="Tahoma"/>
              </a:rPr>
              <a:t>NLG</a:t>
            </a:r>
            <a:r>
              <a:rPr sz="2062" b="1" spc="-91" dirty="0">
                <a:latin typeface="Tahoma"/>
                <a:cs typeface="Tahoma"/>
              </a:rPr>
              <a:t> </a:t>
            </a:r>
            <a:r>
              <a:rPr sz="2062" b="1" spc="-79" dirty="0">
                <a:latin typeface="Tahoma"/>
                <a:cs typeface="Tahoma"/>
              </a:rPr>
              <a:t>tasks</a:t>
            </a:r>
            <a:r>
              <a:rPr sz="2062" b="1" spc="-91" dirty="0">
                <a:latin typeface="Tahoma"/>
                <a:cs typeface="Tahoma"/>
              </a:rPr>
              <a:t> </a:t>
            </a:r>
            <a:r>
              <a:rPr sz="2062" b="1" spc="-12" dirty="0">
                <a:latin typeface="Tahoma"/>
                <a:cs typeface="Tahoma"/>
              </a:rPr>
              <a:t>too</a:t>
            </a:r>
            <a:r>
              <a:rPr sz="2062" spc="-12" dirty="0">
                <a:latin typeface="Arial MT"/>
                <a:cs typeface="Arial MT"/>
              </a:rPr>
              <a:t>!</a:t>
            </a:r>
            <a:endParaRPr sz="2062" dirty="0">
              <a:latin typeface="Arial MT"/>
              <a:cs typeface="Arial MT"/>
            </a:endParaRPr>
          </a:p>
        </p:txBody>
      </p:sp>
      <p:grpSp>
        <p:nvGrpSpPr>
          <p:cNvPr id="4" name="object 4"/>
          <p:cNvGrpSpPr/>
          <p:nvPr/>
        </p:nvGrpSpPr>
        <p:grpSpPr>
          <a:xfrm>
            <a:off x="6721755" y="1378783"/>
            <a:ext cx="5143307" cy="4354695"/>
            <a:chOff x="11083966" y="2273714"/>
            <a:chExt cx="8481695" cy="7181215"/>
          </a:xfrm>
        </p:grpSpPr>
        <p:pic>
          <p:nvPicPr>
            <p:cNvPr id="5" name="object 5"/>
            <p:cNvPicPr/>
            <p:nvPr/>
          </p:nvPicPr>
          <p:blipFill>
            <a:blip r:embed="rId2" cstate="print"/>
            <a:stretch>
              <a:fillRect/>
            </a:stretch>
          </p:blipFill>
          <p:spPr>
            <a:xfrm>
              <a:off x="11083966" y="4289569"/>
              <a:ext cx="4300760" cy="3225569"/>
            </a:xfrm>
            <a:prstGeom prst="rect">
              <a:avLst/>
            </a:prstGeom>
          </p:spPr>
        </p:pic>
        <p:pic>
          <p:nvPicPr>
            <p:cNvPr id="6" name="object 6"/>
            <p:cNvPicPr/>
            <p:nvPr/>
          </p:nvPicPr>
          <p:blipFill>
            <a:blip r:embed="rId3" cstate="print"/>
            <a:stretch>
              <a:fillRect/>
            </a:stretch>
          </p:blipFill>
          <p:spPr>
            <a:xfrm>
              <a:off x="14345992" y="2273714"/>
              <a:ext cx="5060640" cy="2552009"/>
            </a:xfrm>
            <a:prstGeom prst="rect">
              <a:avLst/>
            </a:prstGeom>
          </p:spPr>
        </p:pic>
        <p:pic>
          <p:nvPicPr>
            <p:cNvPr id="7" name="object 7"/>
            <p:cNvPicPr/>
            <p:nvPr/>
          </p:nvPicPr>
          <p:blipFill>
            <a:blip r:embed="rId4" cstate="print"/>
            <a:stretch>
              <a:fillRect/>
            </a:stretch>
          </p:blipFill>
          <p:spPr>
            <a:xfrm>
              <a:off x="14504867" y="7121391"/>
              <a:ext cx="5060640" cy="2333436"/>
            </a:xfrm>
            <a:prstGeom prst="rect">
              <a:avLst/>
            </a:prstGeom>
          </p:spPr>
        </p:pic>
      </p:grpSp>
      <p:sp>
        <p:nvSpPr>
          <p:cNvPr id="8" name="object 8"/>
          <p:cNvSpPr txBox="1"/>
          <p:nvPr/>
        </p:nvSpPr>
        <p:spPr>
          <a:xfrm>
            <a:off x="10988808" y="2963754"/>
            <a:ext cx="787842" cy="99501"/>
          </a:xfrm>
          <a:prstGeom prst="rect">
            <a:avLst/>
          </a:prstGeom>
        </p:spPr>
        <p:txBody>
          <a:bodyPr vert="horz" wrap="square" lIns="0" tIns="10782" rIns="0" bIns="0" rtlCol="0">
            <a:spAutoFit/>
          </a:bodyPr>
          <a:lstStyle/>
          <a:p>
            <a:pPr marL="7701">
              <a:spcBef>
                <a:spcPts val="85"/>
              </a:spcBef>
            </a:pPr>
            <a:r>
              <a:rPr sz="576" spc="55" dirty="0">
                <a:latin typeface="Arial MT"/>
                <a:cs typeface="Arial MT"/>
              </a:rPr>
              <a:t>©</a:t>
            </a:r>
            <a:r>
              <a:rPr sz="576" spc="52" dirty="0">
                <a:latin typeface="Arial MT"/>
                <a:cs typeface="Arial MT"/>
              </a:rPr>
              <a:t> </a:t>
            </a:r>
            <a:r>
              <a:rPr sz="576" dirty="0">
                <a:latin typeface="Arial MT"/>
                <a:cs typeface="Arial MT"/>
              </a:rPr>
              <a:t>University</a:t>
            </a:r>
            <a:r>
              <a:rPr sz="576" spc="55" dirty="0">
                <a:latin typeface="Arial MT"/>
                <a:cs typeface="Arial MT"/>
              </a:rPr>
              <a:t> </a:t>
            </a:r>
            <a:r>
              <a:rPr sz="576" dirty="0">
                <a:latin typeface="Arial MT"/>
                <a:cs typeface="Arial MT"/>
              </a:rPr>
              <a:t>of</a:t>
            </a:r>
            <a:r>
              <a:rPr sz="576" spc="55" dirty="0">
                <a:latin typeface="Arial MT"/>
                <a:cs typeface="Arial MT"/>
              </a:rPr>
              <a:t> </a:t>
            </a:r>
            <a:r>
              <a:rPr sz="576" spc="-6" dirty="0">
                <a:latin typeface="Arial MT"/>
                <a:cs typeface="Arial MT"/>
              </a:rPr>
              <a:t>Lincoln</a:t>
            </a:r>
            <a:endParaRPr sz="576">
              <a:latin typeface="Arial MT"/>
              <a:cs typeface="Arial MT"/>
            </a:endParaRPr>
          </a:p>
        </p:txBody>
      </p:sp>
      <p:sp>
        <p:nvSpPr>
          <p:cNvPr id="9" name="object 9"/>
          <p:cNvSpPr txBox="1"/>
          <p:nvPr/>
        </p:nvSpPr>
        <p:spPr>
          <a:xfrm>
            <a:off x="11240295" y="5796246"/>
            <a:ext cx="607246" cy="99501"/>
          </a:xfrm>
          <a:prstGeom prst="rect">
            <a:avLst/>
          </a:prstGeom>
        </p:spPr>
        <p:txBody>
          <a:bodyPr vert="horz" wrap="square" lIns="0" tIns="10782" rIns="0" bIns="0" rtlCol="0">
            <a:spAutoFit/>
          </a:bodyPr>
          <a:lstStyle/>
          <a:p>
            <a:pPr marL="7701">
              <a:spcBef>
                <a:spcPts val="85"/>
              </a:spcBef>
            </a:pPr>
            <a:r>
              <a:rPr sz="576" spc="55" dirty="0">
                <a:latin typeface="Arial MT"/>
                <a:cs typeface="Arial MT"/>
              </a:rPr>
              <a:t>©</a:t>
            </a:r>
            <a:r>
              <a:rPr sz="576" spc="39" dirty="0">
                <a:latin typeface="Arial MT"/>
                <a:cs typeface="Arial MT"/>
              </a:rPr>
              <a:t> </a:t>
            </a:r>
            <a:r>
              <a:rPr sz="576" dirty="0">
                <a:latin typeface="Arial MT"/>
                <a:cs typeface="Arial MT"/>
              </a:rPr>
              <a:t>Marvel</a:t>
            </a:r>
            <a:r>
              <a:rPr sz="576" spc="39" dirty="0">
                <a:latin typeface="Arial MT"/>
                <a:cs typeface="Arial MT"/>
              </a:rPr>
              <a:t> </a:t>
            </a:r>
            <a:r>
              <a:rPr sz="576" spc="-6" dirty="0">
                <a:latin typeface="Arial MT"/>
                <a:cs typeface="Arial MT"/>
              </a:rPr>
              <a:t>Studios</a:t>
            </a:r>
            <a:endParaRPr sz="576">
              <a:latin typeface="Arial MT"/>
              <a:cs typeface="Arial MT"/>
            </a:endParaRPr>
          </a:p>
        </p:txBody>
      </p:sp>
      <p:sp>
        <p:nvSpPr>
          <p:cNvPr id="10" name="TextBox 9">
            <a:extLst>
              <a:ext uri="{FF2B5EF4-FFF2-40B4-BE49-F238E27FC236}">
                <a16:creationId xmlns:a16="http://schemas.microsoft.com/office/drawing/2014/main" id="{2CD987B2-4BF8-BB3C-7C23-03B68C2DB017}"/>
              </a:ext>
            </a:extLst>
          </p:cNvPr>
          <p:cNvSpPr txBox="1"/>
          <p:nvPr/>
        </p:nvSpPr>
        <p:spPr>
          <a:xfrm>
            <a:off x="69011" y="6582489"/>
            <a:ext cx="6096000" cy="246221"/>
          </a:xfrm>
          <a:prstGeom prst="rect">
            <a:avLst/>
          </a:prstGeom>
          <a:noFill/>
        </p:spPr>
        <p:txBody>
          <a:bodyPr wrap="square">
            <a:spAutoFit/>
          </a:bodyPr>
          <a:lstStyle/>
          <a:p>
            <a:r>
              <a:rPr lang="en-IN" sz="1000" dirty="0"/>
              <a:t>Credits : https://taoyds.github.io/courses/comp3361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1720045" y="2689538"/>
            <a:ext cx="8432800" cy="1143000"/>
          </a:xfrm>
        </p:spPr>
        <p:txBody>
          <a:bodyPr/>
          <a:lstStyle/>
          <a:p>
            <a:r>
              <a:rPr lang="en-US" dirty="0"/>
              <a:t>Attention and Transformers Review</a:t>
            </a:r>
            <a:endParaRPr lang="en-IN" dirty="0"/>
          </a:p>
        </p:txBody>
      </p:sp>
    </p:spTree>
    <p:extLst>
      <p:ext uri="{BB962C8B-B14F-4D97-AF65-F5344CB8AC3E}">
        <p14:creationId xmlns:p14="http://schemas.microsoft.com/office/powerpoint/2010/main" val="296137720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Transformer Decoder</a:t>
            </a:r>
            <a:endParaRPr lang="en-IN" dirty="0"/>
          </a:p>
        </p:txBody>
      </p:sp>
      <p:pic>
        <p:nvPicPr>
          <p:cNvPr id="3074" name="Picture 2" descr="https://substackcdn.com/image/fetch/$s_!9-0q!,w_1456,c_limit,f_auto,q_auto:good,fl_progressive:steep/https%3A%2F%2Fsubstack-post-media.s3.amazonaws.com%2Fpublic%2Fimages%2F4b5af9c5-5266-4c2b-b583-b20a19f19fcc_1776x46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920" y="2017339"/>
            <a:ext cx="10637520" cy="27762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6611779"/>
            <a:ext cx="4633408" cy="246221"/>
          </a:xfrm>
          <a:prstGeom prst="rect">
            <a:avLst/>
          </a:prstGeom>
        </p:spPr>
        <p:txBody>
          <a:bodyPr wrap="square">
            <a:spAutoFit/>
          </a:bodyPr>
          <a:lstStyle/>
          <a:p>
            <a:r>
              <a:rPr lang="en-IN" sz="1000" dirty="0"/>
              <a:t>https://newsletter.maartengrootendorst.com/p/a-visual-guide-to-mamba-and-state</a:t>
            </a:r>
          </a:p>
        </p:txBody>
      </p:sp>
    </p:spTree>
    <p:extLst>
      <p:ext uri="{BB962C8B-B14F-4D97-AF65-F5344CB8AC3E}">
        <p14:creationId xmlns:p14="http://schemas.microsoft.com/office/powerpoint/2010/main" val="361114974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Self attention</a:t>
            </a:r>
            <a:endParaRPr lang="en-IN" dirty="0"/>
          </a:p>
        </p:txBody>
      </p:sp>
      <p:pic>
        <p:nvPicPr>
          <p:cNvPr id="2050" name="Picture 2" descr="https://substackcdn.com/image/fetch/$s_!tr9q!,w_1456,c_limit,f_auto,q_auto:good,fl_progressive:steep/https%3A%2F%2Fsubstack-post-media.s3.amazonaws.com%2Fpublic%2Fimages%2F167cfe80-2863-47c8-a969-cb2eeedbd353_1776x86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63" y="1515222"/>
            <a:ext cx="6397137" cy="309751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06400" y="5425056"/>
            <a:ext cx="6096000" cy="1015663"/>
          </a:xfrm>
          <a:prstGeom prst="rect">
            <a:avLst/>
          </a:prstGeom>
          <a:solidFill>
            <a:schemeClr val="accent4">
              <a:lumMod val="40000"/>
              <a:lumOff val="60000"/>
            </a:schemeClr>
          </a:solidFill>
        </p:spPr>
        <p:txBody>
          <a:bodyPr>
            <a:spAutoFit/>
          </a:bodyPr>
          <a:lstStyle/>
          <a:p>
            <a:r>
              <a:rPr lang="en-US" sz="2000" dirty="0">
                <a:solidFill>
                  <a:srgbClr val="363737"/>
                </a:solidFill>
                <a:latin typeface="Spectral"/>
              </a:rPr>
              <a:t>Self-attention is a major reason why LLMs work so well. It enables an uncompressed view of the entire sequence with fast training</a:t>
            </a:r>
            <a:endParaRPr lang="en-IN" sz="2000" dirty="0"/>
          </a:p>
        </p:txBody>
      </p:sp>
      <p:sp>
        <p:nvSpPr>
          <p:cNvPr id="3" name="Rectangle 2"/>
          <p:cNvSpPr/>
          <p:nvPr/>
        </p:nvSpPr>
        <p:spPr>
          <a:xfrm>
            <a:off x="7116493" y="1515222"/>
            <a:ext cx="5075507" cy="4154984"/>
          </a:xfrm>
          <a:prstGeom prst="rect">
            <a:avLst/>
          </a:prstGeom>
        </p:spPr>
        <p:txBody>
          <a:bodyPr wrap="square">
            <a:spAutoFit/>
          </a:bodyPr>
          <a:lstStyle/>
          <a:p>
            <a:pPr marL="285750" indent="-285750">
              <a:buFont typeface="Arial" panose="020B0604020202020204" pitchFamily="34" charset="0"/>
              <a:buChar char="•"/>
            </a:pPr>
            <a:r>
              <a:rPr lang="en-US" sz="2400" dirty="0">
                <a:solidFill>
                  <a:srgbClr val="363737"/>
                </a:solidFill>
              </a:rPr>
              <a:t>It creates a matrix comparing each token with every token that came before</a:t>
            </a:r>
          </a:p>
          <a:p>
            <a:pPr marL="285750" indent="-285750">
              <a:buFont typeface="Arial" panose="020B0604020202020204" pitchFamily="34" charset="0"/>
              <a:buChar char="•"/>
            </a:pPr>
            <a:r>
              <a:rPr lang="en-US" sz="2400" dirty="0">
                <a:solidFill>
                  <a:srgbClr val="363737"/>
                </a:solidFill>
              </a:rPr>
              <a:t>The weights in the matrix are determined by how relevant the token pairs are to one another</a:t>
            </a:r>
          </a:p>
          <a:p>
            <a:pPr marL="285750" indent="-285750">
              <a:buFont typeface="Arial" panose="020B0604020202020204" pitchFamily="34" charset="0"/>
              <a:buChar char="•"/>
            </a:pPr>
            <a:r>
              <a:rPr lang="en-US" sz="2400" dirty="0"/>
              <a:t>During training, this matrix is created in one go</a:t>
            </a:r>
          </a:p>
          <a:p>
            <a:pPr marL="285750" indent="-285750">
              <a:buFont typeface="Arial" panose="020B0604020202020204" pitchFamily="34" charset="0"/>
              <a:buChar char="•"/>
            </a:pPr>
            <a:r>
              <a:rPr lang="en-US" sz="2400" dirty="0"/>
              <a:t> It enables </a:t>
            </a:r>
            <a:r>
              <a:rPr lang="en-US" sz="2400" b="1" dirty="0"/>
              <a:t>parallelization</a:t>
            </a:r>
            <a:r>
              <a:rPr lang="en-US" sz="2400" dirty="0"/>
              <a:t>, which speeds up training tremendously</a:t>
            </a:r>
          </a:p>
          <a:p>
            <a:pPr marL="285750" indent="-285750">
              <a:buFont typeface="Arial" panose="020B0604020202020204" pitchFamily="34" charset="0"/>
              <a:buChar char="•"/>
            </a:pPr>
            <a:endParaRPr lang="en-IN" sz="2400" dirty="0"/>
          </a:p>
        </p:txBody>
      </p:sp>
      <p:sp>
        <p:nvSpPr>
          <p:cNvPr id="6" name="Rectangle 5"/>
          <p:cNvSpPr/>
          <p:nvPr/>
        </p:nvSpPr>
        <p:spPr>
          <a:xfrm>
            <a:off x="0" y="6611779"/>
            <a:ext cx="4633408" cy="246221"/>
          </a:xfrm>
          <a:prstGeom prst="rect">
            <a:avLst/>
          </a:prstGeom>
        </p:spPr>
        <p:txBody>
          <a:bodyPr wrap="square">
            <a:spAutoFit/>
          </a:bodyPr>
          <a:lstStyle/>
          <a:p>
            <a:r>
              <a:rPr lang="en-IN" sz="1000" dirty="0"/>
              <a:t>https://newsletter.maartengrootendorst.com/p/a-visual-guide-to-mamba-and-state</a:t>
            </a:r>
          </a:p>
        </p:txBody>
      </p:sp>
    </p:spTree>
    <p:extLst>
      <p:ext uri="{BB962C8B-B14F-4D97-AF65-F5344CB8AC3E}">
        <p14:creationId xmlns:p14="http://schemas.microsoft.com/office/powerpoint/2010/main" val="404707342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Self attention</a:t>
            </a:r>
            <a:endParaRPr lang="en-IN" dirty="0"/>
          </a:p>
        </p:txBody>
      </p:sp>
      <p:pic>
        <p:nvPicPr>
          <p:cNvPr id="3" name="Picture 2"/>
          <p:cNvPicPr>
            <a:picLocks noChangeAspect="1"/>
          </p:cNvPicPr>
          <p:nvPr/>
        </p:nvPicPr>
        <p:blipFill>
          <a:blip r:embed="rId3"/>
          <a:stretch>
            <a:fillRect/>
          </a:stretch>
        </p:blipFill>
        <p:spPr>
          <a:xfrm>
            <a:off x="192690" y="1343025"/>
            <a:ext cx="4193779" cy="2155957"/>
          </a:xfrm>
          <a:prstGeom prst="rect">
            <a:avLst/>
          </a:prstGeom>
        </p:spPr>
      </p:pic>
      <p:pic>
        <p:nvPicPr>
          <p:cNvPr id="4" name="Picture 3"/>
          <p:cNvPicPr>
            <a:picLocks noChangeAspect="1"/>
          </p:cNvPicPr>
          <p:nvPr/>
        </p:nvPicPr>
        <p:blipFill>
          <a:blip r:embed="rId4"/>
          <a:stretch>
            <a:fillRect/>
          </a:stretch>
        </p:blipFill>
        <p:spPr>
          <a:xfrm>
            <a:off x="4622800" y="723900"/>
            <a:ext cx="7421308" cy="5914819"/>
          </a:xfrm>
          <a:prstGeom prst="rect">
            <a:avLst/>
          </a:prstGeom>
        </p:spPr>
      </p:pic>
      <p:sp>
        <p:nvSpPr>
          <p:cNvPr id="5" name="Rectangle 4"/>
          <p:cNvSpPr/>
          <p:nvPr/>
        </p:nvSpPr>
        <p:spPr>
          <a:xfrm>
            <a:off x="192691" y="3476625"/>
            <a:ext cx="4193779" cy="2862322"/>
          </a:xfrm>
          <a:prstGeom prst="rect">
            <a:avLst/>
          </a:prstGeom>
        </p:spPr>
        <p:txBody>
          <a:bodyPr wrap="square">
            <a:spAutoFit/>
          </a:bodyPr>
          <a:lstStyle/>
          <a:p>
            <a:r>
              <a:rPr lang="en-US" dirty="0"/>
              <a:t>Query : As the current element being compared to the preceding inputs</a:t>
            </a:r>
          </a:p>
          <a:p>
            <a:r>
              <a:rPr lang="en-US" dirty="0"/>
              <a:t>Key : In its role as a preceding input that is being compared to the current element to determine a similarity weight</a:t>
            </a:r>
          </a:p>
          <a:p>
            <a:r>
              <a:rPr lang="en-US" dirty="0"/>
              <a:t>Value: As a value of a preceding element that gets weighted and summed up to compute the output for the current element</a:t>
            </a:r>
          </a:p>
          <a:p>
            <a:r>
              <a:rPr lang="en-IN" dirty="0"/>
              <a:t>d :  model dimensionality</a:t>
            </a:r>
          </a:p>
        </p:txBody>
      </p:sp>
    </p:spTree>
    <p:extLst>
      <p:ext uri="{BB962C8B-B14F-4D97-AF65-F5344CB8AC3E}">
        <p14:creationId xmlns:p14="http://schemas.microsoft.com/office/powerpoint/2010/main" val="9690310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5B85A1-ACE0-CD6B-FEDA-4FB065C12BE7}"/>
              </a:ext>
            </a:extLst>
          </p:cNvPr>
          <p:cNvSpPr>
            <a:spLocks noGrp="1"/>
          </p:cNvSpPr>
          <p:nvPr>
            <p:ph type="body" sz="quarter" idx="1"/>
          </p:nvPr>
        </p:nvSpPr>
        <p:spPr/>
        <p:txBody>
          <a:bodyPr/>
          <a:lstStyle/>
          <a:p>
            <a:r>
              <a:rPr lang="en-US" dirty="0"/>
              <a:t>Self attention: Dimensions</a:t>
            </a:r>
            <a:endParaRPr lang="en-IN" dirty="0"/>
          </a:p>
          <a:p>
            <a:endParaRPr lang="en-IN" dirty="0"/>
          </a:p>
        </p:txBody>
      </p:sp>
      <p:pic>
        <p:nvPicPr>
          <p:cNvPr id="1026" name="Picture 2" descr="Self attention from scratch summary">
            <a:extLst>
              <a:ext uri="{FF2B5EF4-FFF2-40B4-BE49-F238E27FC236}">
                <a16:creationId xmlns:a16="http://schemas.microsoft.com/office/drawing/2014/main" id="{19CCF3E0-98B3-74AE-43E2-1830DCBD8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130" y="762978"/>
            <a:ext cx="6958582" cy="507274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EFDCDBC-5BD7-260C-5244-B4EFB72F762B}"/>
              </a:ext>
            </a:extLst>
          </p:cNvPr>
          <p:cNvSpPr/>
          <p:nvPr/>
        </p:nvSpPr>
        <p:spPr>
          <a:xfrm>
            <a:off x="7239000" y="1174284"/>
            <a:ext cx="4833870" cy="1323439"/>
          </a:xfrm>
          <a:prstGeom prst="rect">
            <a:avLst/>
          </a:prstGeom>
          <a:solidFill>
            <a:schemeClr val="tx2">
              <a:lumMod val="20000"/>
              <a:lumOff val="80000"/>
            </a:schemeClr>
          </a:solidFill>
        </p:spPr>
        <p:txBody>
          <a:bodyPr wrap="square">
            <a:spAutoFit/>
          </a:bodyPr>
          <a:lstStyle/>
          <a:p>
            <a:r>
              <a:rPr lang="en-US" sz="2000" dirty="0"/>
              <a:t>original transformer (</a:t>
            </a:r>
            <a:r>
              <a:rPr lang="en-US" sz="2000" dirty="0" err="1"/>
              <a:t>Vaswani</a:t>
            </a:r>
            <a:r>
              <a:rPr lang="en-US" sz="2000" dirty="0"/>
              <a:t> et al., 2017)</a:t>
            </a:r>
          </a:p>
          <a:p>
            <a:r>
              <a:rPr lang="en-US" sz="2000" dirty="0"/>
              <a:t> d- dimension of the model or embedding dimensions : 512</a:t>
            </a:r>
          </a:p>
          <a:p>
            <a:r>
              <a:rPr lang="en-US" sz="2000" dirty="0"/>
              <a:t> </a:t>
            </a:r>
            <a:r>
              <a:rPr lang="en-US" sz="2000" dirty="0" err="1"/>
              <a:t>dk</a:t>
            </a:r>
            <a:r>
              <a:rPr lang="en-US" sz="2000" dirty="0"/>
              <a:t> and dv: 64</a:t>
            </a:r>
            <a:endParaRPr lang="en-IN" sz="2000" dirty="0"/>
          </a:p>
        </p:txBody>
      </p:sp>
      <p:pic>
        <p:nvPicPr>
          <p:cNvPr id="4" name="Picture 3">
            <a:extLst>
              <a:ext uri="{FF2B5EF4-FFF2-40B4-BE49-F238E27FC236}">
                <a16:creationId xmlns:a16="http://schemas.microsoft.com/office/drawing/2014/main" id="{C3E5889E-C246-571A-3241-D4D73A644895}"/>
              </a:ext>
            </a:extLst>
          </p:cNvPr>
          <p:cNvPicPr>
            <a:picLocks noChangeAspect="1"/>
          </p:cNvPicPr>
          <p:nvPr/>
        </p:nvPicPr>
        <p:blipFill>
          <a:blip r:embed="rId3"/>
          <a:stretch>
            <a:fillRect/>
          </a:stretch>
        </p:blipFill>
        <p:spPr>
          <a:xfrm>
            <a:off x="7559045" y="2841172"/>
            <a:ext cx="4193779" cy="2155957"/>
          </a:xfrm>
          <a:prstGeom prst="rect">
            <a:avLst/>
          </a:prstGeom>
          <a:ln>
            <a:solidFill>
              <a:schemeClr val="tx1"/>
            </a:solidFill>
          </a:ln>
        </p:spPr>
      </p:pic>
      <p:sp>
        <p:nvSpPr>
          <p:cNvPr id="8" name="TextBox 7">
            <a:extLst>
              <a:ext uri="{FF2B5EF4-FFF2-40B4-BE49-F238E27FC236}">
                <a16:creationId xmlns:a16="http://schemas.microsoft.com/office/drawing/2014/main" id="{01C8517F-AED6-096F-6515-0B86A516EE96}"/>
              </a:ext>
            </a:extLst>
          </p:cNvPr>
          <p:cNvSpPr txBox="1"/>
          <p:nvPr/>
        </p:nvSpPr>
        <p:spPr>
          <a:xfrm>
            <a:off x="406400" y="6582489"/>
            <a:ext cx="6803570" cy="246221"/>
          </a:xfrm>
          <a:prstGeom prst="rect">
            <a:avLst/>
          </a:prstGeom>
          <a:noFill/>
        </p:spPr>
        <p:txBody>
          <a:bodyPr wrap="square">
            <a:spAutoFit/>
          </a:bodyPr>
          <a:lstStyle/>
          <a:p>
            <a:r>
              <a:rPr lang="en-IN" sz="1000" dirty="0"/>
              <a:t>Image credits: https://sebastianraschka.com/blog/2023/self-attention-from-scratch.html</a:t>
            </a:r>
          </a:p>
        </p:txBody>
      </p:sp>
      <p:pic>
        <p:nvPicPr>
          <p:cNvPr id="5" name="Picture 4">
            <a:extLst>
              <a:ext uri="{FF2B5EF4-FFF2-40B4-BE49-F238E27FC236}">
                <a16:creationId xmlns:a16="http://schemas.microsoft.com/office/drawing/2014/main" id="{67F836D4-8F57-9A4C-7FB8-89CBA7AB9DF4}"/>
              </a:ext>
            </a:extLst>
          </p:cNvPr>
          <p:cNvPicPr>
            <a:picLocks noChangeAspect="1"/>
          </p:cNvPicPr>
          <p:nvPr/>
        </p:nvPicPr>
        <p:blipFill>
          <a:blip r:embed="rId4">
            <a:duotone>
              <a:prstClr val="black"/>
              <a:schemeClr val="accent6">
                <a:tint val="45000"/>
                <a:satMod val="400000"/>
              </a:schemeClr>
            </a:duotone>
          </a:blip>
          <a:stretch>
            <a:fillRect/>
          </a:stretch>
        </p:blipFill>
        <p:spPr>
          <a:xfrm>
            <a:off x="7559045" y="5683716"/>
            <a:ext cx="3910086" cy="566402"/>
          </a:xfrm>
          <a:prstGeom prst="rect">
            <a:avLst/>
          </a:prstGeom>
          <a:ln w="88900" cap="sq" cmpd="thickThin">
            <a:solidFill>
              <a:schemeClr val="accent2">
                <a:lumMod val="75000"/>
              </a:schemeClr>
            </a:solidFill>
            <a:prstDash val="solid"/>
            <a:miter lim="800000"/>
          </a:ln>
          <a:effectLst>
            <a:innerShdw blurRad="76200">
              <a:srgbClr val="000000"/>
            </a:innerShdw>
          </a:effectLst>
        </p:spPr>
      </p:pic>
    </p:spTree>
    <p:extLst>
      <p:ext uri="{BB962C8B-B14F-4D97-AF65-F5344CB8AC3E}">
        <p14:creationId xmlns:p14="http://schemas.microsoft.com/office/powerpoint/2010/main" val="403272451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err="1"/>
              <a:t>Multihead</a:t>
            </a:r>
            <a:r>
              <a:rPr lang="en-US" dirty="0"/>
              <a:t>-Attention</a:t>
            </a:r>
            <a:endParaRPr lang="en-IN" dirty="0"/>
          </a:p>
        </p:txBody>
      </p:sp>
      <p:sp>
        <p:nvSpPr>
          <p:cNvPr id="563" name="Google Shape;563;g21c8648b289_0_99"/>
          <p:cNvSpPr txBox="1">
            <a:spLocks noGrp="1"/>
          </p:cNvSpPr>
          <p:nvPr>
            <p:ph type="sldNum" idx="4294967295"/>
          </p:nvPr>
        </p:nvSpPr>
        <p:spPr>
          <a:xfrm>
            <a:off x="8737600" y="6356351"/>
            <a:ext cx="2844800" cy="365125"/>
          </a:xfrm>
          <a:prstGeom prst="rect">
            <a:avLst/>
          </a:prstGeom>
        </p:spPr>
        <p:txBody>
          <a:bodyPr spcFirstLastPara="1" vert="horz" wrap="square" lIns="91440" tIns="45720" rIns="91440" bIns="45720" rtlCol="0" anchor="ctr" anchorCtr="0">
            <a:noAutofit/>
          </a:bodyPr>
          <a:lstStyle>
            <a:defPPr>
              <a:defRPr lang="en-US"/>
            </a:defPPr>
            <a:lvl1pPr marL="0" algn="r" defTabSz="914400" rtl="0" eaLnBrk="1" latinLnBrk="0" hangingPunct="1">
              <a:defRPr sz="1200" kern="1200" smtClean="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r" rtl="0" fontAlgn="base">
              <a:spcBef>
                <a:spcPct val="0"/>
              </a:spcBef>
              <a:spcAft>
                <a:spcPct val="0"/>
              </a:spcAft>
              <a:buNone/>
              <a:defRPr/>
            </a:pPr>
            <a:fld id="{60DB935C-A2BB-404C-A6C5-67E9068028EC}" type="slidenum">
              <a:rPr lang="en-US" smtClean="0">
                <a:solidFill>
                  <a:prstClr val="black">
                    <a:tint val="75000"/>
                  </a:prstClr>
                </a:solidFill>
              </a:rPr>
              <a:pPr marL="0" lvl="0" indent="0" algn="r" rtl="0" fontAlgn="base">
                <a:spcBef>
                  <a:spcPct val="0"/>
                </a:spcBef>
                <a:spcAft>
                  <a:spcPct val="0"/>
                </a:spcAft>
                <a:buNone/>
                <a:defRPr/>
              </a:pPr>
              <a:t>19</a:t>
            </a:fld>
            <a:endParaRPr/>
          </a:p>
        </p:txBody>
      </p:sp>
      <p:pic>
        <p:nvPicPr>
          <p:cNvPr id="564" name="Google Shape;564;g21c8648b289_0_99"/>
          <p:cNvPicPr preferRelativeResize="0"/>
          <p:nvPr/>
        </p:nvPicPr>
        <p:blipFill>
          <a:blip r:embed="rId3">
            <a:alphaModFix/>
          </a:blip>
          <a:stretch>
            <a:fillRect/>
          </a:stretch>
        </p:blipFill>
        <p:spPr>
          <a:xfrm>
            <a:off x="0" y="1246058"/>
            <a:ext cx="7620000" cy="3767902"/>
          </a:xfrm>
          <a:prstGeom prst="rect">
            <a:avLst/>
          </a:prstGeom>
          <a:noFill/>
          <a:ln>
            <a:noFill/>
          </a:ln>
        </p:spPr>
      </p:pic>
      <p:sp>
        <p:nvSpPr>
          <p:cNvPr id="565" name="Google Shape;565;g21c8648b289_0_99"/>
          <p:cNvSpPr txBox="1"/>
          <p:nvPr/>
        </p:nvSpPr>
        <p:spPr>
          <a:xfrm>
            <a:off x="105200" y="5829675"/>
            <a:ext cx="113046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a:solidFill>
                  <a:srgbClr val="CC0000"/>
                </a:solidFill>
                <a:highlight>
                  <a:srgbClr val="FFFF00"/>
                </a:highlight>
              </a:rPr>
              <a:t>Each of the multihead self-attention layers is provided with its own set of key, query and value weight matrices. </a:t>
            </a:r>
            <a:endParaRPr sz="1600" b="1">
              <a:solidFill>
                <a:srgbClr val="CC0000"/>
              </a:solidFill>
              <a:highlight>
                <a:srgbClr val="FFFF00"/>
              </a:highlight>
            </a:endParaRPr>
          </a:p>
          <a:p>
            <a:pPr marL="0" lvl="0" indent="0" algn="l" rtl="0">
              <a:spcBef>
                <a:spcPts val="0"/>
              </a:spcBef>
              <a:spcAft>
                <a:spcPts val="0"/>
              </a:spcAft>
              <a:buNone/>
            </a:pPr>
            <a:r>
              <a:rPr lang="en-US" sz="1600" b="1">
                <a:solidFill>
                  <a:srgbClr val="CC0000"/>
                </a:solidFill>
                <a:highlight>
                  <a:srgbClr val="FFFF00"/>
                </a:highlight>
              </a:rPr>
              <a:t>The outputs from each of the layers are concatenated and then projected down to d, thus producing an output of the same size as the input so layers can be stacked.</a:t>
            </a:r>
            <a:endParaRPr sz="1600" b="1">
              <a:solidFill>
                <a:srgbClr val="CC0000"/>
              </a:solidFill>
              <a:highlight>
                <a:srgbClr val="FFFF00"/>
              </a:highlight>
            </a:endParaRPr>
          </a:p>
        </p:txBody>
      </p:sp>
      <p:sp>
        <p:nvSpPr>
          <p:cNvPr id="4" name="Rectangle 3"/>
          <p:cNvSpPr/>
          <p:nvPr/>
        </p:nvSpPr>
        <p:spPr>
          <a:xfrm>
            <a:off x="7807960" y="1304538"/>
            <a:ext cx="4384040" cy="4493538"/>
          </a:xfrm>
          <a:prstGeom prst="rect">
            <a:avLst/>
          </a:prstGeom>
        </p:spPr>
        <p:txBody>
          <a:bodyPr wrap="square">
            <a:spAutoFit/>
          </a:bodyPr>
          <a:lstStyle/>
          <a:p>
            <a:pPr marL="285750" indent="-285750">
              <a:buFont typeface="Arial" panose="020B0604020202020204" pitchFamily="34" charset="0"/>
              <a:buChar char="•"/>
            </a:pPr>
            <a:r>
              <a:rPr lang="en-IN" sz="2200" dirty="0">
                <a:latin typeface="Cambria" panose="02040503050406030204" pitchFamily="18" charset="0"/>
                <a:ea typeface="Cambria" panose="02040503050406030204" pitchFamily="18" charset="0"/>
              </a:rPr>
              <a:t>h = 8 parallel attention layers, or heads</a:t>
            </a:r>
          </a:p>
          <a:p>
            <a:pPr marL="285750" indent="-285750">
              <a:buFont typeface="Arial" panose="020B0604020202020204" pitchFamily="34" charset="0"/>
              <a:buChar char="•"/>
            </a:pPr>
            <a:r>
              <a:rPr lang="en-IN" sz="2200" dirty="0">
                <a:latin typeface="Cambria" panose="02040503050406030204" pitchFamily="18" charset="0"/>
                <a:ea typeface="Cambria" panose="02040503050406030204" pitchFamily="18" charset="0"/>
              </a:rPr>
              <a:t>For each of these </a:t>
            </a:r>
          </a:p>
          <a:p>
            <a:pPr lvl="1"/>
            <a:r>
              <a:rPr lang="en-IN" sz="2200" dirty="0" err="1">
                <a:latin typeface="Cambria" panose="02040503050406030204" pitchFamily="18" charset="0"/>
                <a:ea typeface="Cambria" panose="02040503050406030204" pitchFamily="18" charset="0"/>
              </a:rPr>
              <a:t>d</a:t>
            </a:r>
            <a:r>
              <a:rPr lang="en-IN" sz="2200" baseline="-25000" dirty="0" err="1">
                <a:latin typeface="Cambria" panose="02040503050406030204" pitchFamily="18" charset="0"/>
                <a:ea typeface="Cambria" panose="02040503050406030204" pitchFamily="18" charset="0"/>
              </a:rPr>
              <a:t>k</a:t>
            </a:r>
            <a:r>
              <a:rPr lang="en-IN" sz="2200" dirty="0">
                <a:latin typeface="Cambria" panose="02040503050406030204" pitchFamily="18" charset="0"/>
                <a:ea typeface="Cambria" panose="02040503050406030204" pitchFamily="18" charset="0"/>
              </a:rPr>
              <a:t> = d</a:t>
            </a:r>
            <a:r>
              <a:rPr lang="en-IN" sz="2200" baseline="-25000" dirty="0">
                <a:latin typeface="Cambria" panose="02040503050406030204" pitchFamily="18" charset="0"/>
                <a:ea typeface="Cambria" panose="02040503050406030204" pitchFamily="18" charset="0"/>
              </a:rPr>
              <a:t>v</a:t>
            </a:r>
            <a:r>
              <a:rPr lang="en-IN" sz="2200" dirty="0">
                <a:latin typeface="Cambria" panose="02040503050406030204" pitchFamily="18" charset="0"/>
                <a:ea typeface="Cambria" panose="02040503050406030204" pitchFamily="18" charset="0"/>
              </a:rPr>
              <a:t> = </a:t>
            </a:r>
            <a:r>
              <a:rPr lang="en-IN" sz="2200" dirty="0" err="1">
                <a:latin typeface="Cambria" panose="02040503050406030204" pitchFamily="18" charset="0"/>
                <a:ea typeface="Cambria" panose="02040503050406030204" pitchFamily="18" charset="0"/>
              </a:rPr>
              <a:t>d</a:t>
            </a:r>
            <a:r>
              <a:rPr lang="en-IN" sz="2200" baseline="-25000" dirty="0" err="1">
                <a:latin typeface="Cambria" panose="02040503050406030204" pitchFamily="18" charset="0"/>
                <a:ea typeface="Cambria" panose="02040503050406030204" pitchFamily="18" charset="0"/>
              </a:rPr>
              <a:t>model</a:t>
            </a:r>
            <a:r>
              <a:rPr lang="en-IN" sz="2200" baseline="-25000" dirty="0">
                <a:latin typeface="Cambria" panose="02040503050406030204" pitchFamily="18" charset="0"/>
                <a:ea typeface="Cambria" panose="02040503050406030204" pitchFamily="18" charset="0"/>
              </a:rPr>
              <a:t> </a:t>
            </a:r>
            <a:r>
              <a:rPr lang="en-IN" sz="2200" dirty="0">
                <a:latin typeface="Cambria" panose="02040503050406030204" pitchFamily="18" charset="0"/>
                <a:ea typeface="Cambria" panose="02040503050406030204" pitchFamily="18" charset="0"/>
              </a:rPr>
              <a:t>/ h = 64 </a:t>
            </a:r>
          </a:p>
          <a:p>
            <a:pPr marL="285750" indent="-285750">
              <a:buFont typeface="Arial" panose="020B0604020202020204" pitchFamily="34" charset="0"/>
              <a:buChar char="•"/>
            </a:pPr>
            <a:r>
              <a:rPr lang="en-IN" sz="2200" dirty="0">
                <a:latin typeface="Cambria" panose="02040503050406030204" pitchFamily="18" charset="0"/>
                <a:ea typeface="Cambria" panose="02040503050406030204" pitchFamily="18" charset="0"/>
              </a:rPr>
              <a:t>Due to the reduced dimension of each head, the total computational cost is similar to that of single-head attention with full dimensionality</a:t>
            </a:r>
          </a:p>
          <a:p>
            <a:pPr algn="ctr"/>
            <a:r>
              <a:rPr lang="en-IN" sz="2200" dirty="0" err="1">
                <a:latin typeface="Cambria" panose="02040503050406030204" pitchFamily="18" charset="0"/>
                <a:ea typeface="Cambria" panose="02040503050406030204" pitchFamily="18" charset="0"/>
              </a:rPr>
              <a:t>W</a:t>
            </a:r>
            <a:r>
              <a:rPr lang="en-IN" sz="2200" baseline="30000" dirty="0" err="1">
                <a:latin typeface="Cambria" panose="02040503050406030204" pitchFamily="18" charset="0"/>
                <a:ea typeface="Cambria" panose="02040503050406030204" pitchFamily="18" charset="0"/>
              </a:rPr>
              <a:t>Qi</a:t>
            </a:r>
            <a:r>
              <a:rPr lang="en-IN" sz="2200" dirty="0">
                <a:latin typeface="Cambria" panose="02040503050406030204" pitchFamily="18" charset="0"/>
                <a:ea typeface="Cambria" panose="02040503050406030204" pitchFamily="18" charset="0"/>
              </a:rPr>
              <a:t> ∈R</a:t>
            </a:r>
            <a:r>
              <a:rPr lang="en-IN" sz="2200" baseline="30000" dirty="0">
                <a:latin typeface="Cambria" panose="02040503050406030204" pitchFamily="18" charset="0"/>
                <a:ea typeface="Cambria" panose="02040503050406030204" pitchFamily="18" charset="0"/>
              </a:rPr>
              <a:t>  d × dk</a:t>
            </a:r>
          </a:p>
          <a:p>
            <a:pPr algn="ctr"/>
            <a:r>
              <a:rPr lang="en-IN" sz="2200" dirty="0">
                <a:latin typeface="Cambria" panose="02040503050406030204" pitchFamily="18" charset="0"/>
                <a:ea typeface="Cambria" panose="02040503050406030204" pitchFamily="18" charset="0"/>
              </a:rPr>
              <a:t> </a:t>
            </a:r>
            <a:r>
              <a:rPr lang="en-IN" sz="2200" dirty="0" err="1">
                <a:latin typeface="Cambria" panose="02040503050406030204" pitchFamily="18" charset="0"/>
                <a:ea typeface="Cambria" panose="02040503050406030204" pitchFamily="18" charset="0"/>
              </a:rPr>
              <a:t>W</a:t>
            </a:r>
            <a:r>
              <a:rPr lang="en-IN" sz="2200" baseline="30000" dirty="0" err="1">
                <a:latin typeface="Cambria" panose="02040503050406030204" pitchFamily="18" charset="0"/>
                <a:ea typeface="Cambria" panose="02040503050406030204" pitchFamily="18" charset="0"/>
              </a:rPr>
              <a:t>Ki</a:t>
            </a:r>
            <a:r>
              <a:rPr lang="en-IN" sz="2200" dirty="0">
                <a:latin typeface="Cambria" panose="02040503050406030204" pitchFamily="18" charset="0"/>
                <a:ea typeface="Cambria" panose="02040503050406030204" pitchFamily="18" charset="0"/>
              </a:rPr>
              <a:t> ∈ R </a:t>
            </a:r>
            <a:r>
              <a:rPr lang="en-IN" sz="2200" baseline="30000" dirty="0" err="1">
                <a:latin typeface="Cambria" panose="02040503050406030204" pitchFamily="18" charset="0"/>
                <a:ea typeface="Cambria" panose="02040503050406030204" pitchFamily="18" charset="0"/>
              </a:rPr>
              <a:t>d×dk</a:t>
            </a:r>
            <a:r>
              <a:rPr lang="en-IN" sz="2200" dirty="0">
                <a:latin typeface="Cambria" panose="02040503050406030204" pitchFamily="18" charset="0"/>
                <a:ea typeface="Cambria" panose="02040503050406030204" pitchFamily="18" charset="0"/>
              </a:rPr>
              <a:t> </a:t>
            </a:r>
          </a:p>
          <a:p>
            <a:pPr algn="ctr"/>
            <a:r>
              <a:rPr lang="en-IN" sz="2200" dirty="0">
                <a:latin typeface="Cambria" panose="02040503050406030204" pitchFamily="18" charset="0"/>
                <a:ea typeface="Cambria" panose="02040503050406030204" pitchFamily="18" charset="0"/>
              </a:rPr>
              <a:t>W</a:t>
            </a:r>
            <a:r>
              <a:rPr lang="en-IN" sz="2200" baseline="30000" dirty="0">
                <a:latin typeface="Cambria" panose="02040503050406030204" pitchFamily="18" charset="0"/>
                <a:ea typeface="Cambria" panose="02040503050406030204" pitchFamily="18" charset="0"/>
              </a:rPr>
              <a:t>O</a:t>
            </a:r>
            <a:r>
              <a:rPr lang="en-IN" sz="2200" dirty="0">
                <a:latin typeface="Cambria" panose="02040503050406030204" pitchFamily="18" charset="0"/>
                <a:ea typeface="Cambria" panose="02040503050406030204" pitchFamily="18" charset="0"/>
              </a:rPr>
              <a:t> ∈R </a:t>
            </a:r>
            <a:r>
              <a:rPr lang="en-IN" sz="2200" baseline="30000" dirty="0" err="1">
                <a:latin typeface="Cambria" panose="02040503050406030204" pitchFamily="18" charset="0"/>
                <a:ea typeface="Cambria" panose="02040503050406030204" pitchFamily="18" charset="0"/>
              </a:rPr>
              <a:t>hdv×d</a:t>
            </a:r>
            <a:endParaRPr lang="en-IN" sz="2200" dirty="0">
              <a:latin typeface="Cambria" panose="02040503050406030204" pitchFamily="18" charset="0"/>
              <a:ea typeface="Cambria" panose="02040503050406030204" pitchFamily="18" charset="0"/>
            </a:endParaRPr>
          </a:p>
          <a:p>
            <a:pPr algn="ctr"/>
            <a:r>
              <a:rPr lang="en-IN" sz="2200" dirty="0">
                <a:latin typeface="Cambria" panose="02040503050406030204" pitchFamily="18" charset="0"/>
                <a:ea typeface="Cambria" panose="02040503050406030204" pitchFamily="18" charset="0"/>
              </a:rPr>
              <a:t> </a:t>
            </a:r>
            <a:r>
              <a:rPr lang="en-IN" sz="2200" dirty="0" err="1">
                <a:latin typeface="Cambria" panose="02040503050406030204" pitchFamily="18" charset="0"/>
                <a:ea typeface="Cambria" panose="02040503050406030204" pitchFamily="18" charset="0"/>
              </a:rPr>
              <a:t>W</a:t>
            </a:r>
            <a:r>
              <a:rPr lang="en-IN" sz="2200" baseline="30000" dirty="0" err="1">
                <a:latin typeface="Cambria" panose="02040503050406030204" pitchFamily="18" charset="0"/>
                <a:ea typeface="Cambria" panose="02040503050406030204" pitchFamily="18" charset="0"/>
              </a:rPr>
              <a:t>Vi</a:t>
            </a:r>
            <a:r>
              <a:rPr lang="en-IN" sz="2200" dirty="0">
                <a:latin typeface="Cambria" panose="02040503050406030204" pitchFamily="18" charset="0"/>
                <a:ea typeface="Cambria" panose="02040503050406030204" pitchFamily="18" charset="0"/>
              </a:rPr>
              <a:t> ∈ R </a:t>
            </a:r>
            <a:r>
              <a:rPr lang="en-IN" sz="2200" baseline="30000" dirty="0">
                <a:latin typeface="Cambria" panose="02040503050406030204" pitchFamily="18" charset="0"/>
                <a:ea typeface="Cambria" panose="02040503050406030204" pitchFamily="18" charset="0"/>
              </a:rPr>
              <a:t>d× dv</a:t>
            </a:r>
          </a:p>
        </p:txBody>
      </p:sp>
      <p:pic>
        <p:nvPicPr>
          <p:cNvPr id="2" name="Google Shape;556;g21c8648b289_0_88">
            <a:extLst>
              <a:ext uri="{FF2B5EF4-FFF2-40B4-BE49-F238E27FC236}">
                <a16:creationId xmlns:a16="http://schemas.microsoft.com/office/drawing/2014/main" id="{602F85FC-3476-0CA9-EB66-5AB440CED029}"/>
              </a:ext>
            </a:extLst>
          </p:cNvPr>
          <p:cNvPicPr preferRelativeResize="0"/>
          <p:nvPr/>
        </p:nvPicPr>
        <p:blipFill>
          <a:blip r:embed="rId4">
            <a:alphaModFix/>
          </a:blip>
          <a:stretch>
            <a:fillRect/>
          </a:stretch>
        </p:blipFill>
        <p:spPr>
          <a:xfrm>
            <a:off x="7181636" y="277149"/>
            <a:ext cx="4785742" cy="831683"/>
          </a:xfrm>
          <a:prstGeom prst="rect">
            <a:avLst/>
          </a:prstGeom>
          <a:noFill/>
          <a:ln>
            <a:solidFill>
              <a:schemeClr val="tx2"/>
            </a:solidFill>
          </a:ln>
        </p:spPr>
      </p:pic>
    </p:spTree>
    <p:extLst>
      <p:ext uri="{BB962C8B-B14F-4D97-AF65-F5344CB8AC3E}">
        <p14:creationId xmlns:p14="http://schemas.microsoft.com/office/powerpoint/2010/main" val="1626054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557420-3462-B603-6B9A-3C52ADCFCAEB}"/>
              </a:ext>
            </a:extLst>
          </p:cNvPr>
          <p:cNvSpPr>
            <a:spLocks noGrp="1"/>
          </p:cNvSpPr>
          <p:nvPr>
            <p:ph type="body" sz="quarter" idx="1"/>
          </p:nvPr>
        </p:nvSpPr>
        <p:spPr>
          <a:xfrm>
            <a:off x="396126" y="0"/>
            <a:ext cx="8432800" cy="1143000"/>
          </a:xfrm>
        </p:spPr>
        <p:txBody>
          <a:bodyPr/>
          <a:lstStyle/>
          <a:p>
            <a:r>
              <a:rPr lang="en-US" dirty="0"/>
              <a:t>Multi head attention</a:t>
            </a:r>
            <a:endParaRPr lang="en-IN"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8B3AB49-0DD6-E869-D491-B01ED43C96E1}"/>
                  </a:ext>
                </a:extLst>
              </p:cNvPr>
              <p:cNvSpPr txBox="1"/>
              <p:nvPr/>
            </p:nvSpPr>
            <p:spPr>
              <a:xfrm>
                <a:off x="211192" y="2660465"/>
                <a:ext cx="6415640" cy="3859326"/>
              </a:xfrm>
              <a:prstGeom prst="rect">
                <a:avLst/>
              </a:prstGeom>
              <a:noFill/>
            </p:spPr>
            <p:txBody>
              <a:bodyPr wrap="square">
                <a:spAutoFit/>
              </a:bodyPr>
              <a:lstStyle/>
              <a:p>
                <a:pPr algn="l"/>
                <a:r>
                  <a:rPr lang="en-IN" sz="2400" b="0" i="0" dirty="0">
                    <a:solidFill>
                      <a:srgbClr val="FF0000"/>
                    </a:solidFill>
                    <a:effectLst/>
                    <a:latin typeface="pplxSerif"/>
                  </a:rPr>
                  <a:t>Shape of input </a:t>
                </a:r>
                <a14:m>
                  <m:oMath xmlns:m="http://schemas.openxmlformats.org/officeDocument/2006/math">
                    <m:r>
                      <a:rPr lang="en-IN" sz="2400" i="1">
                        <a:solidFill>
                          <a:srgbClr val="FF0000"/>
                        </a:solidFill>
                        <a:latin typeface="Cambria Math" panose="02040503050406030204" pitchFamily="18" charset="0"/>
                      </a:rPr>
                      <m:t>𝑋</m:t>
                    </m:r>
                  </m:oMath>
                </a14:m>
                <a:r>
                  <a:rPr lang="en-IN" sz="2400" b="0" i="0" dirty="0">
                    <a:solidFill>
                      <a:srgbClr val="FF0000"/>
                    </a:solidFill>
                    <a:effectLst/>
                    <a:latin typeface="pplxSerif"/>
                  </a:rPr>
                  <a:t>: </a:t>
                </a:r>
                <a14:m>
                  <m:oMath xmlns:m="http://schemas.openxmlformats.org/officeDocument/2006/math">
                    <m:d>
                      <m:dPr>
                        <m:begChr m:val="["/>
                        <m:endChr m:val="]"/>
                        <m:ctrlPr>
                          <a:rPr lang="ar-AE" sz="2400" i="1">
                            <a:solidFill>
                              <a:srgbClr val="FF0000"/>
                            </a:solidFill>
                            <a:latin typeface="Cambria Math" panose="02040503050406030204" pitchFamily="18" charset="0"/>
                          </a:rPr>
                        </m:ctrlPr>
                      </m:dPr>
                      <m:e>
                        <m:r>
                          <a:rPr lang="ar-AE" sz="2400" i="1">
                            <a:solidFill>
                              <a:srgbClr val="FF0000"/>
                            </a:solidFill>
                            <a:latin typeface="Cambria Math" panose="02040503050406030204" pitchFamily="18" charset="0"/>
                          </a:rPr>
                          <m:t>𝑁</m:t>
                        </m:r>
                        <m:r>
                          <a:rPr lang="ar-AE" sz="2400" i="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𝑑</m:t>
                        </m:r>
                      </m:e>
                    </m:d>
                  </m:oMath>
                </a14:m>
                <a:endParaRPr lang="ar-AE" sz="2400" b="0" i="0" dirty="0">
                  <a:solidFill>
                    <a:srgbClr val="FF0000"/>
                  </a:solidFill>
                  <a:effectLst/>
                  <a:latin typeface="pplxSerif"/>
                </a:endParaRPr>
              </a:p>
              <a:p>
                <a:pPr algn="l"/>
                <a:r>
                  <a:rPr lang="en-IN" sz="2400" b="0" i="0" dirty="0">
                    <a:solidFill>
                      <a:srgbClr val="27251E"/>
                    </a:solidFill>
                    <a:effectLst/>
                    <a:latin typeface="pplxSerif"/>
                  </a:rPr>
                  <a:t>Shape of each per-head projection matrix: </a:t>
                </a:r>
                <a14:m>
                  <m:oMath xmlns:m="http://schemas.openxmlformats.org/officeDocument/2006/math">
                    <m:sSubSup>
                      <m:sSubSupPr>
                        <m:ctrlPr>
                          <a:rPr lang="ar-AE" sz="2400" i="1">
                            <a:latin typeface="Cambria Math" panose="02040503050406030204" pitchFamily="18" charset="0"/>
                          </a:rPr>
                        </m:ctrlPr>
                      </m:sSubSupPr>
                      <m:e>
                        <m:r>
                          <a:rPr lang="ar-AE" sz="2400" i="1">
                            <a:latin typeface="Cambria Math" panose="02040503050406030204" pitchFamily="18" charset="0"/>
                          </a:rPr>
                          <m:t>𝑊</m:t>
                        </m:r>
                      </m:e>
                      <m:sub>
                        <m:r>
                          <a:rPr lang="ar-AE" sz="2400" i="1">
                            <a:latin typeface="Cambria Math" panose="02040503050406030204" pitchFamily="18" charset="0"/>
                          </a:rPr>
                          <m:t>𝑖</m:t>
                        </m:r>
                      </m:sub>
                      <m:sup>
                        <m:r>
                          <a:rPr lang="ar-AE" sz="2400" i="1">
                            <a:latin typeface="Cambria Math" panose="02040503050406030204" pitchFamily="18" charset="0"/>
                          </a:rPr>
                          <m:t>𝑄</m:t>
                        </m:r>
                      </m:sup>
                    </m:sSubSup>
                    <m:r>
                      <a:rPr lang="ar-AE" sz="2400" i="0">
                        <a:latin typeface="Cambria Math" panose="02040503050406030204" pitchFamily="18" charset="0"/>
                      </a:rPr>
                      <m:t>,</m:t>
                    </m:r>
                    <m:sSubSup>
                      <m:sSubSupPr>
                        <m:ctrlPr>
                          <a:rPr lang="ar-AE" sz="2400" i="1">
                            <a:latin typeface="Cambria Math" panose="02040503050406030204" pitchFamily="18" charset="0"/>
                          </a:rPr>
                        </m:ctrlPr>
                      </m:sSubSupPr>
                      <m:e>
                        <m:r>
                          <a:rPr lang="ar-AE" sz="2400" i="1">
                            <a:latin typeface="Cambria Math" panose="02040503050406030204" pitchFamily="18" charset="0"/>
                          </a:rPr>
                          <m:t>𝑊</m:t>
                        </m:r>
                      </m:e>
                      <m:sub>
                        <m:r>
                          <a:rPr lang="ar-AE" sz="2400" i="1">
                            <a:latin typeface="Cambria Math" panose="02040503050406030204" pitchFamily="18" charset="0"/>
                          </a:rPr>
                          <m:t>𝑖</m:t>
                        </m:r>
                      </m:sub>
                      <m:sup>
                        <m:r>
                          <a:rPr lang="ar-AE" sz="2400" i="1">
                            <a:latin typeface="Cambria Math" panose="02040503050406030204" pitchFamily="18" charset="0"/>
                          </a:rPr>
                          <m:t>𝐾</m:t>
                        </m:r>
                      </m:sup>
                    </m:sSubSup>
                    <m:r>
                      <a:rPr lang="ar-AE" sz="2400" i="0">
                        <a:latin typeface="Cambria Math" panose="02040503050406030204" pitchFamily="18" charset="0"/>
                      </a:rPr>
                      <m:t>∈</m:t>
                    </m:r>
                    <m:sSup>
                      <m:sSupPr>
                        <m:ctrlPr>
                          <a:rPr lang="ar-AE" sz="2400" i="1">
                            <a:latin typeface="Cambria Math" panose="02040503050406030204" pitchFamily="18" charset="0"/>
                          </a:rPr>
                        </m:ctrlPr>
                      </m:sSupPr>
                      <m:e>
                        <m:r>
                          <a:rPr lang="ar-AE" sz="2400" i="0">
                            <a:latin typeface="Cambria Math" panose="02040503050406030204" pitchFamily="18" charset="0"/>
                          </a:rPr>
                          <m:t>ℝ</m:t>
                        </m:r>
                      </m:e>
                      <m:sup>
                        <m:r>
                          <m:rPr>
                            <m:sty m:val="p"/>
                          </m:rPr>
                          <a:rPr lang="en-US" sz="2400" b="0" i="0" smtClean="0">
                            <a:latin typeface="Cambria Math" panose="02040503050406030204" pitchFamily="18" charset="0"/>
                          </a:rPr>
                          <m:t>d</m:t>
                        </m:r>
                        <m:r>
                          <a:rPr lang="ar-AE" sz="2400" b="0" i="0">
                            <a:latin typeface="Cambria Math" panose="02040503050406030204" pitchFamily="18" charset="0"/>
                          </a:rPr>
                          <m:t>×</m:t>
                        </m:r>
                        <m:sSub>
                          <m:sSubPr>
                            <m:ctrlPr>
                              <a:rPr lang="ar-AE" sz="2400" b="0" i="1">
                                <a:latin typeface="Cambria Math" panose="02040503050406030204" pitchFamily="18" charset="0"/>
                              </a:rPr>
                            </m:ctrlPr>
                          </m:sSubPr>
                          <m:e>
                            <m:r>
                              <a:rPr lang="ar-AE" sz="2400" b="0" i="1">
                                <a:latin typeface="Cambria Math" panose="02040503050406030204" pitchFamily="18" charset="0"/>
                              </a:rPr>
                              <m:t>𝑑</m:t>
                            </m:r>
                          </m:e>
                          <m:sub>
                            <m:r>
                              <a:rPr lang="ar-AE" sz="2400" b="0" i="1">
                                <a:latin typeface="Cambria Math" panose="02040503050406030204" pitchFamily="18" charset="0"/>
                              </a:rPr>
                              <m:t>𝑘</m:t>
                            </m:r>
                          </m:sub>
                        </m:sSub>
                      </m:sup>
                    </m:sSup>
                    <m:r>
                      <a:rPr lang="en-US" sz="2400" b="0" i="0" smtClean="0">
                        <a:latin typeface="Cambria Math" panose="02040503050406030204" pitchFamily="18" charset="0"/>
                      </a:rPr>
                      <m:t>,</m:t>
                    </m:r>
                    <m:sSubSup>
                      <m:sSubSupPr>
                        <m:ctrlPr>
                          <a:rPr lang="ar-AE" sz="2400" i="1" smtClean="0">
                            <a:latin typeface="Cambria Math" panose="02040503050406030204" pitchFamily="18" charset="0"/>
                          </a:rPr>
                        </m:ctrlPr>
                      </m:sSubSupPr>
                      <m:e>
                        <m:r>
                          <a:rPr lang="ar-AE" sz="2400" i="1">
                            <a:latin typeface="Cambria Math" panose="02040503050406030204" pitchFamily="18" charset="0"/>
                          </a:rPr>
                          <m:t>𝑊</m:t>
                        </m:r>
                      </m:e>
                      <m:sub>
                        <m:r>
                          <a:rPr lang="ar-AE" sz="2400" i="1">
                            <a:latin typeface="Cambria Math" panose="02040503050406030204" pitchFamily="18" charset="0"/>
                          </a:rPr>
                          <m:t>𝑖</m:t>
                        </m:r>
                      </m:sub>
                      <m:sup>
                        <m:r>
                          <a:rPr lang="ar-AE" sz="2400" i="1">
                            <a:latin typeface="Cambria Math" panose="02040503050406030204" pitchFamily="18" charset="0"/>
                          </a:rPr>
                          <m:t>𝑉</m:t>
                        </m:r>
                      </m:sup>
                    </m:sSubSup>
                    <m:r>
                      <a:rPr lang="ar-AE" sz="2400" i="0">
                        <a:latin typeface="Cambria Math" panose="02040503050406030204" pitchFamily="18" charset="0"/>
                      </a:rPr>
                      <m:t>∈</m:t>
                    </m:r>
                    <m:sSup>
                      <m:sSupPr>
                        <m:ctrlPr>
                          <a:rPr lang="ar-AE" sz="2400" i="1">
                            <a:latin typeface="Cambria Math" panose="02040503050406030204" pitchFamily="18" charset="0"/>
                          </a:rPr>
                        </m:ctrlPr>
                      </m:sSupPr>
                      <m:e>
                        <m:r>
                          <a:rPr lang="ar-AE" sz="2400" i="0">
                            <a:latin typeface="Cambria Math" panose="02040503050406030204" pitchFamily="18" charset="0"/>
                          </a:rPr>
                          <m:t>ℝ</m:t>
                        </m:r>
                      </m:e>
                      <m:sup>
                        <m:r>
                          <m:rPr>
                            <m:sty m:val="p"/>
                          </m:rPr>
                          <a:rPr lang="en-US" sz="2400" b="0" i="0" smtClean="0">
                            <a:latin typeface="Cambria Math" panose="02040503050406030204" pitchFamily="18" charset="0"/>
                          </a:rPr>
                          <m:t>d</m:t>
                        </m:r>
                        <m:r>
                          <a:rPr lang="ar-AE" sz="2400" b="0" i="0">
                            <a:latin typeface="Cambria Math" panose="02040503050406030204" pitchFamily="18" charset="0"/>
                          </a:rPr>
                          <m:t>×</m:t>
                        </m:r>
                        <m:sSub>
                          <m:sSubPr>
                            <m:ctrlPr>
                              <a:rPr lang="ar-AE" sz="2400" b="0" i="1">
                                <a:latin typeface="Cambria Math" panose="02040503050406030204" pitchFamily="18" charset="0"/>
                              </a:rPr>
                            </m:ctrlPr>
                          </m:sSubPr>
                          <m:e>
                            <m:r>
                              <a:rPr lang="ar-AE" sz="2400" b="0" i="1">
                                <a:latin typeface="Cambria Math" panose="02040503050406030204" pitchFamily="18" charset="0"/>
                              </a:rPr>
                              <m:t>𝑑</m:t>
                            </m:r>
                          </m:e>
                          <m:sub>
                            <m:r>
                              <a:rPr lang="ar-AE" sz="2400" b="0" i="1">
                                <a:latin typeface="Cambria Math" panose="02040503050406030204" pitchFamily="18" charset="0"/>
                              </a:rPr>
                              <m:t>𝑣</m:t>
                            </m:r>
                          </m:sub>
                        </m:sSub>
                      </m:sup>
                    </m:sSup>
                  </m:oMath>
                </a14:m>
                <a:endParaRPr lang="ar-AE" sz="2400" b="0" i="0" dirty="0">
                  <a:solidFill>
                    <a:srgbClr val="27251E"/>
                  </a:solidFill>
                  <a:effectLst/>
                  <a:latin typeface="pplxSerif"/>
                </a:endParaRPr>
              </a:p>
              <a:p>
                <a:pPr algn="l"/>
                <a:r>
                  <a:rPr lang="en-IN" sz="2400" b="0" i="0" dirty="0">
                    <a:solidFill>
                      <a:srgbClr val="27251E"/>
                    </a:solidFill>
                    <a:effectLst/>
                    <a:latin typeface="pplxSerif"/>
                  </a:rPr>
                  <a:t>Shape of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𝑄</m:t>
                        </m:r>
                      </m:e>
                      <m:sub>
                        <m:r>
                          <a:rPr lang="ar-AE" sz="2400" i="1">
                            <a:latin typeface="Cambria Math" panose="02040503050406030204" pitchFamily="18" charset="0"/>
                          </a:rPr>
                          <m:t>𝑖</m:t>
                        </m:r>
                      </m:sub>
                    </m:sSub>
                  </m:oMath>
                </a14:m>
                <a:r>
                  <a:rPr lang="ar-AE" sz="2400" b="0" i="0" dirty="0">
                    <a:solidFill>
                      <a:srgbClr val="27251E"/>
                    </a:solidFill>
                    <a:effectLst/>
                    <a:latin typeface="pplxSerif"/>
                  </a:rPr>
                  <a:t>: </a:t>
                </a:r>
                <a14:m>
                  <m:oMath xmlns:m="http://schemas.openxmlformats.org/officeDocument/2006/math">
                    <m:d>
                      <m:dPr>
                        <m:begChr m:val="["/>
                        <m:endChr m:val="]"/>
                        <m:ctrlPr>
                          <a:rPr lang="ar-AE" sz="2400" i="1">
                            <a:latin typeface="Cambria Math" panose="02040503050406030204" pitchFamily="18" charset="0"/>
                          </a:rPr>
                        </m:ctrlPr>
                      </m:dPr>
                      <m:e>
                        <m:r>
                          <a:rPr lang="ar-AE" sz="2400" i="1">
                            <a:latin typeface="Cambria Math" panose="02040503050406030204" pitchFamily="18" charset="0"/>
                          </a:rPr>
                          <m:t>𝑁</m:t>
                        </m:r>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𝑑</m:t>
                            </m:r>
                          </m:e>
                          <m:sub>
                            <m:r>
                              <a:rPr lang="ar-AE" sz="2400" i="1">
                                <a:latin typeface="Cambria Math" panose="02040503050406030204" pitchFamily="18" charset="0"/>
                              </a:rPr>
                              <m:t>𝑘</m:t>
                            </m:r>
                          </m:sub>
                        </m:sSub>
                      </m:e>
                    </m:d>
                  </m:oMath>
                </a14:m>
                <a:endParaRPr lang="ar-AE" sz="2400" b="0" i="0" dirty="0">
                  <a:solidFill>
                    <a:srgbClr val="27251E"/>
                  </a:solidFill>
                  <a:effectLst/>
                  <a:latin typeface="pplxSerif"/>
                </a:endParaRPr>
              </a:p>
              <a:p>
                <a:pPr algn="l"/>
                <a:r>
                  <a:rPr lang="en-IN" sz="2400" b="0" i="0" dirty="0">
                    <a:solidFill>
                      <a:srgbClr val="27251E"/>
                    </a:solidFill>
                    <a:effectLst/>
                    <a:latin typeface="pplxSerif"/>
                  </a:rPr>
                  <a:t>Shape of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𝐾</m:t>
                        </m:r>
                      </m:e>
                      <m:sub>
                        <m:r>
                          <a:rPr lang="ar-AE" sz="2400" i="1">
                            <a:latin typeface="Cambria Math" panose="02040503050406030204" pitchFamily="18" charset="0"/>
                          </a:rPr>
                          <m:t>𝑖</m:t>
                        </m:r>
                      </m:sub>
                    </m:sSub>
                  </m:oMath>
                </a14:m>
                <a:r>
                  <a:rPr lang="ar-AE" sz="2400" b="0" i="0" dirty="0">
                    <a:solidFill>
                      <a:srgbClr val="27251E"/>
                    </a:solidFill>
                    <a:effectLst/>
                    <a:latin typeface="pplxSerif"/>
                  </a:rPr>
                  <a:t>: </a:t>
                </a:r>
                <a14:m>
                  <m:oMath xmlns:m="http://schemas.openxmlformats.org/officeDocument/2006/math">
                    <m:d>
                      <m:dPr>
                        <m:begChr m:val="["/>
                        <m:endChr m:val="]"/>
                        <m:ctrlPr>
                          <a:rPr lang="ar-AE" sz="2400" i="1">
                            <a:latin typeface="Cambria Math" panose="02040503050406030204" pitchFamily="18" charset="0"/>
                          </a:rPr>
                        </m:ctrlPr>
                      </m:dPr>
                      <m:e>
                        <m:r>
                          <a:rPr lang="ar-AE" sz="2400" i="1">
                            <a:latin typeface="Cambria Math" panose="02040503050406030204" pitchFamily="18" charset="0"/>
                          </a:rPr>
                          <m:t>𝑁</m:t>
                        </m:r>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𝑑</m:t>
                            </m:r>
                          </m:e>
                          <m:sub>
                            <m:r>
                              <a:rPr lang="ar-AE" sz="2400" i="1">
                                <a:latin typeface="Cambria Math" panose="02040503050406030204" pitchFamily="18" charset="0"/>
                              </a:rPr>
                              <m:t>𝑘</m:t>
                            </m:r>
                          </m:sub>
                        </m:sSub>
                      </m:e>
                    </m:d>
                  </m:oMath>
                </a14:m>
                <a:endParaRPr lang="ar-AE" sz="2400" b="0" i="0" dirty="0">
                  <a:solidFill>
                    <a:srgbClr val="27251E"/>
                  </a:solidFill>
                  <a:effectLst/>
                  <a:latin typeface="pplxSerif"/>
                </a:endParaRPr>
              </a:p>
              <a:p>
                <a:pPr algn="l"/>
                <a:r>
                  <a:rPr lang="en-IN" sz="2400" b="0" i="0" dirty="0">
                    <a:solidFill>
                      <a:srgbClr val="27251E"/>
                    </a:solidFill>
                    <a:effectLst/>
                    <a:latin typeface="pplxSerif"/>
                  </a:rPr>
                  <a:t>Shape of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𝑉</m:t>
                        </m:r>
                      </m:e>
                      <m:sub>
                        <m:r>
                          <a:rPr lang="ar-AE" sz="2400" i="1">
                            <a:latin typeface="Cambria Math" panose="02040503050406030204" pitchFamily="18" charset="0"/>
                          </a:rPr>
                          <m:t>𝑖</m:t>
                        </m:r>
                      </m:sub>
                    </m:sSub>
                  </m:oMath>
                </a14:m>
                <a:r>
                  <a:rPr lang="ar-AE" sz="2400" b="0" i="0" dirty="0">
                    <a:solidFill>
                      <a:srgbClr val="27251E"/>
                    </a:solidFill>
                    <a:effectLst/>
                    <a:latin typeface="pplxSerif"/>
                  </a:rPr>
                  <a:t>: </a:t>
                </a:r>
                <a14:m>
                  <m:oMath xmlns:m="http://schemas.openxmlformats.org/officeDocument/2006/math">
                    <m:d>
                      <m:dPr>
                        <m:begChr m:val="["/>
                        <m:endChr m:val="]"/>
                        <m:ctrlPr>
                          <a:rPr lang="ar-AE" sz="2400" i="1">
                            <a:latin typeface="Cambria Math" panose="02040503050406030204" pitchFamily="18" charset="0"/>
                          </a:rPr>
                        </m:ctrlPr>
                      </m:dPr>
                      <m:e>
                        <m:r>
                          <a:rPr lang="ar-AE" sz="2400" i="1">
                            <a:latin typeface="Cambria Math" panose="02040503050406030204" pitchFamily="18" charset="0"/>
                          </a:rPr>
                          <m:t>𝑁</m:t>
                        </m:r>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𝑑</m:t>
                            </m:r>
                          </m:e>
                          <m:sub>
                            <m:r>
                              <a:rPr lang="ar-AE" sz="2400" i="1">
                                <a:latin typeface="Cambria Math" panose="02040503050406030204" pitchFamily="18" charset="0"/>
                              </a:rPr>
                              <m:t>𝑣</m:t>
                            </m:r>
                          </m:sub>
                        </m:sSub>
                      </m:e>
                    </m:d>
                  </m:oMath>
                </a14:m>
                <a:endParaRPr lang="ar-AE" sz="2400" b="0" i="0" dirty="0">
                  <a:solidFill>
                    <a:srgbClr val="27251E"/>
                  </a:solidFill>
                  <a:effectLst/>
                  <a:latin typeface="pplxSerif"/>
                </a:endParaRPr>
              </a:p>
              <a:p>
                <a:pPr algn="l"/>
                <a:r>
                  <a:rPr lang="en-IN" sz="2400" b="0" i="0" dirty="0">
                    <a:solidFill>
                      <a:srgbClr val="27251E"/>
                    </a:solidFill>
                    <a:effectLst/>
                    <a:latin typeface="pplxSerif"/>
                  </a:rPr>
                  <a:t>Shape of one head output: </a:t>
                </a:r>
                <a14:m>
                  <m:oMath xmlns:m="http://schemas.openxmlformats.org/officeDocument/2006/math">
                    <m:d>
                      <m:dPr>
                        <m:begChr m:val="["/>
                        <m:endChr m:val="]"/>
                        <m:ctrlPr>
                          <a:rPr lang="ar-AE" sz="2400" i="1">
                            <a:latin typeface="Cambria Math" panose="02040503050406030204" pitchFamily="18" charset="0"/>
                          </a:rPr>
                        </m:ctrlPr>
                      </m:dPr>
                      <m:e>
                        <m:r>
                          <a:rPr lang="ar-AE" sz="2400" i="1">
                            <a:latin typeface="Cambria Math" panose="02040503050406030204" pitchFamily="18" charset="0"/>
                          </a:rPr>
                          <m:t>𝑁</m:t>
                        </m:r>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𝑑</m:t>
                            </m:r>
                          </m:e>
                          <m:sub>
                            <m:r>
                              <a:rPr lang="ar-AE" sz="2400" i="1">
                                <a:latin typeface="Cambria Math" panose="02040503050406030204" pitchFamily="18" charset="0"/>
                              </a:rPr>
                              <m:t>𝑣</m:t>
                            </m:r>
                          </m:sub>
                        </m:sSub>
                      </m:e>
                    </m:d>
                  </m:oMath>
                </a14:m>
                <a:endParaRPr lang="ar-AE" sz="2400" b="0" i="0" dirty="0">
                  <a:solidFill>
                    <a:srgbClr val="27251E"/>
                  </a:solidFill>
                  <a:effectLst/>
                  <a:latin typeface="pplxSerif"/>
                </a:endParaRPr>
              </a:p>
              <a:p>
                <a:r>
                  <a:rPr lang="en-IN" sz="2400" b="0" i="0" dirty="0">
                    <a:solidFill>
                      <a:srgbClr val="27251E"/>
                    </a:solidFill>
                    <a:effectLst/>
                    <a:latin typeface="pplxSerif"/>
                  </a:rPr>
                  <a:t>Shape after concatenating </a:t>
                </a:r>
                <a14:m>
                  <m:oMath xmlns:m="http://schemas.openxmlformats.org/officeDocument/2006/math">
                    <m:r>
                      <a:rPr lang="en-IN" sz="2400" i="1">
                        <a:latin typeface="Cambria Math" panose="02040503050406030204" pitchFamily="18" charset="0"/>
                      </a:rPr>
                      <m:t>h</m:t>
                    </m:r>
                  </m:oMath>
                </a14:m>
                <a:r>
                  <a:rPr lang="en-IN" sz="2400" b="0" i="0" dirty="0">
                    <a:solidFill>
                      <a:srgbClr val="27251E"/>
                    </a:solidFill>
                    <a:effectLst/>
                    <a:latin typeface="pplxSerif"/>
                  </a:rPr>
                  <a:t> heads: </a:t>
                </a:r>
                <a:r>
                  <a:rPr lang="ar-AE" sz="2400" dirty="0"/>
                  <a:t> </a:t>
                </a:r>
                <a14:m>
                  <m:oMath xmlns:m="http://schemas.openxmlformats.org/officeDocument/2006/math">
                    <m:d>
                      <m:dPr>
                        <m:begChr m:val="["/>
                        <m:endChr m:val="]"/>
                        <m:ctrlPr>
                          <a:rPr lang="ar-AE" sz="2400" i="1">
                            <a:latin typeface="Cambria Math" panose="02040503050406030204" pitchFamily="18" charset="0"/>
                          </a:rPr>
                        </m:ctrlPr>
                      </m:dPr>
                      <m:e>
                        <m:r>
                          <a:rPr lang="ar-AE" sz="2400" i="1">
                            <a:latin typeface="Cambria Math" panose="02040503050406030204" pitchFamily="18" charset="0"/>
                          </a:rPr>
                          <m:t>𝑁</m:t>
                        </m:r>
                        <m:r>
                          <a:rPr lang="ar-AE" sz="2400">
                            <a:latin typeface="Cambria Math" panose="02040503050406030204" pitchFamily="18" charset="0"/>
                          </a:rPr>
                          <m:t>×</m:t>
                        </m:r>
                        <m:d>
                          <m:dPr>
                            <m:ctrlPr>
                              <a:rPr lang="ar-AE" sz="2400" i="1">
                                <a:latin typeface="Cambria Math" panose="02040503050406030204" pitchFamily="18" charset="0"/>
                              </a:rPr>
                            </m:ctrlPr>
                          </m:dPr>
                          <m:e>
                            <m:r>
                              <a:rPr lang="ar-AE" sz="2400" i="1">
                                <a:latin typeface="Cambria Math" panose="02040503050406030204" pitchFamily="18" charset="0"/>
                              </a:rPr>
                              <m:t>h</m:t>
                            </m:r>
                            <m:sSub>
                              <m:sSubPr>
                                <m:ctrlPr>
                                  <a:rPr lang="ar-AE" sz="2400" i="1">
                                    <a:latin typeface="Cambria Math" panose="02040503050406030204" pitchFamily="18" charset="0"/>
                                  </a:rPr>
                                </m:ctrlPr>
                              </m:sSubPr>
                              <m:e>
                                <m:r>
                                  <a:rPr lang="ar-AE" sz="2400" i="1">
                                    <a:latin typeface="Cambria Math" panose="02040503050406030204" pitchFamily="18" charset="0"/>
                                  </a:rPr>
                                  <m:t>𝑑</m:t>
                                </m:r>
                              </m:e>
                              <m:sub>
                                <m:r>
                                  <a:rPr lang="ar-AE" sz="2400" i="1">
                                    <a:latin typeface="Cambria Math" panose="02040503050406030204" pitchFamily="18" charset="0"/>
                                  </a:rPr>
                                  <m:t>𝑣</m:t>
                                </m:r>
                              </m:sub>
                            </m:sSub>
                          </m:e>
                        </m:d>
                      </m:e>
                    </m:d>
                  </m:oMath>
                </a14:m>
                <a:endParaRPr lang="ar-AE" sz="2400" b="0" i="0" dirty="0">
                  <a:solidFill>
                    <a:srgbClr val="27251E"/>
                  </a:solidFill>
                  <a:effectLst/>
                  <a:latin typeface="pplxSerif"/>
                </a:endParaRPr>
              </a:p>
              <a:p>
                <a:pPr algn="l"/>
                <a:r>
                  <a:rPr lang="en-IN" sz="2400" b="0" i="0" dirty="0">
                    <a:solidFill>
                      <a:srgbClr val="27251E"/>
                    </a:solidFill>
                    <a:effectLst/>
                    <a:latin typeface="pplxSerif"/>
                  </a:rPr>
                  <a:t>Shape of final output projection </a:t>
                </a:r>
                <a14:m>
                  <m:oMath xmlns:m="http://schemas.openxmlformats.org/officeDocument/2006/math">
                    <m:sSup>
                      <m:sSupPr>
                        <m:ctrlPr>
                          <a:rPr lang="ar-AE" sz="2400" i="1">
                            <a:latin typeface="Cambria Math" panose="02040503050406030204" pitchFamily="18" charset="0"/>
                          </a:rPr>
                        </m:ctrlPr>
                      </m:sSupPr>
                      <m:e>
                        <m:r>
                          <a:rPr lang="ar-AE" sz="2400" i="1">
                            <a:latin typeface="Cambria Math" panose="02040503050406030204" pitchFamily="18" charset="0"/>
                          </a:rPr>
                          <m:t>𝑊</m:t>
                        </m:r>
                      </m:e>
                      <m:sup>
                        <m:r>
                          <a:rPr lang="ar-AE" sz="2400" i="1">
                            <a:latin typeface="Cambria Math" panose="02040503050406030204" pitchFamily="18" charset="0"/>
                          </a:rPr>
                          <m:t>𝑂</m:t>
                        </m:r>
                      </m:sup>
                    </m:sSup>
                  </m:oMath>
                </a14:m>
                <a:r>
                  <a:rPr lang="ar-AE" sz="2400" b="0" i="0" dirty="0">
                    <a:solidFill>
                      <a:srgbClr val="27251E"/>
                    </a:solidFill>
                    <a:effectLst/>
                    <a:latin typeface="pplxSerif"/>
                  </a:rPr>
                  <a:t>: </a:t>
                </a:r>
                <a14:m>
                  <m:oMath xmlns:m="http://schemas.openxmlformats.org/officeDocument/2006/math">
                    <m:d>
                      <m:dPr>
                        <m:begChr m:val="["/>
                        <m:endChr m:val="]"/>
                        <m:ctrlPr>
                          <a:rPr lang="ar-AE" sz="2400" i="1" smtClean="0">
                            <a:latin typeface="Cambria Math" panose="02040503050406030204" pitchFamily="18" charset="0"/>
                          </a:rPr>
                        </m:ctrlPr>
                      </m:dPr>
                      <m:e>
                        <m:r>
                          <a:rPr lang="ar-AE" sz="2400" i="1">
                            <a:latin typeface="Cambria Math" panose="02040503050406030204" pitchFamily="18" charset="0"/>
                          </a:rPr>
                          <m:t>h</m:t>
                        </m:r>
                        <m:sSub>
                          <m:sSubPr>
                            <m:ctrlPr>
                              <a:rPr lang="ar-AE" sz="2400" i="1">
                                <a:latin typeface="Cambria Math" panose="02040503050406030204" pitchFamily="18" charset="0"/>
                              </a:rPr>
                            </m:ctrlPr>
                          </m:sSubPr>
                          <m:e>
                            <m:r>
                              <a:rPr lang="ar-AE" sz="2400" i="1">
                                <a:latin typeface="Cambria Math" panose="02040503050406030204" pitchFamily="18" charset="0"/>
                              </a:rPr>
                              <m:t>𝑑</m:t>
                            </m:r>
                          </m:e>
                          <m:sub>
                            <m:r>
                              <a:rPr lang="ar-AE" sz="2400" i="1">
                                <a:latin typeface="Cambria Math" panose="02040503050406030204" pitchFamily="18" charset="0"/>
                              </a:rPr>
                              <m:t>𝑣</m:t>
                            </m:r>
                          </m:sub>
                        </m:sSub>
                        <m:r>
                          <a:rPr lang="ar-AE" sz="2400" i="0">
                            <a:latin typeface="Cambria Math" panose="02040503050406030204" pitchFamily="18" charset="0"/>
                          </a:rPr>
                          <m:t>×</m:t>
                        </m:r>
                        <m:r>
                          <a:rPr lang="en-US" sz="2400" i="1" smtClean="0">
                            <a:latin typeface="Cambria Math" panose="02040503050406030204" pitchFamily="18" charset="0"/>
                          </a:rPr>
                          <m:t>𝑑</m:t>
                        </m:r>
                      </m:e>
                    </m:d>
                  </m:oMath>
                </a14:m>
                <a:r>
                  <a:rPr lang="ar-AE" sz="2400" b="0" i="0" dirty="0">
                    <a:solidFill>
                      <a:srgbClr val="27251E"/>
                    </a:solidFill>
                    <a:effectLst/>
                    <a:latin typeface="pplxSerif"/>
                  </a:rPr>
                  <a:t>.</a:t>
                </a:r>
              </a:p>
              <a:p>
                <a:pPr algn="l"/>
                <a:r>
                  <a:rPr lang="en-IN" sz="2400" b="0" i="0" dirty="0">
                    <a:solidFill>
                      <a:srgbClr val="FF0000"/>
                    </a:solidFill>
                    <a:effectLst/>
                    <a:latin typeface="pplxSerif"/>
                  </a:rPr>
                  <a:t>Shape of multi-head attention output: </a:t>
                </a:r>
                <a14:m>
                  <m:oMath xmlns:m="http://schemas.openxmlformats.org/officeDocument/2006/math">
                    <m:d>
                      <m:dPr>
                        <m:begChr m:val="["/>
                        <m:endChr m:val="]"/>
                        <m:ctrlPr>
                          <a:rPr lang="ar-AE" sz="2400" i="1">
                            <a:solidFill>
                              <a:srgbClr val="FF0000"/>
                            </a:solidFill>
                            <a:latin typeface="Cambria Math" panose="02040503050406030204" pitchFamily="18" charset="0"/>
                          </a:rPr>
                        </m:ctrlPr>
                      </m:dPr>
                      <m:e>
                        <m:r>
                          <a:rPr lang="ar-AE" sz="2400" i="1">
                            <a:solidFill>
                              <a:srgbClr val="FF0000"/>
                            </a:solidFill>
                            <a:latin typeface="Cambria Math" panose="02040503050406030204" pitchFamily="18" charset="0"/>
                          </a:rPr>
                          <m:t>𝑁</m:t>
                        </m:r>
                        <m:r>
                          <a:rPr lang="ar-AE" sz="2400" i="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𝑑</m:t>
                        </m:r>
                      </m:e>
                    </m:d>
                  </m:oMath>
                </a14:m>
                <a:endParaRPr lang="ar-AE" sz="2400" b="0" i="0" dirty="0">
                  <a:solidFill>
                    <a:srgbClr val="27251E"/>
                  </a:solidFill>
                  <a:effectLst/>
                  <a:latin typeface="pplxSerif"/>
                </a:endParaRPr>
              </a:p>
            </p:txBody>
          </p:sp>
        </mc:Choice>
        <mc:Fallback>
          <p:sp>
            <p:nvSpPr>
              <p:cNvPr id="4" name="TextBox 3">
                <a:extLst>
                  <a:ext uri="{FF2B5EF4-FFF2-40B4-BE49-F238E27FC236}">
                    <a16:creationId xmlns:a16="http://schemas.microsoft.com/office/drawing/2014/main" id="{B8B3AB49-0DD6-E869-D491-B01ED43C96E1}"/>
                  </a:ext>
                </a:extLst>
              </p:cNvPr>
              <p:cNvSpPr txBox="1">
                <a:spLocks noRot="1" noChangeAspect="1" noMove="1" noResize="1" noEditPoints="1" noAdjustHandles="1" noChangeArrowheads="1" noChangeShapeType="1" noTextEdit="1"/>
              </p:cNvSpPr>
              <p:nvPr/>
            </p:nvSpPr>
            <p:spPr>
              <a:xfrm>
                <a:off x="211192" y="2660465"/>
                <a:ext cx="6415640" cy="3859326"/>
              </a:xfrm>
              <a:prstGeom prst="rect">
                <a:avLst/>
              </a:prstGeom>
              <a:blipFill>
                <a:blip r:embed="rId2"/>
                <a:stretch>
                  <a:fillRect l="-1521" t="-1262" b="-2524"/>
                </a:stretch>
              </a:blipFill>
            </p:spPr>
            <p:txBody>
              <a:bodyPr/>
              <a:lstStyle/>
              <a:p>
                <a:r>
                  <a:rPr lang="en-IN">
                    <a:noFill/>
                  </a:rPr>
                  <a:t> </a:t>
                </a:r>
              </a:p>
            </p:txBody>
          </p:sp>
        </mc:Fallback>
      </mc:AlternateContent>
      <p:sp>
        <p:nvSpPr>
          <p:cNvPr id="8" name="Rectangle 7">
            <a:extLst>
              <a:ext uri="{FF2B5EF4-FFF2-40B4-BE49-F238E27FC236}">
                <a16:creationId xmlns:a16="http://schemas.microsoft.com/office/drawing/2014/main" id="{2C3783EF-7088-3328-57A5-5496ECF20F9A}"/>
              </a:ext>
            </a:extLst>
          </p:cNvPr>
          <p:cNvSpPr/>
          <p:nvPr/>
        </p:nvSpPr>
        <p:spPr>
          <a:xfrm>
            <a:off x="6414053" y="875826"/>
            <a:ext cx="5700916" cy="1631216"/>
          </a:xfrm>
          <a:prstGeom prst="rect">
            <a:avLst/>
          </a:prstGeom>
          <a:solidFill>
            <a:schemeClr val="accent2">
              <a:lumMod val="20000"/>
              <a:lumOff val="80000"/>
            </a:schemeClr>
          </a:solidFill>
        </p:spPr>
        <p:txBody>
          <a:bodyPr wrap="square">
            <a:spAutoFit/>
          </a:bodyPr>
          <a:lstStyle/>
          <a:p>
            <a:r>
              <a:rPr lang="en-US" sz="2000" b="1" kern="0" dirty="0">
                <a:solidFill>
                  <a:sysClr val="windowText" lastClr="000000"/>
                </a:solidFill>
              </a:rPr>
              <a:t>Input </a:t>
            </a:r>
            <a:r>
              <a:rPr lang="en-US" sz="2000" kern="0" dirty="0">
                <a:solidFill>
                  <a:sysClr val="windowText" lastClr="000000"/>
                </a:solidFill>
              </a:rPr>
              <a:t>sequence length N=4,  </a:t>
            </a:r>
            <a:r>
              <a:rPr lang="en-US" sz="2000" b="1" kern="0" dirty="0">
                <a:solidFill>
                  <a:sysClr val="windowText" lastClr="000000"/>
                </a:solidFill>
              </a:rPr>
              <a:t>d = </a:t>
            </a:r>
            <a:r>
              <a:rPr lang="en-US" sz="2000" kern="0" dirty="0">
                <a:solidFill>
                  <a:sysClr val="windowText" lastClr="000000"/>
                </a:solidFill>
              </a:rPr>
              <a:t> 512</a:t>
            </a:r>
          </a:p>
          <a:p>
            <a:r>
              <a:rPr lang="en-US" sz="2000" b="1" kern="0" dirty="0">
                <a:solidFill>
                  <a:sysClr val="windowText" lastClr="000000"/>
                </a:solidFill>
              </a:rPr>
              <a:t>Number of Attention Heads (A) </a:t>
            </a:r>
            <a:r>
              <a:rPr lang="en-US" sz="2000" kern="0" dirty="0">
                <a:solidFill>
                  <a:sysClr val="windowText" lastClr="000000"/>
                </a:solidFill>
              </a:rPr>
              <a:t>=8</a:t>
            </a:r>
          </a:p>
          <a:p>
            <a:r>
              <a:rPr lang="en-US" sz="2000" b="1" kern="0" dirty="0">
                <a:solidFill>
                  <a:sysClr val="windowText" lastClr="000000"/>
                </a:solidFill>
              </a:rPr>
              <a:t>Dimension of </a:t>
            </a:r>
            <a:r>
              <a:rPr lang="en-US" sz="2000" b="1" kern="0" dirty="0" err="1">
                <a:solidFill>
                  <a:sysClr val="windowText" lastClr="000000"/>
                </a:solidFill>
              </a:rPr>
              <a:t>dk</a:t>
            </a:r>
            <a:r>
              <a:rPr lang="en-US" sz="2000" b="1" kern="0" dirty="0">
                <a:solidFill>
                  <a:sysClr val="windowText" lastClr="000000"/>
                </a:solidFill>
              </a:rPr>
              <a:t>​ and dv​:</a:t>
            </a:r>
            <a:r>
              <a:rPr lang="en-US" sz="2000" kern="0" dirty="0">
                <a:solidFill>
                  <a:sysClr val="windowText" lastClr="000000"/>
                </a:solidFill>
              </a:rPr>
              <a:t> </a:t>
            </a:r>
            <a:r>
              <a:rPr lang="en-US" sz="2000" kern="0" dirty="0" err="1">
                <a:solidFill>
                  <a:sysClr val="windowText" lastClr="000000"/>
                </a:solidFill>
              </a:rPr>
              <a:t>d</a:t>
            </a:r>
            <a:r>
              <a:rPr lang="en-US" sz="2000" kern="0" baseline="-25000" dirty="0" err="1">
                <a:solidFill>
                  <a:sysClr val="windowText" lastClr="000000"/>
                </a:solidFill>
              </a:rPr>
              <a:t>k</a:t>
            </a:r>
            <a:r>
              <a:rPr lang="en-US" sz="2000" kern="0" dirty="0">
                <a:solidFill>
                  <a:sysClr val="windowText" lastClr="000000"/>
                </a:solidFill>
              </a:rPr>
              <a:t>​=d</a:t>
            </a:r>
            <a:r>
              <a:rPr lang="en-US" sz="2000" kern="0" baseline="-25000" dirty="0">
                <a:solidFill>
                  <a:sysClr val="windowText" lastClr="000000"/>
                </a:solidFill>
              </a:rPr>
              <a:t>v</a:t>
            </a:r>
            <a:r>
              <a:rPr lang="en-US" sz="2000" kern="0" dirty="0">
                <a:solidFill>
                  <a:sysClr val="windowText" lastClr="000000"/>
                </a:solidFill>
              </a:rPr>
              <a:t>​=d/A=512/8=64 (Each head will work with smaller, 64-dimensional vectors instead of full 512)</a:t>
            </a:r>
          </a:p>
        </p:txBody>
      </p:sp>
      <p:sp>
        <p:nvSpPr>
          <p:cNvPr id="9" name="Rectangle 8">
            <a:extLst>
              <a:ext uri="{FF2B5EF4-FFF2-40B4-BE49-F238E27FC236}">
                <a16:creationId xmlns:a16="http://schemas.microsoft.com/office/drawing/2014/main" id="{4031F1D1-86EC-5EEB-19F2-F5B4C885E616}"/>
              </a:ext>
            </a:extLst>
          </p:cNvPr>
          <p:cNvSpPr/>
          <p:nvPr/>
        </p:nvSpPr>
        <p:spPr>
          <a:xfrm>
            <a:off x="6414053" y="2660465"/>
            <a:ext cx="5700916" cy="3477875"/>
          </a:xfrm>
          <a:prstGeom prst="rect">
            <a:avLst/>
          </a:prstGeom>
          <a:solidFill>
            <a:schemeClr val="accent2">
              <a:lumMod val="20000"/>
              <a:lumOff val="80000"/>
            </a:schemeClr>
          </a:solidFill>
        </p:spPr>
        <p:txBody>
          <a:bodyPr wrap="square">
            <a:spAutoFit/>
          </a:bodyPr>
          <a:lstStyle/>
          <a:p>
            <a:pPr eaLnBrk="0" fontAlgn="base" hangingPunct="0">
              <a:spcBef>
                <a:spcPct val="0"/>
              </a:spcBef>
              <a:spcAft>
                <a:spcPct val="0"/>
              </a:spcAft>
            </a:pPr>
            <a:r>
              <a:rPr lang="en-US" altLang="en-US" sz="2000" kern="0" dirty="0">
                <a:solidFill>
                  <a:srgbClr val="FF0000"/>
                </a:solidFill>
              </a:rPr>
              <a:t>Shape of input X : [4×512]</a:t>
            </a:r>
          </a:p>
          <a:p>
            <a:pPr eaLnBrk="0" fontAlgn="base" hangingPunct="0">
              <a:spcBef>
                <a:spcPct val="0"/>
              </a:spcBef>
              <a:spcAft>
                <a:spcPct val="0"/>
              </a:spcAft>
            </a:pPr>
            <a:r>
              <a:rPr lang="en-US" altLang="en-US" sz="2000" kern="0" dirty="0"/>
              <a:t>Shape of projection matrices W: →[512×64]</a:t>
            </a:r>
          </a:p>
          <a:p>
            <a:r>
              <a:rPr lang="en-US" sz="2000" dirty="0"/>
              <a:t>Shape of Q :[4 × 64 ]</a:t>
            </a:r>
          </a:p>
          <a:p>
            <a:r>
              <a:rPr lang="en-US" sz="2000" dirty="0"/>
              <a:t>Shape of K : [4 × 64 ]</a:t>
            </a:r>
          </a:p>
          <a:p>
            <a:r>
              <a:rPr lang="en-US" sz="2000" dirty="0"/>
              <a:t>Shape of V : [4 × 64] </a:t>
            </a:r>
          </a:p>
          <a:p>
            <a:r>
              <a:rPr lang="en-US" sz="2000" dirty="0"/>
              <a:t>Shape of one head output:[4 x 64]</a:t>
            </a:r>
          </a:p>
          <a:p>
            <a:r>
              <a:rPr lang="en-US" sz="2000" dirty="0"/>
              <a:t>Shape of concatenated outputs of 8 heads : </a:t>
            </a:r>
            <a:r>
              <a:rPr lang="en-US" altLang="en-US" sz="2000" kern="0" dirty="0">
                <a:solidFill>
                  <a:sysClr val="windowText" lastClr="000000"/>
                </a:solidFill>
              </a:rPr>
              <a:t>[4×(8×64)] = [4×512]</a:t>
            </a:r>
          </a:p>
          <a:p>
            <a:r>
              <a:rPr lang="en-US" sz="2000" kern="0" dirty="0">
                <a:solidFill>
                  <a:sysClr val="windowText" lastClr="000000"/>
                </a:solidFill>
              </a:rPr>
              <a:t>W</a:t>
            </a:r>
            <a:r>
              <a:rPr lang="en-US" sz="2000" kern="0" baseline="30000" dirty="0">
                <a:solidFill>
                  <a:sysClr val="windowText" lastClr="000000"/>
                </a:solidFill>
              </a:rPr>
              <a:t>O </a:t>
            </a:r>
            <a:r>
              <a:rPr lang="en-US" sz="2000" kern="0" dirty="0">
                <a:solidFill>
                  <a:sysClr val="windowText" lastClr="000000"/>
                </a:solidFill>
              </a:rPr>
              <a:t>of shape: [(8 x 64) x 512] =  [512 x 512]</a:t>
            </a:r>
          </a:p>
          <a:p>
            <a:pPr eaLnBrk="0" fontAlgn="base" hangingPunct="0">
              <a:spcBef>
                <a:spcPct val="0"/>
              </a:spcBef>
              <a:spcAft>
                <a:spcPct val="0"/>
              </a:spcAft>
            </a:pPr>
            <a:r>
              <a:rPr lang="en-US" sz="2000" dirty="0">
                <a:solidFill>
                  <a:srgbClr val="FF0000"/>
                </a:solidFill>
              </a:rPr>
              <a:t>Shape of final </a:t>
            </a:r>
            <a:r>
              <a:rPr lang="en-US" sz="2000" dirty="0" err="1">
                <a:solidFill>
                  <a:srgbClr val="FF0000"/>
                </a:solidFill>
              </a:rPr>
              <a:t>multihead</a:t>
            </a:r>
            <a:r>
              <a:rPr lang="en-US" sz="2000" dirty="0">
                <a:solidFill>
                  <a:srgbClr val="FF0000"/>
                </a:solidFill>
              </a:rPr>
              <a:t>-attention output A </a:t>
            </a:r>
            <a:r>
              <a:rPr lang="en-US" sz="2000" kern="0" dirty="0">
                <a:solidFill>
                  <a:srgbClr val="FF0000"/>
                </a:solidFill>
              </a:rPr>
              <a:t> </a:t>
            </a:r>
            <a:r>
              <a:rPr lang="en-US" altLang="en-US" sz="2000" kern="0" dirty="0">
                <a:solidFill>
                  <a:srgbClr val="FF0000"/>
                </a:solidFill>
              </a:rPr>
              <a:t>: [4×512]</a:t>
            </a:r>
          </a:p>
        </p:txBody>
      </p:sp>
      <p:pic>
        <p:nvPicPr>
          <p:cNvPr id="12" name="Picture 11">
            <a:extLst>
              <a:ext uri="{FF2B5EF4-FFF2-40B4-BE49-F238E27FC236}">
                <a16:creationId xmlns:a16="http://schemas.microsoft.com/office/drawing/2014/main" id="{D8D95B85-FA56-F4CB-64D9-A12F44E441C3}"/>
              </a:ext>
            </a:extLst>
          </p:cNvPr>
          <p:cNvPicPr>
            <a:picLocks noChangeAspect="1"/>
          </p:cNvPicPr>
          <p:nvPr/>
        </p:nvPicPr>
        <p:blipFill>
          <a:blip r:embed="rId3"/>
          <a:stretch>
            <a:fillRect/>
          </a:stretch>
        </p:blipFill>
        <p:spPr>
          <a:xfrm>
            <a:off x="77031" y="1182671"/>
            <a:ext cx="6018969" cy="1324371"/>
          </a:xfrm>
          <a:prstGeom prst="rect">
            <a:avLst/>
          </a:prstGeom>
        </p:spPr>
      </p:pic>
    </p:spTree>
    <p:extLst>
      <p:ext uri="{BB962C8B-B14F-4D97-AF65-F5344CB8AC3E}">
        <p14:creationId xmlns:p14="http://schemas.microsoft.com/office/powerpoint/2010/main" val="21574629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119938" y="-21691"/>
            <a:ext cx="8432800" cy="698637"/>
          </a:xfrm>
        </p:spPr>
        <p:txBody>
          <a:bodyPr>
            <a:normAutofit/>
          </a:bodyPr>
          <a:lstStyle/>
          <a:p>
            <a:r>
              <a:rPr lang="en-US" sz="2800" dirty="0"/>
              <a:t>Transformer block</a:t>
            </a:r>
            <a:endParaRPr lang="en-IN" sz="2800" dirty="0"/>
          </a:p>
        </p:txBody>
      </p:sp>
      <p:pic>
        <p:nvPicPr>
          <p:cNvPr id="6" name="Picture 5"/>
          <p:cNvPicPr>
            <a:picLocks noChangeAspect="1"/>
          </p:cNvPicPr>
          <p:nvPr/>
        </p:nvPicPr>
        <p:blipFill>
          <a:blip r:embed="rId2"/>
          <a:stretch>
            <a:fillRect/>
          </a:stretch>
        </p:blipFill>
        <p:spPr>
          <a:xfrm>
            <a:off x="406400" y="5621828"/>
            <a:ext cx="4903953" cy="894882"/>
          </a:xfrm>
          <a:prstGeom prst="rect">
            <a:avLst/>
          </a:prstGeom>
        </p:spPr>
      </p:pic>
      <p:pic>
        <p:nvPicPr>
          <p:cNvPr id="7" name="Picture 6"/>
          <p:cNvPicPr>
            <a:picLocks noChangeAspect="1"/>
          </p:cNvPicPr>
          <p:nvPr/>
        </p:nvPicPr>
        <p:blipFill>
          <a:blip r:embed="rId3"/>
          <a:stretch>
            <a:fillRect/>
          </a:stretch>
        </p:blipFill>
        <p:spPr>
          <a:xfrm>
            <a:off x="7339418" y="3572291"/>
            <a:ext cx="3670124" cy="2199472"/>
          </a:xfrm>
          <a:prstGeom prst="rect">
            <a:avLst/>
          </a:prstGeom>
        </p:spPr>
      </p:pic>
      <p:sp>
        <p:nvSpPr>
          <p:cNvPr id="8" name="Rectangle 7"/>
          <p:cNvSpPr/>
          <p:nvPr/>
        </p:nvSpPr>
        <p:spPr>
          <a:xfrm>
            <a:off x="5858722" y="2270666"/>
            <a:ext cx="6096000" cy="1323439"/>
          </a:xfrm>
          <a:prstGeom prst="rect">
            <a:avLst/>
          </a:prstGeom>
        </p:spPr>
        <p:txBody>
          <a:bodyPr>
            <a:spAutoFit/>
          </a:bodyPr>
          <a:lstStyle/>
          <a:p>
            <a:r>
              <a:rPr lang="en-US" sz="2000" dirty="0"/>
              <a:t>X : input to the layer</a:t>
            </a:r>
          </a:p>
          <a:p>
            <a:r>
              <a:rPr lang="en-US" sz="2000" dirty="0"/>
              <a:t>T (of shape [N ×d]) transformer computation and superscripts to demarcate each computation inside the block</a:t>
            </a:r>
            <a:endParaRPr lang="en-IN" sz="2000" dirty="0"/>
          </a:p>
        </p:txBody>
      </p:sp>
      <p:pic>
        <p:nvPicPr>
          <p:cNvPr id="4" name="Picture 3"/>
          <p:cNvPicPr>
            <a:picLocks noChangeAspect="1"/>
          </p:cNvPicPr>
          <p:nvPr/>
        </p:nvPicPr>
        <p:blipFill>
          <a:blip r:embed="rId4"/>
          <a:stretch>
            <a:fillRect/>
          </a:stretch>
        </p:blipFill>
        <p:spPr>
          <a:xfrm>
            <a:off x="134604" y="676946"/>
            <a:ext cx="5709452" cy="4944882"/>
          </a:xfrm>
          <a:prstGeom prst="rect">
            <a:avLst/>
          </a:prstGeom>
        </p:spPr>
      </p:pic>
      <p:sp>
        <p:nvSpPr>
          <p:cNvPr id="3" name="Rectangle 2"/>
          <p:cNvSpPr/>
          <p:nvPr/>
        </p:nvSpPr>
        <p:spPr>
          <a:xfrm>
            <a:off x="6096000" y="1310704"/>
            <a:ext cx="5425524" cy="646331"/>
          </a:xfrm>
          <a:prstGeom prst="rect">
            <a:avLst/>
          </a:prstGeom>
          <a:solidFill>
            <a:schemeClr val="accent2">
              <a:lumMod val="40000"/>
              <a:lumOff val="60000"/>
            </a:schemeClr>
          </a:solidFill>
        </p:spPr>
        <p:txBody>
          <a:bodyPr wrap="none">
            <a:spAutoFit/>
          </a:bodyPr>
          <a:lstStyle/>
          <a:p>
            <a:r>
              <a:rPr lang="en-US" dirty="0">
                <a:solidFill>
                  <a:srgbClr val="363737"/>
                </a:solidFill>
                <a:latin typeface="Spectral"/>
              </a:rPr>
              <a:t>We use transformers to create generative models </a:t>
            </a:r>
          </a:p>
          <a:p>
            <a:r>
              <a:rPr lang="en-US" dirty="0">
                <a:solidFill>
                  <a:srgbClr val="363737"/>
                </a:solidFill>
                <a:latin typeface="Spectral"/>
              </a:rPr>
              <a:t>by using only decoders</a:t>
            </a:r>
            <a:endParaRPr lang="en-IN" dirty="0"/>
          </a:p>
        </p:txBody>
      </p:sp>
    </p:spTree>
    <p:extLst>
      <p:ext uri="{BB962C8B-B14F-4D97-AF65-F5344CB8AC3E}">
        <p14:creationId xmlns:p14="http://schemas.microsoft.com/office/powerpoint/2010/main" val="120070493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Layer Normalization and FFNN</a:t>
            </a:r>
            <a:endParaRPr lang="en-IN" dirty="0"/>
          </a:p>
        </p:txBody>
      </p:sp>
      <p:pic>
        <p:nvPicPr>
          <p:cNvPr id="3" name="Picture 2"/>
          <p:cNvPicPr>
            <a:picLocks noChangeAspect="1"/>
          </p:cNvPicPr>
          <p:nvPr/>
        </p:nvPicPr>
        <p:blipFill>
          <a:blip r:embed="rId3"/>
          <a:stretch>
            <a:fillRect/>
          </a:stretch>
        </p:blipFill>
        <p:spPr>
          <a:xfrm>
            <a:off x="235552" y="2616556"/>
            <a:ext cx="2270812" cy="1457683"/>
          </a:xfrm>
          <a:prstGeom prst="rect">
            <a:avLst/>
          </a:prstGeom>
        </p:spPr>
      </p:pic>
      <p:pic>
        <p:nvPicPr>
          <p:cNvPr id="5" name="Picture 4"/>
          <p:cNvPicPr>
            <a:picLocks noChangeAspect="1"/>
          </p:cNvPicPr>
          <p:nvPr/>
        </p:nvPicPr>
        <p:blipFill>
          <a:blip r:embed="rId4"/>
          <a:stretch>
            <a:fillRect/>
          </a:stretch>
        </p:blipFill>
        <p:spPr>
          <a:xfrm>
            <a:off x="2433033" y="2736466"/>
            <a:ext cx="1942105" cy="692534"/>
          </a:xfrm>
          <a:prstGeom prst="rect">
            <a:avLst/>
          </a:prstGeom>
        </p:spPr>
      </p:pic>
      <p:pic>
        <p:nvPicPr>
          <p:cNvPr id="6" name="Picture 5"/>
          <p:cNvPicPr>
            <a:picLocks noChangeAspect="1"/>
          </p:cNvPicPr>
          <p:nvPr/>
        </p:nvPicPr>
        <p:blipFill>
          <a:blip r:embed="rId5"/>
          <a:stretch>
            <a:fillRect/>
          </a:stretch>
        </p:blipFill>
        <p:spPr>
          <a:xfrm>
            <a:off x="2893155" y="3391437"/>
            <a:ext cx="3466027" cy="632316"/>
          </a:xfrm>
          <a:prstGeom prst="rect">
            <a:avLst/>
          </a:prstGeom>
        </p:spPr>
      </p:pic>
      <p:sp>
        <p:nvSpPr>
          <p:cNvPr id="7" name="Rectangle 6"/>
          <p:cNvSpPr/>
          <p:nvPr/>
        </p:nvSpPr>
        <p:spPr>
          <a:xfrm>
            <a:off x="46060" y="1493984"/>
            <a:ext cx="11789769" cy="1015663"/>
          </a:xfrm>
          <a:prstGeom prst="rect">
            <a:avLst/>
          </a:prstGeom>
          <a:ln>
            <a:solidFill>
              <a:schemeClr val="tx1"/>
            </a:solidFill>
          </a:ln>
        </p:spPr>
        <p:txBody>
          <a:bodyPr wrap="square">
            <a:spAutoFit/>
          </a:bodyPr>
          <a:lstStyle/>
          <a:p>
            <a:pPr marL="285750" indent="-285750">
              <a:buFont typeface="Arial" panose="020B0604020202020204" pitchFamily="34" charset="0"/>
              <a:buChar char="•"/>
            </a:pPr>
            <a:r>
              <a:rPr lang="en-US" sz="2000" dirty="0" err="1">
                <a:latin typeface="Cambria" panose="02040503050406030204" pitchFamily="18" charset="0"/>
                <a:ea typeface="Cambria" panose="02040503050406030204" pitchFamily="18" charset="0"/>
              </a:rPr>
              <a:t>LayerNorm</a:t>
            </a:r>
            <a:r>
              <a:rPr lang="en-US" sz="2000" dirty="0">
                <a:latin typeface="Cambria" panose="02040503050406030204" pitchFamily="18" charset="0"/>
                <a:ea typeface="Cambria" panose="02040503050406030204" pitchFamily="18" charset="0"/>
              </a:rPr>
              <a:t> is applied independently to each token’s hidden vector, normalizing across the feature dimension</a:t>
            </a:r>
          </a:p>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Standard implementation of layer normalization has two learnable parameters, γ and β</a:t>
            </a:r>
            <a:endParaRPr lang="en-IN" sz="2000" dirty="0">
              <a:latin typeface="Cambria" panose="02040503050406030204" pitchFamily="18" charset="0"/>
              <a:ea typeface="Cambria" panose="02040503050406030204" pitchFamily="18" charset="0"/>
            </a:endParaRPr>
          </a:p>
        </p:txBody>
      </p:sp>
      <p:sp>
        <p:nvSpPr>
          <p:cNvPr id="8" name="Rectangle 7"/>
          <p:cNvSpPr/>
          <p:nvPr/>
        </p:nvSpPr>
        <p:spPr>
          <a:xfrm>
            <a:off x="6660781" y="3065725"/>
            <a:ext cx="5079910" cy="2862322"/>
          </a:xfrm>
          <a:prstGeom prst="rect">
            <a:avLst/>
          </a:prstGeom>
          <a:ln>
            <a:solidFill>
              <a:schemeClr val="tx1"/>
            </a:solidFill>
          </a:ln>
        </p:spPr>
        <p:txBody>
          <a:bodyPr wrap="square">
            <a:spAutoFit/>
          </a:bodyPr>
          <a:lstStyle/>
          <a:p>
            <a:pPr marL="285750" indent="-285750">
              <a:buFont typeface="Arial" panose="020B0604020202020204" pitchFamily="34" charset="0"/>
              <a:buChar char="•"/>
            </a:pPr>
            <a:r>
              <a:rPr lang="en-US" sz="2000" b="1" dirty="0">
                <a:solidFill>
                  <a:srgbClr val="FF0000"/>
                </a:solidFill>
              </a:rPr>
              <a:t>FFNN uses contextual information created by attention layer to capture complex relationship in data</a:t>
            </a:r>
          </a:p>
          <a:p>
            <a:pPr marL="285750" indent="-285750">
              <a:buFont typeface="Arial" panose="020B0604020202020204" pitchFamily="34" charset="0"/>
              <a:buChar char="•"/>
            </a:pPr>
            <a:r>
              <a:rPr lang="en-US" sz="2000" dirty="0"/>
              <a:t>FFNN is a fully-connected 2-layer network, i.e., one hidden layer, One output layer (two weight matrices) </a:t>
            </a:r>
          </a:p>
          <a:p>
            <a:pPr marL="285750" indent="-285750">
              <a:buFont typeface="Arial" panose="020B0604020202020204" pitchFamily="34" charset="0"/>
              <a:buChar char="•"/>
            </a:pPr>
            <a:r>
              <a:rPr lang="en-US" sz="2000" dirty="0"/>
              <a:t>Hidden layer dimensionality </a:t>
            </a:r>
            <a:r>
              <a:rPr lang="en-US" sz="2000" dirty="0" err="1"/>
              <a:t>d</a:t>
            </a:r>
            <a:r>
              <a:rPr lang="en-US" sz="2000" baseline="-25000" dirty="0" err="1"/>
              <a:t>ff</a:t>
            </a:r>
            <a:r>
              <a:rPr lang="en-US" sz="2000" dirty="0"/>
              <a:t> is  larger  than the model dimensionality d (original transformer model, d = 512 and </a:t>
            </a:r>
            <a:r>
              <a:rPr lang="en-US" sz="2000" dirty="0" err="1"/>
              <a:t>d</a:t>
            </a:r>
            <a:r>
              <a:rPr lang="en-US" sz="2000" baseline="-25000" dirty="0" err="1"/>
              <a:t>ff</a:t>
            </a:r>
            <a:r>
              <a:rPr lang="en-US" sz="2000" dirty="0"/>
              <a:t> = 2048)</a:t>
            </a:r>
          </a:p>
        </p:txBody>
      </p:sp>
      <p:pic>
        <p:nvPicPr>
          <p:cNvPr id="9" name="Picture 8"/>
          <p:cNvPicPr>
            <a:picLocks noChangeAspect="1"/>
          </p:cNvPicPr>
          <p:nvPr/>
        </p:nvPicPr>
        <p:blipFill>
          <a:blip r:embed="rId6"/>
          <a:stretch>
            <a:fillRect/>
          </a:stretch>
        </p:blipFill>
        <p:spPr>
          <a:xfrm>
            <a:off x="1279853" y="4780518"/>
            <a:ext cx="3787514" cy="431194"/>
          </a:xfrm>
          <a:prstGeom prst="rect">
            <a:avLst/>
          </a:prstGeom>
        </p:spPr>
      </p:pic>
    </p:spTree>
    <p:extLst>
      <p:ext uri="{BB962C8B-B14F-4D97-AF65-F5344CB8AC3E}">
        <p14:creationId xmlns:p14="http://schemas.microsoft.com/office/powerpoint/2010/main" val="325883450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2673082" y="3075904"/>
            <a:ext cx="8432800" cy="1143000"/>
          </a:xfrm>
        </p:spPr>
        <p:txBody>
          <a:bodyPr/>
          <a:lstStyle/>
          <a:p>
            <a:r>
              <a:rPr lang="en-IN" dirty="0"/>
              <a:t>Building blocks of LLM</a:t>
            </a:r>
          </a:p>
          <a:p>
            <a:endParaRPr lang="en-IN" dirty="0"/>
          </a:p>
        </p:txBody>
      </p:sp>
    </p:spTree>
    <p:extLst>
      <p:ext uri="{BB962C8B-B14F-4D97-AF65-F5344CB8AC3E}">
        <p14:creationId xmlns:p14="http://schemas.microsoft.com/office/powerpoint/2010/main" val="247491339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Transformer LLM</a:t>
            </a:r>
            <a:endParaRPr lang="en-IN" dirty="0"/>
          </a:p>
        </p:txBody>
      </p:sp>
      <p:pic>
        <p:nvPicPr>
          <p:cNvPr id="3" name="Picture 2"/>
          <p:cNvPicPr>
            <a:picLocks noChangeAspect="1"/>
          </p:cNvPicPr>
          <p:nvPr/>
        </p:nvPicPr>
        <p:blipFill>
          <a:blip r:embed="rId2"/>
          <a:stretch>
            <a:fillRect/>
          </a:stretch>
        </p:blipFill>
        <p:spPr>
          <a:xfrm>
            <a:off x="630051" y="1583765"/>
            <a:ext cx="10491191" cy="4932944"/>
          </a:xfrm>
          <a:prstGeom prst="rect">
            <a:avLst/>
          </a:prstGeom>
        </p:spPr>
      </p:pic>
    </p:spTree>
    <p:extLst>
      <p:ext uri="{BB962C8B-B14F-4D97-AF65-F5344CB8AC3E}">
        <p14:creationId xmlns:p14="http://schemas.microsoft.com/office/powerpoint/2010/main" val="354398656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Transformer LLM</a:t>
            </a:r>
            <a:endParaRPr lang="en-IN" dirty="0"/>
          </a:p>
          <a:p>
            <a:endParaRPr lang="en-IN" dirty="0"/>
          </a:p>
        </p:txBody>
      </p:sp>
      <p:pic>
        <p:nvPicPr>
          <p:cNvPr id="3" name="Picture 2"/>
          <p:cNvPicPr>
            <a:picLocks noChangeAspect="1"/>
          </p:cNvPicPr>
          <p:nvPr/>
        </p:nvPicPr>
        <p:blipFill>
          <a:blip r:embed="rId2"/>
          <a:stretch>
            <a:fillRect/>
          </a:stretch>
        </p:blipFill>
        <p:spPr>
          <a:xfrm>
            <a:off x="644882" y="1692365"/>
            <a:ext cx="7996841" cy="4823160"/>
          </a:xfrm>
          <a:prstGeom prst="rect">
            <a:avLst/>
          </a:prstGeom>
        </p:spPr>
      </p:pic>
    </p:spTree>
    <p:extLst>
      <p:ext uri="{BB962C8B-B14F-4D97-AF65-F5344CB8AC3E}">
        <p14:creationId xmlns:p14="http://schemas.microsoft.com/office/powerpoint/2010/main" val="1447958651"/>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Vocabulary Building</a:t>
            </a:r>
          </a:p>
        </p:txBody>
      </p:sp>
      <p:pic>
        <p:nvPicPr>
          <p:cNvPr id="3" name="Picture 2"/>
          <p:cNvPicPr>
            <a:picLocks noChangeAspect="1"/>
          </p:cNvPicPr>
          <p:nvPr/>
        </p:nvPicPr>
        <p:blipFill>
          <a:blip r:embed="rId2"/>
          <a:stretch>
            <a:fillRect/>
          </a:stretch>
        </p:blipFill>
        <p:spPr>
          <a:xfrm>
            <a:off x="4928984" y="277835"/>
            <a:ext cx="7112761" cy="5836717"/>
          </a:xfrm>
          <a:prstGeom prst="rect">
            <a:avLst/>
          </a:prstGeom>
        </p:spPr>
      </p:pic>
    </p:spTree>
    <p:extLst>
      <p:ext uri="{BB962C8B-B14F-4D97-AF65-F5344CB8AC3E}">
        <p14:creationId xmlns:p14="http://schemas.microsoft.com/office/powerpoint/2010/main" val="3706977760"/>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Tokens to token IDs</a:t>
            </a:r>
            <a:endParaRPr lang="en-IN" dirty="0"/>
          </a:p>
        </p:txBody>
      </p:sp>
      <p:pic>
        <p:nvPicPr>
          <p:cNvPr id="3" name="Content Placeholder 3"/>
          <p:cNvPicPr>
            <a:picLocks noChangeAspect="1"/>
          </p:cNvPicPr>
          <p:nvPr/>
        </p:nvPicPr>
        <p:blipFill>
          <a:blip r:embed="rId2"/>
          <a:stretch>
            <a:fillRect/>
          </a:stretch>
        </p:blipFill>
        <p:spPr>
          <a:xfrm>
            <a:off x="379927" y="1521881"/>
            <a:ext cx="5701376" cy="4858755"/>
          </a:xfrm>
          <a:prstGeom prst="rect">
            <a:avLst/>
          </a:prstGeom>
          <a:ln>
            <a:solidFill>
              <a:srgbClr val="C00000"/>
            </a:solidFill>
          </a:ln>
        </p:spPr>
      </p:pic>
      <p:pic>
        <p:nvPicPr>
          <p:cNvPr id="5" name="Picture 4"/>
          <p:cNvPicPr>
            <a:picLocks noChangeAspect="1"/>
          </p:cNvPicPr>
          <p:nvPr/>
        </p:nvPicPr>
        <p:blipFill>
          <a:blip r:embed="rId3"/>
          <a:stretch>
            <a:fillRect/>
          </a:stretch>
        </p:blipFill>
        <p:spPr>
          <a:xfrm>
            <a:off x="6496482" y="1759079"/>
            <a:ext cx="5399304" cy="3442509"/>
          </a:xfrm>
          <a:prstGeom prst="rect">
            <a:avLst/>
          </a:prstGeom>
        </p:spPr>
      </p:pic>
    </p:spTree>
    <p:extLst>
      <p:ext uri="{BB962C8B-B14F-4D97-AF65-F5344CB8AC3E}">
        <p14:creationId xmlns:p14="http://schemas.microsoft.com/office/powerpoint/2010/main" val="3957806076"/>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Adding special context tokens</a:t>
            </a:r>
          </a:p>
        </p:txBody>
      </p:sp>
      <p:pic>
        <p:nvPicPr>
          <p:cNvPr id="3" name="Picture 2"/>
          <p:cNvPicPr>
            <a:picLocks noChangeAspect="1"/>
          </p:cNvPicPr>
          <p:nvPr/>
        </p:nvPicPr>
        <p:blipFill>
          <a:blip r:embed="rId2"/>
          <a:stretch>
            <a:fillRect/>
          </a:stretch>
        </p:blipFill>
        <p:spPr>
          <a:xfrm>
            <a:off x="135943" y="1773864"/>
            <a:ext cx="5818382" cy="4498147"/>
          </a:xfrm>
          <a:prstGeom prst="rect">
            <a:avLst/>
          </a:prstGeom>
        </p:spPr>
      </p:pic>
      <p:pic>
        <p:nvPicPr>
          <p:cNvPr id="4" name="Picture 3"/>
          <p:cNvPicPr>
            <a:picLocks noChangeAspect="1"/>
          </p:cNvPicPr>
          <p:nvPr/>
        </p:nvPicPr>
        <p:blipFill>
          <a:blip r:embed="rId3"/>
          <a:stretch>
            <a:fillRect/>
          </a:stretch>
        </p:blipFill>
        <p:spPr>
          <a:xfrm>
            <a:off x="6626329" y="1638301"/>
            <a:ext cx="5213917" cy="4118556"/>
          </a:xfrm>
          <a:prstGeom prst="rect">
            <a:avLst/>
          </a:prstGeom>
        </p:spPr>
      </p:pic>
    </p:spTree>
    <p:extLst>
      <p:ext uri="{BB962C8B-B14F-4D97-AF65-F5344CB8AC3E}">
        <p14:creationId xmlns:p14="http://schemas.microsoft.com/office/powerpoint/2010/main" val="47002958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Token IDs to Token </a:t>
            </a:r>
            <a:r>
              <a:rPr lang="en-US" dirty="0" err="1"/>
              <a:t>Embeddings</a:t>
            </a:r>
            <a:endParaRPr lang="en-IN" dirty="0"/>
          </a:p>
          <a:p>
            <a:endParaRPr lang="en-IN" dirty="0"/>
          </a:p>
        </p:txBody>
      </p:sp>
      <p:pic>
        <p:nvPicPr>
          <p:cNvPr id="3" name="Content Placeholder 3"/>
          <p:cNvPicPr>
            <a:picLocks noChangeAspect="1"/>
          </p:cNvPicPr>
          <p:nvPr/>
        </p:nvPicPr>
        <p:blipFill>
          <a:blip r:embed="rId2"/>
          <a:stretch>
            <a:fillRect/>
          </a:stretch>
        </p:blipFill>
        <p:spPr>
          <a:xfrm>
            <a:off x="908256" y="1004552"/>
            <a:ext cx="6220300" cy="2138228"/>
          </a:xfrm>
          <a:prstGeom prst="rect">
            <a:avLst/>
          </a:prstGeom>
          <a:ln>
            <a:solidFill>
              <a:srgbClr val="C00000"/>
            </a:solidFill>
          </a:ln>
        </p:spPr>
      </p:pic>
      <p:pic>
        <p:nvPicPr>
          <p:cNvPr id="4" name="Picture 3"/>
          <p:cNvPicPr>
            <a:picLocks noChangeAspect="1"/>
          </p:cNvPicPr>
          <p:nvPr/>
        </p:nvPicPr>
        <p:blipFill>
          <a:blip r:embed="rId3"/>
          <a:stretch>
            <a:fillRect/>
          </a:stretch>
        </p:blipFill>
        <p:spPr>
          <a:xfrm>
            <a:off x="1195660" y="3683693"/>
            <a:ext cx="7191375" cy="3019425"/>
          </a:xfrm>
          <a:prstGeom prst="rect">
            <a:avLst/>
          </a:prstGeom>
        </p:spPr>
      </p:pic>
    </p:spTree>
    <p:extLst>
      <p:ext uri="{BB962C8B-B14F-4D97-AF65-F5344CB8AC3E}">
        <p14:creationId xmlns:p14="http://schemas.microsoft.com/office/powerpoint/2010/main" val="195992795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err="1"/>
              <a:t>Embeddings</a:t>
            </a:r>
            <a:endParaRPr lang="en-IN" dirty="0"/>
          </a:p>
        </p:txBody>
      </p:sp>
      <p:pic>
        <p:nvPicPr>
          <p:cNvPr id="3" name="Picture 2"/>
          <p:cNvPicPr>
            <a:picLocks noChangeAspect="1"/>
          </p:cNvPicPr>
          <p:nvPr/>
        </p:nvPicPr>
        <p:blipFill>
          <a:blip r:embed="rId2"/>
          <a:stretch>
            <a:fillRect/>
          </a:stretch>
        </p:blipFill>
        <p:spPr>
          <a:xfrm>
            <a:off x="481937" y="1526392"/>
            <a:ext cx="5872766" cy="2792861"/>
          </a:xfrm>
          <a:prstGeom prst="rect">
            <a:avLst/>
          </a:prstGeom>
        </p:spPr>
      </p:pic>
      <p:pic>
        <p:nvPicPr>
          <p:cNvPr id="4" name="Picture 3"/>
          <p:cNvPicPr>
            <a:picLocks noChangeAspect="1"/>
          </p:cNvPicPr>
          <p:nvPr/>
        </p:nvPicPr>
        <p:blipFill>
          <a:blip r:embed="rId3"/>
          <a:stretch>
            <a:fillRect/>
          </a:stretch>
        </p:blipFill>
        <p:spPr>
          <a:xfrm>
            <a:off x="6354703" y="3505000"/>
            <a:ext cx="5727334" cy="2779890"/>
          </a:xfrm>
          <a:prstGeom prst="rect">
            <a:avLst/>
          </a:prstGeom>
        </p:spPr>
      </p:pic>
    </p:spTree>
    <p:extLst>
      <p:ext uri="{BB962C8B-B14F-4D97-AF65-F5344CB8AC3E}">
        <p14:creationId xmlns:p14="http://schemas.microsoft.com/office/powerpoint/2010/main" val="4228485306"/>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Embedding layer</a:t>
            </a:r>
            <a:endParaRPr lang="en-IN" dirty="0"/>
          </a:p>
        </p:txBody>
      </p:sp>
      <p:sp>
        <p:nvSpPr>
          <p:cNvPr id="3" name="Rectangle 2"/>
          <p:cNvSpPr/>
          <p:nvPr/>
        </p:nvSpPr>
        <p:spPr>
          <a:xfrm>
            <a:off x="218940" y="1540074"/>
            <a:ext cx="4288665" cy="3785652"/>
          </a:xfrm>
          <a:prstGeom prst="rect">
            <a:avLst/>
          </a:prstGeom>
        </p:spPr>
        <p:txBody>
          <a:bodyPr wrap="square">
            <a:spAutoFit/>
          </a:bodyPr>
          <a:lstStyle/>
          <a:p>
            <a:pPr marL="285750" indent="-285750">
              <a:buFont typeface="Arial" panose="020B0604020202020204" pitchFamily="34" charset="0"/>
              <a:buChar char="•"/>
            </a:pPr>
            <a:r>
              <a:rPr lang="en-US" sz="2400" dirty="0"/>
              <a:t>weight matrix of the embedding layer contains small, random values. These values are optimized during LLM training as part of the LLM optimization itself</a:t>
            </a:r>
          </a:p>
          <a:p>
            <a:pPr marL="285750" indent="-285750">
              <a:buFont typeface="Arial" panose="020B0604020202020204" pitchFamily="34" charset="0"/>
              <a:buChar char="•"/>
            </a:pPr>
            <a:r>
              <a:rPr lang="en-US" sz="2400" b="1" dirty="0"/>
              <a:t>weight matrix has rows equal to size of vocab and  columns equal to embedding dimension. </a:t>
            </a:r>
            <a:endParaRPr lang="en-IN" sz="2400" b="1" dirty="0"/>
          </a:p>
        </p:txBody>
      </p:sp>
      <p:pic>
        <p:nvPicPr>
          <p:cNvPr id="5" name="Picture 4"/>
          <p:cNvPicPr>
            <a:picLocks noChangeAspect="1"/>
          </p:cNvPicPr>
          <p:nvPr/>
        </p:nvPicPr>
        <p:blipFill>
          <a:blip r:embed="rId3"/>
          <a:stretch>
            <a:fillRect/>
          </a:stretch>
        </p:blipFill>
        <p:spPr>
          <a:xfrm>
            <a:off x="4961104" y="862886"/>
            <a:ext cx="7230896" cy="5493937"/>
          </a:xfrm>
          <a:prstGeom prst="rect">
            <a:avLst/>
          </a:prstGeom>
          <a:ln>
            <a:solidFill>
              <a:srgbClr val="C00000"/>
            </a:solidFill>
          </a:ln>
        </p:spPr>
      </p:pic>
    </p:spTree>
    <p:extLst>
      <p:ext uri="{BB962C8B-B14F-4D97-AF65-F5344CB8AC3E}">
        <p14:creationId xmlns:p14="http://schemas.microsoft.com/office/powerpoint/2010/main" val="133067128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Embedding layer</a:t>
            </a:r>
            <a:endParaRPr lang="en-IN" dirty="0"/>
          </a:p>
        </p:txBody>
      </p:sp>
      <p:pic>
        <p:nvPicPr>
          <p:cNvPr id="3" name="Picture 2"/>
          <p:cNvPicPr>
            <a:picLocks noChangeAspect="1"/>
          </p:cNvPicPr>
          <p:nvPr/>
        </p:nvPicPr>
        <p:blipFill>
          <a:blip r:embed="rId2"/>
          <a:stretch>
            <a:fillRect/>
          </a:stretch>
        </p:blipFill>
        <p:spPr>
          <a:xfrm>
            <a:off x="2092913" y="1451020"/>
            <a:ext cx="6638963" cy="4979223"/>
          </a:xfrm>
          <a:prstGeom prst="rect">
            <a:avLst/>
          </a:prstGeom>
        </p:spPr>
      </p:pic>
    </p:spTree>
    <p:extLst>
      <p:ext uri="{BB962C8B-B14F-4D97-AF65-F5344CB8AC3E}">
        <p14:creationId xmlns:p14="http://schemas.microsoft.com/office/powerpoint/2010/main" val="2570231325"/>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Types of text </a:t>
            </a:r>
            <a:r>
              <a:rPr lang="en-US" dirty="0" err="1"/>
              <a:t>embeddings</a:t>
            </a:r>
            <a:endParaRPr lang="en-IN" dirty="0"/>
          </a:p>
        </p:txBody>
      </p:sp>
      <p:pic>
        <p:nvPicPr>
          <p:cNvPr id="3" name="Picture 2"/>
          <p:cNvPicPr>
            <a:picLocks noChangeAspect="1"/>
          </p:cNvPicPr>
          <p:nvPr/>
        </p:nvPicPr>
        <p:blipFill>
          <a:blip r:embed="rId3"/>
          <a:stretch>
            <a:fillRect/>
          </a:stretch>
        </p:blipFill>
        <p:spPr>
          <a:xfrm>
            <a:off x="2067259" y="1405995"/>
            <a:ext cx="7269924" cy="5357991"/>
          </a:xfrm>
          <a:prstGeom prst="rect">
            <a:avLst/>
          </a:prstGeom>
        </p:spPr>
      </p:pic>
    </p:spTree>
    <p:extLst>
      <p:ext uri="{BB962C8B-B14F-4D97-AF65-F5344CB8AC3E}">
        <p14:creationId xmlns:p14="http://schemas.microsoft.com/office/powerpoint/2010/main" val="755965536"/>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Positional </a:t>
            </a:r>
            <a:r>
              <a:rPr lang="en-IN" dirty="0" err="1"/>
              <a:t>embeddings</a:t>
            </a:r>
            <a:endParaRPr lang="en-IN" dirty="0"/>
          </a:p>
        </p:txBody>
      </p:sp>
      <p:pic>
        <p:nvPicPr>
          <p:cNvPr id="3" name="Picture 2"/>
          <p:cNvPicPr>
            <a:picLocks noChangeAspect="1"/>
          </p:cNvPicPr>
          <p:nvPr/>
        </p:nvPicPr>
        <p:blipFill>
          <a:blip r:embed="rId2"/>
          <a:stretch>
            <a:fillRect/>
          </a:stretch>
        </p:blipFill>
        <p:spPr>
          <a:xfrm>
            <a:off x="1385061" y="1704907"/>
            <a:ext cx="8520604" cy="4180738"/>
          </a:xfrm>
          <a:prstGeom prst="rect">
            <a:avLst/>
          </a:prstGeom>
        </p:spPr>
      </p:pic>
    </p:spTree>
    <p:extLst>
      <p:ext uri="{BB962C8B-B14F-4D97-AF65-F5344CB8AC3E}">
        <p14:creationId xmlns:p14="http://schemas.microsoft.com/office/powerpoint/2010/main" val="460035845"/>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Positional Encoding</a:t>
            </a:r>
            <a:endParaRPr lang="en-IN" dirty="0"/>
          </a:p>
        </p:txBody>
      </p:sp>
      <p:sp>
        <p:nvSpPr>
          <p:cNvPr id="3" name="Content Placeholder 1"/>
          <p:cNvSpPr txBox="1">
            <a:spLocks/>
          </p:cNvSpPr>
          <p:nvPr/>
        </p:nvSpPr>
        <p:spPr>
          <a:xfrm>
            <a:off x="304800" y="1545224"/>
            <a:ext cx="11480800" cy="4525963"/>
          </a:xfrm>
          <a:prstGeom prst="rect">
            <a:avLst/>
          </a:prstGeom>
        </p:spPr>
        <p:txBody>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r>
              <a:rPr lang="en-US" kern="0" dirty="0">
                <a:solidFill>
                  <a:sysClr val="windowText" lastClr="000000"/>
                </a:solidFill>
              </a:rPr>
              <a:t>Because attention has no inherent sense of order, </a:t>
            </a:r>
            <a:r>
              <a:rPr lang="en-US" b="1" kern="0" dirty="0">
                <a:solidFill>
                  <a:sysClr val="windowText" lastClr="000000"/>
                </a:solidFill>
              </a:rPr>
              <a:t>positional encoding </a:t>
            </a:r>
            <a:r>
              <a:rPr lang="en-US" kern="0" dirty="0">
                <a:solidFill>
                  <a:sysClr val="windowText" lastClr="000000"/>
                </a:solidFill>
              </a:rPr>
              <a:t>is added to embeddings so the model can infer sequence structure. </a:t>
            </a:r>
          </a:p>
          <a:p>
            <a:pPr marL="342900" indent="-342900">
              <a:buFont typeface="Arial" panose="020B0604020202020204" pitchFamily="34" charset="0"/>
              <a:buChar char="•"/>
            </a:pPr>
            <a:endParaRPr lang="en-US" b="1" kern="0" dirty="0">
              <a:solidFill>
                <a:sysClr val="windowText" lastClr="000000"/>
              </a:solidFill>
            </a:endParaRPr>
          </a:p>
          <a:p>
            <a:pPr marL="342900" indent="-342900">
              <a:buFont typeface="Arial" panose="020B0604020202020204" pitchFamily="34" charset="0"/>
              <a:buChar char="•"/>
            </a:pPr>
            <a:r>
              <a:rPr lang="en-US" b="1" kern="0" dirty="0">
                <a:solidFill>
                  <a:sysClr val="windowText" lastClr="000000"/>
                </a:solidFill>
              </a:rPr>
              <a:t>Learned positional embeddings </a:t>
            </a:r>
            <a:r>
              <a:rPr lang="en-US" kern="0" dirty="0">
                <a:solidFill>
                  <a:sysClr val="windowText" lastClr="000000"/>
                </a:solidFill>
              </a:rPr>
              <a:t>treat position as a trainable lookup, letting the network discover optimal encodings for dataset </a:t>
            </a:r>
          </a:p>
          <a:p>
            <a:pPr marL="342900" indent="-342900">
              <a:buFont typeface="Arial" panose="020B0604020202020204" pitchFamily="34" charset="0"/>
              <a:buChar char="•"/>
            </a:pPr>
            <a:endParaRPr lang="en-US" b="1" kern="0" dirty="0">
              <a:solidFill>
                <a:sysClr val="windowText" lastClr="000000"/>
              </a:solidFill>
            </a:endParaRPr>
          </a:p>
          <a:p>
            <a:pPr marL="342900" indent="-342900">
              <a:buFont typeface="Arial" panose="020B0604020202020204" pitchFamily="34" charset="0"/>
              <a:buChar char="•"/>
            </a:pPr>
            <a:r>
              <a:rPr lang="en-US" b="1" kern="0" dirty="0">
                <a:solidFill>
                  <a:sysClr val="windowText" lastClr="000000"/>
                </a:solidFill>
              </a:rPr>
              <a:t>Sinusoidal encodings </a:t>
            </a:r>
            <a:r>
              <a:rPr lang="en-US" kern="0" dirty="0">
                <a:solidFill>
                  <a:sysClr val="windowText" lastClr="000000"/>
                </a:solidFill>
              </a:rPr>
              <a:t>use fixed sine/cosine functions at multiple frequencies to preserve relative distance </a:t>
            </a:r>
          </a:p>
          <a:p>
            <a:pPr marL="342900" indent="-342900">
              <a:buFont typeface="Arial" panose="020B0604020202020204" pitchFamily="34" charset="0"/>
              <a:buChar char="•"/>
            </a:pPr>
            <a:endParaRPr lang="en-US" b="1" kern="0" dirty="0">
              <a:solidFill>
                <a:sysClr val="windowText" lastClr="000000"/>
              </a:solidFill>
            </a:endParaRPr>
          </a:p>
          <a:p>
            <a:pPr marL="342900" indent="-342900">
              <a:buFont typeface="Arial" panose="020B0604020202020204" pitchFamily="34" charset="0"/>
              <a:buChar char="•"/>
            </a:pPr>
            <a:r>
              <a:rPr lang="en-US" b="1" kern="0" dirty="0">
                <a:solidFill>
                  <a:sysClr val="windowText" lastClr="000000"/>
                </a:solidFill>
              </a:rPr>
              <a:t>Rotary Positional Embeddings (</a:t>
            </a:r>
            <a:r>
              <a:rPr lang="en-US" b="1" kern="0" dirty="0" err="1">
                <a:solidFill>
                  <a:sysClr val="windowText" lastClr="000000"/>
                </a:solidFill>
              </a:rPr>
              <a:t>RoPE</a:t>
            </a:r>
            <a:r>
              <a:rPr lang="en-US" b="1" kern="0" dirty="0">
                <a:solidFill>
                  <a:sysClr val="windowText" lastClr="000000"/>
                </a:solidFill>
              </a:rPr>
              <a:t>) </a:t>
            </a:r>
            <a:r>
              <a:rPr lang="en-US" kern="0" dirty="0">
                <a:solidFill>
                  <a:sysClr val="windowText" lastClr="000000"/>
                </a:solidFill>
              </a:rPr>
              <a:t>encode position by rotating 𝑄𝐾 in ℂ space; embed relative phase relationships and scale better for long/sliding-window contexts. </a:t>
            </a:r>
          </a:p>
          <a:p>
            <a:pPr marL="342900" indent="-342900">
              <a:buFont typeface="Arial" panose="020B0604020202020204" pitchFamily="34" charset="0"/>
              <a:buChar char="•"/>
            </a:pPr>
            <a:endParaRPr lang="en-IN" kern="0" dirty="0">
              <a:solidFill>
                <a:sysClr val="windowText" lastClr="000000"/>
              </a:solidFill>
            </a:endParaRPr>
          </a:p>
        </p:txBody>
      </p:sp>
    </p:spTree>
    <p:extLst>
      <p:ext uri="{BB962C8B-B14F-4D97-AF65-F5344CB8AC3E}">
        <p14:creationId xmlns:p14="http://schemas.microsoft.com/office/powerpoint/2010/main" val="1411518692"/>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Language Modelling Head</a:t>
            </a:r>
            <a:endParaRPr lang="en-IN" dirty="0"/>
          </a:p>
        </p:txBody>
      </p:sp>
      <p:pic>
        <p:nvPicPr>
          <p:cNvPr id="3" name="Picture 2"/>
          <p:cNvPicPr>
            <a:picLocks noChangeAspect="1"/>
          </p:cNvPicPr>
          <p:nvPr/>
        </p:nvPicPr>
        <p:blipFill>
          <a:blip r:embed="rId3"/>
          <a:stretch>
            <a:fillRect/>
          </a:stretch>
        </p:blipFill>
        <p:spPr>
          <a:xfrm>
            <a:off x="206828" y="2362199"/>
            <a:ext cx="8206573" cy="4343401"/>
          </a:xfrm>
          <a:prstGeom prst="rect">
            <a:avLst/>
          </a:prstGeom>
        </p:spPr>
      </p:pic>
      <p:sp>
        <p:nvSpPr>
          <p:cNvPr id="4" name="Rectangle 3"/>
          <p:cNvSpPr/>
          <p:nvPr/>
        </p:nvSpPr>
        <p:spPr>
          <a:xfrm>
            <a:off x="179430" y="1024016"/>
            <a:ext cx="11342915" cy="1200329"/>
          </a:xfrm>
          <a:prstGeom prst="rect">
            <a:avLst/>
          </a:prstGeom>
          <a:solidFill>
            <a:schemeClr val="tx2">
              <a:lumMod val="40000"/>
              <a:lumOff val="60000"/>
            </a:schemeClr>
          </a:solidFill>
        </p:spPr>
        <p:txBody>
          <a:bodyPr wrap="square">
            <a:spAutoFit/>
          </a:bodyPr>
          <a:lstStyle/>
          <a:p>
            <a:r>
              <a:rPr lang="en-US" sz="2400" dirty="0"/>
              <a:t>LM maps the final hidden state at each position to vocabulary logits; during training, each position predicts the next token, while during inference the last position is used to generate the next token.</a:t>
            </a:r>
          </a:p>
        </p:txBody>
      </p:sp>
    </p:spTree>
    <p:extLst>
      <p:ext uri="{BB962C8B-B14F-4D97-AF65-F5344CB8AC3E}">
        <p14:creationId xmlns:p14="http://schemas.microsoft.com/office/powerpoint/2010/main" val="3668074029"/>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Language </a:t>
            </a:r>
            <a:r>
              <a:rPr lang="en-IN" dirty="0" err="1"/>
              <a:t>Modeling</a:t>
            </a:r>
            <a:r>
              <a:rPr lang="en-IN" dirty="0"/>
              <a:t> Head</a:t>
            </a:r>
          </a:p>
        </p:txBody>
      </p:sp>
      <p:pic>
        <p:nvPicPr>
          <p:cNvPr id="3" name="Picture 2"/>
          <p:cNvPicPr>
            <a:picLocks noChangeAspect="1"/>
          </p:cNvPicPr>
          <p:nvPr/>
        </p:nvPicPr>
        <p:blipFill>
          <a:blip r:embed="rId2"/>
          <a:stretch>
            <a:fillRect/>
          </a:stretch>
        </p:blipFill>
        <p:spPr>
          <a:xfrm>
            <a:off x="0" y="1019608"/>
            <a:ext cx="8022771" cy="4117969"/>
          </a:xfrm>
          <a:prstGeom prst="rect">
            <a:avLst/>
          </a:prstGeom>
        </p:spPr>
      </p:pic>
      <p:sp>
        <p:nvSpPr>
          <p:cNvPr id="5" name="Rectangle 4"/>
          <p:cNvSpPr/>
          <p:nvPr/>
        </p:nvSpPr>
        <p:spPr>
          <a:xfrm>
            <a:off x="7826829" y="1478199"/>
            <a:ext cx="4365171" cy="2554545"/>
          </a:xfrm>
          <a:prstGeom prst="rect">
            <a:avLst/>
          </a:prstGeom>
        </p:spPr>
        <p:txBody>
          <a:bodyPr wrap="square">
            <a:spAutoFit/>
          </a:bodyPr>
          <a:lstStyle/>
          <a:p>
            <a:r>
              <a:rPr lang="en-IN" sz="2000" dirty="0"/>
              <a:t> </a:t>
            </a:r>
            <a:r>
              <a:rPr lang="en-IN" sz="2000" dirty="0" err="1"/>
              <a:t>h</a:t>
            </a:r>
            <a:r>
              <a:rPr lang="en-IN" sz="2000" baseline="30000" dirty="0" err="1"/>
              <a:t>L</a:t>
            </a:r>
            <a:r>
              <a:rPr lang="en-IN" sz="2000" baseline="-25000" dirty="0" err="1"/>
              <a:t>N</a:t>
            </a:r>
            <a:r>
              <a:rPr lang="en-IN" sz="2000" baseline="-25000" dirty="0"/>
              <a:t>  </a:t>
            </a:r>
            <a:r>
              <a:rPr lang="en-IN" sz="2000" dirty="0"/>
              <a:t>= output token embedding at position N from the final block L (shape of [1×d)</a:t>
            </a:r>
          </a:p>
          <a:p>
            <a:endParaRPr lang="en-US" sz="2000" dirty="0"/>
          </a:p>
          <a:p>
            <a:r>
              <a:rPr lang="en-US" sz="2000" dirty="0"/>
              <a:t>u = logit vector</a:t>
            </a:r>
          </a:p>
          <a:p>
            <a:endParaRPr lang="en-US" sz="2000" dirty="0"/>
          </a:p>
          <a:p>
            <a:r>
              <a:rPr lang="en-US" sz="2000" dirty="0"/>
              <a:t>A </a:t>
            </a:r>
            <a:r>
              <a:rPr lang="en-US" sz="2000" dirty="0" err="1"/>
              <a:t>softmax</a:t>
            </a:r>
            <a:r>
              <a:rPr lang="en-US" sz="2000" dirty="0"/>
              <a:t> layer turns the logits u into the probabilities y over the vocabulary</a:t>
            </a:r>
            <a:endParaRPr lang="en-IN" sz="2000" dirty="0"/>
          </a:p>
        </p:txBody>
      </p:sp>
      <p:pic>
        <p:nvPicPr>
          <p:cNvPr id="6" name="Picture 5"/>
          <p:cNvPicPr>
            <a:picLocks noChangeAspect="1"/>
          </p:cNvPicPr>
          <p:nvPr/>
        </p:nvPicPr>
        <p:blipFill>
          <a:blip r:embed="rId3"/>
          <a:stretch>
            <a:fillRect/>
          </a:stretch>
        </p:blipFill>
        <p:spPr>
          <a:xfrm>
            <a:off x="9053630" y="4636044"/>
            <a:ext cx="2559157" cy="1163253"/>
          </a:xfrm>
          <a:prstGeom prst="rect">
            <a:avLst/>
          </a:prstGeom>
          <a:ln>
            <a:solidFill>
              <a:srgbClr val="FF0000"/>
            </a:solidFill>
          </a:ln>
        </p:spPr>
      </p:pic>
      <p:sp>
        <p:nvSpPr>
          <p:cNvPr id="7" name="Rectangle 6"/>
          <p:cNvSpPr/>
          <p:nvPr/>
        </p:nvSpPr>
        <p:spPr>
          <a:xfrm>
            <a:off x="406400" y="5137577"/>
            <a:ext cx="7050157" cy="1323439"/>
          </a:xfrm>
          <a:prstGeom prst="rect">
            <a:avLst/>
          </a:prstGeom>
          <a:solidFill>
            <a:schemeClr val="accent2">
              <a:lumMod val="60000"/>
              <a:lumOff val="40000"/>
            </a:schemeClr>
          </a:solidFill>
        </p:spPr>
        <p:txBody>
          <a:bodyPr wrap="square">
            <a:spAutoFit/>
          </a:bodyPr>
          <a:lstStyle/>
          <a:p>
            <a:pPr marL="285750" indent="-285750">
              <a:buFont typeface="Arial" panose="020B0604020202020204" pitchFamily="34" charset="0"/>
              <a:buChar char="•"/>
            </a:pPr>
            <a:r>
              <a:rPr lang="en-US" sz="2000" b="1" dirty="0" err="1"/>
              <a:t>Softmax</a:t>
            </a:r>
            <a:r>
              <a:rPr lang="en-US" sz="2000" b="1" dirty="0"/>
              <a:t> probabilities (y) can be used</a:t>
            </a:r>
          </a:p>
          <a:p>
            <a:pPr marL="742950" lvl="1" indent="-285750">
              <a:buFont typeface="Arial" panose="020B0604020202020204" pitchFamily="34" charset="0"/>
              <a:buChar char="•"/>
            </a:pPr>
            <a:r>
              <a:rPr lang="en-US" sz="2000" b="1" dirty="0"/>
              <a:t> To help assign a probability to a given text</a:t>
            </a:r>
          </a:p>
          <a:p>
            <a:pPr marL="742950" lvl="1" indent="-285750">
              <a:buFont typeface="Arial" panose="020B0604020202020204" pitchFamily="34" charset="0"/>
              <a:buChar char="•"/>
            </a:pPr>
            <a:r>
              <a:rPr lang="en-US" sz="2000" b="1" dirty="0"/>
              <a:t> To generate text, (By sampling a word from these probabilities y)</a:t>
            </a:r>
            <a:endParaRPr lang="en-IN" sz="2000" b="1" dirty="0"/>
          </a:p>
        </p:txBody>
      </p:sp>
    </p:spTree>
    <p:extLst>
      <p:ext uri="{BB962C8B-B14F-4D97-AF65-F5344CB8AC3E}">
        <p14:creationId xmlns:p14="http://schemas.microsoft.com/office/powerpoint/2010/main" val="3969445475"/>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err="1"/>
              <a:t>Unembedding</a:t>
            </a:r>
            <a:r>
              <a:rPr lang="en-US" dirty="0"/>
              <a:t> or Linear layer</a:t>
            </a:r>
            <a:endParaRPr lang="en-IN" dirty="0"/>
          </a:p>
        </p:txBody>
      </p:sp>
      <p:sp>
        <p:nvSpPr>
          <p:cNvPr id="3" name="Rectangle 2"/>
          <p:cNvSpPr/>
          <p:nvPr/>
        </p:nvSpPr>
        <p:spPr>
          <a:xfrm>
            <a:off x="0" y="1642118"/>
            <a:ext cx="11781183" cy="1569660"/>
          </a:xfrm>
          <a:prstGeom prst="rect">
            <a:avLst/>
          </a:prstGeom>
        </p:spPr>
        <p:txBody>
          <a:bodyPr wrap="square">
            <a:spAutoFit/>
          </a:bodyPr>
          <a:lstStyle/>
          <a:p>
            <a:pPr marL="285750" indent="-285750">
              <a:buFont typeface="Arial" panose="020B0604020202020204" pitchFamily="34" charset="0"/>
              <a:buChar char="•"/>
            </a:pPr>
            <a:r>
              <a:rPr lang="en-US" sz="2400" dirty="0" err="1"/>
              <a:t>Unembedding</a:t>
            </a:r>
            <a:r>
              <a:rPr lang="en-US" sz="2400" dirty="0"/>
              <a:t> matrix (E</a:t>
            </a:r>
            <a:r>
              <a:rPr lang="en-US" sz="2400" baseline="30000" dirty="0"/>
              <a:t>T</a:t>
            </a:r>
            <a:r>
              <a:rPr lang="en-US" sz="2400" dirty="0"/>
              <a:t>) is tied to Embedding matrix (E)  </a:t>
            </a:r>
          </a:p>
          <a:p>
            <a:pPr marL="742950" lvl="1" indent="-285750">
              <a:buFont typeface="Arial" panose="020B0604020202020204" pitchFamily="34" charset="0"/>
              <a:buChar char="•"/>
            </a:pPr>
            <a:r>
              <a:rPr lang="en-US" sz="2400" dirty="0"/>
              <a:t>Weight tying : same weights for two different matrices in the model.</a:t>
            </a:r>
          </a:p>
          <a:p>
            <a:pPr marL="285750" indent="-285750">
              <a:buFont typeface="Arial" panose="020B0604020202020204" pitchFamily="34" charset="0"/>
              <a:buChar char="•"/>
            </a:pPr>
            <a:r>
              <a:rPr lang="en-US" sz="2400" dirty="0"/>
              <a:t>In the learning process, E will be optimized to be good at doing both of these mappings</a:t>
            </a:r>
          </a:p>
          <a:p>
            <a:pPr marL="285750" indent="-285750">
              <a:buFont typeface="Arial" panose="020B0604020202020204" pitchFamily="34" charset="0"/>
              <a:buChar char="•"/>
            </a:pPr>
            <a:endParaRPr lang="en-IN" sz="2400" dirty="0"/>
          </a:p>
        </p:txBody>
      </p:sp>
      <p:sp>
        <p:nvSpPr>
          <p:cNvPr id="5" name="TextBox 4">
            <a:extLst>
              <a:ext uri="{FF2B5EF4-FFF2-40B4-BE49-F238E27FC236}">
                <a16:creationId xmlns:a16="http://schemas.microsoft.com/office/drawing/2014/main" id="{408EC8EB-2DF3-9D20-20F5-6A5399772F55}"/>
              </a:ext>
            </a:extLst>
          </p:cNvPr>
          <p:cNvSpPr txBox="1"/>
          <p:nvPr/>
        </p:nvSpPr>
        <p:spPr>
          <a:xfrm>
            <a:off x="219529" y="3069885"/>
            <a:ext cx="6188527" cy="2677656"/>
          </a:xfrm>
          <a:prstGeom prst="rect">
            <a:avLst/>
          </a:prstGeom>
          <a:solidFill>
            <a:schemeClr val="bg2">
              <a:lumMod val="75000"/>
            </a:schemeClr>
          </a:solidFill>
        </p:spPr>
        <p:txBody>
          <a:bodyPr wrap="square">
            <a:spAutoFit/>
          </a:bodyPr>
          <a:lstStyle/>
          <a:p>
            <a:pPr marL="285750" indent="-285750">
              <a:buFont typeface="Arial" panose="020B0604020202020204" pitchFamily="34" charset="0"/>
              <a:buChar char="•"/>
            </a:pPr>
            <a:r>
              <a:rPr lang="en-US" sz="2400" dirty="0"/>
              <a:t>Input Embedding stage:</a:t>
            </a:r>
          </a:p>
          <a:p>
            <a:pPr marL="742950" lvl="1" indent="-285750">
              <a:buFont typeface="Arial" panose="020B0604020202020204" pitchFamily="34" charset="0"/>
              <a:buChar char="•"/>
            </a:pPr>
            <a:r>
              <a:rPr lang="en-US" sz="2400" dirty="0"/>
              <a:t>Shape of E : |V|×d </a:t>
            </a:r>
          </a:p>
          <a:p>
            <a:pPr marL="742950" lvl="1" indent="-285750">
              <a:buFont typeface="Arial" panose="020B0604020202020204" pitchFamily="34" charset="0"/>
              <a:buChar char="•"/>
            </a:pPr>
            <a:r>
              <a:rPr lang="en-US" sz="2400" dirty="0"/>
              <a:t>Shape of One-hot vector over the vocabulary: 1× |V| </a:t>
            </a:r>
          </a:p>
          <a:p>
            <a:pPr marL="742950" lvl="1" indent="-285750">
              <a:buFont typeface="Arial" panose="020B0604020202020204" pitchFamily="34" charset="0"/>
              <a:buChar char="•"/>
            </a:pPr>
            <a:r>
              <a:rPr lang="en-US" sz="2400" dirty="0"/>
              <a:t>Embedding : One-hot vector x E  (Generating d dimensional embedding for a token so shape of [1×d])</a:t>
            </a:r>
          </a:p>
        </p:txBody>
      </p:sp>
      <p:sp>
        <p:nvSpPr>
          <p:cNvPr id="7" name="TextBox 6">
            <a:extLst>
              <a:ext uri="{FF2B5EF4-FFF2-40B4-BE49-F238E27FC236}">
                <a16:creationId xmlns:a16="http://schemas.microsoft.com/office/drawing/2014/main" id="{8771B8B4-583A-6EAD-FC52-62EC9683C349}"/>
              </a:ext>
            </a:extLst>
          </p:cNvPr>
          <p:cNvSpPr txBox="1"/>
          <p:nvPr/>
        </p:nvSpPr>
        <p:spPr>
          <a:xfrm>
            <a:off x="6627585" y="3211778"/>
            <a:ext cx="5457372" cy="1938992"/>
          </a:xfrm>
          <a:prstGeom prst="rect">
            <a:avLst/>
          </a:prstGeom>
          <a:solidFill>
            <a:schemeClr val="tx2">
              <a:lumMod val="20000"/>
              <a:lumOff val="80000"/>
            </a:schemeClr>
          </a:solidFill>
        </p:spPr>
        <p:txBody>
          <a:bodyPr wrap="square">
            <a:spAutoFit/>
          </a:bodyPr>
          <a:lstStyle/>
          <a:p>
            <a:pPr marL="285750" indent="-285750">
              <a:buFont typeface="Arial" panose="020B0604020202020204" pitchFamily="34" charset="0"/>
              <a:buChar char="•"/>
            </a:pPr>
            <a:r>
              <a:rPr lang="en-US" sz="2400" dirty="0"/>
              <a:t>Output language model head:</a:t>
            </a:r>
          </a:p>
          <a:p>
            <a:pPr marL="742950" lvl="1" indent="-285750">
              <a:buFont typeface="Arial" panose="020B0604020202020204" pitchFamily="34" charset="0"/>
              <a:buChar char="•"/>
            </a:pPr>
            <a:r>
              <a:rPr lang="en-US" sz="2400" dirty="0"/>
              <a:t>Shape of E</a:t>
            </a:r>
            <a:r>
              <a:rPr lang="en-US" sz="2400" baseline="30000" dirty="0"/>
              <a:t>T</a:t>
            </a:r>
            <a:r>
              <a:rPr lang="en-US" sz="2400" dirty="0"/>
              <a:t> : d × |V|  </a:t>
            </a:r>
          </a:p>
          <a:p>
            <a:pPr marL="742950" lvl="1" indent="-285750">
              <a:buFont typeface="Arial" panose="020B0604020202020204" pitchFamily="34" charset="0"/>
              <a:buChar char="•"/>
            </a:pPr>
            <a:r>
              <a:rPr lang="en-IN" sz="2400" dirty="0"/>
              <a:t>Shape of </a:t>
            </a:r>
            <a:r>
              <a:rPr lang="en-IN" sz="2400" dirty="0" err="1"/>
              <a:t>h</a:t>
            </a:r>
            <a:r>
              <a:rPr lang="en-IN" sz="2400" baseline="30000" dirty="0" err="1"/>
              <a:t>L</a:t>
            </a:r>
            <a:r>
              <a:rPr lang="en-IN" sz="2400" baseline="-25000" dirty="0" err="1"/>
              <a:t>N</a:t>
            </a:r>
            <a:r>
              <a:rPr lang="en-IN" sz="2400" baseline="-25000" dirty="0"/>
              <a:t>  </a:t>
            </a:r>
            <a:r>
              <a:rPr lang="en-IN" sz="2400" dirty="0"/>
              <a:t>(Nth Token </a:t>
            </a:r>
            <a:r>
              <a:rPr lang="en-US" sz="2400" dirty="0"/>
              <a:t>Embedding : [1×d] </a:t>
            </a:r>
          </a:p>
          <a:p>
            <a:pPr marL="742950" lvl="1" indent="-285750">
              <a:buFont typeface="Arial" panose="020B0604020202020204" pitchFamily="34" charset="0"/>
              <a:buChar char="•"/>
            </a:pPr>
            <a:r>
              <a:rPr lang="en-US" sz="2400" dirty="0"/>
              <a:t>Logits </a:t>
            </a:r>
            <a:r>
              <a:rPr lang="en-US" sz="2400" b="1" i="1" dirty="0"/>
              <a:t>u</a:t>
            </a:r>
            <a:r>
              <a:rPr lang="en-US" sz="2400" dirty="0"/>
              <a:t>  : </a:t>
            </a:r>
            <a:r>
              <a:rPr lang="en-IN" sz="2400" dirty="0" err="1"/>
              <a:t>h</a:t>
            </a:r>
            <a:r>
              <a:rPr lang="en-IN" sz="2400" baseline="30000" dirty="0" err="1"/>
              <a:t>L</a:t>
            </a:r>
            <a:r>
              <a:rPr lang="en-IN" sz="2400" baseline="-25000" dirty="0" err="1"/>
              <a:t>N</a:t>
            </a:r>
            <a:r>
              <a:rPr lang="en-IN" sz="2400" baseline="-25000" dirty="0"/>
              <a:t>  </a:t>
            </a:r>
            <a:r>
              <a:rPr lang="en-IN" sz="2400" dirty="0"/>
              <a:t>x </a:t>
            </a:r>
            <a:r>
              <a:rPr lang="en-US" sz="2400" dirty="0"/>
              <a:t>E</a:t>
            </a:r>
            <a:r>
              <a:rPr lang="en-US" sz="2400" baseline="30000" dirty="0"/>
              <a:t>T</a:t>
            </a:r>
            <a:r>
              <a:rPr lang="en-IN" sz="2400" dirty="0"/>
              <a:t>   </a:t>
            </a:r>
            <a:r>
              <a:rPr lang="en-US" sz="2400" dirty="0"/>
              <a:t>(shape 1×|V|)</a:t>
            </a:r>
          </a:p>
        </p:txBody>
      </p:sp>
    </p:spTree>
    <p:extLst>
      <p:ext uri="{BB962C8B-B14F-4D97-AF65-F5344CB8AC3E}">
        <p14:creationId xmlns:p14="http://schemas.microsoft.com/office/powerpoint/2010/main" val="379821138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Context length</a:t>
            </a:r>
            <a:endParaRPr lang="en-IN" dirty="0"/>
          </a:p>
        </p:txBody>
      </p:sp>
      <p:pic>
        <p:nvPicPr>
          <p:cNvPr id="3" name="Picture 2"/>
          <p:cNvPicPr>
            <a:picLocks noChangeAspect="1"/>
          </p:cNvPicPr>
          <p:nvPr/>
        </p:nvPicPr>
        <p:blipFill>
          <a:blip r:embed="rId3"/>
          <a:stretch>
            <a:fillRect/>
          </a:stretch>
        </p:blipFill>
        <p:spPr>
          <a:xfrm>
            <a:off x="2840508" y="2349187"/>
            <a:ext cx="8740463" cy="4190792"/>
          </a:xfrm>
          <a:prstGeom prst="rect">
            <a:avLst/>
          </a:prstGeom>
        </p:spPr>
      </p:pic>
      <p:sp>
        <p:nvSpPr>
          <p:cNvPr id="4" name="Rectangle 3"/>
          <p:cNvSpPr/>
          <p:nvPr/>
        </p:nvSpPr>
        <p:spPr>
          <a:xfrm>
            <a:off x="114480" y="1392394"/>
            <a:ext cx="11144519" cy="1015663"/>
          </a:xfrm>
          <a:prstGeom prst="rect">
            <a:avLst/>
          </a:prstGeom>
        </p:spPr>
        <p:txBody>
          <a:bodyPr wrap="square">
            <a:spAutoFit/>
          </a:bodyPr>
          <a:lstStyle/>
          <a:p>
            <a:pPr marL="342900" indent="-342900">
              <a:buFont typeface="Arial" panose="020B0604020202020204" pitchFamily="34" charset="0"/>
              <a:buChar char="•"/>
            </a:pPr>
            <a:r>
              <a:rPr lang="en-US" sz="2000" dirty="0"/>
              <a:t>Context length represents the maximum number of tokens the model can process</a:t>
            </a:r>
          </a:p>
          <a:p>
            <a:pPr marL="342900" indent="-342900">
              <a:buFont typeface="Arial" panose="020B0604020202020204" pitchFamily="34" charset="0"/>
              <a:buChar char="•"/>
            </a:pPr>
            <a:r>
              <a:rPr lang="en-US" sz="2000" dirty="0"/>
              <a:t>Due to the autoregressive nature of these models, the current context length will increase as new tokens are generated</a:t>
            </a:r>
            <a:endParaRPr lang="en-IN" sz="2000" dirty="0"/>
          </a:p>
        </p:txBody>
      </p:sp>
    </p:spTree>
    <p:extLst>
      <p:ext uri="{BB962C8B-B14F-4D97-AF65-F5344CB8AC3E}">
        <p14:creationId xmlns:p14="http://schemas.microsoft.com/office/powerpoint/2010/main" val="2248906991"/>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1256405" y="2676659"/>
            <a:ext cx="8432800" cy="1143000"/>
          </a:xfrm>
        </p:spPr>
        <p:txBody>
          <a:bodyPr/>
          <a:lstStyle/>
          <a:p>
            <a:pPr marL="457200" lvl="1" indent="0"/>
            <a:r>
              <a:rPr lang="en-IN" sz="3200" dirty="0"/>
              <a:t>LLM Architectures</a:t>
            </a:r>
          </a:p>
        </p:txBody>
      </p:sp>
    </p:spTree>
    <p:extLst>
      <p:ext uri="{BB962C8B-B14F-4D97-AF65-F5344CB8AC3E}">
        <p14:creationId xmlns:p14="http://schemas.microsoft.com/office/powerpoint/2010/main" val="2566434676"/>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normAutofit fontScale="92500"/>
          </a:bodyPr>
          <a:lstStyle/>
          <a:p>
            <a:r>
              <a:rPr lang="en-US" dirty="0"/>
              <a:t>Encoder-Only Models (e.g., BERT, </a:t>
            </a:r>
            <a:r>
              <a:rPr lang="en-US" dirty="0" err="1"/>
              <a:t>RoBERTa</a:t>
            </a:r>
            <a:r>
              <a:rPr lang="en-US" dirty="0"/>
              <a:t>) </a:t>
            </a:r>
            <a:br>
              <a:rPr lang="en-US" dirty="0"/>
            </a:br>
            <a:endParaRPr lang="en-IN" dirty="0"/>
          </a:p>
        </p:txBody>
      </p:sp>
      <p:pic>
        <p:nvPicPr>
          <p:cNvPr id="8" name="object 4"/>
          <p:cNvPicPr/>
          <p:nvPr/>
        </p:nvPicPr>
        <p:blipFill>
          <a:blip r:embed="rId2" cstate="print"/>
          <a:stretch>
            <a:fillRect/>
          </a:stretch>
        </p:blipFill>
        <p:spPr>
          <a:xfrm>
            <a:off x="9357360" y="1150388"/>
            <a:ext cx="2574417" cy="4451921"/>
          </a:xfrm>
          <a:prstGeom prst="rect">
            <a:avLst/>
          </a:prstGeom>
        </p:spPr>
      </p:pic>
      <p:sp>
        <p:nvSpPr>
          <p:cNvPr id="6" name="Content Placeholder 1"/>
          <p:cNvSpPr txBox="1">
            <a:spLocks/>
          </p:cNvSpPr>
          <p:nvPr/>
        </p:nvSpPr>
        <p:spPr>
          <a:xfrm>
            <a:off x="5005" y="1529725"/>
            <a:ext cx="8488066" cy="5088051"/>
          </a:xfrm>
          <a:prstGeom prst="rect">
            <a:avLst/>
          </a:prstGeom>
        </p:spPr>
        <p:txBody>
          <a:bodyPr>
            <a:normAutofit lnSpcReduction="10000"/>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r>
              <a:rPr lang="en-US" kern="0">
                <a:solidFill>
                  <a:sysClr val="windowText" lastClr="000000"/>
                </a:solidFill>
              </a:rPr>
              <a:t>Encoder-based LLMs learn contextual understanding rather than free-form generation.</a:t>
            </a:r>
          </a:p>
          <a:p>
            <a:pPr marL="342900" indent="-342900">
              <a:buFont typeface="Arial" panose="020B0604020202020204" pitchFamily="34" charset="0"/>
              <a:buChar char="•"/>
            </a:pPr>
            <a:r>
              <a:rPr lang="en-US" b="1" kern="0">
                <a:solidFill>
                  <a:sysClr val="windowText" lastClr="000000"/>
                </a:solidFill>
              </a:rPr>
              <a:t>Architecture: </a:t>
            </a:r>
            <a:r>
              <a:rPr lang="en-US" kern="0">
                <a:solidFill>
                  <a:sysClr val="windowText" lastClr="000000"/>
                </a:solidFill>
              </a:rPr>
              <a:t>Transformer encoder stacks with bidirectional self-attention</a:t>
            </a:r>
          </a:p>
          <a:p>
            <a:pPr marL="342900" indent="-342900">
              <a:buFont typeface="Arial" panose="020B0604020202020204" pitchFamily="34" charset="0"/>
              <a:buChar char="•"/>
            </a:pPr>
            <a:r>
              <a:rPr lang="en-US" b="1" kern="0">
                <a:solidFill>
                  <a:sysClr val="windowText" lastClr="000000"/>
                </a:solidFill>
              </a:rPr>
              <a:t>Training Objective: </a:t>
            </a:r>
            <a:r>
              <a:rPr lang="en-US" kern="0">
                <a:solidFill>
                  <a:sysClr val="windowText" lastClr="000000"/>
                </a:solidFill>
              </a:rPr>
              <a:t>MLM, where you randomly mask tokens and predict them using both left and right context. </a:t>
            </a:r>
          </a:p>
          <a:p>
            <a:pPr marL="342900" indent="-342900">
              <a:buFont typeface="Arial" panose="020B0604020202020204" pitchFamily="34" charset="0"/>
              <a:buChar char="•"/>
            </a:pPr>
            <a:r>
              <a:rPr lang="en-US" b="1" kern="0">
                <a:solidFill>
                  <a:sysClr val="windowText" lastClr="000000"/>
                </a:solidFill>
              </a:rPr>
              <a:t>Context: </a:t>
            </a:r>
            <a:r>
              <a:rPr lang="en-US" kern="0">
                <a:solidFill>
                  <a:sysClr val="windowText" lastClr="000000"/>
                </a:solidFill>
              </a:rPr>
              <a:t>Bidirectional</a:t>
            </a:r>
            <a:endParaRPr lang="en-IN" kern="0">
              <a:solidFill>
                <a:sysClr val="windowText" lastClr="000000"/>
              </a:solidFill>
            </a:endParaRPr>
          </a:p>
          <a:p>
            <a:pPr marL="342900" indent="-342900">
              <a:buFont typeface="Arial" panose="020B0604020202020204" pitchFamily="34" charset="0"/>
              <a:buChar char="•"/>
            </a:pPr>
            <a:r>
              <a:rPr lang="en-US" b="1" kern="0">
                <a:solidFill>
                  <a:sysClr val="windowText" lastClr="000000"/>
                </a:solidFill>
              </a:rPr>
              <a:t>Strengths: </a:t>
            </a:r>
            <a:r>
              <a:rPr lang="en-US" kern="0">
                <a:solidFill>
                  <a:sysClr val="windowText" lastClr="000000"/>
                </a:solidFill>
              </a:rPr>
              <a:t>Excels at comprehension tasks such as classification, NER, and sentiment analysis because it builds dense semantic representations. </a:t>
            </a:r>
          </a:p>
          <a:p>
            <a:pPr marL="342900" indent="-342900">
              <a:buFont typeface="Arial" panose="020B0604020202020204" pitchFamily="34" charset="0"/>
              <a:buChar char="•"/>
            </a:pPr>
            <a:r>
              <a:rPr lang="en-US" b="1" kern="0">
                <a:solidFill>
                  <a:sysClr val="windowText" lastClr="000000"/>
                </a:solidFill>
              </a:rPr>
              <a:t>Weaknesses: </a:t>
            </a:r>
            <a:r>
              <a:rPr lang="en-US" kern="0">
                <a:solidFill>
                  <a:sysClr val="windowText" lastClr="000000"/>
                </a:solidFill>
              </a:rPr>
              <a:t>Not naturally generative; requires adapter heads or fine-tuning for sequence output</a:t>
            </a:r>
          </a:p>
          <a:p>
            <a:pPr marL="342900" indent="-342900">
              <a:buFont typeface="Arial" panose="020B0604020202020204" pitchFamily="34" charset="0"/>
              <a:buChar char="•"/>
            </a:pPr>
            <a:r>
              <a:rPr lang="en-US" b="1" kern="0">
                <a:solidFill>
                  <a:sysClr val="windowText" lastClr="000000"/>
                </a:solidFill>
              </a:rPr>
              <a:t>Example: </a:t>
            </a:r>
            <a:r>
              <a:rPr lang="en-US" kern="0">
                <a:solidFill>
                  <a:sysClr val="windowText" lastClr="000000"/>
                </a:solidFill>
              </a:rPr>
              <a:t>BERT remains a reference model for tasks that require deep bidirectional context. </a:t>
            </a:r>
            <a:endParaRPr lang="en-IN" kern="0" dirty="0">
              <a:solidFill>
                <a:sysClr val="windowText" lastClr="000000"/>
              </a:solidFill>
            </a:endParaRPr>
          </a:p>
        </p:txBody>
      </p:sp>
    </p:spTree>
    <p:extLst>
      <p:ext uri="{BB962C8B-B14F-4D97-AF65-F5344CB8AC3E}">
        <p14:creationId xmlns:p14="http://schemas.microsoft.com/office/powerpoint/2010/main" val="3708093720"/>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Decoder-Only Models (e.g., GPT, </a:t>
            </a:r>
            <a:r>
              <a:rPr lang="en-US" dirty="0" err="1"/>
              <a:t>LLaMA</a:t>
            </a:r>
            <a:r>
              <a:rPr lang="en-US" dirty="0"/>
              <a:t>) </a:t>
            </a:r>
            <a:endParaRPr lang="en-IN" dirty="0"/>
          </a:p>
        </p:txBody>
      </p:sp>
      <p:sp>
        <p:nvSpPr>
          <p:cNvPr id="3" name="Content Placeholder 1"/>
          <p:cNvSpPr txBox="1">
            <a:spLocks/>
          </p:cNvSpPr>
          <p:nvPr/>
        </p:nvSpPr>
        <p:spPr>
          <a:xfrm>
            <a:off x="0" y="1322425"/>
            <a:ext cx="8783968" cy="5181040"/>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Font typeface="Arial" panose="020B0604020202020204" pitchFamily="34" charset="0"/>
              <a:buChar char="•"/>
            </a:pPr>
            <a:r>
              <a:rPr lang="en-US" sz="2000" kern="0" dirty="0">
                <a:solidFill>
                  <a:sysClr val="windowText" lastClr="000000"/>
                </a:solidFill>
              </a:rPr>
              <a:t>Decoder-based LLMs are trained to predict the </a:t>
            </a:r>
            <a:r>
              <a:rPr lang="en-US" sz="2000" b="1" kern="0" dirty="0">
                <a:solidFill>
                  <a:sysClr val="windowText" lastClr="000000"/>
                </a:solidFill>
              </a:rPr>
              <a:t>next token given all previous ones</a:t>
            </a:r>
            <a:r>
              <a:rPr lang="en-US" sz="2000" kern="0" dirty="0">
                <a:solidFill>
                  <a:sysClr val="windowText" lastClr="000000"/>
                </a:solidFill>
              </a:rPr>
              <a:t>, capturing temporal dependency through </a:t>
            </a:r>
            <a:r>
              <a:rPr lang="en-US" sz="2000" b="1" kern="0" dirty="0" err="1">
                <a:solidFill>
                  <a:sysClr val="windowText" lastClr="000000"/>
                </a:solidFill>
              </a:rPr>
              <a:t>autoregression</a:t>
            </a:r>
            <a:r>
              <a:rPr lang="en-US" sz="2000" b="1" kern="0" dirty="0">
                <a:solidFill>
                  <a:sysClr val="windowText" lastClr="000000"/>
                </a:solidFill>
              </a:rPr>
              <a:t> </a:t>
            </a:r>
            <a:r>
              <a:rPr lang="en-US" sz="2000" kern="0" dirty="0">
                <a:solidFill>
                  <a:sysClr val="windowText" lastClr="000000"/>
                </a:solidFill>
              </a:rPr>
              <a:t>(progressively generating sequence of outputs).</a:t>
            </a:r>
          </a:p>
          <a:p>
            <a:pPr marL="342900" indent="-342900" algn="just">
              <a:buFont typeface="Arial" panose="020B0604020202020204" pitchFamily="34" charset="0"/>
              <a:buChar char="•"/>
            </a:pPr>
            <a:r>
              <a:rPr lang="en-US" sz="2000" b="1" kern="0" dirty="0">
                <a:solidFill>
                  <a:sysClr val="windowText" lastClr="000000"/>
                </a:solidFill>
              </a:rPr>
              <a:t>Architecture: </a:t>
            </a:r>
            <a:r>
              <a:rPr lang="en-US" sz="2000" kern="0" dirty="0">
                <a:solidFill>
                  <a:sysClr val="windowText" lastClr="000000"/>
                </a:solidFill>
              </a:rPr>
              <a:t>Transformer decoder stacks with causal masking that blocks access to future tokens</a:t>
            </a:r>
          </a:p>
          <a:p>
            <a:pPr marL="342900" indent="-342900" algn="just">
              <a:buFont typeface="Arial" panose="020B0604020202020204" pitchFamily="34" charset="0"/>
              <a:buChar char="•"/>
            </a:pPr>
            <a:r>
              <a:rPr lang="en-US" sz="2000" b="1" kern="0" dirty="0">
                <a:solidFill>
                  <a:sysClr val="windowText" lastClr="000000"/>
                </a:solidFill>
              </a:rPr>
              <a:t>Training Objective: </a:t>
            </a:r>
            <a:r>
              <a:rPr lang="en-US" sz="2000" kern="0" dirty="0">
                <a:solidFill>
                  <a:sysClr val="windowText" lastClr="000000"/>
                </a:solidFill>
              </a:rPr>
              <a:t>CLM, where you minimize cross-entropy over next-token predictions</a:t>
            </a:r>
          </a:p>
          <a:p>
            <a:pPr marL="342900" indent="-342900" algn="just">
              <a:buFont typeface="Arial" panose="020B0604020202020204" pitchFamily="34" charset="0"/>
              <a:buChar char="•"/>
            </a:pPr>
            <a:r>
              <a:rPr lang="en-US" sz="2000" b="1" kern="0" dirty="0">
                <a:solidFill>
                  <a:sysClr val="windowText" lastClr="000000"/>
                </a:solidFill>
              </a:rPr>
              <a:t>Context: </a:t>
            </a:r>
            <a:r>
              <a:rPr lang="en-US" sz="2000" kern="0" dirty="0">
                <a:solidFill>
                  <a:sysClr val="windowText" lastClr="000000"/>
                </a:solidFill>
              </a:rPr>
              <a:t>Unidirectional (left-to-right) to maintain causal structure</a:t>
            </a:r>
          </a:p>
          <a:p>
            <a:pPr marL="342900" indent="-342900" algn="just">
              <a:buFont typeface="Arial" panose="020B0604020202020204" pitchFamily="34" charset="0"/>
              <a:buChar char="•"/>
            </a:pPr>
            <a:r>
              <a:rPr lang="en-US" sz="2000" b="1" kern="0" dirty="0">
                <a:solidFill>
                  <a:sysClr val="windowText" lastClr="000000"/>
                </a:solidFill>
              </a:rPr>
              <a:t>Strengths: </a:t>
            </a:r>
            <a:r>
              <a:rPr lang="en-US" sz="2000" kern="0" dirty="0">
                <a:solidFill>
                  <a:sysClr val="windowText" lastClr="000000"/>
                </a:solidFill>
              </a:rPr>
              <a:t>Outstanding at open-ended text generation, dialogue, code completion, and story synthesis</a:t>
            </a:r>
          </a:p>
          <a:p>
            <a:pPr marL="342900" indent="-342900" algn="just">
              <a:buFont typeface="Arial" panose="020B0604020202020204" pitchFamily="34" charset="0"/>
              <a:buChar char="•"/>
            </a:pPr>
            <a:r>
              <a:rPr lang="en-US" sz="2000" b="1" kern="0" dirty="0">
                <a:solidFill>
                  <a:sysClr val="windowText" lastClr="000000"/>
                </a:solidFill>
              </a:rPr>
              <a:t>Weaknesses: </a:t>
            </a:r>
            <a:r>
              <a:rPr lang="en-US" sz="2000" kern="0" dirty="0">
                <a:solidFill>
                  <a:sysClr val="windowText" lastClr="000000"/>
                </a:solidFill>
              </a:rPr>
              <a:t>Less efficient for classification or bidirectional reasoning </a:t>
            </a:r>
          </a:p>
          <a:p>
            <a:pPr marL="342900" indent="-342900" algn="just">
              <a:buFont typeface="Arial" panose="020B0604020202020204" pitchFamily="34" charset="0"/>
              <a:buChar char="•"/>
            </a:pPr>
            <a:r>
              <a:rPr lang="en-US" sz="2000" b="1" kern="0" dirty="0">
                <a:solidFill>
                  <a:sysClr val="windowText" lastClr="000000"/>
                </a:solidFill>
              </a:rPr>
              <a:t>Example: </a:t>
            </a:r>
            <a:r>
              <a:rPr lang="en-US" sz="2000" kern="0" dirty="0">
                <a:solidFill>
                  <a:sysClr val="windowText" lastClr="000000"/>
                </a:solidFill>
              </a:rPr>
              <a:t>GPT models, Meta’s </a:t>
            </a:r>
            <a:r>
              <a:rPr lang="en-US" sz="2000" kern="0" dirty="0" err="1">
                <a:solidFill>
                  <a:sysClr val="windowText" lastClr="000000"/>
                </a:solidFill>
              </a:rPr>
              <a:t>LLaMA</a:t>
            </a:r>
            <a:r>
              <a:rPr lang="en-US" sz="2000" kern="0" dirty="0">
                <a:solidFill>
                  <a:sysClr val="windowText" lastClr="000000"/>
                </a:solidFill>
              </a:rPr>
              <a:t> series etc. </a:t>
            </a:r>
            <a:endParaRPr lang="en-IN" sz="2000" kern="0" dirty="0">
              <a:solidFill>
                <a:sysClr val="windowText" lastClr="000000"/>
              </a:solidFill>
            </a:endParaRPr>
          </a:p>
        </p:txBody>
      </p:sp>
      <p:pic>
        <p:nvPicPr>
          <p:cNvPr id="4" name="Picture 3"/>
          <p:cNvPicPr>
            <a:picLocks noChangeAspect="1"/>
          </p:cNvPicPr>
          <p:nvPr/>
        </p:nvPicPr>
        <p:blipFill>
          <a:blip r:embed="rId2"/>
          <a:stretch>
            <a:fillRect/>
          </a:stretch>
        </p:blipFill>
        <p:spPr>
          <a:xfrm>
            <a:off x="8828378" y="1622059"/>
            <a:ext cx="2787349" cy="4767834"/>
          </a:xfrm>
          <a:prstGeom prst="rect">
            <a:avLst/>
          </a:prstGeom>
        </p:spPr>
      </p:pic>
      <p:sp>
        <p:nvSpPr>
          <p:cNvPr id="5" name="TextBox 4"/>
          <p:cNvSpPr txBox="1"/>
          <p:nvPr/>
        </p:nvSpPr>
        <p:spPr>
          <a:xfrm>
            <a:off x="10222053" y="1160394"/>
            <a:ext cx="919547" cy="461665"/>
          </a:xfrm>
          <a:prstGeom prst="rect">
            <a:avLst/>
          </a:prstGeom>
          <a:noFill/>
        </p:spPr>
        <p:txBody>
          <a:bodyPr wrap="none" rtlCol="0">
            <a:spAutoFit/>
          </a:bodyPr>
          <a:lstStyle/>
          <a:p>
            <a:r>
              <a:rPr lang="en-US" sz="2400" b="1" dirty="0">
                <a:solidFill>
                  <a:srgbClr val="FF0000"/>
                </a:solidFill>
              </a:rPr>
              <a:t>GPT 1</a:t>
            </a:r>
            <a:endParaRPr lang="en-IN" sz="2400" b="1" dirty="0">
              <a:solidFill>
                <a:srgbClr val="FF0000"/>
              </a:solidFill>
            </a:endParaRPr>
          </a:p>
        </p:txBody>
      </p:sp>
    </p:spTree>
    <p:extLst>
      <p:ext uri="{BB962C8B-B14F-4D97-AF65-F5344CB8AC3E}">
        <p14:creationId xmlns:p14="http://schemas.microsoft.com/office/powerpoint/2010/main" val="1991302898"/>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de-DE" dirty="0"/>
              <a:t>Encoder-Decoder Models (e.g., T5, BART) </a:t>
            </a:r>
            <a:br>
              <a:rPr lang="de-DE" dirty="0"/>
            </a:br>
            <a:endParaRPr lang="en-IN" dirty="0"/>
          </a:p>
        </p:txBody>
      </p:sp>
      <p:sp>
        <p:nvSpPr>
          <p:cNvPr id="3" name="Content Placeholder 1"/>
          <p:cNvSpPr txBox="1">
            <a:spLocks/>
          </p:cNvSpPr>
          <p:nvPr/>
        </p:nvSpPr>
        <p:spPr>
          <a:xfrm>
            <a:off x="304800" y="1545224"/>
            <a:ext cx="11887200" cy="4525963"/>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buFont typeface="Arial" panose="020B0604020202020204" pitchFamily="34" charset="0"/>
              <a:buChar char="•"/>
            </a:pPr>
            <a:r>
              <a:rPr lang="en-US" kern="0">
                <a:solidFill>
                  <a:sysClr val="windowText" lastClr="000000"/>
                </a:solidFill>
              </a:rPr>
              <a:t>These models bridge the understanding and generation paradigms by pairing an encoder (MLM-like) with a decoder (CLM-like)</a:t>
            </a:r>
          </a:p>
          <a:p>
            <a:pPr marL="342900" indent="-342900">
              <a:buFont typeface="Arial" panose="020B0604020202020204" pitchFamily="34" charset="0"/>
              <a:buChar char="•"/>
            </a:pPr>
            <a:r>
              <a:rPr lang="en-US" b="1" kern="0">
                <a:solidFill>
                  <a:sysClr val="windowText" lastClr="000000"/>
                </a:solidFill>
              </a:rPr>
              <a:t>Architecture: </a:t>
            </a:r>
            <a:r>
              <a:rPr lang="en-US" kern="0">
                <a:solidFill>
                  <a:sysClr val="windowText" lastClr="000000"/>
                </a:solidFill>
              </a:rPr>
              <a:t>An encoder transforms the input sequence into contextual representations; a decoder generates outputs via cross-attention</a:t>
            </a:r>
          </a:p>
          <a:p>
            <a:pPr marL="342900" indent="-342900">
              <a:buFont typeface="Arial" panose="020B0604020202020204" pitchFamily="34" charset="0"/>
              <a:buChar char="•"/>
            </a:pPr>
            <a:r>
              <a:rPr lang="en-US" b="1" kern="0">
                <a:solidFill>
                  <a:sysClr val="windowText" lastClr="000000"/>
                </a:solidFill>
              </a:rPr>
              <a:t>Training Objective: </a:t>
            </a:r>
            <a:r>
              <a:rPr lang="en-US" kern="0">
                <a:solidFill>
                  <a:sysClr val="windowText" lastClr="000000"/>
                </a:solidFill>
              </a:rPr>
              <a:t>Sequence-to-sequence learning-often formulated as translation or summarization-and sometimes a </a:t>
            </a:r>
            <a:r>
              <a:rPr lang="en-US" b="1" kern="0">
                <a:solidFill>
                  <a:sysClr val="windowText" lastClr="000000"/>
                </a:solidFill>
              </a:rPr>
              <a:t>span-corruption variant of MLM </a:t>
            </a:r>
            <a:r>
              <a:rPr lang="en-US" kern="0">
                <a:solidFill>
                  <a:sysClr val="windowText" lastClr="000000"/>
                </a:solidFill>
              </a:rPr>
              <a:t>as in T5</a:t>
            </a:r>
          </a:p>
          <a:p>
            <a:pPr marL="342900" indent="-342900">
              <a:buFont typeface="Arial" panose="020B0604020202020204" pitchFamily="34" charset="0"/>
              <a:buChar char="•"/>
            </a:pPr>
            <a:r>
              <a:rPr lang="en-US" b="1" kern="0">
                <a:solidFill>
                  <a:sysClr val="windowText" lastClr="000000"/>
                </a:solidFill>
              </a:rPr>
              <a:t>Strengths: </a:t>
            </a:r>
            <a:r>
              <a:rPr lang="en-US" kern="0">
                <a:solidFill>
                  <a:sysClr val="windowText" lastClr="000000"/>
                </a:solidFill>
              </a:rPr>
              <a:t>Effective for translation, summarization, and multimodal pipelines where the input and output domains differ</a:t>
            </a:r>
          </a:p>
          <a:p>
            <a:pPr marL="342900" indent="-342900">
              <a:buFont typeface="Arial" panose="020B0604020202020204" pitchFamily="34" charset="0"/>
              <a:buChar char="•"/>
            </a:pPr>
            <a:r>
              <a:rPr lang="en-US" b="1" kern="0">
                <a:solidFill>
                  <a:sysClr val="windowText" lastClr="000000"/>
                </a:solidFill>
              </a:rPr>
              <a:t>Weaknesses: </a:t>
            </a:r>
            <a:r>
              <a:rPr lang="en-US" kern="0">
                <a:solidFill>
                  <a:sysClr val="windowText" lastClr="000000"/>
                </a:solidFill>
              </a:rPr>
              <a:t>Dual stacks increase training complexity and inference latency. </a:t>
            </a:r>
          </a:p>
          <a:p>
            <a:pPr marL="342900" indent="-342900">
              <a:buFont typeface="Arial" panose="020B0604020202020204" pitchFamily="34" charset="0"/>
              <a:buChar char="•"/>
            </a:pPr>
            <a:endParaRPr lang="en-IN" kern="0">
              <a:solidFill>
                <a:sysClr val="windowText" lastClr="000000"/>
              </a:solidFill>
            </a:endParaRPr>
          </a:p>
          <a:p>
            <a:pPr marL="342900" indent="-342900">
              <a:buFont typeface="Arial" panose="020B0604020202020204" pitchFamily="34" charset="0"/>
              <a:buChar char="•"/>
            </a:pPr>
            <a:r>
              <a:rPr lang="en-US" b="1" kern="0">
                <a:solidFill>
                  <a:sysClr val="windowText" lastClr="000000"/>
                </a:solidFill>
              </a:rPr>
              <a:t>Example: </a:t>
            </a:r>
            <a:r>
              <a:rPr lang="en-US" kern="0">
                <a:solidFill>
                  <a:sysClr val="windowText" lastClr="000000"/>
                </a:solidFill>
              </a:rPr>
              <a:t>T5 and BART use span-corruption pre-training and autoregressive decoding; multimodal systems (speech-text, vision-language) extend the same blueprint</a:t>
            </a:r>
            <a:endParaRPr lang="en-IN" kern="0" dirty="0">
              <a:solidFill>
                <a:sysClr val="windowText" lastClr="000000"/>
              </a:solidFill>
            </a:endParaRPr>
          </a:p>
        </p:txBody>
      </p:sp>
    </p:spTree>
    <p:extLst>
      <p:ext uri="{BB962C8B-B14F-4D97-AF65-F5344CB8AC3E}">
        <p14:creationId xmlns:p14="http://schemas.microsoft.com/office/powerpoint/2010/main" val="3305267426"/>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spc="-5" dirty="0"/>
              <a:t>Transformer</a:t>
            </a:r>
            <a:r>
              <a:rPr lang="en-IN" spc="-25" dirty="0"/>
              <a:t> </a:t>
            </a:r>
            <a:r>
              <a:rPr lang="en-IN" spc="-5" dirty="0"/>
              <a:t>Encoder-Decoder</a:t>
            </a:r>
            <a:endParaRPr lang="en-IN" dirty="0">
              <a:latin typeface="Arial MT"/>
              <a:cs typeface="Arial MT"/>
            </a:endParaRPr>
          </a:p>
          <a:p>
            <a:endParaRPr lang="en-IN" dirty="0"/>
          </a:p>
        </p:txBody>
      </p:sp>
      <p:pic>
        <p:nvPicPr>
          <p:cNvPr id="3" name="object 6"/>
          <p:cNvPicPr/>
          <p:nvPr/>
        </p:nvPicPr>
        <p:blipFill>
          <a:blip r:embed="rId2" cstate="print"/>
          <a:stretch>
            <a:fillRect/>
          </a:stretch>
        </p:blipFill>
        <p:spPr>
          <a:xfrm>
            <a:off x="0" y="996289"/>
            <a:ext cx="11900845" cy="5333522"/>
          </a:xfrm>
          <a:prstGeom prst="rect">
            <a:avLst/>
          </a:prstGeom>
        </p:spPr>
      </p:pic>
      <p:pic>
        <p:nvPicPr>
          <p:cNvPr id="4" name="Picture 3"/>
          <p:cNvPicPr>
            <a:picLocks noChangeAspect="1"/>
          </p:cNvPicPr>
          <p:nvPr/>
        </p:nvPicPr>
        <p:blipFill>
          <a:blip r:embed="rId3"/>
          <a:stretch>
            <a:fillRect/>
          </a:stretch>
        </p:blipFill>
        <p:spPr>
          <a:xfrm>
            <a:off x="4528938" y="5640776"/>
            <a:ext cx="4587766" cy="1016177"/>
          </a:xfrm>
          <a:prstGeom prst="rect">
            <a:avLst/>
          </a:prstGeom>
          <a:ln>
            <a:solidFill>
              <a:srgbClr val="C00000"/>
            </a:solidFill>
          </a:ln>
        </p:spPr>
      </p:pic>
    </p:spTree>
    <p:extLst>
      <p:ext uri="{BB962C8B-B14F-4D97-AF65-F5344CB8AC3E}">
        <p14:creationId xmlns:p14="http://schemas.microsoft.com/office/powerpoint/2010/main" val="1389891138"/>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2183684" y="2676660"/>
            <a:ext cx="8432800" cy="1143000"/>
          </a:xfrm>
        </p:spPr>
        <p:txBody>
          <a:bodyPr/>
          <a:lstStyle/>
          <a:p>
            <a:r>
              <a:rPr lang="en-US" dirty="0"/>
              <a:t>Tokenization</a:t>
            </a:r>
            <a:endParaRPr lang="en-IN" dirty="0"/>
          </a:p>
        </p:txBody>
      </p:sp>
    </p:spTree>
    <p:extLst>
      <p:ext uri="{BB962C8B-B14F-4D97-AF65-F5344CB8AC3E}">
        <p14:creationId xmlns:p14="http://schemas.microsoft.com/office/powerpoint/2010/main" val="1564271500"/>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ontent Placeholder 40"/>
          <p:cNvSpPr>
            <a:spLocks noGrp="1"/>
          </p:cNvSpPr>
          <p:nvPr>
            <p:ph type="body" sz="quarter" idx="1"/>
          </p:nvPr>
        </p:nvSpPr>
        <p:spPr>
          <a:xfrm>
            <a:off x="86636" y="1225660"/>
            <a:ext cx="11580416" cy="1975242"/>
          </a:xfrm>
        </p:spPr>
        <p:txBody>
          <a:bodyPr>
            <a:noAutofit/>
          </a:bodyPr>
          <a:lstStyle/>
          <a:p>
            <a:pPr marL="355600" marR="5080" indent="-342900">
              <a:lnSpc>
                <a:spcPct val="100000"/>
              </a:lnSpc>
              <a:spcBef>
                <a:spcPts val="105"/>
              </a:spcBef>
              <a:buFont typeface="Arial" panose="020B0604020202020204" pitchFamily="34" charset="0"/>
              <a:buChar char="•"/>
            </a:pPr>
            <a:r>
              <a:rPr lang="en-US" sz="2400" b="0" spc="-5" dirty="0">
                <a:cs typeface="Calibri"/>
              </a:rPr>
              <a:t>Common</a:t>
            </a:r>
            <a:r>
              <a:rPr lang="en-US" sz="2400" b="0" spc="5" dirty="0">
                <a:cs typeface="Calibri"/>
              </a:rPr>
              <a:t> </a:t>
            </a:r>
            <a:r>
              <a:rPr lang="en-US" sz="2400" b="0" dirty="0">
                <a:cs typeface="Calibri"/>
              </a:rPr>
              <a:t>words</a:t>
            </a:r>
            <a:r>
              <a:rPr lang="en-US" sz="2400" b="0" spc="5" dirty="0">
                <a:cs typeface="Calibri"/>
              </a:rPr>
              <a:t> </a:t>
            </a:r>
            <a:r>
              <a:rPr lang="en-US" sz="2400" b="0" dirty="0">
                <a:cs typeface="Calibri"/>
              </a:rPr>
              <a:t>end</a:t>
            </a:r>
            <a:r>
              <a:rPr lang="en-US" sz="2400" b="0" spc="5" dirty="0">
                <a:cs typeface="Calibri"/>
              </a:rPr>
              <a:t> </a:t>
            </a:r>
            <a:r>
              <a:rPr lang="en-US" sz="2400" b="0" spc="-5" dirty="0">
                <a:cs typeface="Calibri"/>
              </a:rPr>
              <a:t>up</a:t>
            </a:r>
            <a:r>
              <a:rPr lang="en-US" sz="2400" b="0" spc="10" dirty="0">
                <a:cs typeface="Calibri"/>
              </a:rPr>
              <a:t> </a:t>
            </a:r>
            <a:r>
              <a:rPr lang="en-US" sz="2400" b="0" dirty="0">
                <a:cs typeface="Calibri"/>
              </a:rPr>
              <a:t>being a</a:t>
            </a:r>
            <a:r>
              <a:rPr lang="en-US" sz="2400" b="0" spc="5" dirty="0">
                <a:cs typeface="Calibri"/>
              </a:rPr>
              <a:t> </a:t>
            </a:r>
            <a:r>
              <a:rPr lang="en-US" sz="2400" b="0" spc="-5" dirty="0">
                <a:cs typeface="Calibri"/>
              </a:rPr>
              <a:t>part of</a:t>
            </a:r>
            <a:r>
              <a:rPr lang="en-US" sz="2400" b="0" spc="5" dirty="0">
                <a:cs typeface="Calibri"/>
              </a:rPr>
              <a:t> </a:t>
            </a:r>
            <a:r>
              <a:rPr lang="en-US" sz="2400" b="0" spc="-5" dirty="0">
                <a:cs typeface="Calibri"/>
              </a:rPr>
              <a:t>the</a:t>
            </a:r>
            <a:r>
              <a:rPr lang="en-US" sz="2400" b="0" spc="45" dirty="0">
                <a:cs typeface="Calibri"/>
              </a:rPr>
              <a:t> </a:t>
            </a:r>
            <a:r>
              <a:rPr lang="en-US" sz="2400" b="0" spc="-5" dirty="0" err="1">
                <a:cs typeface="Calibri"/>
              </a:rPr>
              <a:t>subword</a:t>
            </a:r>
            <a:r>
              <a:rPr lang="en-US" sz="2400" b="0" spc="5" dirty="0">
                <a:cs typeface="Calibri"/>
              </a:rPr>
              <a:t> </a:t>
            </a:r>
            <a:r>
              <a:rPr lang="en-US" sz="2400" b="0" dirty="0">
                <a:cs typeface="Calibri"/>
              </a:rPr>
              <a:t>vocabulary,</a:t>
            </a:r>
            <a:r>
              <a:rPr lang="en-US" sz="2400" b="0" spc="-10" dirty="0">
                <a:cs typeface="Calibri"/>
              </a:rPr>
              <a:t> </a:t>
            </a:r>
            <a:r>
              <a:rPr lang="en-US" sz="2400" b="0" dirty="0">
                <a:cs typeface="Calibri"/>
              </a:rPr>
              <a:t>while</a:t>
            </a:r>
            <a:r>
              <a:rPr lang="en-US" sz="2400" b="0" spc="5" dirty="0">
                <a:cs typeface="Calibri"/>
              </a:rPr>
              <a:t> </a:t>
            </a:r>
            <a:r>
              <a:rPr lang="en-US" sz="2400" b="0" dirty="0">
                <a:cs typeface="Calibri"/>
              </a:rPr>
              <a:t>rarer</a:t>
            </a:r>
            <a:r>
              <a:rPr lang="en-US" sz="2400" b="0" spc="-5" dirty="0">
                <a:cs typeface="Calibri"/>
              </a:rPr>
              <a:t> </a:t>
            </a:r>
            <a:r>
              <a:rPr lang="en-US" sz="2400" b="0" dirty="0">
                <a:cs typeface="Calibri"/>
              </a:rPr>
              <a:t>words</a:t>
            </a:r>
            <a:r>
              <a:rPr lang="en-US" sz="2400" b="0" spc="5" dirty="0">
                <a:cs typeface="Calibri"/>
              </a:rPr>
              <a:t> </a:t>
            </a:r>
            <a:r>
              <a:rPr lang="en-US" sz="2400" b="0" dirty="0">
                <a:cs typeface="Calibri"/>
              </a:rPr>
              <a:t>are</a:t>
            </a:r>
            <a:r>
              <a:rPr lang="en-US" sz="2400" b="0" spc="5" dirty="0">
                <a:cs typeface="Calibri"/>
              </a:rPr>
              <a:t> </a:t>
            </a:r>
            <a:r>
              <a:rPr lang="en-US" sz="2400" b="0" spc="-5" dirty="0">
                <a:cs typeface="Calibri"/>
              </a:rPr>
              <a:t>split </a:t>
            </a:r>
            <a:r>
              <a:rPr lang="en-US" sz="2400" b="0" spc="-505" dirty="0">
                <a:cs typeface="Calibri"/>
              </a:rPr>
              <a:t> </a:t>
            </a:r>
            <a:r>
              <a:rPr lang="en-US" sz="2400" b="0" dirty="0">
                <a:cs typeface="Calibri"/>
              </a:rPr>
              <a:t>into </a:t>
            </a:r>
            <a:r>
              <a:rPr lang="en-US" sz="2400" b="0" spc="-5" dirty="0">
                <a:cs typeface="Calibri"/>
              </a:rPr>
              <a:t>(sometimes</a:t>
            </a:r>
            <a:r>
              <a:rPr lang="en-US" sz="2400" b="0" spc="15" dirty="0">
                <a:cs typeface="Calibri"/>
              </a:rPr>
              <a:t> </a:t>
            </a:r>
            <a:r>
              <a:rPr lang="en-US" sz="2400" b="0" dirty="0">
                <a:cs typeface="Calibri"/>
              </a:rPr>
              <a:t>intuitive, </a:t>
            </a:r>
            <a:r>
              <a:rPr lang="en-US" sz="2400" b="0" spc="-5" dirty="0">
                <a:cs typeface="Calibri"/>
              </a:rPr>
              <a:t>sometimes</a:t>
            </a:r>
            <a:r>
              <a:rPr lang="en-US" sz="2400" b="0" spc="10" dirty="0">
                <a:cs typeface="Calibri"/>
              </a:rPr>
              <a:t> </a:t>
            </a:r>
            <a:r>
              <a:rPr lang="en-US" sz="2400" b="0" spc="-5" dirty="0">
                <a:cs typeface="Calibri"/>
              </a:rPr>
              <a:t>not)</a:t>
            </a:r>
            <a:r>
              <a:rPr lang="en-US" sz="2400" b="0" spc="10" dirty="0">
                <a:cs typeface="Calibri"/>
              </a:rPr>
              <a:t> </a:t>
            </a:r>
            <a:r>
              <a:rPr lang="en-US" sz="2400" b="0" spc="-5" dirty="0">
                <a:cs typeface="Calibri"/>
              </a:rPr>
              <a:t>components.</a:t>
            </a:r>
            <a:endParaRPr lang="en-US" sz="2400" b="0" dirty="0">
              <a:cs typeface="Calibri"/>
            </a:endParaRPr>
          </a:p>
          <a:p>
            <a:pPr marL="355600" indent="-342900">
              <a:lnSpc>
                <a:spcPct val="100000"/>
              </a:lnSpc>
              <a:buFont typeface="Arial" panose="020B0604020202020204" pitchFamily="34" charset="0"/>
              <a:buChar char="•"/>
            </a:pPr>
            <a:r>
              <a:rPr lang="en-US" sz="2400" b="0" dirty="0">
                <a:cs typeface="Calibri"/>
              </a:rPr>
              <a:t>In the</a:t>
            </a:r>
            <a:r>
              <a:rPr lang="en-US" sz="2400" b="0" spc="10" dirty="0">
                <a:cs typeface="Calibri"/>
              </a:rPr>
              <a:t> </a:t>
            </a:r>
            <a:r>
              <a:rPr lang="en-US" sz="2400" b="0" dirty="0">
                <a:cs typeface="Calibri"/>
              </a:rPr>
              <a:t>worst case,</a:t>
            </a:r>
            <a:r>
              <a:rPr lang="en-US" sz="2400" b="0" spc="5" dirty="0">
                <a:cs typeface="Calibri"/>
              </a:rPr>
              <a:t> </a:t>
            </a:r>
            <a:r>
              <a:rPr lang="en-US" sz="2400" b="0" dirty="0">
                <a:cs typeface="Calibri"/>
              </a:rPr>
              <a:t>words</a:t>
            </a:r>
            <a:r>
              <a:rPr lang="en-US" sz="2400" b="0" spc="5" dirty="0">
                <a:cs typeface="Calibri"/>
              </a:rPr>
              <a:t> </a:t>
            </a:r>
            <a:r>
              <a:rPr lang="en-US" sz="2400" b="0" dirty="0">
                <a:cs typeface="Calibri"/>
              </a:rPr>
              <a:t>are</a:t>
            </a:r>
            <a:r>
              <a:rPr lang="en-US" sz="2400" b="0" spc="5" dirty="0">
                <a:cs typeface="Calibri"/>
              </a:rPr>
              <a:t> </a:t>
            </a:r>
            <a:r>
              <a:rPr lang="en-US" sz="2400" b="0" spc="-5" dirty="0">
                <a:cs typeface="Calibri"/>
              </a:rPr>
              <a:t>split</a:t>
            </a:r>
            <a:r>
              <a:rPr lang="en-US" sz="2400" b="0" spc="5" dirty="0">
                <a:cs typeface="Calibri"/>
              </a:rPr>
              <a:t> </a:t>
            </a:r>
            <a:r>
              <a:rPr lang="en-US" sz="2400" b="0" dirty="0">
                <a:cs typeface="Calibri"/>
              </a:rPr>
              <a:t>into as</a:t>
            </a:r>
            <a:r>
              <a:rPr lang="en-US" sz="2400" b="0" spc="5" dirty="0">
                <a:cs typeface="Calibri"/>
              </a:rPr>
              <a:t> </a:t>
            </a:r>
            <a:r>
              <a:rPr lang="en-US" sz="2400" b="0" dirty="0">
                <a:cs typeface="Calibri"/>
              </a:rPr>
              <a:t>many</a:t>
            </a:r>
            <a:r>
              <a:rPr lang="en-US" sz="2400" b="0" spc="-10" dirty="0">
                <a:cs typeface="Calibri"/>
              </a:rPr>
              <a:t> </a:t>
            </a:r>
            <a:r>
              <a:rPr lang="en-US" sz="2400" b="0" spc="-5" dirty="0" err="1">
                <a:cs typeface="Calibri"/>
              </a:rPr>
              <a:t>subwords</a:t>
            </a:r>
            <a:r>
              <a:rPr lang="en-US" sz="2400" b="0" spc="5" dirty="0">
                <a:cs typeface="Calibri"/>
              </a:rPr>
              <a:t> </a:t>
            </a:r>
            <a:r>
              <a:rPr lang="en-US" sz="2400" b="0" dirty="0">
                <a:cs typeface="Calibri"/>
              </a:rPr>
              <a:t>as</a:t>
            </a:r>
            <a:r>
              <a:rPr lang="en-US" sz="2400" b="0" spc="5" dirty="0">
                <a:cs typeface="Calibri"/>
              </a:rPr>
              <a:t> </a:t>
            </a:r>
            <a:r>
              <a:rPr lang="en-US" sz="2400" b="0" dirty="0">
                <a:cs typeface="Calibri"/>
              </a:rPr>
              <a:t>they </a:t>
            </a:r>
            <a:r>
              <a:rPr lang="en-US" sz="2400" b="0" spc="-5" dirty="0">
                <a:cs typeface="Calibri"/>
              </a:rPr>
              <a:t>have</a:t>
            </a:r>
            <a:r>
              <a:rPr lang="en-US" sz="2400" b="0" dirty="0">
                <a:cs typeface="Calibri"/>
              </a:rPr>
              <a:t> characters.</a:t>
            </a:r>
          </a:p>
        </p:txBody>
      </p:sp>
      <p:sp>
        <p:nvSpPr>
          <p:cNvPr id="40" name="Title 39"/>
          <p:cNvSpPr>
            <a:spLocks noGrp="1"/>
          </p:cNvSpPr>
          <p:nvPr>
            <p:ph type="title" idx="4294967295"/>
          </p:nvPr>
        </p:nvSpPr>
        <p:spPr>
          <a:xfrm>
            <a:off x="0" y="130175"/>
            <a:ext cx="10880725" cy="1219200"/>
          </a:xfrm>
        </p:spPr>
        <p:txBody>
          <a:bodyPr/>
          <a:lstStyle/>
          <a:p>
            <a:r>
              <a:rPr lang="en-US" dirty="0">
                <a:cs typeface="Calibri"/>
              </a:rPr>
              <a:t>Word</a:t>
            </a:r>
            <a:r>
              <a:rPr lang="en-US" spc="-5" dirty="0">
                <a:cs typeface="Calibri"/>
              </a:rPr>
              <a:t> structure </a:t>
            </a:r>
            <a:r>
              <a:rPr lang="en-US" dirty="0">
                <a:cs typeface="Calibri"/>
              </a:rPr>
              <a:t>and </a:t>
            </a:r>
            <a:r>
              <a:rPr lang="en-US" spc="-5" dirty="0" err="1">
                <a:cs typeface="Calibri"/>
              </a:rPr>
              <a:t>subword</a:t>
            </a:r>
            <a:r>
              <a:rPr lang="en-US" spc="-10" dirty="0">
                <a:cs typeface="Calibri"/>
              </a:rPr>
              <a:t> </a:t>
            </a:r>
            <a:r>
              <a:rPr lang="en-US" dirty="0">
                <a:cs typeface="Calibri"/>
              </a:rPr>
              <a:t>models</a:t>
            </a:r>
            <a:br>
              <a:rPr lang="en-IN" dirty="0"/>
            </a:br>
            <a:endParaRPr lang="en-IN" dirty="0"/>
          </a:p>
        </p:txBody>
      </p:sp>
      <p:sp>
        <p:nvSpPr>
          <p:cNvPr id="4" name="object 4"/>
          <p:cNvSpPr txBox="1"/>
          <p:nvPr/>
        </p:nvSpPr>
        <p:spPr>
          <a:xfrm>
            <a:off x="2314194" y="3211195"/>
            <a:ext cx="67119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word</a:t>
            </a:r>
            <a:endParaRPr sz="2400">
              <a:latin typeface="Calibri"/>
              <a:cs typeface="Calibri"/>
            </a:endParaRPr>
          </a:p>
        </p:txBody>
      </p:sp>
      <p:sp>
        <p:nvSpPr>
          <p:cNvPr id="5" name="object 5"/>
          <p:cNvSpPr txBox="1"/>
          <p:nvPr/>
        </p:nvSpPr>
        <p:spPr>
          <a:xfrm>
            <a:off x="5057647" y="3134741"/>
            <a:ext cx="2242820" cy="2666365"/>
          </a:xfrm>
          <a:prstGeom prst="rect">
            <a:avLst/>
          </a:prstGeom>
        </p:spPr>
        <p:txBody>
          <a:bodyPr vert="horz" wrap="square" lIns="0" tIns="12700" rIns="0" bIns="0" rtlCol="0">
            <a:spAutoFit/>
          </a:bodyPr>
          <a:lstStyle/>
          <a:p>
            <a:pPr marL="12700" marR="336550">
              <a:lnSpc>
                <a:spcPct val="120900"/>
              </a:lnSpc>
              <a:spcBef>
                <a:spcPts val="100"/>
              </a:spcBef>
            </a:pPr>
            <a:r>
              <a:rPr sz="2400" spc="-5" dirty="0">
                <a:latin typeface="Calibri"/>
                <a:cs typeface="Calibri"/>
              </a:rPr>
              <a:t>vocab</a:t>
            </a:r>
            <a:r>
              <a:rPr sz="2400" spc="-65" dirty="0">
                <a:latin typeface="Calibri"/>
                <a:cs typeface="Calibri"/>
              </a:rPr>
              <a:t> </a:t>
            </a:r>
            <a:r>
              <a:rPr sz="2400" spc="-5" dirty="0">
                <a:latin typeface="Calibri"/>
                <a:cs typeface="Calibri"/>
              </a:rPr>
              <a:t>mapping </a:t>
            </a:r>
            <a:r>
              <a:rPr sz="2400" spc="-530" dirty="0">
                <a:latin typeface="Calibri"/>
                <a:cs typeface="Calibri"/>
              </a:rPr>
              <a:t> </a:t>
            </a:r>
            <a:r>
              <a:rPr sz="2400" spc="-5" dirty="0">
                <a:solidFill>
                  <a:srgbClr val="007B92"/>
                </a:solidFill>
                <a:latin typeface="Calibri"/>
                <a:cs typeface="Calibri"/>
              </a:rPr>
              <a:t>hat</a:t>
            </a:r>
            <a:endParaRPr sz="2400">
              <a:latin typeface="Calibri"/>
              <a:cs typeface="Calibri"/>
            </a:endParaRPr>
          </a:p>
          <a:p>
            <a:pPr marL="12700">
              <a:lnSpc>
                <a:spcPct val="100000"/>
              </a:lnSpc>
              <a:spcBef>
                <a:spcPts val="575"/>
              </a:spcBef>
            </a:pPr>
            <a:r>
              <a:rPr sz="2400" dirty="0">
                <a:solidFill>
                  <a:srgbClr val="007B92"/>
                </a:solidFill>
                <a:latin typeface="Calibri"/>
                <a:cs typeface="Calibri"/>
              </a:rPr>
              <a:t>learn</a:t>
            </a:r>
            <a:endParaRPr sz="2400">
              <a:latin typeface="Calibri"/>
              <a:cs typeface="Calibri"/>
            </a:endParaRPr>
          </a:p>
          <a:p>
            <a:pPr marL="12700" marR="5080">
              <a:lnSpc>
                <a:spcPct val="120000"/>
              </a:lnSpc>
            </a:pPr>
            <a:r>
              <a:rPr sz="2400" dirty="0">
                <a:solidFill>
                  <a:srgbClr val="007B92"/>
                </a:solidFill>
                <a:latin typeface="Calibri"/>
                <a:cs typeface="Calibri"/>
              </a:rPr>
              <a:t>taa## aaa## </a:t>
            </a:r>
            <a:r>
              <a:rPr sz="2400" spc="-5" dirty="0">
                <a:solidFill>
                  <a:srgbClr val="007B92"/>
                </a:solidFill>
                <a:latin typeface="Calibri"/>
                <a:cs typeface="Calibri"/>
              </a:rPr>
              <a:t>sty </a:t>
            </a:r>
            <a:r>
              <a:rPr sz="2400" dirty="0">
                <a:solidFill>
                  <a:srgbClr val="007B92"/>
                </a:solidFill>
                <a:latin typeface="Calibri"/>
                <a:cs typeface="Calibri"/>
              </a:rPr>
              <a:t> la## ern## </a:t>
            </a:r>
            <a:r>
              <a:rPr sz="2400" spc="5" dirty="0">
                <a:solidFill>
                  <a:srgbClr val="007B92"/>
                </a:solidFill>
                <a:latin typeface="Calibri"/>
                <a:cs typeface="Calibri"/>
              </a:rPr>
              <a:t> </a:t>
            </a:r>
            <a:r>
              <a:rPr sz="2400" spc="-5" dirty="0">
                <a:solidFill>
                  <a:srgbClr val="007B92"/>
                </a:solidFill>
                <a:latin typeface="Calibri"/>
                <a:cs typeface="Calibri"/>
              </a:rPr>
              <a:t>Transformer##</a:t>
            </a:r>
            <a:r>
              <a:rPr sz="2400" spc="-50" dirty="0">
                <a:solidFill>
                  <a:srgbClr val="007B92"/>
                </a:solidFill>
                <a:latin typeface="Calibri"/>
                <a:cs typeface="Calibri"/>
              </a:rPr>
              <a:t> </a:t>
            </a:r>
            <a:r>
              <a:rPr sz="2400" dirty="0">
                <a:solidFill>
                  <a:srgbClr val="007B92"/>
                </a:solidFill>
                <a:latin typeface="Calibri"/>
                <a:cs typeface="Calibri"/>
              </a:rPr>
              <a:t>ify</a:t>
            </a:r>
            <a:endParaRPr sz="2400">
              <a:latin typeface="Calibri"/>
              <a:cs typeface="Calibri"/>
            </a:endParaRPr>
          </a:p>
        </p:txBody>
      </p:sp>
      <p:sp>
        <p:nvSpPr>
          <p:cNvPr id="6" name="object 6"/>
          <p:cNvSpPr txBox="1"/>
          <p:nvPr/>
        </p:nvSpPr>
        <p:spPr>
          <a:xfrm>
            <a:off x="7801102" y="3211195"/>
            <a:ext cx="142748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embedding</a:t>
            </a:r>
            <a:endParaRPr sz="2400">
              <a:latin typeface="Calibri"/>
              <a:cs typeface="Calibri"/>
            </a:endParaRPr>
          </a:p>
        </p:txBody>
      </p:sp>
      <p:sp>
        <p:nvSpPr>
          <p:cNvPr id="7" name="object 7"/>
          <p:cNvSpPr txBox="1"/>
          <p:nvPr/>
        </p:nvSpPr>
        <p:spPr>
          <a:xfrm>
            <a:off x="2314194" y="3580257"/>
            <a:ext cx="1217930" cy="1781175"/>
          </a:xfrm>
          <a:prstGeom prst="rect">
            <a:avLst/>
          </a:prstGeom>
        </p:spPr>
        <p:txBody>
          <a:bodyPr vert="horz" wrap="square" lIns="0" tIns="12700" rIns="0" bIns="0" rtlCol="0">
            <a:spAutoFit/>
          </a:bodyPr>
          <a:lstStyle/>
          <a:p>
            <a:pPr marL="12700" marR="561340">
              <a:lnSpc>
                <a:spcPct val="120000"/>
              </a:lnSpc>
              <a:spcBef>
                <a:spcPts val="100"/>
              </a:spcBef>
            </a:pPr>
            <a:r>
              <a:rPr sz="2400" spc="-5" dirty="0">
                <a:solidFill>
                  <a:srgbClr val="007B92"/>
                </a:solidFill>
                <a:latin typeface="Calibri"/>
                <a:cs typeface="Calibri"/>
              </a:rPr>
              <a:t>hat </a:t>
            </a:r>
            <a:r>
              <a:rPr sz="2400" dirty="0">
                <a:solidFill>
                  <a:srgbClr val="007B92"/>
                </a:solidFill>
                <a:latin typeface="Calibri"/>
                <a:cs typeface="Calibri"/>
              </a:rPr>
              <a:t> le</a:t>
            </a:r>
            <a:r>
              <a:rPr sz="2400" spc="5" dirty="0">
                <a:solidFill>
                  <a:srgbClr val="007B92"/>
                </a:solidFill>
                <a:latin typeface="Calibri"/>
                <a:cs typeface="Calibri"/>
              </a:rPr>
              <a:t>a</a:t>
            </a:r>
            <a:r>
              <a:rPr sz="2400" dirty="0">
                <a:solidFill>
                  <a:srgbClr val="007B92"/>
                </a:solidFill>
                <a:latin typeface="Calibri"/>
                <a:cs typeface="Calibri"/>
              </a:rPr>
              <a:t>rn</a:t>
            </a:r>
            <a:endParaRPr sz="2400">
              <a:latin typeface="Calibri"/>
              <a:cs typeface="Calibri"/>
            </a:endParaRPr>
          </a:p>
          <a:p>
            <a:pPr marL="12700" marR="5080">
              <a:lnSpc>
                <a:spcPct val="120000"/>
              </a:lnSpc>
            </a:pPr>
            <a:r>
              <a:rPr sz="2400" dirty="0">
                <a:solidFill>
                  <a:srgbClr val="007B92"/>
                </a:solidFill>
                <a:latin typeface="Calibri"/>
                <a:cs typeface="Calibri"/>
              </a:rPr>
              <a:t>taaaaasty  laern</a:t>
            </a:r>
            <a:endParaRPr sz="2400">
              <a:latin typeface="Calibri"/>
              <a:cs typeface="Calibri"/>
            </a:endParaRPr>
          </a:p>
        </p:txBody>
      </p:sp>
      <p:sp>
        <p:nvSpPr>
          <p:cNvPr id="8" name="object 8"/>
          <p:cNvSpPr txBox="1"/>
          <p:nvPr/>
        </p:nvSpPr>
        <p:spPr>
          <a:xfrm>
            <a:off x="4143247" y="3580257"/>
            <a:ext cx="324485" cy="1781175"/>
          </a:xfrm>
          <a:prstGeom prst="rect">
            <a:avLst/>
          </a:prstGeom>
        </p:spPr>
        <p:txBody>
          <a:bodyPr vert="horz" wrap="square" lIns="0" tIns="85725" rIns="0" bIns="0" rtlCol="0">
            <a:spAutoFit/>
          </a:bodyPr>
          <a:lstStyle/>
          <a:p>
            <a:pPr marL="12700">
              <a:lnSpc>
                <a:spcPct val="100000"/>
              </a:lnSpc>
              <a:spcBef>
                <a:spcPts val="675"/>
              </a:spcBef>
            </a:pPr>
            <a:r>
              <a:rPr sz="2400" dirty="0">
                <a:solidFill>
                  <a:srgbClr val="007B92"/>
                </a:solidFill>
                <a:latin typeface="Wingdings"/>
                <a:cs typeface="Wingdings"/>
              </a:rPr>
              <a:t></a:t>
            </a:r>
            <a:endParaRPr sz="2400">
              <a:latin typeface="Wingdings"/>
              <a:cs typeface="Wingdings"/>
            </a:endParaRPr>
          </a:p>
          <a:p>
            <a:pPr marL="12700">
              <a:lnSpc>
                <a:spcPct val="100000"/>
              </a:lnSpc>
              <a:spcBef>
                <a:spcPts val="575"/>
              </a:spcBef>
            </a:pPr>
            <a:r>
              <a:rPr sz="2400" dirty="0">
                <a:solidFill>
                  <a:srgbClr val="007B92"/>
                </a:solidFill>
                <a:latin typeface="Wingdings"/>
                <a:cs typeface="Wingdings"/>
              </a:rPr>
              <a:t></a:t>
            </a:r>
            <a:endParaRPr sz="2400">
              <a:latin typeface="Wingdings"/>
              <a:cs typeface="Wingdings"/>
            </a:endParaRPr>
          </a:p>
          <a:p>
            <a:pPr marL="12700">
              <a:lnSpc>
                <a:spcPct val="100000"/>
              </a:lnSpc>
              <a:spcBef>
                <a:spcPts val="575"/>
              </a:spcBef>
            </a:pPr>
            <a:r>
              <a:rPr sz="2400" dirty="0">
                <a:solidFill>
                  <a:srgbClr val="007B92"/>
                </a:solidFill>
                <a:latin typeface="Wingdings"/>
                <a:cs typeface="Wingdings"/>
              </a:rPr>
              <a:t></a:t>
            </a:r>
            <a:endParaRPr sz="2400">
              <a:latin typeface="Wingdings"/>
              <a:cs typeface="Wingdings"/>
            </a:endParaRPr>
          </a:p>
          <a:p>
            <a:pPr marL="12700">
              <a:lnSpc>
                <a:spcPct val="100000"/>
              </a:lnSpc>
              <a:spcBef>
                <a:spcPts val="575"/>
              </a:spcBef>
            </a:pPr>
            <a:r>
              <a:rPr sz="2400" dirty="0">
                <a:solidFill>
                  <a:srgbClr val="007B92"/>
                </a:solidFill>
                <a:latin typeface="Wingdings"/>
                <a:cs typeface="Wingdings"/>
              </a:rPr>
              <a:t></a:t>
            </a:r>
            <a:endParaRPr sz="2400">
              <a:latin typeface="Wingdings"/>
              <a:cs typeface="Wingdings"/>
            </a:endParaRPr>
          </a:p>
        </p:txBody>
      </p:sp>
      <p:sp>
        <p:nvSpPr>
          <p:cNvPr id="9" name="object 9"/>
          <p:cNvSpPr txBox="1"/>
          <p:nvPr/>
        </p:nvSpPr>
        <p:spPr>
          <a:xfrm>
            <a:off x="2314194" y="5409387"/>
            <a:ext cx="223710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07B92"/>
                </a:solidFill>
                <a:latin typeface="Calibri"/>
                <a:cs typeface="Calibri"/>
              </a:rPr>
              <a:t>Transformerify</a:t>
            </a:r>
            <a:r>
              <a:rPr sz="2400" spc="-45" dirty="0">
                <a:solidFill>
                  <a:srgbClr val="007B92"/>
                </a:solidFill>
                <a:latin typeface="Calibri"/>
                <a:cs typeface="Calibri"/>
              </a:rPr>
              <a:t> </a:t>
            </a:r>
            <a:r>
              <a:rPr sz="2400" dirty="0">
                <a:solidFill>
                  <a:srgbClr val="007B92"/>
                </a:solidFill>
                <a:latin typeface="Wingdings"/>
                <a:cs typeface="Wingdings"/>
              </a:rPr>
              <a:t></a:t>
            </a:r>
            <a:endParaRPr sz="2400">
              <a:latin typeface="Wingdings"/>
              <a:cs typeface="Wingdings"/>
            </a:endParaRPr>
          </a:p>
        </p:txBody>
      </p:sp>
      <p:sp>
        <p:nvSpPr>
          <p:cNvPr id="10" name="object 10"/>
          <p:cNvSpPr/>
          <p:nvPr/>
        </p:nvSpPr>
        <p:spPr>
          <a:xfrm>
            <a:off x="7770876" y="3928871"/>
            <a:ext cx="457200" cy="186055"/>
          </a:xfrm>
          <a:custGeom>
            <a:avLst/>
            <a:gdLst/>
            <a:ahLst/>
            <a:cxnLst/>
            <a:rect l="l" t="t" r="r" b="b"/>
            <a:pathLst>
              <a:path w="457200" h="186054">
                <a:moveTo>
                  <a:pt x="457200" y="0"/>
                </a:moveTo>
                <a:lnTo>
                  <a:pt x="0" y="0"/>
                </a:lnTo>
                <a:lnTo>
                  <a:pt x="0" y="185927"/>
                </a:lnTo>
                <a:lnTo>
                  <a:pt x="457200" y="185927"/>
                </a:lnTo>
                <a:lnTo>
                  <a:pt x="457200" y="0"/>
                </a:lnTo>
                <a:close/>
              </a:path>
            </a:pathLst>
          </a:custGeom>
          <a:solidFill>
            <a:srgbClr val="8B1515"/>
          </a:solidFill>
        </p:spPr>
        <p:txBody>
          <a:bodyPr wrap="square" lIns="0" tIns="0" rIns="0" bIns="0" rtlCol="0"/>
          <a:lstStyle/>
          <a:p>
            <a:endParaRPr/>
          </a:p>
        </p:txBody>
      </p:sp>
      <p:sp>
        <p:nvSpPr>
          <p:cNvPr id="11" name="object 11"/>
          <p:cNvSpPr/>
          <p:nvPr/>
        </p:nvSpPr>
        <p:spPr>
          <a:xfrm>
            <a:off x="7770876" y="4343400"/>
            <a:ext cx="457200" cy="186055"/>
          </a:xfrm>
          <a:custGeom>
            <a:avLst/>
            <a:gdLst/>
            <a:ahLst/>
            <a:cxnLst/>
            <a:rect l="l" t="t" r="r" b="b"/>
            <a:pathLst>
              <a:path w="457200" h="186054">
                <a:moveTo>
                  <a:pt x="457200" y="0"/>
                </a:moveTo>
                <a:lnTo>
                  <a:pt x="0" y="0"/>
                </a:lnTo>
                <a:lnTo>
                  <a:pt x="0" y="185927"/>
                </a:lnTo>
                <a:lnTo>
                  <a:pt x="457200" y="185927"/>
                </a:lnTo>
                <a:lnTo>
                  <a:pt x="457200" y="0"/>
                </a:lnTo>
                <a:close/>
              </a:path>
            </a:pathLst>
          </a:custGeom>
          <a:solidFill>
            <a:srgbClr val="8B1515"/>
          </a:solidFill>
        </p:spPr>
        <p:txBody>
          <a:bodyPr wrap="square" lIns="0" tIns="0" rIns="0" bIns="0" rtlCol="0"/>
          <a:lstStyle/>
          <a:p>
            <a:endParaRPr/>
          </a:p>
        </p:txBody>
      </p:sp>
      <p:grpSp>
        <p:nvGrpSpPr>
          <p:cNvPr id="12" name="object 12"/>
          <p:cNvGrpSpPr/>
          <p:nvPr/>
        </p:nvGrpSpPr>
        <p:grpSpPr>
          <a:xfrm>
            <a:off x="7772209" y="4769929"/>
            <a:ext cx="466725" cy="197485"/>
            <a:chOff x="7772209" y="4769929"/>
            <a:chExt cx="466725" cy="197485"/>
          </a:xfrm>
        </p:grpSpPr>
        <p:sp>
          <p:nvSpPr>
            <p:cNvPr id="13" name="object 13"/>
            <p:cNvSpPr/>
            <p:nvPr/>
          </p:nvSpPr>
          <p:spPr>
            <a:xfrm>
              <a:off x="7776971" y="4774691"/>
              <a:ext cx="457200" cy="187960"/>
            </a:xfrm>
            <a:custGeom>
              <a:avLst/>
              <a:gdLst/>
              <a:ahLst/>
              <a:cxnLst/>
              <a:rect l="l" t="t" r="r" b="b"/>
              <a:pathLst>
                <a:path w="457200" h="187960">
                  <a:moveTo>
                    <a:pt x="457200" y="0"/>
                  </a:moveTo>
                  <a:lnTo>
                    <a:pt x="0" y="0"/>
                  </a:lnTo>
                  <a:lnTo>
                    <a:pt x="0" y="187451"/>
                  </a:lnTo>
                  <a:lnTo>
                    <a:pt x="457200" y="187451"/>
                  </a:lnTo>
                  <a:lnTo>
                    <a:pt x="457200" y="0"/>
                  </a:lnTo>
                  <a:close/>
                </a:path>
              </a:pathLst>
            </a:custGeom>
            <a:solidFill>
              <a:srgbClr val="A30408"/>
            </a:solidFill>
          </p:spPr>
          <p:txBody>
            <a:bodyPr wrap="square" lIns="0" tIns="0" rIns="0" bIns="0" rtlCol="0"/>
            <a:lstStyle/>
            <a:p>
              <a:endParaRPr/>
            </a:p>
          </p:txBody>
        </p:sp>
        <p:sp>
          <p:nvSpPr>
            <p:cNvPr id="14" name="object 14"/>
            <p:cNvSpPr/>
            <p:nvPr/>
          </p:nvSpPr>
          <p:spPr>
            <a:xfrm>
              <a:off x="7776971" y="4774691"/>
              <a:ext cx="457200" cy="187960"/>
            </a:xfrm>
            <a:custGeom>
              <a:avLst/>
              <a:gdLst/>
              <a:ahLst/>
              <a:cxnLst/>
              <a:rect l="l" t="t" r="r" b="b"/>
              <a:pathLst>
                <a:path w="457200" h="187960">
                  <a:moveTo>
                    <a:pt x="0" y="187451"/>
                  </a:moveTo>
                  <a:lnTo>
                    <a:pt x="457200" y="187451"/>
                  </a:lnTo>
                  <a:lnTo>
                    <a:pt x="457200" y="0"/>
                  </a:lnTo>
                  <a:lnTo>
                    <a:pt x="0" y="0"/>
                  </a:lnTo>
                  <a:lnTo>
                    <a:pt x="0" y="187451"/>
                  </a:lnTo>
                  <a:close/>
                </a:path>
              </a:pathLst>
            </a:custGeom>
            <a:ln w="9524">
              <a:solidFill>
                <a:srgbClr val="7E7E7E"/>
              </a:solidFill>
            </a:ln>
          </p:spPr>
          <p:txBody>
            <a:bodyPr wrap="square" lIns="0" tIns="0" rIns="0" bIns="0" rtlCol="0"/>
            <a:lstStyle/>
            <a:p>
              <a:endParaRPr/>
            </a:p>
          </p:txBody>
        </p:sp>
      </p:grpSp>
      <p:sp>
        <p:nvSpPr>
          <p:cNvPr id="15" name="object 15"/>
          <p:cNvSpPr/>
          <p:nvPr/>
        </p:nvSpPr>
        <p:spPr>
          <a:xfrm>
            <a:off x="1786127" y="3854196"/>
            <a:ext cx="228600" cy="609600"/>
          </a:xfrm>
          <a:custGeom>
            <a:avLst/>
            <a:gdLst/>
            <a:ahLst/>
            <a:cxnLst/>
            <a:rect l="l" t="t" r="r" b="b"/>
            <a:pathLst>
              <a:path w="228600" h="609600">
                <a:moveTo>
                  <a:pt x="228600" y="609599"/>
                </a:moveTo>
                <a:lnTo>
                  <a:pt x="184112" y="608105"/>
                </a:lnTo>
                <a:lnTo>
                  <a:pt x="147780" y="604027"/>
                </a:lnTo>
                <a:lnTo>
                  <a:pt x="123283" y="597973"/>
                </a:lnTo>
                <a:lnTo>
                  <a:pt x="114300" y="590549"/>
                </a:lnTo>
                <a:lnTo>
                  <a:pt x="114300" y="323849"/>
                </a:lnTo>
                <a:lnTo>
                  <a:pt x="105316" y="316426"/>
                </a:lnTo>
                <a:lnTo>
                  <a:pt x="80819" y="310372"/>
                </a:lnTo>
                <a:lnTo>
                  <a:pt x="44487" y="306294"/>
                </a:lnTo>
                <a:lnTo>
                  <a:pt x="0" y="304799"/>
                </a:lnTo>
                <a:lnTo>
                  <a:pt x="44487" y="303305"/>
                </a:lnTo>
                <a:lnTo>
                  <a:pt x="80819" y="299227"/>
                </a:lnTo>
                <a:lnTo>
                  <a:pt x="105316" y="293173"/>
                </a:lnTo>
                <a:lnTo>
                  <a:pt x="114300" y="285749"/>
                </a:lnTo>
                <a:lnTo>
                  <a:pt x="114300" y="19049"/>
                </a:lnTo>
                <a:lnTo>
                  <a:pt x="123283" y="11626"/>
                </a:lnTo>
                <a:lnTo>
                  <a:pt x="147780" y="5572"/>
                </a:lnTo>
                <a:lnTo>
                  <a:pt x="184112" y="1494"/>
                </a:lnTo>
                <a:lnTo>
                  <a:pt x="228600" y="0"/>
                </a:lnTo>
              </a:path>
            </a:pathLst>
          </a:custGeom>
          <a:ln w="9525">
            <a:solidFill>
              <a:srgbClr val="000000"/>
            </a:solidFill>
          </a:ln>
        </p:spPr>
        <p:txBody>
          <a:bodyPr wrap="square" lIns="0" tIns="0" rIns="0" bIns="0" rtlCol="0"/>
          <a:lstStyle/>
          <a:p>
            <a:endParaRPr/>
          </a:p>
        </p:txBody>
      </p:sp>
      <p:sp>
        <p:nvSpPr>
          <p:cNvPr id="16" name="object 16"/>
          <p:cNvSpPr txBox="1"/>
          <p:nvPr/>
        </p:nvSpPr>
        <p:spPr>
          <a:xfrm>
            <a:off x="763016" y="3809822"/>
            <a:ext cx="874394" cy="57467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007B92"/>
                </a:solidFill>
                <a:latin typeface="Calibri"/>
                <a:cs typeface="Calibri"/>
              </a:rPr>
              <a:t>Common</a:t>
            </a:r>
            <a:endParaRPr sz="1800">
              <a:latin typeface="Calibri"/>
              <a:cs typeface="Calibri"/>
            </a:endParaRPr>
          </a:p>
          <a:p>
            <a:pPr marL="12700">
              <a:lnSpc>
                <a:spcPct val="100000"/>
              </a:lnSpc>
              <a:spcBef>
                <a:spcPts val="5"/>
              </a:spcBef>
            </a:pPr>
            <a:r>
              <a:rPr sz="1800" spc="-15" dirty="0">
                <a:solidFill>
                  <a:srgbClr val="007B92"/>
                </a:solidFill>
                <a:latin typeface="Calibri"/>
                <a:cs typeface="Calibri"/>
              </a:rPr>
              <a:t>words</a:t>
            </a:r>
            <a:endParaRPr sz="1800">
              <a:latin typeface="Calibri"/>
              <a:cs typeface="Calibri"/>
            </a:endParaRPr>
          </a:p>
        </p:txBody>
      </p:sp>
      <p:sp>
        <p:nvSpPr>
          <p:cNvPr id="17" name="object 17"/>
          <p:cNvSpPr/>
          <p:nvPr/>
        </p:nvSpPr>
        <p:spPr>
          <a:xfrm>
            <a:off x="1748027" y="4594859"/>
            <a:ext cx="241300" cy="1320165"/>
          </a:xfrm>
          <a:custGeom>
            <a:avLst/>
            <a:gdLst/>
            <a:ahLst/>
            <a:cxnLst/>
            <a:rect l="l" t="t" r="r" b="b"/>
            <a:pathLst>
              <a:path w="241300" h="1320164">
                <a:moveTo>
                  <a:pt x="240792" y="429767"/>
                </a:moveTo>
                <a:lnTo>
                  <a:pt x="197477" y="428317"/>
                </a:lnTo>
                <a:lnTo>
                  <a:pt x="162115" y="424354"/>
                </a:lnTo>
                <a:lnTo>
                  <a:pt x="138279" y="418463"/>
                </a:lnTo>
                <a:lnTo>
                  <a:pt x="129540" y="411225"/>
                </a:lnTo>
                <a:lnTo>
                  <a:pt x="129540" y="233425"/>
                </a:lnTo>
                <a:lnTo>
                  <a:pt x="120800" y="226188"/>
                </a:lnTo>
                <a:lnTo>
                  <a:pt x="96964" y="220297"/>
                </a:lnTo>
                <a:lnTo>
                  <a:pt x="61602" y="216334"/>
                </a:lnTo>
                <a:lnTo>
                  <a:pt x="18288" y="214883"/>
                </a:lnTo>
                <a:lnTo>
                  <a:pt x="61602" y="213433"/>
                </a:lnTo>
                <a:lnTo>
                  <a:pt x="96964" y="209470"/>
                </a:lnTo>
                <a:lnTo>
                  <a:pt x="120800" y="203579"/>
                </a:lnTo>
                <a:lnTo>
                  <a:pt x="129540" y="196341"/>
                </a:lnTo>
                <a:lnTo>
                  <a:pt x="129540" y="18541"/>
                </a:lnTo>
                <a:lnTo>
                  <a:pt x="138279" y="11304"/>
                </a:lnTo>
                <a:lnTo>
                  <a:pt x="162115" y="5413"/>
                </a:lnTo>
                <a:lnTo>
                  <a:pt x="197477" y="1450"/>
                </a:lnTo>
                <a:lnTo>
                  <a:pt x="240792" y="0"/>
                </a:lnTo>
              </a:path>
              <a:path w="241300" h="1320164">
                <a:moveTo>
                  <a:pt x="230124" y="886967"/>
                </a:moveTo>
                <a:lnTo>
                  <a:pt x="186809" y="885517"/>
                </a:lnTo>
                <a:lnTo>
                  <a:pt x="151447" y="881554"/>
                </a:lnTo>
                <a:lnTo>
                  <a:pt x="127611" y="875663"/>
                </a:lnTo>
                <a:lnTo>
                  <a:pt x="118872" y="868426"/>
                </a:lnTo>
                <a:lnTo>
                  <a:pt x="118872" y="690626"/>
                </a:lnTo>
                <a:lnTo>
                  <a:pt x="110132" y="683388"/>
                </a:lnTo>
                <a:lnTo>
                  <a:pt x="86296" y="677497"/>
                </a:lnTo>
                <a:lnTo>
                  <a:pt x="50934" y="673534"/>
                </a:lnTo>
                <a:lnTo>
                  <a:pt x="7620" y="672083"/>
                </a:lnTo>
                <a:lnTo>
                  <a:pt x="50934" y="670633"/>
                </a:lnTo>
                <a:lnTo>
                  <a:pt x="86296" y="666670"/>
                </a:lnTo>
                <a:lnTo>
                  <a:pt x="110132" y="660779"/>
                </a:lnTo>
                <a:lnTo>
                  <a:pt x="118872" y="653541"/>
                </a:lnTo>
                <a:lnTo>
                  <a:pt x="118872" y="475741"/>
                </a:lnTo>
                <a:lnTo>
                  <a:pt x="127611" y="468504"/>
                </a:lnTo>
                <a:lnTo>
                  <a:pt x="151447" y="462613"/>
                </a:lnTo>
                <a:lnTo>
                  <a:pt x="186809" y="458650"/>
                </a:lnTo>
                <a:lnTo>
                  <a:pt x="230124" y="457200"/>
                </a:lnTo>
              </a:path>
              <a:path w="241300" h="1320164">
                <a:moveTo>
                  <a:pt x="220980" y="1319783"/>
                </a:moveTo>
                <a:lnTo>
                  <a:pt x="177998" y="1318337"/>
                </a:lnTo>
                <a:lnTo>
                  <a:pt x="142875" y="1314391"/>
                </a:lnTo>
                <a:lnTo>
                  <a:pt x="119181" y="1308537"/>
                </a:lnTo>
                <a:lnTo>
                  <a:pt x="110490" y="1301368"/>
                </a:lnTo>
                <a:lnTo>
                  <a:pt x="110490" y="1123314"/>
                </a:lnTo>
                <a:lnTo>
                  <a:pt x="101798" y="1116146"/>
                </a:lnTo>
                <a:lnTo>
                  <a:pt x="78105" y="1110292"/>
                </a:lnTo>
                <a:lnTo>
                  <a:pt x="42981" y="1106346"/>
                </a:lnTo>
                <a:lnTo>
                  <a:pt x="0" y="1104899"/>
                </a:lnTo>
                <a:lnTo>
                  <a:pt x="42981" y="1103453"/>
                </a:lnTo>
                <a:lnTo>
                  <a:pt x="78105" y="1099507"/>
                </a:lnTo>
                <a:lnTo>
                  <a:pt x="101798" y="1093653"/>
                </a:lnTo>
                <a:lnTo>
                  <a:pt x="110490" y="1086484"/>
                </a:lnTo>
                <a:lnTo>
                  <a:pt x="110490" y="908430"/>
                </a:lnTo>
                <a:lnTo>
                  <a:pt x="119181" y="901267"/>
                </a:lnTo>
                <a:lnTo>
                  <a:pt x="142875" y="895413"/>
                </a:lnTo>
                <a:lnTo>
                  <a:pt x="177998" y="891464"/>
                </a:lnTo>
                <a:lnTo>
                  <a:pt x="220980" y="890015"/>
                </a:lnTo>
              </a:path>
            </a:pathLst>
          </a:custGeom>
          <a:ln w="9525">
            <a:solidFill>
              <a:srgbClr val="000000"/>
            </a:solidFill>
          </a:ln>
        </p:spPr>
        <p:txBody>
          <a:bodyPr wrap="square" lIns="0" tIns="0" rIns="0" bIns="0" rtlCol="0"/>
          <a:lstStyle/>
          <a:p>
            <a:endParaRPr/>
          </a:p>
        </p:txBody>
      </p:sp>
      <p:sp>
        <p:nvSpPr>
          <p:cNvPr id="18" name="object 18"/>
          <p:cNvSpPr txBox="1"/>
          <p:nvPr/>
        </p:nvSpPr>
        <p:spPr>
          <a:xfrm>
            <a:off x="722172" y="4634610"/>
            <a:ext cx="949325" cy="299720"/>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007B92"/>
                </a:solidFill>
                <a:latin typeface="Calibri"/>
                <a:cs typeface="Calibri"/>
              </a:rPr>
              <a:t>V</a:t>
            </a:r>
            <a:r>
              <a:rPr sz="1800" dirty="0">
                <a:solidFill>
                  <a:srgbClr val="007B92"/>
                </a:solidFill>
                <a:latin typeface="Calibri"/>
                <a:cs typeface="Calibri"/>
              </a:rPr>
              <a:t>ar</a:t>
            </a:r>
            <a:r>
              <a:rPr sz="1800" spc="-10" dirty="0">
                <a:solidFill>
                  <a:srgbClr val="007B92"/>
                </a:solidFill>
                <a:latin typeface="Calibri"/>
                <a:cs typeface="Calibri"/>
              </a:rPr>
              <a:t>i</a:t>
            </a:r>
            <a:r>
              <a:rPr sz="1800" spc="-15" dirty="0">
                <a:solidFill>
                  <a:srgbClr val="007B92"/>
                </a:solidFill>
                <a:latin typeface="Calibri"/>
                <a:cs typeface="Calibri"/>
              </a:rPr>
              <a:t>a</a:t>
            </a:r>
            <a:r>
              <a:rPr sz="1800" dirty="0">
                <a:solidFill>
                  <a:srgbClr val="007B92"/>
                </a:solidFill>
                <a:latin typeface="Calibri"/>
                <a:cs typeface="Calibri"/>
              </a:rPr>
              <a:t>t</a:t>
            </a:r>
            <a:r>
              <a:rPr sz="1800" spc="-10" dirty="0">
                <a:solidFill>
                  <a:srgbClr val="007B92"/>
                </a:solidFill>
                <a:latin typeface="Calibri"/>
                <a:cs typeface="Calibri"/>
              </a:rPr>
              <a:t>i</a:t>
            </a:r>
            <a:r>
              <a:rPr sz="1800" spc="-5" dirty="0">
                <a:solidFill>
                  <a:srgbClr val="007B92"/>
                </a:solidFill>
                <a:latin typeface="Calibri"/>
                <a:cs typeface="Calibri"/>
              </a:rPr>
              <a:t>ons</a:t>
            </a:r>
            <a:endParaRPr sz="1800">
              <a:latin typeface="Calibri"/>
              <a:cs typeface="Calibri"/>
            </a:endParaRPr>
          </a:p>
        </p:txBody>
      </p:sp>
      <p:sp>
        <p:nvSpPr>
          <p:cNvPr id="19" name="object 19"/>
          <p:cNvSpPr txBox="1"/>
          <p:nvPr/>
        </p:nvSpPr>
        <p:spPr>
          <a:xfrm>
            <a:off x="520700" y="5092065"/>
            <a:ext cx="114808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007B92"/>
                </a:solidFill>
                <a:latin typeface="Calibri"/>
                <a:cs typeface="Calibri"/>
              </a:rPr>
              <a:t>misspellings</a:t>
            </a:r>
            <a:endParaRPr sz="1800">
              <a:latin typeface="Calibri"/>
              <a:cs typeface="Calibri"/>
            </a:endParaRPr>
          </a:p>
        </p:txBody>
      </p:sp>
      <p:grpSp>
        <p:nvGrpSpPr>
          <p:cNvPr id="20" name="object 20"/>
          <p:cNvGrpSpPr/>
          <p:nvPr/>
        </p:nvGrpSpPr>
        <p:grpSpPr>
          <a:xfrm>
            <a:off x="7772209" y="5211889"/>
            <a:ext cx="466725" cy="195580"/>
            <a:chOff x="7772209" y="5211889"/>
            <a:chExt cx="466725" cy="195580"/>
          </a:xfrm>
        </p:grpSpPr>
        <p:sp>
          <p:nvSpPr>
            <p:cNvPr id="21" name="object 21"/>
            <p:cNvSpPr/>
            <p:nvPr/>
          </p:nvSpPr>
          <p:spPr>
            <a:xfrm>
              <a:off x="7776971" y="5216652"/>
              <a:ext cx="457200" cy="186055"/>
            </a:xfrm>
            <a:custGeom>
              <a:avLst/>
              <a:gdLst/>
              <a:ahLst/>
              <a:cxnLst/>
              <a:rect l="l" t="t" r="r" b="b"/>
              <a:pathLst>
                <a:path w="457200" h="186054">
                  <a:moveTo>
                    <a:pt x="457200" y="0"/>
                  </a:moveTo>
                  <a:lnTo>
                    <a:pt x="0" y="0"/>
                  </a:lnTo>
                  <a:lnTo>
                    <a:pt x="0" y="185928"/>
                  </a:lnTo>
                  <a:lnTo>
                    <a:pt x="457200" y="185928"/>
                  </a:lnTo>
                  <a:lnTo>
                    <a:pt x="457200" y="0"/>
                  </a:lnTo>
                  <a:close/>
                </a:path>
              </a:pathLst>
            </a:custGeom>
            <a:solidFill>
              <a:srgbClr val="A30408"/>
            </a:solidFill>
          </p:spPr>
          <p:txBody>
            <a:bodyPr wrap="square" lIns="0" tIns="0" rIns="0" bIns="0" rtlCol="0"/>
            <a:lstStyle/>
            <a:p>
              <a:endParaRPr/>
            </a:p>
          </p:txBody>
        </p:sp>
        <p:sp>
          <p:nvSpPr>
            <p:cNvPr id="22" name="object 22"/>
            <p:cNvSpPr/>
            <p:nvPr/>
          </p:nvSpPr>
          <p:spPr>
            <a:xfrm>
              <a:off x="7776971" y="5216652"/>
              <a:ext cx="457200" cy="186055"/>
            </a:xfrm>
            <a:custGeom>
              <a:avLst/>
              <a:gdLst/>
              <a:ahLst/>
              <a:cxnLst/>
              <a:rect l="l" t="t" r="r" b="b"/>
              <a:pathLst>
                <a:path w="457200" h="186054">
                  <a:moveTo>
                    <a:pt x="0" y="185928"/>
                  </a:moveTo>
                  <a:lnTo>
                    <a:pt x="457200" y="185928"/>
                  </a:lnTo>
                  <a:lnTo>
                    <a:pt x="457200" y="0"/>
                  </a:lnTo>
                  <a:lnTo>
                    <a:pt x="0" y="0"/>
                  </a:lnTo>
                  <a:lnTo>
                    <a:pt x="0" y="185928"/>
                  </a:lnTo>
                  <a:close/>
                </a:path>
              </a:pathLst>
            </a:custGeom>
            <a:ln w="9525">
              <a:solidFill>
                <a:srgbClr val="7E7E7E"/>
              </a:solidFill>
            </a:ln>
          </p:spPr>
          <p:txBody>
            <a:bodyPr wrap="square" lIns="0" tIns="0" rIns="0" bIns="0" rtlCol="0"/>
            <a:lstStyle/>
            <a:p>
              <a:endParaRPr/>
            </a:p>
          </p:txBody>
        </p:sp>
      </p:grpSp>
      <p:sp>
        <p:nvSpPr>
          <p:cNvPr id="23" name="object 23"/>
          <p:cNvSpPr txBox="1"/>
          <p:nvPr/>
        </p:nvSpPr>
        <p:spPr>
          <a:xfrm>
            <a:off x="512165" y="5525211"/>
            <a:ext cx="109791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007B92"/>
                </a:solidFill>
                <a:latin typeface="Calibri"/>
                <a:cs typeface="Calibri"/>
              </a:rPr>
              <a:t>novel</a:t>
            </a:r>
            <a:r>
              <a:rPr sz="1800" spc="-60" dirty="0">
                <a:solidFill>
                  <a:srgbClr val="007B92"/>
                </a:solidFill>
                <a:latin typeface="Calibri"/>
                <a:cs typeface="Calibri"/>
              </a:rPr>
              <a:t> </a:t>
            </a:r>
            <a:r>
              <a:rPr sz="1800" spc="-10" dirty="0">
                <a:solidFill>
                  <a:srgbClr val="007B92"/>
                </a:solidFill>
                <a:latin typeface="Calibri"/>
                <a:cs typeface="Calibri"/>
              </a:rPr>
              <a:t>items</a:t>
            </a:r>
            <a:endParaRPr sz="1800">
              <a:latin typeface="Calibri"/>
              <a:cs typeface="Calibri"/>
            </a:endParaRPr>
          </a:p>
        </p:txBody>
      </p:sp>
      <p:grpSp>
        <p:nvGrpSpPr>
          <p:cNvPr id="24" name="object 24"/>
          <p:cNvGrpSpPr/>
          <p:nvPr/>
        </p:nvGrpSpPr>
        <p:grpSpPr>
          <a:xfrm>
            <a:off x="7772209" y="5618797"/>
            <a:ext cx="466725" cy="195580"/>
            <a:chOff x="7772209" y="5618797"/>
            <a:chExt cx="466725" cy="195580"/>
          </a:xfrm>
        </p:grpSpPr>
        <p:sp>
          <p:nvSpPr>
            <p:cNvPr id="25" name="object 25"/>
            <p:cNvSpPr/>
            <p:nvPr/>
          </p:nvSpPr>
          <p:spPr>
            <a:xfrm>
              <a:off x="7776971" y="5623559"/>
              <a:ext cx="457200" cy="186055"/>
            </a:xfrm>
            <a:custGeom>
              <a:avLst/>
              <a:gdLst/>
              <a:ahLst/>
              <a:cxnLst/>
              <a:rect l="l" t="t" r="r" b="b"/>
              <a:pathLst>
                <a:path w="457200" h="186054">
                  <a:moveTo>
                    <a:pt x="457200" y="0"/>
                  </a:moveTo>
                  <a:lnTo>
                    <a:pt x="0" y="0"/>
                  </a:lnTo>
                  <a:lnTo>
                    <a:pt x="0" y="185927"/>
                  </a:lnTo>
                  <a:lnTo>
                    <a:pt x="457200" y="185927"/>
                  </a:lnTo>
                  <a:lnTo>
                    <a:pt x="457200" y="0"/>
                  </a:lnTo>
                  <a:close/>
                </a:path>
              </a:pathLst>
            </a:custGeom>
            <a:solidFill>
              <a:srgbClr val="A30408"/>
            </a:solidFill>
          </p:spPr>
          <p:txBody>
            <a:bodyPr wrap="square" lIns="0" tIns="0" rIns="0" bIns="0" rtlCol="0"/>
            <a:lstStyle/>
            <a:p>
              <a:endParaRPr/>
            </a:p>
          </p:txBody>
        </p:sp>
        <p:sp>
          <p:nvSpPr>
            <p:cNvPr id="26" name="object 26"/>
            <p:cNvSpPr/>
            <p:nvPr/>
          </p:nvSpPr>
          <p:spPr>
            <a:xfrm>
              <a:off x="7776971" y="5623559"/>
              <a:ext cx="457200" cy="186055"/>
            </a:xfrm>
            <a:custGeom>
              <a:avLst/>
              <a:gdLst/>
              <a:ahLst/>
              <a:cxnLst/>
              <a:rect l="l" t="t" r="r" b="b"/>
              <a:pathLst>
                <a:path w="457200" h="186054">
                  <a:moveTo>
                    <a:pt x="0" y="185927"/>
                  </a:moveTo>
                  <a:lnTo>
                    <a:pt x="457200" y="185927"/>
                  </a:lnTo>
                  <a:lnTo>
                    <a:pt x="457200" y="0"/>
                  </a:lnTo>
                  <a:lnTo>
                    <a:pt x="0" y="0"/>
                  </a:lnTo>
                  <a:lnTo>
                    <a:pt x="0" y="185927"/>
                  </a:lnTo>
                  <a:close/>
                </a:path>
              </a:pathLst>
            </a:custGeom>
            <a:ln w="9525">
              <a:solidFill>
                <a:srgbClr val="7E7E7E"/>
              </a:solidFill>
            </a:ln>
          </p:spPr>
          <p:txBody>
            <a:bodyPr wrap="square" lIns="0" tIns="0" rIns="0" bIns="0" rtlCol="0"/>
            <a:lstStyle/>
            <a:p>
              <a:endParaRPr/>
            </a:p>
          </p:txBody>
        </p:sp>
      </p:grpSp>
      <p:grpSp>
        <p:nvGrpSpPr>
          <p:cNvPr id="27" name="object 27"/>
          <p:cNvGrpSpPr/>
          <p:nvPr/>
        </p:nvGrpSpPr>
        <p:grpSpPr>
          <a:xfrm>
            <a:off x="8528113" y="4768405"/>
            <a:ext cx="466725" cy="197485"/>
            <a:chOff x="8528113" y="4768405"/>
            <a:chExt cx="466725" cy="197485"/>
          </a:xfrm>
        </p:grpSpPr>
        <p:sp>
          <p:nvSpPr>
            <p:cNvPr id="28" name="object 28"/>
            <p:cNvSpPr/>
            <p:nvPr/>
          </p:nvSpPr>
          <p:spPr>
            <a:xfrm>
              <a:off x="8532876" y="4773167"/>
              <a:ext cx="457200" cy="187960"/>
            </a:xfrm>
            <a:custGeom>
              <a:avLst/>
              <a:gdLst/>
              <a:ahLst/>
              <a:cxnLst/>
              <a:rect l="l" t="t" r="r" b="b"/>
              <a:pathLst>
                <a:path w="457200" h="187960">
                  <a:moveTo>
                    <a:pt x="457200" y="0"/>
                  </a:moveTo>
                  <a:lnTo>
                    <a:pt x="0" y="0"/>
                  </a:lnTo>
                  <a:lnTo>
                    <a:pt x="0" y="187451"/>
                  </a:lnTo>
                  <a:lnTo>
                    <a:pt x="457200" y="187451"/>
                  </a:lnTo>
                  <a:lnTo>
                    <a:pt x="457200" y="0"/>
                  </a:lnTo>
                  <a:close/>
                </a:path>
              </a:pathLst>
            </a:custGeom>
            <a:solidFill>
              <a:srgbClr val="A30408"/>
            </a:solidFill>
          </p:spPr>
          <p:txBody>
            <a:bodyPr wrap="square" lIns="0" tIns="0" rIns="0" bIns="0" rtlCol="0"/>
            <a:lstStyle/>
            <a:p>
              <a:endParaRPr/>
            </a:p>
          </p:txBody>
        </p:sp>
        <p:sp>
          <p:nvSpPr>
            <p:cNvPr id="29" name="object 29"/>
            <p:cNvSpPr/>
            <p:nvPr/>
          </p:nvSpPr>
          <p:spPr>
            <a:xfrm>
              <a:off x="8532876" y="4773167"/>
              <a:ext cx="457200" cy="187960"/>
            </a:xfrm>
            <a:custGeom>
              <a:avLst/>
              <a:gdLst/>
              <a:ahLst/>
              <a:cxnLst/>
              <a:rect l="l" t="t" r="r" b="b"/>
              <a:pathLst>
                <a:path w="457200" h="187960">
                  <a:moveTo>
                    <a:pt x="0" y="187451"/>
                  </a:moveTo>
                  <a:lnTo>
                    <a:pt x="457200" y="187451"/>
                  </a:lnTo>
                  <a:lnTo>
                    <a:pt x="457200" y="0"/>
                  </a:lnTo>
                  <a:lnTo>
                    <a:pt x="0" y="0"/>
                  </a:lnTo>
                  <a:lnTo>
                    <a:pt x="0" y="187451"/>
                  </a:lnTo>
                  <a:close/>
                </a:path>
              </a:pathLst>
            </a:custGeom>
            <a:ln w="9524">
              <a:solidFill>
                <a:srgbClr val="7E7E7E"/>
              </a:solidFill>
            </a:ln>
          </p:spPr>
          <p:txBody>
            <a:bodyPr wrap="square" lIns="0" tIns="0" rIns="0" bIns="0" rtlCol="0"/>
            <a:lstStyle/>
            <a:p>
              <a:endParaRPr/>
            </a:p>
          </p:txBody>
        </p:sp>
      </p:grpSp>
      <p:grpSp>
        <p:nvGrpSpPr>
          <p:cNvPr id="30" name="object 30"/>
          <p:cNvGrpSpPr/>
          <p:nvPr/>
        </p:nvGrpSpPr>
        <p:grpSpPr>
          <a:xfrm>
            <a:off x="8528113" y="5210365"/>
            <a:ext cx="466725" cy="195580"/>
            <a:chOff x="8528113" y="5210365"/>
            <a:chExt cx="466725" cy="195580"/>
          </a:xfrm>
        </p:grpSpPr>
        <p:sp>
          <p:nvSpPr>
            <p:cNvPr id="31" name="object 31"/>
            <p:cNvSpPr/>
            <p:nvPr/>
          </p:nvSpPr>
          <p:spPr>
            <a:xfrm>
              <a:off x="8532876" y="5215128"/>
              <a:ext cx="457200" cy="186055"/>
            </a:xfrm>
            <a:custGeom>
              <a:avLst/>
              <a:gdLst/>
              <a:ahLst/>
              <a:cxnLst/>
              <a:rect l="l" t="t" r="r" b="b"/>
              <a:pathLst>
                <a:path w="457200" h="186054">
                  <a:moveTo>
                    <a:pt x="457200" y="0"/>
                  </a:moveTo>
                  <a:lnTo>
                    <a:pt x="0" y="0"/>
                  </a:lnTo>
                  <a:lnTo>
                    <a:pt x="0" y="185928"/>
                  </a:lnTo>
                  <a:lnTo>
                    <a:pt x="457200" y="185928"/>
                  </a:lnTo>
                  <a:lnTo>
                    <a:pt x="457200" y="0"/>
                  </a:lnTo>
                  <a:close/>
                </a:path>
              </a:pathLst>
            </a:custGeom>
            <a:solidFill>
              <a:srgbClr val="A30408"/>
            </a:solidFill>
          </p:spPr>
          <p:txBody>
            <a:bodyPr wrap="square" lIns="0" tIns="0" rIns="0" bIns="0" rtlCol="0"/>
            <a:lstStyle/>
            <a:p>
              <a:endParaRPr/>
            </a:p>
          </p:txBody>
        </p:sp>
        <p:sp>
          <p:nvSpPr>
            <p:cNvPr id="32" name="object 32"/>
            <p:cNvSpPr/>
            <p:nvPr/>
          </p:nvSpPr>
          <p:spPr>
            <a:xfrm>
              <a:off x="8532876" y="5215128"/>
              <a:ext cx="457200" cy="186055"/>
            </a:xfrm>
            <a:custGeom>
              <a:avLst/>
              <a:gdLst/>
              <a:ahLst/>
              <a:cxnLst/>
              <a:rect l="l" t="t" r="r" b="b"/>
              <a:pathLst>
                <a:path w="457200" h="186054">
                  <a:moveTo>
                    <a:pt x="0" y="185928"/>
                  </a:moveTo>
                  <a:lnTo>
                    <a:pt x="457200" y="185928"/>
                  </a:lnTo>
                  <a:lnTo>
                    <a:pt x="457200" y="0"/>
                  </a:lnTo>
                  <a:lnTo>
                    <a:pt x="0" y="0"/>
                  </a:lnTo>
                  <a:lnTo>
                    <a:pt x="0" y="185928"/>
                  </a:lnTo>
                  <a:close/>
                </a:path>
              </a:pathLst>
            </a:custGeom>
            <a:ln w="9525">
              <a:solidFill>
                <a:srgbClr val="7E7E7E"/>
              </a:solidFill>
            </a:ln>
          </p:spPr>
          <p:txBody>
            <a:bodyPr wrap="square" lIns="0" tIns="0" rIns="0" bIns="0" rtlCol="0"/>
            <a:lstStyle/>
            <a:p>
              <a:endParaRPr/>
            </a:p>
          </p:txBody>
        </p:sp>
      </p:grpSp>
      <p:grpSp>
        <p:nvGrpSpPr>
          <p:cNvPr id="33" name="object 33"/>
          <p:cNvGrpSpPr/>
          <p:nvPr/>
        </p:nvGrpSpPr>
        <p:grpSpPr>
          <a:xfrm>
            <a:off x="8528113" y="5617273"/>
            <a:ext cx="466725" cy="195580"/>
            <a:chOff x="8528113" y="5617273"/>
            <a:chExt cx="466725" cy="195580"/>
          </a:xfrm>
        </p:grpSpPr>
        <p:sp>
          <p:nvSpPr>
            <p:cNvPr id="34" name="object 34"/>
            <p:cNvSpPr/>
            <p:nvPr/>
          </p:nvSpPr>
          <p:spPr>
            <a:xfrm>
              <a:off x="8532876" y="5622035"/>
              <a:ext cx="457200" cy="186055"/>
            </a:xfrm>
            <a:custGeom>
              <a:avLst/>
              <a:gdLst/>
              <a:ahLst/>
              <a:cxnLst/>
              <a:rect l="l" t="t" r="r" b="b"/>
              <a:pathLst>
                <a:path w="457200" h="186054">
                  <a:moveTo>
                    <a:pt x="457200" y="0"/>
                  </a:moveTo>
                  <a:lnTo>
                    <a:pt x="0" y="0"/>
                  </a:lnTo>
                  <a:lnTo>
                    <a:pt x="0" y="185927"/>
                  </a:lnTo>
                  <a:lnTo>
                    <a:pt x="457200" y="185927"/>
                  </a:lnTo>
                  <a:lnTo>
                    <a:pt x="457200" y="0"/>
                  </a:lnTo>
                  <a:close/>
                </a:path>
              </a:pathLst>
            </a:custGeom>
            <a:solidFill>
              <a:srgbClr val="A30408"/>
            </a:solidFill>
          </p:spPr>
          <p:txBody>
            <a:bodyPr wrap="square" lIns="0" tIns="0" rIns="0" bIns="0" rtlCol="0"/>
            <a:lstStyle/>
            <a:p>
              <a:endParaRPr/>
            </a:p>
          </p:txBody>
        </p:sp>
        <p:sp>
          <p:nvSpPr>
            <p:cNvPr id="35" name="object 35"/>
            <p:cNvSpPr/>
            <p:nvPr/>
          </p:nvSpPr>
          <p:spPr>
            <a:xfrm>
              <a:off x="8532876" y="5622035"/>
              <a:ext cx="457200" cy="186055"/>
            </a:xfrm>
            <a:custGeom>
              <a:avLst/>
              <a:gdLst/>
              <a:ahLst/>
              <a:cxnLst/>
              <a:rect l="l" t="t" r="r" b="b"/>
              <a:pathLst>
                <a:path w="457200" h="186054">
                  <a:moveTo>
                    <a:pt x="0" y="185927"/>
                  </a:moveTo>
                  <a:lnTo>
                    <a:pt x="457200" y="185927"/>
                  </a:lnTo>
                  <a:lnTo>
                    <a:pt x="457200" y="0"/>
                  </a:lnTo>
                  <a:lnTo>
                    <a:pt x="0" y="0"/>
                  </a:lnTo>
                  <a:lnTo>
                    <a:pt x="0" y="185927"/>
                  </a:lnTo>
                  <a:close/>
                </a:path>
              </a:pathLst>
            </a:custGeom>
            <a:ln w="9525">
              <a:solidFill>
                <a:srgbClr val="7E7E7E"/>
              </a:solidFill>
            </a:ln>
          </p:spPr>
          <p:txBody>
            <a:bodyPr wrap="square" lIns="0" tIns="0" rIns="0" bIns="0" rtlCol="0"/>
            <a:lstStyle/>
            <a:p>
              <a:endParaRPr/>
            </a:p>
          </p:txBody>
        </p:sp>
      </p:grpSp>
      <p:grpSp>
        <p:nvGrpSpPr>
          <p:cNvPr id="36" name="object 36"/>
          <p:cNvGrpSpPr/>
          <p:nvPr/>
        </p:nvGrpSpPr>
        <p:grpSpPr>
          <a:xfrm>
            <a:off x="9282493" y="4768405"/>
            <a:ext cx="466725" cy="197485"/>
            <a:chOff x="9282493" y="4768405"/>
            <a:chExt cx="466725" cy="197485"/>
          </a:xfrm>
        </p:grpSpPr>
        <p:sp>
          <p:nvSpPr>
            <p:cNvPr id="37" name="object 37"/>
            <p:cNvSpPr/>
            <p:nvPr/>
          </p:nvSpPr>
          <p:spPr>
            <a:xfrm>
              <a:off x="9287256" y="4773167"/>
              <a:ext cx="457200" cy="187960"/>
            </a:xfrm>
            <a:custGeom>
              <a:avLst/>
              <a:gdLst/>
              <a:ahLst/>
              <a:cxnLst/>
              <a:rect l="l" t="t" r="r" b="b"/>
              <a:pathLst>
                <a:path w="457200" h="187960">
                  <a:moveTo>
                    <a:pt x="457200" y="0"/>
                  </a:moveTo>
                  <a:lnTo>
                    <a:pt x="0" y="0"/>
                  </a:lnTo>
                  <a:lnTo>
                    <a:pt x="0" y="187451"/>
                  </a:lnTo>
                  <a:lnTo>
                    <a:pt x="457200" y="187451"/>
                  </a:lnTo>
                  <a:lnTo>
                    <a:pt x="457200" y="0"/>
                  </a:lnTo>
                  <a:close/>
                </a:path>
              </a:pathLst>
            </a:custGeom>
            <a:solidFill>
              <a:srgbClr val="A30408"/>
            </a:solidFill>
          </p:spPr>
          <p:txBody>
            <a:bodyPr wrap="square" lIns="0" tIns="0" rIns="0" bIns="0" rtlCol="0"/>
            <a:lstStyle/>
            <a:p>
              <a:endParaRPr/>
            </a:p>
          </p:txBody>
        </p:sp>
        <p:sp>
          <p:nvSpPr>
            <p:cNvPr id="38" name="object 38"/>
            <p:cNvSpPr/>
            <p:nvPr/>
          </p:nvSpPr>
          <p:spPr>
            <a:xfrm>
              <a:off x="9287256" y="4773167"/>
              <a:ext cx="457200" cy="187960"/>
            </a:xfrm>
            <a:custGeom>
              <a:avLst/>
              <a:gdLst/>
              <a:ahLst/>
              <a:cxnLst/>
              <a:rect l="l" t="t" r="r" b="b"/>
              <a:pathLst>
                <a:path w="457200" h="187960">
                  <a:moveTo>
                    <a:pt x="0" y="187451"/>
                  </a:moveTo>
                  <a:lnTo>
                    <a:pt x="457200" y="187451"/>
                  </a:lnTo>
                  <a:lnTo>
                    <a:pt x="457200" y="0"/>
                  </a:lnTo>
                  <a:lnTo>
                    <a:pt x="0" y="0"/>
                  </a:lnTo>
                  <a:lnTo>
                    <a:pt x="0" y="187451"/>
                  </a:lnTo>
                  <a:close/>
                </a:path>
              </a:pathLst>
            </a:custGeom>
            <a:ln w="9524">
              <a:solidFill>
                <a:srgbClr val="7E7E7E"/>
              </a:solidFill>
            </a:ln>
          </p:spPr>
          <p:txBody>
            <a:bodyPr wrap="square" lIns="0" tIns="0" rIns="0" bIns="0" rtlCol="0"/>
            <a:lstStyle/>
            <a:p>
              <a:endParaRPr/>
            </a:p>
          </p:txBody>
        </p:sp>
      </p:grpSp>
    </p:spTree>
    <p:extLst>
      <p:ext uri="{BB962C8B-B14F-4D97-AF65-F5344CB8AC3E}">
        <p14:creationId xmlns:p14="http://schemas.microsoft.com/office/powerpoint/2010/main" val="1778909593"/>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Types of tokens</a:t>
            </a:r>
            <a:endParaRPr lang="en-IN" dirty="0"/>
          </a:p>
        </p:txBody>
      </p:sp>
      <p:pic>
        <p:nvPicPr>
          <p:cNvPr id="3" name="Picture 2"/>
          <p:cNvPicPr>
            <a:picLocks noChangeAspect="1"/>
          </p:cNvPicPr>
          <p:nvPr/>
        </p:nvPicPr>
        <p:blipFill>
          <a:blip r:embed="rId3"/>
          <a:stretch>
            <a:fillRect/>
          </a:stretch>
        </p:blipFill>
        <p:spPr>
          <a:xfrm>
            <a:off x="238259" y="2039267"/>
            <a:ext cx="5791200" cy="4619625"/>
          </a:xfrm>
          <a:prstGeom prst="rect">
            <a:avLst/>
          </a:prstGeom>
        </p:spPr>
      </p:pic>
      <p:sp>
        <p:nvSpPr>
          <p:cNvPr id="4" name="Rectangle 3"/>
          <p:cNvSpPr/>
          <p:nvPr/>
        </p:nvSpPr>
        <p:spPr>
          <a:xfrm>
            <a:off x="6693963" y="3062520"/>
            <a:ext cx="4679323" cy="1200329"/>
          </a:xfrm>
          <a:prstGeom prst="rect">
            <a:avLst/>
          </a:prstGeom>
          <a:solidFill>
            <a:schemeClr val="accent1">
              <a:lumMod val="40000"/>
              <a:lumOff val="60000"/>
            </a:schemeClr>
          </a:solidFill>
        </p:spPr>
        <p:txBody>
          <a:bodyPr wrap="square">
            <a:spAutoFit/>
          </a:bodyPr>
          <a:lstStyle/>
          <a:p>
            <a:r>
              <a:rPr lang="en-US" dirty="0" err="1"/>
              <a:t>Subword</a:t>
            </a:r>
            <a:r>
              <a:rPr lang="en-US" dirty="0"/>
              <a:t> Tokens</a:t>
            </a:r>
          </a:p>
          <a:p>
            <a:r>
              <a:rPr lang="en-US" dirty="0"/>
              <a:t>Ability to represent new words by breaking down the new token into smaller characters, which tend to be a part of the vocabulary</a:t>
            </a:r>
            <a:endParaRPr lang="en-IN" dirty="0"/>
          </a:p>
        </p:txBody>
      </p:sp>
      <p:sp>
        <p:nvSpPr>
          <p:cNvPr id="5" name="Rectangle 4"/>
          <p:cNvSpPr/>
          <p:nvPr/>
        </p:nvSpPr>
        <p:spPr>
          <a:xfrm>
            <a:off x="6029459" y="1315792"/>
            <a:ext cx="6096000" cy="1477328"/>
          </a:xfrm>
          <a:prstGeom prst="rect">
            <a:avLst/>
          </a:prstGeom>
          <a:solidFill>
            <a:schemeClr val="accent3">
              <a:lumMod val="20000"/>
              <a:lumOff val="80000"/>
            </a:schemeClr>
          </a:solidFill>
        </p:spPr>
        <p:txBody>
          <a:bodyPr>
            <a:spAutoFit/>
          </a:bodyPr>
          <a:lstStyle/>
          <a:p>
            <a:r>
              <a:rPr lang="en-US" dirty="0"/>
              <a:t>Word Tokens (E.g.word2vec</a:t>
            </a:r>
            <a:r>
              <a:rPr lang="en-IN" dirty="0"/>
              <a:t>)</a:t>
            </a:r>
            <a:endParaRPr lang="en-US" dirty="0"/>
          </a:p>
          <a:p>
            <a:pPr marL="285750" indent="-285750">
              <a:buFont typeface="Arial" panose="020B0604020202020204" pitchFamily="34" charset="0"/>
              <a:buChar char="•"/>
            </a:pPr>
            <a:r>
              <a:rPr lang="en-US" dirty="0"/>
              <a:t>Unable to deal with new words that enter the dataset after the tokenizer was trained</a:t>
            </a:r>
          </a:p>
          <a:p>
            <a:pPr marL="285750" indent="-285750">
              <a:buFont typeface="Arial" panose="020B0604020202020204" pitchFamily="34" charset="0"/>
              <a:buChar char="•"/>
            </a:pPr>
            <a:r>
              <a:rPr lang="en-US" dirty="0"/>
              <a:t>A lot of tokens with minimal differences between them (e.g., apology, apologize, apologetic, apologist)</a:t>
            </a:r>
          </a:p>
        </p:txBody>
      </p:sp>
      <p:sp>
        <p:nvSpPr>
          <p:cNvPr id="6" name="Rectangle 5"/>
          <p:cNvSpPr/>
          <p:nvPr/>
        </p:nvSpPr>
        <p:spPr>
          <a:xfrm>
            <a:off x="6499537" y="4552641"/>
            <a:ext cx="5068173" cy="2031325"/>
          </a:xfrm>
          <a:prstGeom prst="rect">
            <a:avLst/>
          </a:prstGeom>
          <a:solidFill>
            <a:schemeClr val="bg2">
              <a:lumMod val="90000"/>
            </a:schemeClr>
          </a:solidFill>
        </p:spPr>
        <p:txBody>
          <a:bodyPr wrap="square">
            <a:spAutoFit/>
          </a:bodyPr>
          <a:lstStyle/>
          <a:p>
            <a:r>
              <a:rPr lang="en-US" dirty="0"/>
              <a:t>Byte tokens</a:t>
            </a:r>
          </a:p>
          <a:p>
            <a:r>
              <a:rPr lang="en-US" dirty="0"/>
              <a:t>vocabulary based on </a:t>
            </a:r>
            <a:r>
              <a:rPr lang="en-US" b="1" dirty="0"/>
              <a:t>UTF-8 bytes (256)</a:t>
            </a:r>
            <a:endParaRPr lang="en-US" dirty="0"/>
          </a:p>
          <a:p>
            <a:r>
              <a:rPr lang="en-US" b="1" dirty="0"/>
              <a:t>One Token = One Byte</a:t>
            </a:r>
          </a:p>
          <a:p>
            <a:r>
              <a:rPr lang="en-US" dirty="0"/>
              <a:t>E.G : "Apple"</a:t>
            </a:r>
          </a:p>
          <a:p>
            <a:r>
              <a:rPr lang="en-US" dirty="0"/>
              <a:t>[65] [112] [112] [108] [101] (5 tokens)</a:t>
            </a:r>
          </a:p>
          <a:p>
            <a:r>
              <a:rPr lang="en-US" dirty="0"/>
              <a:t>Tokenizer-free" model (e.g. </a:t>
            </a:r>
            <a:r>
              <a:rPr lang="en-US" b="1" dirty="0"/>
              <a:t>ByT5</a:t>
            </a:r>
            <a:r>
              <a:rPr lang="en-US" dirty="0"/>
              <a:t> or </a:t>
            </a:r>
            <a:r>
              <a:rPr lang="en-US" b="1" dirty="0"/>
              <a:t>CANINE</a:t>
            </a:r>
            <a:r>
              <a:rPr lang="en-US" dirty="0"/>
              <a:t>)</a:t>
            </a:r>
          </a:p>
          <a:p>
            <a:endParaRPr lang="en-IN" dirty="0"/>
          </a:p>
        </p:txBody>
      </p:sp>
    </p:spTree>
    <p:extLst>
      <p:ext uri="{BB962C8B-B14F-4D97-AF65-F5344CB8AC3E}">
        <p14:creationId xmlns:p14="http://schemas.microsoft.com/office/powerpoint/2010/main" val="696562387"/>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err="1"/>
              <a:t>Subword</a:t>
            </a:r>
            <a:r>
              <a:rPr lang="en-US" dirty="0"/>
              <a:t> tokenization</a:t>
            </a:r>
            <a:endParaRPr lang="en-IN" dirty="0"/>
          </a:p>
        </p:txBody>
      </p:sp>
      <p:sp>
        <p:nvSpPr>
          <p:cNvPr id="3" name="Content Placeholder 2">
            <a:extLst>
              <a:ext uri="{FF2B5EF4-FFF2-40B4-BE49-F238E27FC236}">
                <a16:creationId xmlns:a16="http://schemas.microsoft.com/office/drawing/2014/main" id="{EE78749E-F2D9-8A47-AD4D-D41E36DCE5D2}"/>
              </a:ext>
            </a:extLst>
          </p:cNvPr>
          <p:cNvSpPr txBox="1">
            <a:spLocks/>
          </p:cNvSpPr>
          <p:nvPr/>
        </p:nvSpPr>
        <p:spPr>
          <a:xfrm>
            <a:off x="167425" y="1545224"/>
            <a:ext cx="12024575" cy="4525963"/>
          </a:xfrm>
          <a:prstGeom prst="rect">
            <a:avLst/>
          </a:prstGeom>
        </p:spPr>
        <p:txBody>
          <a:bodyPr>
            <a:normAutofit lnSpcReduction="10000"/>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nSpc>
                <a:spcPct val="110000"/>
              </a:lnSpc>
              <a:buFont typeface="Arial" panose="020B0604020202020204" pitchFamily="34" charset="0"/>
              <a:buChar char="•"/>
            </a:pPr>
            <a:r>
              <a:rPr lang="en-US" kern="0" dirty="0">
                <a:solidFill>
                  <a:sysClr val="windowText" lastClr="000000"/>
                </a:solidFill>
              </a:rPr>
              <a:t>Three common algorithms:</a:t>
            </a:r>
          </a:p>
          <a:p>
            <a:pPr marL="800100" lvl="1" indent="-342900">
              <a:lnSpc>
                <a:spcPct val="110000"/>
              </a:lnSpc>
              <a:buFont typeface="Arial" panose="020B0604020202020204" pitchFamily="34" charset="0"/>
              <a:buChar char="•"/>
            </a:pPr>
            <a:r>
              <a:rPr lang="en-US" b="1" kern="0" dirty="0">
                <a:solidFill>
                  <a:sysClr val="windowText" lastClr="000000"/>
                </a:solidFill>
              </a:rPr>
              <a:t>Byte-Pair Encoding (BPE) </a:t>
            </a:r>
            <a:r>
              <a:rPr lang="en-US" kern="0" dirty="0">
                <a:solidFill>
                  <a:sysClr val="windowText" lastClr="000000"/>
                </a:solidFill>
              </a:rPr>
              <a:t>(Sennrich et al., 2016)</a:t>
            </a:r>
          </a:p>
          <a:p>
            <a:pPr marL="800100" lvl="1" indent="-342900">
              <a:lnSpc>
                <a:spcPct val="110000"/>
              </a:lnSpc>
              <a:buFont typeface="Arial" panose="020B0604020202020204" pitchFamily="34" charset="0"/>
              <a:buChar char="•"/>
            </a:pPr>
            <a:r>
              <a:rPr lang="en-US" b="1" kern="0" dirty="0">
                <a:solidFill>
                  <a:sysClr val="windowText" lastClr="000000"/>
                </a:solidFill>
              </a:rPr>
              <a:t>Unigram language modeling tokenization </a:t>
            </a:r>
            <a:r>
              <a:rPr lang="en-US" kern="0" dirty="0">
                <a:solidFill>
                  <a:sysClr val="windowText" lastClr="000000"/>
                </a:solidFill>
              </a:rPr>
              <a:t>(Kudo, 2018)</a:t>
            </a:r>
          </a:p>
          <a:p>
            <a:pPr marL="800100" lvl="1" indent="-342900">
              <a:lnSpc>
                <a:spcPct val="110000"/>
              </a:lnSpc>
              <a:buFont typeface="Arial" panose="020B0604020202020204" pitchFamily="34" charset="0"/>
              <a:buChar char="•"/>
            </a:pPr>
            <a:r>
              <a:rPr lang="en-US" b="1" kern="0" dirty="0" err="1">
                <a:solidFill>
                  <a:sysClr val="windowText" lastClr="000000"/>
                </a:solidFill>
              </a:rPr>
              <a:t>WordPiece</a:t>
            </a:r>
            <a:r>
              <a:rPr lang="en-US" b="1" kern="0" dirty="0">
                <a:solidFill>
                  <a:sysClr val="windowText" lastClr="000000"/>
                </a:solidFill>
              </a:rPr>
              <a:t> </a:t>
            </a:r>
            <a:r>
              <a:rPr lang="en-US" kern="0" dirty="0">
                <a:solidFill>
                  <a:sysClr val="windowText" lastClr="000000"/>
                </a:solidFill>
              </a:rPr>
              <a:t>(Schuster and Nakajima, 2012)</a:t>
            </a:r>
          </a:p>
          <a:p>
            <a:pPr marL="342900" indent="-342900">
              <a:lnSpc>
                <a:spcPct val="110000"/>
              </a:lnSpc>
              <a:buFont typeface="Arial" panose="020B0604020202020204" pitchFamily="34" charset="0"/>
              <a:buChar char="•"/>
            </a:pPr>
            <a:r>
              <a:rPr lang="en-US" kern="0" dirty="0">
                <a:solidFill>
                  <a:sysClr val="windowText" lastClr="000000"/>
                </a:solidFill>
              </a:rPr>
              <a:t>All have 2 parts:</a:t>
            </a:r>
          </a:p>
          <a:p>
            <a:pPr marL="800100" lvl="1" indent="-342900">
              <a:lnSpc>
                <a:spcPct val="110000"/>
              </a:lnSpc>
              <a:buFont typeface="Arial" panose="020B0604020202020204" pitchFamily="34" charset="0"/>
              <a:buChar char="•"/>
            </a:pPr>
            <a:r>
              <a:rPr lang="en-US" kern="0" dirty="0">
                <a:solidFill>
                  <a:sysClr val="windowText" lastClr="000000"/>
                </a:solidFill>
              </a:rPr>
              <a:t>A token </a:t>
            </a:r>
            <a:r>
              <a:rPr lang="en-US" b="1" kern="0" dirty="0">
                <a:solidFill>
                  <a:sysClr val="windowText" lastClr="000000"/>
                </a:solidFill>
              </a:rPr>
              <a:t>learner</a:t>
            </a:r>
            <a:r>
              <a:rPr lang="en-US" kern="0" dirty="0">
                <a:solidFill>
                  <a:sysClr val="windowText" lastClr="000000"/>
                </a:solidFill>
              </a:rPr>
              <a:t> that takes a raw training corpus and induces a vocabulary (a set of tokens). </a:t>
            </a:r>
          </a:p>
          <a:p>
            <a:pPr marL="800100" lvl="1" indent="-342900">
              <a:lnSpc>
                <a:spcPct val="110000"/>
              </a:lnSpc>
              <a:buFont typeface="Arial" panose="020B0604020202020204" pitchFamily="34" charset="0"/>
              <a:buChar char="•"/>
            </a:pPr>
            <a:r>
              <a:rPr lang="en-US" kern="0" dirty="0">
                <a:solidFill>
                  <a:sysClr val="windowText" lastClr="000000"/>
                </a:solidFill>
              </a:rPr>
              <a:t>A token </a:t>
            </a:r>
            <a:r>
              <a:rPr lang="en-US" b="1" kern="0" dirty="0" err="1">
                <a:solidFill>
                  <a:sysClr val="windowText" lastClr="000000"/>
                </a:solidFill>
              </a:rPr>
              <a:t>segmenter</a:t>
            </a:r>
            <a:r>
              <a:rPr lang="en-US" kern="0" dirty="0">
                <a:solidFill>
                  <a:sysClr val="windowText" lastClr="000000"/>
                </a:solidFill>
              </a:rPr>
              <a:t> that takes a raw test sentence and tokenizes it according to that vocabulary</a:t>
            </a:r>
          </a:p>
          <a:p>
            <a:pPr marL="510536" indent="-342900">
              <a:lnSpc>
                <a:spcPct val="110000"/>
              </a:lnSpc>
              <a:buFont typeface="Arial" panose="020B0604020202020204" pitchFamily="34" charset="0"/>
              <a:buChar char="•"/>
              <a:tabLst>
                <a:tab pos="625671" algn="l"/>
              </a:tabLst>
            </a:pPr>
            <a:r>
              <a:rPr lang="en-US" kern="0" spc="-27" dirty="0">
                <a:solidFill>
                  <a:sysClr val="windowText" lastClr="000000"/>
                </a:solidFill>
                <a:cs typeface="Arial MT"/>
              </a:rPr>
              <a:t>Vocabulary</a:t>
            </a:r>
            <a:r>
              <a:rPr lang="en-US" kern="0" spc="7" dirty="0">
                <a:solidFill>
                  <a:sysClr val="windowText" lastClr="000000"/>
                </a:solidFill>
                <a:cs typeface="Arial MT"/>
              </a:rPr>
              <a:t> </a:t>
            </a:r>
            <a:r>
              <a:rPr lang="en-US" kern="0" dirty="0">
                <a:solidFill>
                  <a:sysClr val="windowText" lastClr="000000"/>
                </a:solidFill>
                <a:cs typeface="Arial MT"/>
              </a:rPr>
              <a:t>is</a:t>
            </a:r>
            <a:r>
              <a:rPr lang="en-US" kern="0" spc="13" dirty="0">
                <a:solidFill>
                  <a:sysClr val="windowText" lastClr="000000"/>
                </a:solidFill>
                <a:cs typeface="Arial MT"/>
              </a:rPr>
              <a:t> </a:t>
            </a:r>
            <a:r>
              <a:rPr lang="en-US" kern="0" dirty="0">
                <a:solidFill>
                  <a:sysClr val="windowText" lastClr="000000"/>
                </a:solidFill>
                <a:cs typeface="Arial MT"/>
              </a:rPr>
              <a:t>built</a:t>
            </a:r>
            <a:r>
              <a:rPr lang="en-US" kern="0" spc="13" dirty="0">
                <a:solidFill>
                  <a:sysClr val="windowText" lastClr="000000"/>
                </a:solidFill>
                <a:cs typeface="Arial MT"/>
              </a:rPr>
              <a:t> </a:t>
            </a:r>
            <a:r>
              <a:rPr lang="en-US" kern="0" spc="-13" dirty="0">
                <a:solidFill>
                  <a:sysClr val="windowText" lastClr="000000"/>
                </a:solidFill>
                <a:cs typeface="Arial MT"/>
              </a:rPr>
              <a:t>dynamically</a:t>
            </a:r>
            <a:endParaRPr lang="en-US" kern="0" dirty="0">
              <a:solidFill>
                <a:sysClr val="windowText" lastClr="000000"/>
              </a:solidFill>
              <a:cs typeface="Arial MT"/>
            </a:endParaRPr>
          </a:p>
          <a:p>
            <a:pPr marL="1120121" lvl="1" indent="-342900">
              <a:lnSpc>
                <a:spcPct val="110000"/>
              </a:lnSpc>
              <a:buFont typeface="Arial" panose="020B0604020202020204" pitchFamily="34" charset="0"/>
              <a:buChar char="•"/>
              <a:tabLst>
                <a:tab pos="1235256" algn="l"/>
              </a:tabLst>
            </a:pPr>
            <a:r>
              <a:rPr lang="en-US" kern="0" dirty="0">
                <a:solidFill>
                  <a:sysClr val="windowText" lastClr="000000"/>
                </a:solidFill>
                <a:cs typeface="Arial MT"/>
              </a:rPr>
              <a:t>Frequent</a:t>
            </a:r>
            <a:r>
              <a:rPr lang="en-US" kern="0" spc="53" dirty="0">
                <a:solidFill>
                  <a:sysClr val="windowText" lastClr="000000"/>
                </a:solidFill>
                <a:cs typeface="Arial MT"/>
              </a:rPr>
              <a:t> </a:t>
            </a:r>
            <a:r>
              <a:rPr lang="en-US" kern="0" dirty="0">
                <a:solidFill>
                  <a:sysClr val="windowText" lastClr="000000"/>
                </a:solidFill>
                <a:cs typeface="Arial MT"/>
              </a:rPr>
              <a:t>words</a:t>
            </a:r>
            <a:r>
              <a:rPr lang="en-US" kern="0" spc="60" dirty="0">
                <a:solidFill>
                  <a:sysClr val="windowText" lastClr="000000"/>
                </a:solidFill>
                <a:cs typeface="Arial MT"/>
              </a:rPr>
              <a:t> </a:t>
            </a:r>
            <a:r>
              <a:rPr lang="en-US" kern="0" dirty="0">
                <a:solidFill>
                  <a:sysClr val="windowText" lastClr="000000"/>
                </a:solidFill>
                <a:cs typeface="Arial MT"/>
              </a:rPr>
              <a:t>get</a:t>
            </a:r>
            <a:r>
              <a:rPr lang="en-US" kern="0" spc="53" dirty="0">
                <a:solidFill>
                  <a:sysClr val="windowText" lastClr="000000"/>
                </a:solidFill>
                <a:cs typeface="Arial MT"/>
              </a:rPr>
              <a:t> </a:t>
            </a:r>
            <a:r>
              <a:rPr lang="en-US" kern="0" spc="-27" dirty="0">
                <a:solidFill>
                  <a:sysClr val="windowText" lastClr="000000"/>
                </a:solidFill>
                <a:cs typeface="Arial MT"/>
              </a:rPr>
              <a:t>assigned</a:t>
            </a:r>
            <a:r>
              <a:rPr lang="en-US" kern="0" spc="60" dirty="0">
                <a:solidFill>
                  <a:sysClr val="windowText" lastClr="000000"/>
                </a:solidFill>
                <a:cs typeface="Arial MT"/>
              </a:rPr>
              <a:t> </a:t>
            </a:r>
            <a:r>
              <a:rPr lang="en-US" kern="0" dirty="0">
                <a:solidFill>
                  <a:sysClr val="windowText" lastClr="000000"/>
                </a:solidFill>
                <a:cs typeface="Arial MT"/>
              </a:rPr>
              <a:t>their</a:t>
            </a:r>
            <a:r>
              <a:rPr lang="en-US" kern="0" spc="53" dirty="0">
                <a:solidFill>
                  <a:sysClr val="windowText" lastClr="000000"/>
                </a:solidFill>
                <a:cs typeface="Arial MT"/>
              </a:rPr>
              <a:t> </a:t>
            </a:r>
            <a:r>
              <a:rPr lang="en-US" kern="0" dirty="0">
                <a:solidFill>
                  <a:sysClr val="windowText" lastClr="000000"/>
                </a:solidFill>
                <a:cs typeface="Arial MT"/>
              </a:rPr>
              <a:t>own</a:t>
            </a:r>
            <a:r>
              <a:rPr lang="en-US" kern="0" spc="60" dirty="0">
                <a:solidFill>
                  <a:sysClr val="windowText" lastClr="000000"/>
                </a:solidFill>
                <a:cs typeface="Arial MT"/>
              </a:rPr>
              <a:t> </a:t>
            </a:r>
            <a:r>
              <a:rPr lang="en-US" kern="0" spc="-13" dirty="0">
                <a:solidFill>
                  <a:sysClr val="windowText" lastClr="000000"/>
                </a:solidFill>
                <a:cs typeface="Arial MT"/>
              </a:rPr>
              <a:t>tokens</a:t>
            </a:r>
            <a:endParaRPr lang="en-US" kern="0" dirty="0">
              <a:solidFill>
                <a:sysClr val="windowText" lastClr="000000"/>
              </a:solidFill>
              <a:cs typeface="Arial MT"/>
            </a:endParaRPr>
          </a:p>
          <a:p>
            <a:pPr marL="1120121" lvl="1" indent="-342900">
              <a:lnSpc>
                <a:spcPct val="110000"/>
              </a:lnSpc>
              <a:buFont typeface="Arial" panose="020B0604020202020204" pitchFamily="34" charset="0"/>
              <a:buChar char="•"/>
              <a:tabLst>
                <a:tab pos="1235256" algn="l"/>
              </a:tabLst>
            </a:pPr>
            <a:r>
              <a:rPr lang="en-US" kern="0" spc="-67" dirty="0">
                <a:solidFill>
                  <a:sysClr val="windowText" lastClr="000000"/>
                </a:solidFill>
                <a:cs typeface="Arial MT"/>
              </a:rPr>
              <a:t>Rare</a:t>
            </a:r>
            <a:r>
              <a:rPr lang="en-US" kern="0" spc="53" dirty="0">
                <a:solidFill>
                  <a:sysClr val="windowText" lastClr="000000"/>
                </a:solidFill>
                <a:cs typeface="Arial MT"/>
              </a:rPr>
              <a:t> </a:t>
            </a:r>
            <a:r>
              <a:rPr lang="en-US" kern="0" dirty="0">
                <a:solidFill>
                  <a:sysClr val="windowText" lastClr="000000"/>
                </a:solidFill>
                <a:cs typeface="Arial MT"/>
              </a:rPr>
              <a:t>words</a:t>
            </a:r>
            <a:r>
              <a:rPr lang="en-US" kern="0" spc="53" dirty="0">
                <a:solidFill>
                  <a:sysClr val="windowText" lastClr="000000"/>
                </a:solidFill>
                <a:cs typeface="Arial MT"/>
              </a:rPr>
              <a:t> </a:t>
            </a:r>
            <a:r>
              <a:rPr lang="en-US" kern="0" dirty="0">
                <a:solidFill>
                  <a:sysClr val="windowText" lastClr="000000"/>
                </a:solidFill>
                <a:cs typeface="Arial MT"/>
              </a:rPr>
              <a:t>are</a:t>
            </a:r>
            <a:r>
              <a:rPr lang="en-US" kern="0" spc="53" dirty="0">
                <a:solidFill>
                  <a:sysClr val="windowText" lastClr="000000"/>
                </a:solidFill>
                <a:cs typeface="Arial MT"/>
              </a:rPr>
              <a:t> </a:t>
            </a:r>
            <a:r>
              <a:rPr lang="en-US" kern="0" dirty="0">
                <a:solidFill>
                  <a:sysClr val="windowText" lastClr="000000"/>
                </a:solidFill>
                <a:cs typeface="Arial MT"/>
              </a:rPr>
              <a:t>split</a:t>
            </a:r>
            <a:r>
              <a:rPr lang="en-US" kern="0" spc="53" dirty="0">
                <a:solidFill>
                  <a:sysClr val="windowText" lastClr="000000"/>
                </a:solidFill>
                <a:cs typeface="Arial MT"/>
              </a:rPr>
              <a:t> </a:t>
            </a:r>
            <a:r>
              <a:rPr lang="en-US" kern="0" dirty="0">
                <a:solidFill>
                  <a:sysClr val="windowText" lastClr="000000"/>
                </a:solidFill>
                <a:cs typeface="Arial MT"/>
              </a:rPr>
              <a:t>into</a:t>
            </a:r>
            <a:r>
              <a:rPr lang="en-US" kern="0" spc="53" dirty="0">
                <a:solidFill>
                  <a:sysClr val="windowText" lastClr="000000"/>
                </a:solidFill>
                <a:cs typeface="Arial MT"/>
              </a:rPr>
              <a:t> </a:t>
            </a:r>
            <a:r>
              <a:rPr lang="en-US" kern="0" dirty="0">
                <a:solidFill>
                  <a:sysClr val="windowText" lastClr="000000"/>
                </a:solidFill>
                <a:cs typeface="Arial MT"/>
              </a:rPr>
              <a:t>sub-</a:t>
            </a:r>
            <a:r>
              <a:rPr lang="en-US" kern="0" spc="-13" dirty="0">
                <a:solidFill>
                  <a:sysClr val="windowText" lastClr="000000"/>
                </a:solidFill>
                <a:cs typeface="Arial MT"/>
              </a:rPr>
              <a:t>words</a:t>
            </a:r>
            <a:endParaRPr lang="en-US" kern="0" dirty="0">
              <a:solidFill>
                <a:sysClr val="windowText" lastClr="000000"/>
              </a:solidFill>
              <a:cs typeface="Arial MT"/>
            </a:endParaRPr>
          </a:p>
          <a:p>
            <a:pPr marL="800100" lvl="1" indent="-342900">
              <a:buFont typeface="Arial" panose="020B0604020202020204" pitchFamily="34" charset="0"/>
              <a:buChar char="•"/>
            </a:pPr>
            <a:endParaRPr lang="en-US" kern="0" dirty="0">
              <a:solidFill>
                <a:sysClr val="windowText" lastClr="000000"/>
              </a:solidFill>
            </a:endParaRPr>
          </a:p>
          <a:p>
            <a:pPr marL="342900" indent="-342900">
              <a:buFont typeface="Arial" panose="020B0604020202020204" pitchFamily="34" charset="0"/>
              <a:buChar char="•"/>
            </a:pPr>
            <a:endParaRPr lang="en-US" kern="0" dirty="0">
              <a:solidFill>
                <a:sysClr val="windowText" lastClr="000000"/>
              </a:solidFill>
            </a:endParaRPr>
          </a:p>
        </p:txBody>
      </p:sp>
    </p:spTree>
    <p:extLst>
      <p:ext uri="{BB962C8B-B14F-4D97-AF65-F5344CB8AC3E}">
        <p14:creationId xmlns:p14="http://schemas.microsoft.com/office/powerpoint/2010/main" val="2688004877"/>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Byte</a:t>
            </a:r>
            <a:r>
              <a:rPr lang="en-IN" spc="-240" dirty="0"/>
              <a:t> </a:t>
            </a:r>
            <a:r>
              <a:rPr lang="en-IN" spc="-13" dirty="0"/>
              <a:t>Pair</a:t>
            </a:r>
            <a:r>
              <a:rPr lang="en-IN" spc="-233" dirty="0"/>
              <a:t> </a:t>
            </a:r>
            <a:r>
              <a:rPr lang="en-IN" spc="-13" dirty="0"/>
              <a:t>Encoding</a:t>
            </a:r>
            <a:endParaRPr lang="en-IN" dirty="0"/>
          </a:p>
        </p:txBody>
      </p:sp>
      <p:sp>
        <p:nvSpPr>
          <p:cNvPr id="3" name="Content Placeholder 6"/>
          <p:cNvSpPr txBox="1">
            <a:spLocks/>
          </p:cNvSpPr>
          <p:nvPr/>
        </p:nvSpPr>
        <p:spPr>
          <a:xfrm>
            <a:off x="304801" y="1467950"/>
            <a:ext cx="11480800" cy="4525963"/>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6933">
              <a:spcBef>
                <a:spcPts val="493"/>
              </a:spcBef>
            </a:pPr>
            <a:r>
              <a:rPr lang="en-US" sz="2000" kern="0" dirty="0">
                <a:solidFill>
                  <a:sysClr val="windowText" lastClr="000000"/>
                </a:solidFill>
                <a:cs typeface="Arial MT"/>
              </a:rPr>
              <a:t>An</a:t>
            </a:r>
            <a:r>
              <a:rPr lang="en-US" sz="2000" kern="0" spc="60" dirty="0">
                <a:solidFill>
                  <a:sysClr val="windowText" lastClr="000000"/>
                </a:solidFill>
                <a:cs typeface="Arial MT"/>
              </a:rPr>
              <a:t> </a:t>
            </a:r>
            <a:r>
              <a:rPr lang="en-US" sz="2000" kern="0" dirty="0">
                <a:solidFill>
                  <a:sysClr val="windowText" lastClr="000000"/>
                </a:solidFill>
                <a:cs typeface="Arial MT"/>
              </a:rPr>
              <a:t>efficient</a:t>
            </a:r>
            <a:r>
              <a:rPr lang="en-US" sz="2000" kern="0" spc="73" dirty="0">
                <a:solidFill>
                  <a:sysClr val="windowText" lastClr="000000"/>
                </a:solidFill>
                <a:cs typeface="Arial MT"/>
              </a:rPr>
              <a:t> </a:t>
            </a:r>
            <a:r>
              <a:rPr lang="en-US" sz="2000" kern="0" dirty="0">
                <a:solidFill>
                  <a:sysClr val="windowText" lastClr="000000"/>
                </a:solidFill>
                <a:cs typeface="Arial MT"/>
              </a:rPr>
              <a:t>learning</a:t>
            </a:r>
            <a:r>
              <a:rPr lang="en-US" sz="2000" kern="0" spc="80" dirty="0">
                <a:solidFill>
                  <a:sysClr val="windowText" lastClr="000000"/>
                </a:solidFill>
                <a:cs typeface="Arial MT"/>
              </a:rPr>
              <a:t> </a:t>
            </a:r>
            <a:r>
              <a:rPr lang="en-US" sz="2000" kern="0" dirty="0">
                <a:solidFill>
                  <a:sysClr val="windowText" lastClr="000000"/>
                </a:solidFill>
                <a:cs typeface="Arial MT"/>
              </a:rPr>
              <a:t>implementation</a:t>
            </a:r>
            <a:r>
              <a:rPr lang="en-US" sz="2000" kern="0" spc="73" dirty="0">
                <a:solidFill>
                  <a:sysClr val="windowText" lastClr="000000"/>
                </a:solidFill>
                <a:cs typeface="Arial MT"/>
              </a:rPr>
              <a:t> </a:t>
            </a:r>
            <a:r>
              <a:rPr lang="en-US" sz="2000" kern="0" dirty="0">
                <a:solidFill>
                  <a:sysClr val="windowText" lastClr="000000"/>
                </a:solidFill>
                <a:cs typeface="Arial MT"/>
              </a:rPr>
              <a:t>of</a:t>
            </a:r>
            <a:r>
              <a:rPr lang="en-US" sz="2000" kern="0" spc="80" dirty="0">
                <a:solidFill>
                  <a:sysClr val="windowText" lastClr="000000"/>
                </a:solidFill>
                <a:cs typeface="Arial MT"/>
              </a:rPr>
              <a:t> </a:t>
            </a:r>
            <a:r>
              <a:rPr lang="en-US" sz="2000" kern="0" spc="-27" dirty="0">
                <a:solidFill>
                  <a:sysClr val="windowText" lastClr="000000"/>
                </a:solidFill>
                <a:cs typeface="Arial MT"/>
              </a:rPr>
              <a:t>BPE:</a:t>
            </a:r>
            <a:endParaRPr lang="en-US" sz="2000" kern="0" dirty="0">
              <a:solidFill>
                <a:sysClr val="windowText" lastClr="000000"/>
              </a:solidFill>
              <a:cs typeface="Arial MT"/>
            </a:endParaRPr>
          </a:p>
          <a:p>
            <a:pPr marL="625671" indent="-509681">
              <a:spcBef>
                <a:spcPts val="360"/>
              </a:spcBef>
              <a:buFontTx/>
              <a:buAutoNum type="arabicPeriod"/>
              <a:tabLst>
                <a:tab pos="625671" algn="l"/>
              </a:tabLst>
            </a:pPr>
            <a:r>
              <a:rPr lang="en-US" sz="2000" kern="0" spc="-80" dirty="0" err="1">
                <a:solidFill>
                  <a:sysClr val="windowText" lastClr="000000"/>
                </a:solidFill>
                <a:cs typeface="Arial MT"/>
              </a:rPr>
              <a:t>Pretokenization</a:t>
            </a:r>
            <a:r>
              <a:rPr lang="en-US" sz="2000" kern="0" spc="-80" dirty="0">
                <a:solidFill>
                  <a:sysClr val="windowText" lastClr="000000"/>
                </a:solidFill>
                <a:cs typeface="Arial MT"/>
              </a:rPr>
              <a:t>: S</a:t>
            </a:r>
            <a:r>
              <a:rPr lang="en-US" sz="2000" kern="0" dirty="0">
                <a:solidFill>
                  <a:sysClr val="windowText" lastClr="000000"/>
                </a:solidFill>
                <a:cs typeface="Arial MT"/>
              </a:rPr>
              <a:t>plit</a:t>
            </a:r>
            <a:r>
              <a:rPr lang="en-US" sz="2000" kern="0" spc="20" dirty="0">
                <a:solidFill>
                  <a:sysClr val="windowText" lastClr="000000"/>
                </a:solidFill>
                <a:cs typeface="Arial MT"/>
              </a:rPr>
              <a:t> </a:t>
            </a:r>
            <a:r>
              <a:rPr lang="en-US" sz="2000" kern="0" dirty="0">
                <a:solidFill>
                  <a:sysClr val="windowText" lastClr="000000"/>
                </a:solidFill>
                <a:cs typeface="Arial MT"/>
              </a:rPr>
              <a:t>the corpus </a:t>
            </a:r>
            <a:r>
              <a:rPr lang="en-US" sz="2000" kern="0" spc="20" dirty="0">
                <a:solidFill>
                  <a:sysClr val="windowText" lastClr="000000"/>
                </a:solidFill>
                <a:cs typeface="Arial MT"/>
              </a:rPr>
              <a:t> </a:t>
            </a:r>
            <a:r>
              <a:rPr lang="en-US" sz="2000" kern="0" dirty="0">
                <a:solidFill>
                  <a:sysClr val="windowText" lastClr="000000"/>
                </a:solidFill>
                <a:cs typeface="Arial MT"/>
              </a:rPr>
              <a:t>into</a:t>
            </a:r>
            <a:r>
              <a:rPr lang="en-US" sz="2000" kern="0" spc="20" dirty="0">
                <a:solidFill>
                  <a:sysClr val="windowText" lastClr="000000"/>
                </a:solidFill>
                <a:cs typeface="Arial MT"/>
              </a:rPr>
              <a:t> </a:t>
            </a:r>
            <a:r>
              <a:rPr lang="en-US" sz="2000" kern="0" dirty="0">
                <a:solidFill>
                  <a:sysClr val="windowText" lastClr="000000"/>
                </a:solidFill>
                <a:cs typeface="Arial MT"/>
              </a:rPr>
              <a:t>words</a:t>
            </a:r>
            <a:r>
              <a:rPr lang="en-US" sz="2000" kern="0" spc="20" dirty="0">
                <a:solidFill>
                  <a:sysClr val="windowText" lastClr="000000"/>
                </a:solidFill>
                <a:cs typeface="Arial MT"/>
              </a:rPr>
              <a:t> </a:t>
            </a:r>
            <a:r>
              <a:rPr lang="en-US" sz="2000" kern="0" spc="-87" dirty="0">
                <a:solidFill>
                  <a:sysClr val="windowText" lastClr="000000"/>
                </a:solidFill>
                <a:cs typeface="Arial MT"/>
              </a:rPr>
              <a:t>(e.g.</a:t>
            </a:r>
            <a:r>
              <a:rPr lang="en-US" sz="2000" kern="0" spc="20" dirty="0">
                <a:solidFill>
                  <a:sysClr val="windowText" lastClr="000000"/>
                </a:solidFill>
                <a:cs typeface="Arial MT"/>
              </a:rPr>
              <a:t> </a:t>
            </a:r>
            <a:r>
              <a:rPr lang="en-US" sz="2000" kern="0" dirty="0">
                <a:solidFill>
                  <a:sysClr val="windowText" lastClr="000000"/>
                </a:solidFill>
                <a:cs typeface="Arial MT"/>
              </a:rPr>
              <a:t>using</a:t>
            </a:r>
            <a:r>
              <a:rPr lang="en-US" sz="2000" kern="0" spc="20" dirty="0">
                <a:solidFill>
                  <a:sysClr val="windowText" lastClr="000000"/>
                </a:solidFill>
                <a:cs typeface="Arial MT"/>
              </a:rPr>
              <a:t> </a:t>
            </a:r>
            <a:r>
              <a:rPr lang="en-US" sz="2000" kern="0" dirty="0">
                <a:solidFill>
                  <a:sysClr val="windowText" lastClr="000000"/>
                </a:solidFill>
                <a:cs typeface="Arial MT"/>
              </a:rPr>
              <a:t>a</a:t>
            </a:r>
            <a:r>
              <a:rPr lang="en-US" sz="2000" kern="0" spc="20" dirty="0">
                <a:solidFill>
                  <a:sysClr val="windowText" lastClr="000000"/>
                </a:solidFill>
                <a:cs typeface="Arial MT"/>
              </a:rPr>
              <a:t> </a:t>
            </a:r>
            <a:r>
              <a:rPr lang="en-US" sz="2000" kern="0" dirty="0">
                <a:solidFill>
                  <a:sysClr val="windowText" lastClr="000000"/>
                </a:solidFill>
                <a:cs typeface="Arial MT"/>
              </a:rPr>
              <a:t>rule-based</a:t>
            </a:r>
            <a:r>
              <a:rPr lang="en-US" sz="2000" kern="0" spc="20" dirty="0">
                <a:solidFill>
                  <a:sysClr val="windowText" lastClr="000000"/>
                </a:solidFill>
                <a:cs typeface="Arial MT"/>
              </a:rPr>
              <a:t> </a:t>
            </a:r>
            <a:r>
              <a:rPr lang="en-US" sz="2000" kern="0" spc="-13" dirty="0">
                <a:solidFill>
                  <a:sysClr val="windowText" lastClr="000000"/>
                </a:solidFill>
                <a:cs typeface="Arial MT"/>
              </a:rPr>
              <a:t>tokenizer)</a:t>
            </a:r>
            <a:endParaRPr lang="en-US" sz="2000" kern="0" dirty="0">
              <a:solidFill>
                <a:sysClr val="windowText" lastClr="000000"/>
              </a:solidFill>
              <a:cs typeface="Arial MT"/>
            </a:endParaRPr>
          </a:p>
          <a:p>
            <a:pPr marL="625671" indent="-509681">
              <a:spcBef>
                <a:spcPts val="360"/>
              </a:spcBef>
              <a:buFontTx/>
              <a:buAutoNum type="arabicPeriod"/>
              <a:tabLst>
                <a:tab pos="625671" algn="l"/>
              </a:tabLst>
            </a:pPr>
            <a:r>
              <a:rPr lang="en-US" sz="2000" kern="0" dirty="0">
                <a:solidFill>
                  <a:sysClr val="windowText" lastClr="000000"/>
                </a:solidFill>
                <a:cs typeface="Arial MT"/>
              </a:rPr>
              <a:t>Construct</a:t>
            </a:r>
            <a:r>
              <a:rPr lang="en-US" sz="2000" kern="0" spc="67" dirty="0">
                <a:solidFill>
                  <a:sysClr val="windowText" lastClr="000000"/>
                </a:solidFill>
                <a:cs typeface="Arial MT"/>
              </a:rPr>
              <a:t> </a:t>
            </a:r>
            <a:r>
              <a:rPr lang="en-US" sz="2000" kern="0" dirty="0">
                <a:solidFill>
                  <a:sysClr val="windowText" lastClr="000000"/>
                </a:solidFill>
                <a:cs typeface="Arial MT"/>
              </a:rPr>
              <a:t>a</a:t>
            </a:r>
            <a:r>
              <a:rPr lang="en-US" sz="2000" kern="0" spc="67" dirty="0">
                <a:solidFill>
                  <a:sysClr val="windowText" lastClr="000000"/>
                </a:solidFill>
                <a:cs typeface="Arial MT"/>
              </a:rPr>
              <a:t> </a:t>
            </a:r>
            <a:r>
              <a:rPr lang="en-US" sz="2000" kern="0" dirty="0">
                <a:solidFill>
                  <a:sysClr val="windowText" lastClr="000000"/>
                </a:solidFill>
                <a:cs typeface="Arial MT"/>
              </a:rPr>
              <a:t>word</a:t>
            </a:r>
            <a:r>
              <a:rPr lang="en-US" sz="2000" kern="0" spc="67" dirty="0">
                <a:solidFill>
                  <a:sysClr val="windowText" lastClr="000000"/>
                </a:solidFill>
                <a:cs typeface="Arial MT"/>
              </a:rPr>
              <a:t> </a:t>
            </a:r>
            <a:r>
              <a:rPr lang="en-US" sz="2000" kern="0" dirty="0">
                <a:solidFill>
                  <a:sysClr val="windowText" lastClr="000000"/>
                </a:solidFill>
                <a:cs typeface="Arial MT"/>
              </a:rPr>
              <a:t>dictionary</a:t>
            </a:r>
            <a:r>
              <a:rPr lang="en-US" sz="2000" kern="0" spc="67" dirty="0">
                <a:solidFill>
                  <a:sysClr val="windowText" lastClr="000000"/>
                </a:solidFill>
                <a:cs typeface="Arial MT"/>
              </a:rPr>
              <a:t> </a:t>
            </a:r>
            <a:r>
              <a:rPr lang="en-US" sz="2000" kern="0" dirty="0">
                <a:solidFill>
                  <a:sysClr val="windowText" lastClr="000000"/>
                </a:solidFill>
                <a:cs typeface="Arial MT"/>
              </a:rPr>
              <a:t>with</a:t>
            </a:r>
            <a:r>
              <a:rPr lang="en-US" sz="2000" kern="0" spc="67" dirty="0">
                <a:solidFill>
                  <a:sysClr val="windowText" lastClr="000000"/>
                </a:solidFill>
                <a:cs typeface="Arial MT"/>
              </a:rPr>
              <a:t> </a:t>
            </a:r>
            <a:r>
              <a:rPr lang="en-US" sz="2000" kern="0" dirty="0">
                <a:solidFill>
                  <a:sysClr val="windowText" lastClr="000000"/>
                </a:solidFill>
                <a:cs typeface="Arial MT"/>
              </a:rPr>
              <a:t>frequency</a:t>
            </a:r>
            <a:r>
              <a:rPr lang="en-US" sz="2000" kern="0" spc="67" dirty="0">
                <a:solidFill>
                  <a:sysClr val="windowText" lastClr="000000"/>
                </a:solidFill>
                <a:cs typeface="Arial MT"/>
              </a:rPr>
              <a:t> </a:t>
            </a:r>
            <a:r>
              <a:rPr lang="en-US" sz="2000" kern="0" spc="-13" dirty="0">
                <a:solidFill>
                  <a:sysClr val="windowText" lastClr="000000"/>
                </a:solidFill>
                <a:cs typeface="Arial MT"/>
              </a:rPr>
              <a:t>counts</a:t>
            </a:r>
            <a:endParaRPr lang="en-US" sz="2000" kern="0" dirty="0">
              <a:solidFill>
                <a:sysClr val="windowText" lastClr="000000"/>
              </a:solidFill>
              <a:cs typeface="Arial MT"/>
            </a:endParaRPr>
          </a:p>
          <a:p>
            <a:pPr marL="626518">
              <a:spcBef>
                <a:spcPts val="360"/>
              </a:spcBef>
            </a:pPr>
            <a:r>
              <a:rPr lang="en-US" sz="2000" kern="0" dirty="0">
                <a:solidFill>
                  <a:srgbClr val="C41230"/>
                </a:solidFill>
                <a:cs typeface="Courier New"/>
              </a:rPr>
              <a:t>("hug",</a:t>
            </a:r>
            <a:r>
              <a:rPr lang="en-US" sz="2000" kern="0" spc="-40" dirty="0">
                <a:solidFill>
                  <a:srgbClr val="C41230"/>
                </a:solidFill>
                <a:cs typeface="Courier New"/>
              </a:rPr>
              <a:t> </a:t>
            </a:r>
            <a:r>
              <a:rPr lang="en-US" sz="2000" kern="0" dirty="0">
                <a:solidFill>
                  <a:srgbClr val="C41230"/>
                </a:solidFill>
                <a:cs typeface="Courier New"/>
              </a:rPr>
              <a:t>10),</a:t>
            </a:r>
            <a:r>
              <a:rPr lang="en-US" sz="2000" kern="0" spc="-40" dirty="0">
                <a:solidFill>
                  <a:srgbClr val="C41230"/>
                </a:solidFill>
                <a:cs typeface="Courier New"/>
              </a:rPr>
              <a:t> </a:t>
            </a:r>
            <a:r>
              <a:rPr lang="en-US" sz="2000" kern="0" dirty="0">
                <a:solidFill>
                  <a:srgbClr val="C41230"/>
                </a:solidFill>
                <a:cs typeface="Courier New"/>
              </a:rPr>
              <a:t>("pug",</a:t>
            </a:r>
            <a:r>
              <a:rPr lang="en-US" sz="2000" kern="0" spc="-33" dirty="0">
                <a:solidFill>
                  <a:srgbClr val="C41230"/>
                </a:solidFill>
                <a:cs typeface="Courier New"/>
              </a:rPr>
              <a:t> </a:t>
            </a:r>
            <a:r>
              <a:rPr lang="en-US" sz="2000" kern="0" dirty="0">
                <a:solidFill>
                  <a:srgbClr val="C41230"/>
                </a:solidFill>
                <a:cs typeface="Courier New"/>
              </a:rPr>
              <a:t>5),</a:t>
            </a:r>
            <a:r>
              <a:rPr lang="en-US" sz="2000" kern="0" spc="-40" dirty="0">
                <a:solidFill>
                  <a:srgbClr val="C41230"/>
                </a:solidFill>
                <a:cs typeface="Courier New"/>
              </a:rPr>
              <a:t> </a:t>
            </a:r>
            <a:r>
              <a:rPr lang="en-US" sz="2000" kern="0" dirty="0">
                <a:solidFill>
                  <a:srgbClr val="C41230"/>
                </a:solidFill>
                <a:cs typeface="Courier New"/>
              </a:rPr>
              <a:t>("pun",</a:t>
            </a:r>
            <a:r>
              <a:rPr lang="en-US" sz="2000" kern="0" spc="-33" dirty="0">
                <a:solidFill>
                  <a:srgbClr val="C41230"/>
                </a:solidFill>
                <a:cs typeface="Courier New"/>
              </a:rPr>
              <a:t> </a:t>
            </a:r>
            <a:r>
              <a:rPr lang="en-US" sz="2000" kern="0" dirty="0">
                <a:solidFill>
                  <a:srgbClr val="C41230"/>
                </a:solidFill>
                <a:cs typeface="Courier New"/>
              </a:rPr>
              <a:t>12),</a:t>
            </a:r>
            <a:r>
              <a:rPr lang="en-US" sz="2000" kern="0" spc="-40" dirty="0">
                <a:solidFill>
                  <a:srgbClr val="C41230"/>
                </a:solidFill>
                <a:cs typeface="Courier New"/>
              </a:rPr>
              <a:t> </a:t>
            </a:r>
            <a:r>
              <a:rPr lang="en-US" sz="2000" kern="0" dirty="0">
                <a:solidFill>
                  <a:srgbClr val="C41230"/>
                </a:solidFill>
                <a:cs typeface="Courier New"/>
              </a:rPr>
              <a:t>("bun",</a:t>
            </a:r>
            <a:r>
              <a:rPr lang="en-US" sz="2000" kern="0" spc="-33" dirty="0">
                <a:solidFill>
                  <a:srgbClr val="C41230"/>
                </a:solidFill>
                <a:cs typeface="Courier New"/>
              </a:rPr>
              <a:t> </a:t>
            </a:r>
            <a:r>
              <a:rPr lang="en-US" sz="2000" kern="0" dirty="0">
                <a:solidFill>
                  <a:srgbClr val="C41230"/>
                </a:solidFill>
                <a:cs typeface="Courier New"/>
              </a:rPr>
              <a:t>4),</a:t>
            </a:r>
            <a:r>
              <a:rPr lang="en-US" sz="2000" kern="0" spc="-40" dirty="0">
                <a:solidFill>
                  <a:srgbClr val="C41230"/>
                </a:solidFill>
                <a:cs typeface="Courier New"/>
              </a:rPr>
              <a:t> </a:t>
            </a:r>
            <a:r>
              <a:rPr lang="en-US" sz="2000" kern="0" dirty="0">
                <a:solidFill>
                  <a:srgbClr val="C41230"/>
                </a:solidFill>
                <a:cs typeface="Courier New"/>
              </a:rPr>
              <a:t>("hugs",</a:t>
            </a:r>
            <a:r>
              <a:rPr lang="en-US" sz="2000" kern="0" spc="-33" dirty="0">
                <a:solidFill>
                  <a:srgbClr val="C41230"/>
                </a:solidFill>
                <a:cs typeface="Courier New"/>
              </a:rPr>
              <a:t> 5)</a:t>
            </a:r>
            <a:endParaRPr lang="en-US" sz="2000" kern="0" dirty="0">
              <a:solidFill>
                <a:sysClr val="windowText" lastClr="000000"/>
              </a:solidFill>
              <a:cs typeface="Courier New"/>
            </a:endParaRPr>
          </a:p>
          <a:p>
            <a:pPr marL="626518" marR="132077" indent="-510527">
              <a:lnSpc>
                <a:spcPct val="114999"/>
              </a:lnSpc>
              <a:buFontTx/>
              <a:buAutoNum type="arabicPeriod" startAt="3"/>
              <a:tabLst>
                <a:tab pos="626518" algn="l"/>
              </a:tabLst>
            </a:pPr>
            <a:r>
              <a:rPr lang="en-US" sz="2000" kern="0" dirty="0">
                <a:solidFill>
                  <a:sysClr val="windowText" lastClr="000000"/>
                </a:solidFill>
                <a:cs typeface="Arial MT"/>
              </a:rPr>
              <a:t>Start</a:t>
            </a:r>
            <a:r>
              <a:rPr lang="en-US" sz="2000" kern="0" spc="13" dirty="0">
                <a:solidFill>
                  <a:sysClr val="windowText" lastClr="000000"/>
                </a:solidFill>
                <a:cs typeface="Arial MT"/>
              </a:rPr>
              <a:t> </a:t>
            </a:r>
            <a:r>
              <a:rPr lang="en-US" sz="2000" kern="0" dirty="0">
                <a:solidFill>
                  <a:sysClr val="windowText" lastClr="000000"/>
                </a:solidFill>
                <a:cs typeface="Arial MT"/>
              </a:rPr>
              <a:t>from</a:t>
            </a:r>
            <a:r>
              <a:rPr lang="en-US" sz="2000" kern="0" spc="13" dirty="0">
                <a:solidFill>
                  <a:sysClr val="windowText" lastClr="000000"/>
                </a:solidFill>
                <a:cs typeface="Arial MT"/>
              </a:rPr>
              <a:t> </a:t>
            </a:r>
            <a:r>
              <a:rPr lang="en-US" sz="2000" kern="0" dirty="0" err="1">
                <a:solidFill>
                  <a:sysClr val="windowText" lastClr="000000"/>
                </a:solidFill>
                <a:cs typeface="Arial MT"/>
              </a:rPr>
              <a:t>uni</a:t>
            </a:r>
            <a:r>
              <a:rPr lang="en-US" sz="2000" kern="0" dirty="0">
                <a:solidFill>
                  <a:sysClr val="windowText" lastClr="000000"/>
                </a:solidFill>
                <a:cs typeface="Arial MT"/>
              </a:rPr>
              <a:t>-character</a:t>
            </a:r>
            <a:r>
              <a:rPr lang="en-US" sz="2000" kern="0" spc="13" dirty="0">
                <a:solidFill>
                  <a:sysClr val="windowText" lastClr="000000"/>
                </a:solidFill>
                <a:cs typeface="Arial MT"/>
              </a:rPr>
              <a:t> </a:t>
            </a:r>
            <a:r>
              <a:rPr lang="en-US" sz="2000" kern="0" spc="-27" dirty="0">
                <a:solidFill>
                  <a:sysClr val="windowText" lastClr="000000"/>
                </a:solidFill>
                <a:cs typeface="Arial MT"/>
              </a:rPr>
              <a:t>vocabulary,</a:t>
            </a:r>
            <a:r>
              <a:rPr lang="en-US" sz="2000" kern="0" spc="13" dirty="0">
                <a:solidFill>
                  <a:sysClr val="windowText" lastClr="000000"/>
                </a:solidFill>
                <a:cs typeface="Arial MT"/>
              </a:rPr>
              <a:t> </a:t>
            </a:r>
            <a:r>
              <a:rPr lang="en-US" sz="2000" kern="0" dirty="0">
                <a:solidFill>
                  <a:sysClr val="windowText" lastClr="000000"/>
                </a:solidFill>
                <a:cs typeface="Arial MT"/>
              </a:rPr>
              <a:t>merge</a:t>
            </a:r>
            <a:r>
              <a:rPr lang="en-US" sz="2000" kern="0" spc="13" dirty="0">
                <a:solidFill>
                  <a:sysClr val="windowText" lastClr="000000"/>
                </a:solidFill>
                <a:cs typeface="Arial MT"/>
              </a:rPr>
              <a:t> </a:t>
            </a:r>
            <a:r>
              <a:rPr lang="en-US" sz="2000" kern="0" dirty="0">
                <a:solidFill>
                  <a:sysClr val="windowText" lastClr="000000"/>
                </a:solidFill>
                <a:cs typeface="Arial MT"/>
              </a:rPr>
              <a:t>pairs</a:t>
            </a:r>
            <a:r>
              <a:rPr lang="en-US" sz="2000" kern="0" spc="13" dirty="0">
                <a:solidFill>
                  <a:sysClr val="windowText" lastClr="000000"/>
                </a:solidFill>
                <a:cs typeface="Arial MT"/>
              </a:rPr>
              <a:t> </a:t>
            </a:r>
            <a:r>
              <a:rPr lang="en-US" sz="2000" kern="0" dirty="0">
                <a:solidFill>
                  <a:sysClr val="windowText" lastClr="000000"/>
                </a:solidFill>
                <a:cs typeface="Arial MT"/>
              </a:rPr>
              <a:t>by</a:t>
            </a:r>
            <a:r>
              <a:rPr lang="en-US" sz="2000" kern="0" spc="13" dirty="0">
                <a:solidFill>
                  <a:sysClr val="windowText" lastClr="000000"/>
                </a:solidFill>
                <a:cs typeface="Arial MT"/>
              </a:rPr>
              <a:t> </a:t>
            </a:r>
            <a:r>
              <a:rPr lang="en-US" sz="2000" kern="0" dirty="0">
                <a:solidFill>
                  <a:sysClr val="windowText" lastClr="000000"/>
                </a:solidFill>
                <a:cs typeface="Arial MT"/>
              </a:rPr>
              <a:t>frequency,</a:t>
            </a:r>
            <a:r>
              <a:rPr lang="en-US" sz="2000" kern="0" spc="13" dirty="0">
                <a:solidFill>
                  <a:sysClr val="windowText" lastClr="000000"/>
                </a:solidFill>
                <a:cs typeface="Arial MT"/>
              </a:rPr>
              <a:t> </a:t>
            </a:r>
            <a:r>
              <a:rPr lang="en-US" sz="2000" kern="0" dirty="0">
                <a:solidFill>
                  <a:sysClr val="windowText" lastClr="000000"/>
                </a:solidFill>
                <a:cs typeface="Arial MT"/>
              </a:rPr>
              <a:t>till</a:t>
            </a:r>
            <a:r>
              <a:rPr lang="en-US" sz="2000" kern="0" spc="13" dirty="0">
                <a:solidFill>
                  <a:sysClr val="windowText" lastClr="000000"/>
                </a:solidFill>
                <a:cs typeface="Arial MT"/>
              </a:rPr>
              <a:t> </a:t>
            </a:r>
            <a:r>
              <a:rPr lang="en-US" sz="2000" kern="0" dirty="0">
                <a:solidFill>
                  <a:sysClr val="windowText" lastClr="000000"/>
                </a:solidFill>
                <a:cs typeface="Arial MT"/>
              </a:rPr>
              <a:t>reached</a:t>
            </a:r>
            <a:r>
              <a:rPr lang="en-US" sz="2000" kern="0" spc="13" dirty="0">
                <a:solidFill>
                  <a:sysClr val="windowText" lastClr="000000"/>
                </a:solidFill>
                <a:cs typeface="Arial MT"/>
              </a:rPr>
              <a:t> </a:t>
            </a:r>
            <a:r>
              <a:rPr lang="en-US" sz="2000" kern="0" spc="-13" dirty="0">
                <a:solidFill>
                  <a:sysClr val="windowText" lastClr="000000"/>
                </a:solidFill>
                <a:cs typeface="Arial MT"/>
              </a:rPr>
              <a:t>target vocabulary</a:t>
            </a:r>
            <a:r>
              <a:rPr lang="en-US" sz="2000" kern="0" spc="-67" dirty="0">
                <a:solidFill>
                  <a:sysClr val="windowText" lastClr="000000"/>
                </a:solidFill>
                <a:cs typeface="Arial MT"/>
              </a:rPr>
              <a:t> </a:t>
            </a:r>
            <a:r>
              <a:rPr lang="en-US" sz="2000" kern="0" spc="-27" dirty="0">
                <a:solidFill>
                  <a:sysClr val="windowText" lastClr="000000"/>
                </a:solidFill>
                <a:cs typeface="Arial MT"/>
              </a:rPr>
              <a:t>size</a:t>
            </a:r>
            <a:endParaRPr lang="en-US" sz="2000" kern="0" dirty="0">
              <a:solidFill>
                <a:sysClr val="windowText" lastClr="000000"/>
              </a:solidFill>
              <a:cs typeface="Arial MT"/>
            </a:endParaRPr>
          </a:p>
          <a:p>
            <a:endParaRPr lang="en-IN" sz="2000" kern="0" dirty="0">
              <a:solidFill>
                <a:sysClr val="windowText" lastClr="000000"/>
              </a:solidFill>
            </a:endParaRPr>
          </a:p>
        </p:txBody>
      </p:sp>
      <p:graphicFrame>
        <p:nvGraphicFramePr>
          <p:cNvPr id="4" name="object 4"/>
          <p:cNvGraphicFramePr>
            <a:graphicFrameLocks noGrp="1"/>
          </p:cNvGraphicFramePr>
          <p:nvPr/>
        </p:nvGraphicFramePr>
        <p:xfrm>
          <a:off x="601134" y="3587859"/>
          <a:ext cx="10971953" cy="2504440"/>
        </p:xfrm>
        <a:graphic>
          <a:graphicData uri="http://schemas.openxmlformats.org/drawingml/2006/table">
            <a:tbl>
              <a:tblPr firstRow="1" bandRow="1">
                <a:tableStyleId>{2D5ABB26-0587-4C30-8999-92F81FD0307C}</a:tableStyleId>
              </a:tblPr>
              <a:tblGrid>
                <a:gridCol w="954193">
                  <a:extLst>
                    <a:ext uri="{9D8B030D-6E8A-4147-A177-3AD203B41FA5}">
                      <a16:colId xmlns:a16="http://schemas.microsoft.com/office/drawing/2014/main" val="20000"/>
                    </a:ext>
                  </a:extLst>
                </a:gridCol>
                <a:gridCol w="4126653">
                  <a:extLst>
                    <a:ext uri="{9D8B030D-6E8A-4147-A177-3AD203B41FA5}">
                      <a16:colId xmlns:a16="http://schemas.microsoft.com/office/drawing/2014/main" val="20001"/>
                    </a:ext>
                  </a:extLst>
                </a:gridCol>
                <a:gridCol w="5891107">
                  <a:extLst>
                    <a:ext uri="{9D8B030D-6E8A-4147-A177-3AD203B41FA5}">
                      <a16:colId xmlns:a16="http://schemas.microsoft.com/office/drawing/2014/main" val="20002"/>
                    </a:ext>
                  </a:extLst>
                </a:gridCol>
              </a:tblGrid>
              <a:tr h="340360">
                <a:tc>
                  <a:txBody>
                    <a:bodyPr/>
                    <a:lstStyle/>
                    <a:p>
                      <a:pPr marL="85725">
                        <a:lnSpc>
                          <a:spcPct val="100000"/>
                        </a:lnSpc>
                        <a:spcBef>
                          <a:spcPts val="260"/>
                        </a:spcBef>
                      </a:pPr>
                      <a:r>
                        <a:rPr sz="1300" spc="-10" dirty="0">
                          <a:solidFill>
                            <a:srgbClr val="FFFFFF"/>
                          </a:solidFill>
                          <a:latin typeface="Arial MT"/>
                          <a:cs typeface="Arial MT"/>
                        </a:rPr>
                        <a:t>Iteration</a:t>
                      </a:r>
                      <a:endParaRPr sz="1300">
                        <a:latin typeface="Arial MT"/>
                        <a:cs typeface="Arial MT"/>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41230"/>
                    </a:solidFill>
                  </a:tcPr>
                </a:tc>
                <a:tc>
                  <a:txBody>
                    <a:bodyPr/>
                    <a:lstStyle/>
                    <a:p>
                      <a:pPr marL="85725">
                        <a:lnSpc>
                          <a:spcPct val="100000"/>
                        </a:lnSpc>
                        <a:spcBef>
                          <a:spcPts val="260"/>
                        </a:spcBef>
                      </a:pPr>
                      <a:r>
                        <a:rPr sz="1300" dirty="0">
                          <a:solidFill>
                            <a:srgbClr val="FFFFFF"/>
                          </a:solidFill>
                          <a:latin typeface="Arial MT"/>
                          <a:cs typeface="Arial MT"/>
                        </a:rPr>
                        <a:t>Current</a:t>
                      </a:r>
                      <a:r>
                        <a:rPr sz="1300" spc="215" dirty="0">
                          <a:solidFill>
                            <a:srgbClr val="FFFFFF"/>
                          </a:solidFill>
                          <a:latin typeface="Arial MT"/>
                          <a:cs typeface="Arial MT"/>
                        </a:rPr>
                        <a:t> </a:t>
                      </a:r>
                      <a:r>
                        <a:rPr sz="1300" spc="-10" dirty="0">
                          <a:solidFill>
                            <a:srgbClr val="FFFFFF"/>
                          </a:solidFill>
                          <a:latin typeface="Arial MT"/>
                          <a:cs typeface="Arial MT"/>
                        </a:rPr>
                        <a:t>Vocab</a:t>
                      </a:r>
                      <a:endParaRPr sz="1300">
                        <a:latin typeface="Arial MT"/>
                        <a:cs typeface="Arial MT"/>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41230"/>
                    </a:solidFill>
                  </a:tcPr>
                </a:tc>
                <a:tc>
                  <a:txBody>
                    <a:bodyPr/>
                    <a:lstStyle/>
                    <a:p>
                      <a:pPr marL="85725">
                        <a:lnSpc>
                          <a:spcPct val="100000"/>
                        </a:lnSpc>
                        <a:spcBef>
                          <a:spcPts val="260"/>
                        </a:spcBef>
                      </a:pPr>
                      <a:r>
                        <a:rPr sz="1300" dirty="0">
                          <a:solidFill>
                            <a:srgbClr val="FFFFFF"/>
                          </a:solidFill>
                          <a:latin typeface="Arial MT"/>
                          <a:cs typeface="Arial MT"/>
                        </a:rPr>
                        <a:t>Tokenization</a:t>
                      </a:r>
                      <a:r>
                        <a:rPr sz="1300" spc="90" dirty="0">
                          <a:solidFill>
                            <a:srgbClr val="FFFFFF"/>
                          </a:solidFill>
                          <a:latin typeface="Arial MT"/>
                          <a:cs typeface="Arial MT"/>
                        </a:rPr>
                        <a:t> </a:t>
                      </a:r>
                      <a:r>
                        <a:rPr sz="1300" spc="50" dirty="0">
                          <a:solidFill>
                            <a:srgbClr val="FFFFFF"/>
                          </a:solidFill>
                          <a:latin typeface="Arial MT"/>
                          <a:cs typeface="Arial MT"/>
                        </a:rPr>
                        <a:t>of</a:t>
                      </a:r>
                      <a:r>
                        <a:rPr sz="1300" spc="95" dirty="0">
                          <a:solidFill>
                            <a:srgbClr val="FFFFFF"/>
                          </a:solidFill>
                          <a:latin typeface="Arial MT"/>
                          <a:cs typeface="Arial MT"/>
                        </a:rPr>
                        <a:t> </a:t>
                      </a:r>
                      <a:r>
                        <a:rPr sz="1300" spc="-10" dirty="0">
                          <a:solidFill>
                            <a:srgbClr val="FFFFFF"/>
                          </a:solidFill>
                          <a:latin typeface="Arial MT"/>
                          <a:cs typeface="Arial MT"/>
                        </a:rPr>
                        <a:t>Words</a:t>
                      </a:r>
                      <a:endParaRPr sz="1300">
                        <a:latin typeface="Arial MT"/>
                        <a:cs typeface="Arial MT"/>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41230"/>
                    </a:solidFill>
                  </a:tcPr>
                </a:tc>
                <a:extLst>
                  <a:ext uri="{0D108BD9-81ED-4DB2-BD59-A6C34878D82A}">
                    <a16:rowId xmlns:a16="http://schemas.microsoft.com/office/drawing/2014/main" val="10000"/>
                  </a:ext>
                </a:extLst>
              </a:tr>
              <a:tr h="541020">
                <a:tc>
                  <a:txBody>
                    <a:bodyPr/>
                    <a:lstStyle/>
                    <a:p>
                      <a:pPr marL="85725">
                        <a:lnSpc>
                          <a:spcPct val="100000"/>
                        </a:lnSpc>
                        <a:spcBef>
                          <a:spcPts val="260"/>
                        </a:spcBef>
                      </a:pPr>
                      <a:r>
                        <a:rPr sz="1300" spc="-50" dirty="0">
                          <a:solidFill>
                            <a:srgbClr val="BA0000"/>
                          </a:solidFill>
                          <a:latin typeface="Arial MT"/>
                          <a:cs typeface="Arial MT"/>
                        </a:rPr>
                        <a:t>1</a:t>
                      </a:r>
                      <a:endParaRPr sz="1300">
                        <a:latin typeface="Arial MT"/>
                        <a:cs typeface="Arial MT"/>
                      </a:endParaRPr>
                    </a:p>
                  </a:txBody>
                  <a:tcPr marL="0" marR="0" marT="44027"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7"/>
                    </a:solidFill>
                  </a:tcPr>
                </a:tc>
                <a:tc>
                  <a:txBody>
                    <a:bodyPr/>
                    <a:lstStyle/>
                    <a:p>
                      <a:pPr marL="85725">
                        <a:lnSpc>
                          <a:spcPct val="100000"/>
                        </a:lnSpc>
                        <a:spcBef>
                          <a:spcPts val="260"/>
                        </a:spcBef>
                      </a:pPr>
                      <a:r>
                        <a:rPr sz="1300" dirty="0">
                          <a:solidFill>
                            <a:srgbClr val="BA0000"/>
                          </a:solidFill>
                          <a:latin typeface="Courier New"/>
                          <a:cs typeface="Courier New"/>
                        </a:rPr>
                        <a:t>["b",</a:t>
                      </a:r>
                      <a:r>
                        <a:rPr sz="1300" spc="-25" dirty="0">
                          <a:solidFill>
                            <a:srgbClr val="BA0000"/>
                          </a:solidFill>
                          <a:latin typeface="Courier New"/>
                          <a:cs typeface="Courier New"/>
                        </a:rPr>
                        <a:t> </a:t>
                      </a:r>
                      <a:r>
                        <a:rPr sz="1300" dirty="0">
                          <a:solidFill>
                            <a:srgbClr val="BA0000"/>
                          </a:solidFill>
                          <a:latin typeface="Courier New"/>
                          <a:cs typeface="Courier New"/>
                        </a:rPr>
                        <a:t>"g",</a:t>
                      </a:r>
                      <a:r>
                        <a:rPr sz="1300" spc="-20" dirty="0">
                          <a:solidFill>
                            <a:srgbClr val="BA0000"/>
                          </a:solidFill>
                          <a:latin typeface="Courier New"/>
                          <a:cs typeface="Courier New"/>
                        </a:rPr>
                        <a:t> </a:t>
                      </a:r>
                      <a:r>
                        <a:rPr sz="1300" dirty="0">
                          <a:solidFill>
                            <a:srgbClr val="BA0000"/>
                          </a:solidFill>
                          <a:latin typeface="Courier New"/>
                          <a:cs typeface="Courier New"/>
                        </a:rPr>
                        <a:t>"h",</a:t>
                      </a:r>
                      <a:r>
                        <a:rPr sz="1300" spc="-20" dirty="0">
                          <a:solidFill>
                            <a:srgbClr val="BA0000"/>
                          </a:solidFill>
                          <a:latin typeface="Courier New"/>
                          <a:cs typeface="Courier New"/>
                        </a:rPr>
                        <a:t> </a:t>
                      </a:r>
                      <a:r>
                        <a:rPr sz="1300" dirty="0">
                          <a:solidFill>
                            <a:srgbClr val="BA0000"/>
                          </a:solidFill>
                          <a:latin typeface="Courier New"/>
                          <a:cs typeface="Courier New"/>
                        </a:rPr>
                        <a:t>"n",</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20" dirty="0">
                          <a:solidFill>
                            <a:srgbClr val="BA0000"/>
                          </a:solidFill>
                          <a:latin typeface="Courier New"/>
                          <a:cs typeface="Courier New"/>
                        </a:rPr>
                        <a:t> </a:t>
                      </a:r>
                      <a:r>
                        <a:rPr sz="1300" dirty="0">
                          <a:solidFill>
                            <a:srgbClr val="BA0000"/>
                          </a:solidFill>
                          <a:latin typeface="Courier New"/>
                          <a:cs typeface="Courier New"/>
                        </a:rPr>
                        <a:t>"s",</a:t>
                      </a:r>
                      <a:r>
                        <a:rPr sz="1300" spc="-20" dirty="0">
                          <a:solidFill>
                            <a:srgbClr val="BA0000"/>
                          </a:solidFill>
                          <a:latin typeface="Courier New"/>
                          <a:cs typeface="Courier New"/>
                        </a:rPr>
                        <a:t> "u"]</a:t>
                      </a:r>
                      <a:endParaRPr sz="1300">
                        <a:latin typeface="Courier New"/>
                        <a:cs typeface="Courier New"/>
                      </a:endParaRPr>
                    </a:p>
                  </a:txBody>
                  <a:tcPr marL="0" marR="0" marT="44027"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7"/>
                    </a:solidFill>
                  </a:tcPr>
                </a:tc>
                <a:tc>
                  <a:txBody>
                    <a:bodyPr/>
                    <a:lstStyle/>
                    <a:p>
                      <a:pPr marL="85725" marR="134620">
                        <a:lnSpc>
                          <a:spcPct val="100000"/>
                        </a:lnSpc>
                        <a:spcBef>
                          <a:spcPts val="260"/>
                        </a:spcBef>
                      </a:pPr>
                      <a:r>
                        <a:rPr sz="1300" dirty="0">
                          <a:solidFill>
                            <a:srgbClr val="BA0000"/>
                          </a:solidFill>
                          <a:latin typeface="Courier New"/>
                          <a:cs typeface="Courier New"/>
                        </a:rPr>
                        <a:t>("h"</a:t>
                      </a:r>
                      <a:r>
                        <a:rPr sz="1300" spc="-30" dirty="0">
                          <a:solidFill>
                            <a:srgbClr val="BA0000"/>
                          </a:solidFill>
                          <a:latin typeface="Courier New"/>
                          <a:cs typeface="Courier New"/>
                        </a:rPr>
                        <a:t> </a:t>
                      </a:r>
                      <a:r>
                        <a:rPr sz="1300" u="sng" dirty="0">
                          <a:solidFill>
                            <a:srgbClr val="BA0000"/>
                          </a:solidFill>
                          <a:uFill>
                            <a:solidFill>
                              <a:srgbClr val="BA0000"/>
                            </a:solidFill>
                          </a:uFill>
                          <a:latin typeface="Courier New"/>
                          <a:cs typeface="Courier New"/>
                        </a:rPr>
                        <a:t>"u"</a:t>
                      </a:r>
                      <a:r>
                        <a:rPr sz="1300" u="sng" spc="-20" dirty="0">
                          <a:solidFill>
                            <a:srgbClr val="BA0000"/>
                          </a:solidFill>
                          <a:uFill>
                            <a:solidFill>
                              <a:srgbClr val="BA0000"/>
                            </a:solidFill>
                          </a:uFill>
                          <a:latin typeface="Courier New"/>
                          <a:cs typeface="Courier New"/>
                        </a:rPr>
                        <a:t> </a:t>
                      </a:r>
                      <a:r>
                        <a:rPr sz="1300" u="sng" dirty="0">
                          <a:solidFill>
                            <a:srgbClr val="BA0000"/>
                          </a:solidFill>
                          <a:uFill>
                            <a:solidFill>
                              <a:srgbClr val="BA0000"/>
                            </a:solidFill>
                          </a:uFill>
                          <a:latin typeface="Courier New"/>
                          <a:cs typeface="Courier New"/>
                        </a:rPr>
                        <a:t>"g"</a:t>
                      </a:r>
                      <a:r>
                        <a:rPr sz="1300" dirty="0">
                          <a:solidFill>
                            <a:srgbClr val="BA0000"/>
                          </a:solidFill>
                          <a:latin typeface="Courier New"/>
                          <a:cs typeface="Courier New"/>
                        </a:rPr>
                        <a:t>,</a:t>
                      </a:r>
                      <a:r>
                        <a:rPr sz="1300" spc="-15" dirty="0">
                          <a:solidFill>
                            <a:srgbClr val="BA0000"/>
                          </a:solidFill>
                          <a:latin typeface="Courier New"/>
                          <a:cs typeface="Courier New"/>
                        </a:rPr>
                        <a:t> </a:t>
                      </a:r>
                      <a:r>
                        <a:rPr sz="1300" dirty="0">
                          <a:solidFill>
                            <a:srgbClr val="BA0000"/>
                          </a:solidFill>
                          <a:latin typeface="Courier New"/>
                          <a:cs typeface="Courier New"/>
                        </a:rPr>
                        <a:t>10),</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20" dirty="0">
                          <a:solidFill>
                            <a:srgbClr val="BA0000"/>
                          </a:solidFill>
                          <a:latin typeface="Courier New"/>
                          <a:cs typeface="Courier New"/>
                        </a:rPr>
                        <a:t> </a:t>
                      </a:r>
                      <a:r>
                        <a:rPr sz="1300" u="sng" dirty="0">
                          <a:solidFill>
                            <a:srgbClr val="BA0000"/>
                          </a:solidFill>
                          <a:uFill>
                            <a:solidFill>
                              <a:srgbClr val="BA0000"/>
                            </a:solidFill>
                          </a:uFill>
                          <a:latin typeface="Courier New"/>
                          <a:cs typeface="Courier New"/>
                        </a:rPr>
                        <a:t>"u"</a:t>
                      </a:r>
                      <a:r>
                        <a:rPr sz="1300" u="sng" spc="-15" dirty="0">
                          <a:solidFill>
                            <a:srgbClr val="BA0000"/>
                          </a:solidFill>
                          <a:uFill>
                            <a:solidFill>
                              <a:srgbClr val="BA0000"/>
                            </a:solidFill>
                          </a:uFill>
                          <a:latin typeface="Courier New"/>
                          <a:cs typeface="Courier New"/>
                        </a:rPr>
                        <a:t> </a:t>
                      </a:r>
                      <a:r>
                        <a:rPr sz="1300" u="sng" dirty="0">
                          <a:solidFill>
                            <a:srgbClr val="BA0000"/>
                          </a:solidFill>
                          <a:uFill>
                            <a:solidFill>
                              <a:srgbClr val="BA0000"/>
                            </a:solidFill>
                          </a:uFill>
                          <a:latin typeface="Courier New"/>
                          <a:cs typeface="Courier New"/>
                        </a:rPr>
                        <a:t>"g"</a:t>
                      </a:r>
                      <a:r>
                        <a:rPr sz="1300" dirty="0">
                          <a:solidFill>
                            <a:srgbClr val="BA0000"/>
                          </a:solidFill>
                          <a:latin typeface="Courier New"/>
                          <a:cs typeface="Courier New"/>
                        </a:rPr>
                        <a:t>,</a:t>
                      </a:r>
                      <a:r>
                        <a:rPr sz="1300" spc="-20" dirty="0">
                          <a:solidFill>
                            <a:srgbClr val="BA0000"/>
                          </a:solidFill>
                          <a:latin typeface="Courier New"/>
                          <a:cs typeface="Courier New"/>
                        </a:rPr>
                        <a:t> </a:t>
                      </a:r>
                      <a:r>
                        <a:rPr sz="1300" dirty="0">
                          <a:solidFill>
                            <a:srgbClr val="BA0000"/>
                          </a:solidFill>
                          <a:latin typeface="Courier New"/>
                          <a:cs typeface="Courier New"/>
                        </a:rPr>
                        <a:t>5),</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15" dirty="0">
                          <a:solidFill>
                            <a:srgbClr val="BA0000"/>
                          </a:solidFill>
                          <a:latin typeface="Courier New"/>
                          <a:cs typeface="Courier New"/>
                        </a:rPr>
                        <a:t> </a:t>
                      </a:r>
                      <a:r>
                        <a:rPr sz="1300" dirty="0">
                          <a:solidFill>
                            <a:srgbClr val="BA0000"/>
                          </a:solidFill>
                          <a:latin typeface="Courier New"/>
                          <a:cs typeface="Courier New"/>
                        </a:rPr>
                        <a:t>"u"</a:t>
                      </a:r>
                      <a:r>
                        <a:rPr sz="1300" spc="-20" dirty="0">
                          <a:solidFill>
                            <a:srgbClr val="BA0000"/>
                          </a:solidFill>
                          <a:latin typeface="Courier New"/>
                          <a:cs typeface="Courier New"/>
                        </a:rPr>
                        <a:t> </a:t>
                      </a:r>
                      <a:r>
                        <a:rPr sz="1300" dirty="0">
                          <a:solidFill>
                            <a:srgbClr val="BA0000"/>
                          </a:solidFill>
                          <a:latin typeface="Courier New"/>
                          <a:cs typeface="Courier New"/>
                        </a:rPr>
                        <a:t>"n",</a:t>
                      </a:r>
                      <a:r>
                        <a:rPr sz="1300" spc="-15" dirty="0">
                          <a:solidFill>
                            <a:srgbClr val="BA0000"/>
                          </a:solidFill>
                          <a:latin typeface="Courier New"/>
                          <a:cs typeface="Courier New"/>
                        </a:rPr>
                        <a:t> </a:t>
                      </a:r>
                      <a:r>
                        <a:rPr sz="1300" spc="-20" dirty="0">
                          <a:solidFill>
                            <a:srgbClr val="BA0000"/>
                          </a:solidFill>
                          <a:latin typeface="Courier New"/>
                          <a:cs typeface="Courier New"/>
                        </a:rPr>
                        <a:t>12), </a:t>
                      </a:r>
                      <a:r>
                        <a:rPr sz="1300" dirty="0">
                          <a:solidFill>
                            <a:srgbClr val="BA0000"/>
                          </a:solidFill>
                          <a:latin typeface="Courier New"/>
                          <a:cs typeface="Courier New"/>
                        </a:rPr>
                        <a:t>("b"</a:t>
                      </a:r>
                      <a:r>
                        <a:rPr sz="1300" spc="-30" dirty="0">
                          <a:solidFill>
                            <a:srgbClr val="BA0000"/>
                          </a:solidFill>
                          <a:latin typeface="Courier New"/>
                          <a:cs typeface="Courier New"/>
                        </a:rPr>
                        <a:t> </a:t>
                      </a:r>
                      <a:r>
                        <a:rPr sz="1300" dirty="0">
                          <a:solidFill>
                            <a:srgbClr val="BA0000"/>
                          </a:solidFill>
                          <a:latin typeface="Courier New"/>
                          <a:cs typeface="Courier New"/>
                        </a:rPr>
                        <a:t>"u"</a:t>
                      </a:r>
                      <a:r>
                        <a:rPr sz="1300" spc="-15" dirty="0">
                          <a:solidFill>
                            <a:srgbClr val="BA0000"/>
                          </a:solidFill>
                          <a:latin typeface="Courier New"/>
                          <a:cs typeface="Courier New"/>
                        </a:rPr>
                        <a:t> </a:t>
                      </a:r>
                      <a:r>
                        <a:rPr sz="1300" dirty="0">
                          <a:solidFill>
                            <a:srgbClr val="BA0000"/>
                          </a:solidFill>
                          <a:latin typeface="Courier New"/>
                          <a:cs typeface="Courier New"/>
                        </a:rPr>
                        <a:t>"n",</a:t>
                      </a:r>
                      <a:r>
                        <a:rPr sz="1300" spc="-20" dirty="0">
                          <a:solidFill>
                            <a:srgbClr val="BA0000"/>
                          </a:solidFill>
                          <a:latin typeface="Courier New"/>
                          <a:cs typeface="Courier New"/>
                        </a:rPr>
                        <a:t> </a:t>
                      </a:r>
                      <a:r>
                        <a:rPr sz="1300" dirty="0">
                          <a:solidFill>
                            <a:srgbClr val="BA0000"/>
                          </a:solidFill>
                          <a:latin typeface="Courier New"/>
                          <a:cs typeface="Courier New"/>
                        </a:rPr>
                        <a:t>4),</a:t>
                      </a:r>
                      <a:r>
                        <a:rPr sz="1300" spc="-15" dirty="0">
                          <a:solidFill>
                            <a:srgbClr val="BA0000"/>
                          </a:solidFill>
                          <a:latin typeface="Courier New"/>
                          <a:cs typeface="Courier New"/>
                        </a:rPr>
                        <a:t> </a:t>
                      </a:r>
                      <a:r>
                        <a:rPr sz="1300" dirty="0">
                          <a:solidFill>
                            <a:srgbClr val="BA0000"/>
                          </a:solidFill>
                          <a:latin typeface="Courier New"/>
                          <a:cs typeface="Courier New"/>
                        </a:rPr>
                        <a:t>("h"</a:t>
                      </a:r>
                      <a:r>
                        <a:rPr sz="1300" spc="-20" dirty="0">
                          <a:solidFill>
                            <a:srgbClr val="BA0000"/>
                          </a:solidFill>
                          <a:latin typeface="Courier New"/>
                          <a:cs typeface="Courier New"/>
                        </a:rPr>
                        <a:t> </a:t>
                      </a:r>
                      <a:r>
                        <a:rPr sz="1300" u="sng" dirty="0">
                          <a:solidFill>
                            <a:srgbClr val="BA0000"/>
                          </a:solidFill>
                          <a:uFill>
                            <a:solidFill>
                              <a:srgbClr val="BA0000"/>
                            </a:solidFill>
                          </a:uFill>
                          <a:latin typeface="Courier New"/>
                          <a:cs typeface="Courier New"/>
                        </a:rPr>
                        <a:t>"u"</a:t>
                      </a:r>
                      <a:r>
                        <a:rPr sz="1300" u="sng" spc="-15" dirty="0">
                          <a:solidFill>
                            <a:srgbClr val="BA0000"/>
                          </a:solidFill>
                          <a:uFill>
                            <a:solidFill>
                              <a:srgbClr val="BA0000"/>
                            </a:solidFill>
                          </a:uFill>
                          <a:latin typeface="Courier New"/>
                          <a:cs typeface="Courier New"/>
                        </a:rPr>
                        <a:t> </a:t>
                      </a:r>
                      <a:r>
                        <a:rPr sz="1300" u="sng" dirty="0">
                          <a:solidFill>
                            <a:srgbClr val="BA0000"/>
                          </a:solidFill>
                          <a:uFill>
                            <a:solidFill>
                              <a:srgbClr val="BA0000"/>
                            </a:solidFill>
                          </a:uFill>
                          <a:latin typeface="Courier New"/>
                          <a:cs typeface="Courier New"/>
                        </a:rPr>
                        <a:t>"g"</a:t>
                      </a:r>
                      <a:r>
                        <a:rPr sz="1300" u="sng" spc="-20" dirty="0">
                          <a:solidFill>
                            <a:srgbClr val="BA0000"/>
                          </a:solidFill>
                          <a:uFill>
                            <a:solidFill>
                              <a:srgbClr val="BA0000"/>
                            </a:solidFill>
                          </a:uFill>
                          <a:latin typeface="Courier New"/>
                          <a:cs typeface="Courier New"/>
                        </a:rPr>
                        <a:t> </a:t>
                      </a:r>
                      <a:r>
                        <a:rPr sz="1300" dirty="0">
                          <a:solidFill>
                            <a:srgbClr val="BA0000"/>
                          </a:solidFill>
                          <a:latin typeface="Courier New"/>
                          <a:cs typeface="Courier New"/>
                        </a:rPr>
                        <a:t>"s",</a:t>
                      </a:r>
                      <a:r>
                        <a:rPr sz="1300" spc="-15" dirty="0">
                          <a:solidFill>
                            <a:srgbClr val="BA0000"/>
                          </a:solidFill>
                          <a:latin typeface="Courier New"/>
                          <a:cs typeface="Courier New"/>
                        </a:rPr>
                        <a:t> </a:t>
                      </a:r>
                      <a:r>
                        <a:rPr sz="1300" spc="-25" dirty="0">
                          <a:solidFill>
                            <a:srgbClr val="BA0000"/>
                          </a:solidFill>
                          <a:latin typeface="Courier New"/>
                          <a:cs typeface="Courier New"/>
                        </a:rPr>
                        <a:t>5)</a:t>
                      </a:r>
                      <a:endParaRPr sz="1300">
                        <a:latin typeface="Courier New"/>
                        <a:cs typeface="Courier New"/>
                      </a:endParaRPr>
                    </a:p>
                  </a:txBody>
                  <a:tcPr marL="0" marR="0" marT="44027"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7"/>
                    </a:solidFill>
                  </a:tcPr>
                </a:tc>
                <a:extLst>
                  <a:ext uri="{0D108BD9-81ED-4DB2-BD59-A6C34878D82A}">
                    <a16:rowId xmlns:a16="http://schemas.microsoft.com/office/drawing/2014/main" val="10001"/>
                  </a:ext>
                </a:extLst>
              </a:tr>
              <a:tr h="541020">
                <a:tc>
                  <a:txBody>
                    <a:bodyPr/>
                    <a:lstStyle/>
                    <a:p>
                      <a:pPr marL="85725">
                        <a:lnSpc>
                          <a:spcPct val="100000"/>
                        </a:lnSpc>
                        <a:spcBef>
                          <a:spcPts val="260"/>
                        </a:spcBef>
                      </a:pPr>
                      <a:r>
                        <a:rPr sz="1300" spc="-50" dirty="0">
                          <a:solidFill>
                            <a:srgbClr val="BA0000"/>
                          </a:solidFill>
                          <a:latin typeface="Arial MT"/>
                          <a:cs typeface="Arial MT"/>
                        </a:rPr>
                        <a:t>2</a:t>
                      </a:r>
                      <a:endParaRPr sz="1300">
                        <a:latin typeface="Arial MT"/>
                        <a:cs typeface="Arial MT"/>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tc>
                  <a:txBody>
                    <a:bodyPr/>
                    <a:lstStyle/>
                    <a:p>
                      <a:pPr marL="85725">
                        <a:lnSpc>
                          <a:spcPct val="100000"/>
                        </a:lnSpc>
                        <a:spcBef>
                          <a:spcPts val="260"/>
                        </a:spcBef>
                      </a:pPr>
                      <a:r>
                        <a:rPr sz="1300" dirty="0">
                          <a:solidFill>
                            <a:srgbClr val="BA0000"/>
                          </a:solidFill>
                          <a:latin typeface="Courier New"/>
                          <a:cs typeface="Courier New"/>
                        </a:rPr>
                        <a:t>["b",</a:t>
                      </a:r>
                      <a:r>
                        <a:rPr sz="1300" spc="-25" dirty="0">
                          <a:solidFill>
                            <a:srgbClr val="BA0000"/>
                          </a:solidFill>
                          <a:latin typeface="Courier New"/>
                          <a:cs typeface="Courier New"/>
                        </a:rPr>
                        <a:t> </a:t>
                      </a:r>
                      <a:r>
                        <a:rPr sz="1300" dirty="0">
                          <a:solidFill>
                            <a:srgbClr val="BA0000"/>
                          </a:solidFill>
                          <a:latin typeface="Courier New"/>
                          <a:cs typeface="Courier New"/>
                        </a:rPr>
                        <a:t>"g",</a:t>
                      </a:r>
                      <a:r>
                        <a:rPr sz="1300" spc="-20" dirty="0">
                          <a:solidFill>
                            <a:srgbClr val="BA0000"/>
                          </a:solidFill>
                          <a:latin typeface="Courier New"/>
                          <a:cs typeface="Courier New"/>
                        </a:rPr>
                        <a:t> </a:t>
                      </a:r>
                      <a:r>
                        <a:rPr sz="1300" dirty="0">
                          <a:solidFill>
                            <a:srgbClr val="BA0000"/>
                          </a:solidFill>
                          <a:latin typeface="Courier New"/>
                          <a:cs typeface="Courier New"/>
                        </a:rPr>
                        <a:t>"h",</a:t>
                      </a:r>
                      <a:r>
                        <a:rPr sz="1300" spc="-20" dirty="0">
                          <a:solidFill>
                            <a:srgbClr val="BA0000"/>
                          </a:solidFill>
                          <a:latin typeface="Courier New"/>
                          <a:cs typeface="Courier New"/>
                        </a:rPr>
                        <a:t> </a:t>
                      </a:r>
                      <a:r>
                        <a:rPr sz="1300" dirty="0">
                          <a:solidFill>
                            <a:srgbClr val="BA0000"/>
                          </a:solidFill>
                          <a:latin typeface="Courier New"/>
                          <a:cs typeface="Courier New"/>
                        </a:rPr>
                        <a:t>"n",</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20" dirty="0">
                          <a:solidFill>
                            <a:srgbClr val="BA0000"/>
                          </a:solidFill>
                          <a:latin typeface="Courier New"/>
                          <a:cs typeface="Courier New"/>
                        </a:rPr>
                        <a:t> </a:t>
                      </a:r>
                      <a:r>
                        <a:rPr sz="1300" dirty="0">
                          <a:solidFill>
                            <a:srgbClr val="BA0000"/>
                          </a:solidFill>
                          <a:latin typeface="Courier New"/>
                          <a:cs typeface="Courier New"/>
                        </a:rPr>
                        <a:t>"s",</a:t>
                      </a:r>
                      <a:r>
                        <a:rPr sz="1300" spc="-20" dirty="0">
                          <a:solidFill>
                            <a:srgbClr val="BA0000"/>
                          </a:solidFill>
                          <a:latin typeface="Courier New"/>
                          <a:cs typeface="Courier New"/>
                        </a:rPr>
                        <a:t> "u",</a:t>
                      </a:r>
                      <a:endParaRPr sz="1300">
                        <a:latin typeface="Courier New"/>
                        <a:cs typeface="Courier New"/>
                      </a:endParaRPr>
                    </a:p>
                    <a:p>
                      <a:pPr marL="85725">
                        <a:lnSpc>
                          <a:spcPct val="100000"/>
                        </a:lnSpc>
                      </a:pPr>
                      <a:r>
                        <a:rPr sz="1300" spc="-10" dirty="0">
                          <a:solidFill>
                            <a:srgbClr val="BA0000"/>
                          </a:solidFill>
                          <a:latin typeface="Courier New"/>
                          <a:cs typeface="Courier New"/>
                        </a:rPr>
                        <a:t>"ug”]</a:t>
                      </a:r>
                      <a:endParaRPr sz="1300">
                        <a:latin typeface="Courier New"/>
                        <a:cs typeface="Courier New"/>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tc>
                  <a:txBody>
                    <a:bodyPr/>
                    <a:lstStyle/>
                    <a:p>
                      <a:pPr marL="85725" marR="210820">
                        <a:lnSpc>
                          <a:spcPct val="100000"/>
                        </a:lnSpc>
                        <a:spcBef>
                          <a:spcPts val="260"/>
                        </a:spcBef>
                      </a:pPr>
                      <a:r>
                        <a:rPr sz="1300" dirty="0">
                          <a:solidFill>
                            <a:srgbClr val="BA0000"/>
                          </a:solidFill>
                          <a:latin typeface="Courier New"/>
                          <a:cs typeface="Courier New"/>
                        </a:rPr>
                        <a:t>("h"</a:t>
                      </a:r>
                      <a:r>
                        <a:rPr sz="1300" spc="-30" dirty="0">
                          <a:solidFill>
                            <a:srgbClr val="BA0000"/>
                          </a:solidFill>
                          <a:latin typeface="Courier New"/>
                          <a:cs typeface="Courier New"/>
                        </a:rPr>
                        <a:t> </a:t>
                      </a:r>
                      <a:r>
                        <a:rPr sz="1300" dirty="0">
                          <a:solidFill>
                            <a:srgbClr val="BA0000"/>
                          </a:solidFill>
                          <a:latin typeface="Courier New"/>
                          <a:cs typeface="Courier New"/>
                        </a:rPr>
                        <a:t>"ug",</a:t>
                      </a:r>
                      <a:r>
                        <a:rPr sz="1300" spc="-20" dirty="0">
                          <a:solidFill>
                            <a:srgbClr val="BA0000"/>
                          </a:solidFill>
                          <a:latin typeface="Courier New"/>
                          <a:cs typeface="Courier New"/>
                        </a:rPr>
                        <a:t> </a:t>
                      </a:r>
                      <a:r>
                        <a:rPr sz="1300" dirty="0">
                          <a:solidFill>
                            <a:srgbClr val="BA0000"/>
                          </a:solidFill>
                          <a:latin typeface="Courier New"/>
                          <a:cs typeface="Courier New"/>
                        </a:rPr>
                        <a:t>10),</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25" dirty="0">
                          <a:solidFill>
                            <a:srgbClr val="BA0000"/>
                          </a:solidFill>
                          <a:latin typeface="Courier New"/>
                          <a:cs typeface="Courier New"/>
                        </a:rPr>
                        <a:t> </a:t>
                      </a:r>
                      <a:r>
                        <a:rPr sz="1300" dirty="0">
                          <a:solidFill>
                            <a:srgbClr val="BA0000"/>
                          </a:solidFill>
                          <a:latin typeface="Courier New"/>
                          <a:cs typeface="Courier New"/>
                        </a:rPr>
                        <a:t>"ug",</a:t>
                      </a:r>
                      <a:r>
                        <a:rPr sz="1300" spc="-20" dirty="0">
                          <a:solidFill>
                            <a:srgbClr val="BA0000"/>
                          </a:solidFill>
                          <a:latin typeface="Courier New"/>
                          <a:cs typeface="Courier New"/>
                        </a:rPr>
                        <a:t> </a:t>
                      </a:r>
                      <a:r>
                        <a:rPr sz="1300" dirty="0">
                          <a:solidFill>
                            <a:srgbClr val="BA0000"/>
                          </a:solidFill>
                          <a:latin typeface="Courier New"/>
                          <a:cs typeface="Courier New"/>
                        </a:rPr>
                        <a:t>5),</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20" dirty="0">
                          <a:solidFill>
                            <a:srgbClr val="BA0000"/>
                          </a:solidFill>
                          <a:latin typeface="Courier New"/>
                          <a:cs typeface="Courier New"/>
                        </a:rPr>
                        <a:t> </a:t>
                      </a:r>
                      <a:r>
                        <a:rPr sz="1300" u="sng" dirty="0">
                          <a:solidFill>
                            <a:srgbClr val="BA0000"/>
                          </a:solidFill>
                          <a:uFill>
                            <a:solidFill>
                              <a:srgbClr val="BA0000"/>
                            </a:solidFill>
                          </a:uFill>
                          <a:latin typeface="Courier New"/>
                          <a:cs typeface="Courier New"/>
                        </a:rPr>
                        <a:t>"u"</a:t>
                      </a:r>
                      <a:r>
                        <a:rPr sz="1300" u="sng" spc="-20" dirty="0">
                          <a:solidFill>
                            <a:srgbClr val="BA0000"/>
                          </a:solidFill>
                          <a:uFill>
                            <a:solidFill>
                              <a:srgbClr val="BA0000"/>
                            </a:solidFill>
                          </a:uFill>
                          <a:latin typeface="Courier New"/>
                          <a:cs typeface="Courier New"/>
                        </a:rPr>
                        <a:t> </a:t>
                      </a:r>
                      <a:r>
                        <a:rPr sz="1300" u="sng" dirty="0">
                          <a:solidFill>
                            <a:srgbClr val="BA0000"/>
                          </a:solidFill>
                          <a:uFill>
                            <a:solidFill>
                              <a:srgbClr val="BA0000"/>
                            </a:solidFill>
                          </a:uFill>
                          <a:latin typeface="Courier New"/>
                          <a:cs typeface="Courier New"/>
                        </a:rPr>
                        <a:t>"n"</a:t>
                      </a:r>
                      <a:r>
                        <a:rPr sz="1300" dirty="0">
                          <a:solidFill>
                            <a:srgbClr val="BA0000"/>
                          </a:solidFill>
                          <a:latin typeface="Courier New"/>
                          <a:cs typeface="Courier New"/>
                        </a:rPr>
                        <a:t>,</a:t>
                      </a:r>
                      <a:r>
                        <a:rPr sz="1300" spc="-20" dirty="0">
                          <a:solidFill>
                            <a:srgbClr val="BA0000"/>
                          </a:solidFill>
                          <a:latin typeface="Courier New"/>
                          <a:cs typeface="Courier New"/>
                        </a:rPr>
                        <a:t> </a:t>
                      </a:r>
                      <a:r>
                        <a:rPr sz="1300" dirty="0">
                          <a:solidFill>
                            <a:srgbClr val="BA0000"/>
                          </a:solidFill>
                          <a:latin typeface="Courier New"/>
                          <a:cs typeface="Courier New"/>
                        </a:rPr>
                        <a:t>12),</a:t>
                      </a:r>
                      <a:r>
                        <a:rPr sz="1300" spc="-20" dirty="0">
                          <a:solidFill>
                            <a:srgbClr val="BA0000"/>
                          </a:solidFill>
                          <a:latin typeface="Courier New"/>
                          <a:cs typeface="Courier New"/>
                        </a:rPr>
                        <a:t> ("b" </a:t>
                      </a:r>
                      <a:r>
                        <a:rPr sz="1300" u="sng" dirty="0">
                          <a:solidFill>
                            <a:srgbClr val="BA0000"/>
                          </a:solidFill>
                          <a:uFill>
                            <a:solidFill>
                              <a:srgbClr val="BA0000"/>
                            </a:solidFill>
                          </a:uFill>
                          <a:latin typeface="Courier New"/>
                          <a:cs typeface="Courier New"/>
                        </a:rPr>
                        <a:t>"u"</a:t>
                      </a:r>
                      <a:r>
                        <a:rPr sz="1300" u="sng" spc="-20" dirty="0">
                          <a:solidFill>
                            <a:srgbClr val="BA0000"/>
                          </a:solidFill>
                          <a:uFill>
                            <a:solidFill>
                              <a:srgbClr val="BA0000"/>
                            </a:solidFill>
                          </a:uFill>
                          <a:latin typeface="Courier New"/>
                          <a:cs typeface="Courier New"/>
                        </a:rPr>
                        <a:t> </a:t>
                      </a:r>
                      <a:r>
                        <a:rPr sz="1300" u="sng" dirty="0">
                          <a:solidFill>
                            <a:srgbClr val="BA0000"/>
                          </a:solidFill>
                          <a:uFill>
                            <a:solidFill>
                              <a:srgbClr val="BA0000"/>
                            </a:solidFill>
                          </a:uFill>
                          <a:latin typeface="Courier New"/>
                          <a:cs typeface="Courier New"/>
                        </a:rPr>
                        <a:t>"n"</a:t>
                      </a:r>
                      <a:r>
                        <a:rPr sz="1300" dirty="0">
                          <a:solidFill>
                            <a:srgbClr val="BA0000"/>
                          </a:solidFill>
                          <a:latin typeface="Courier New"/>
                          <a:cs typeface="Courier New"/>
                        </a:rPr>
                        <a:t>,</a:t>
                      </a:r>
                      <a:r>
                        <a:rPr sz="1300" spc="-20" dirty="0">
                          <a:solidFill>
                            <a:srgbClr val="BA0000"/>
                          </a:solidFill>
                          <a:latin typeface="Courier New"/>
                          <a:cs typeface="Courier New"/>
                        </a:rPr>
                        <a:t> </a:t>
                      </a:r>
                      <a:r>
                        <a:rPr sz="1300" dirty="0">
                          <a:solidFill>
                            <a:srgbClr val="BA0000"/>
                          </a:solidFill>
                          <a:latin typeface="Courier New"/>
                          <a:cs typeface="Courier New"/>
                        </a:rPr>
                        <a:t>4),</a:t>
                      </a:r>
                      <a:r>
                        <a:rPr sz="1300" spc="-15" dirty="0">
                          <a:solidFill>
                            <a:srgbClr val="BA0000"/>
                          </a:solidFill>
                          <a:latin typeface="Courier New"/>
                          <a:cs typeface="Courier New"/>
                        </a:rPr>
                        <a:t> </a:t>
                      </a:r>
                      <a:r>
                        <a:rPr sz="1300" dirty="0">
                          <a:solidFill>
                            <a:srgbClr val="BA0000"/>
                          </a:solidFill>
                          <a:latin typeface="Courier New"/>
                          <a:cs typeface="Courier New"/>
                        </a:rPr>
                        <a:t>("h"</a:t>
                      </a:r>
                      <a:r>
                        <a:rPr sz="1300" spc="-20" dirty="0">
                          <a:solidFill>
                            <a:srgbClr val="BA0000"/>
                          </a:solidFill>
                          <a:latin typeface="Courier New"/>
                          <a:cs typeface="Courier New"/>
                        </a:rPr>
                        <a:t> </a:t>
                      </a:r>
                      <a:r>
                        <a:rPr sz="1300" dirty="0">
                          <a:solidFill>
                            <a:srgbClr val="BA0000"/>
                          </a:solidFill>
                          <a:latin typeface="Courier New"/>
                          <a:cs typeface="Courier New"/>
                        </a:rPr>
                        <a:t>"ug"</a:t>
                      </a:r>
                      <a:r>
                        <a:rPr sz="1300" spc="-20" dirty="0">
                          <a:solidFill>
                            <a:srgbClr val="BA0000"/>
                          </a:solidFill>
                          <a:latin typeface="Courier New"/>
                          <a:cs typeface="Courier New"/>
                        </a:rPr>
                        <a:t> </a:t>
                      </a:r>
                      <a:r>
                        <a:rPr sz="1300" dirty="0">
                          <a:solidFill>
                            <a:srgbClr val="BA0000"/>
                          </a:solidFill>
                          <a:latin typeface="Courier New"/>
                          <a:cs typeface="Courier New"/>
                        </a:rPr>
                        <a:t>"s",</a:t>
                      </a:r>
                      <a:r>
                        <a:rPr sz="1300" spc="-15" dirty="0">
                          <a:solidFill>
                            <a:srgbClr val="BA0000"/>
                          </a:solidFill>
                          <a:latin typeface="Courier New"/>
                          <a:cs typeface="Courier New"/>
                        </a:rPr>
                        <a:t> </a:t>
                      </a:r>
                      <a:r>
                        <a:rPr sz="1300" spc="-25" dirty="0">
                          <a:solidFill>
                            <a:srgbClr val="BA0000"/>
                          </a:solidFill>
                          <a:latin typeface="Courier New"/>
                          <a:cs typeface="Courier New"/>
                        </a:rPr>
                        <a:t>5)</a:t>
                      </a:r>
                      <a:endParaRPr sz="1300">
                        <a:latin typeface="Courier New"/>
                        <a:cs typeface="Courier New"/>
                      </a:endParaRPr>
                    </a:p>
                  </a:txBody>
                  <a:tcPr marL="0" marR="0" marT="44027"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extLst>
                  <a:ext uri="{0D108BD9-81ED-4DB2-BD59-A6C34878D82A}">
                    <a16:rowId xmlns:a16="http://schemas.microsoft.com/office/drawing/2014/main" val="10002"/>
                  </a:ext>
                </a:extLst>
              </a:tr>
              <a:tr h="541020">
                <a:tc>
                  <a:txBody>
                    <a:bodyPr/>
                    <a:lstStyle/>
                    <a:p>
                      <a:pPr marL="85725">
                        <a:lnSpc>
                          <a:spcPct val="100000"/>
                        </a:lnSpc>
                        <a:spcBef>
                          <a:spcPts val="259"/>
                        </a:spcBef>
                      </a:pPr>
                      <a:r>
                        <a:rPr sz="1300" spc="-50" dirty="0">
                          <a:solidFill>
                            <a:srgbClr val="BA0000"/>
                          </a:solidFill>
                          <a:latin typeface="Arial MT"/>
                          <a:cs typeface="Arial MT"/>
                        </a:rPr>
                        <a:t>3</a:t>
                      </a:r>
                      <a:endParaRPr sz="1300">
                        <a:latin typeface="Arial MT"/>
                        <a:cs typeface="Arial MT"/>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CD7"/>
                    </a:solidFill>
                  </a:tcPr>
                </a:tc>
                <a:tc>
                  <a:txBody>
                    <a:bodyPr/>
                    <a:lstStyle/>
                    <a:p>
                      <a:pPr marL="85725">
                        <a:lnSpc>
                          <a:spcPct val="100000"/>
                        </a:lnSpc>
                        <a:spcBef>
                          <a:spcPts val="259"/>
                        </a:spcBef>
                      </a:pPr>
                      <a:r>
                        <a:rPr sz="1300" dirty="0">
                          <a:solidFill>
                            <a:srgbClr val="BA0000"/>
                          </a:solidFill>
                          <a:latin typeface="Courier New"/>
                          <a:cs typeface="Courier New"/>
                        </a:rPr>
                        <a:t>["b",</a:t>
                      </a:r>
                      <a:r>
                        <a:rPr sz="1300" spc="-25" dirty="0">
                          <a:solidFill>
                            <a:srgbClr val="BA0000"/>
                          </a:solidFill>
                          <a:latin typeface="Courier New"/>
                          <a:cs typeface="Courier New"/>
                        </a:rPr>
                        <a:t> </a:t>
                      </a:r>
                      <a:r>
                        <a:rPr sz="1300" dirty="0">
                          <a:solidFill>
                            <a:srgbClr val="BA0000"/>
                          </a:solidFill>
                          <a:latin typeface="Courier New"/>
                          <a:cs typeface="Courier New"/>
                        </a:rPr>
                        <a:t>"g",</a:t>
                      </a:r>
                      <a:r>
                        <a:rPr sz="1300" spc="-20" dirty="0">
                          <a:solidFill>
                            <a:srgbClr val="BA0000"/>
                          </a:solidFill>
                          <a:latin typeface="Courier New"/>
                          <a:cs typeface="Courier New"/>
                        </a:rPr>
                        <a:t> </a:t>
                      </a:r>
                      <a:r>
                        <a:rPr sz="1300" dirty="0">
                          <a:solidFill>
                            <a:srgbClr val="BA0000"/>
                          </a:solidFill>
                          <a:latin typeface="Courier New"/>
                          <a:cs typeface="Courier New"/>
                        </a:rPr>
                        <a:t>"h",</a:t>
                      </a:r>
                      <a:r>
                        <a:rPr sz="1300" spc="-20" dirty="0">
                          <a:solidFill>
                            <a:srgbClr val="BA0000"/>
                          </a:solidFill>
                          <a:latin typeface="Courier New"/>
                          <a:cs typeface="Courier New"/>
                        </a:rPr>
                        <a:t> </a:t>
                      </a:r>
                      <a:r>
                        <a:rPr sz="1300" dirty="0">
                          <a:solidFill>
                            <a:srgbClr val="BA0000"/>
                          </a:solidFill>
                          <a:latin typeface="Courier New"/>
                          <a:cs typeface="Courier New"/>
                        </a:rPr>
                        <a:t>"n",</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20" dirty="0">
                          <a:solidFill>
                            <a:srgbClr val="BA0000"/>
                          </a:solidFill>
                          <a:latin typeface="Courier New"/>
                          <a:cs typeface="Courier New"/>
                        </a:rPr>
                        <a:t> </a:t>
                      </a:r>
                      <a:r>
                        <a:rPr sz="1300" dirty="0">
                          <a:solidFill>
                            <a:srgbClr val="BA0000"/>
                          </a:solidFill>
                          <a:latin typeface="Courier New"/>
                          <a:cs typeface="Courier New"/>
                        </a:rPr>
                        <a:t>"s",</a:t>
                      </a:r>
                      <a:r>
                        <a:rPr sz="1300" spc="-20" dirty="0">
                          <a:solidFill>
                            <a:srgbClr val="BA0000"/>
                          </a:solidFill>
                          <a:latin typeface="Courier New"/>
                          <a:cs typeface="Courier New"/>
                        </a:rPr>
                        <a:t> "u",</a:t>
                      </a:r>
                      <a:endParaRPr sz="1300">
                        <a:latin typeface="Courier New"/>
                        <a:cs typeface="Courier New"/>
                      </a:endParaRPr>
                    </a:p>
                    <a:p>
                      <a:pPr marL="85725">
                        <a:lnSpc>
                          <a:spcPct val="100000"/>
                        </a:lnSpc>
                      </a:pPr>
                      <a:r>
                        <a:rPr sz="1300" dirty="0">
                          <a:solidFill>
                            <a:srgbClr val="BA0000"/>
                          </a:solidFill>
                          <a:latin typeface="Courier New"/>
                          <a:cs typeface="Courier New"/>
                        </a:rPr>
                        <a:t>"ug”</a:t>
                      </a:r>
                      <a:r>
                        <a:rPr sz="1300" spc="-20" dirty="0">
                          <a:solidFill>
                            <a:srgbClr val="BA0000"/>
                          </a:solidFill>
                          <a:latin typeface="Courier New"/>
                          <a:cs typeface="Courier New"/>
                        </a:rPr>
                        <a:t> </a:t>
                      </a:r>
                      <a:r>
                        <a:rPr sz="1300" spc="-10" dirty="0">
                          <a:solidFill>
                            <a:srgbClr val="BA0000"/>
                          </a:solidFill>
                          <a:latin typeface="Courier New"/>
                          <a:cs typeface="Courier New"/>
                        </a:rPr>
                        <a:t>“un”]</a:t>
                      </a:r>
                      <a:endParaRPr sz="1300">
                        <a:latin typeface="Courier New"/>
                        <a:cs typeface="Courier New"/>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CD7"/>
                    </a:solidFill>
                  </a:tcPr>
                </a:tc>
                <a:tc>
                  <a:txBody>
                    <a:bodyPr/>
                    <a:lstStyle/>
                    <a:p>
                      <a:pPr marL="85725" marR="438784">
                        <a:lnSpc>
                          <a:spcPct val="100000"/>
                        </a:lnSpc>
                        <a:spcBef>
                          <a:spcPts val="259"/>
                        </a:spcBef>
                      </a:pPr>
                      <a:r>
                        <a:rPr sz="1300" dirty="0">
                          <a:solidFill>
                            <a:srgbClr val="BA0000"/>
                          </a:solidFill>
                          <a:latin typeface="Courier New"/>
                          <a:cs typeface="Courier New"/>
                        </a:rPr>
                        <a:t>(</a:t>
                      </a:r>
                      <a:r>
                        <a:rPr sz="1300" u="sng" dirty="0">
                          <a:solidFill>
                            <a:srgbClr val="BA0000"/>
                          </a:solidFill>
                          <a:uFill>
                            <a:solidFill>
                              <a:srgbClr val="BA0000"/>
                            </a:solidFill>
                          </a:uFill>
                          <a:latin typeface="Courier New"/>
                          <a:cs typeface="Courier New"/>
                        </a:rPr>
                        <a:t>"h"</a:t>
                      </a:r>
                      <a:r>
                        <a:rPr sz="1300" u="sng" spc="-35" dirty="0">
                          <a:solidFill>
                            <a:srgbClr val="BA0000"/>
                          </a:solidFill>
                          <a:uFill>
                            <a:solidFill>
                              <a:srgbClr val="BA0000"/>
                            </a:solidFill>
                          </a:uFill>
                          <a:latin typeface="Courier New"/>
                          <a:cs typeface="Courier New"/>
                        </a:rPr>
                        <a:t> </a:t>
                      </a:r>
                      <a:r>
                        <a:rPr sz="1300" u="sng" dirty="0">
                          <a:solidFill>
                            <a:srgbClr val="BA0000"/>
                          </a:solidFill>
                          <a:uFill>
                            <a:solidFill>
                              <a:srgbClr val="BA0000"/>
                            </a:solidFill>
                          </a:uFill>
                          <a:latin typeface="Courier New"/>
                          <a:cs typeface="Courier New"/>
                        </a:rPr>
                        <a:t>"ug"</a:t>
                      </a:r>
                      <a:r>
                        <a:rPr sz="1300" dirty="0">
                          <a:solidFill>
                            <a:srgbClr val="BA0000"/>
                          </a:solidFill>
                          <a:latin typeface="Courier New"/>
                          <a:cs typeface="Courier New"/>
                        </a:rPr>
                        <a:t>,</a:t>
                      </a:r>
                      <a:r>
                        <a:rPr sz="1300" spc="-20" dirty="0">
                          <a:solidFill>
                            <a:srgbClr val="BA0000"/>
                          </a:solidFill>
                          <a:latin typeface="Courier New"/>
                          <a:cs typeface="Courier New"/>
                        </a:rPr>
                        <a:t> </a:t>
                      </a:r>
                      <a:r>
                        <a:rPr sz="1300" dirty="0">
                          <a:solidFill>
                            <a:srgbClr val="BA0000"/>
                          </a:solidFill>
                          <a:latin typeface="Courier New"/>
                          <a:cs typeface="Courier New"/>
                        </a:rPr>
                        <a:t>10),</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20" dirty="0">
                          <a:solidFill>
                            <a:srgbClr val="BA0000"/>
                          </a:solidFill>
                          <a:latin typeface="Courier New"/>
                          <a:cs typeface="Courier New"/>
                        </a:rPr>
                        <a:t> </a:t>
                      </a:r>
                      <a:r>
                        <a:rPr sz="1300" dirty="0">
                          <a:solidFill>
                            <a:srgbClr val="BA0000"/>
                          </a:solidFill>
                          <a:latin typeface="Courier New"/>
                          <a:cs typeface="Courier New"/>
                        </a:rPr>
                        <a:t>"ug",</a:t>
                      </a:r>
                      <a:r>
                        <a:rPr sz="1300" spc="-25" dirty="0">
                          <a:solidFill>
                            <a:srgbClr val="BA0000"/>
                          </a:solidFill>
                          <a:latin typeface="Courier New"/>
                          <a:cs typeface="Courier New"/>
                        </a:rPr>
                        <a:t> </a:t>
                      </a:r>
                      <a:r>
                        <a:rPr sz="1300" dirty="0">
                          <a:solidFill>
                            <a:srgbClr val="BA0000"/>
                          </a:solidFill>
                          <a:latin typeface="Courier New"/>
                          <a:cs typeface="Courier New"/>
                        </a:rPr>
                        <a:t>5),</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20" dirty="0">
                          <a:solidFill>
                            <a:srgbClr val="BA0000"/>
                          </a:solidFill>
                          <a:latin typeface="Courier New"/>
                          <a:cs typeface="Courier New"/>
                        </a:rPr>
                        <a:t> </a:t>
                      </a:r>
                      <a:r>
                        <a:rPr sz="1300" dirty="0">
                          <a:solidFill>
                            <a:srgbClr val="BA0000"/>
                          </a:solidFill>
                          <a:latin typeface="Courier New"/>
                          <a:cs typeface="Courier New"/>
                        </a:rPr>
                        <a:t>"un",</a:t>
                      </a:r>
                      <a:r>
                        <a:rPr sz="1300" spc="-20" dirty="0">
                          <a:solidFill>
                            <a:srgbClr val="BA0000"/>
                          </a:solidFill>
                          <a:latin typeface="Courier New"/>
                          <a:cs typeface="Courier New"/>
                        </a:rPr>
                        <a:t> </a:t>
                      </a:r>
                      <a:r>
                        <a:rPr sz="1300" dirty="0">
                          <a:solidFill>
                            <a:srgbClr val="BA0000"/>
                          </a:solidFill>
                          <a:latin typeface="Courier New"/>
                          <a:cs typeface="Courier New"/>
                        </a:rPr>
                        <a:t>12),</a:t>
                      </a:r>
                      <a:r>
                        <a:rPr sz="1300" spc="-20" dirty="0">
                          <a:solidFill>
                            <a:srgbClr val="BA0000"/>
                          </a:solidFill>
                          <a:latin typeface="Courier New"/>
                          <a:cs typeface="Courier New"/>
                        </a:rPr>
                        <a:t> ("b" </a:t>
                      </a:r>
                      <a:r>
                        <a:rPr sz="1300" dirty="0">
                          <a:solidFill>
                            <a:srgbClr val="BA0000"/>
                          </a:solidFill>
                          <a:latin typeface="Courier New"/>
                          <a:cs typeface="Courier New"/>
                        </a:rPr>
                        <a:t>"un",</a:t>
                      </a:r>
                      <a:r>
                        <a:rPr sz="1300" spc="-20" dirty="0">
                          <a:solidFill>
                            <a:srgbClr val="BA0000"/>
                          </a:solidFill>
                          <a:latin typeface="Courier New"/>
                          <a:cs typeface="Courier New"/>
                        </a:rPr>
                        <a:t> </a:t>
                      </a:r>
                      <a:r>
                        <a:rPr sz="1300" dirty="0">
                          <a:solidFill>
                            <a:srgbClr val="BA0000"/>
                          </a:solidFill>
                          <a:latin typeface="Courier New"/>
                          <a:cs typeface="Courier New"/>
                        </a:rPr>
                        <a:t>4),</a:t>
                      </a:r>
                      <a:r>
                        <a:rPr sz="1300" spc="-20" dirty="0">
                          <a:solidFill>
                            <a:srgbClr val="BA0000"/>
                          </a:solidFill>
                          <a:latin typeface="Courier New"/>
                          <a:cs typeface="Courier New"/>
                        </a:rPr>
                        <a:t> </a:t>
                      </a:r>
                      <a:r>
                        <a:rPr sz="1300" dirty="0">
                          <a:solidFill>
                            <a:srgbClr val="BA0000"/>
                          </a:solidFill>
                          <a:latin typeface="Courier New"/>
                          <a:cs typeface="Courier New"/>
                        </a:rPr>
                        <a:t>(</a:t>
                      </a:r>
                      <a:r>
                        <a:rPr sz="1300" u="sng" dirty="0">
                          <a:solidFill>
                            <a:srgbClr val="BA0000"/>
                          </a:solidFill>
                          <a:uFill>
                            <a:solidFill>
                              <a:srgbClr val="BA0000"/>
                            </a:solidFill>
                          </a:uFill>
                          <a:latin typeface="Courier New"/>
                          <a:cs typeface="Courier New"/>
                        </a:rPr>
                        <a:t>"h"</a:t>
                      </a:r>
                      <a:r>
                        <a:rPr sz="1300" u="sng" spc="-20" dirty="0">
                          <a:solidFill>
                            <a:srgbClr val="BA0000"/>
                          </a:solidFill>
                          <a:uFill>
                            <a:solidFill>
                              <a:srgbClr val="BA0000"/>
                            </a:solidFill>
                          </a:uFill>
                          <a:latin typeface="Courier New"/>
                          <a:cs typeface="Courier New"/>
                        </a:rPr>
                        <a:t> </a:t>
                      </a:r>
                      <a:r>
                        <a:rPr sz="1300" u="sng" dirty="0">
                          <a:solidFill>
                            <a:srgbClr val="BA0000"/>
                          </a:solidFill>
                          <a:uFill>
                            <a:solidFill>
                              <a:srgbClr val="BA0000"/>
                            </a:solidFill>
                          </a:uFill>
                          <a:latin typeface="Courier New"/>
                          <a:cs typeface="Courier New"/>
                        </a:rPr>
                        <a:t>"ug"</a:t>
                      </a:r>
                      <a:r>
                        <a:rPr sz="1300" spc="-20" dirty="0">
                          <a:solidFill>
                            <a:srgbClr val="BA0000"/>
                          </a:solidFill>
                          <a:latin typeface="Courier New"/>
                          <a:cs typeface="Courier New"/>
                        </a:rPr>
                        <a:t> </a:t>
                      </a:r>
                      <a:r>
                        <a:rPr sz="1300" dirty="0">
                          <a:solidFill>
                            <a:srgbClr val="BA0000"/>
                          </a:solidFill>
                          <a:latin typeface="Courier New"/>
                          <a:cs typeface="Courier New"/>
                        </a:rPr>
                        <a:t>"s",</a:t>
                      </a:r>
                      <a:r>
                        <a:rPr sz="1300" spc="-20" dirty="0">
                          <a:solidFill>
                            <a:srgbClr val="BA0000"/>
                          </a:solidFill>
                          <a:latin typeface="Courier New"/>
                          <a:cs typeface="Courier New"/>
                        </a:rPr>
                        <a:t> </a:t>
                      </a:r>
                      <a:r>
                        <a:rPr sz="1300" spc="-25" dirty="0">
                          <a:solidFill>
                            <a:srgbClr val="BA0000"/>
                          </a:solidFill>
                          <a:latin typeface="Courier New"/>
                          <a:cs typeface="Courier New"/>
                        </a:rPr>
                        <a:t>5)</a:t>
                      </a:r>
                      <a:endParaRPr sz="1300">
                        <a:latin typeface="Courier New"/>
                        <a:cs typeface="Courier New"/>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CD7"/>
                    </a:solidFill>
                  </a:tcPr>
                </a:tc>
                <a:extLst>
                  <a:ext uri="{0D108BD9-81ED-4DB2-BD59-A6C34878D82A}">
                    <a16:rowId xmlns:a16="http://schemas.microsoft.com/office/drawing/2014/main" val="10003"/>
                  </a:ext>
                </a:extLst>
              </a:tr>
              <a:tr h="541020">
                <a:tc>
                  <a:txBody>
                    <a:bodyPr/>
                    <a:lstStyle/>
                    <a:p>
                      <a:pPr marL="85725">
                        <a:lnSpc>
                          <a:spcPct val="100000"/>
                        </a:lnSpc>
                        <a:spcBef>
                          <a:spcPts val="259"/>
                        </a:spcBef>
                      </a:pPr>
                      <a:r>
                        <a:rPr sz="1300" spc="-50" dirty="0">
                          <a:solidFill>
                            <a:srgbClr val="BA0000"/>
                          </a:solidFill>
                          <a:latin typeface="Arial MT"/>
                          <a:cs typeface="Arial MT"/>
                        </a:rPr>
                        <a:t>4</a:t>
                      </a:r>
                      <a:endParaRPr sz="1300">
                        <a:latin typeface="Arial MT"/>
                        <a:cs typeface="Arial MT"/>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tc>
                  <a:txBody>
                    <a:bodyPr/>
                    <a:lstStyle/>
                    <a:p>
                      <a:pPr marL="85725">
                        <a:lnSpc>
                          <a:spcPct val="100000"/>
                        </a:lnSpc>
                        <a:spcBef>
                          <a:spcPts val="259"/>
                        </a:spcBef>
                      </a:pPr>
                      <a:r>
                        <a:rPr sz="1300" dirty="0">
                          <a:solidFill>
                            <a:srgbClr val="BA0000"/>
                          </a:solidFill>
                          <a:latin typeface="Courier New"/>
                          <a:cs typeface="Courier New"/>
                        </a:rPr>
                        <a:t>["b",</a:t>
                      </a:r>
                      <a:r>
                        <a:rPr sz="1300" spc="-25" dirty="0">
                          <a:solidFill>
                            <a:srgbClr val="BA0000"/>
                          </a:solidFill>
                          <a:latin typeface="Courier New"/>
                          <a:cs typeface="Courier New"/>
                        </a:rPr>
                        <a:t> </a:t>
                      </a:r>
                      <a:r>
                        <a:rPr sz="1300" dirty="0">
                          <a:solidFill>
                            <a:srgbClr val="BA0000"/>
                          </a:solidFill>
                          <a:latin typeface="Courier New"/>
                          <a:cs typeface="Courier New"/>
                        </a:rPr>
                        <a:t>"g",</a:t>
                      </a:r>
                      <a:r>
                        <a:rPr sz="1300" spc="-20" dirty="0">
                          <a:solidFill>
                            <a:srgbClr val="BA0000"/>
                          </a:solidFill>
                          <a:latin typeface="Courier New"/>
                          <a:cs typeface="Courier New"/>
                        </a:rPr>
                        <a:t> </a:t>
                      </a:r>
                      <a:r>
                        <a:rPr sz="1300" dirty="0">
                          <a:solidFill>
                            <a:srgbClr val="BA0000"/>
                          </a:solidFill>
                          <a:latin typeface="Courier New"/>
                          <a:cs typeface="Courier New"/>
                        </a:rPr>
                        <a:t>"h",</a:t>
                      </a:r>
                      <a:r>
                        <a:rPr sz="1300" spc="-20" dirty="0">
                          <a:solidFill>
                            <a:srgbClr val="BA0000"/>
                          </a:solidFill>
                          <a:latin typeface="Courier New"/>
                          <a:cs typeface="Courier New"/>
                        </a:rPr>
                        <a:t> </a:t>
                      </a:r>
                      <a:r>
                        <a:rPr sz="1300" dirty="0">
                          <a:solidFill>
                            <a:srgbClr val="BA0000"/>
                          </a:solidFill>
                          <a:latin typeface="Courier New"/>
                          <a:cs typeface="Courier New"/>
                        </a:rPr>
                        <a:t>"n",</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20" dirty="0">
                          <a:solidFill>
                            <a:srgbClr val="BA0000"/>
                          </a:solidFill>
                          <a:latin typeface="Courier New"/>
                          <a:cs typeface="Courier New"/>
                        </a:rPr>
                        <a:t> </a:t>
                      </a:r>
                      <a:r>
                        <a:rPr sz="1300" dirty="0">
                          <a:solidFill>
                            <a:srgbClr val="BA0000"/>
                          </a:solidFill>
                          <a:latin typeface="Courier New"/>
                          <a:cs typeface="Courier New"/>
                        </a:rPr>
                        <a:t>"s",</a:t>
                      </a:r>
                      <a:r>
                        <a:rPr sz="1300" spc="-20" dirty="0">
                          <a:solidFill>
                            <a:srgbClr val="BA0000"/>
                          </a:solidFill>
                          <a:latin typeface="Courier New"/>
                          <a:cs typeface="Courier New"/>
                        </a:rPr>
                        <a:t> "u",</a:t>
                      </a:r>
                      <a:endParaRPr sz="1300">
                        <a:latin typeface="Courier New"/>
                        <a:cs typeface="Courier New"/>
                      </a:endParaRPr>
                    </a:p>
                    <a:p>
                      <a:pPr marL="85725">
                        <a:lnSpc>
                          <a:spcPct val="100000"/>
                        </a:lnSpc>
                      </a:pPr>
                      <a:r>
                        <a:rPr sz="1300" dirty="0">
                          <a:solidFill>
                            <a:srgbClr val="BA0000"/>
                          </a:solidFill>
                          <a:latin typeface="Courier New"/>
                          <a:cs typeface="Courier New"/>
                        </a:rPr>
                        <a:t>"ug”</a:t>
                      </a:r>
                      <a:r>
                        <a:rPr sz="1300" spc="-25" dirty="0">
                          <a:solidFill>
                            <a:srgbClr val="BA0000"/>
                          </a:solidFill>
                          <a:latin typeface="Courier New"/>
                          <a:cs typeface="Courier New"/>
                        </a:rPr>
                        <a:t> </a:t>
                      </a:r>
                      <a:r>
                        <a:rPr sz="1300" dirty="0">
                          <a:solidFill>
                            <a:srgbClr val="BA0000"/>
                          </a:solidFill>
                          <a:latin typeface="Courier New"/>
                          <a:cs typeface="Courier New"/>
                        </a:rPr>
                        <a:t>“un”,</a:t>
                      </a:r>
                      <a:r>
                        <a:rPr sz="1300" spc="-20" dirty="0">
                          <a:solidFill>
                            <a:srgbClr val="BA0000"/>
                          </a:solidFill>
                          <a:latin typeface="Courier New"/>
                          <a:cs typeface="Courier New"/>
                        </a:rPr>
                        <a:t> </a:t>
                      </a:r>
                      <a:r>
                        <a:rPr sz="1300" spc="-10" dirty="0">
                          <a:solidFill>
                            <a:srgbClr val="BA0000"/>
                          </a:solidFill>
                          <a:latin typeface="Courier New"/>
                          <a:cs typeface="Courier New"/>
                        </a:rPr>
                        <a:t>“hug”]</a:t>
                      </a:r>
                      <a:endParaRPr sz="1300">
                        <a:latin typeface="Courier New"/>
                        <a:cs typeface="Courier New"/>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tc>
                  <a:txBody>
                    <a:bodyPr/>
                    <a:lstStyle/>
                    <a:p>
                      <a:pPr marL="85725" marR="210185">
                        <a:lnSpc>
                          <a:spcPct val="100000"/>
                        </a:lnSpc>
                        <a:spcBef>
                          <a:spcPts val="259"/>
                        </a:spcBef>
                      </a:pPr>
                      <a:r>
                        <a:rPr sz="1300" dirty="0">
                          <a:solidFill>
                            <a:srgbClr val="BA0000"/>
                          </a:solidFill>
                          <a:latin typeface="Courier New"/>
                          <a:cs typeface="Courier New"/>
                        </a:rPr>
                        <a:t>("hug",</a:t>
                      </a:r>
                      <a:r>
                        <a:rPr sz="1300" spc="-35" dirty="0">
                          <a:solidFill>
                            <a:srgbClr val="BA0000"/>
                          </a:solidFill>
                          <a:latin typeface="Courier New"/>
                          <a:cs typeface="Courier New"/>
                        </a:rPr>
                        <a:t> </a:t>
                      </a:r>
                      <a:r>
                        <a:rPr sz="1300" dirty="0">
                          <a:solidFill>
                            <a:srgbClr val="BA0000"/>
                          </a:solidFill>
                          <a:latin typeface="Courier New"/>
                          <a:cs typeface="Courier New"/>
                        </a:rPr>
                        <a:t>10),</a:t>
                      </a:r>
                      <a:r>
                        <a:rPr sz="1300" spc="-20" dirty="0">
                          <a:solidFill>
                            <a:srgbClr val="BA0000"/>
                          </a:solidFill>
                          <a:latin typeface="Courier New"/>
                          <a:cs typeface="Courier New"/>
                        </a:rPr>
                        <a:t> </a:t>
                      </a:r>
                      <a:r>
                        <a:rPr sz="1300" dirty="0">
                          <a:solidFill>
                            <a:srgbClr val="BA0000"/>
                          </a:solidFill>
                          <a:latin typeface="Courier New"/>
                          <a:cs typeface="Courier New"/>
                        </a:rPr>
                        <a:t>("p"</a:t>
                      </a:r>
                      <a:r>
                        <a:rPr sz="1300" spc="-25" dirty="0">
                          <a:solidFill>
                            <a:srgbClr val="BA0000"/>
                          </a:solidFill>
                          <a:latin typeface="Courier New"/>
                          <a:cs typeface="Courier New"/>
                        </a:rPr>
                        <a:t> </a:t>
                      </a:r>
                      <a:r>
                        <a:rPr sz="1300" dirty="0">
                          <a:solidFill>
                            <a:srgbClr val="BA0000"/>
                          </a:solidFill>
                          <a:latin typeface="Courier New"/>
                          <a:cs typeface="Courier New"/>
                        </a:rPr>
                        <a:t>"ug",</a:t>
                      </a:r>
                      <a:r>
                        <a:rPr sz="1300" spc="-20" dirty="0">
                          <a:solidFill>
                            <a:srgbClr val="BA0000"/>
                          </a:solidFill>
                          <a:latin typeface="Courier New"/>
                          <a:cs typeface="Courier New"/>
                        </a:rPr>
                        <a:t> </a:t>
                      </a:r>
                      <a:r>
                        <a:rPr sz="1300" dirty="0">
                          <a:solidFill>
                            <a:srgbClr val="BA0000"/>
                          </a:solidFill>
                          <a:latin typeface="Courier New"/>
                          <a:cs typeface="Courier New"/>
                        </a:rPr>
                        <a:t>5),</a:t>
                      </a:r>
                      <a:r>
                        <a:rPr sz="1300" spc="-25" dirty="0">
                          <a:solidFill>
                            <a:srgbClr val="BA0000"/>
                          </a:solidFill>
                          <a:latin typeface="Courier New"/>
                          <a:cs typeface="Courier New"/>
                        </a:rPr>
                        <a:t> </a:t>
                      </a:r>
                      <a:r>
                        <a:rPr sz="1300" dirty="0">
                          <a:solidFill>
                            <a:srgbClr val="BA0000"/>
                          </a:solidFill>
                          <a:latin typeface="Courier New"/>
                          <a:cs typeface="Courier New"/>
                        </a:rPr>
                        <a:t>("p"</a:t>
                      </a:r>
                      <a:r>
                        <a:rPr sz="1300" spc="-20" dirty="0">
                          <a:solidFill>
                            <a:srgbClr val="BA0000"/>
                          </a:solidFill>
                          <a:latin typeface="Courier New"/>
                          <a:cs typeface="Courier New"/>
                        </a:rPr>
                        <a:t> </a:t>
                      </a:r>
                      <a:r>
                        <a:rPr sz="1300" dirty="0">
                          <a:solidFill>
                            <a:srgbClr val="BA0000"/>
                          </a:solidFill>
                          <a:latin typeface="Courier New"/>
                          <a:cs typeface="Courier New"/>
                        </a:rPr>
                        <a:t>"un",</a:t>
                      </a:r>
                      <a:r>
                        <a:rPr sz="1300" spc="-25" dirty="0">
                          <a:solidFill>
                            <a:srgbClr val="BA0000"/>
                          </a:solidFill>
                          <a:latin typeface="Courier New"/>
                          <a:cs typeface="Courier New"/>
                        </a:rPr>
                        <a:t> </a:t>
                      </a:r>
                      <a:r>
                        <a:rPr sz="1300" dirty="0">
                          <a:solidFill>
                            <a:srgbClr val="BA0000"/>
                          </a:solidFill>
                          <a:latin typeface="Courier New"/>
                          <a:cs typeface="Courier New"/>
                        </a:rPr>
                        <a:t>12),</a:t>
                      </a:r>
                      <a:r>
                        <a:rPr sz="1300" spc="-20" dirty="0">
                          <a:solidFill>
                            <a:srgbClr val="BA0000"/>
                          </a:solidFill>
                          <a:latin typeface="Courier New"/>
                          <a:cs typeface="Courier New"/>
                        </a:rPr>
                        <a:t> </a:t>
                      </a:r>
                      <a:r>
                        <a:rPr sz="1300" dirty="0">
                          <a:solidFill>
                            <a:srgbClr val="BA0000"/>
                          </a:solidFill>
                          <a:latin typeface="Courier New"/>
                          <a:cs typeface="Courier New"/>
                        </a:rPr>
                        <a:t>("b"</a:t>
                      </a:r>
                      <a:r>
                        <a:rPr sz="1300" spc="-20" dirty="0">
                          <a:solidFill>
                            <a:srgbClr val="BA0000"/>
                          </a:solidFill>
                          <a:latin typeface="Courier New"/>
                          <a:cs typeface="Courier New"/>
                        </a:rPr>
                        <a:t> </a:t>
                      </a:r>
                      <a:r>
                        <a:rPr sz="1300" spc="-10" dirty="0">
                          <a:solidFill>
                            <a:srgbClr val="BA0000"/>
                          </a:solidFill>
                          <a:latin typeface="Courier New"/>
                          <a:cs typeface="Courier New"/>
                        </a:rPr>
                        <a:t>"un", </a:t>
                      </a:r>
                      <a:r>
                        <a:rPr sz="1300" dirty="0">
                          <a:solidFill>
                            <a:srgbClr val="BA0000"/>
                          </a:solidFill>
                          <a:latin typeface="Courier New"/>
                          <a:cs typeface="Courier New"/>
                        </a:rPr>
                        <a:t>4),</a:t>
                      </a:r>
                      <a:r>
                        <a:rPr sz="1300" spc="-25" dirty="0">
                          <a:solidFill>
                            <a:srgbClr val="BA0000"/>
                          </a:solidFill>
                          <a:latin typeface="Courier New"/>
                          <a:cs typeface="Courier New"/>
                        </a:rPr>
                        <a:t> </a:t>
                      </a:r>
                      <a:r>
                        <a:rPr sz="1300" dirty="0">
                          <a:solidFill>
                            <a:srgbClr val="BA0000"/>
                          </a:solidFill>
                          <a:latin typeface="Courier New"/>
                          <a:cs typeface="Courier New"/>
                        </a:rPr>
                        <a:t>("hug"</a:t>
                      </a:r>
                      <a:r>
                        <a:rPr sz="1300" spc="-20" dirty="0">
                          <a:solidFill>
                            <a:srgbClr val="BA0000"/>
                          </a:solidFill>
                          <a:latin typeface="Courier New"/>
                          <a:cs typeface="Courier New"/>
                        </a:rPr>
                        <a:t> </a:t>
                      </a:r>
                      <a:r>
                        <a:rPr sz="1300" dirty="0">
                          <a:solidFill>
                            <a:srgbClr val="BA0000"/>
                          </a:solidFill>
                          <a:latin typeface="Courier New"/>
                          <a:cs typeface="Courier New"/>
                        </a:rPr>
                        <a:t>"s",</a:t>
                      </a:r>
                      <a:r>
                        <a:rPr sz="1300" spc="-20" dirty="0">
                          <a:solidFill>
                            <a:srgbClr val="BA0000"/>
                          </a:solidFill>
                          <a:latin typeface="Courier New"/>
                          <a:cs typeface="Courier New"/>
                        </a:rPr>
                        <a:t> </a:t>
                      </a:r>
                      <a:r>
                        <a:rPr sz="1300" spc="-25" dirty="0">
                          <a:solidFill>
                            <a:srgbClr val="BA0000"/>
                          </a:solidFill>
                          <a:latin typeface="Courier New"/>
                          <a:cs typeface="Courier New"/>
                        </a:rPr>
                        <a:t>5)</a:t>
                      </a:r>
                      <a:endParaRPr sz="1300">
                        <a:latin typeface="Courier New"/>
                        <a:cs typeface="Courier New"/>
                      </a:endParaRPr>
                    </a:p>
                  </a:txBody>
                  <a:tcPr marL="0" marR="0" marT="44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6E7EC"/>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52898559"/>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5"/>
          <p:cNvSpPr txBox="1">
            <a:spLocks/>
          </p:cNvSpPr>
          <p:nvPr/>
        </p:nvSpPr>
        <p:spPr>
          <a:xfrm>
            <a:off x="304800" y="1545224"/>
            <a:ext cx="11480800" cy="4525963"/>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l" rtl="0" eaLnBrk="0" fontAlgn="base" hangingPunct="0">
              <a:spcBef>
                <a:spcPct val="0"/>
              </a:spcBef>
              <a:spcAft>
                <a:spcPct val="0"/>
              </a:spcAft>
              <a:buFont typeface="Arial" panose="020B0604020202020204" pitchFamily="34" charset="0"/>
              <a:buChar char="•"/>
            </a:pPr>
            <a:r>
              <a:rPr lang="en-US" altLang="en-US" sz="2000" b="1" kern="0">
                <a:solidFill>
                  <a:schemeClr val="tx1"/>
                </a:solidFill>
              </a:rPr>
              <a:t>Find Most Frequent Pair:</a:t>
            </a:r>
            <a:r>
              <a:rPr lang="en-US" altLang="en-US" sz="2000" kern="0">
                <a:solidFill>
                  <a:schemeClr val="tx1"/>
                </a:solidFill>
              </a:rPr>
              <a:t> The algorithm scans the tokenized words and their frequencies to find the most common adjacent pair.</a:t>
            </a:r>
          </a:p>
          <a:p>
            <a:pPr lvl="1" algn="l" rtl="0" eaLnBrk="0" fontAlgn="base" hangingPunct="0">
              <a:spcBef>
                <a:spcPct val="0"/>
              </a:spcBef>
              <a:spcAft>
                <a:spcPct val="0"/>
              </a:spcAft>
            </a:pPr>
            <a:r>
              <a:rPr lang="en-US" altLang="en-US" sz="2000" kern="0">
                <a:solidFill>
                  <a:schemeClr val="tx1"/>
                </a:solidFill>
              </a:rPr>
              <a:t>("u", "g") appears in "hug" (10), "pug" (5), and "hugs" (5). Total = </a:t>
            </a:r>
            <a:r>
              <a:rPr lang="en-US" altLang="en-US" sz="2000" b="1" kern="0">
                <a:solidFill>
                  <a:schemeClr val="tx1"/>
                </a:solidFill>
              </a:rPr>
              <a:t>20 times</a:t>
            </a:r>
            <a:endParaRPr lang="en-US" altLang="en-US" sz="2000" kern="0">
              <a:solidFill>
                <a:schemeClr val="tx1"/>
              </a:solidFill>
            </a:endParaRPr>
          </a:p>
          <a:p>
            <a:pPr lvl="1" algn="l" rtl="0" eaLnBrk="0" fontAlgn="base" hangingPunct="0">
              <a:spcBef>
                <a:spcPct val="0"/>
              </a:spcBef>
              <a:spcAft>
                <a:spcPct val="0"/>
              </a:spcAft>
            </a:pPr>
            <a:r>
              <a:rPr lang="en-US" altLang="en-US" sz="2000" kern="0">
                <a:solidFill>
                  <a:schemeClr val="tx1"/>
                </a:solidFill>
              </a:rPr>
              <a:t>("u", "n") appears in "pun" (12) and "bun" (4). Total = </a:t>
            </a:r>
            <a:r>
              <a:rPr lang="en-US" altLang="en-US" sz="2000" b="1" kern="0">
                <a:solidFill>
                  <a:schemeClr val="tx1"/>
                </a:solidFill>
              </a:rPr>
              <a:t>16 times</a:t>
            </a:r>
            <a:endParaRPr lang="en-US" altLang="en-US" sz="2000" kern="0">
              <a:solidFill>
                <a:schemeClr val="tx1"/>
              </a:solidFill>
            </a:endParaRPr>
          </a:p>
          <a:p>
            <a:pPr lvl="1" algn="l" rtl="0" eaLnBrk="0" fontAlgn="base" hangingPunct="0">
              <a:spcBef>
                <a:spcPct val="0"/>
              </a:spcBef>
              <a:spcAft>
                <a:spcPct val="0"/>
              </a:spcAft>
            </a:pPr>
            <a:r>
              <a:rPr lang="en-US" altLang="en-US" sz="2000" kern="0">
                <a:solidFill>
                  <a:schemeClr val="tx1"/>
                </a:solidFill>
              </a:rPr>
              <a:t>("h", "u") appears in "hug" (10) and "hugs" (5). Total = </a:t>
            </a:r>
            <a:r>
              <a:rPr lang="en-US" altLang="en-US" sz="2000" b="1" kern="0">
                <a:solidFill>
                  <a:schemeClr val="tx1"/>
                </a:solidFill>
              </a:rPr>
              <a:t>15 times</a:t>
            </a:r>
            <a:endParaRPr lang="en-US" altLang="en-US" sz="2000" kern="0">
              <a:solidFill>
                <a:schemeClr val="tx1"/>
              </a:solidFill>
            </a:endParaRPr>
          </a:p>
          <a:p>
            <a:pPr marL="342900" indent="-342900" algn="l" rtl="0" eaLnBrk="0" fontAlgn="base" hangingPunct="0">
              <a:spcBef>
                <a:spcPct val="0"/>
              </a:spcBef>
              <a:spcAft>
                <a:spcPct val="0"/>
              </a:spcAft>
              <a:buFont typeface="Arial" panose="020B0604020202020204" pitchFamily="34" charset="0"/>
              <a:buChar char="•"/>
            </a:pPr>
            <a:endParaRPr lang="en-US" altLang="en-US" sz="2000" b="1" kern="0">
              <a:solidFill>
                <a:schemeClr val="tx1"/>
              </a:solidFill>
            </a:endParaRPr>
          </a:p>
          <a:p>
            <a:pPr marL="342900" indent="-342900" algn="l" rtl="0" eaLnBrk="0" fontAlgn="base" hangingPunct="0">
              <a:spcBef>
                <a:spcPct val="0"/>
              </a:spcBef>
              <a:spcAft>
                <a:spcPct val="0"/>
              </a:spcAft>
              <a:buFont typeface="Arial" panose="020B0604020202020204" pitchFamily="34" charset="0"/>
              <a:buChar char="•"/>
            </a:pPr>
            <a:r>
              <a:rPr lang="en-US" altLang="en-US" sz="2000" b="1" kern="0">
                <a:solidFill>
                  <a:schemeClr val="tx1"/>
                </a:solidFill>
              </a:rPr>
              <a:t>Result:</a:t>
            </a:r>
            <a:r>
              <a:rPr lang="en-US" altLang="en-US" sz="2000" kern="0">
                <a:solidFill>
                  <a:schemeClr val="tx1"/>
                </a:solidFill>
              </a:rPr>
              <a:t> The pair ("u", "g") is the most frequent (20 occurrences)</a:t>
            </a:r>
          </a:p>
          <a:p>
            <a:pPr marL="342900" indent="-342900" algn="l" rtl="0" eaLnBrk="0" fontAlgn="base" hangingPunct="0">
              <a:spcBef>
                <a:spcPct val="0"/>
              </a:spcBef>
              <a:spcAft>
                <a:spcPct val="0"/>
              </a:spcAft>
              <a:buFont typeface="Arial" panose="020B0604020202020204" pitchFamily="34" charset="0"/>
              <a:buChar char="•"/>
            </a:pPr>
            <a:endParaRPr lang="en-US" altLang="en-US" sz="2000" kern="0">
              <a:solidFill>
                <a:schemeClr val="tx1"/>
              </a:solidFill>
            </a:endParaRPr>
          </a:p>
          <a:p>
            <a:pPr marL="342900" indent="-342900" algn="l" rtl="0" eaLnBrk="0" fontAlgn="base" hangingPunct="0">
              <a:spcBef>
                <a:spcPct val="0"/>
              </a:spcBef>
              <a:spcAft>
                <a:spcPct val="0"/>
              </a:spcAft>
              <a:buFont typeface="Arial" panose="020B0604020202020204" pitchFamily="34" charset="0"/>
              <a:buChar char="•"/>
            </a:pPr>
            <a:r>
              <a:rPr lang="en-US" altLang="en-US" sz="2000" kern="0">
                <a:solidFill>
                  <a:schemeClr val="tx1"/>
                </a:solidFill>
              </a:rPr>
              <a:t>A new token "ug" is created by merging "u" and "g“ </a:t>
            </a:r>
          </a:p>
          <a:p>
            <a:pPr marL="342900" indent="-342900" algn="l" rtl="0" eaLnBrk="0" fontAlgn="base" hangingPunct="0">
              <a:spcBef>
                <a:spcPct val="0"/>
              </a:spcBef>
              <a:spcAft>
                <a:spcPct val="0"/>
              </a:spcAft>
              <a:buFont typeface="Arial" panose="020B0604020202020204" pitchFamily="34" charset="0"/>
              <a:buChar char="•"/>
            </a:pPr>
            <a:endParaRPr lang="en-US" altLang="en-US" sz="2000" kern="0">
              <a:solidFill>
                <a:schemeClr val="tx1"/>
              </a:solidFill>
            </a:endParaRPr>
          </a:p>
          <a:p>
            <a:pPr marL="342900" indent="-342900" algn="l" rtl="0" eaLnBrk="0" fontAlgn="base" hangingPunct="0">
              <a:spcBef>
                <a:spcPct val="0"/>
              </a:spcBef>
              <a:spcAft>
                <a:spcPct val="0"/>
              </a:spcAft>
              <a:buFont typeface="Arial" panose="020B0604020202020204" pitchFamily="34" charset="0"/>
              <a:buChar char="•"/>
            </a:pPr>
            <a:r>
              <a:rPr lang="en-US" altLang="en-US" sz="2000" kern="0">
                <a:solidFill>
                  <a:schemeClr val="tx1"/>
                </a:solidFill>
              </a:rPr>
              <a:t>New token "ug" is added to the vocabulary: [..."u", "ug"]</a:t>
            </a:r>
          </a:p>
          <a:p>
            <a:pPr marL="571500" indent="-571500" algn="l" rtl="0" eaLnBrk="0" fontAlgn="base" hangingPunct="0">
              <a:spcBef>
                <a:spcPct val="0"/>
              </a:spcBef>
              <a:spcAft>
                <a:spcPct val="0"/>
              </a:spcAft>
              <a:buFont typeface="Arial" panose="020B0604020202020204" pitchFamily="34" charset="0"/>
              <a:buChar char="•"/>
            </a:pPr>
            <a:endParaRPr lang="en-US" altLang="en-US" sz="2000" kern="0">
              <a:solidFill>
                <a:schemeClr val="tx1"/>
              </a:solidFill>
            </a:endParaRPr>
          </a:p>
          <a:p>
            <a:pPr marL="342900" indent="-342900" algn="l" rtl="0" eaLnBrk="0" fontAlgn="base" hangingPunct="0">
              <a:spcBef>
                <a:spcPct val="0"/>
              </a:spcBef>
              <a:spcAft>
                <a:spcPct val="0"/>
              </a:spcAft>
              <a:buFont typeface="Arial" panose="020B0604020202020204" pitchFamily="34" charset="0"/>
              <a:buChar char="•"/>
            </a:pPr>
            <a:endParaRPr lang="en-US" altLang="en-US" sz="2000" kern="0">
              <a:solidFill>
                <a:schemeClr val="tx1"/>
              </a:solidFill>
            </a:endParaRPr>
          </a:p>
          <a:p>
            <a:pPr marL="342900" indent="-342900" algn="l" rtl="0" eaLnBrk="0" fontAlgn="base" hangingPunct="0">
              <a:spcBef>
                <a:spcPct val="0"/>
              </a:spcBef>
              <a:spcAft>
                <a:spcPct val="0"/>
              </a:spcAft>
              <a:buFont typeface="Arial" panose="020B0604020202020204" pitchFamily="34" charset="0"/>
              <a:buChar char="•"/>
            </a:pPr>
            <a:endParaRPr lang="en-US" altLang="en-US" sz="2000" kern="0">
              <a:solidFill>
                <a:schemeClr val="tx1"/>
              </a:solidFill>
            </a:endParaRPr>
          </a:p>
          <a:p>
            <a:pPr marL="342900" indent="-342900" algn="l" rtl="0" eaLnBrk="0" fontAlgn="base" hangingPunct="0">
              <a:spcBef>
                <a:spcPct val="0"/>
              </a:spcBef>
              <a:spcAft>
                <a:spcPct val="0"/>
              </a:spcAft>
              <a:buFont typeface="Arial" panose="020B0604020202020204" pitchFamily="34" charset="0"/>
              <a:buChar char="•"/>
            </a:pPr>
            <a:endParaRPr lang="en-US" altLang="en-US" sz="2000" kern="0">
              <a:solidFill>
                <a:schemeClr val="tx1"/>
              </a:solidFill>
            </a:endParaRPr>
          </a:p>
          <a:p>
            <a:pPr marL="342900" indent="-342900">
              <a:buFont typeface="Arial" panose="020B0604020202020204" pitchFamily="34" charset="0"/>
              <a:buChar char="•"/>
            </a:pPr>
            <a:endParaRPr lang="en-IN" sz="2000" kern="0" dirty="0">
              <a:solidFill>
                <a:sysClr val="windowText" lastClr="000000"/>
              </a:solidFill>
            </a:endParaRPr>
          </a:p>
        </p:txBody>
      </p:sp>
      <p:sp>
        <p:nvSpPr>
          <p:cNvPr id="4" name="Title 4"/>
          <p:cNvSpPr txBox="1">
            <a:spLocks/>
          </p:cNvSpPr>
          <p:nvPr/>
        </p:nvSpPr>
        <p:spPr>
          <a:xfrm>
            <a:off x="304801" y="0"/>
            <a:ext cx="10881209" cy="1219200"/>
          </a:xfrm>
          <a:prstGeom prst="rect">
            <a:avLst/>
          </a:prstGeom>
        </p:spPr>
        <p:txBody>
          <a:bodyPr/>
          <a:lstStyle>
            <a:lvl1pPr>
              <a:defRPr sz="3600">
                <a:latin typeface="Cambria" panose="02040503050406030204" pitchFamily="18" charset="0"/>
                <a:ea typeface="Cambria" panose="02040503050406030204" pitchFamily="18" charset="0"/>
                <a:cs typeface="+mj-cs"/>
              </a:defRPr>
            </a:lvl1pPr>
          </a:lstStyle>
          <a:p>
            <a:r>
              <a:rPr lang="en-IN" kern="0" dirty="0">
                <a:solidFill>
                  <a:sysClr val="windowText" lastClr="000000"/>
                </a:solidFill>
              </a:rPr>
              <a:t>Byte</a:t>
            </a:r>
            <a:r>
              <a:rPr lang="en-IN" kern="0" spc="-240" dirty="0">
                <a:solidFill>
                  <a:sysClr val="windowText" lastClr="000000"/>
                </a:solidFill>
              </a:rPr>
              <a:t> </a:t>
            </a:r>
            <a:r>
              <a:rPr lang="en-IN" kern="0" spc="-13" dirty="0">
                <a:solidFill>
                  <a:sysClr val="windowText" lastClr="000000"/>
                </a:solidFill>
              </a:rPr>
              <a:t>Pair</a:t>
            </a:r>
            <a:r>
              <a:rPr lang="en-IN" kern="0" spc="-233" dirty="0">
                <a:solidFill>
                  <a:sysClr val="windowText" lastClr="000000"/>
                </a:solidFill>
              </a:rPr>
              <a:t> </a:t>
            </a:r>
            <a:r>
              <a:rPr lang="en-IN" kern="0" spc="-13" dirty="0">
                <a:solidFill>
                  <a:sysClr val="windowText" lastClr="000000"/>
                </a:solidFill>
              </a:rPr>
              <a:t>Encoding</a:t>
            </a:r>
            <a:endParaRPr lang="en-IN" kern="0" dirty="0">
              <a:solidFill>
                <a:sysClr val="windowText" lastClr="000000"/>
              </a:solidFill>
            </a:endParaRPr>
          </a:p>
        </p:txBody>
      </p:sp>
    </p:spTree>
    <p:extLst>
      <p:ext uri="{BB962C8B-B14F-4D97-AF65-F5344CB8AC3E}">
        <p14:creationId xmlns:p14="http://schemas.microsoft.com/office/powerpoint/2010/main" val="618257995"/>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Byte</a:t>
            </a:r>
            <a:r>
              <a:rPr lang="en-IN" spc="-240" dirty="0"/>
              <a:t> </a:t>
            </a:r>
            <a:r>
              <a:rPr lang="en-IN" spc="-13" dirty="0"/>
              <a:t>Pair</a:t>
            </a:r>
            <a:r>
              <a:rPr lang="en-IN" spc="-233" dirty="0"/>
              <a:t> </a:t>
            </a:r>
            <a:r>
              <a:rPr lang="en-IN" spc="-13" dirty="0"/>
              <a:t>Encoding</a:t>
            </a:r>
            <a:endParaRPr lang="en-IN" dirty="0"/>
          </a:p>
        </p:txBody>
      </p:sp>
      <p:sp>
        <p:nvSpPr>
          <p:cNvPr id="3" name="Content Placeholder 5"/>
          <p:cNvSpPr txBox="1">
            <a:spLocks/>
          </p:cNvSpPr>
          <p:nvPr/>
        </p:nvSpPr>
        <p:spPr>
          <a:xfrm>
            <a:off x="304800" y="1545224"/>
            <a:ext cx="11480800" cy="4525963"/>
          </a:xfrm>
          <a:prstGeom prst="rect">
            <a:avLst/>
          </a:prstGeom>
        </p:spPr>
        <p:txBody>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a:spcBef>
                <a:spcPts val="1300"/>
              </a:spcBef>
            </a:pPr>
            <a:r>
              <a:rPr lang="en-US" b="1" kern="0" spc="-10">
                <a:solidFill>
                  <a:srgbClr val="232323"/>
                </a:solidFill>
                <a:cs typeface="Arial"/>
              </a:rPr>
              <a:t>Advantages:</a:t>
            </a:r>
          </a:p>
          <a:p>
            <a:pPr marL="756285" indent="-286385">
              <a:spcBef>
                <a:spcPts val="1200"/>
              </a:spcBef>
              <a:buClr>
                <a:srgbClr val="000000"/>
              </a:buClr>
              <a:buFontTx/>
              <a:buChar char="•"/>
              <a:tabLst>
                <a:tab pos="756285" algn="l"/>
              </a:tabLst>
            </a:pPr>
            <a:r>
              <a:rPr lang="en-US" kern="0">
                <a:solidFill>
                  <a:srgbClr val="232323"/>
                </a:solidFill>
                <a:cs typeface="Arial MT"/>
              </a:rPr>
              <a:t>Efficient</a:t>
            </a:r>
            <a:r>
              <a:rPr lang="en-US" kern="0" spc="-35">
                <a:solidFill>
                  <a:srgbClr val="232323"/>
                </a:solidFill>
                <a:cs typeface="Arial MT"/>
              </a:rPr>
              <a:t> </a:t>
            </a:r>
            <a:r>
              <a:rPr lang="en-US" kern="0">
                <a:solidFill>
                  <a:srgbClr val="232323"/>
                </a:solidFill>
                <a:cs typeface="Arial MT"/>
              </a:rPr>
              <a:t>handling</a:t>
            </a:r>
            <a:r>
              <a:rPr lang="en-US" kern="0" spc="-35">
                <a:solidFill>
                  <a:srgbClr val="232323"/>
                </a:solidFill>
                <a:cs typeface="Arial MT"/>
              </a:rPr>
              <a:t> </a:t>
            </a:r>
            <a:r>
              <a:rPr lang="en-US" kern="0">
                <a:solidFill>
                  <a:srgbClr val="232323"/>
                </a:solidFill>
                <a:cs typeface="Arial MT"/>
              </a:rPr>
              <a:t>of</a:t>
            </a:r>
            <a:r>
              <a:rPr lang="en-US" kern="0" spc="-45">
                <a:solidFill>
                  <a:srgbClr val="232323"/>
                </a:solidFill>
                <a:cs typeface="Arial MT"/>
              </a:rPr>
              <a:t> </a:t>
            </a:r>
            <a:r>
              <a:rPr lang="en-US" kern="0">
                <a:solidFill>
                  <a:srgbClr val="232323"/>
                </a:solidFill>
                <a:cs typeface="Arial MT"/>
              </a:rPr>
              <a:t>rare</a:t>
            </a:r>
            <a:r>
              <a:rPr lang="en-US" kern="0" spc="-45">
                <a:solidFill>
                  <a:srgbClr val="232323"/>
                </a:solidFill>
                <a:cs typeface="Arial MT"/>
              </a:rPr>
              <a:t> </a:t>
            </a:r>
            <a:r>
              <a:rPr lang="en-US" kern="0">
                <a:solidFill>
                  <a:srgbClr val="232323"/>
                </a:solidFill>
                <a:cs typeface="Arial MT"/>
              </a:rPr>
              <a:t>words</a:t>
            </a:r>
            <a:r>
              <a:rPr lang="en-US" kern="0" spc="-55">
                <a:solidFill>
                  <a:srgbClr val="232323"/>
                </a:solidFill>
                <a:cs typeface="Arial MT"/>
              </a:rPr>
              <a:t> </a:t>
            </a:r>
            <a:r>
              <a:rPr lang="en-US" kern="0">
                <a:solidFill>
                  <a:srgbClr val="232323"/>
                </a:solidFill>
                <a:cs typeface="Arial MT"/>
              </a:rPr>
              <a:t>and</a:t>
            </a:r>
            <a:r>
              <a:rPr lang="en-US" kern="0" spc="-20">
                <a:solidFill>
                  <a:srgbClr val="232323"/>
                </a:solidFill>
                <a:cs typeface="Arial MT"/>
              </a:rPr>
              <a:t> </a:t>
            </a:r>
            <a:r>
              <a:rPr lang="en-US" kern="0">
                <a:solidFill>
                  <a:srgbClr val="232323"/>
                </a:solidFill>
                <a:cs typeface="Arial MT"/>
              </a:rPr>
              <a:t>subword</a:t>
            </a:r>
            <a:r>
              <a:rPr lang="en-US" kern="0" spc="-55">
                <a:solidFill>
                  <a:srgbClr val="232323"/>
                </a:solidFill>
                <a:cs typeface="Arial MT"/>
              </a:rPr>
              <a:t> </a:t>
            </a:r>
            <a:r>
              <a:rPr lang="en-US" kern="0" spc="-10">
                <a:solidFill>
                  <a:srgbClr val="232323"/>
                </a:solidFill>
                <a:cs typeface="Arial MT"/>
              </a:rPr>
              <a:t>units.</a:t>
            </a:r>
            <a:endParaRPr lang="en-US" kern="0">
              <a:solidFill>
                <a:sysClr val="windowText" lastClr="000000"/>
              </a:solidFill>
              <a:cs typeface="Arial MT"/>
            </a:endParaRPr>
          </a:p>
          <a:p>
            <a:pPr marL="756285" indent="-286385">
              <a:spcBef>
                <a:spcPts val="1200"/>
              </a:spcBef>
              <a:buClr>
                <a:srgbClr val="000000"/>
              </a:buClr>
              <a:buFontTx/>
              <a:buChar char="•"/>
              <a:tabLst>
                <a:tab pos="756285" algn="l"/>
              </a:tabLst>
            </a:pPr>
            <a:r>
              <a:rPr lang="en-US" kern="0">
                <a:solidFill>
                  <a:srgbClr val="232323"/>
                </a:solidFill>
                <a:cs typeface="Arial MT"/>
              </a:rPr>
              <a:t>Reduces</a:t>
            </a:r>
            <a:r>
              <a:rPr lang="en-US" kern="0" spc="-55">
                <a:solidFill>
                  <a:srgbClr val="232323"/>
                </a:solidFill>
                <a:cs typeface="Arial MT"/>
              </a:rPr>
              <a:t> </a:t>
            </a:r>
            <a:r>
              <a:rPr lang="en-US" kern="0">
                <a:solidFill>
                  <a:srgbClr val="232323"/>
                </a:solidFill>
                <a:cs typeface="Arial MT"/>
              </a:rPr>
              <a:t>the</a:t>
            </a:r>
            <a:r>
              <a:rPr lang="en-US" kern="0" spc="-40">
                <a:solidFill>
                  <a:srgbClr val="232323"/>
                </a:solidFill>
                <a:cs typeface="Arial MT"/>
              </a:rPr>
              <a:t> </a:t>
            </a:r>
            <a:r>
              <a:rPr lang="en-US" kern="0">
                <a:solidFill>
                  <a:srgbClr val="232323"/>
                </a:solidFill>
                <a:cs typeface="Arial MT"/>
              </a:rPr>
              <a:t>vocabulary</a:t>
            </a:r>
            <a:r>
              <a:rPr lang="en-US" kern="0" spc="-50">
                <a:solidFill>
                  <a:srgbClr val="232323"/>
                </a:solidFill>
                <a:cs typeface="Arial MT"/>
              </a:rPr>
              <a:t> </a:t>
            </a:r>
            <a:r>
              <a:rPr lang="en-US" kern="0">
                <a:solidFill>
                  <a:srgbClr val="232323"/>
                </a:solidFill>
                <a:cs typeface="Arial MT"/>
              </a:rPr>
              <a:t>size,</a:t>
            </a:r>
            <a:r>
              <a:rPr lang="en-US" kern="0" spc="-40">
                <a:solidFill>
                  <a:srgbClr val="232323"/>
                </a:solidFill>
                <a:cs typeface="Arial MT"/>
              </a:rPr>
              <a:t> </a:t>
            </a:r>
            <a:r>
              <a:rPr lang="en-US" kern="0">
                <a:solidFill>
                  <a:srgbClr val="232323"/>
                </a:solidFill>
                <a:cs typeface="Arial MT"/>
              </a:rPr>
              <a:t>making</a:t>
            </a:r>
            <a:r>
              <a:rPr lang="en-US" kern="0" spc="-40">
                <a:solidFill>
                  <a:srgbClr val="232323"/>
                </a:solidFill>
                <a:cs typeface="Arial MT"/>
              </a:rPr>
              <a:t> </a:t>
            </a:r>
            <a:r>
              <a:rPr lang="en-US" kern="0">
                <a:solidFill>
                  <a:srgbClr val="232323"/>
                </a:solidFill>
                <a:cs typeface="Arial MT"/>
              </a:rPr>
              <a:t>the</a:t>
            </a:r>
            <a:r>
              <a:rPr lang="en-US" kern="0" spc="-40">
                <a:solidFill>
                  <a:srgbClr val="232323"/>
                </a:solidFill>
                <a:cs typeface="Arial MT"/>
              </a:rPr>
              <a:t> </a:t>
            </a:r>
            <a:r>
              <a:rPr lang="en-US" kern="0">
                <a:solidFill>
                  <a:srgbClr val="232323"/>
                </a:solidFill>
                <a:cs typeface="Arial MT"/>
              </a:rPr>
              <a:t>model</a:t>
            </a:r>
            <a:r>
              <a:rPr lang="en-US" kern="0" spc="-35">
                <a:solidFill>
                  <a:srgbClr val="232323"/>
                </a:solidFill>
                <a:cs typeface="Arial MT"/>
              </a:rPr>
              <a:t> </a:t>
            </a:r>
            <a:r>
              <a:rPr lang="en-US" kern="0">
                <a:solidFill>
                  <a:srgbClr val="232323"/>
                </a:solidFill>
                <a:cs typeface="Arial MT"/>
              </a:rPr>
              <a:t>more</a:t>
            </a:r>
            <a:r>
              <a:rPr lang="en-US" kern="0" spc="-45">
                <a:solidFill>
                  <a:srgbClr val="232323"/>
                </a:solidFill>
                <a:cs typeface="Arial MT"/>
              </a:rPr>
              <a:t> </a:t>
            </a:r>
            <a:r>
              <a:rPr lang="en-US" kern="0" spc="-10">
                <a:solidFill>
                  <a:srgbClr val="232323"/>
                </a:solidFill>
                <a:cs typeface="Arial MT"/>
              </a:rPr>
              <a:t>efficient.</a:t>
            </a:r>
            <a:endParaRPr lang="en-US" kern="0">
              <a:solidFill>
                <a:sysClr val="windowText" lastClr="000000"/>
              </a:solidFill>
              <a:cs typeface="Arial MT"/>
            </a:endParaRPr>
          </a:p>
          <a:p>
            <a:pPr marL="756285" indent="-286385">
              <a:spcBef>
                <a:spcPts val="1200"/>
              </a:spcBef>
              <a:buClr>
                <a:srgbClr val="000000"/>
              </a:buClr>
              <a:buFontTx/>
              <a:buChar char="•"/>
              <a:tabLst>
                <a:tab pos="756285" algn="l"/>
              </a:tabLst>
            </a:pPr>
            <a:r>
              <a:rPr lang="en-US" kern="0">
                <a:solidFill>
                  <a:srgbClr val="232323"/>
                </a:solidFill>
                <a:cs typeface="Arial MT"/>
              </a:rPr>
              <a:t>Helps</a:t>
            </a:r>
            <a:r>
              <a:rPr lang="en-US" kern="0" spc="-45">
                <a:solidFill>
                  <a:srgbClr val="232323"/>
                </a:solidFill>
                <a:cs typeface="Arial MT"/>
              </a:rPr>
              <a:t> </a:t>
            </a:r>
            <a:r>
              <a:rPr lang="en-US" kern="0">
                <a:solidFill>
                  <a:srgbClr val="232323"/>
                </a:solidFill>
                <a:cs typeface="Arial MT"/>
              </a:rPr>
              <a:t>in</a:t>
            </a:r>
            <a:r>
              <a:rPr lang="en-US" kern="0" spc="-25">
                <a:solidFill>
                  <a:srgbClr val="232323"/>
                </a:solidFill>
                <a:cs typeface="Arial MT"/>
              </a:rPr>
              <a:t> </a:t>
            </a:r>
            <a:r>
              <a:rPr lang="en-US" kern="0">
                <a:solidFill>
                  <a:srgbClr val="232323"/>
                </a:solidFill>
                <a:cs typeface="Arial MT"/>
              </a:rPr>
              <a:t>better</a:t>
            </a:r>
            <a:r>
              <a:rPr lang="en-US" kern="0" spc="-50">
                <a:solidFill>
                  <a:srgbClr val="232323"/>
                </a:solidFill>
                <a:cs typeface="Arial MT"/>
              </a:rPr>
              <a:t> </a:t>
            </a:r>
            <a:r>
              <a:rPr lang="en-US" kern="0">
                <a:solidFill>
                  <a:srgbClr val="232323"/>
                </a:solidFill>
                <a:cs typeface="Arial MT"/>
              </a:rPr>
              <a:t>generalization</a:t>
            </a:r>
            <a:r>
              <a:rPr lang="en-US" kern="0" spc="-65">
                <a:solidFill>
                  <a:srgbClr val="232323"/>
                </a:solidFill>
                <a:cs typeface="Arial MT"/>
              </a:rPr>
              <a:t> </a:t>
            </a:r>
            <a:r>
              <a:rPr lang="en-US" kern="0">
                <a:solidFill>
                  <a:srgbClr val="232323"/>
                </a:solidFill>
                <a:cs typeface="Arial MT"/>
              </a:rPr>
              <a:t>by</a:t>
            </a:r>
            <a:r>
              <a:rPr lang="en-US" kern="0" spc="-35">
                <a:solidFill>
                  <a:srgbClr val="232323"/>
                </a:solidFill>
                <a:cs typeface="Arial MT"/>
              </a:rPr>
              <a:t> </a:t>
            </a:r>
            <a:r>
              <a:rPr lang="en-US" kern="0">
                <a:solidFill>
                  <a:srgbClr val="232323"/>
                </a:solidFill>
                <a:cs typeface="Arial MT"/>
              </a:rPr>
              <a:t>breaking</a:t>
            </a:r>
            <a:r>
              <a:rPr lang="en-US" kern="0" spc="-65">
                <a:solidFill>
                  <a:srgbClr val="232323"/>
                </a:solidFill>
                <a:cs typeface="Arial MT"/>
              </a:rPr>
              <a:t> </a:t>
            </a:r>
            <a:r>
              <a:rPr lang="en-US" kern="0">
                <a:solidFill>
                  <a:srgbClr val="232323"/>
                </a:solidFill>
                <a:cs typeface="Arial MT"/>
              </a:rPr>
              <a:t>down</a:t>
            </a:r>
            <a:r>
              <a:rPr lang="en-US" kern="0" spc="-40">
                <a:solidFill>
                  <a:srgbClr val="232323"/>
                </a:solidFill>
                <a:cs typeface="Arial MT"/>
              </a:rPr>
              <a:t> </a:t>
            </a:r>
            <a:r>
              <a:rPr lang="en-US" kern="0">
                <a:solidFill>
                  <a:srgbClr val="232323"/>
                </a:solidFill>
                <a:cs typeface="Arial MT"/>
              </a:rPr>
              <a:t>words</a:t>
            </a:r>
            <a:r>
              <a:rPr lang="en-US" kern="0" spc="-50">
                <a:solidFill>
                  <a:srgbClr val="232323"/>
                </a:solidFill>
                <a:cs typeface="Arial MT"/>
              </a:rPr>
              <a:t> </a:t>
            </a:r>
            <a:r>
              <a:rPr lang="en-US" kern="0">
                <a:solidFill>
                  <a:srgbClr val="232323"/>
                </a:solidFill>
                <a:cs typeface="Arial MT"/>
              </a:rPr>
              <a:t>into</a:t>
            </a:r>
            <a:r>
              <a:rPr lang="en-US" kern="0" spc="-15">
                <a:solidFill>
                  <a:srgbClr val="232323"/>
                </a:solidFill>
                <a:cs typeface="Arial MT"/>
              </a:rPr>
              <a:t> </a:t>
            </a:r>
            <a:r>
              <a:rPr lang="en-US" kern="0">
                <a:solidFill>
                  <a:srgbClr val="232323"/>
                </a:solidFill>
                <a:cs typeface="Arial MT"/>
              </a:rPr>
              <a:t>subword</a:t>
            </a:r>
            <a:r>
              <a:rPr lang="en-US" kern="0" spc="-45">
                <a:solidFill>
                  <a:srgbClr val="232323"/>
                </a:solidFill>
                <a:cs typeface="Arial MT"/>
              </a:rPr>
              <a:t> </a:t>
            </a:r>
            <a:r>
              <a:rPr lang="en-US" kern="0" spc="-10">
                <a:solidFill>
                  <a:srgbClr val="232323"/>
                </a:solidFill>
                <a:cs typeface="Arial MT"/>
              </a:rPr>
              <a:t>units.</a:t>
            </a:r>
            <a:endParaRPr lang="en-US" kern="0">
              <a:solidFill>
                <a:sysClr val="windowText" lastClr="000000"/>
              </a:solidFill>
              <a:cs typeface="Arial MT"/>
            </a:endParaRPr>
          </a:p>
          <a:p>
            <a:pPr marL="12700">
              <a:spcBef>
                <a:spcPts val="1200"/>
              </a:spcBef>
            </a:pPr>
            <a:r>
              <a:rPr lang="en-US" b="1" kern="0" spc="-10">
                <a:solidFill>
                  <a:srgbClr val="232323"/>
                </a:solidFill>
                <a:cs typeface="Arial"/>
              </a:rPr>
              <a:t>Limitations:</a:t>
            </a:r>
            <a:endParaRPr lang="en-US" kern="0">
              <a:solidFill>
                <a:sysClr val="windowText" lastClr="000000"/>
              </a:solidFill>
              <a:cs typeface="Arial"/>
            </a:endParaRPr>
          </a:p>
          <a:p>
            <a:pPr marL="756285" indent="-286385">
              <a:spcBef>
                <a:spcPts val="1205"/>
              </a:spcBef>
              <a:buClr>
                <a:srgbClr val="000000"/>
              </a:buClr>
              <a:buFontTx/>
              <a:buChar char="•"/>
              <a:tabLst>
                <a:tab pos="756285" algn="l"/>
              </a:tabLst>
            </a:pPr>
            <a:r>
              <a:rPr lang="en-US" kern="0">
                <a:solidFill>
                  <a:srgbClr val="232323"/>
                </a:solidFill>
                <a:cs typeface="Arial MT"/>
              </a:rPr>
              <a:t>Can</a:t>
            </a:r>
            <a:r>
              <a:rPr lang="en-US" kern="0" spc="-30">
                <a:solidFill>
                  <a:srgbClr val="232323"/>
                </a:solidFill>
                <a:cs typeface="Arial MT"/>
              </a:rPr>
              <a:t> </a:t>
            </a:r>
            <a:r>
              <a:rPr lang="en-US" kern="0">
                <a:solidFill>
                  <a:srgbClr val="232323"/>
                </a:solidFill>
                <a:cs typeface="Arial MT"/>
              </a:rPr>
              <a:t>produce</a:t>
            </a:r>
            <a:r>
              <a:rPr lang="en-US" kern="0" spc="-55">
                <a:solidFill>
                  <a:srgbClr val="232323"/>
                </a:solidFill>
                <a:cs typeface="Arial MT"/>
              </a:rPr>
              <a:t> </a:t>
            </a:r>
            <a:r>
              <a:rPr lang="en-US" kern="0">
                <a:solidFill>
                  <a:srgbClr val="232323"/>
                </a:solidFill>
                <a:cs typeface="Arial MT"/>
              </a:rPr>
              <a:t>fragmented</a:t>
            </a:r>
            <a:r>
              <a:rPr lang="en-US" kern="0" spc="-55">
                <a:solidFill>
                  <a:srgbClr val="232323"/>
                </a:solidFill>
                <a:cs typeface="Arial MT"/>
              </a:rPr>
              <a:t> </a:t>
            </a:r>
            <a:r>
              <a:rPr lang="en-US" kern="0">
                <a:solidFill>
                  <a:srgbClr val="232323"/>
                </a:solidFill>
                <a:cs typeface="Arial MT"/>
              </a:rPr>
              <a:t>tokens</a:t>
            </a:r>
            <a:r>
              <a:rPr lang="en-US" kern="0" spc="-50">
                <a:solidFill>
                  <a:srgbClr val="232323"/>
                </a:solidFill>
                <a:cs typeface="Arial MT"/>
              </a:rPr>
              <a:t> </a:t>
            </a:r>
            <a:r>
              <a:rPr lang="en-US" kern="0">
                <a:solidFill>
                  <a:srgbClr val="232323"/>
                </a:solidFill>
                <a:cs typeface="Arial MT"/>
              </a:rPr>
              <a:t>for</a:t>
            </a:r>
            <a:r>
              <a:rPr lang="en-US" kern="0" spc="-25">
                <a:solidFill>
                  <a:srgbClr val="232323"/>
                </a:solidFill>
                <a:cs typeface="Arial MT"/>
              </a:rPr>
              <a:t> </a:t>
            </a:r>
            <a:r>
              <a:rPr lang="en-US" kern="0">
                <a:solidFill>
                  <a:srgbClr val="232323"/>
                </a:solidFill>
                <a:cs typeface="Arial MT"/>
              </a:rPr>
              <a:t>some</a:t>
            </a:r>
            <a:r>
              <a:rPr lang="en-US" kern="0" spc="-45">
                <a:solidFill>
                  <a:srgbClr val="232323"/>
                </a:solidFill>
                <a:cs typeface="Arial MT"/>
              </a:rPr>
              <a:t> </a:t>
            </a:r>
            <a:r>
              <a:rPr lang="en-US" kern="0">
                <a:solidFill>
                  <a:srgbClr val="232323"/>
                </a:solidFill>
                <a:cs typeface="Arial MT"/>
              </a:rPr>
              <a:t>languages,</a:t>
            </a:r>
            <a:r>
              <a:rPr lang="en-US" kern="0" spc="-60">
                <a:solidFill>
                  <a:srgbClr val="232323"/>
                </a:solidFill>
                <a:cs typeface="Arial MT"/>
              </a:rPr>
              <a:t> </a:t>
            </a:r>
            <a:r>
              <a:rPr lang="en-US" kern="0">
                <a:solidFill>
                  <a:srgbClr val="232323"/>
                </a:solidFill>
                <a:cs typeface="Arial MT"/>
              </a:rPr>
              <a:t>especially</a:t>
            </a:r>
            <a:r>
              <a:rPr lang="en-US" kern="0" spc="-40">
                <a:solidFill>
                  <a:srgbClr val="232323"/>
                </a:solidFill>
                <a:cs typeface="Arial MT"/>
              </a:rPr>
              <a:t> </a:t>
            </a:r>
            <a:r>
              <a:rPr lang="en-US" kern="0">
                <a:solidFill>
                  <a:srgbClr val="232323"/>
                </a:solidFill>
                <a:cs typeface="Arial MT"/>
              </a:rPr>
              <a:t>those</a:t>
            </a:r>
            <a:r>
              <a:rPr lang="en-US" kern="0" spc="-40">
                <a:solidFill>
                  <a:srgbClr val="232323"/>
                </a:solidFill>
                <a:cs typeface="Arial MT"/>
              </a:rPr>
              <a:t> </a:t>
            </a:r>
            <a:r>
              <a:rPr lang="en-US" kern="0">
                <a:solidFill>
                  <a:srgbClr val="232323"/>
                </a:solidFill>
                <a:cs typeface="Arial MT"/>
              </a:rPr>
              <a:t>with</a:t>
            </a:r>
            <a:r>
              <a:rPr lang="en-US" kern="0" spc="-15">
                <a:solidFill>
                  <a:srgbClr val="232323"/>
                </a:solidFill>
                <a:cs typeface="Arial MT"/>
              </a:rPr>
              <a:t> </a:t>
            </a:r>
            <a:r>
              <a:rPr lang="en-US" kern="0">
                <a:solidFill>
                  <a:srgbClr val="232323"/>
                </a:solidFill>
                <a:cs typeface="Arial MT"/>
              </a:rPr>
              <a:t>complex</a:t>
            </a:r>
            <a:r>
              <a:rPr lang="en-US" kern="0" spc="-30">
                <a:solidFill>
                  <a:srgbClr val="232323"/>
                </a:solidFill>
                <a:cs typeface="Arial MT"/>
              </a:rPr>
              <a:t> </a:t>
            </a:r>
            <a:r>
              <a:rPr lang="en-US" kern="0" spc="-10">
                <a:solidFill>
                  <a:srgbClr val="232323"/>
                </a:solidFill>
                <a:cs typeface="Arial MT"/>
              </a:rPr>
              <a:t>morphology.</a:t>
            </a:r>
            <a:endParaRPr lang="en-US" kern="0">
              <a:solidFill>
                <a:sysClr val="windowText" lastClr="000000"/>
              </a:solidFill>
              <a:cs typeface="Arial MT"/>
            </a:endParaRPr>
          </a:p>
          <a:p>
            <a:pPr marL="756285" indent="-286385">
              <a:spcBef>
                <a:spcPts val="1200"/>
              </a:spcBef>
              <a:buClr>
                <a:srgbClr val="000000"/>
              </a:buClr>
              <a:buFontTx/>
              <a:buChar char="•"/>
              <a:tabLst>
                <a:tab pos="756285" algn="l"/>
              </a:tabLst>
            </a:pPr>
            <a:r>
              <a:rPr lang="en-US" kern="0">
                <a:solidFill>
                  <a:srgbClr val="232323"/>
                </a:solidFill>
                <a:cs typeface="Arial MT"/>
              </a:rPr>
              <a:t>May</a:t>
            </a:r>
            <a:r>
              <a:rPr lang="en-US" kern="0" spc="-45">
                <a:solidFill>
                  <a:srgbClr val="232323"/>
                </a:solidFill>
                <a:cs typeface="Arial MT"/>
              </a:rPr>
              <a:t> </a:t>
            </a:r>
            <a:r>
              <a:rPr lang="en-US" kern="0">
                <a:solidFill>
                  <a:srgbClr val="232323"/>
                </a:solidFill>
                <a:cs typeface="Arial MT"/>
              </a:rPr>
              <a:t>not</a:t>
            </a:r>
            <a:r>
              <a:rPr lang="en-US" kern="0" spc="-35">
                <a:solidFill>
                  <a:srgbClr val="232323"/>
                </a:solidFill>
                <a:cs typeface="Arial MT"/>
              </a:rPr>
              <a:t> </a:t>
            </a:r>
            <a:r>
              <a:rPr lang="en-US" kern="0">
                <a:solidFill>
                  <a:srgbClr val="232323"/>
                </a:solidFill>
                <a:cs typeface="Arial MT"/>
              </a:rPr>
              <a:t>capture</a:t>
            </a:r>
            <a:r>
              <a:rPr lang="en-US" kern="0" spc="-40">
                <a:solidFill>
                  <a:srgbClr val="232323"/>
                </a:solidFill>
                <a:cs typeface="Arial MT"/>
              </a:rPr>
              <a:t> </a:t>
            </a:r>
            <a:r>
              <a:rPr lang="en-US" kern="0">
                <a:solidFill>
                  <a:srgbClr val="232323"/>
                </a:solidFill>
                <a:cs typeface="Arial MT"/>
              </a:rPr>
              <a:t>semantic</a:t>
            </a:r>
            <a:r>
              <a:rPr lang="en-US" kern="0" spc="-60">
                <a:solidFill>
                  <a:srgbClr val="232323"/>
                </a:solidFill>
                <a:cs typeface="Arial MT"/>
              </a:rPr>
              <a:t> </a:t>
            </a:r>
            <a:r>
              <a:rPr lang="en-US" kern="0">
                <a:solidFill>
                  <a:srgbClr val="232323"/>
                </a:solidFill>
                <a:cs typeface="Arial MT"/>
              </a:rPr>
              <a:t>meaning</a:t>
            </a:r>
            <a:r>
              <a:rPr lang="en-US" kern="0" spc="-40">
                <a:solidFill>
                  <a:srgbClr val="232323"/>
                </a:solidFill>
                <a:cs typeface="Arial MT"/>
              </a:rPr>
              <a:t> </a:t>
            </a:r>
            <a:r>
              <a:rPr lang="en-US" kern="0">
                <a:solidFill>
                  <a:srgbClr val="232323"/>
                </a:solidFill>
                <a:cs typeface="Arial MT"/>
              </a:rPr>
              <a:t>as</a:t>
            </a:r>
            <a:r>
              <a:rPr lang="en-US" kern="0" spc="-30">
                <a:solidFill>
                  <a:srgbClr val="232323"/>
                </a:solidFill>
                <a:cs typeface="Arial MT"/>
              </a:rPr>
              <a:t> </a:t>
            </a:r>
            <a:r>
              <a:rPr lang="en-US" kern="0">
                <a:solidFill>
                  <a:srgbClr val="232323"/>
                </a:solidFill>
                <a:cs typeface="Arial MT"/>
              </a:rPr>
              <a:t>effectively</a:t>
            </a:r>
            <a:r>
              <a:rPr lang="en-US" kern="0" spc="-30">
                <a:solidFill>
                  <a:srgbClr val="232323"/>
                </a:solidFill>
                <a:cs typeface="Arial MT"/>
              </a:rPr>
              <a:t> </a:t>
            </a:r>
            <a:r>
              <a:rPr lang="en-US" kern="0">
                <a:solidFill>
                  <a:srgbClr val="232323"/>
                </a:solidFill>
                <a:cs typeface="Arial MT"/>
              </a:rPr>
              <a:t>as</a:t>
            </a:r>
            <a:r>
              <a:rPr lang="en-US" kern="0" spc="-30">
                <a:solidFill>
                  <a:srgbClr val="232323"/>
                </a:solidFill>
                <a:cs typeface="Arial MT"/>
              </a:rPr>
              <a:t> </a:t>
            </a:r>
            <a:r>
              <a:rPr lang="en-US" kern="0">
                <a:solidFill>
                  <a:srgbClr val="232323"/>
                </a:solidFill>
                <a:cs typeface="Arial MT"/>
              </a:rPr>
              <a:t>other</a:t>
            </a:r>
            <a:r>
              <a:rPr lang="en-US" kern="0" spc="-45">
                <a:solidFill>
                  <a:srgbClr val="232323"/>
                </a:solidFill>
                <a:cs typeface="Arial MT"/>
              </a:rPr>
              <a:t> </a:t>
            </a:r>
            <a:r>
              <a:rPr lang="en-US" kern="0">
                <a:solidFill>
                  <a:srgbClr val="232323"/>
                </a:solidFill>
                <a:cs typeface="Arial MT"/>
              </a:rPr>
              <a:t>tokenization</a:t>
            </a:r>
            <a:r>
              <a:rPr lang="en-US" kern="0" spc="-60">
                <a:solidFill>
                  <a:srgbClr val="232323"/>
                </a:solidFill>
                <a:cs typeface="Arial MT"/>
              </a:rPr>
              <a:t> </a:t>
            </a:r>
            <a:r>
              <a:rPr lang="en-US" kern="0" spc="-10">
                <a:solidFill>
                  <a:srgbClr val="232323"/>
                </a:solidFill>
                <a:cs typeface="Arial MT"/>
              </a:rPr>
              <a:t>methods.</a:t>
            </a:r>
            <a:endParaRPr lang="en-US" kern="0">
              <a:solidFill>
                <a:sysClr val="windowText" lastClr="000000"/>
              </a:solidFill>
              <a:cs typeface="Arial MT"/>
            </a:endParaRPr>
          </a:p>
          <a:p>
            <a:endParaRPr lang="en-IN" kern="0" dirty="0">
              <a:solidFill>
                <a:sysClr val="windowText" lastClr="000000"/>
              </a:solidFill>
            </a:endParaRPr>
          </a:p>
        </p:txBody>
      </p:sp>
    </p:spTree>
    <p:extLst>
      <p:ext uri="{BB962C8B-B14F-4D97-AF65-F5344CB8AC3E}">
        <p14:creationId xmlns:p14="http://schemas.microsoft.com/office/powerpoint/2010/main" val="850451784"/>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42CE5-68A7-94C1-9005-89C32960C451}"/>
              </a:ext>
            </a:extLst>
          </p:cNvPr>
          <p:cNvSpPr>
            <a:spLocks noGrp="1"/>
          </p:cNvSpPr>
          <p:nvPr>
            <p:ph type="body" sz="quarter" idx="1"/>
          </p:nvPr>
        </p:nvSpPr>
        <p:spPr/>
        <p:txBody>
          <a:bodyPr/>
          <a:lstStyle/>
          <a:p>
            <a:r>
              <a:rPr lang="en-IN" dirty="0" err="1"/>
              <a:t>SentencePiece</a:t>
            </a:r>
            <a:endParaRPr lang="en-IN" dirty="0"/>
          </a:p>
        </p:txBody>
      </p:sp>
      <p:sp>
        <p:nvSpPr>
          <p:cNvPr id="6" name="TextBox 5">
            <a:extLst>
              <a:ext uri="{FF2B5EF4-FFF2-40B4-BE49-F238E27FC236}">
                <a16:creationId xmlns:a16="http://schemas.microsoft.com/office/drawing/2014/main" id="{B2FADE63-F226-6F84-2921-D3A016C580E1}"/>
              </a:ext>
            </a:extLst>
          </p:cNvPr>
          <p:cNvSpPr txBox="1"/>
          <p:nvPr/>
        </p:nvSpPr>
        <p:spPr>
          <a:xfrm>
            <a:off x="136989" y="1294869"/>
            <a:ext cx="11541301" cy="1938992"/>
          </a:xfrm>
          <a:prstGeom prst="rect">
            <a:avLst/>
          </a:prstGeom>
        </p:spPr>
        <p:txBody>
          <a:bodyPr wrap="square">
            <a:spAutoFit/>
          </a:bodyPr>
          <a:lstStyle>
            <a:defPPr>
              <a:defRPr lang="en-US"/>
            </a:defPPr>
            <a:lvl1pPr marL="342900" indent="-342900">
              <a:buFont typeface="Arial" panose="020B0604020202020204" pitchFamily="34" charset="0"/>
              <a:buChar char="•"/>
              <a:defRPr sz="2400">
                <a:latin typeface="Cambria" panose="02040503050406030204" pitchFamily="18" charset="0"/>
                <a:ea typeface="Cambria" panose="02040503050406030204" pitchFamily="18" charset="0"/>
              </a:defRPr>
            </a:lvl1pPr>
          </a:lstStyle>
          <a:p>
            <a:r>
              <a:rPr lang="en-IN" sz="2000" dirty="0" err="1"/>
              <a:t>SentencePiece</a:t>
            </a:r>
            <a:r>
              <a:rPr lang="en-IN" sz="2000" dirty="0"/>
              <a:t> is a language-independent </a:t>
            </a:r>
            <a:r>
              <a:rPr lang="en-IN" sz="2000" dirty="0" err="1"/>
              <a:t>subword</a:t>
            </a:r>
            <a:r>
              <a:rPr lang="en-IN" sz="2000" dirty="0"/>
              <a:t> tokenizer that learns directly from raw text using a fixed vocabulary size.</a:t>
            </a:r>
          </a:p>
          <a:p>
            <a:r>
              <a:rPr lang="en-IN" sz="2000" dirty="0"/>
              <a:t>It supports multiple segmentation algorithms, including BPE and unigram language </a:t>
            </a:r>
            <a:r>
              <a:rPr lang="en-IN" sz="2000" dirty="0" err="1"/>
              <a:t>modeling</a:t>
            </a:r>
            <a:r>
              <a:rPr lang="en-IN" sz="2000" dirty="0"/>
              <a:t>.</a:t>
            </a:r>
          </a:p>
          <a:p>
            <a:r>
              <a:rPr lang="en-IN" sz="2000" dirty="0" err="1"/>
              <a:t>SentencePiece</a:t>
            </a:r>
            <a:r>
              <a:rPr lang="en-IN" sz="2000" dirty="0"/>
              <a:t> preserves whitespace explicitly by replacing spaces with the meta symbol ▁ before segmentation.</a:t>
            </a:r>
          </a:p>
          <a:p>
            <a:r>
              <a:rPr lang="en-IN" sz="2000" dirty="0"/>
              <a:t>T5, Llama, Gemma uses a </a:t>
            </a:r>
            <a:r>
              <a:rPr lang="en-IN" sz="2000" dirty="0" err="1"/>
              <a:t>SentencePiece</a:t>
            </a:r>
            <a:r>
              <a:rPr lang="en-IN" sz="2000" dirty="0"/>
              <a:t>-based tokenizer</a:t>
            </a:r>
          </a:p>
        </p:txBody>
      </p:sp>
      <p:sp>
        <p:nvSpPr>
          <p:cNvPr id="8" name="TextBox 7">
            <a:extLst>
              <a:ext uri="{FF2B5EF4-FFF2-40B4-BE49-F238E27FC236}">
                <a16:creationId xmlns:a16="http://schemas.microsoft.com/office/drawing/2014/main" id="{B5BF5624-A5F4-E284-5435-9B772DECD0E3}"/>
              </a:ext>
            </a:extLst>
          </p:cNvPr>
          <p:cNvSpPr txBox="1"/>
          <p:nvPr/>
        </p:nvSpPr>
        <p:spPr>
          <a:xfrm>
            <a:off x="174660" y="3450412"/>
            <a:ext cx="5732980" cy="1323439"/>
          </a:xfrm>
          <a:prstGeom prst="rect">
            <a:avLst/>
          </a:prstGeom>
          <a:solidFill>
            <a:schemeClr val="bg2"/>
          </a:solidFill>
        </p:spPr>
        <p:txBody>
          <a:bodyPr wrap="square">
            <a:spAutoFit/>
          </a:bodyPr>
          <a:lstStyle>
            <a:defPPr>
              <a:defRPr lang="en-US"/>
            </a:defPPr>
            <a:lvl1pPr>
              <a:defRPr sz="2000">
                <a:latin typeface="Cambria" panose="02040503050406030204" pitchFamily="18" charset="0"/>
                <a:ea typeface="Cambria" panose="02040503050406030204" pitchFamily="18" charset="0"/>
              </a:defRPr>
            </a:lvl1pPr>
          </a:lstStyle>
          <a:p>
            <a:r>
              <a:rPr lang="en-US" dirty="0"/>
              <a:t>Input text: Hello world</a:t>
            </a:r>
          </a:p>
          <a:p>
            <a:r>
              <a:rPr lang="en-US" dirty="0"/>
              <a:t>Whitespace-marked form: ▁</a:t>
            </a:r>
            <a:r>
              <a:rPr lang="en-US" dirty="0" err="1"/>
              <a:t>Hello▁world</a:t>
            </a:r>
            <a:endParaRPr lang="en-US" dirty="0"/>
          </a:p>
          <a:p>
            <a:r>
              <a:rPr lang="en-US" dirty="0"/>
              <a:t>Possible token pieces: [▁Hello, ▁world] or a finer split depending on the learned vocabulary</a:t>
            </a:r>
          </a:p>
        </p:txBody>
      </p:sp>
      <p:sp>
        <p:nvSpPr>
          <p:cNvPr id="10" name="TextBox 9">
            <a:extLst>
              <a:ext uri="{FF2B5EF4-FFF2-40B4-BE49-F238E27FC236}">
                <a16:creationId xmlns:a16="http://schemas.microsoft.com/office/drawing/2014/main" id="{6A5BF4F5-204B-C2B4-7DA7-881C95D00623}"/>
              </a:ext>
            </a:extLst>
          </p:cNvPr>
          <p:cNvSpPr txBox="1"/>
          <p:nvPr/>
        </p:nvSpPr>
        <p:spPr>
          <a:xfrm>
            <a:off x="174660" y="4919008"/>
            <a:ext cx="11927155" cy="1938992"/>
          </a:xfrm>
          <a:prstGeom prst="rect">
            <a:avLst/>
          </a:prstGeom>
          <a:solidFill>
            <a:schemeClr val="accent2">
              <a:lumMod val="20000"/>
              <a:lumOff val="80000"/>
            </a:schemeClr>
          </a:solidFill>
        </p:spPr>
        <p:txBody>
          <a:bodyPr wrap="square">
            <a:spAutoFit/>
          </a:bodyPr>
          <a:lstStyle>
            <a:defPPr>
              <a:defRPr lang="en-US"/>
            </a:defPPr>
            <a:lvl1pPr>
              <a:defRPr sz="2400" b="1" i="0">
                <a:solidFill>
                  <a:srgbClr val="27251E"/>
                </a:solidFill>
                <a:effectLst/>
                <a:latin typeface="pplxSerif"/>
              </a:defRPr>
            </a:lvl1pPr>
          </a:lstStyle>
          <a:p>
            <a:r>
              <a:rPr lang="en-US" sz="2000" b="0" dirty="0"/>
              <a:t>In unigram tokenization, the tokenizer chooses the most probable segmentation from multiple candidate segmentations</a:t>
            </a:r>
          </a:p>
          <a:p>
            <a:r>
              <a:rPr lang="en-US" sz="2000" b="0" dirty="0"/>
              <a:t>E.g. “lowering” may be segmented as [lower, </a:t>
            </a:r>
            <a:r>
              <a:rPr lang="en-US" sz="2000" b="0" dirty="0" err="1"/>
              <a:t>ing</a:t>
            </a:r>
            <a:r>
              <a:rPr lang="en-US" sz="2000" b="0" dirty="0"/>
              <a:t>] instead of [low, er, </a:t>
            </a:r>
            <a:r>
              <a:rPr lang="en-US" sz="2000" b="0" dirty="0" err="1"/>
              <a:t>ing</a:t>
            </a:r>
            <a:r>
              <a:rPr lang="en-US" sz="2000" b="0" dirty="0"/>
              <a:t>] if the first split has higher learned probability</a:t>
            </a:r>
          </a:p>
          <a:p>
            <a:br>
              <a:rPr lang="en-US" sz="2000" b="0" dirty="0"/>
            </a:br>
            <a:endParaRPr lang="en-IN" sz="2000" b="0" dirty="0"/>
          </a:p>
        </p:txBody>
      </p:sp>
      <p:sp>
        <p:nvSpPr>
          <p:cNvPr id="12" name="TextBox 11">
            <a:extLst>
              <a:ext uri="{FF2B5EF4-FFF2-40B4-BE49-F238E27FC236}">
                <a16:creationId xmlns:a16="http://schemas.microsoft.com/office/drawing/2014/main" id="{1165A1B5-A716-C307-6E58-6BF99BACC164}"/>
              </a:ext>
            </a:extLst>
          </p:cNvPr>
          <p:cNvSpPr txBox="1"/>
          <p:nvPr/>
        </p:nvSpPr>
        <p:spPr>
          <a:xfrm>
            <a:off x="6096000" y="3247943"/>
            <a:ext cx="6005815" cy="1631216"/>
          </a:xfrm>
          <a:prstGeom prst="rect">
            <a:avLst/>
          </a:prstGeom>
          <a:solidFill>
            <a:schemeClr val="tx2">
              <a:lumMod val="20000"/>
              <a:lumOff val="80000"/>
            </a:schemeClr>
          </a:solidFill>
        </p:spPr>
        <p:txBody>
          <a:bodyPr wrap="square">
            <a:spAutoFit/>
          </a:bodyPr>
          <a:lstStyle>
            <a:defPPr>
              <a:defRPr lang="en-US"/>
            </a:defPPr>
            <a:lvl1pPr>
              <a:defRPr sz="2000">
                <a:latin typeface="Cambria" panose="02040503050406030204" pitchFamily="18" charset="0"/>
                <a:ea typeface="Cambria" panose="02040503050406030204" pitchFamily="18" charset="0"/>
              </a:defRPr>
            </a:lvl1pPr>
          </a:lstStyle>
          <a:p>
            <a:r>
              <a:rPr lang="en-US" dirty="0"/>
              <a:t>Input text: Tokenization matters</a:t>
            </a:r>
          </a:p>
          <a:p>
            <a:r>
              <a:rPr lang="en-US" dirty="0"/>
              <a:t>Whitespace-marked form: ▁</a:t>
            </a:r>
            <a:r>
              <a:rPr lang="en-US" dirty="0" err="1"/>
              <a:t>Tokenization▁matters</a:t>
            </a:r>
            <a:endParaRPr lang="en-US" dirty="0"/>
          </a:p>
          <a:p>
            <a:r>
              <a:rPr lang="en-US" dirty="0"/>
              <a:t>Possible token pieces: [▁Token, </a:t>
            </a:r>
            <a:r>
              <a:rPr lang="en-US" dirty="0" err="1"/>
              <a:t>ization</a:t>
            </a:r>
            <a:r>
              <a:rPr lang="en-US" dirty="0"/>
              <a:t>, ▁matters] or another valid split depending on the learned vocabulary</a:t>
            </a:r>
          </a:p>
        </p:txBody>
      </p:sp>
    </p:spTree>
    <p:extLst>
      <p:ext uri="{BB962C8B-B14F-4D97-AF65-F5344CB8AC3E}">
        <p14:creationId xmlns:p14="http://schemas.microsoft.com/office/powerpoint/2010/main" val="4010473519"/>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Language models landscape</a:t>
            </a:r>
            <a:endParaRPr lang="en-IN" dirty="0"/>
          </a:p>
        </p:txBody>
      </p:sp>
      <p:sp>
        <p:nvSpPr>
          <p:cNvPr id="3" name="Content Placeholder 1"/>
          <p:cNvSpPr txBox="1">
            <a:spLocks/>
          </p:cNvSpPr>
          <p:nvPr/>
        </p:nvSpPr>
        <p:spPr>
          <a:xfrm>
            <a:off x="304800" y="1545224"/>
            <a:ext cx="11480800" cy="4525963"/>
          </a:xfrm>
          <a:prstGeom prst="rect">
            <a:avLst/>
          </a:prstGeom>
        </p:spPr>
        <p:txBody>
          <a:bodyPr>
            <a:normAutofit/>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fontAlgn="t"/>
            <a:r>
              <a:rPr lang="en-IN" b="1" kern="0">
                <a:solidFill>
                  <a:sysClr val="windowText" lastClr="000000"/>
                </a:solidFill>
              </a:rPr>
              <a:t>Pre-neural (before 2010s)</a:t>
            </a:r>
          </a:p>
          <a:p>
            <a:pPr fontAlgn="t"/>
            <a:r>
              <a:rPr lang="en-IN" kern="0">
                <a:solidFill>
                  <a:sysClr val="windowText" lastClr="000000"/>
                </a:solidFill>
              </a:rPr>
              <a:t>Language model to measure the entropy of English  </a:t>
            </a:r>
            <a:r>
              <a:rPr lang="en-IN" kern="0">
                <a:solidFill>
                  <a:sysClr val="windowText" lastClr="000000"/>
                </a:solidFill>
                <a:hlinkClick r:id="rId2"/>
              </a:rPr>
              <a:t>[Shannon 1950]</a:t>
            </a:r>
            <a:endParaRPr lang="en-IN" kern="0">
              <a:solidFill>
                <a:sysClr val="windowText" lastClr="000000"/>
              </a:solidFill>
            </a:endParaRPr>
          </a:p>
          <a:p>
            <a:pPr fontAlgn="t"/>
            <a:r>
              <a:rPr lang="en-IN" kern="0">
                <a:solidFill>
                  <a:sysClr val="windowText" lastClr="000000"/>
                </a:solidFill>
              </a:rPr>
              <a:t>Lots of work on n-gram language models (for machine translation, speech recognition)</a:t>
            </a:r>
          </a:p>
          <a:p>
            <a:pPr fontAlgn="t"/>
            <a:r>
              <a:rPr lang="en-IN" kern="0">
                <a:solidFill>
                  <a:sysClr val="windowText" lastClr="000000"/>
                </a:solidFill>
              </a:rPr>
              <a:t> </a:t>
            </a:r>
          </a:p>
          <a:p>
            <a:pPr fontAlgn="t"/>
            <a:r>
              <a:rPr lang="en-IN" b="1" kern="0">
                <a:solidFill>
                  <a:sysClr val="windowText" lastClr="000000"/>
                </a:solidFill>
              </a:rPr>
              <a:t>Neural ingredients (2010s)</a:t>
            </a:r>
          </a:p>
          <a:p>
            <a:pPr fontAlgn="t"/>
            <a:r>
              <a:rPr lang="en-IN" kern="0">
                <a:solidFill>
                  <a:sysClr val="windowText" lastClr="000000"/>
                </a:solidFill>
              </a:rPr>
              <a:t>First neural language model  </a:t>
            </a:r>
            <a:r>
              <a:rPr lang="en-IN" kern="0">
                <a:solidFill>
                  <a:sysClr val="windowText" lastClr="000000"/>
                </a:solidFill>
                <a:hlinkClick r:id="rId3"/>
              </a:rPr>
              <a:t>[Bengio+ 2003]</a:t>
            </a:r>
            <a:endParaRPr lang="en-IN" kern="0">
              <a:solidFill>
                <a:sysClr val="windowText" lastClr="000000"/>
              </a:solidFill>
            </a:endParaRPr>
          </a:p>
          <a:p>
            <a:pPr fontAlgn="t"/>
            <a:r>
              <a:rPr lang="en-IN" kern="0">
                <a:solidFill>
                  <a:sysClr val="windowText" lastClr="000000"/>
                </a:solidFill>
              </a:rPr>
              <a:t>Sequence-to-sequence modeling (for machine translation)  </a:t>
            </a:r>
            <a:r>
              <a:rPr lang="en-IN" kern="0">
                <a:solidFill>
                  <a:sysClr val="windowText" lastClr="000000"/>
                </a:solidFill>
                <a:hlinkClick r:id="rId4"/>
              </a:rPr>
              <a:t>[Sutskever+ 2014]</a:t>
            </a:r>
            <a:endParaRPr lang="en-IN" kern="0">
              <a:solidFill>
                <a:sysClr val="windowText" lastClr="000000"/>
              </a:solidFill>
            </a:endParaRPr>
          </a:p>
          <a:p>
            <a:pPr fontAlgn="t"/>
            <a:r>
              <a:rPr lang="en-IN" kern="0">
                <a:solidFill>
                  <a:sysClr val="windowText" lastClr="000000"/>
                </a:solidFill>
              </a:rPr>
              <a:t>Adam optimizer  </a:t>
            </a:r>
            <a:r>
              <a:rPr lang="en-IN" kern="0">
                <a:solidFill>
                  <a:sysClr val="windowText" lastClr="000000"/>
                </a:solidFill>
                <a:hlinkClick r:id="rId5"/>
              </a:rPr>
              <a:t>[Kingma+ 2014]</a:t>
            </a:r>
            <a:endParaRPr lang="en-IN" kern="0">
              <a:solidFill>
                <a:sysClr val="windowText" lastClr="000000"/>
              </a:solidFill>
            </a:endParaRPr>
          </a:p>
          <a:p>
            <a:pPr fontAlgn="t"/>
            <a:r>
              <a:rPr lang="en-IN" kern="0">
                <a:solidFill>
                  <a:sysClr val="windowText" lastClr="000000"/>
                </a:solidFill>
              </a:rPr>
              <a:t>Attention mechanism (for machine translation)  </a:t>
            </a:r>
            <a:r>
              <a:rPr lang="en-IN" kern="0">
                <a:solidFill>
                  <a:sysClr val="windowText" lastClr="000000"/>
                </a:solidFill>
                <a:hlinkClick r:id="rId6"/>
              </a:rPr>
              <a:t>[Bahdanau+ 2014]</a:t>
            </a:r>
            <a:endParaRPr lang="en-IN" kern="0">
              <a:solidFill>
                <a:sysClr val="windowText" lastClr="000000"/>
              </a:solidFill>
            </a:endParaRPr>
          </a:p>
          <a:p>
            <a:pPr fontAlgn="t"/>
            <a:r>
              <a:rPr lang="en-IN" kern="0">
                <a:solidFill>
                  <a:sysClr val="windowText" lastClr="000000"/>
                </a:solidFill>
              </a:rPr>
              <a:t>Transformer architecture (for machine translation)  </a:t>
            </a:r>
            <a:r>
              <a:rPr lang="en-IN" kern="0">
                <a:solidFill>
                  <a:sysClr val="windowText" lastClr="000000"/>
                </a:solidFill>
                <a:hlinkClick r:id="rId7"/>
              </a:rPr>
              <a:t>[Vaswani+ 2017]</a:t>
            </a:r>
            <a:endParaRPr lang="en-IN" kern="0">
              <a:solidFill>
                <a:sysClr val="windowText" lastClr="000000"/>
              </a:solidFill>
            </a:endParaRPr>
          </a:p>
          <a:p>
            <a:pPr fontAlgn="t"/>
            <a:r>
              <a:rPr lang="en-IN" kern="0">
                <a:solidFill>
                  <a:sysClr val="windowText" lastClr="000000"/>
                </a:solidFill>
              </a:rPr>
              <a:t>Mixture of experts  </a:t>
            </a:r>
            <a:r>
              <a:rPr lang="en-IN" kern="0">
                <a:solidFill>
                  <a:sysClr val="windowText" lastClr="000000"/>
                </a:solidFill>
                <a:hlinkClick r:id="rId8"/>
              </a:rPr>
              <a:t>[Shazeer+ 2017]</a:t>
            </a:r>
            <a:endParaRPr lang="en-IN" kern="0">
              <a:solidFill>
                <a:sysClr val="windowText" lastClr="000000"/>
              </a:solidFill>
            </a:endParaRPr>
          </a:p>
          <a:p>
            <a:pPr fontAlgn="t"/>
            <a:r>
              <a:rPr lang="en-IN" kern="0">
                <a:solidFill>
                  <a:sysClr val="windowText" lastClr="000000"/>
                </a:solidFill>
              </a:rPr>
              <a:t>Model parallelism  </a:t>
            </a:r>
            <a:r>
              <a:rPr lang="en-IN" kern="0">
                <a:solidFill>
                  <a:sysClr val="windowText" lastClr="000000"/>
                </a:solidFill>
                <a:hlinkClick r:id="rId9"/>
              </a:rPr>
              <a:t>[Huang+ 2018]</a:t>
            </a:r>
            <a:r>
              <a:rPr lang="en-IN" kern="0">
                <a:solidFill>
                  <a:sysClr val="windowText" lastClr="000000"/>
                </a:solidFill>
              </a:rPr>
              <a:t>, </a:t>
            </a:r>
            <a:r>
              <a:rPr lang="en-IN" kern="0">
                <a:solidFill>
                  <a:sysClr val="windowText" lastClr="000000"/>
                </a:solidFill>
                <a:hlinkClick r:id="rId10"/>
              </a:rPr>
              <a:t>[Rajbhandari+ 2019]</a:t>
            </a:r>
            <a:r>
              <a:rPr lang="en-IN" kern="0">
                <a:solidFill>
                  <a:sysClr val="windowText" lastClr="000000"/>
                </a:solidFill>
              </a:rPr>
              <a:t>, </a:t>
            </a:r>
            <a:r>
              <a:rPr lang="en-IN" kern="0">
                <a:solidFill>
                  <a:sysClr val="windowText" lastClr="000000"/>
                </a:solidFill>
                <a:hlinkClick r:id="rId11"/>
              </a:rPr>
              <a:t>[Shoeybi+ 2019]</a:t>
            </a:r>
            <a:endParaRPr lang="en-IN" kern="0" dirty="0">
              <a:solidFill>
                <a:sysClr val="windowText" lastClr="000000"/>
              </a:solidFill>
            </a:endParaRPr>
          </a:p>
        </p:txBody>
      </p:sp>
    </p:spTree>
    <p:extLst>
      <p:ext uri="{BB962C8B-B14F-4D97-AF65-F5344CB8AC3E}">
        <p14:creationId xmlns:p14="http://schemas.microsoft.com/office/powerpoint/2010/main" val="3973112804"/>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Language models landscape</a:t>
            </a:r>
            <a:endParaRPr lang="en-IN" dirty="0"/>
          </a:p>
        </p:txBody>
      </p:sp>
      <p:sp>
        <p:nvSpPr>
          <p:cNvPr id="3" name="Content Placeholder 1"/>
          <p:cNvSpPr txBox="1">
            <a:spLocks/>
          </p:cNvSpPr>
          <p:nvPr/>
        </p:nvSpPr>
        <p:spPr>
          <a:xfrm>
            <a:off x="304800" y="1545224"/>
            <a:ext cx="11480800" cy="5184189"/>
          </a:xfrm>
          <a:prstGeom prst="rect">
            <a:avLst/>
          </a:prstGeom>
        </p:spPr>
        <p:txBody>
          <a:bodyPr>
            <a:normAutofit fontScale="85000" lnSpcReduction="20000"/>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IN" b="1" kern="0">
                <a:solidFill>
                  <a:sysClr val="windowText" lastClr="000000"/>
                </a:solidFill>
              </a:rPr>
              <a:t>Early foundation models (late 2010s)</a:t>
            </a:r>
          </a:p>
          <a:p>
            <a:pPr fontAlgn="t"/>
            <a:r>
              <a:rPr lang="en-IN" kern="0">
                <a:solidFill>
                  <a:sysClr val="windowText" lastClr="000000"/>
                </a:solidFill>
              </a:rPr>
              <a:t>ELMo: pretraining with LSTMs, fine-tuning helps tasks  </a:t>
            </a:r>
          </a:p>
          <a:p>
            <a:pPr fontAlgn="t"/>
            <a:r>
              <a:rPr lang="en-IN" kern="0">
                <a:solidFill>
                  <a:sysClr val="windowText" lastClr="000000"/>
                </a:solidFill>
              </a:rPr>
              <a:t>BERT: pretraining with Transformer, fine-tuning helps tasks  </a:t>
            </a:r>
          </a:p>
          <a:p>
            <a:pPr fontAlgn="t"/>
            <a:r>
              <a:rPr lang="en-IN" kern="0">
                <a:solidFill>
                  <a:sysClr val="windowText" lastClr="000000"/>
                </a:solidFill>
              </a:rPr>
              <a:t>Google's T5 (11B): cast everything as text-to-text </a:t>
            </a:r>
          </a:p>
          <a:p>
            <a:pPr fontAlgn="t"/>
            <a:endParaRPr lang="en-IN" kern="0">
              <a:solidFill>
                <a:sysClr val="windowText" lastClr="000000"/>
              </a:solidFill>
            </a:endParaRPr>
          </a:p>
          <a:p>
            <a:pPr fontAlgn="t"/>
            <a:r>
              <a:rPr lang="en-IN" b="1" kern="0">
                <a:solidFill>
                  <a:sysClr val="windowText" lastClr="000000"/>
                </a:solidFill>
              </a:rPr>
              <a:t>Embracing scaling, more closed</a:t>
            </a:r>
          </a:p>
          <a:p>
            <a:pPr fontAlgn="t"/>
            <a:r>
              <a:rPr lang="en-IN" kern="0">
                <a:solidFill>
                  <a:sysClr val="windowText" lastClr="000000"/>
                </a:solidFill>
              </a:rPr>
              <a:t>OpenAI's GPT-2 (1.5B): fluent text, first signs of zero-shot, staged release  </a:t>
            </a:r>
          </a:p>
          <a:p>
            <a:pPr fontAlgn="t"/>
            <a:r>
              <a:rPr lang="en-IN" kern="0">
                <a:solidFill>
                  <a:sysClr val="windowText" lastClr="000000"/>
                </a:solidFill>
              </a:rPr>
              <a:t>Scaling laws: provide hope / predictability for scaling,  Kaplan law</a:t>
            </a:r>
          </a:p>
          <a:p>
            <a:pPr fontAlgn="t"/>
            <a:r>
              <a:rPr lang="en-IN" kern="0">
                <a:solidFill>
                  <a:sysClr val="windowText" lastClr="000000"/>
                </a:solidFill>
              </a:rPr>
              <a:t>OpenAI's GPT-3 (175B): in-context learning, closed  </a:t>
            </a:r>
          </a:p>
          <a:p>
            <a:pPr fontAlgn="t"/>
            <a:r>
              <a:rPr lang="en-IN" kern="0">
                <a:solidFill>
                  <a:sysClr val="windowText" lastClr="000000"/>
                </a:solidFill>
              </a:rPr>
              <a:t>Google's PaLM (540B): massive scale, undertrained </a:t>
            </a:r>
          </a:p>
          <a:p>
            <a:pPr fontAlgn="t"/>
            <a:r>
              <a:rPr lang="en-IN" kern="0">
                <a:solidFill>
                  <a:sysClr val="windowText" lastClr="000000"/>
                </a:solidFill>
              </a:rPr>
              <a:t>DeepMind's Chinchilla (70B): compute-optimal scaling laws </a:t>
            </a:r>
          </a:p>
          <a:p>
            <a:pPr fontAlgn="t"/>
            <a:endParaRPr lang="en-IN" b="1" kern="0">
              <a:solidFill>
                <a:sysClr val="windowText" lastClr="000000"/>
              </a:solidFill>
            </a:endParaRPr>
          </a:p>
          <a:p>
            <a:pPr fontAlgn="t"/>
            <a:r>
              <a:rPr lang="en-IN" b="1" kern="0">
                <a:solidFill>
                  <a:sysClr val="windowText" lastClr="000000"/>
                </a:solidFill>
              </a:rPr>
              <a:t>Open models</a:t>
            </a:r>
          </a:p>
          <a:p>
            <a:pPr fontAlgn="t"/>
            <a:r>
              <a:rPr lang="en-IN" kern="0">
                <a:solidFill>
                  <a:sysClr val="windowText" lastClr="000000"/>
                </a:solidFill>
              </a:rPr>
              <a:t>EleutherAI's open datasets (The Pile) and models (GPT-J)  </a:t>
            </a:r>
          </a:p>
          <a:p>
            <a:pPr fontAlgn="t"/>
            <a:r>
              <a:rPr lang="en-IN" kern="0">
                <a:solidFill>
                  <a:sysClr val="windowText" lastClr="000000"/>
                </a:solidFill>
              </a:rPr>
              <a:t>Meta's OPT (175B): GPT-3 replication, lots of hardware issues </a:t>
            </a:r>
          </a:p>
          <a:p>
            <a:pPr fontAlgn="t"/>
            <a:r>
              <a:rPr lang="en-IN" kern="0">
                <a:solidFill>
                  <a:sysClr val="windowText" lastClr="000000"/>
                </a:solidFill>
              </a:rPr>
              <a:t>Hugging Face / BigScience's BLOOM: focused on data sourcing </a:t>
            </a:r>
          </a:p>
          <a:p>
            <a:pPr fontAlgn="t"/>
            <a:r>
              <a:rPr lang="en-IN" kern="0">
                <a:solidFill>
                  <a:sysClr val="windowText" lastClr="000000"/>
                </a:solidFill>
              </a:rPr>
              <a:t>Meta's Llama models  </a:t>
            </a:r>
          </a:p>
          <a:p>
            <a:pPr fontAlgn="t"/>
            <a:r>
              <a:rPr lang="en-IN" kern="0">
                <a:solidFill>
                  <a:sysClr val="windowText" lastClr="000000"/>
                </a:solidFill>
              </a:rPr>
              <a:t>Alibaba's Qwen models  </a:t>
            </a:r>
          </a:p>
          <a:p>
            <a:pPr fontAlgn="t"/>
            <a:r>
              <a:rPr lang="en-IN" kern="0">
                <a:solidFill>
                  <a:sysClr val="windowText" lastClr="000000"/>
                </a:solidFill>
              </a:rPr>
              <a:t>DeepSeek's models </a:t>
            </a:r>
          </a:p>
          <a:p>
            <a:pPr fontAlgn="t"/>
            <a:r>
              <a:rPr lang="en-IN" kern="0">
                <a:solidFill>
                  <a:sysClr val="windowText" lastClr="000000"/>
                </a:solidFill>
              </a:rPr>
              <a:t>AI2's OLMo 2</a:t>
            </a:r>
          </a:p>
          <a:p>
            <a:pPr fontAlgn="t"/>
            <a:endParaRPr lang="en-IN" kern="0">
              <a:solidFill>
                <a:sysClr val="windowText" lastClr="000000"/>
              </a:solidFill>
            </a:endParaRPr>
          </a:p>
          <a:p>
            <a:endParaRPr lang="en-IN" b="1" kern="0">
              <a:solidFill>
                <a:sysClr val="windowText" lastClr="000000"/>
              </a:solidFill>
            </a:endParaRPr>
          </a:p>
          <a:p>
            <a:endParaRPr lang="en-IN" kern="0" dirty="0">
              <a:solidFill>
                <a:sysClr val="windowText" lastClr="000000"/>
              </a:solidFill>
            </a:endParaRPr>
          </a:p>
        </p:txBody>
      </p:sp>
    </p:spTree>
    <p:extLst>
      <p:ext uri="{BB962C8B-B14F-4D97-AF65-F5344CB8AC3E}">
        <p14:creationId xmlns:p14="http://schemas.microsoft.com/office/powerpoint/2010/main" val="2254901295"/>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Language models landscape</a:t>
            </a:r>
            <a:endParaRPr lang="en-IN" dirty="0"/>
          </a:p>
        </p:txBody>
      </p:sp>
      <p:sp>
        <p:nvSpPr>
          <p:cNvPr id="3" name="Content Placeholder 1"/>
          <p:cNvSpPr txBox="1">
            <a:spLocks/>
          </p:cNvSpPr>
          <p:nvPr/>
        </p:nvSpPr>
        <p:spPr>
          <a:xfrm>
            <a:off x="304800" y="1545224"/>
            <a:ext cx="11480800" cy="4961454"/>
          </a:xfrm>
          <a:prstGeom prst="rect">
            <a:avLst/>
          </a:prstGeom>
        </p:spPr>
        <p:txBody>
          <a:bodyPr>
            <a:normAutofit fontScale="85000" lnSpcReduction="20000"/>
          </a:bodyPr>
          <a:lst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fontAlgn="t"/>
            <a:r>
              <a:rPr lang="en-IN" kern="0" dirty="0">
                <a:solidFill>
                  <a:sysClr val="windowText" lastClr="000000"/>
                </a:solidFill>
              </a:rPr>
              <a:t> </a:t>
            </a:r>
            <a:r>
              <a:rPr lang="en-IN" b="1" kern="0" dirty="0">
                <a:solidFill>
                  <a:sysClr val="windowText" lastClr="000000"/>
                </a:solidFill>
              </a:rPr>
              <a:t>Levels of openness</a:t>
            </a:r>
          </a:p>
          <a:p>
            <a:pPr fontAlgn="t"/>
            <a:r>
              <a:rPr lang="en-IN" kern="0" dirty="0">
                <a:solidFill>
                  <a:sysClr val="windowText" lastClr="000000"/>
                </a:solidFill>
              </a:rPr>
              <a:t>Closed models (e.g., GPT-4o): API access only</a:t>
            </a:r>
          </a:p>
          <a:p>
            <a:pPr fontAlgn="t"/>
            <a:r>
              <a:rPr lang="en-IN" kern="0" dirty="0">
                <a:solidFill>
                  <a:sysClr val="windowText" lastClr="000000"/>
                </a:solidFill>
              </a:rPr>
              <a:t> Open-weight models (e.g., DeepSeek): weights available, paper with architecture details, some training details, no data details</a:t>
            </a:r>
          </a:p>
          <a:p>
            <a:pPr fontAlgn="t"/>
            <a:r>
              <a:rPr lang="en-IN" kern="0" dirty="0">
                <a:solidFill>
                  <a:sysClr val="windowText" lastClr="000000"/>
                </a:solidFill>
              </a:rPr>
              <a:t> Open-source models (e.g., </a:t>
            </a:r>
            <a:r>
              <a:rPr lang="en-IN" kern="0" dirty="0" err="1">
                <a:solidFill>
                  <a:sysClr val="windowText" lastClr="000000"/>
                </a:solidFill>
              </a:rPr>
              <a:t>OLMo</a:t>
            </a:r>
            <a:r>
              <a:rPr lang="en-IN" kern="0" dirty="0">
                <a:solidFill>
                  <a:sysClr val="windowText" lastClr="000000"/>
                </a:solidFill>
              </a:rPr>
              <a:t>): weights and data available, paper with most details (but not necessarily the rationale, failed experiments)</a:t>
            </a:r>
          </a:p>
          <a:p>
            <a:pPr fontAlgn="t"/>
            <a:endParaRPr lang="en-IN" kern="0" dirty="0">
              <a:solidFill>
                <a:sysClr val="windowText" lastClr="000000"/>
              </a:solidFill>
            </a:endParaRPr>
          </a:p>
          <a:p>
            <a:pPr fontAlgn="t"/>
            <a:r>
              <a:rPr lang="en-IN" kern="0" dirty="0">
                <a:solidFill>
                  <a:sysClr val="windowText" lastClr="000000"/>
                </a:solidFill>
              </a:rPr>
              <a:t> </a:t>
            </a:r>
            <a:r>
              <a:rPr lang="en-IN" b="1" kern="0" dirty="0">
                <a:solidFill>
                  <a:sysClr val="windowText" lastClr="000000"/>
                </a:solidFill>
              </a:rPr>
              <a:t>Today's frontier models</a:t>
            </a:r>
          </a:p>
          <a:p>
            <a:pPr fontAlgn="t"/>
            <a:r>
              <a:rPr lang="en-IN" kern="0" dirty="0">
                <a:solidFill>
                  <a:sysClr val="windowText" lastClr="000000"/>
                </a:solidFill>
              </a:rPr>
              <a:t>OpenAI's o3</a:t>
            </a:r>
          </a:p>
          <a:p>
            <a:pPr fontAlgn="t"/>
            <a:r>
              <a:rPr lang="en-IN" kern="0" dirty="0">
                <a:solidFill>
                  <a:sysClr val="windowText" lastClr="000000"/>
                </a:solidFill>
              </a:rPr>
              <a:t> </a:t>
            </a:r>
            <a:r>
              <a:rPr lang="en-IN" kern="0" dirty="0" err="1">
                <a:solidFill>
                  <a:sysClr val="windowText" lastClr="000000"/>
                </a:solidFill>
              </a:rPr>
              <a:t>Anthropic's</a:t>
            </a:r>
            <a:r>
              <a:rPr lang="en-IN" kern="0" dirty="0">
                <a:solidFill>
                  <a:sysClr val="windowText" lastClr="000000"/>
                </a:solidFill>
              </a:rPr>
              <a:t> Claude Sonnet 3.7</a:t>
            </a:r>
          </a:p>
          <a:p>
            <a:pPr fontAlgn="t"/>
            <a:r>
              <a:rPr lang="en-IN" kern="0" dirty="0">
                <a:solidFill>
                  <a:sysClr val="windowText" lastClr="000000"/>
                </a:solidFill>
              </a:rPr>
              <a:t> </a:t>
            </a:r>
            <a:r>
              <a:rPr lang="en-IN" kern="0" dirty="0" err="1">
                <a:solidFill>
                  <a:sysClr val="windowText" lastClr="000000"/>
                </a:solidFill>
              </a:rPr>
              <a:t>xAI's</a:t>
            </a:r>
            <a:r>
              <a:rPr lang="en-IN" kern="0" dirty="0">
                <a:solidFill>
                  <a:sysClr val="windowText" lastClr="000000"/>
                </a:solidFill>
              </a:rPr>
              <a:t> Grok 3</a:t>
            </a:r>
          </a:p>
          <a:p>
            <a:pPr fontAlgn="t"/>
            <a:r>
              <a:rPr lang="en-IN" kern="0" dirty="0">
                <a:solidFill>
                  <a:sysClr val="windowText" lastClr="000000"/>
                </a:solidFill>
              </a:rPr>
              <a:t> Google's Gemini 2.5</a:t>
            </a:r>
          </a:p>
          <a:p>
            <a:pPr fontAlgn="t"/>
            <a:r>
              <a:rPr lang="en-IN" kern="0" dirty="0">
                <a:solidFill>
                  <a:sysClr val="windowText" lastClr="000000"/>
                </a:solidFill>
              </a:rPr>
              <a:t> Meta's Llama 3.3</a:t>
            </a:r>
          </a:p>
          <a:p>
            <a:pPr fontAlgn="t"/>
            <a:r>
              <a:rPr lang="en-IN" kern="0" dirty="0">
                <a:solidFill>
                  <a:sysClr val="windowText" lastClr="000000"/>
                </a:solidFill>
              </a:rPr>
              <a:t> DeepSeek's r1</a:t>
            </a:r>
          </a:p>
          <a:p>
            <a:pPr fontAlgn="t"/>
            <a:r>
              <a:rPr lang="en-IN" kern="0" dirty="0">
                <a:solidFill>
                  <a:sysClr val="windowText" lastClr="000000"/>
                </a:solidFill>
              </a:rPr>
              <a:t> Alibaba's Qwen 2.5 Max</a:t>
            </a:r>
          </a:p>
          <a:p>
            <a:pPr fontAlgn="t"/>
            <a:r>
              <a:rPr lang="en-IN" kern="0" dirty="0">
                <a:solidFill>
                  <a:sysClr val="windowText" lastClr="000000"/>
                </a:solidFill>
              </a:rPr>
              <a:t>Tencent's Hunyuan-T1</a:t>
            </a:r>
          </a:p>
          <a:p>
            <a:pPr fontAlgn="t"/>
            <a:endParaRPr lang="en-IN" kern="0" dirty="0">
              <a:solidFill>
                <a:sysClr val="windowText" lastClr="000000"/>
              </a:solidFill>
            </a:endParaRPr>
          </a:p>
          <a:p>
            <a:pPr fontAlgn="t"/>
            <a:r>
              <a:rPr lang="en-IN" sz="3600" b="1" i="1" kern="0" dirty="0">
                <a:solidFill>
                  <a:srgbClr val="FF0000"/>
                </a:solidFill>
              </a:rPr>
              <a:t>The list grows………………….</a:t>
            </a:r>
          </a:p>
          <a:p>
            <a:pPr fontAlgn="t"/>
            <a:r>
              <a:rPr lang="en-IN" kern="0" dirty="0">
                <a:solidFill>
                  <a:sysClr val="windowText" lastClr="000000"/>
                </a:solidFill>
              </a:rPr>
              <a:t> </a:t>
            </a:r>
          </a:p>
          <a:p>
            <a:pPr fontAlgn="t"/>
            <a:endParaRPr lang="en-IN" b="1" kern="0" dirty="0">
              <a:solidFill>
                <a:sysClr val="windowText" lastClr="000000"/>
              </a:solidFill>
            </a:endParaRPr>
          </a:p>
          <a:p>
            <a:endParaRPr lang="en-IN" kern="0" dirty="0">
              <a:solidFill>
                <a:sysClr val="windowText" lastClr="000000"/>
              </a:solidFill>
            </a:endParaRPr>
          </a:p>
          <a:p>
            <a:endParaRPr lang="en-IN" kern="0" dirty="0">
              <a:solidFill>
                <a:sysClr val="windowText" lastClr="000000"/>
              </a:solidFill>
            </a:endParaRPr>
          </a:p>
        </p:txBody>
      </p:sp>
    </p:spTree>
    <p:extLst>
      <p:ext uri="{BB962C8B-B14F-4D97-AF65-F5344CB8AC3E}">
        <p14:creationId xmlns:p14="http://schemas.microsoft.com/office/powerpoint/2010/main" val="1132588235"/>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8B936A-3C5A-6907-EDBF-064C382C0BF2}"/>
              </a:ext>
            </a:extLst>
          </p:cNvPr>
          <p:cNvSpPr>
            <a:spLocks noGrp="1"/>
          </p:cNvSpPr>
          <p:nvPr>
            <p:ph type="body" sz="quarter" idx="1"/>
          </p:nvPr>
        </p:nvSpPr>
        <p:spPr/>
        <p:txBody>
          <a:bodyPr/>
          <a:lstStyle/>
          <a:p>
            <a:r>
              <a:rPr lang="en-US" dirty="0"/>
              <a:t>Recent models</a:t>
            </a:r>
            <a:endParaRPr lang="en-IN" dirty="0"/>
          </a:p>
        </p:txBody>
      </p:sp>
      <p:graphicFrame>
        <p:nvGraphicFramePr>
          <p:cNvPr id="3" name="Table 2">
            <a:extLst>
              <a:ext uri="{FF2B5EF4-FFF2-40B4-BE49-F238E27FC236}">
                <a16:creationId xmlns:a16="http://schemas.microsoft.com/office/drawing/2014/main" id="{8A7F1D7D-ADD7-7AF3-CD67-A05DB61D7D93}"/>
              </a:ext>
            </a:extLst>
          </p:cNvPr>
          <p:cNvGraphicFramePr>
            <a:graphicFrameLocks noGrp="1"/>
          </p:cNvGraphicFramePr>
          <p:nvPr>
            <p:extLst>
              <p:ext uri="{D42A27DB-BD31-4B8C-83A1-F6EECF244321}">
                <p14:modId xmlns:p14="http://schemas.microsoft.com/office/powerpoint/2010/main" val="1061539144"/>
              </p:ext>
            </p:extLst>
          </p:nvPr>
        </p:nvGraphicFramePr>
        <p:xfrm>
          <a:off x="354932" y="1616487"/>
          <a:ext cx="11482135" cy="4892598"/>
        </p:xfrm>
        <a:graphic>
          <a:graphicData uri="http://schemas.openxmlformats.org/drawingml/2006/table">
            <a:tbl>
              <a:tblPr>
                <a:tableStyleId>{616DA210-FB5B-4158-B5E0-FEB733F419BA}</a:tableStyleId>
              </a:tblPr>
              <a:tblGrid>
                <a:gridCol w="1421117">
                  <a:extLst>
                    <a:ext uri="{9D8B030D-6E8A-4147-A177-3AD203B41FA5}">
                      <a16:colId xmlns:a16="http://schemas.microsoft.com/office/drawing/2014/main" val="2335402590"/>
                    </a:ext>
                  </a:extLst>
                </a:gridCol>
                <a:gridCol w="2125390">
                  <a:extLst>
                    <a:ext uri="{9D8B030D-6E8A-4147-A177-3AD203B41FA5}">
                      <a16:colId xmlns:a16="http://schemas.microsoft.com/office/drawing/2014/main" val="1908499600"/>
                    </a:ext>
                  </a:extLst>
                </a:gridCol>
                <a:gridCol w="7935628">
                  <a:extLst>
                    <a:ext uri="{9D8B030D-6E8A-4147-A177-3AD203B41FA5}">
                      <a16:colId xmlns:a16="http://schemas.microsoft.com/office/drawing/2014/main" val="1845889554"/>
                    </a:ext>
                  </a:extLst>
                </a:gridCol>
              </a:tblGrid>
              <a:tr h="724404">
                <a:tc>
                  <a:txBody>
                    <a:bodyPr/>
                    <a:lstStyle/>
                    <a:p>
                      <a:pPr algn="l">
                        <a:buNone/>
                      </a:pPr>
                      <a:r>
                        <a:rPr lang="en-IN" sz="2000">
                          <a:effectLst/>
                        </a:rPr>
                        <a:t>Model Family</a:t>
                      </a:r>
                    </a:p>
                  </a:txBody>
                  <a:tcPr marL="31486" marR="31486" marT="31486" marB="31486" anchor="ctr"/>
                </a:tc>
                <a:tc>
                  <a:txBody>
                    <a:bodyPr/>
                    <a:lstStyle/>
                    <a:p>
                      <a:pPr algn="l">
                        <a:buNone/>
                      </a:pPr>
                      <a:r>
                        <a:rPr lang="en-IN" sz="2000">
                          <a:effectLst/>
                        </a:rPr>
                        <a:t>Key Release</a:t>
                      </a:r>
                    </a:p>
                  </a:txBody>
                  <a:tcPr marL="31486" marR="31486" marT="31486" marB="31486" anchor="ctr"/>
                </a:tc>
                <a:tc>
                  <a:txBody>
                    <a:bodyPr/>
                    <a:lstStyle/>
                    <a:p>
                      <a:pPr algn="l">
                        <a:buNone/>
                      </a:pPr>
                      <a:r>
                        <a:rPr lang="en-IN" sz="2000">
                          <a:effectLst/>
                        </a:rPr>
                        <a:t>Primary Strength</a:t>
                      </a:r>
                    </a:p>
                  </a:txBody>
                  <a:tcPr marL="31486" marR="31486" marT="31486" marB="31486" anchor="ctr"/>
                </a:tc>
                <a:extLst>
                  <a:ext uri="{0D108BD9-81ED-4DB2-BD59-A6C34878D82A}">
                    <a16:rowId xmlns:a16="http://schemas.microsoft.com/office/drawing/2014/main" val="3227938223"/>
                  </a:ext>
                </a:extLst>
              </a:tr>
              <a:tr h="474726">
                <a:tc>
                  <a:txBody>
                    <a:bodyPr/>
                    <a:lstStyle/>
                    <a:p>
                      <a:pPr algn="l">
                        <a:buNone/>
                      </a:pPr>
                      <a:r>
                        <a:rPr lang="en-IN" sz="2000">
                          <a:effectLst/>
                        </a:rPr>
                        <a:t>OpenAI</a:t>
                      </a:r>
                    </a:p>
                  </a:txBody>
                  <a:tcPr marL="31486" marR="31486" marT="31486" marB="31486" anchor="ctr"/>
                </a:tc>
                <a:tc>
                  <a:txBody>
                    <a:bodyPr/>
                    <a:lstStyle/>
                    <a:p>
                      <a:pPr algn="l">
                        <a:buNone/>
                      </a:pPr>
                      <a:r>
                        <a:rPr lang="en-IN" sz="2000">
                          <a:effectLst/>
                        </a:rPr>
                        <a:t>GPT-5.4 Thinking</a:t>
                      </a:r>
                    </a:p>
                  </a:txBody>
                  <a:tcPr marL="31486" marR="31486" marT="31486" marB="31486" anchor="ctr"/>
                </a:tc>
                <a:tc>
                  <a:txBody>
                    <a:bodyPr/>
                    <a:lstStyle/>
                    <a:p>
                      <a:pPr algn="l">
                        <a:buNone/>
                      </a:pPr>
                      <a:r>
                        <a:rPr lang="en-US" sz="2000" dirty="0">
                          <a:effectLst/>
                        </a:rPr>
                        <a:t>Deep reasoning, tool use, and long-horizon research tasks</a:t>
                      </a:r>
                    </a:p>
                  </a:txBody>
                  <a:tcPr marL="31486" marR="31486" marT="31486" marB="31486" anchor="ctr"/>
                </a:tc>
                <a:extLst>
                  <a:ext uri="{0D108BD9-81ED-4DB2-BD59-A6C34878D82A}">
                    <a16:rowId xmlns:a16="http://schemas.microsoft.com/office/drawing/2014/main" val="2057597290"/>
                  </a:ext>
                </a:extLst>
              </a:tr>
              <a:tr h="756430">
                <a:tc>
                  <a:txBody>
                    <a:bodyPr/>
                    <a:lstStyle/>
                    <a:p>
                      <a:pPr algn="l">
                        <a:buNone/>
                      </a:pPr>
                      <a:r>
                        <a:rPr lang="en-IN" sz="2000" dirty="0">
                          <a:effectLst/>
                        </a:rPr>
                        <a:t>Google</a:t>
                      </a:r>
                    </a:p>
                  </a:txBody>
                  <a:tcPr marL="31486" marR="31486" marT="31486" marB="31486" anchor="ctr"/>
                </a:tc>
                <a:tc>
                  <a:txBody>
                    <a:bodyPr/>
                    <a:lstStyle/>
                    <a:p>
                      <a:pPr algn="l">
                        <a:buNone/>
                      </a:pPr>
                      <a:r>
                        <a:rPr lang="en-IN" sz="2000">
                          <a:effectLst/>
                        </a:rPr>
                        <a:t>Gemini 3.1 Pro</a:t>
                      </a:r>
                    </a:p>
                  </a:txBody>
                  <a:tcPr marL="31486" marR="31486" marT="31486" marB="31486" anchor="ctr"/>
                </a:tc>
                <a:tc>
                  <a:txBody>
                    <a:bodyPr/>
                    <a:lstStyle/>
                    <a:p>
                      <a:pPr algn="l">
                        <a:buNone/>
                      </a:pPr>
                      <a:r>
                        <a:rPr lang="en-US" sz="2000" dirty="0">
                          <a:effectLst/>
                        </a:rPr>
                        <a:t>Complex problem-solving, multimodal understanding, and tool-based workflows</a:t>
                      </a:r>
                    </a:p>
                  </a:txBody>
                  <a:tcPr marL="31486" marR="31486" marT="31486" marB="31486" anchor="ctr"/>
                </a:tc>
                <a:extLst>
                  <a:ext uri="{0D108BD9-81ED-4DB2-BD59-A6C34878D82A}">
                    <a16:rowId xmlns:a16="http://schemas.microsoft.com/office/drawing/2014/main" val="3817328435"/>
                  </a:ext>
                </a:extLst>
              </a:tr>
              <a:tr h="756430">
                <a:tc>
                  <a:txBody>
                    <a:bodyPr/>
                    <a:lstStyle/>
                    <a:p>
                      <a:pPr fontAlgn="base" latinLnBrk="0">
                        <a:buNone/>
                      </a:pPr>
                      <a:r>
                        <a:rPr lang="en-IN" dirty="0">
                          <a:effectLst/>
                        </a:rPr>
                        <a:t>Google</a:t>
                      </a:r>
                    </a:p>
                  </a:txBody>
                  <a:tcPr marL="50800" marR="50800" anchor="ctr"/>
                </a:tc>
                <a:tc>
                  <a:txBody>
                    <a:bodyPr/>
                    <a:lstStyle/>
                    <a:p>
                      <a:pPr fontAlgn="base" latinLnBrk="0">
                        <a:buNone/>
                      </a:pPr>
                      <a:r>
                        <a:rPr lang="en-IN" dirty="0">
                          <a:effectLst/>
                        </a:rPr>
                        <a:t>Gemma 4</a:t>
                      </a:r>
                    </a:p>
                  </a:txBody>
                  <a:tcPr marL="50800" marR="50800" anchor="ctr"/>
                </a:tc>
                <a:tc>
                  <a:txBody>
                    <a:bodyPr/>
                    <a:lstStyle/>
                    <a:p>
                      <a:pPr algn="l">
                        <a:buNone/>
                      </a:pPr>
                      <a:r>
                        <a:rPr lang="en-US" sz="2000" b="0" i="0" dirty="0">
                          <a:solidFill>
                            <a:schemeClr val="tx1"/>
                          </a:solidFill>
                          <a:effectLst/>
                          <a:latin typeface="+mn-lt"/>
                          <a:ea typeface="+mn-ea"/>
                          <a:cs typeface="+mn-cs"/>
                        </a:rPr>
                        <a:t>Open-weight reasoning, multimodal understanding, and agentic workflows</a:t>
                      </a:r>
                      <a:endParaRPr lang="en-US" sz="2000" dirty="0">
                        <a:effectLst/>
                      </a:endParaRPr>
                    </a:p>
                  </a:txBody>
                  <a:tcPr marL="31486" marR="31486" marT="31486" marB="31486" anchor="ctr"/>
                </a:tc>
                <a:extLst>
                  <a:ext uri="{0D108BD9-81ED-4DB2-BD59-A6C34878D82A}">
                    <a16:rowId xmlns:a16="http://schemas.microsoft.com/office/drawing/2014/main" val="2007483079"/>
                  </a:ext>
                </a:extLst>
              </a:tr>
              <a:tr h="474726">
                <a:tc>
                  <a:txBody>
                    <a:bodyPr/>
                    <a:lstStyle/>
                    <a:p>
                      <a:pPr algn="l">
                        <a:buNone/>
                      </a:pPr>
                      <a:r>
                        <a:rPr lang="en-IN" sz="2000">
                          <a:effectLst/>
                        </a:rPr>
                        <a:t>Anthropic</a:t>
                      </a:r>
                    </a:p>
                  </a:txBody>
                  <a:tcPr marL="31486" marR="31486" marT="31486" marB="31486" anchor="ctr"/>
                </a:tc>
                <a:tc>
                  <a:txBody>
                    <a:bodyPr/>
                    <a:lstStyle/>
                    <a:p>
                      <a:pPr algn="l">
                        <a:buNone/>
                      </a:pPr>
                      <a:r>
                        <a:rPr lang="en-IN" sz="2000">
                          <a:effectLst/>
                        </a:rPr>
                        <a:t>Claude Opus 4.6</a:t>
                      </a:r>
                    </a:p>
                  </a:txBody>
                  <a:tcPr marL="31486" marR="31486" marT="31486" marB="31486" anchor="ctr"/>
                </a:tc>
                <a:tc>
                  <a:txBody>
                    <a:bodyPr/>
                    <a:lstStyle/>
                    <a:p>
                      <a:pPr algn="l">
                        <a:buNone/>
                      </a:pPr>
                      <a:r>
                        <a:rPr lang="en-US" sz="2000" dirty="0">
                          <a:effectLst/>
                        </a:rPr>
                        <a:t>Long-context reasoning, coding, and sustained agentic work</a:t>
                      </a:r>
                    </a:p>
                  </a:txBody>
                  <a:tcPr marL="31486" marR="31486" marT="31486" marB="31486" anchor="ctr"/>
                </a:tc>
                <a:extLst>
                  <a:ext uri="{0D108BD9-81ED-4DB2-BD59-A6C34878D82A}">
                    <a16:rowId xmlns:a16="http://schemas.microsoft.com/office/drawing/2014/main" val="161795077"/>
                  </a:ext>
                </a:extLst>
              </a:tr>
              <a:tr h="615578">
                <a:tc>
                  <a:txBody>
                    <a:bodyPr/>
                    <a:lstStyle/>
                    <a:p>
                      <a:pPr algn="l">
                        <a:buNone/>
                      </a:pPr>
                      <a:r>
                        <a:rPr lang="en-IN" sz="2000">
                          <a:effectLst/>
                        </a:rPr>
                        <a:t>Mistral</a:t>
                      </a:r>
                    </a:p>
                  </a:txBody>
                  <a:tcPr marL="31486" marR="31486" marT="31486" marB="31486" anchor="ctr"/>
                </a:tc>
                <a:tc>
                  <a:txBody>
                    <a:bodyPr/>
                    <a:lstStyle/>
                    <a:p>
                      <a:pPr algn="l">
                        <a:buNone/>
                      </a:pPr>
                      <a:r>
                        <a:rPr lang="en-IN" sz="2000">
                          <a:effectLst/>
                        </a:rPr>
                        <a:t>Mistral Large 3</a:t>
                      </a:r>
                    </a:p>
                  </a:txBody>
                  <a:tcPr marL="31486" marR="31486" marT="31486" marB="31486" anchor="ctr"/>
                </a:tc>
                <a:tc>
                  <a:txBody>
                    <a:bodyPr/>
                    <a:lstStyle/>
                    <a:p>
                      <a:pPr algn="l">
                        <a:buNone/>
                      </a:pPr>
                      <a:r>
                        <a:rPr lang="en-US" sz="2000" dirty="0">
                          <a:effectLst/>
                        </a:rPr>
                        <a:t>Open-weight multimodal performance with efficient sparse </a:t>
                      </a:r>
                      <a:r>
                        <a:rPr lang="en-US" sz="2000" dirty="0" err="1">
                          <a:effectLst/>
                        </a:rPr>
                        <a:t>MoE</a:t>
                      </a:r>
                      <a:r>
                        <a:rPr lang="en-US" sz="2000" dirty="0">
                          <a:effectLst/>
                        </a:rPr>
                        <a:t> design</a:t>
                      </a:r>
                    </a:p>
                  </a:txBody>
                  <a:tcPr marL="31486" marR="31486" marT="31486" marB="31486" anchor="ctr"/>
                </a:tc>
                <a:extLst>
                  <a:ext uri="{0D108BD9-81ED-4DB2-BD59-A6C34878D82A}">
                    <a16:rowId xmlns:a16="http://schemas.microsoft.com/office/drawing/2014/main" val="3271946223"/>
                  </a:ext>
                </a:extLst>
              </a:tr>
              <a:tr h="474726">
                <a:tc>
                  <a:txBody>
                    <a:bodyPr/>
                    <a:lstStyle/>
                    <a:p>
                      <a:pPr algn="l">
                        <a:buNone/>
                      </a:pPr>
                      <a:r>
                        <a:rPr lang="en-IN" sz="2000">
                          <a:effectLst/>
                        </a:rPr>
                        <a:t>xAI</a:t>
                      </a:r>
                    </a:p>
                  </a:txBody>
                  <a:tcPr marL="31486" marR="31486" marT="31486" marB="31486" anchor="ctr"/>
                </a:tc>
                <a:tc>
                  <a:txBody>
                    <a:bodyPr/>
                    <a:lstStyle/>
                    <a:p>
                      <a:pPr algn="l">
                        <a:buNone/>
                      </a:pPr>
                      <a:r>
                        <a:rPr lang="en-IN" sz="2000">
                          <a:effectLst/>
                        </a:rPr>
                        <a:t>Grok 4.20</a:t>
                      </a:r>
                    </a:p>
                  </a:txBody>
                  <a:tcPr marL="31486" marR="31486" marT="31486" marB="31486" anchor="ctr"/>
                </a:tc>
                <a:tc>
                  <a:txBody>
                    <a:bodyPr/>
                    <a:lstStyle/>
                    <a:p>
                      <a:pPr algn="l">
                        <a:buNone/>
                      </a:pPr>
                      <a:r>
                        <a:rPr lang="en-US" sz="2000" dirty="0">
                          <a:effectLst/>
                        </a:rPr>
                        <a:t>Parallel multi-agent research and collaborative task execution</a:t>
                      </a:r>
                    </a:p>
                  </a:txBody>
                  <a:tcPr marL="31486" marR="31486" marT="31486" marB="31486" anchor="ctr"/>
                </a:tc>
                <a:extLst>
                  <a:ext uri="{0D108BD9-81ED-4DB2-BD59-A6C34878D82A}">
                    <a16:rowId xmlns:a16="http://schemas.microsoft.com/office/drawing/2014/main" val="3120178485"/>
                  </a:ext>
                </a:extLst>
              </a:tr>
              <a:tr h="615578">
                <a:tc>
                  <a:txBody>
                    <a:bodyPr/>
                    <a:lstStyle/>
                    <a:p>
                      <a:pPr algn="l">
                        <a:buNone/>
                      </a:pPr>
                      <a:r>
                        <a:rPr lang="en-IN" sz="2000">
                          <a:effectLst/>
                        </a:rPr>
                        <a:t>DeepSeek</a:t>
                      </a:r>
                    </a:p>
                  </a:txBody>
                  <a:tcPr marL="31486" marR="31486" marT="31486" marB="31486" anchor="ctr"/>
                </a:tc>
                <a:tc>
                  <a:txBody>
                    <a:bodyPr/>
                    <a:lstStyle/>
                    <a:p>
                      <a:pPr algn="l">
                        <a:buNone/>
                      </a:pPr>
                      <a:r>
                        <a:rPr lang="en-IN" sz="2000">
                          <a:effectLst/>
                        </a:rPr>
                        <a:t>DeepSeek-R1</a:t>
                      </a:r>
                    </a:p>
                  </a:txBody>
                  <a:tcPr marL="31486" marR="31486" marT="31486" marB="31486" anchor="ctr"/>
                </a:tc>
                <a:tc>
                  <a:txBody>
                    <a:bodyPr/>
                    <a:lstStyle/>
                    <a:p>
                      <a:pPr algn="l">
                        <a:buNone/>
                      </a:pPr>
                      <a:r>
                        <a:rPr lang="en-US" sz="2000" dirty="0">
                          <a:effectLst/>
                        </a:rPr>
                        <a:t>Reinforcement-learning-driven math, logic, and reasoning performance</a:t>
                      </a:r>
                    </a:p>
                  </a:txBody>
                  <a:tcPr marL="31486" marR="31486" marT="31486" marB="31486" anchor="ctr"/>
                </a:tc>
                <a:extLst>
                  <a:ext uri="{0D108BD9-81ED-4DB2-BD59-A6C34878D82A}">
                    <a16:rowId xmlns:a16="http://schemas.microsoft.com/office/drawing/2014/main" val="1490194401"/>
                  </a:ext>
                </a:extLst>
              </a:tr>
            </a:tbl>
          </a:graphicData>
        </a:graphic>
      </p:graphicFrame>
    </p:spTree>
    <p:extLst>
      <p:ext uri="{BB962C8B-B14F-4D97-AF65-F5344CB8AC3E}">
        <p14:creationId xmlns:p14="http://schemas.microsoft.com/office/powerpoint/2010/main" val="2296764720"/>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References</a:t>
            </a:r>
            <a:endParaRPr lang="en-IN" dirty="0"/>
          </a:p>
        </p:txBody>
      </p:sp>
      <p:sp>
        <p:nvSpPr>
          <p:cNvPr id="3" name="Rectangle 2"/>
          <p:cNvSpPr/>
          <p:nvPr/>
        </p:nvSpPr>
        <p:spPr>
          <a:xfrm>
            <a:off x="155064" y="1731417"/>
            <a:ext cx="11732136" cy="2677656"/>
          </a:xfrm>
          <a:prstGeom prst="rect">
            <a:avLst/>
          </a:prstGeom>
        </p:spPr>
        <p:txBody>
          <a:bodyPr wrap="square">
            <a:spAutoFit/>
          </a:bodyPr>
          <a:lstStyle/>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Speech and Language Processing (3rd ed. draft) Dan </a:t>
            </a:r>
            <a:r>
              <a:rPr lang="en-US" sz="2400" dirty="0" err="1">
                <a:latin typeface="Cambria" panose="02040503050406030204" pitchFamily="18" charset="0"/>
                <a:ea typeface="Cambria" panose="02040503050406030204" pitchFamily="18" charset="0"/>
              </a:rPr>
              <a:t>Jurafsky</a:t>
            </a:r>
            <a:r>
              <a:rPr lang="en-US" sz="2400" dirty="0">
                <a:latin typeface="Cambria" panose="02040503050406030204" pitchFamily="18" charset="0"/>
                <a:ea typeface="Cambria" panose="02040503050406030204" pitchFamily="18" charset="0"/>
              </a:rPr>
              <a:t> Jan 2026 - </a:t>
            </a:r>
            <a:r>
              <a:rPr lang="en-US" sz="2400" dirty="0" err="1">
                <a:latin typeface="Cambria" panose="02040503050406030204" pitchFamily="18" charset="0"/>
                <a:ea typeface="Cambria" panose="02040503050406030204" pitchFamily="18" charset="0"/>
              </a:rPr>
              <a:t>Ch</a:t>
            </a:r>
            <a:r>
              <a:rPr lang="en-US" sz="2400" dirty="0">
                <a:latin typeface="Cambria" panose="02040503050406030204" pitchFamily="18" charset="0"/>
                <a:ea typeface="Cambria" panose="02040503050406030204" pitchFamily="18" charset="0"/>
              </a:rPr>
              <a:t>- 2, 7, 8 </a:t>
            </a:r>
          </a:p>
          <a:p>
            <a:pPr marL="342900" indent="-342900">
              <a:buFont typeface="Arial" panose="020B0604020202020204" pitchFamily="34" charset="0"/>
              <a:buChar char="•"/>
            </a:pPr>
            <a:r>
              <a:rPr lang="en-IN" sz="2400" dirty="0">
                <a:latin typeface="Cambria" panose="02040503050406030204" pitchFamily="18" charset="0"/>
                <a:ea typeface="Cambria" panose="02040503050406030204" pitchFamily="18" charset="0"/>
              </a:rPr>
              <a:t>Hands-On Large Language Models – Jay </a:t>
            </a:r>
            <a:r>
              <a:rPr lang="en-IN" sz="2400" dirty="0" err="1">
                <a:latin typeface="Cambria" panose="02040503050406030204" pitchFamily="18" charset="0"/>
                <a:ea typeface="Cambria" panose="02040503050406030204" pitchFamily="18" charset="0"/>
              </a:rPr>
              <a:t>Alamar</a:t>
            </a:r>
            <a:r>
              <a:rPr lang="en-IN" sz="2400" dirty="0">
                <a:latin typeface="Cambria" panose="02040503050406030204" pitchFamily="18" charset="0"/>
                <a:ea typeface="Cambria" panose="02040503050406030204" pitchFamily="18" charset="0"/>
              </a:rPr>
              <a:t> : </a:t>
            </a:r>
            <a:r>
              <a:rPr lang="en-US" sz="2400" dirty="0">
                <a:latin typeface="Cambria" panose="02040503050406030204" pitchFamily="18" charset="0"/>
                <a:ea typeface="Cambria" panose="02040503050406030204" pitchFamily="18" charset="0"/>
              </a:rPr>
              <a:t>Ch-1,2,3</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Build a Large Language Model (From Scratch) </a:t>
            </a:r>
            <a:r>
              <a:rPr lang="en-IN" sz="2400" dirty="0">
                <a:latin typeface="Cambria" panose="02040503050406030204" pitchFamily="18" charset="0"/>
                <a:ea typeface="Cambria" panose="02040503050406030204" pitchFamily="18" charset="0"/>
              </a:rPr>
              <a:t>SEBASTIAN RASCHKA </a:t>
            </a:r>
            <a:r>
              <a:rPr lang="en-US" sz="2400" dirty="0">
                <a:latin typeface="Cambria" panose="02040503050406030204" pitchFamily="18" charset="0"/>
                <a:ea typeface="Cambria" panose="02040503050406030204" pitchFamily="18" charset="0"/>
              </a:rPr>
              <a:t>: Ch-1,2</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hlinkClick r:id="rId2"/>
              </a:rPr>
              <a:t>https://huggingface.co/learn/llm-course/en/chapter6/5</a:t>
            </a:r>
            <a:endParaRPr lang="en-US" sz="24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Research Papers</a:t>
            </a:r>
            <a:endParaRPr lang="en-IN" sz="24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IN" sz="2400" dirty="0">
                <a:latin typeface="Cambria" panose="02040503050406030204" pitchFamily="18" charset="0"/>
                <a:ea typeface="Cambria" panose="02040503050406030204" pitchFamily="18" charset="0"/>
              </a:rPr>
              <a:t>Neural Machine Translation with Byte-Level </a:t>
            </a:r>
            <a:r>
              <a:rPr lang="en-IN" sz="2400" dirty="0" err="1">
                <a:latin typeface="Cambria" panose="02040503050406030204" pitchFamily="18" charset="0"/>
                <a:ea typeface="Cambria" panose="02040503050406030204" pitchFamily="18" charset="0"/>
              </a:rPr>
              <a:t>Subwords</a:t>
            </a:r>
            <a:endParaRPr lang="en-IN"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40815354"/>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a:xfrm>
            <a:off x="1586808" y="2795847"/>
            <a:ext cx="8432800" cy="1143000"/>
          </a:xfrm>
        </p:spPr>
        <p:txBody>
          <a:bodyPr/>
          <a:lstStyle/>
          <a:p>
            <a:r>
              <a:rPr lang="en-US" dirty="0"/>
              <a:t>Extra slides (Not for exams) </a:t>
            </a:r>
            <a:endParaRPr lang="en-IN" dirty="0"/>
          </a:p>
        </p:txBody>
      </p:sp>
    </p:spTree>
    <p:extLst>
      <p:ext uri="{BB962C8B-B14F-4D97-AF65-F5344CB8AC3E}">
        <p14:creationId xmlns:p14="http://schemas.microsoft.com/office/powerpoint/2010/main" val="2361910306"/>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Byte tokens Vs BPE</a:t>
            </a:r>
            <a:endParaRPr lang="en-IN" dirty="0"/>
          </a:p>
        </p:txBody>
      </p:sp>
      <p:sp>
        <p:nvSpPr>
          <p:cNvPr id="5" name="Rectangle 4"/>
          <p:cNvSpPr/>
          <p:nvPr/>
        </p:nvSpPr>
        <p:spPr>
          <a:xfrm>
            <a:off x="150553" y="1361425"/>
            <a:ext cx="7813040" cy="3416320"/>
          </a:xfrm>
          <a:prstGeom prst="rect">
            <a:avLst/>
          </a:prstGeom>
        </p:spPr>
        <p:txBody>
          <a:bodyPr wrap="square">
            <a:spAutoFit/>
          </a:bodyPr>
          <a:lstStyle/>
          <a:p>
            <a:pPr marL="342900" indent="-342900">
              <a:buFont typeface="Arial" panose="020B0604020202020204" pitchFamily="34" charset="0"/>
              <a:buChar char="•"/>
            </a:pPr>
            <a:r>
              <a:rPr lang="en-US" sz="2400" dirty="0"/>
              <a:t>Byte Tokens</a:t>
            </a:r>
            <a:endParaRPr lang="en-IN" sz="2400" dirty="0"/>
          </a:p>
          <a:p>
            <a:pPr marL="800100" lvl="1" indent="-342900">
              <a:buFont typeface="Arial" panose="020B0604020202020204" pitchFamily="34" charset="0"/>
              <a:buChar char="•"/>
            </a:pPr>
            <a:r>
              <a:rPr lang="en-IN" sz="2400" dirty="0"/>
              <a:t>Text </a:t>
            </a:r>
            <a:r>
              <a:rPr lang="en-IN" sz="2400" dirty="0">
                <a:sym typeface="Wingdings" panose="05000000000000000000" pitchFamily="2" charset="2"/>
              </a:rPr>
              <a:t> </a:t>
            </a:r>
            <a:r>
              <a:rPr lang="en-IN" sz="2400" dirty="0"/>
              <a:t>UTF-8 Bytes </a:t>
            </a:r>
            <a:r>
              <a:rPr lang="en-IN" sz="2400" dirty="0">
                <a:sym typeface="Wingdings" panose="05000000000000000000" pitchFamily="2" charset="2"/>
              </a:rPr>
              <a:t></a:t>
            </a:r>
            <a:r>
              <a:rPr lang="en-IN" sz="2400" dirty="0"/>
              <a:t> Tokens</a:t>
            </a:r>
          </a:p>
          <a:p>
            <a:pPr marL="800100" lvl="1" indent="-342900">
              <a:buFont typeface="Arial" panose="020B0604020202020204" pitchFamily="34" charset="0"/>
              <a:buChar char="•"/>
            </a:pPr>
            <a:r>
              <a:rPr lang="en-IN" sz="2400" dirty="0"/>
              <a:t>It never merges anything. Every byte is its own token</a:t>
            </a:r>
          </a:p>
          <a:p>
            <a:pPr marL="800100" lvl="1" indent="-342900">
              <a:buFont typeface="Arial" panose="020B0604020202020204" pitchFamily="34" charset="0"/>
              <a:buChar char="•"/>
            </a:pPr>
            <a:r>
              <a:rPr lang="en-IN" sz="2400" dirty="0"/>
              <a:t>Extremely inefficient (long sequences), but can read absolutely any file or character</a:t>
            </a:r>
          </a:p>
          <a:p>
            <a:pPr marL="342900" indent="-342900">
              <a:buFont typeface="Arial" panose="020B0604020202020204" pitchFamily="34" charset="0"/>
              <a:buChar char="•"/>
            </a:pPr>
            <a:r>
              <a:rPr lang="en-US" sz="2400" dirty="0"/>
              <a:t>BPE</a:t>
            </a:r>
          </a:p>
          <a:p>
            <a:pPr marL="800100" lvl="1" indent="-342900">
              <a:buFont typeface="Arial" panose="020B0604020202020204" pitchFamily="34" charset="0"/>
              <a:buChar char="•"/>
            </a:pPr>
            <a:r>
              <a:rPr lang="en-US" sz="2400" dirty="0"/>
              <a:t>Text </a:t>
            </a:r>
            <a:r>
              <a:rPr lang="en-US" sz="2400" dirty="0">
                <a:sym typeface="Wingdings" panose="05000000000000000000" pitchFamily="2" charset="2"/>
              </a:rPr>
              <a:t></a:t>
            </a:r>
            <a:r>
              <a:rPr lang="en-US" sz="2400" dirty="0"/>
              <a:t>Characters  </a:t>
            </a:r>
            <a:r>
              <a:rPr lang="en-US" sz="2400" dirty="0">
                <a:sym typeface="Wingdings" panose="05000000000000000000" pitchFamily="2" charset="2"/>
              </a:rPr>
              <a:t></a:t>
            </a:r>
            <a:r>
              <a:rPr lang="en-US" sz="2400" dirty="0"/>
              <a:t> Merge Frequent Pairs  </a:t>
            </a:r>
            <a:r>
              <a:rPr lang="en-US" sz="2400" dirty="0">
                <a:sym typeface="Wingdings" panose="05000000000000000000" pitchFamily="2" charset="2"/>
              </a:rPr>
              <a:t></a:t>
            </a:r>
            <a:r>
              <a:rPr lang="en-US" sz="2400" dirty="0"/>
              <a:t>Tokens</a:t>
            </a:r>
          </a:p>
          <a:p>
            <a:pPr marL="800100" lvl="1" indent="-342900">
              <a:buFont typeface="Arial" panose="020B0604020202020204" pitchFamily="34" charset="0"/>
              <a:buChar char="•"/>
            </a:pPr>
            <a:r>
              <a:rPr lang="en-US" sz="2400" dirty="0"/>
              <a:t>It is efficient for what it knows but "blind" to what it doesn't</a:t>
            </a:r>
            <a:endParaRPr lang="en-IN" sz="2400" dirty="0"/>
          </a:p>
        </p:txBody>
      </p:sp>
      <p:sp>
        <p:nvSpPr>
          <p:cNvPr id="6" name="Rectangle 5"/>
          <p:cNvSpPr/>
          <p:nvPr/>
        </p:nvSpPr>
        <p:spPr>
          <a:xfrm>
            <a:off x="8229600" y="152400"/>
            <a:ext cx="3568931" cy="4893647"/>
          </a:xfrm>
          <a:prstGeom prst="rect">
            <a:avLst/>
          </a:prstGeom>
          <a:solidFill>
            <a:schemeClr val="accent1">
              <a:lumMod val="40000"/>
              <a:lumOff val="60000"/>
            </a:schemeClr>
          </a:solidFill>
        </p:spPr>
        <p:txBody>
          <a:bodyPr wrap="square">
            <a:spAutoFit/>
          </a:bodyPr>
          <a:lstStyle/>
          <a:p>
            <a:r>
              <a:rPr lang="en-IN" sz="2400" dirty="0"/>
              <a:t>e.g. "Café 🚀"</a:t>
            </a:r>
          </a:p>
          <a:p>
            <a:r>
              <a:rPr lang="en-IN" sz="2400" dirty="0"/>
              <a:t>[67] (C)</a:t>
            </a:r>
          </a:p>
          <a:p>
            <a:r>
              <a:rPr lang="en-IN" sz="2400" dirty="0"/>
              <a:t>[97] (a)</a:t>
            </a:r>
          </a:p>
          <a:p>
            <a:r>
              <a:rPr lang="en-IN" sz="2400" dirty="0"/>
              <a:t>[102] (f)</a:t>
            </a:r>
          </a:p>
          <a:p>
            <a:r>
              <a:rPr lang="en-IN" sz="2400" dirty="0"/>
              <a:t>[195] (First half of é)</a:t>
            </a:r>
          </a:p>
          <a:p>
            <a:r>
              <a:rPr lang="en-IN" sz="2400" dirty="0"/>
              <a:t>[169] (Second half of é)</a:t>
            </a:r>
          </a:p>
          <a:p>
            <a:r>
              <a:rPr lang="en-IN" sz="2400" dirty="0"/>
              <a:t>[32]  (Space)</a:t>
            </a:r>
          </a:p>
          <a:p>
            <a:r>
              <a:rPr lang="en-IN" sz="2400" dirty="0"/>
              <a:t>[240] (Byte 1 of 🚀)</a:t>
            </a:r>
          </a:p>
          <a:p>
            <a:r>
              <a:rPr lang="en-IN" sz="2400" dirty="0"/>
              <a:t>[159] (Byte 2 of 🚀)</a:t>
            </a:r>
          </a:p>
          <a:p>
            <a:r>
              <a:rPr lang="en-IN" sz="2400" dirty="0"/>
              <a:t>[154] (Byte 3 of 🚀)</a:t>
            </a:r>
          </a:p>
          <a:p>
            <a:r>
              <a:rPr lang="en-IN" sz="2400" dirty="0"/>
              <a:t>[128] (Byte 4 of 🚀)</a:t>
            </a:r>
          </a:p>
          <a:p>
            <a:r>
              <a:rPr lang="en-IN" sz="2400" dirty="0"/>
              <a:t>Total Tokens: 10</a:t>
            </a:r>
          </a:p>
          <a:p>
            <a:endParaRPr lang="en-IN" sz="2400" dirty="0"/>
          </a:p>
        </p:txBody>
      </p:sp>
      <p:sp>
        <p:nvSpPr>
          <p:cNvPr id="10" name="Rectangle 9"/>
          <p:cNvSpPr/>
          <p:nvPr/>
        </p:nvSpPr>
        <p:spPr>
          <a:xfrm>
            <a:off x="273397" y="4801769"/>
            <a:ext cx="6096000" cy="1938992"/>
          </a:xfrm>
          <a:prstGeom prst="rect">
            <a:avLst/>
          </a:prstGeom>
          <a:solidFill>
            <a:schemeClr val="accent3">
              <a:lumMod val="40000"/>
              <a:lumOff val="60000"/>
            </a:schemeClr>
          </a:solidFill>
        </p:spPr>
        <p:txBody>
          <a:bodyPr wrap="square">
            <a:spAutoFit/>
          </a:bodyPr>
          <a:lstStyle/>
          <a:p>
            <a:r>
              <a:rPr lang="en-IN" sz="2400" dirty="0"/>
              <a:t>e.g. "Café 🚀"</a:t>
            </a:r>
          </a:p>
          <a:p>
            <a:r>
              <a:rPr lang="en-IN" sz="2400" dirty="0"/>
              <a:t>[Café] (Likely merged into one common token)</a:t>
            </a:r>
          </a:p>
          <a:p>
            <a:r>
              <a:rPr lang="en-IN" sz="2400" dirty="0"/>
              <a:t>[ ] (Space)</a:t>
            </a:r>
          </a:p>
          <a:p>
            <a:r>
              <a:rPr lang="en-IN" sz="2400" dirty="0"/>
              <a:t>[UNK] (The Failure!)</a:t>
            </a:r>
          </a:p>
          <a:p>
            <a:r>
              <a:rPr lang="en-US" sz="2400" dirty="0"/>
              <a:t>Total Tokens: 3 (but one is broken)</a:t>
            </a:r>
            <a:endParaRPr lang="en-IN" sz="2400" dirty="0"/>
          </a:p>
        </p:txBody>
      </p:sp>
    </p:spTree>
    <p:extLst>
      <p:ext uri="{BB962C8B-B14F-4D97-AF65-F5344CB8AC3E}">
        <p14:creationId xmlns:p14="http://schemas.microsoft.com/office/powerpoint/2010/main" val="3089021728"/>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IN" dirty="0"/>
              <a:t> Byte-level BPE ( GPT2)</a:t>
            </a:r>
          </a:p>
        </p:txBody>
      </p:sp>
      <p:sp>
        <p:nvSpPr>
          <p:cNvPr id="3" name="Rectangle 2"/>
          <p:cNvSpPr/>
          <p:nvPr/>
        </p:nvSpPr>
        <p:spPr>
          <a:xfrm>
            <a:off x="199505" y="1544782"/>
            <a:ext cx="8146472" cy="4524315"/>
          </a:xfrm>
          <a:prstGeom prst="rect">
            <a:avLst/>
          </a:prstGeom>
        </p:spPr>
        <p:txBody>
          <a:bodyPr wrap="square">
            <a:spAutoFit/>
          </a:bodyPr>
          <a:lstStyle/>
          <a:p>
            <a:pPr marL="342900" indent="-342900">
              <a:buFont typeface="Arial" panose="020B0604020202020204" pitchFamily="34" charset="0"/>
              <a:buChar char="•"/>
            </a:pPr>
            <a:r>
              <a:rPr lang="en-US" sz="2400" dirty="0"/>
              <a:t>UTF8 encoding of text, which encodes each Unicode character into 1 to 4 bytes.</a:t>
            </a:r>
          </a:p>
          <a:p>
            <a:pPr marL="342900" indent="-342900">
              <a:buFont typeface="Arial" panose="020B0604020202020204" pitchFamily="34" charset="0"/>
              <a:buChar char="•"/>
            </a:pPr>
            <a:r>
              <a:rPr lang="en-US" sz="2400" dirty="0"/>
              <a:t> This allows to model a sentence as a sequence of bytes instead of characters. </a:t>
            </a:r>
          </a:p>
          <a:p>
            <a:pPr marL="342900" indent="-342900">
              <a:buFont typeface="Arial" panose="020B0604020202020204" pitchFamily="34" charset="0"/>
              <a:buChar char="•"/>
            </a:pPr>
            <a:r>
              <a:rPr lang="en-IN" sz="2400" dirty="0"/>
              <a:t>It starts with 256 bytes but learns to "glue" them into useful words.</a:t>
            </a:r>
          </a:p>
          <a:p>
            <a:pPr marL="342900" indent="-342900">
              <a:buFont typeface="Arial" panose="020B0604020202020204" pitchFamily="34" charset="0"/>
              <a:buChar char="•"/>
            </a:pPr>
            <a:r>
              <a:rPr lang="en-IN" sz="2400" dirty="0"/>
              <a:t> Text </a:t>
            </a:r>
            <a:r>
              <a:rPr lang="en-IN" sz="2400" dirty="0">
                <a:sym typeface="Wingdings" panose="05000000000000000000" pitchFamily="2" charset="2"/>
              </a:rPr>
              <a:t></a:t>
            </a:r>
            <a:r>
              <a:rPr lang="en-IN" sz="2400" dirty="0"/>
              <a:t>Bytes  </a:t>
            </a:r>
            <a:r>
              <a:rPr lang="en-IN" sz="2400" dirty="0">
                <a:sym typeface="Wingdings" panose="05000000000000000000" pitchFamily="2" charset="2"/>
              </a:rPr>
              <a:t> </a:t>
            </a:r>
            <a:r>
              <a:rPr lang="en-IN" sz="2400" dirty="0"/>
              <a:t>Merge Frequent Byte Sequences  </a:t>
            </a:r>
            <a:r>
              <a:rPr lang="en-IN" sz="2400" dirty="0">
                <a:sym typeface="Wingdings" panose="05000000000000000000" pitchFamily="2" charset="2"/>
              </a:rPr>
              <a:t> </a:t>
            </a:r>
            <a:r>
              <a:rPr lang="en-IN" sz="2400" dirty="0"/>
              <a:t>Tokens</a:t>
            </a:r>
          </a:p>
          <a:p>
            <a:pPr marL="342900" indent="-342900">
              <a:buFont typeface="Arial" panose="020B0604020202020204" pitchFamily="34" charset="0"/>
              <a:buChar char="•"/>
            </a:pPr>
            <a:r>
              <a:rPr lang="en-IN" sz="2400" dirty="0"/>
              <a:t>Zero unknown words because it can always fall back to the individual bytes if it needs to.</a:t>
            </a:r>
          </a:p>
          <a:p>
            <a:pPr marL="342900" indent="-342900">
              <a:buFont typeface="Arial" panose="020B0604020202020204" pitchFamily="34" charset="0"/>
              <a:buChar char="•"/>
            </a:pPr>
            <a:r>
              <a:rPr lang="en-US" sz="2400" dirty="0"/>
              <a:t> </a:t>
            </a:r>
            <a:r>
              <a:rPr lang="en-US" sz="2400" u="sng" dirty="0"/>
              <a:t>GPT-2</a:t>
            </a:r>
            <a:r>
              <a:rPr lang="en-US" sz="2400" dirty="0"/>
              <a:t> uses byte-level BPE with a vocabulary size of 50,257 (256 byte tokens + 50,000 merges + special end-of-text token).</a:t>
            </a:r>
            <a:endParaRPr lang="en-IN" sz="2400" dirty="0"/>
          </a:p>
        </p:txBody>
      </p:sp>
      <p:sp>
        <p:nvSpPr>
          <p:cNvPr id="4" name="Rectangle 3"/>
          <p:cNvSpPr/>
          <p:nvPr/>
        </p:nvSpPr>
        <p:spPr>
          <a:xfrm>
            <a:off x="8595360" y="1914436"/>
            <a:ext cx="3596640" cy="2677656"/>
          </a:xfrm>
          <a:prstGeom prst="rect">
            <a:avLst/>
          </a:prstGeom>
          <a:solidFill>
            <a:schemeClr val="accent2">
              <a:lumMod val="20000"/>
              <a:lumOff val="80000"/>
            </a:schemeClr>
          </a:solidFill>
          <a:ln>
            <a:solidFill>
              <a:schemeClr val="accent2">
                <a:lumMod val="20000"/>
                <a:lumOff val="80000"/>
              </a:schemeClr>
            </a:solidFill>
          </a:ln>
        </p:spPr>
        <p:txBody>
          <a:bodyPr wrap="square">
            <a:spAutoFit/>
          </a:bodyPr>
          <a:lstStyle/>
          <a:p>
            <a:r>
              <a:rPr lang="en-IN" sz="2400" dirty="0"/>
              <a:t>E.g. "Café 🚀":</a:t>
            </a:r>
          </a:p>
          <a:p>
            <a:r>
              <a:rPr lang="en-IN" sz="2400" dirty="0"/>
              <a:t>[Café] (Byte sequence 67 97 102 C3 A9 merged into one ID)</a:t>
            </a:r>
          </a:p>
          <a:p>
            <a:r>
              <a:rPr lang="en-IN" sz="2400" dirty="0"/>
              <a:t>[ 🚀] (Space + Emoji bytes merged into one ID)</a:t>
            </a:r>
          </a:p>
          <a:p>
            <a:r>
              <a:rPr lang="en-IN" sz="2400" dirty="0"/>
              <a:t>Total Tokens: 2</a:t>
            </a:r>
          </a:p>
        </p:txBody>
      </p:sp>
    </p:spTree>
    <p:extLst>
      <p:ext uri="{BB962C8B-B14F-4D97-AF65-F5344CB8AC3E}">
        <p14:creationId xmlns:p14="http://schemas.microsoft.com/office/powerpoint/2010/main" val="1159486532"/>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lang="en-US" dirty="0"/>
              <a:t>Byte level BPE example</a:t>
            </a:r>
            <a:endParaRPr lang="en-IN" dirty="0"/>
          </a:p>
        </p:txBody>
      </p:sp>
      <p:graphicFrame>
        <p:nvGraphicFramePr>
          <p:cNvPr id="3" name="Table 2"/>
          <p:cNvGraphicFramePr>
            <a:graphicFrameLocks noGrp="1"/>
          </p:cNvGraphicFramePr>
          <p:nvPr/>
        </p:nvGraphicFramePr>
        <p:xfrm>
          <a:off x="406400" y="1950640"/>
          <a:ext cx="11349782" cy="4479732"/>
        </p:xfrm>
        <a:graphic>
          <a:graphicData uri="http://schemas.openxmlformats.org/drawingml/2006/table">
            <a:tbl>
              <a:tblPr>
                <a:tableStyleId>{284E427A-3D55-4303-BF80-6455036E1DE7}</a:tableStyleId>
              </a:tblPr>
              <a:tblGrid>
                <a:gridCol w="1407762">
                  <a:extLst>
                    <a:ext uri="{9D8B030D-6E8A-4147-A177-3AD203B41FA5}">
                      <a16:colId xmlns:a16="http://schemas.microsoft.com/office/drawing/2014/main" val="20000"/>
                    </a:ext>
                  </a:extLst>
                </a:gridCol>
                <a:gridCol w="1995054">
                  <a:extLst>
                    <a:ext uri="{9D8B030D-6E8A-4147-A177-3AD203B41FA5}">
                      <a16:colId xmlns:a16="http://schemas.microsoft.com/office/drawing/2014/main" val="20001"/>
                    </a:ext>
                  </a:extLst>
                </a:gridCol>
                <a:gridCol w="1477679">
                  <a:extLst>
                    <a:ext uri="{9D8B030D-6E8A-4147-A177-3AD203B41FA5}">
                      <a16:colId xmlns:a16="http://schemas.microsoft.com/office/drawing/2014/main" val="20002"/>
                    </a:ext>
                  </a:extLst>
                </a:gridCol>
                <a:gridCol w="6469287">
                  <a:extLst>
                    <a:ext uri="{9D8B030D-6E8A-4147-A177-3AD203B41FA5}">
                      <a16:colId xmlns:a16="http://schemas.microsoft.com/office/drawing/2014/main" val="20003"/>
                    </a:ext>
                  </a:extLst>
                </a:gridCol>
              </a:tblGrid>
              <a:tr h="372412">
                <a:tc>
                  <a:txBody>
                    <a:bodyPr/>
                    <a:lstStyle/>
                    <a:p>
                      <a:pPr rtl="0"/>
                      <a:r>
                        <a:rPr lang="en-IN" sz="2000" dirty="0">
                          <a:effectLst/>
                          <a:latin typeface="Cambria" panose="02040503050406030204" pitchFamily="18" charset="0"/>
                          <a:ea typeface="Cambria" panose="02040503050406030204" pitchFamily="18" charset="0"/>
                        </a:rPr>
                        <a:t>Words</a:t>
                      </a:r>
                      <a:endParaRPr lang="en-IN" sz="2000" dirty="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dirty="0">
                          <a:effectLst/>
                          <a:latin typeface="Cambria" panose="02040503050406030204" pitchFamily="18" charset="0"/>
                          <a:ea typeface="Cambria" panose="02040503050406030204" pitchFamily="18" charset="0"/>
                        </a:rPr>
                        <a:t>Raw Bytes</a:t>
                      </a:r>
                      <a:endParaRPr lang="en-IN" sz="2000" dirty="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Token ID</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Explanation</a:t>
                      </a:r>
                      <a:endParaRPr lang="en-IN" sz="2000">
                        <a:solidFill>
                          <a:srgbClr val="1F1F1F"/>
                        </a:solidFill>
                        <a:effectLst/>
                        <a:latin typeface="Cambria" panose="02040503050406030204" pitchFamily="18" charset="0"/>
                        <a:ea typeface="Cambria" panose="02040503050406030204" pitchFamily="18" charset="0"/>
                      </a:endParaRPr>
                    </a:p>
                  </a:txBody>
                  <a:tcPr marL="58802" marR="58802" marT="98003" marB="98003" anchor="ctr"/>
                </a:tc>
                <a:extLst>
                  <a:ext uri="{0D108BD9-81ED-4DB2-BD59-A6C34878D82A}">
                    <a16:rowId xmlns:a16="http://schemas.microsoft.com/office/drawing/2014/main" val="10000"/>
                  </a:ext>
                </a:extLst>
              </a:tr>
              <a:tr h="725223">
                <a:tc>
                  <a:txBody>
                    <a:bodyPr/>
                    <a:lstStyle/>
                    <a:p>
                      <a:pPr rtl="0"/>
                      <a:r>
                        <a:rPr lang="en-IN" sz="2000" dirty="0">
                          <a:effectLst/>
                          <a:latin typeface="Cambria" panose="02040503050406030204" pitchFamily="18" charset="0"/>
                          <a:ea typeface="Cambria" panose="02040503050406030204" pitchFamily="18" charset="0"/>
                        </a:rPr>
                        <a:t>The</a:t>
                      </a:r>
                      <a:endParaRPr lang="en-IN" sz="2000" dirty="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dirty="0">
                          <a:effectLst/>
                          <a:latin typeface="Cambria" panose="02040503050406030204" pitchFamily="18" charset="0"/>
                          <a:ea typeface="Cambria" panose="02040503050406030204" pitchFamily="18" charset="0"/>
                        </a:rPr>
                        <a:t>54 68 65</a:t>
                      </a:r>
                      <a:endParaRPr lang="en-IN" sz="2000" dirty="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464</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US" sz="2000">
                          <a:effectLst/>
                          <a:latin typeface="Cambria" panose="02040503050406030204" pitchFamily="18" charset="0"/>
                          <a:ea typeface="Cambria" panose="02040503050406030204" pitchFamily="18" charset="0"/>
                        </a:rPr>
                        <a:t>A very common English word; merged into one token.</a:t>
                      </a:r>
                      <a:endParaRPr lang="en-US" sz="2000">
                        <a:solidFill>
                          <a:srgbClr val="1F1F1F"/>
                        </a:solidFill>
                        <a:effectLst/>
                        <a:latin typeface="Cambria" panose="02040503050406030204" pitchFamily="18" charset="0"/>
                        <a:ea typeface="Cambria" panose="02040503050406030204" pitchFamily="18" charset="0"/>
                      </a:endParaRPr>
                    </a:p>
                  </a:txBody>
                  <a:tcPr marL="58802" marR="58802" marT="98003" marB="98003" anchor="ctr"/>
                </a:tc>
                <a:extLst>
                  <a:ext uri="{0D108BD9-81ED-4DB2-BD59-A6C34878D82A}">
                    <a16:rowId xmlns:a16="http://schemas.microsoft.com/office/drawing/2014/main" val="10001"/>
                  </a:ext>
                </a:extLst>
              </a:tr>
              <a:tr h="725223">
                <a:tc>
                  <a:txBody>
                    <a:bodyPr/>
                    <a:lstStyle/>
                    <a:p>
                      <a:pPr rtl="0"/>
                      <a:r>
                        <a:rPr lang="en-IN" sz="2000">
                          <a:effectLst/>
                          <a:latin typeface="Cambria" panose="02040503050406030204" pitchFamily="18" charset="0"/>
                          <a:ea typeface="Cambria" panose="02040503050406030204" pitchFamily="18" charset="0"/>
                        </a:rPr>
                        <a:t>sun</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20 73 75 6e</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6035</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US" sz="2000">
                          <a:effectLst/>
                          <a:latin typeface="Cambria" panose="02040503050406030204" pitchFamily="18" charset="0"/>
                          <a:ea typeface="Cambria" panose="02040503050406030204" pitchFamily="18" charset="0"/>
                        </a:rPr>
                        <a:t>The space is "glued" to the word; merged into one token.</a:t>
                      </a:r>
                      <a:endParaRPr lang="en-US" sz="2000">
                        <a:solidFill>
                          <a:srgbClr val="1F1F1F"/>
                        </a:solidFill>
                        <a:effectLst/>
                        <a:latin typeface="Cambria" panose="02040503050406030204" pitchFamily="18" charset="0"/>
                        <a:ea typeface="Cambria" panose="02040503050406030204" pitchFamily="18" charset="0"/>
                      </a:endParaRPr>
                    </a:p>
                  </a:txBody>
                  <a:tcPr marL="58802" marR="58802" marT="98003" marB="98003" anchor="ctr"/>
                </a:tc>
                <a:extLst>
                  <a:ext uri="{0D108BD9-81ED-4DB2-BD59-A6C34878D82A}">
                    <a16:rowId xmlns:a16="http://schemas.microsoft.com/office/drawing/2014/main" val="10002"/>
                  </a:ext>
                </a:extLst>
              </a:tr>
              <a:tr h="725223">
                <a:tc>
                  <a:txBody>
                    <a:bodyPr/>
                    <a:lstStyle/>
                    <a:p>
                      <a:pPr rtl="0"/>
                      <a:r>
                        <a:rPr lang="en-IN" sz="2000">
                          <a:effectLst/>
                          <a:latin typeface="Cambria" panose="02040503050406030204" pitchFamily="18" charset="0"/>
                          <a:ea typeface="Cambria" panose="02040503050406030204" pitchFamily="18" charset="0"/>
                        </a:rPr>
                        <a:t>is</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20 69 73</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374</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US" sz="2000">
                          <a:effectLst/>
                          <a:latin typeface="Cambria" panose="02040503050406030204" pitchFamily="18" charset="0"/>
                          <a:ea typeface="Cambria" panose="02040503050406030204" pitchFamily="18" charset="0"/>
                        </a:rPr>
                        <a:t>Another common "space + word" merge.</a:t>
                      </a:r>
                      <a:endParaRPr lang="en-US" sz="2000">
                        <a:solidFill>
                          <a:srgbClr val="1F1F1F"/>
                        </a:solidFill>
                        <a:effectLst/>
                        <a:latin typeface="Cambria" panose="02040503050406030204" pitchFamily="18" charset="0"/>
                        <a:ea typeface="Cambria" panose="02040503050406030204" pitchFamily="18" charset="0"/>
                      </a:endParaRPr>
                    </a:p>
                  </a:txBody>
                  <a:tcPr marL="58802" marR="58802" marT="98003" marB="98003" anchor="ctr"/>
                </a:tc>
                <a:extLst>
                  <a:ext uri="{0D108BD9-81ED-4DB2-BD59-A6C34878D82A}">
                    <a16:rowId xmlns:a16="http://schemas.microsoft.com/office/drawing/2014/main" val="10003"/>
                  </a:ext>
                </a:extLst>
              </a:tr>
              <a:tr h="548817">
                <a:tc>
                  <a:txBody>
                    <a:bodyPr/>
                    <a:lstStyle/>
                    <a:p>
                      <a:pPr rtl="0"/>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20</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220</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US" sz="2000">
                          <a:effectLst/>
                          <a:latin typeface="Cambria" panose="02040503050406030204" pitchFamily="18" charset="0"/>
                          <a:ea typeface="Cambria" panose="02040503050406030204" pitchFamily="18" charset="0"/>
                        </a:rPr>
                        <a:t>A single space before the emoji.</a:t>
                      </a:r>
                      <a:endParaRPr lang="en-US" sz="2000">
                        <a:solidFill>
                          <a:srgbClr val="1F1F1F"/>
                        </a:solidFill>
                        <a:effectLst/>
                        <a:latin typeface="Cambria" panose="02040503050406030204" pitchFamily="18" charset="0"/>
                        <a:ea typeface="Cambria" panose="02040503050406030204" pitchFamily="18" charset="0"/>
                      </a:endParaRPr>
                    </a:p>
                  </a:txBody>
                  <a:tcPr marL="58802" marR="58802" marT="98003" marB="98003" anchor="ctr"/>
                </a:tc>
                <a:extLst>
                  <a:ext uri="{0D108BD9-81ED-4DB2-BD59-A6C34878D82A}">
                    <a16:rowId xmlns:a16="http://schemas.microsoft.com/office/drawing/2014/main" val="10004"/>
                  </a:ext>
                </a:extLst>
              </a:tr>
              <a:tr h="1254440">
                <a:tc>
                  <a:txBody>
                    <a:bodyPr/>
                    <a:lstStyle/>
                    <a:p>
                      <a:pPr rtl="0"/>
                      <a:r>
                        <a:rPr lang="en-IN" sz="2000">
                          <a:effectLst/>
                          <a:latin typeface="Cambria" panose="02040503050406030204" pitchFamily="18" charset="0"/>
                          <a:ea typeface="Cambria" panose="02040503050406030204" pitchFamily="18" charset="0"/>
                        </a:rPr>
                        <a:t>☀️</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E2 98 80 ...</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IN" sz="2000">
                          <a:effectLst/>
                          <a:latin typeface="Cambria" panose="02040503050406030204" pitchFamily="18" charset="0"/>
                          <a:ea typeface="Cambria" panose="02040503050406030204" pitchFamily="18" charset="0"/>
                        </a:rPr>
                        <a:t>99321</a:t>
                      </a:r>
                      <a:endParaRPr lang="en-IN" sz="2000">
                        <a:solidFill>
                          <a:srgbClr val="1F1F1F"/>
                        </a:solidFill>
                        <a:effectLst/>
                        <a:latin typeface="Cambria" panose="02040503050406030204" pitchFamily="18" charset="0"/>
                        <a:ea typeface="Cambria" panose="02040503050406030204" pitchFamily="18" charset="0"/>
                      </a:endParaRPr>
                    </a:p>
                  </a:txBody>
                  <a:tcPr marL="58802" marR="73502" marT="98003" marB="98003" anchor="ctr"/>
                </a:tc>
                <a:tc>
                  <a:txBody>
                    <a:bodyPr/>
                    <a:lstStyle/>
                    <a:p>
                      <a:pPr rtl="0"/>
                      <a:r>
                        <a:rPr lang="en-US" sz="2000" dirty="0">
                          <a:effectLst/>
                          <a:latin typeface="Cambria" panose="02040503050406030204" pitchFamily="18" charset="0"/>
                          <a:ea typeface="Cambria" panose="02040503050406030204" pitchFamily="18" charset="0"/>
                        </a:rPr>
                        <a:t>One Token! Because this is a common emoji, the model has merged all the underlying bytes into a single entry.</a:t>
                      </a:r>
                      <a:endParaRPr lang="en-US" sz="2000" dirty="0">
                        <a:solidFill>
                          <a:srgbClr val="1F1F1F"/>
                        </a:solidFill>
                        <a:effectLst/>
                        <a:latin typeface="Cambria" panose="02040503050406030204" pitchFamily="18" charset="0"/>
                        <a:ea typeface="Cambria" panose="02040503050406030204" pitchFamily="18" charset="0"/>
                      </a:endParaRPr>
                    </a:p>
                  </a:txBody>
                  <a:tcPr marL="58802" marR="58802" marT="98003" marB="98003" anchor="ctr"/>
                </a:tc>
                <a:extLst>
                  <a:ext uri="{0D108BD9-81ED-4DB2-BD59-A6C34878D82A}">
                    <a16:rowId xmlns:a16="http://schemas.microsoft.com/office/drawing/2014/main" val="10005"/>
                  </a:ext>
                </a:extLst>
              </a:tr>
            </a:tbl>
          </a:graphicData>
        </a:graphic>
      </p:graphicFrame>
      <p:sp>
        <p:nvSpPr>
          <p:cNvPr id="5" name="Rectangle 4"/>
          <p:cNvSpPr/>
          <p:nvPr/>
        </p:nvSpPr>
        <p:spPr>
          <a:xfrm>
            <a:off x="684457" y="1438354"/>
            <a:ext cx="3055837" cy="461665"/>
          </a:xfrm>
          <a:prstGeom prst="rect">
            <a:avLst/>
          </a:prstGeom>
        </p:spPr>
        <p:txBody>
          <a:bodyPr wrap="none">
            <a:spAutoFit/>
          </a:bodyPr>
          <a:lstStyle/>
          <a:p>
            <a:r>
              <a:rPr lang="en-IN" sz="2400" dirty="0"/>
              <a:t>Sentence: The sun is ☀️</a:t>
            </a:r>
          </a:p>
        </p:txBody>
      </p:sp>
    </p:spTree>
    <p:extLst>
      <p:ext uri="{BB962C8B-B14F-4D97-AF65-F5344CB8AC3E}">
        <p14:creationId xmlns:p14="http://schemas.microsoft.com/office/powerpoint/2010/main" val="4095028722"/>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358775"/>
            <a:ext cx="8091488" cy="665163"/>
          </a:xfrm>
          <a:prstGeom prst="rect">
            <a:avLst/>
          </a:prstGeom>
        </p:spPr>
        <p:txBody>
          <a:bodyPr vert="horz" wrap="square" lIns="0" tIns="12700" rIns="0" bIns="0" rtlCol="0">
            <a:spAutoFit/>
          </a:bodyPr>
          <a:lstStyle/>
          <a:p>
            <a:pPr marL="12700">
              <a:lnSpc>
                <a:spcPct val="100000"/>
              </a:lnSpc>
              <a:spcBef>
                <a:spcPts val="100"/>
              </a:spcBef>
              <a:tabLst>
                <a:tab pos="3747135" algn="l"/>
              </a:tabLst>
            </a:pPr>
            <a:r>
              <a:rPr sz="4200" spc="-10" dirty="0" err="1"/>
              <a:t>Wordpiece</a:t>
            </a:r>
            <a:endParaRPr sz="4200" dirty="0"/>
          </a:p>
        </p:txBody>
      </p:sp>
      <p:sp>
        <p:nvSpPr>
          <p:cNvPr id="6" name="object 6"/>
          <p:cNvSpPr txBox="1">
            <a:spLocks noGrp="1"/>
          </p:cNvSpPr>
          <p:nvPr>
            <p:ph type="ftr" sz="quarter" idx="4294967295"/>
          </p:nvPr>
        </p:nvSpPr>
        <p:spPr>
          <a:xfrm>
            <a:off x="9915525" y="6640513"/>
            <a:ext cx="2276475" cy="180975"/>
          </a:xfrm>
          <a:prstGeom prst="rect">
            <a:avLst/>
          </a:prstGeom>
        </p:spPr>
        <p:txBody>
          <a:bodyPr vert="horz" wrap="square" lIns="0" tIns="0" rIns="0" bIns="0" rtlCol="0">
            <a:spAutoFit/>
          </a:bodyPr>
          <a:lstStyle/>
          <a:p>
            <a:pPr marL="12700">
              <a:lnSpc>
                <a:spcPts val="1714"/>
              </a:lnSpc>
            </a:pPr>
            <a:r>
              <a:rPr b="1" dirty="0">
                <a:latin typeface="Arial"/>
                <a:cs typeface="Arial"/>
              </a:rPr>
              <a:t>BITS</a:t>
            </a:r>
            <a:r>
              <a:rPr b="1" spc="25" dirty="0">
                <a:latin typeface="Arial"/>
                <a:cs typeface="Arial"/>
              </a:rPr>
              <a:t> </a:t>
            </a:r>
            <a:r>
              <a:rPr dirty="0"/>
              <a:t>Pilani,</a:t>
            </a:r>
            <a:r>
              <a:rPr spc="-5" dirty="0"/>
              <a:t> </a:t>
            </a:r>
            <a:r>
              <a:rPr dirty="0"/>
              <a:t>Pilani</a:t>
            </a:r>
            <a:r>
              <a:rPr spc="-10" dirty="0"/>
              <a:t> Campus</a:t>
            </a:r>
          </a:p>
        </p:txBody>
      </p:sp>
      <p:sp>
        <p:nvSpPr>
          <p:cNvPr id="3" name="object 3"/>
          <p:cNvSpPr txBox="1"/>
          <p:nvPr/>
        </p:nvSpPr>
        <p:spPr>
          <a:xfrm>
            <a:off x="223824" y="1386967"/>
            <a:ext cx="11689715" cy="5114290"/>
          </a:xfrm>
          <a:prstGeom prst="rect">
            <a:avLst/>
          </a:prstGeom>
        </p:spPr>
        <p:txBody>
          <a:bodyPr vert="horz" wrap="square" lIns="0" tIns="12700" rIns="0" bIns="0" rtlCol="0">
            <a:spAutoFit/>
          </a:bodyPr>
          <a:lstStyle/>
          <a:p>
            <a:pPr marL="12700" marR="8890">
              <a:lnSpc>
                <a:spcPct val="150000"/>
              </a:lnSpc>
              <a:spcBef>
                <a:spcPts val="100"/>
              </a:spcBef>
            </a:pPr>
            <a:r>
              <a:rPr sz="1800" dirty="0">
                <a:solidFill>
                  <a:srgbClr val="232323"/>
                </a:solidFill>
                <a:latin typeface="Segoe UI"/>
                <a:cs typeface="Segoe UI"/>
              </a:rPr>
              <a:t>WordPiece</a:t>
            </a:r>
            <a:r>
              <a:rPr sz="1800" spc="220" dirty="0">
                <a:solidFill>
                  <a:srgbClr val="232323"/>
                </a:solidFill>
                <a:latin typeface="Segoe UI"/>
                <a:cs typeface="Segoe UI"/>
              </a:rPr>
              <a:t> </a:t>
            </a:r>
            <a:r>
              <a:rPr sz="1800" dirty="0">
                <a:solidFill>
                  <a:srgbClr val="232323"/>
                </a:solidFill>
                <a:latin typeface="Segoe UI"/>
                <a:cs typeface="Segoe UI"/>
              </a:rPr>
              <a:t>Tokenization</a:t>
            </a:r>
            <a:r>
              <a:rPr sz="1800" spc="235" dirty="0">
                <a:solidFill>
                  <a:srgbClr val="232323"/>
                </a:solidFill>
                <a:latin typeface="Segoe UI"/>
                <a:cs typeface="Segoe UI"/>
              </a:rPr>
              <a:t> </a:t>
            </a:r>
            <a:r>
              <a:rPr sz="1800" dirty="0">
                <a:solidFill>
                  <a:srgbClr val="232323"/>
                </a:solidFill>
                <a:latin typeface="Segoe UI"/>
                <a:cs typeface="Segoe UI"/>
              </a:rPr>
              <a:t>is</a:t>
            </a:r>
            <a:r>
              <a:rPr sz="1800" spc="229" dirty="0">
                <a:solidFill>
                  <a:srgbClr val="232323"/>
                </a:solidFill>
                <a:latin typeface="Segoe UI"/>
                <a:cs typeface="Segoe UI"/>
              </a:rPr>
              <a:t> </a:t>
            </a:r>
            <a:r>
              <a:rPr sz="1800" dirty="0">
                <a:solidFill>
                  <a:srgbClr val="232323"/>
                </a:solidFill>
                <a:latin typeface="Segoe UI"/>
                <a:cs typeface="Segoe UI"/>
              </a:rPr>
              <a:t>a</a:t>
            </a:r>
            <a:r>
              <a:rPr sz="1800" spc="210" dirty="0">
                <a:solidFill>
                  <a:srgbClr val="232323"/>
                </a:solidFill>
                <a:latin typeface="Segoe UI"/>
                <a:cs typeface="Segoe UI"/>
              </a:rPr>
              <a:t> </a:t>
            </a:r>
            <a:r>
              <a:rPr sz="1800" dirty="0">
                <a:solidFill>
                  <a:srgbClr val="232323"/>
                </a:solidFill>
                <a:latin typeface="Segoe UI"/>
                <a:cs typeface="Segoe UI"/>
              </a:rPr>
              <a:t>method</a:t>
            </a:r>
            <a:r>
              <a:rPr sz="1800" spc="220" dirty="0">
                <a:solidFill>
                  <a:srgbClr val="232323"/>
                </a:solidFill>
                <a:latin typeface="Segoe UI"/>
                <a:cs typeface="Segoe UI"/>
              </a:rPr>
              <a:t> </a:t>
            </a:r>
            <a:r>
              <a:rPr sz="1800" dirty="0">
                <a:solidFill>
                  <a:srgbClr val="232323"/>
                </a:solidFill>
                <a:latin typeface="Segoe UI"/>
                <a:cs typeface="Segoe UI"/>
              </a:rPr>
              <a:t>used</a:t>
            </a:r>
            <a:r>
              <a:rPr sz="1800" spc="225" dirty="0">
                <a:solidFill>
                  <a:srgbClr val="232323"/>
                </a:solidFill>
                <a:latin typeface="Segoe UI"/>
                <a:cs typeface="Segoe UI"/>
              </a:rPr>
              <a:t> </a:t>
            </a:r>
            <a:r>
              <a:rPr sz="1800" dirty="0">
                <a:solidFill>
                  <a:srgbClr val="232323"/>
                </a:solidFill>
                <a:latin typeface="Segoe UI"/>
                <a:cs typeface="Segoe UI"/>
              </a:rPr>
              <a:t>to</a:t>
            </a:r>
            <a:r>
              <a:rPr sz="1800" spc="225" dirty="0">
                <a:solidFill>
                  <a:srgbClr val="232323"/>
                </a:solidFill>
                <a:latin typeface="Segoe UI"/>
                <a:cs typeface="Segoe UI"/>
              </a:rPr>
              <a:t> </a:t>
            </a:r>
            <a:r>
              <a:rPr sz="1800" dirty="0">
                <a:solidFill>
                  <a:srgbClr val="232323"/>
                </a:solidFill>
                <a:latin typeface="Segoe UI"/>
                <a:cs typeface="Segoe UI"/>
              </a:rPr>
              <a:t>split</a:t>
            </a:r>
            <a:r>
              <a:rPr sz="1800" spc="225" dirty="0">
                <a:solidFill>
                  <a:srgbClr val="232323"/>
                </a:solidFill>
                <a:latin typeface="Segoe UI"/>
                <a:cs typeface="Segoe UI"/>
              </a:rPr>
              <a:t> </a:t>
            </a:r>
            <a:r>
              <a:rPr sz="1800" dirty="0">
                <a:solidFill>
                  <a:srgbClr val="232323"/>
                </a:solidFill>
                <a:latin typeface="Segoe UI"/>
                <a:cs typeface="Segoe UI"/>
              </a:rPr>
              <a:t>text</a:t>
            </a:r>
            <a:r>
              <a:rPr sz="1800" spc="220" dirty="0">
                <a:solidFill>
                  <a:srgbClr val="232323"/>
                </a:solidFill>
                <a:latin typeface="Segoe UI"/>
                <a:cs typeface="Segoe UI"/>
              </a:rPr>
              <a:t> </a:t>
            </a:r>
            <a:r>
              <a:rPr sz="1800" dirty="0">
                <a:solidFill>
                  <a:srgbClr val="232323"/>
                </a:solidFill>
                <a:latin typeface="Segoe UI"/>
                <a:cs typeface="Segoe UI"/>
              </a:rPr>
              <a:t>into</a:t>
            </a:r>
            <a:r>
              <a:rPr sz="1800" spc="229" dirty="0">
                <a:solidFill>
                  <a:srgbClr val="232323"/>
                </a:solidFill>
                <a:latin typeface="Segoe UI"/>
                <a:cs typeface="Segoe UI"/>
              </a:rPr>
              <a:t> </a:t>
            </a:r>
            <a:r>
              <a:rPr sz="1800" dirty="0">
                <a:solidFill>
                  <a:srgbClr val="232323"/>
                </a:solidFill>
                <a:latin typeface="Segoe UI"/>
                <a:cs typeface="Segoe UI"/>
              </a:rPr>
              <a:t>smaller</a:t>
            </a:r>
            <a:r>
              <a:rPr sz="1800" spc="220" dirty="0">
                <a:solidFill>
                  <a:srgbClr val="232323"/>
                </a:solidFill>
                <a:latin typeface="Segoe UI"/>
                <a:cs typeface="Segoe UI"/>
              </a:rPr>
              <a:t> </a:t>
            </a:r>
            <a:r>
              <a:rPr sz="1800" dirty="0">
                <a:solidFill>
                  <a:srgbClr val="232323"/>
                </a:solidFill>
                <a:latin typeface="Segoe UI"/>
                <a:cs typeface="Segoe UI"/>
              </a:rPr>
              <a:t>subword</a:t>
            </a:r>
            <a:r>
              <a:rPr sz="1800" spc="225" dirty="0">
                <a:solidFill>
                  <a:srgbClr val="232323"/>
                </a:solidFill>
                <a:latin typeface="Segoe UI"/>
                <a:cs typeface="Segoe UI"/>
              </a:rPr>
              <a:t> </a:t>
            </a:r>
            <a:r>
              <a:rPr sz="1800" dirty="0">
                <a:solidFill>
                  <a:srgbClr val="232323"/>
                </a:solidFill>
                <a:latin typeface="Segoe UI"/>
                <a:cs typeface="Segoe UI"/>
              </a:rPr>
              <a:t>units,</a:t>
            </a:r>
            <a:r>
              <a:rPr sz="1800" spc="229" dirty="0">
                <a:solidFill>
                  <a:srgbClr val="232323"/>
                </a:solidFill>
                <a:latin typeface="Segoe UI"/>
                <a:cs typeface="Segoe UI"/>
              </a:rPr>
              <a:t> </a:t>
            </a:r>
            <a:r>
              <a:rPr sz="1800" dirty="0">
                <a:solidFill>
                  <a:srgbClr val="232323"/>
                </a:solidFill>
                <a:latin typeface="Segoe UI"/>
                <a:cs typeface="Segoe UI"/>
              </a:rPr>
              <a:t>which</a:t>
            </a:r>
            <a:r>
              <a:rPr sz="1800" spc="229" dirty="0">
                <a:solidFill>
                  <a:srgbClr val="232323"/>
                </a:solidFill>
                <a:latin typeface="Segoe UI"/>
                <a:cs typeface="Segoe UI"/>
              </a:rPr>
              <a:t> </a:t>
            </a:r>
            <a:r>
              <a:rPr sz="1800" dirty="0">
                <a:solidFill>
                  <a:srgbClr val="232323"/>
                </a:solidFill>
                <a:latin typeface="Segoe UI"/>
                <a:cs typeface="Segoe UI"/>
              </a:rPr>
              <a:t>helps</a:t>
            </a:r>
            <a:r>
              <a:rPr sz="1800" spc="225" dirty="0">
                <a:solidFill>
                  <a:srgbClr val="232323"/>
                </a:solidFill>
                <a:latin typeface="Segoe UI"/>
                <a:cs typeface="Segoe UI"/>
              </a:rPr>
              <a:t> </a:t>
            </a:r>
            <a:r>
              <a:rPr sz="1800" dirty="0">
                <a:solidFill>
                  <a:srgbClr val="232323"/>
                </a:solidFill>
                <a:latin typeface="Segoe UI"/>
                <a:cs typeface="Segoe UI"/>
              </a:rPr>
              <a:t>in</a:t>
            </a:r>
            <a:r>
              <a:rPr sz="1800" spc="229" dirty="0">
                <a:solidFill>
                  <a:srgbClr val="232323"/>
                </a:solidFill>
                <a:latin typeface="Segoe UI"/>
                <a:cs typeface="Segoe UI"/>
              </a:rPr>
              <a:t> </a:t>
            </a:r>
            <a:r>
              <a:rPr sz="1800" dirty="0">
                <a:solidFill>
                  <a:srgbClr val="232323"/>
                </a:solidFill>
                <a:latin typeface="Segoe UI"/>
                <a:cs typeface="Segoe UI"/>
              </a:rPr>
              <a:t>handling</a:t>
            </a:r>
            <a:r>
              <a:rPr sz="1800" spc="220" dirty="0">
                <a:solidFill>
                  <a:srgbClr val="232323"/>
                </a:solidFill>
                <a:latin typeface="Segoe UI"/>
                <a:cs typeface="Segoe UI"/>
              </a:rPr>
              <a:t> </a:t>
            </a:r>
            <a:r>
              <a:rPr sz="1800" spc="-20" dirty="0">
                <a:solidFill>
                  <a:srgbClr val="232323"/>
                </a:solidFill>
                <a:latin typeface="Segoe UI"/>
                <a:cs typeface="Segoe UI"/>
              </a:rPr>
              <a:t>rare </a:t>
            </a:r>
            <a:r>
              <a:rPr sz="1800" dirty="0">
                <a:solidFill>
                  <a:srgbClr val="232323"/>
                </a:solidFill>
                <a:latin typeface="Segoe UI"/>
                <a:cs typeface="Segoe UI"/>
              </a:rPr>
              <a:t>words</a:t>
            </a:r>
            <a:r>
              <a:rPr sz="1800" spc="-35" dirty="0">
                <a:solidFill>
                  <a:srgbClr val="232323"/>
                </a:solidFill>
                <a:latin typeface="Segoe UI"/>
                <a:cs typeface="Segoe UI"/>
              </a:rPr>
              <a:t> </a:t>
            </a:r>
            <a:r>
              <a:rPr sz="1800" dirty="0">
                <a:solidFill>
                  <a:srgbClr val="232323"/>
                </a:solidFill>
                <a:latin typeface="Segoe UI"/>
                <a:cs typeface="Segoe UI"/>
              </a:rPr>
              <a:t>and</a:t>
            </a:r>
            <a:r>
              <a:rPr sz="1800" spc="-55" dirty="0">
                <a:solidFill>
                  <a:srgbClr val="232323"/>
                </a:solidFill>
                <a:latin typeface="Segoe UI"/>
                <a:cs typeface="Segoe UI"/>
              </a:rPr>
              <a:t> </a:t>
            </a:r>
            <a:r>
              <a:rPr sz="1800" dirty="0">
                <a:solidFill>
                  <a:srgbClr val="232323"/>
                </a:solidFill>
                <a:latin typeface="Segoe UI"/>
                <a:cs typeface="Segoe UI"/>
              </a:rPr>
              <a:t>improving</a:t>
            </a:r>
            <a:r>
              <a:rPr sz="1800" spc="-25" dirty="0">
                <a:solidFill>
                  <a:srgbClr val="232323"/>
                </a:solidFill>
                <a:latin typeface="Segoe UI"/>
                <a:cs typeface="Segoe UI"/>
              </a:rPr>
              <a:t> </a:t>
            </a:r>
            <a:r>
              <a:rPr sz="1800" dirty="0">
                <a:solidFill>
                  <a:srgbClr val="232323"/>
                </a:solidFill>
                <a:latin typeface="Segoe UI"/>
                <a:cs typeface="Segoe UI"/>
              </a:rPr>
              <a:t>the</a:t>
            </a:r>
            <a:r>
              <a:rPr sz="1800" spc="-50" dirty="0">
                <a:solidFill>
                  <a:srgbClr val="232323"/>
                </a:solidFill>
                <a:latin typeface="Segoe UI"/>
                <a:cs typeface="Segoe UI"/>
              </a:rPr>
              <a:t> </a:t>
            </a:r>
            <a:r>
              <a:rPr sz="1800" dirty="0">
                <a:solidFill>
                  <a:srgbClr val="232323"/>
                </a:solidFill>
                <a:latin typeface="Segoe UI"/>
                <a:cs typeface="Segoe UI"/>
              </a:rPr>
              <a:t>efficiency</a:t>
            </a:r>
            <a:r>
              <a:rPr sz="1800" spc="-25" dirty="0">
                <a:solidFill>
                  <a:srgbClr val="232323"/>
                </a:solidFill>
                <a:latin typeface="Segoe UI"/>
                <a:cs typeface="Segoe UI"/>
              </a:rPr>
              <a:t> </a:t>
            </a:r>
            <a:r>
              <a:rPr sz="1800" dirty="0">
                <a:solidFill>
                  <a:srgbClr val="232323"/>
                </a:solidFill>
                <a:latin typeface="Segoe UI"/>
                <a:cs typeface="Segoe UI"/>
              </a:rPr>
              <a:t>of</a:t>
            </a:r>
            <a:r>
              <a:rPr sz="1800" spc="-50" dirty="0">
                <a:solidFill>
                  <a:srgbClr val="232323"/>
                </a:solidFill>
                <a:latin typeface="Segoe UI"/>
                <a:cs typeface="Segoe UI"/>
              </a:rPr>
              <a:t> </a:t>
            </a:r>
            <a:r>
              <a:rPr sz="1800" dirty="0">
                <a:solidFill>
                  <a:srgbClr val="232323"/>
                </a:solidFill>
                <a:latin typeface="Segoe UI"/>
                <a:cs typeface="Segoe UI"/>
              </a:rPr>
              <a:t>language</a:t>
            </a:r>
            <a:r>
              <a:rPr sz="1800" spc="-35" dirty="0">
                <a:solidFill>
                  <a:srgbClr val="232323"/>
                </a:solidFill>
                <a:latin typeface="Segoe UI"/>
                <a:cs typeface="Segoe UI"/>
              </a:rPr>
              <a:t> </a:t>
            </a:r>
            <a:r>
              <a:rPr sz="1800" spc="-10" dirty="0">
                <a:solidFill>
                  <a:srgbClr val="232323"/>
                </a:solidFill>
                <a:latin typeface="Segoe UI"/>
                <a:cs typeface="Segoe UI"/>
              </a:rPr>
              <a:t>models.</a:t>
            </a:r>
            <a:endParaRPr sz="1800" dirty="0">
              <a:latin typeface="Segoe UI"/>
              <a:cs typeface="Segoe UI"/>
            </a:endParaRPr>
          </a:p>
          <a:p>
            <a:pPr>
              <a:lnSpc>
                <a:spcPct val="100000"/>
              </a:lnSpc>
              <a:spcBef>
                <a:spcPts val="1205"/>
              </a:spcBef>
            </a:pPr>
            <a:endParaRPr sz="1800" dirty="0">
              <a:latin typeface="Segoe UI"/>
              <a:cs typeface="Segoe UI"/>
            </a:endParaRPr>
          </a:p>
          <a:p>
            <a:pPr marL="12700">
              <a:lnSpc>
                <a:spcPct val="100000"/>
              </a:lnSpc>
            </a:pPr>
            <a:r>
              <a:rPr sz="1800" b="1" dirty="0">
                <a:solidFill>
                  <a:srgbClr val="232323"/>
                </a:solidFill>
                <a:latin typeface="Segoe UI"/>
                <a:cs typeface="Segoe UI"/>
              </a:rPr>
              <a:t>How</a:t>
            </a:r>
            <a:r>
              <a:rPr sz="1800" b="1" spc="-30" dirty="0">
                <a:solidFill>
                  <a:srgbClr val="232323"/>
                </a:solidFill>
                <a:latin typeface="Segoe UI"/>
                <a:cs typeface="Segoe UI"/>
              </a:rPr>
              <a:t> </a:t>
            </a:r>
            <a:r>
              <a:rPr sz="1800" b="1" dirty="0">
                <a:solidFill>
                  <a:srgbClr val="232323"/>
                </a:solidFill>
                <a:latin typeface="Segoe UI"/>
                <a:cs typeface="Segoe UI"/>
              </a:rPr>
              <a:t>WordPiece</a:t>
            </a:r>
            <a:r>
              <a:rPr sz="1800" b="1" spc="-45" dirty="0">
                <a:solidFill>
                  <a:srgbClr val="232323"/>
                </a:solidFill>
                <a:latin typeface="Segoe UI"/>
                <a:cs typeface="Segoe UI"/>
              </a:rPr>
              <a:t> </a:t>
            </a:r>
            <a:r>
              <a:rPr sz="1800" b="1" spc="-10" dirty="0">
                <a:solidFill>
                  <a:srgbClr val="232323"/>
                </a:solidFill>
                <a:latin typeface="Segoe UI"/>
                <a:cs typeface="Segoe UI"/>
              </a:rPr>
              <a:t>Works:</a:t>
            </a:r>
            <a:endParaRPr sz="1800" dirty="0">
              <a:latin typeface="Segoe UI"/>
              <a:cs typeface="Segoe UI"/>
            </a:endParaRPr>
          </a:p>
          <a:p>
            <a:pPr marL="299085" indent="-286385">
              <a:lnSpc>
                <a:spcPct val="100000"/>
              </a:lnSpc>
              <a:spcBef>
                <a:spcPts val="1080"/>
              </a:spcBef>
              <a:buClr>
                <a:srgbClr val="000000"/>
              </a:buClr>
              <a:buFont typeface="Arial MT"/>
              <a:buChar char="•"/>
              <a:tabLst>
                <a:tab pos="299085" algn="l"/>
              </a:tabLst>
            </a:pPr>
            <a:r>
              <a:rPr sz="1800" dirty="0">
                <a:solidFill>
                  <a:srgbClr val="232323"/>
                </a:solidFill>
                <a:latin typeface="Segoe UI"/>
                <a:cs typeface="Segoe UI"/>
              </a:rPr>
              <a:t>Start</a:t>
            </a:r>
            <a:r>
              <a:rPr sz="1800" spc="-30" dirty="0">
                <a:solidFill>
                  <a:srgbClr val="232323"/>
                </a:solidFill>
                <a:latin typeface="Segoe UI"/>
                <a:cs typeface="Segoe UI"/>
              </a:rPr>
              <a:t> </a:t>
            </a:r>
            <a:r>
              <a:rPr sz="1800" dirty="0">
                <a:solidFill>
                  <a:srgbClr val="232323"/>
                </a:solidFill>
                <a:latin typeface="Segoe UI"/>
                <a:cs typeface="Segoe UI"/>
              </a:rPr>
              <a:t>with</a:t>
            </a:r>
            <a:r>
              <a:rPr sz="1800" spc="-30" dirty="0">
                <a:solidFill>
                  <a:srgbClr val="232323"/>
                </a:solidFill>
                <a:latin typeface="Segoe UI"/>
                <a:cs typeface="Segoe UI"/>
              </a:rPr>
              <a:t> </a:t>
            </a:r>
            <a:r>
              <a:rPr sz="1800" dirty="0">
                <a:solidFill>
                  <a:srgbClr val="232323"/>
                </a:solidFill>
                <a:latin typeface="Segoe UI"/>
                <a:cs typeface="Segoe UI"/>
              </a:rPr>
              <a:t>a</a:t>
            </a:r>
            <a:r>
              <a:rPr sz="1800" spc="-40" dirty="0">
                <a:solidFill>
                  <a:srgbClr val="232323"/>
                </a:solidFill>
                <a:latin typeface="Segoe UI"/>
                <a:cs typeface="Segoe UI"/>
              </a:rPr>
              <a:t> </a:t>
            </a:r>
            <a:r>
              <a:rPr sz="1800" dirty="0">
                <a:solidFill>
                  <a:srgbClr val="232323"/>
                </a:solidFill>
                <a:latin typeface="Segoe UI"/>
                <a:cs typeface="Segoe UI"/>
              </a:rPr>
              <a:t>Base</a:t>
            </a:r>
            <a:r>
              <a:rPr sz="1800" spc="-50" dirty="0">
                <a:solidFill>
                  <a:srgbClr val="232323"/>
                </a:solidFill>
                <a:latin typeface="Segoe UI"/>
                <a:cs typeface="Segoe UI"/>
              </a:rPr>
              <a:t> </a:t>
            </a:r>
            <a:r>
              <a:rPr sz="1800" dirty="0">
                <a:solidFill>
                  <a:srgbClr val="232323"/>
                </a:solidFill>
                <a:latin typeface="Segoe UI"/>
                <a:cs typeface="Segoe UI"/>
              </a:rPr>
              <a:t>Vocabulary:</a:t>
            </a:r>
            <a:r>
              <a:rPr sz="1800" spc="-30" dirty="0">
                <a:solidFill>
                  <a:srgbClr val="232323"/>
                </a:solidFill>
                <a:latin typeface="Segoe UI"/>
                <a:cs typeface="Segoe UI"/>
              </a:rPr>
              <a:t> </a:t>
            </a:r>
            <a:r>
              <a:rPr sz="1800" dirty="0">
                <a:solidFill>
                  <a:srgbClr val="232323"/>
                </a:solidFill>
                <a:latin typeface="Segoe UI"/>
                <a:cs typeface="Segoe UI"/>
              </a:rPr>
              <a:t>Begin</a:t>
            </a:r>
            <a:r>
              <a:rPr sz="1800" spc="-35" dirty="0">
                <a:solidFill>
                  <a:srgbClr val="232323"/>
                </a:solidFill>
                <a:latin typeface="Segoe UI"/>
                <a:cs typeface="Segoe UI"/>
              </a:rPr>
              <a:t> </a:t>
            </a:r>
            <a:r>
              <a:rPr sz="1800" dirty="0">
                <a:solidFill>
                  <a:srgbClr val="232323"/>
                </a:solidFill>
                <a:latin typeface="Segoe UI"/>
                <a:cs typeface="Segoe UI"/>
              </a:rPr>
              <a:t>with</a:t>
            </a:r>
            <a:r>
              <a:rPr sz="1800" spc="-35" dirty="0">
                <a:solidFill>
                  <a:srgbClr val="232323"/>
                </a:solidFill>
                <a:latin typeface="Segoe UI"/>
                <a:cs typeface="Segoe UI"/>
              </a:rPr>
              <a:t> </a:t>
            </a:r>
            <a:r>
              <a:rPr sz="1800" dirty="0">
                <a:solidFill>
                  <a:srgbClr val="232323"/>
                </a:solidFill>
                <a:latin typeface="Segoe UI"/>
                <a:cs typeface="Segoe UI"/>
              </a:rPr>
              <a:t>a</a:t>
            </a:r>
            <a:r>
              <a:rPr sz="1800" spc="-35" dirty="0">
                <a:solidFill>
                  <a:srgbClr val="232323"/>
                </a:solidFill>
                <a:latin typeface="Segoe UI"/>
                <a:cs typeface="Segoe UI"/>
              </a:rPr>
              <a:t> </a:t>
            </a:r>
            <a:r>
              <a:rPr sz="1800" dirty="0">
                <a:solidFill>
                  <a:srgbClr val="232323"/>
                </a:solidFill>
                <a:latin typeface="Segoe UI"/>
                <a:cs typeface="Segoe UI"/>
              </a:rPr>
              <a:t>small</a:t>
            </a:r>
            <a:r>
              <a:rPr sz="1800" spc="-40" dirty="0">
                <a:solidFill>
                  <a:srgbClr val="232323"/>
                </a:solidFill>
                <a:latin typeface="Segoe UI"/>
                <a:cs typeface="Segoe UI"/>
              </a:rPr>
              <a:t> </a:t>
            </a:r>
            <a:r>
              <a:rPr sz="1800" dirty="0">
                <a:solidFill>
                  <a:srgbClr val="232323"/>
                </a:solidFill>
                <a:latin typeface="Segoe UI"/>
                <a:cs typeface="Segoe UI"/>
              </a:rPr>
              <a:t>vocabulary</a:t>
            </a:r>
            <a:r>
              <a:rPr sz="1800" spc="-35" dirty="0">
                <a:solidFill>
                  <a:srgbClr val="232323"/>
                </a:solidFill>
                <a:latin typeface="Segoe UI"/>
                <a:cs typeface="Segoe UI"/>
              </a:rPr>
              <a:t> </a:t>
            </a:r>
            <a:r>
              <a:rPr sz="1800" dirty="0">
                <a:solidFill>
                  <a:srgbClr val="232323"/>
                </a:solidFill>
                <a:latin typeface="Segoe UI"/>
                <a:cs typeface="Segoe UI"/>
              </a:rPr>
              <a:t>that</a:t>
            </a:r>
            <a:r>
              <a:rPr sz="1800" spc="-45" dirty="0">
                <a:solidFill>
                  <a:srgbClr val="232323"/>
                </a:solidFill>
                <a:latin typeface="Segoe UI"/>
                <a:cs typeface="Segoe UI"/>
              </a:rPr>
              <a:t> </a:t>
            </a:r>
            <a:r>
              <a:rPr sz="1800" dirty="0">
                <a:solidFill>
                  <a:srgbClr val="232323"/>
                </a:solidFill>
                <a:latin typeface="Segoe UI"/>
                <a:cs typeface="Segoe UI"/>
              </a:rPr>
              <a:t>includes</a:t>
            </a:r>
            <a:r>
              <a:rPr sz="1800" spc="-15" dirty="0">
                <a:solidFill>
                  <a:srgbClr val="232323"/>
                </a:solidFill>
                <a:latin typeface="Segoe UI"/>
                <a:cs typeface="Segoe UI"/>
              </a:rPr>
              <a:t> </a:t>
            </a:r>
            <a:r>
              <a:rPr sz="1800" dirty="0">
                <a:solidFill>
                  <a:srgbClr val="232323"/>
                </a:solidFill>
                <a:latin typeface="Segoe UI"/>
                <a:cs typeface="Segoe UI"/>
              </a:rPr>
              <a:t>individual</a:t>
            </a:r>
            <a:r>
              <a:rPr sz="1800" spc="-30" dirty="0">
                <a:solidFill>
                  <a:srgbClr val="232323"/>
                </a:solidFill>
                <a:latin typeface="Segoe UI"/>
                <a:cs typeface="Segoe UI"/>
              </a:rPr>
              <a:t> </a:t>
            </a:r>
            <a:r>
              <a:rPr sz="1800" dirty="0">
                <a:solidFill>
                  <a:srgbClr val="232323"/>
                </a:solidFill>
                <a:latin typeface="Segoe UI"/>
                <a:cs typeface="Segoe UI"/>
              </a:rPr>
              <a:t>characters</a:t>
            </a:r>
            <a:r>
              <a:rPr sz="1800" spc="-15" dirty="0">
                <a:solidFill>
                  <a:srgbClr val="232323"/>
                </a:solidFill>
                <a:latin typeface="Segoe UI"/>
                <a:cs typeface="Segoe UI"/>
              </a:rPr>
              <a:t> </a:t>
            </a:r>
            <a:r>
              <a:rPr sz="1800" dirty="0">
                <a:solidFill>
                  <a:srgbClr val="232323"/>
                </a:solidFill>
                <a:latin typeface="Segoe UI"/>
                <a:cs typeface="Segoe UI"/>
              </a:rPr>
              <a:t>and</a:t>
            </a:r>
            <a:r>
              <a:rPr sz="1800" spc="-55" dirty="0">
                <a:solidFill>
                  <a:srgbClr val="232323"/>
                </a:solidFill>
                <a:latin typeface="Segoe UI"/>
                <a:cs typeface="Segoe UI"/>
              </a:rPr>
              <a:t> </a:t>
            </a:r>
            <a:r>
              <a:rPr sz="1800" dirty="0">
                <a:solidFill>
                  <a:srgbClr val="232323"/>
                </a:solidFill>
                <a:latin typeface="Segoe UI"/>
                <a:cs typeface="Segoe UI"/>
              </a:rPr>
              <a:t>special</a:t>
            </a:r>
            <a:r>
              <a:rPr sz="1800" spc="-15" dirty="0">
                <a:solidFill>
                  <a:srgbClr val="232323"/>
                </a:solidFill>
                <a:latin typeface="Segoe UI"/>
                <a:cs typeface="Segoe UI"/>
              </a:rPr>
              <a:t> </a:t>
            </a:r>
            <a:r>
              <a:rPr sz="1800" spc="-10" dirty="0">
                <a:solidFill>
                  <a:srgbClr val="232323"/>
                </a:solidFill>
                <a:latin typeface="Segoe UI"/>
                <a:cs typeface="Segoe UI"/>
              </a:rPr>
              <a:t>tokens.</a:t>
            </a:r>
            <a:endParaRPr sz="1800" dirty="0">
              <a:latin typeface="Segoe UI"/>
              <a:cs typeface="Segoe UI"/>
            </a:endParaRPr>
          </a:p>
          <a:p>
            <a:pPr marL="299085" indent="-286385">
              <a:lnSpc>
                <a:spcPct val="100000"/>
              </a:lnSpc>
              <a:spcBef>
                <a:spcPts val="1080"/>
              </a:spcBef>
              <a:buClr>
                <a:srgbClr val="000000"/>
              </a:buClr>
              <a:buFont typeface="Arial MT"/>
              <a:buChar char="•"/>
              <a:tabLst>
                <a:tab pos="299085" algn="l"/>
              </a:tabLst>
            </a:pPr>
            <a:r>
              <a:rPr sz="1800" dirty="0">
                <a:solidFill>
                  <a:srgbClr val="232323"/>
                </a:solidFill>
                <a:latin typeface="Segoe UI"/>
                <a:cs typeface="Segoe UI"/>
              </a:rPr>
              <a:t>Identify</a:t>
            </a:r>
            <a:r>
              <a:rPr sz="1800" spc="-20" dirty="0">
                <a:solidFill>
                  <a:srgbClr val="232323"/>
                </a:solidFill>
                <a:latin typeface="Segoe UI"/>
                <a:cs typeface="Segoe UI"/>
              </a:rPr>
              <a:t> </a:t>
            </a:r>
            <a:r>
              <a:rPr sz="1800" dirty="0">
                <a:solidFill>
                  <a:srgbClr val="232323"/>
                </a:solidFill>
                <a:latin typeface="Segoe UI"/>
                <a:cs typeface="Segoe UI"/>
              </a:rPr>
              <a:t>Subword</a:t>
            </a:r>
            <a:r>
              <a:rPr sz="1800" spc="-30" dirty="0">
                <a:solidFill>
                  <a:srgbClr val="232323"/>
                </a:solidFill>
                <a:latin typeface="Segoe UI"/>
                <a:cs typeface="Segoe UI"/>
              </a:rPr>
              <a:t> </a:t>
            </a:r>
            <a:r>
              <a:rPr sz="1800" dirty="0">
                <a:solidFill>
                  <a:srgbClr val="232323"/>
                </a:solidFill>
                <a:latin typeface="Segoe UI"/>
                <a:cs typeface="Segoe UI"/>
              </a:rPr>
              <a:t>Units:</a:t>
            </a:r>
            <a:r>
              <a:rPr sz="1800" spc="-40" dirty="0">
                <a:solidFill>
                  <a:srgbClr val="232323"/>
                </a:solidFill>
                <a:latin typeface="Segoe UI"/>
                <a:cs typeface="Segoe UI"/>
              </a:rPr>
              <a:t> </a:t>
            </a:r>
            <a:r>
              <a:rPr sz="1800" dirty="0">
                <a:solidFill>
                  <a:srgbClr val="232323"/>
                </a:solidFill>
                <a:latin typeface="Segoe UI"/>
                <a:cs typeface="Segoe UI"/>
              </a:rPr>
              <a:t>Count</a:t>
            </a:r>
            <a:r>
              <a:rPr sz="1800" spc="-45" dirty="0">
                <a:solidFill>
                  <a:srgbClr val="232323"/>
                </a:solidFill>
                <a:latin typeface="Segoe UI"/>
                <a:cs typeface="Segoe UI"/>
              </a:rPr>
              <a:t> </a:t>
            </a:r>
            <a:r>
              <a:rPr sz="1800" dirty="0">
                <a:solidFill>
                  <a:srgbClr val="232323"/>
                </a:solidFill>
                <a:latin typeface="Segoe UI"/>
                <a:cs typeface="Segoe UI"/>
              </a:rPr>
              <a:t>How</a:t>
            </a:r>
            <a:r>
              <a:rPr sz="1800" spc="-30" dirty="0">
                <a:solidFill>
                  <a:srgbClr val="232323"/>
                </a:solidFill>
                <a:latin typeface="Segoe UI"/>
                <a:cs typeface="Segoe UI"/>
              </a:rPr>
              <a:t> </a:t>
            </a:r>
            <a:r>
              <a:rPr sz="1800" dirty="0">
                <a:solidFill>
                  <a:srgbClr val="232323"/>
                </a:solidFill>
                <a:latin typeface="Segoe UI"/>
                <a:cs typeface="Segoe UI"/>
              </a:rPr>
              <a:t>Often</a:t>
            </a:r>
            <a:r>
              <a:rPr sz="1800" spc="-40" dirty="0">
                <a:solidFill>
                  <a:srgbClr val="232323"/>
                </a:solidFill>
                <a:latin typeface="Segoe UI"/>
                <a:cs typeface="Segoe UI"/>
              </a:rPr>
              <a:t> </a:t>
            </a:r>
            <a:r>
              <a:rPr sz="1800" dirty="0">
                <a:solidFill>
                  <a:srgbClr val="232323"/>
                </a:solidFill>
                <a:latin typeface="Segoe UI"/>
                <a:cs typeface="Segoe UI"/>
              </a:rPr>
              <a:t>Letters</a:t>
            </a:r>
            <a:r>
              <a:rPr sz="1800" spc="-20" dirty="0">
                <a:solidFill>
                  <a:srgbClr val="232323"/>
                </a:solidFill>
                <a:latin typeface="Segoe UI"/>
                <a:cs typeface="Segoe UI"/>
              </a:rPr>
              <a:t> </a:t>
            </a:r>
            <a:r>
              <a:rPr sz="1800" dirty="0">
                <a:solidFill>
                  <a:srgbClr val="232323"/>
                </a:solidFill>
                <a:latin typeface="Segoe UI"/>
                <a:cs typeface="Segoe UI"/>
              </a:rPr>
              <a:t>Appear</a:t>
            </a:r>
            <a:r>
              <a:rPr sz="1800" spc="-30" dirty="0">
                <a:solidFill>
                  <a:srgbClr val="232323"/>
                </a:solidFill>
                <a:latin typeface="Segoe UI"/>
                <a:cs typeface="Segoe UI"/>
              </a:rPr>
              <a:t> </a:t>
            </a:r>
            <a:r>
              <a:rPr sz="1800" spc="-10" dirty="0">
                <a:solidFill>
                  <a:srgbClr val="232323"/>
                </a:solidFill>
                <a:latin typeface="Segoe UI"/>
                <a:cs typeface="Segoe UI"/>
              </a:rPr>
              <a:t>Together</a:t>
            </a:r>
            <a:endParaRPr sz="1800" dirty="0">
              <a:latin typeface="Segoe UI"/>
              <a:cs typeface="Segoe UI"/>
            </a:endParaRPr>
          </a:p>
          <a:p>
            <a:pPr marL="299085" indent="-286385">
              <a:lnSpc>
                <a:spcPct val="100000"/>
              </a:lnSpc>
              <a:spcBef>
                <a:spcPts val="1080"/>
              </a:spcBef>
              <a:buClr>
                <a:srgbClr val="000000"/>
              </a:buClr>
              <a:buFont typeface="Arial MT"/>
              <a:buChar char="•"/>
              <a:tabLst>
                <a:tab pos="299085" algn="l"/>
              </a:tabLst>
            </a:pPr>
            <a:r>
              <a:rPr sz="1800" dirty="0">
                <a:solidFill>
                  <a:srgbClr val="232323"/>
                </a:solidFill>
                <a:latin typeface="Segoe UI"/>
                <a:cs typeface="Segoe UI"/>
              </a:rPr>
              <a:t>Compute</a:t>
            </a:r>
            <a:r>
              <a:rPr sz="1800" spc="-25" dirty="0">
                <a:solidFill>
                  <a:srgbClr val="232323"/>
                </a:solidFill>
                <a:latin typeface="Segoe UI"/>
                <a:cs typeface="Segoe UI"/>
              </a:rPr>
              <a:t> </a:t>
            </a:r>
            <a:r>
              <a:rPr sz="1800" dirty="0">
                <a:solidFill>
                  <a:srgbClr val="232323"/>
                </a:solidFill>
                <a:latin typeface="Segoe UI"/>
                <a:cs typeface="Segoe UI"/>
              </a:rPr>
              <a:t>Scores</a:t>
            </a:r>
            <a:r>
              <a:rPr sz="1800" spc="-10" dirty="0">
                <a:solidFill>
                  <a:srgbClr val="232323"/>
                </a:solidFill>
                <a:latin typeface="Segoe UI"/>
                <a:cs typeface="Segoe UI"/>
              </a:rPr>
              <a:t> </a:t>
            </a:r>
            <a:r>
              <a:rPr sz="1800" dirty="0">
                <a:solidFill>
                  <a:srgbClr val="232323"/>
                </a:solidFill>
                <a:latin typeface="Segoe UI"/>
                <a:cs typeface="Segoe UI"/>
              </a:rPr>
              <a:t>for</a:t>
            </a:r>
            <a:r>
              <a:rPr sz="1800" spc="-15" dirty="0">
                <a:solidFill>
                  <a:srgbClr val="232323"/>
                </a:solidFill>
                <a:latin typeface="Segoe UI"/>
                <a:cs typeface="Segoe UI"/>
              </a:rPr>
              <a:t> </a:t>
            </a:r>
            <a:r>
              <a:rPr sz="1800" dirty="0">
                <a:solidFill>
                  <a:srgbClr val="232323"/>
                </a:solidFill>
                <a:latin typeface="Segoe UI"/>
                <a:cs typeface="Segoe UI"/>
              </a:rPr>
              <a:t>Pairs:</a:t>
            </a:r>
            <a:r>
              <a:rPr sz="1800" spc="-5" dirty="0">
                <a:solidFill>
                  <a:srgbClr val="232323"/>
                </a:solidFill>
                <a:latin typeface="Segoe UI"/>
                <a:cs typeface="Segoe UI"/>
              </a:rPr>
              <a:t> </a:t>
            </a:r>
            <a:r>
              <a:rPr sz="1800" dirty="0">
                <a:solidFill>
                  <a:srgbClr val="232323"/>
                </a:solidFill>
                <a:latin typeface="Segoe UI"/>
                <a:cs typeface="Segoe UI"/>
              </a:rPr>
              <a:t>Instead</a:t>
            </a:r>
            <a:r>
              <a:rPr sz="1800" spc="-5" dirty="0">
                <a:solidFill>
                  <a:srgbClr val="232323"/>
                </a:solidFill>
                <a:latin typeface="Segoe UI"/>
                <a:cs typeface="Segoe UI"/>
              </a:rPr>
              <a:t> </a:t>
            </a:r>
            <a:r>
              <a:rPr sz="1800" dirty="0">
                <a:solidFill>
                  <a:srgbClr val="232323"/>
                </a:solidFill>
                <a:latin typeface="Segoe UI"/>
                <a:cs typeface="Segoe UI"/>
              </a:rPr>
              <a:t>of</a:t>
            </a:r>
            <a:r>
              <a:rPr sz="1800" spc="-10" dirty="0">
                <a:solidFill>
                  <a:srgbClr val="232323"/>
                </a:solidFill>
                <a:latin typeface="Segoe UI"/>
                <a:cs typeface="Segoe UI"/>
              </a:rPr>
              <a:t> </a:t>
            </a:r>
            <a:r>
              <a:rPr sz="1800" dirty="0">
                <a:solidFill>
                  <a:srgbClr val="232323"/>
                </a:solidFill>
                <a:latin typeface="Segoe UI"/>
                <a:cs typeface="Segoe UI"/>
              </a:rPr>
              <a:t>merging the</a:t>
            </a:r>
            <a:r>
              <a:rPr sz="1800" spc="-15" dirty="0">
                <a:solidFill>
                  <a:srgbClr val="232323"/>
                </a:solidFill>
                <a:latin typeface="Segoe UI"/>
                <a:cs typeface="Segoe UI"/>
              </a:rPr>
              <a:t> </a:t>
            </a:r>
            <a:r>
              <a:rPr sz="1800" dirty="0">
                <a:solidFill>
                  <a:srgbClr val="232323"/>
                </a:solidFill>
                <a:latin typeface="Segoe UI"/>
                <a:cs typeface="Segoe UI"/>
              </a:rPr>
              <a:t>most</a:t>
            </a:r>
            <a:r>
              <a:rPr sz="1800" spc="-10" dirty="0">
                <a:solidFill>
                  <a:srgbClr val="232323"/>
                </a:solidFill>
                <a:latin typeface="Segoe UI"/>
                <a:cs typeface="Segoe UI"/>
              </a:rPr>
              <a:t> </a:t>
            </a:r>
            <a:r>
              <a:rPr sz="1800" dirty="0">
                <a:solidFill>
                  <a:srgbClr val="232323"/>
                </a:solidFill>
                <a:latin typeface="Segoe UI"/>
                <a:cs typeface="Segoe UI"/>
              </a:rPr>
              <a:t>frequent</a:t>
            </a:r>
            <a:r>
              <a:rPr sz="1800" spc="5" dirty="0">
                <a:solidFill>
                  <a:srgbClr val="232323"/>
                </a:solidFill>
                <a:latin typeface="Segoe UI"/>
                <a:cs typeface="Segoe UI"/>
              </a:rPr>
              <a:t> </a:t>
            </a:r>
            <a:r>
              <a:rPr sz="1800" dirty="0">
                <a:solidFill>
                  <a:srgbClr val="232323"/>
                </a:solidFill>
                <a:latin typeface="Segoe UI"/>
                <a:cs typeface="Segoe UI"/>
              </a:rPr>
              <a:t>pairs,</a:t>
            </a:r>
            <a:r>
              <a:rPr sz="1800" spc="-5" dirty="0">
                <a:solidFill>
                  <a:srgbClr val="232323"/>
                </a:solidFill>
                <a:latin typeface="Segoe UI"/>
                <a:cs typeface="Segoe UI"/>
              </a:rPr>
              <a:t> </a:t>
            </a:r>
            <a:r>
              <a:rPr sz="1800" dirty="0">
                <a:solidFill>
                  <a:srgbClr val="232323"/>
                </a:solidFill>
                <a:latin typeface="Segoe UI"/>
                <a:cs typeface="Segoe UI"/>
              </a:rPr>
              <a:t>WordPiece</a:t>
            </a:r>
            <a:r>
              <a:rPr sz="1800" spc="-5" dirty="0">
                <a:solidFill>
                  <a:srgbClr val="232323"/>
                </a:solidFill>
                <a:latin typeface="Segoe UI"/>
                <a:cs typeface="Segoe UI"/>
              </a:rPr>
              <a:t> </a:t>
            </a:r>
            <a:r>
              <a:rPr sz="1800" dirty="0">
                <a:solidFill>
                  <a:srgbClr val="232323"/>
                </a:solidFill>
                <a:latin typeface="Segoe UI"/>
                <a:cs typeface="Segoe UI"/>
              </a:rPr>
              <a:t>computes</a:t>
            </a:r>
            <a:r>
              <a:rPr sz="1800" spc="10" dirty="0">
                <a:solidFill>
                  <a:srgbClr val="232323"/>
                </a:solidFill>
                <a:latin typeface="Segoe UI"/>
                <a:cs typeface="Segoe UI"/>
              </a:rPr>
              <a:t> </a:t>
            </a:r>
            <a:r>
              <a:rPr sz="1800" dirty="0">
                <a:solidFill>
                  <a:srgbClr val="232323"/>
                </a:solidFill>
                <a:latin typeface="Segoe UI"/>
                <a:cs typeface="Segoe UI"/>
              </a:rPr>
              <a:t>a</a:t>
            </a:r>
            <a:r>
              <a:rPr sz="1800" spc="-30" dirty="0">
                <a:solidFill>
                  <a:srgbClr val="232323"/>
                </a:solidFill>
                <a:latin typeface="Segoe UI"/>
                <a:cs typeface="Segoe UI"/>
              </a:rPr>
              <a:t> </a:t>
            </a:r>
            <a:r>
              <a:rPr sz="1800" dirty="0">
                <a:solidFill>
                  <a:srgbClr val="232323"/>
                </a:solidFill>
                <a:latin typeface="Segoe UI"/>
                <a:cs typeface="Segoe UI"/>
              </a:rPr>
              <a:t>score</a:t>
            </a:r>
            <a:r>
              <a:rPr sz="1800" spc="-10" dirty="0">
                <a:solidFill>
                  <a:srgbClr val="232323"/>
                </a:solidFill>
                <a:latin typeface="Segoe UI"/>
                <a:cs typeface="Segoe UI"/>
              </a:rPr>
              <a:t> </a:t>
            </a:r>
            <a:r>
              <a:rPr sz="1800" dirty="0">
                <a:solidFill>
                  <a:srgbClr val="232323"/>
                </a:solidFill>
                <a:latin typeface="Segoe UI"/>
                <a:cs typeface="Segoe UI"/>
              </a:rPr>
              <a:t>for</a:t>
            </a:r>
            <a:r>
              <a:rPr sz="1800" spc="-5" dirty="0">
                <a:solidFill>
                  <a:srgbClr val="232323"/>
                </a:solidFill>
                <a:latin typeface="Segoe UI"/>
                <a:cs typeface="Segoe UI"/>
              </a:rPr>
              <a:t> </a:t>
            </a:r>
            <a:r>
              <a:rPr sz="1800" dirty="0">
                <a:solidFill>
                  <a:srgbClr val="232323"/>
                </a:solidFill>
                <a:latin typeface="Segoe UI"/>
                <a:cs typeface="Segoe UI"/>
              </a:rPr>
              <a:t>each</a:t>
            </a:r>
            <a:r>
              <a:rPr sz="1800" spc="-5" dirty="0">
                <a:solidFill>
                  <a:srgbClr val="232323"/>
                </a:solidFill>
                <a:latin typeface="Segoe UI"/>
                <a:cs typeface="Segoe UI"/>
              </a:rPr>
              <a:t> </a:t>
            </a:r>
            <a:r>
              <a:rPr sz="1800" spc="-20" dirty="0">
                <a:solidFill>
                  <a:srgbClr val="232323"/>
                </a:solidFill>
                <a:latin typeface="Segoe UI"/>
                <a:cs typeface="Segoe UI"/>
              </a:rPr>
              <a:t>pair</a:t>
            </a:r>
            <a:endParaRPr sz="1800" dirty="0">
              <a:latin typeface="Segoe UI"/>
              <a:cs typeface="Segoe UI"/>
            </a:endParaRPr>
          </a:p>
          <a:p>
            <a:pPr marL="299085">
              <a:lnSpc>
                <a:spcPct val="100000"/>
              </a:lnSpc>
              <a:spcBef>
                <a:spcPts val="1085"/>
              </a:spcBef>
            </a:pPr>
            <a:r>
              <a:rPr sz="1800" dirty="0">
                <a:solidFill>
                  <a:srgbClr val="232323"/>
                </a:solidFill>
                <a:latin typeface="Segoe UI"/>
                <a:cs typeface="Segoe UI"/>
              </a:rPr>
              <a:t>using</a:t>
            </a:r>
            <a:r>
              <a:rPr sz="1800" spc="-20" dirty="0">
                <a:solidFill>
                  <a:srgbClr val="232323"/>
                </a:solidFill>
                <a:latin typeface="Segoe UI"/>
                <a:cs typeface="Segoe UI"/>
              </a:rPr>
              <a:t> </a:t>
            </a:r>
            <a:r>
              <a:rPr sz="1800" dirty="0">
                <a:solidFill>
                  <a:srgbClr val="232323"/>
                </a:solidFill>
                <a:latin typeface="Segoe UI"/>
                <a:cs typeface="Segoe UI"/>
              </a:rPr>
              <a:t>the</a:t>
            </a:r>
            <a:r>
              <a:rPr sz="1800" spc="-20" dirty="0">
                <a:solidFill>
                  <a:srgbClr val="232323"/>
                </a:solidFill>
                <a:latin typeface="Segoe UI"/>
                <a:cs typeface="Segoe UI"/>
              </a:rPr>
              <a:t> </a:t>
            </a:r>
            <a:r>
              <a:rPr sz="1800" spc="-10" dirty="0">
                <a:solidFill>
                  <a:srgbClr val="232323"/>
                </a:solidFill>
                <a:latin typeface="Segoe UI"/>
                <a:cs typeface="Segoe UI"/>
              </a:rPr>
              <a:t>formula:</a:t>
            </a:r>
            <a:endParaRPr sz="1800" dirty="0">
              <a:latin typeface="Segoe UI"/>
              <a:cs typeface="Segoe UI"/>
            </a:endParaRPr>
          </a:p>
          <a:p>
            <a:pPr>
              <a:lnSpc>
                <a:spcPct val="100000"/>
              </a:lnSpc>
              <a:spcBef>
                <a:spcPts val="1925"/>
              </a:spcBef>
            </a:pPr>
            <a:endParaRPr sz="1800" dirty="0">
              <a:latin typeface="Segoe UI"/>
              <a:cs typeface="Segoe UI"/>
            </a:endParaRPr>
          </a:p>
          <a:p>
            <a:pPr marL="299085" indent="-286385">
              <a:lnSpc>
                <a:spcPct val="100000"/>
              </a:lnSpc>
              <a:buClr>
                <a:srgbClr val="000000"/>
              </a:buClr>
              <a:buFont typeface="Arial MT"/>
              <a:buChar char="•"/>
              <a:tabLst>
                <a:tab pos="299085" algn="l"/>
              </a:tabLst>
            </a:pPr>
            <a:r>
              <a:rPr sz="1800" dirty="0">
                <a:solidFill>
                  <a:srgbClr val="232323"/>
                </a:solidFill>
                <a:latin typeface="Segoe UI"/>
                <a:cs typeface="Segoe UI"/>
              </a:rPr>
              <a:t>Merge</a:t>
            </a:r>
            <a:r>
              <a:rPr sz="1800" spc="-40" dirty="0">
                <a:solidFill>
                  <a:srgbClr val="232323"/>
                </a:solidFill>
                <a:latin typeface="Segoe UI"/>
                <a:cs typeface="Segoe UI"/>
              </a:rPr>
              <a:t> </a:t>
            </a:r>
            <a:r>
              <a:rPr sz="1800" dirty="0">
                <a:solidFill>
                  <a:srgbClr val="232323"/>
                </a:solidFill>
                <a:latin typeface="Segoe UI"/>
                <a:cs typeface="Segoe UI"/>
              </a:rPr>
              <a:t>Pairs:</a:t>
            </a:r>
            <a:r>
              <a:rPr sz="1800" spc="-40" dirty="0">
                <a:solidFill>
                  <a:srgbClr val="232323"/>
                </a:solidFill>
                <a:latin typeface="Segoe UI"/>
                <a:cs typeface="Segoe UI"/>
              </a:rPr>
              <a:t> </a:t>
            </a:r>
            <a:r>
              <a:rPr sz="1800" dirty="0">
                <a:solidFill>
                  <a:srgbClr val="232323"/>
                </a:solidFill>
                <a:latin typeface="Segoe UI"/>
                <a:cs typeface="Segoe UI"/>
              </a:rPr>
              <a:t>Merge</a:t>
            </a:r>
            <a:r>
              <a:rPr sz="1800" spc="-40" dirty="0">
                <a:solidFill>
                  <a:srgbClr val="232323"/>
                </a:solidFill>
                <a:latin typeface="Segoe UI"/>
                <a:cs typeface="Segoe UI"/>
              </a:rPr>
              <a:t> </a:t>
            </a:r>
            <a:r>
              <a:rPr sz="1800" dirty="0">
                <a:solidFill>
                  <a:srgbClr val="232323"/>
                </a:solidFill>
                <a:latin typeface="Segoe UI"/>
                <a:cs typeface="Segoe UI"/>
              </a:rPr>
              <a:t>pairs</a:t>
            </a:r>
            <a:r>
              <a:rPr sz="1800" spc="-35" dirty="0">
                <a:solidFill>
                  <a:srgbClr val="232323"/>
                </a:solidFill>
                <a:latin typeface="Segoe UI"/>
                <a:cs typeface="Segoe UI"/>
              </a:rPr>
              <a:t> </a:t>
            </a:r>
            <a:r>
              <a:rPr sz="1800" dirty="0">
                <a:solidFill>
                  <a:srgbClr val="232323"/>
                </a:solidFill>
                <a:latin typeface="Segoe UI"/>
                <a:cs typeface="Segoe UI"/>
              </a:rPr>
              <a:t>based</a:t>
            </a:r>
            <a:r>
              <a:rPr sz="1800" spc="-25" dirty="0">
                <a:solidFill>
                  <a:srgbClr val="232323"/>
                </a:solidFill>
                <a:latin typeface="Segoe UI"/>
                <a:cs typeface="Segoe UI"/>
              </a:rPr>
              <a:t> </a:t>
            </a:r>
            <a:r>
              <a:rPr sz="1800" dirty="0">
                <a:solidFill>
                  <a:srgbClr val="232323"/>
                </a:solidFill>
                <a:latin typeface="Segoe UI"/>
                <a:cs typeface="Segoe UI"/>
              </a:rPr>
              <a:t>on</a:t>
            </a:r>
            <a:r>
              <a:rPr sz="1800" spc="-60" dirty="0">
                <a:solidFill>
                  <a:srgbClr val="232323"/>
                </a:solidFill>
                <a:latin typeface="Segoe UI"/>
                <a:cs typeface="Segoe UI"/>
              </a:rPr>
              <a:t> </a:t>
            </a:r>
            <a:r>
              <a:rPr sz="1800" dirty="0">
                <a:solidFill>
                  <a:srgbClr val="232323"/>
                </a:solidFill>
                <a:latin typeface="Segoe UI"/>
                <a:cs typeface="Segoe UI"/>
              </a:rPr>
              <a:t>their</a:t>
            </a:r>
            <a:r>
              <a:rPr sz="1800" spc="-35" dirty="0">
                <a:solidFill>
                  <a:srgbClr val="232323"/>
                </a:solidFill>
                <a:latin typeface="Segoe UI"/>
                <a:cs typeface="Segoe UI"/>
              </a:rPr>
              <a:t> </a:t>
            </a:r>
            <a:r>
              <a:rPr sz="1800" dirty="0">
                <a:solidFill>
                  <a:srgbClr val="232323"/>
                </a:solidFill>
                <a:latin typeface="Segoe UI"/>
                <a:cs typeface="Segoe UI"/>
              </a:rPr>
              <a:t>scores,</a:t>
            </a:r>
            <a:r>
              <a:rPr sz="1800" spc="-35" dirty="0">
                <a:solidFill>
                  <a:srgbClr val="232323"/>
                </a:solidFill>
                <a:latin typeface="Segoe UI"/>
                <a:cs typeface="Segoe UI"/>
              </a:rPr>
              <a:t> </a:t>
            </a:r>
            <a:r>
              <a:rPr sz="1800" dirty="0">
                <a:solidFill>
                  <a:srgbClr val="232323"/>
                </a:solidFill>
                <a:latin typeface="Segoe UI"/>
                <a:cs typeface="Segoe UI"/>
              </a:rPr>
              <a:t>prioritizing</a:t>
            </a:r>
            <a:r>
              <a:rPr sz="1800" spc="-25" dirty="0">
                <a:solidFill>
                  <a:srgbClr val="232323"/>
                </a:solidFill>
                <a:latin typeface="Segoe UI"/>
                <a:cs typeface="Segoe UI"/>
              </a:rPr>
              <a:t> </a:t>
            </a:r>
            <a:r>
              <a:rPr sz="1800" dirty="0">
                <a:solidFill>
                  <a:srgbClr val="232323"/>
                </a:solidFill>
                <a:latin typeface="Segoe UI"/>
                <a:cs typeface="Segoe UI"/>
              </a:rPr>
              <a:t>pairs</a:t>
            </a:r>
            <a:r>
              <a:rPr sz="1800" spc="-30" dirty="0">
                <a:solidFill>
                  <a:srgbClr val="232323"/>
                </a:solidFill>
                <a:latin typeface="Segoe UI"/>
                <a:cs typeface="Segoe UI"/>
              </a:rPr>
              <a:t> </a:t>
            </a:r>
            <a:r>
              <a:rPr sz="1800" dirty="0">
                <a:solidFill>
                  <a:srgbClr val="232323"/>
                </a:solidFill>
                <a:latin typeface="Segoe UI"/>
                <a:cs typeface="Segoe UI"/>
              </a:rPr>
              <a:t>where</a:t>
            </a:r>
            <a:r>
              <a:rPr sz="1800" spc="-45" dirty="0">
                <a:solidFill>
                  <a:srgbClr val="232323"/>
                </a:solidFill>
                <a:latin typeface="Segoe UI"/>
                <a:cs typeface="Segoe UI"/>
              </a:rPr>
              <a:t> </a:t>
            </a:r>
            <a:r>
              <a:rPr sz="1800" dirty="0">
                <a:solidFill>
                  <a:srgbClr val="232323"/>
                </a:solidFill>
                <a:latin typeface="Segoe UI"/>
                <a:cs typeface="Segoe UI"/>
              </a:rPr>
              <a:t>the</a:t>
            </a:r>
            <a:r>
              <a:rPr sz="1800" spc="-50" dirty="0">
                <a:solidFill>
                  <a:srgbClr val="232323"/>
                </a:solidFill>
                <a:latin typeface="Segoe UI"/>
                <a:cs typeface="Segoe UI"/>
              </a:rPr>
              <a:t> </a:t>
            </a:r>
            <a:r>
              <a:rPr sz="1800" dirty="0">
                <a:solidFill>
                  <a:srgbClr val="232323"/>
                </a:solidFill>
                <a:latin typeface="Segoe UI"/>
                <a:cs typeface="Segoe UI"/>
              </a:rPr>
              <a:t>individual</a:t>
            </a:r>
            <a:r>
              <a:rPr sz="1800" spc="-25" dirty="0">
                <a:solidFill>
                  <a:srgbClr val="232323"/>
                </a:solidFill>
                <a:latin typeface="Segoe UI"/>
                <a:cs typeface="Segoe UI"/>
              </a:rPr>
              <a:t> </a:t>
            </a:r>
            <a:r>
              <a:rPr sz="1800" dirty="0">
                <a:solidFill>
                  <a:srgbClr val="232323"/>
                </a:solidFill>
                <a:latin typeface="Segoe UI"/>
                <a:cs typeface="Segoe UI"/>
              </a:rPr>
              <a:t>parts</a:t>
            </a:r>
            <a:r>
              <a:rPr sz="1800" spc="-30" dirty="0">
                <a:solidFill>
                  <a:srgbClr val="232323"/>
                </a:solidFill>
                <a:latin typeface="Segoe UI"/>
                <a:cs typeface="Segoe UI"/>
              </a:rPr>
              <a:t> </a:t>
            </a:r>
            <a:r>
              <a:rPr sz="1800" dirty="0">
                <a:solidFill>
                  <a:srgbClr val="232323"/>
                </a:solidFill>
                <a:latin typeface="Segoe UI"/>
                <a:cs typeface="Segoe UI"/>
              </a:rPr>
              <a:t>are</a:t>
            </a:r>
            <a:r>
              <a:rPr sz="1800" spc="-40" dirty="0">
                <a:solidFill>
                  <a:srgbClr val="232323"/>
                </a:solidFill>
                <a:latin typeface="Segoe UI"/>
                <a:cs typeface="Segoe UI"/>
              </a:rPr>
              <a:t> </a:t>
            </a:r>
            <a:r>
              <a:rPr sz="1800" dirty="0">
                <a:solidFill>
                  <a:srgbClr val="232323"/>
                </a:solidFill>
                <a:latin typeface="Segoe UI"/>
                <a:cs typeface="Segoe UI"/>
              </a:rPr>
              <a:t>less</a:t>
            </a:r>
            <a:r>
              <a:rPr sz="1800" spc="-40" dirty="0">
                <a:solidFill>
                  <a:srgbClr val="232323"/>
                </a:solidFill>
                <a:latin typeface="Segoe UI"/>
                <a:cs typeface="Segoe UI"/>
              </a:rPr>
              <a:t> </a:t>
            </a:r>
            <a:r>
              <a:rPr sz="1800" spc="-10" dirty="0">
                <a:solidFill>
                  <a:srgbClr val="232323"/>
                </a:solidFill>
                <a:latin typeface="Segoe UI"/>
                <a:cs typeface="Segoe UI"/>
              </a:rPr>
              <a:t>frequent.</a:t>
            </a:r>
            <a:endParaRPr sz="1800" dirty="0">
              <a:latin typeface="Segoe UI"/>
              <a:cs typeface="Segoe UI"/>
            </a:endParaRPr>
          </a:p>
          <a:p>
            <a:pPr marL="299085" indent="-286385">
              <a:lnSpc>
                <a:spcPct val="100000"/>
              </a:lnSpc>
              <a:spcBef>
                <a:spcPts val="1080"/>
              </a:spcBef>
              <a:buClr>
                <a:srgbClr val="000000"/>
              </a:buClr>
              <a:buFont typeface="Arial MT"/>
              <a:buChar char="•"/>
              <a:tabLst>
                <a:tab pos="299085" algn="l"/>
              </a:tabLst>
            </a:pPr>
            <a:r>
              <a:rPr sz="1800" dirty="0">
                <a:solidFill>
                  <a:srgbClr val="232323"/>
                </a:solidFill>
                <a:latin typeface="Segoe UI"/>
                <a:cs typeface="Segoe UI"/>
              </a:rPr>
              <a:t>Repeat:</a:t>
            </a:r>
            <a:r>
              <a:rPr sz="1800" spc="-35" dirty="0">
                <a:solidFill>
                  <a:srgbClr val="232323"/>
                </a:solidFill>
                <a:latin typeface="Segoe UI"/>
                <a:cs typeface="Segoe UI"/>
              </a:rPr>
              <a:t> </a:t>
            </a:r>
            <a:r>
              <a:rPr sz="1800" dirty="0">
                <a:solidFill>
                  <a:srgbClr val="232323"/>
                </a:solidFill>
                <a:latin typeface="Segoe UI"/>
                <a:cs typeface="Segoe UI"/>
              </a:rPr>
              <a:t>Continue</a:t>
            </a:r>
            <a:r>
              <a:rPr sz="1800" spc="-60" dirty="0">
                <a:solidFill>
                  <a:srgbClr val="232323"/>
                </a:solidFill>
                <a:latin typeface="Segoe UI"/>
                <a:cs typeface="Segoe UI"/>
              </a:rPr>
              <a:t> </a:t>
            </a:r>
            <a:r>
              <a:rPr sz="1800" dirty="0">
                <a:solidFill>
                  <a:srgbClr val="232323"/>
                </a:solidFill>
                <a:latin typeface="Segoe UI"/>
                <a:cs typeface="Segoe UI"/>
              </a:rPr>
              <a:t>the</a:t>
            </a:r>
            <a:r>
              <a:rPr sz="1800" spc="-40" dirty="0">
                <a:solidFill>
                  <a:srgbClr val="232323"/>
                </a:solidFill>
                <a:latin typeface="Segoe UI"/>
                <a:cs typeface="Segoe UI"/>
              </a:rPr>
              <a:t> </a:t>
            </a:r>
            <a:r>
              <a:rPr sz="1800" dirty="0">
                <a:solidFill>
                  <a:srgbClr val="232323"/>
                </a:solidFill>
                <a:latin typeface="Segoe UI"/>
                <a:cs typeface="Segoe UI"/>
              </a:rPr>
              <a:t>process</a:t>
            </a:r>
            <a:r>
              <a:rPr sz="1800" spc="-15" dirty="0">
                <a:solidFill>
                  <a:srgbClr val="232323"/>
                </a:solidFill>
                <a:latin typeface="Segoe UI"/>
                <a:cs typeface="Segoe UI"/>
              </a:rPr>
              <a:t> </a:t>
            </a:r>
            <a:r>
              <a:rPr sz="1800" dirty="0">
                <a:solidFill>
                  <a:srgbClr val="232323"/>
                </a:solidFill>
                <a:latin typeface="Segoe UI"/>
                <a:cs typeface="Segoe UI"/>
              </a:rPr>
              <a:t>until</a:t>
            </a:r>
            <a:r>
              <a:rPr sz="1800" spc="-40" dirty="0">
                <a:solidFill>
                  <a:srgbClr val="232323"/>
                </a:solidFill>
                <a:latin typeface="Segoe UI"/>
                <a:cs typeface="Segoe UI"/>
              </a:rPr>
              <a:t> </a:t>
            </a:r>
            <a:r>
              <a:rPr sz="1800" dirty="0">
                <a:solidFill>
                  <a:srgbClr val="232323"/>
                </a:solidFill>
                <a:latin typeface="Segoe UI"/>
                <a:cs typeface="Segoe UI"/>
              </a:rPr>
              <a:t>the</a:t>
            </a:r>
            <a:r>
              <a:rPr sz="1800" spc="-40" dirty="0">
                <a:solidFill>
                  <a:srgbClr val="232323"/>
                </a:solidFill>
                <a:latin typeface="Segoe UI"/>
                <a:cs typeface="Segoe UI"/>
              </a:rPr>
              <a:t> </a:t>
            </a:r>
            <a:r>
              <a:rPr sz="1800" dirty="0">
                <a:solidFill>
                  <a:srgbClr val="232323"/>
                </a:solidFill>
                <a:latin typeface="Segoe UI"/>
                <a:cs typeface="Segoe UI"/>
              </a:rPr>
              <a:t>desired</a:t>
            </a:r>
            <a:r>
              <a:rPr sz="1800" spc="-20" dirty="0">
                <a:solidFill>
                  <a:srgbClr val="232323"/>
                </a:solidFill>
                <a:latin typeface="Segoe UI"/>
                <a:cs typeface="Segoe UI"/>
              </a:rPr>
              <a:t> </a:t>
            </a:r>
            <a:r>
              <a:rPr sz="1800" dirty="0">
                <a:solidFill>
                  <a:srgbClr val="232323"/>
                </a:solidFill>
                <a:latin typeface="Segoe UI"/>
                <a:cs typeface="Segoe UI"/>
              </a:rPr>
              <a:t>vocabulary</a:t>
            </a:r>
            <a:r>
              <a:rPr sz="1800" spc="-5" dirty="0">
                <a:solidFill>
                  <a:srgbClr val="232323"/>
                </a:solidFill>
                <a:latin typeface="Segoe UI"/>
                <a:cs typeface="Segoe UI"/>
              </a:rPr>
              <a:t> </a:t>
            </a:r>
            <a:r>
              <a:rPr sz="1800" dirty="0">
                <a:solidFill>
                  <a:srgbClr val="232323"/>
                </a:solidFill>
                <a:latin typeface="Segoe UI"/>
                <a:cs typeface="Segoe UI"/>
              </a:rPr>
              <a:t>size</a:t>
            </a:r>
            <a:r>
              <a:rPr sz="1800" spc="-45" dirty="0">
                <a:solidFill>
                  <a:srgbClr val="232323"/>
                </a:solidFill>
                <a:latin typeface="Segoe UI"/>
                <a:cs typeface="Segoe UI"/>
              </a:rPr>
              <a:t> </a:t>
            </a:r>
            <a:r>
              <a:rPr sz="1800" dirty="0">
                <a:solidFill>
                  <a:srgbClr val="232323"/>
                </a:solidFill>
                <a:latin typeface="Segoe UI"/>
                <a:cs typeface="Segoe UI"/>
              </a:rPr>
              <a:t>is</a:t>
            </a:r>
            <a:r>
              <a:rPr sz="1800" spc="-20" dirty="0">
                <a:solidFill>
                  <a:srgbClr val="232323"/>
                </a:solidFill>
                <a:latin typeface="Segoe UI"/>
                <a:cs typeface="Segoe UI"/>
              </a:rPr>
              <a:t> </a:t>
            </a:r>
            <a:r>
              <a:rPr sz="1800" spc="-10" dirty="0">
                <a:solidFill>
                  <a:srgbClr val="232323"/>
                </a:solidFill>
                <a:latin typeface="Segoe UI"/>
                <a:cs typeface="Segoe UI"/>
              </a:rPr>
              <a:t>reached.</a:t>
            </a:r>
            <a:endParaRPr sz="1800" dirty="0">
              <a:latin typeface="Segoe UI"/>
              <a:cs typeface="Segoe UI"/>
            </a:endParaRPr>
          </a:p>
          <a:p>
            <a:pPr>
              <a:lnSpc>
                <a:spcPct val="100000"/>
              </a:lnSpc>
              <a:spcBef>
                <a:spcPts val="1065"/>
              </a:spcBef>
            </a:pPr>
            <a:endParaRPr sz="1800" dirty="0">
              <a:latin typeface="Segoe UI"/>
              <a:cs typeface="Segoe UI"/>
            </a:endParaRPr>
          </a:p>
          <a:p>
            <a:pPr algn="ctr">
              <a:lnSpc>
                <a:spcPct val="100000"/>
              </a:lnSpc>
              <a:spcBef>
                <a:spcPts val="5"/>
              </a:spcBef>
            </a:pPr>
            <a:r>
              <a:rPr sz="1400" b="1" dirty="0">
                <a:solidFill>
                  <a:srgbClr val="232323"/>
                </a:solidFill>
                <a:latin typeface="Segoe UI"/>
                <a:cs typeface="Segoe UI"/>
              </a:rPr>
              <a:t>Reference:</a:t>
            </a:r>
            <a:r>
              <a:rPr sz="1400" b="1" spc="-20" dirty="0">
                <a:solidFill>
                  <a:srgbClr val="232323"/>
                </a:solidFill>
                <a:latin typeface="Segoe UI"/>
                <a:cs typeface="Segoe UI"/>
              </a:rPr>
              <a:t> </a:t>
            </a:r>
            <a:r>
              <a:rPr sz="1400" dirty="0">
                <a:solidFill>
                  <a:srgbClr val="232323"/>
                </a:solidFill>
                <a:latin typeface="Segoe UI"/>
                <a:cs typeface="Segoe UI"/>
              </a:rPr>
              <a:t>Google’s</a:t>
            </a:r>
            <a:r>
              <a:rPr sz="1400" spc="-10" dirty="0">
                <a:solidFill>
                  <a:srgbClr val="232323"/>
                </a:solidFill>
                <a:latin typeface="Segoe UI"/>
                <a:cs typeface="Segoe UI"/>
              </a:rPr>
              <a:t> </a:t>
            </a:r>
            <a:r>
              <a:rPr sz="1400" dirty="0">
                <a:solidFill>
                  <a:srgbClr val="232323"/>
                </a:solidFill>
                <a:latin typeface="Segoe UI"/>
                <a:cs typeface="Segoe UI"/>
              </a:rPr>
              <a:t>Neural</a:t>
            </a:r>
            <a:r>
              <a:rPr sz="1400" spc="-40" dirty="0">
                <a:solidFill>
                  <a:srgbClr val="232323"/>
                </a:solidFill>
                <a:latin typeface="Segoe UI"/>
                <a:cs typeface="Segoe UI"/>
              </a:rPr>
              <a:t> </a:t>
            </a:r>
            <a:r>
              <a:rPr sz="1400" dirty="0">
                <a:solidFill>
                  <a:srgbClr val="232323"/>
                </a:solidFill>
                <a:latin typeface="Segoe UI"/>
                <a:cs typeface="Segoe UI"/>
              </a:rPr>
              <a:t>Machine</a:t>
            </a:r>
            <a:r>
              <a:rPr sz="1400" spc="-30" dirty="0">
                <a:solidFill>
                  <a:srgbClr val="232323"/>
                </a:solidFill>
                <a:latin typeface="Segoe UI"/>
                <a:cs typeface="Segoe UI"/>
              </a:rPr>
              <a:t> </a:t>
            </a:r>
            <a:r>
              <a:rPr sz="1400" dirty="0">
                <a:solidFill>
                  <a:srgbClr val="232323"/>
                </a:solidFill>
                <a:latin typeface="Segoe UI"/>
                <a:cs typeface="Segoe UI"/>
              </a:rPr>
              <a:t>Translation</a:t>
            </a:r>
            <a:r>
              <a:rPr sz="1400" spc="-50" dirty="0">
                <a:solidFill>
                  <a:srgbClr val="232323"/>
                </a:solidFill>
                <a:latin typeface="Segoe UI"/>
                <a:cs typeface="Segoe UI"/>
              </a:rPr>
              <a:t> </a:t>
            </a:r>
            <a:r>
              <a:rPr sz="1400" dirty="0">
                <a:solidFill>
                  <a:srgbClr val="232323"/>
                </a:solidFill>
                <a:latin typeface="Segoe UI"/>
                <a:cs typeface="Segoe UI"/>
              </a:rPr>
              <a:t>System</a:t>
            </a:r>
            <a:r>
              <a:rPr sz="1400" spc="-35" dirty="0">
                <a:solidFill>
                  <a:srgbClr val="232323"/>
                </a:solidFill>
                <a:latin typeface="Segoe UI"/>
                <a:cs typeface="Segoe UI"/>
              </a:rPr>
              <a:t> </a:t>
            </a:r>
            <a:r>
              <a:rPr sz="1400" dirty="0">
                <a:solidFill>
                  <a:srgbClr val="232323"/>
                </a:solidFill>
                <a:latin typeface="Segoe UI"/>
                <a:cs typeface="Segoe UI"/>
              </a:rPr>
              <a:t>(Wu</a:t>
            </a:r>
            <a:r>
              <a:rPr sz="1400" spc="-20" dirty="0">
                <a:solidFill>
                  <a:srgbClr val="232323"/>
                </a:solidFill>
                <a:latin typeface="Segoe UI"/>
                <a:cs typeface="Segoe UI"/>
              </a:rPr>
              <a:t> </a:t>
            </a:r>
            <a:r>
              <a:rPr sz="1400" dirty="0">
                <a:solidFill>
                  <a:srgbClr val="232323"/>
                </a:solidFill>
                <a:latin typeface="Segoe UI"/>
                <a:cs typeface="Segoe UI"/>
              </a:rPr>
              <a:t>et</a:t>
            </a:r>
            <a:r>
              <a:rPr sz="1400" spc="-25" dirty="0">
                <a:solidFill>
                  <a:srgbClr val="232323"/>
                </a:solidFill>
                <a:latin typeface="Segoe UI"/>
                <a:cs typeface="Segoe UI"/>
              </a:rPr>
              <a:t> </a:t>
            </a:r>
            <a:r>
              <a:rPr sz="1400" dirty="0">
                <a:solidFill>
                  <a:srgbClr val="232323"/>
                </a:solidFill>
                <a:latin typeface="Segoe UI"/>
                <a:cs typeface="Segoe UI"/>
              </a:rPr>
              <a:t>al.,</a:t>
            </a:r>
            <a:r>
              <a:rPr sz="1400" spc="-30" dirty="0">
                <a:solidFill>
                  <a:srgbClr val="232323"/>
                </a:solidFill>
                <a:latin typeface="Segoe UI"/>
                <a:cs typeface="Segoe UI"/>
              </a:rPr>
              <a:t> </a:t>
            </a:r>
            <a:r>
              <a:rPr sz="1400" spc="-10" dirty="0">
                <a:solidFill>
                  <a:srgbClr val="232323"/>
                </a:solidFill>
                <a:latin typeface="Segoe UI"/>
                <a:cs typeface="Segoe UI"/>
              </a:rPr>
              <a:t>2016)</a:t>
            </a:r>
            <a:endParaRPr sz="1400" dirty="0">
              <a:latin typeface="Segoe UI"/>
              <a:cs typeface="Segoe UI"/>
            </a:endParaRPr>
          </a:p>
        </p:txBody>
      </p:sp>
      <p:pic>
        <p:nvPicPr>
          <p:cNvPr id="4" name="object 4"/>
          <p:cNvPicPr/>
          <p:nvPr/>
        </p:nvPicPr>
        <p:blipFill>
          <a:blip r:embed="rId2" cstate="print"/>
          <a:stretch>
            <a:fillRect/>
          </a:stretch>
        </p:blipFill>
        <p:spPr>
          <a:xfrm>
            <a:off x="2863850" y="4388358"/>
            <a:ext cx="6667500" cy="781050"/>
          </a:xfrm>
          <a:prstGeom prst="rect">
            <a:avLst/>
          </a:prstGeom>
        </p:spPr>
      </p:pic>
    </p:spTree>
    <p:extLst>
      <p:ext uri="{BB962C8B-B14F-4D97-AF65-F5344CB8AC3E}">
        <p14:creationId xmlns:p14="http://schemas.microsoft.com/office/powerpoint/2010/main" val="3351361051"/>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306388"/>
            <a:ext cx="8091488" cy="665162"/>
          </a:xfrm>
          <a:prstGeom prst="rect">
            <a:avLst/>
          </a:prstGeom>
        </p:spPr>
        <p:txBody>
          <a:bodyPr vert="horz" wrap="square" lIns="0" tIns="12700" rIns="0" bIns="0" rtlCol="0">
            <a:spAutoFit/>
          </a:bodyPr>
          <a:lstStyle/>
          <a:p>
            <a:pPr marL="12700">
              <a:lnSpc>
                <a:spcPct val="100000"/>
              </a:lnSpc>
              <a:spcBef>
                <a:spcPts val="100"/>
              </a:spcBef>
              <a:tabLst>
                <a:tab pos="3747135" algn="l"/>
              </a:tabLst>
            </a:pPr>
            <a:r>
              <a:rPr sz="4200" spc="-10" dirty="0" err="1"/>
              <a:t>Wordpiece</a:t>
            </a:r>
            <a:endParaRPr sz="4200" dirty="0"/>
          </a:p>
        </p:txBody>
      </p:sp>
      <p:sp>
        <p:nvSpPr>
          <p:cNvPr id="6" name="object 6"/>
          <p:cNvSpPr txBox="1">
            <a:spLocks noGrp="1"/>
          </p:cNvSpPr>
          <p:nvPr>
            <p:ph type="ftr" sz="quarter" idx="4294967295"/>
          </p:nvPr>
        </p:nvSpPr>
        <p:spPr>
          <a:xfrm>
            <a:off x="9915525" y="6640513"/>
            <a:ext cx="2276475" cy="180975"/>
          </a:xfrm>
          <a:prstGeom prst="rect">
            <a:avLst/>
          </a:prstGeom>
        </p:spPr>
        <p:txBody>
          <a:bodyPr vert="horz" wrap="square" lIns="0" tIns="0" rIns="0" bIns="0" rtlCol="0">
            <a:spAutoFit/>
          </a:bodyPr>
          <a:lstStyle/>
          <a:p>
            <a:pPr marL="12700">
              <a:lnSpc>
                <a:spcPts val="1714"/>
              </a:lnSpc>
            </a:pPr>
            <a:r>
              <a:rPr b="1" dirty="0">
                <a:latin typeface="Arial"/>
                <a:cs typeface="Arial"/>
              </a:rPr>
              <a:t>BITS</a:t>
            </a:r>
            <a:r>
              <a:rPr b="1" spc="25" dirty="0">
                <a:latin typeface="Arial"/>
                <a:cs typeface="Arial"/>
              </a:rPr>
              <a:t> </a:t>
            </a:r>
            <a:r>
              <a:rPr dirty="0"/>
              <a:t>Pilani,</a:t>
            </a:r>
            <a:r>
              <a:rPr spc="-5" dirty="0"/>
              <a:t> </a:t>
            </a:r>
            <a:r>
              <a:rPr dirty="0"/>
              <a:t>Pilani</a:t>
            </a:r>
            <a:r>
              <a:rPr spc="-10" dirty="0"/>
              <a:t> Campus</a:t>
            </a:r>
          </a:p>
        </p:txBody>
      </p:sp>
      <p:sp>
        <p:nvSpPr>
          <p:cNvPr id="3" name="object 3"/>
          <p:cNvSpPr txBox="1"/>
          <p:nvPr/>
        </p:nvSpPr>
        <p:spPr>
          <a:xfrm>
            <a:off x="223824" y="1386967"/>
            <a:ext cx="11290300" cy="2906395"/>
          </a:xfrm>
          <a:prstGeom prst="rect">
            <a:avLst/>
          </a:prstGeom>
        </p:spPr>
        <p:txBody>
          <a:bodyPr vert="horz" wrap="square" lIns="0" tIns="149860" rIns="0" bIns="0" rtlCol="0">
            <a:spAutoFit/>
          </a:bodyPr>
          <a:lstStyle/>
          <a:p>
            <a:pPr marL="12700">
              <a:lnSpc>
                <a:spcPct val="100000"/>
              </a:lnSpc>
              <a:spcBef>
                <a:spcPts val="1180"/>
              </a:spcBef>
            </a:pPr>
            <a:r>
              <a:rPr sz="1800" b="1" spc="-10" dirty="0">
                <a:solidFill>
                  <a:srgbClr val="232323"/>
                </a:solidFill>
                <a:latin typeface="Segoe UI"/>
                <a:cs typeface="Segoe UI"/>
              </a:rPr>
              <a:t>Advantages:</a:t>
            </a:r>
            <a:endParaRPr sz="1800">
              <a:latin typeface="Segoe UI"/>
              <a:cs typeface="Segoe UI"/>
            </a:endParaRPr>
          </a:p>
          <a:p>
            <a:pPr marL="299085" indent="-286385">
              <a:lnSpc>
                <a:spcPct val="100000"/>
              </a:lnSpc>
              <a:spcBef>
                <a:spcPts val="1080"/>
              </a:spcBef>
              <a:buClr>
                <a:srgbClr val="000000"/>
              </a:buClr>
              <a:buFont typeface="Arial MT"/>
              <a:buChar char="•"/>
              <a:tabLst>
                <a:tab pos="299085" algn="l"/>
              </a:tabLst>
            </a:pPr>
            <a:r>
              <a:rPr sz="1800" dirty="0">
                <a:solidFill>
                  <a:srgbClr val="232323"/>
                </a:solidFill>
                <a:latin typeface="Segoe UI"/>
                <a:cs typeface="Segoe UI"/>
              </a:rPr>
              <a:t>Efficient</a:t>
            </a:r>
            <a:r>
              <a:rPr sz="1800" spc="-25" dirty="0">
                <a:solidFill>
                  <a:srgbClr val="232323"/>
                </a:solidFill>
                <a:latin typeface="Segoe UI"/>
                <a:cs typeface="Segoe UI"/>
              </a:rPr>
              <a:t> </a:t>
            </a:r>
            <a:r>
              <a:rPr sz="1800" dirty="0">
                <a:solidFill>
                  <a:srgbClr val="232323"/>
                </a:solidFill>
                <a:latin typeface="Segoe UI"/>
                <a:cs typeface="Segoe UI"/>
              </a:rPr>
              <a:t>Handling</a:t>
            </a:r>
            <a:r>
              <a:rPr sz="1800" spc="-40" dirty="0">
                <a:solidFill>
                  <a:srgbClr val="232323"/>
                </a:solidFill>
                <a:latin typeface="Segoe UI"/>
                <a:cs typeface="Segoe UI"/>
              </a:rPr>
              <a:t> </a:t>
            </a:r>
            <a:r>
              <a:rPr sz="1800" dirty="0">
                <a:solidFill>
                  <a:srgbClr val="232323"/>
                </a:solidFill>
                <a:latin typeface="Segoe UI"/>
                <a:cs typeface="Segoe UI"/>
              </a:rPr>
              <a:t>of</a:t>
            </a:r>
            <a:r>
              <a:rPr sz="1800" spc="-45" dirty="0">
                <a:solidFill>
                  <a:srgbClr val="232323"/>
                </a:solidFill>
                <a:latin typeface="Segoe UI"/>
                <a:cs typeface="Segoe UI"/>
              </a:rPr>
              <a:t> </a:t>
            </a:r>
            <a:r>
              <a:rPr sz="1800" dirty="0">
                <a:solidFill>
                  <a:srgbClr val="232323"/>
                </a:solidFill>
                <a:latin typeface="Segoe UI"/>
                <a:cs typeface="Segoe UI"/>
              </a:rPr>
              <a:t>Rare</a:t>
            </a:r>
            <a:r>
              <a:rPr sz="1800" spc="-45" dirty="0">
                <a:solidFill>
                  <a:srgbClr val="232323"/>
                </a:solidFill>
                <a:latin typeface="Segoe UI"/>
                <a:cs typeface="Segoe UI"/>
              </a:rPr>
              <a:t> </a:t>
            </a:r>
            <a:r>
              <a:rPr sz="1800" dirty="0">
                <a:solidFill>
                  <a:srgbClr val="232323"/>
                </a:solidFill>
                <a:latin typeface="Segoe UI"/>
                <a:cs typeface="Segoe UI"/>
              </a:rPr>
              <a:t>Words:</a:t>
            </a:r>
            <a:r>
              <a:rPr sz="1800" spc="-45" dirty="0">
                <a:solidFill>
                  <a:srgbClr val="232323"/>
                </a:solidFill>
                <a:latin typeface="Segoe UI"/>
                <a:cs typeface="Segoe UI"/>
              </a:rPr>
              <a:t> </a:t>
            </a:r>
            <a:r>
              <a:rPr sz="1800" dirty="0">
                <a:solidFill>
                  <a:srgbClr val="232323"/>
                </a:solidFill>
                <a:latin typeface="Segoe UI"/>
                <a:cs typeface="Segoe UI"/>
              </a:rPr>
              <a:t>Breaks</a:t>
            </a:r>
            <a:r>
              <a:rPr sz="1800" spc="-30" dirty="0">
                <a:solidFill>
                  <a:srgbClr val="232323"/>
                </a:solidFill>
                <a:latin typeface="Segoe UI"/>
                <a:cs typeface="Segoe UI"/>
              </a:rPr>
              <a:t> </a:t>
            </a:r>
            <a:r>
              <a:rPr sz="1800" dirty="0">
                <a:solidFill>
                  <a:srgbClr val="232323"/>
                </a:solidFill>
                <a:latin typeface="Segoe UI"/>
                <a:cs typeface="Segoe UI"/>
              </a:rPr>
              <a:t>down</a:t>
            </a:r>
            <a:r>
              <a:rPr sz="1800" spc="-50" dirty="0">
                <a:solidFill>
                  <a:srgbClr val="232323"/>
                </a:solidFill>
                <a:latin typeface="Segoe UI"/>
                <a:cs typeface="Segoe UI"/>
              </a:rPr>
              <a:t> </a:t>
            </a:r>
            <a:r>
              <a:rPr sz="1800" dirty="0">
                <a:solidFill>
                  <a:srgbClr val="232323"/>
                </a:solidFill>
                <a:latin typeface="Segoe UI"/>
                <a:cs typeface="Segoe UI"/>
              </a:rPr>
              <a:t>rare</a:t>
            </a:r>
            <a:r>
              <a:rPr sz="1800" spc="-40" dirty="0">
                <a:solidFill>
                  <a:srgbClr val="232323"/>
                </a:solidFill>
                <a:latin typeface="Segoe UI"/>
                <a:cs typeface="Segoe UI"/>
              </a:rPr>
              <a:t> </a:t>
            </a:r>
            <a:r>
              <a:rPr sz="1800" dirty="0">
                <a:solidFill>
                  <a:srgbClr val="232323"/>
                </a:solidFill>
                <a:latin typeface="Segoe UI"/>
                <a:cs typeface="Segoe UI"/>
              </a:rPr>
              <a:t>words</a:t>
            </a:r>
            <a:r>
              <a:rPr sz="1800" spc="-40" dirty="0">
                <a:solidFill>
                  <a:srgbClr val="232323"/>
                </a:solidFill>
                <a:latin typeface="Segoe UI"/>
                <a:cs typeface="Segoe UI"/>
              </a:rPr>
              <a:t> </a:t>
            </a:r>
            <a:r>
              <a:rPr sz="1800" dirty="0">
                <a:solidFill>
                  <a:srgbClr val="232323"/>
                </a:solidFill>
                <a:latin typeface="Segoe UI"/>
                <a:cs typeface="Segoe UI"/>
              </a:rPr>
              <a:t>into</a:t>
            </a:r>
            <a:r>
              <a:rPr sz="1800" spc="-50" dirty="0">
                <a:solidFill>
                  <a:srgbClr val="232323"/>
                </a:solidFill>
                <a:latin typeface="Segoe UI"/>
                <a:cs typeface="Segoe UI"/>
              </a:rPr>
              <a:t> </a:t>
            </a:r>
            <a:r>
              <a:rPr sz="1800" dirty="0">
                <a:solidFill>
                  <a:srgbClr val="232323"/>
                </a:solidFill>
                <a:latin typeface="Segoe UI"/>
                <a:cs typeface="Segoe UI"/>
              </a:rPr>
              <a:t>subword</a:t>
            </a:r>
            <a:r>
              <a:rPr sz="1800" spc="-50" dirty="0">
                <a:solidFill>
                  <a:srgbClr val="232323"/>
                </a:solidFill>
                <a:latin typeface="Segoe UI"/>
                <a:cs typeface="Segoe UI"/>
              </a:rPr>
              <a:t> </a:t>
            </a:r>
            <a:r>
              <a:rPr sz="1800" dirty="0">
                <a:solidFill>
                  <a:srgbClr val="232323"/>
                </a:solidFill>
                <a:latin typeface="Segoe UI"/>
                <a:cs typeface="Segoe UI"/>
              </a:rPr>
              <a:t>units,</a:t>
            </a:r>
            <a:r>
              <a:rPr sz="1800" spc="-50" dirty="0">
                <a:solidFill>
                  <a:srgbClr val="232323"/>
                </a:solidFill>
                <a:latin typeface="Segoe UI"/>
                <a:cs typeface="Segoe UI"/>
              </a:rPr>
              <a:t> </a:t>
            </a:r>
            <a:r>
              <a:rPr sz="1800" dirty="0">
                <a:solidFill>
                  <a:srgbClr val="232323"/>
                </a:solidFill>
                <a:latin typeface="Segoe UI"/>
                <a:cs typeface="Segoe UI"/>
              </a:rPr>
              <a:t>improving</a:t>
            </a:r>
            <a:r>
              <a:rPr sz="1800" spc="-25" dirty="0">
                <a:solidFill>
                  <a:srgbClr val="232323"/>
                </a:solidFill>
                <a:latin typeface="Segoe UI"/>
                <a:cs typeface="Segoe UI"/>
              </a:rPr>
              <a:t> </a:t>
            </a:r>
            <a:r>
              <a:rPr sz="1800" dirty="0">
                <a:solidFill>
                  <a:srgbClr val="232323"/>
                </a:solidFill>
                <a:latin typeface="Segoe UI"/>
                <a:cs typeface="Segoe UI"/>
              </a:rPr>
              <a:t>model</a:t>
            </a:r>
            <a:r>
              <a:rPr sz="1800" spc="-40" dirty="0">
                <a:solidFill>
                  <a:srgbClr val="232323"/>
                </a:solidFill>
                <a:latin typeface="Segoe UI"/>
                <a:cs typeface="Segoe UI"/>
              </a:rPr>
              <a:t> </a:t>
            </a:r>
            <a:r>
              <a:rPr sz="1800" spc="-10" dirty="0">
                <a:solidFill>
                  <a:srgbClr val="232323"/>
                </a:solidFill>
                <a:latin typeface="Segoe UI"/>
                <a:cs typeface="Segoe UI"/>
              </a:rPr>
              <a:t>performance.</a:t>
            </a:r>
            <a:endParaRPr sz="1800">
              <a:latin typeface="Segoe UI"/>
              <a:cs typeface="Segoe UI"/>
            </a:endParaRPr>
          </a:p>
          <a:p>
            <a:pPr marL="299085" indent="-286385">
              <a:lnSpc>
                <a:spcPct val="100000"/>
              </a:lnSpc>
              <a:spcBef>
                <a:spcPts val="1080"/>
              </a:spcBef>
              <a:buClr>
                <a:srgbClr val="000000"/>
              </a:buClr>
              <a:buFont typeface="Arial MT"/>
              <a:buChar char="•"/>
              <a:tabLst>
                <a:tab pos="299085" algn="l"/>
              </a:tabLst>
            </a:pPr>
            <a:r>
              <a:rPr sz="1800" dirty="0">
                <a:solidFill>
                  <a:srgbClr val="232323"/>
                </a:solidFill>
                <a:latin typeface="Segoe UI"/>
                <a:cs typeface="Segoe UI"/>
              </a:rPr>
              <a:t>Reduces</a:t>
            </a:r>
            <a:r>
              <a:rPr sz="1800" spc="-40" dirty="0">
                <a:solidFill>
                  <a:srgbClr val="232323"/>
                </a:solidFill>
                <a:latin typeface="Segoe UI"/>
                <a:cs typeface="Segoe UI"/>
              </a:rPr>
              <a:t> </a:t>
            </a:r>
            <a:r>
              <a:rPr sz="1800" dirty="0">
                <a:solidFill>
                  <a:srgbClr val="232323"/>
                </a:solidFill>
                <a:latin typeface="Segoe UI"/>
                <a:cs typeface="Segoe UI"/>
              </a:rPr>
              <a:t>Vocabulary</a:t>
            </a:r>
            <a:r>
              <a:rPr sz="1800" spc="-35" dirty="0">
                <a:solidFill>
                  <a:srgbClr val="232323"/>
                </a:solidFill>
                <a:latin typeface="Segoe UI"/>
                <a:cs typeface="Segoe UI"/>
              </a:rPr>
              <a:t> </a:t>
            </a:r>
            <a:r>
              <a:rPr sz="1800" dirty="0">
                <a:solidFill>
                  <a:srgbClr val="232323"/>
                </a:solidFill>
                <a:latin typeface="Segoe UI"/>
                <a:cs typeface="Segoe UI"/>
              </a:rPr>
              <a:t>Size:</a:t>
            </a:r>
            <a:r>
              <a:rPr sz="1800" spc="-40" dirty="0">
                <a:solidFill>
                  <a:srgbClr val="232323"/>
                </a:solidFill>
                <a:latin typeface="Segoe UI"/>
                <a:cs typeface="Segoe UI"/>
              </a:rPr>
              <a:t> </a:t>
            </a:r>
            <a:r>
              <a:rPr sz="1800" dirty="0">
                <a:solidFill>
                  <a:srgbClr val="232323"/>
                </a:solidFill>
                <a:latin typeface="Segoe UI"/>
                <a:cs typeface="Segoe UI"/>
              </a:rPr>
              <a:t>Helps</a:t>
            </a:r>
            <a:r>
              <a:rPr sz="1800" spc="-30" dirty="0">
                <a:solidFill>
                  <a:srgbClr val="232323"/>
                </a:solidFill>
                <a:latin typeface="Segoe UI"/>
                <a:cs typeface="Segoe UI"/>
              </a:rPr>
              <a:t> </a:t>
            </a:r>
            <a:r>
              <a:rPr sz="1800" dirty="0">
                <a:solidFill>
                  <a:srgbClr val="232323"/>
                </a:solidFill>
                <a:latin typeface="Segoe UI"/>
                <a:cs typeface="Segoe UI"/>
              </a:rPr>
              <a:t>in</a:t>
            </a:r>
            <a:r>
              <a:rPr sz="1800" spc="-45" dirty="0">
                <a:solidFill>
                  <a:srgbClr val="232323"/>
                </a:solidFill>
                <a:latin typeface="Segoe UI"/>
                <a:cs typeface="Segoe UI"/>
              </a:rPr>
              <a:t> </a:t>
            </a:r>
            <a:r>
              <a:rPr sz="1800" dirty="0">
                <a:solidFill>
                  <a:srgbClr val="232323"/>
                </a:solidFill>
                <a:latin typeface="Segoe UI"/>
                <a:cs typeface="Segoe UI"/>
              </a:rPr>
              <a:t>creating</a:t>
            </a:r>
            <a:r>
              <a:rPr sz="1800" spc="-35" dirty="0">
                <a:solidFill>
                  <a:srgbClr val="232323"/>
                </a:solidFill>
                <a:latin typeface="Segoe UI"/>
                <a:cs typeface="Segoe UI"/>
              </a:rPr>
              <a:t> </a:t>
            </a:r>
            <a:r>
              <a:rPr sz="1800" dirty="0">
                <a:solidFill>
                  <a:srgbClr val="232323"/>
                </a:solidFill>
                <a:latin typeface="Segoe UI"/>
                <a:cs typeface="Segoe UI"/>
              </a:rPr>
              <a:t>a</a:t>
            </a:r>
            <a:r>
              <a:rPr sz="1800" spc="-45" dirty="0">
                <a:solidFill>
                  <a:srgbClr val="232323"/>
                </a:solidFill>
                <a:latin typeface="Segoe UI"/>
                <a:cs typeface="Segoe UI"/>
              </a:rPr>
              <a:t> </a:t>
            </a:r>
            <a:r>
              <a:rPr sz="1800" dirty="0">
                <a:solidFill>
                  <a:srgbClr val="232323"/>
                </a:solidFill>
                <a:latin typeface="Segoe UI"/>
                <a:cs typeface="Segoe UI"/>
              </a:rPr>
              <a:t>manageable</a:t>
            </a:r>
            <a:r>
              <a:rPr sz="1800" spc="-35" dirty="0">
                <a:solidFill>
                  <a:srgbClr val="232323"/>
                </a:solidFill>
                <a:latin typeface="Segoe UI"/>
                <a:cs typeface="Segoe UI"/>
              </a:rPr>
              <a:t> </a:t>
            </a:r>
            <a:r>
              <a:rPr sz="1800" dirty="0">
                <a:solidFill>
                  <a:srgbClr val="232323"/>
                </a:solidFill>
                <a:latin typeface="Segoe UI"/>
                <a:cs typeface="Segoe UI"/>
              </a:rPr>
              <a:t>vocabulary</a:t>
            </a:r>
            <a:r>
              <a:rPr sz="1800" spc="-35" dirty="0">
                <a:solidFill>
                  <a:srgbClr val="232323"/>
                </a:solidFill>
                <a:latin typeface="Segoe UI"/>
                <a:cs typeface="Segoe UI"/>
              </a:rPr>
              <a:t> </a:t>
            </a:r>
            <a:r>
              <a:rPr sz="1800" spc="-10" dirty="0">
                <a:solidFill>
                  <a:srgbClr val="232323"/>
                </a:solidFill>
                <a:latin typeface="Segoe UI"/>
                <a:cs typeface="Segoe UI"/>
              </a:rPr>
              <a:t>size.</a:t>
            </a:r>
            <a:endParaRPr sz="1800">
              <a:latin typeface="Segoe UI"/>
              <a:cs typeface="Segoe UI"/>
            </a:endParaRPr>
          </a:p>
          <a:p>
            <a:pPr marL="299085" indent="-286385">
              <a:lnSpc>
                <a:spcPct val="100000"/>
              </a:lnSpc>
              <a:spcBef>
                <a:spcPts val="1080"/>
              </a:spcBef>
              <a:buClr>
                <a:srgbClr val="000000"/>
              </a:buClr>
              <a:buFont typeface="Arial MT"/>
              <a:buChar char="•"/>
              <a:tabLst>
                <a:tab pos="299085" algn="l"/>
              </a:tabLst>
            </a:pPr>
            <a:r>
              <a:rPr sz="1800" dirty="0">
                <a:solidFill>
                  <a:srgbClr val="232323"/>
                </a:solidFill>
                <a:latin typeface="Segoe UI"/>
                <a:cs typeface="Segoe UI"/>
              </a:rPr>
              <a:t>Better</a:t>
            </a:r>
            <a:r>
              <a:rPr sz="1800" spc="-40" dirty="0">
                <a:solidFill>
                  <a:srgbClr val="232323"/>
                </a:solidFill>
                <a:latin typeface="Segoe UI"/>
                <a:cs typeface="Segoe UI"/>
              </a:rPr>
              <a:t> </a:t>
            </a:r>
            <a:r>
              <a:rPr sz="1800" dirty="0">
                <a:solidFill>
                  <a:srgbClr val="232323"/>
                </a:solidFill>
                <a:latin typeface="Segoe UI"/>
                <a:cs typeface="Segoe UI"/>
              </a:rPr>
              <a:t>Generalization:</a:t>
            </a:r>
            <a:r>
              <a:rPr sz="1800" spc="-40" dirty="0">
                <a:solidFill>
                  <a:srgbClr val="232323"/>
                </a:solidFill>
                <a:latin typeface="Segoe UI"/>
                <a:cs typeface="Segoe UI"/>
              </a:rPr>
              <a:t> </a:t>
            </a:r>
            <a:r>
              <a:rPr sz="1800" dirty="0">
                <a:solidFill>
                  <a:srgbClr val="232323"/>
                </a:solidFill>
                <a:latin typeface="Segoe UI"/>
                <a:cs typeface="Segoe UI"/>
              </a:rPr>
              <a:t>By</a:t>
            </a:r>
            <a:r>
              <a:rPr sz="1800" spc="-25" dirty="0">
                <a:solidFill>
                  <a:srgbClr val="232323"/>
                </a:solidFill>
                <a:latin typeface="Segoe UI"/>
                <a:cs typeface="Segoe UI"/>
              </a:rPr>
              <a:t> </a:t>
            </a:r>
            <a:r>
              <a:rPr sz="1800" dirty="0">
                <a:solidFill>
                  <a:srgbClr val="232323"/>
                </a:solidFill>
                <a:latin typeface="Segoe UI"/>
                <a:cs typeface="Segoe UI"/>
              </a:rPr>
              <a:t>using</a:t>
            </a:r>
            <a:r>
              <a:rPr sz="1800" spc="-50" dirty="0">
                <a:solidFill>
                  <a:srgbClr val="232323"/>
                </a:solidFill>
                <a:latin typeface="Segoe UI"/>
                <a:cs typeface="Segoe UI"/>
              </a:rPr>
              <a:t> </a:t>
            </a:r>
            <a:r>
              <a:rPr sz="1800" dirty="0">
                <a:solidFill>
                  <a:srgbClr val="232323"/>
                </a:solidFill>
                <a:latin typeface="Segoe UI"/>
                <a:cs typeface="Segoe UI"/>
              </a:rPr>
              <a:t>subword</a:t>
            </a:r>
            <a:r>
              <a:rPr sz="1800" spc="-40" dirty="0">
                <a:solidFill>
                  <a:srgbClr val="232323"/>
                </a:solidFill>
                <a:latin typeface="Segoe UI"/>
                <a:cs typeface="Segoe UI"/>
              </a:rPr>
              <a:t> </a:t>
            </a:r>
            <a:r>
              <a:rPr sz="1800" dirty="0">
                <a:solidFill>
                  <a:srgbClr val="232323"/>
                </a:solidFill>
                <a:latin typeface="Segoe UI"/>
                <a:cs typeface="Segoe UI"/>
              </a:rPr>
              <a:t>units,</a:t>
            </a:r>
            <a:r>
              <a:rPr sz="1800" spc="-40" dirty="0">
                <a:solidFill>
                  <a:srgbClr val="232323"/>
                </a:solidFill>
                <a:latin typeface="Segoe UI"/>
                <a:cs typeface="Segoe UI"/>
              </a:rPr>
              <a:t> </a:t>
            </a:r>
            <a:r>
              <a:rPr sz="1800" dirty="0">
                <a:solidFill>
                  <a:srgbClr val="232323"/>
                </a:solidFill>
                <a:latin typeface="Segoe UI"/>
                <a:cs typeface="Segoe UI"/>
              </a:rPr>
              <a:t>it</a:t>
            </a:r>
            <a:r>
              <a:rPr sz="1800" spc="-35" dirty="0">
                <a:solidFill>
                  <a:srgbClr val="232323"/>
                </a:solidFill>
                <a:latin typeface="Segoe UI"/>
                <a:cs typeface="Segoe UI"/>
              </a:rPr>
              <a:t> </a:t>
            </a:r>
            <a:r>
              <a:rPr sz="1800" dirty="0">
                <a:solidFill>
                  <a:srgbClr val="232323"/>
                </a:solidFill>
                <a:latin typeface="Segoe UI"/>
                <a:cs typeface="Segoe UI"/>
              </a:rPr>
              <a:t>can</a:t>
            </a:r>
            <a:r>
              <a:rPr sz="1800" spc="-40" dirty="0">
                <a:solidFill>
                  <a:srgbClr val="232323"/>
                </a:solidFill>
                <a:latin typeface="Segoe UI"/>
                <a:cs typeface="Segoe UI"/>
              </a:rPr>
              <a:t> </a:t>
            </a:r>
            <a:r>
              <a:rPr sz="1800" dirty="0">
                <a:solidFill>
                  <a:srgbClr val="232323"/>
                </a:solidFill>
                <a:latin typeface="Segoe UI"/>
                <a:cs typeface="Segoe UI"/>
              </a:rPr>
              <a:t>generalize</a:t>
            </a:r>
            <a:r>
              <a:rPr sz="1800" spc="-30" dirty="0">
                <a:solidFill>
                  <a:srgbClr val="232323"/>
                </a:solidFill>
                <a:latin typeface="Segoe UI"/>
                <a:cs typeface="Segoe UI"/>
              </a:rPr>
              <a:t> </a:t>
            </a:r>
            <a:r>
              <a:rPr sz="1800" dirty="0">
                <a:solidFill>
                  <a:srgbClr val="232323"/>
                </a:solidFill>
                <a:latin typeface="Segoe UI"/>
                <a:cs typeface="Segoe UI"/>
              </a:rPr>
              <a:t>better</a:t>
            </a:r>
            <a:r>
              <a:rPr sz="1800" spc="-25" dirty="0">
                <a:solidFill>
                  <a:srgbClr val="232323"/>
                </a:solidFill>
                <a:latin typeface="Segoe UI"/>
                <a:cs typeface="Segoe UI"/>
              </a:rPr>
              <a:t> </a:t>
            </a:r>
            <a:r>
              <a:rPr sz="1800" dirty="0">
                <a:solidFill>
                  <a:srgbClr val="232323"/>
                </a:solidFill>
                <a:latin typeface="Segoe UI"/>
                <a:cs typeface="Segoe UI"/>
              </a:rPr>
              <a:t>across</a:t>
            </a:r>
            <a:r>
              <a:rPr sz="1800" spc="-35" dirty="0">
                <a:solidFill>
                  <a:srgbClr val="232323"/>
                </a:solidFill>
                <a:latin typeface="Segoe UI"/>
                <a:cs typeface="Segoe UI"/>
              </a:rPr>
              <a:t> </a:t>
            </a:r>
            <a:r>
              <a:rPr sz="1800" dirty="0">
                <a:solidFill>
                  <a:srgbClr val="232323"/>
                </a:solidFill>
                <a:latin typeface="Segoe UI"/>
                <a:cs typeface="Segoe UI"/>
              </a:rPr>
              <a:t>different</a:t>
            </a:r>
            <a:r>
              <a:rPr sz="1800" spc="-30" dirty="0">
                <a:solidFill>
                  <a:srgbClr val="232323"/>
                </a:solidFill>
                <a:latin typeface="Segoe UI"/>
                <a:cs typeface="Segoe UI"/>
              </a:rPr>
              <a:t> </a:t>
            </a:r>
            <a:r>
              <a:rPr sz="1800" dirty="0">
                <a:solidFill>
                  <a:srgbClr val="232323"/>
                </a:solidFill>
                <a:latin typeface="Segoe UI"/>
                <a:cs typeface="Segoe UI"/>
              </a:rPr>
              <a:t>words</a:t>
            </a:r>
            <a:r>
              <a:rPr sz="1800" spc="-35" dirty="0">
                <a:solidFill>
                  <a:srgbClr val="232323"/>
                </a:solidFill>
                <a:latin typeface="Segoe UI"/>
                <a:cs typeface="Segoe UI"/>
              </a:rPr>
              <a:t> </a:t>
            </a:r>
            <a:r>
              <a:rPr sz="1800" dirty="0">
                <a:solidFill>
                  <a:srgbClr val="232323"/>
                </a:solidFill>
                <a:latin typeface="Segoe UI"/>
                <a:cs typeface="Segoe UI"/>
              </a:rPr>
              <a:t>and</a:t>
            </a:r>
            <a:r>
              <a:rPr sz="1800" spc="-50" dirty="0">
                <a:solidFill>
                  <a:srgbClr val="232323"/>
                </a:solidFill>
                <a:latin typeface="Segoe UI"/>
                <a:cs typeface="Segoe UI"/>
              </a:rPr>
              <a:t> </a:t>
            </a:r>
            <a:r>
              <a:rPr sz="1800" spc="-10" dirty="0">
                <a:solidFill>
                  <a:srgbClr val="232323"/>
                </a:solidFill>
                <a:latin typeface="Segoe UI"/>
                <a:cs typeface="Segoe UI"/>
              </a:rPr>
              <a:t>contexts.</a:t>
            </a:r>
            <a:endParaRPr sz="1800">
              <a:latin typeface="Segoe UI"/>
              <a:cs typeface="Segoe UI"/>
            </a:endParaRPr>
          </a:p>
          <a:p>
            <a:pPr marL="12700">
              <a:lnSpc>
                <a:spcPct val="100000"/>
              </a:lnSpc>
              <a:spcBef>
                <a:spcPts val="1080"/>
              </a:spcBef>
            </a:pPr>
            <a:r>
              <a:rPr sz="1800" b="1" spc="-10" dirty="0">
                <a:solidFill>
                  <a:srgbClr val="232323"/>
                </a:solidFill>
                <a:latin typeface="Segoe UI"/>
                <a:cs typeface="Segoe UI"/>
              </a:rPr>
              <a:t>Limitations:</a:t>
            </a:r>
            <a:endParaRPr sz="1800">
              <a:latin typeface="Segoe UI"/>
              <a:cs typeface="Segoe UI"/>
            </a:endParaRPr>
          </a:p>
          <a:p>
            <a:pPr marL="299085" indent="-286385">
              <a:lnSpc>
                <a:spcPct val="100000"/>
              </a:lnSpc>
              <a:spcBef>
                <a:spcPts val="1080"/>
              </a:spcBef>
              <a:buClr>
                <a:srgbClr val="000000"/>
              </a:buClr>
              <a:buFont typeface="Arial MT"/>
              <a:buChar char="•"/>
              <a:tabLst>
                <a:tab pos="299085" algn="l"/>
              </a:tabLst>
            </a:pPr>
            <a:r>
              <a:rPr sz="1800" dirty="0">
                <a:solidFill>
                  <a:srgbClr val="232323"/>
                </a:solidFill>
                <a:latin typeface="Segoe UI"/>
                <a:cs typeface="Segoe UI"/>
              </a:rPr>
              <a:t>Complexity:</a:t>
            </a:r>
            <a:r>
              <a:rPr sz="1800" spc="-50" dirty="0">
                <a:solidFill>
                  <a:srgbClr val="232323"/>
                </a:solidFill>
                <a:latin typeface="Segoe UI"/>
                <a:cs typeface="Segoe UI"/>
              </a:rPr>
              <a:t> </a:t>
            </a:r>
            <a:r>
              <a:rPr sz="1800" dirty="0">
                <a:solidFill>
                  <a:srgbClr val="232323"/>
                </a:solidFill>
                <a:latin typeface="Segoe UI"/>
                <a:cs typeface="Segoe UI"/>
              </a:rPr>
              <a:t>The</a:t>
            </a:r>
            <a:r>
              <a:rPr sz="1800" spc="-75" dirty="0">
                <a:solidFill>
                  <a:srgbClr val="232323"/>
                </a:solidFill>
                <a:latin typeface="Segoe UI"/>
                <a:cs typeface="Segoe UI"/>
              </a:rPr>
              <a:t> </a:t>
            </a:r>
            <a:r>
              <a:rPr sz="1800" dirty="0">
                <a:solidFill>
                  <a:srgbClr val="232323"/>
                </a:solidFill>
                <a:latin typeface="Segoe UI"/>
                <a:cs typeface="Segoe UI"/>
              </a:rPr>
              <a:t>scoring</a:t>
            </a:r>
            <a:r>
              <a:rPr sz="1800" spc="-55" dirty="0">
                <a:solidFill>
                  <a:srgbClr val="232323"/>
                </a:solidFill>
                <a:latin typeface="Segoe UI"/>
                <a:cs typeface="Segoe UI"/>
              </a:rPr>
              <a:t> </a:t>
            </a:r>
            <a:r>
              <a:rPr sz="1800" dirty="0">
                <a:solidFill>
                  <a:srgbClr val="232323"/>
                </a:solidFill>
                <a:latin typeface="Segoe UI"/>
                <a:cs typeface="Segoe UI"/>
              </a:rPr>
              <a:t>mechanism</a:t>
            </a:r>
            <a:r>
              <a:rPr sz="1800" spc="-55" dirty="0">
                <a:solidFill>
                  <a:srgbClr val="232323"/>
                </a:solidFill>
                <a:latin typeface="Segoe UI"/>
                <a:cs typeface="Segoe UI"/>
              </a:rPr>
              <a:t> </a:t>
            </a:r>
            <a:r>
              <a:rPr sz="1800" dirty="0">
                <a:solidFill>
                  <a:srgbClr val="232323"/>
                </a:solidFill>
                <a:latin typeface="Segoe UI"/>
                <a:cs typeface="Segoe UI"/>
              </a:rPr>
              <a:t>adds</a:t>
            </a:r>
            <a:r>
              <a:rPr sz="1800" spc="-35" dirty="0">
                <a:solidFill>
                  <a:srgbClr val="232323"/>
                </a:solidFill>
                <a:latin typeface="Segoe UI"/>
                <a:cs typeface="Segoe UI"/>
              </a:rPr>
              <a:t> </a:t>
            </a:r>
            <a:r>
              <a:rPr sz="1800" dirty="0">
                <a:solidFill>
                  <a:srgbClr val="232323"/>
                </a:solidFill>
                <a:latin typeface="Segoe UI"/>
                <a:cs typeface="Segoe UI"/>
              </a:rPr>
              <a:t>complexity</a:t>
            </a:r>
            <a:r>
              <a:rPr sz="1800" spc="-35" dirty="0">
                <a:solidFill>
                  <a:srgbClr val="232323"/>
                </a:solidFill>
                <a:latin typeface="Segoe UI"/>
                <a:cs typeface="Segoe UI"/>
              </a:rPr>
              <a:t> </a:t>
            </a:r>
            <a:r>
              <a:rPr sz="1800" dirty="0">
                <a:solidFill>
                  <a:srgbClr val="232323"/>
                </a:solidFill>
                <a:latin typeface="Segoe UI"/>
                <a:cs typeface="Segoe UI"/>
              </a:rPr>
              <a:t>compared</a:t>
            </a:r>
            <a:r>
              <a:rPr sz="1800" spc="-35" dirty="0">
                <a:solidFill>
                  <a:srgbClr val="232323"/>
                </a:solidFill>
                <a:latin typeface="Segoe UI"/>
                <a:cs typeface="Segoe UI"/>
              </a:rPr>
              <a:t> </a:t>
            </a:r>
            <a:r>
              <a:rPr sz="1800" dirty="0">
                <a:solidFill>
                  <a:srgbClr val="232323"/>
                </a:solidFill>
                <a:latin typeface="Segoe UI"/>
                <a:cs typeface="Segoe UI"/>
              </a:rPr>
              <a:t>to</a:t>
            </a:r>
            <a:r>
              <a:rPr sz="1800" spc="-60" dirty="0">
                <a:solidFill>
                  <a:srgbClr val="232323"/>
                </a:solidFill>
                <a:latin typeface="Segoe UI"/>
                <a:cs typeface="Segoe UI"/>
              </a:rPr>
              <a:t> </a:t>
            </a:r>
            <a:r>
              <a:rPr sz="1800" dirty="0">
                <a:solidFill>
                  <a:srgbClr val="232323"/>
                </a:solidFill>
                <a:latin typeface="Segoe UI"/>
                <a:cs typeface="Segoe UI"/>
              </a:rPr>
              <a:t>simpler</a:t>
            </a:r>
            <a:r>
              <a:rPr sz="1800" spc="-35" dirty="0">
                <a:solidFill>
                  <a:srgbClr val="232323"/>
                </a:solidFill>
                <a:latin typeface="Segoe UI"/>
                <a:cs typeface="Segoe UI"/>
              </a:rPr>
              <a:t> </a:t>
            </a:r>
            <a:r>
              <a:rPr sz="1800" spc="-10" dirty="0">
                <a:solidFill>
                  <a:srgbClr val="232323"/>
                </a:solidFill>
                <a:latin typeface="Segoe UI"/>
                <a:cs typeface="Segoe UI"/>
              </a:rPr>
              <a:t>methods.</a:t>
            </a:r>
            <a:endParaRPr sz="1800">
              <a:latin typeface="Segoe UI"/>
              <a:cs typeface="Segoe UI"/>
            </a:endParaRPr>
          </a:p>
          <a:p>
            <a:pPr marL="299085" indent="-286385">
              <a:lnSpc>
                <a:spcPct val="100000"/>
              </a:lnSpc>
              <a:spcBef>
                <a:spcPts val="1080"/>
              </a:spcBef>
              <a:buClr>
                <a:srgbClr val="000000"/>
              </a:buClr>
              <a:buFont typeface="Arial MT"/>
              <a:buChar char="•"/>
              <a:tabLst>
                <a:tab pos="299085" algn="l"/>
              </a:tabLst>
            </a:pPr>
            <a:r>
              <a:rPr sz="1800" dirty="0">
                <a:solidFill>
                  <a:srgbClr val="232323"/>
                </a:solidFill>
                <a:latin typeface="Segoe UI"/>
                <a:cs typeface="Segoe UI"/>
              </a:rPr>
              <a:t>Fragmentation:</a:t>
            </a:r>
            <a:r>
              <a:rPr sz="1800" spc="-50" dirty="0">
                <a:solidFill>
                  <a:srgbClr val="232323"/>
                </a:solidFill>
                <a:latin typeface="Segoe UI"/>
                <a:cs typeface="Segoe UI"/>
              </a:rPr>
              <a:t> </a:t>
            </a:r>
            <a:r>
              <a:rPr sz="1800" dirty="0">
                <a:solidFill>
                  <a:srgbClr val="232323"/>
                </a:solidFill>
                <a:latin typeface="Segoe UI"/>
                <a:cs typeface="Segoe UI"/>
              </a:rPr>
              <a:t>Can</a:t>
            </a:r>
            <a:r>
              <a:rPr sz="1800" spc="-75" dirty="0">
                <a:solidFill>
                  <a:srgbClr val="232323"/>
                </a:solidFill>
                <a:latin typeface="Segoe UI"/>
                <a:cs typeface="Segoe UI"/>
              </a:rPr>
              <a:t> </a:t>
            </a:r>
            <a:r>
              <a:rPr sz="1800" dirty="0">
                <a:solidFill>
                  <a:srgbClr val="232323"/>
                </a:solidFill>
                <a:latin typeface="Segoe UI"/>
                <a:cs typeface="Segoe UI"/>
              </a:rPr>
              <a:t>still</a:t>
            </a:r>
            <a:r>
              <a:rPr sz="1800" spc="-40" dirty="0">
                <a:solidFill>
                  <a:srgbClr val="232323"/>
                </a:solidFill>
                <a:latin typeface="Segoe UI"/>
                <a:cs typeface="Segoe UI"/>
              </a:rPr>
              <a:t> </a:t>
            </a:r>
            <a:r>
              <a:rPr sz="1800" dirty="0">
                <a:solidFill>
                  <a:srgbClr val="232323"/>
                </a:solidFill>
                <a:latin typeface="Segoe UI"/>
                <a:cs typeface="Segoe UI"/>
              </a:rPr>
              <a:t>produce</a:t>
            </a:r>
            <a:r>
              <a:rPr sz="1800" spc="-40" dirty="0">
                <a:solidFill>
                  <a:srgbClr val="232323"/>
                </a:solidFill>
                <a:latin typeface="Segoe UI"/>
                <a:cs typeface="Segoe UI"/>
              </a:rPr>
              <a:t> </a:t>
            </a:r>
            <a:r>
              <a:rPr sz="1800" dirty="0">
                <a:solidFill>
                  <a:srgbClr val="232323"/>
                </a:solidFill>
                <a:latin typeface="Segoe UI"/>
                <a:cs typeface="Segoe UI"/>
              </a:rPr>
              <a:t>fragmented</a:t>
            </a:r>
            <a:r>
              <a:rPr sz="1800" spc="-50" dirty="0">
                <a:solidFill>
                  <a:srgbClr val="232323"/>
                </a:solidFill>
                <a:latin typeface="Segoe UI"/>
                <a:cs typeface="Segoe UI"/>
              </a:rPr>
              <a:t> </a:t>
            </a:r>
            <a:r>
              <a:rPr sz="1800" dirty="0">
                <a:solidFill>
                  <a:srgbClr val="232323"/>
                </a:solidFill>
                <a:latin typeface="Segoe UI"/>
                <a:cs typeface="Segoe UI"/>
              </a:rPr>
              <a:t>tokens,</a:t>
            </a:r>
            <a:r>
              <a:rPr sz="1800" spc="-60" dirty="0">
                <a:solidFill>
                  <a:srgbClr val="232323"/>
                </a:solidFill>
                <a:latin typeface="Segoe UI"/>
                <a:cs typeface="Segoe UI"/>
              </a:rPr>
              <a:t> </a:t>
            </a:r>
            <a:r>
              <a:rPr sz="1800" dirty="0">
                <a:solidFill>
                  <a:srgbClr val="232323"/>
                </a:solidFill>
                <a:latin typeface="Segoe UI"/>
                <a:cs typeface="Segoe UI"/>
              </a:rPr>
              <a:t>especially</a:t>
            </a:r>
            <a:r>
              <a:rPr sz="1800" spc="-15" dirty="0">
                <a:solidFill>
                  <a:srgbClr val="232323"/>
                </a:solidFill>
                <a:latin typeface="Segoe UI"/>
                <a:cs typeface="Segoe UI"/>
              </a:rPr>
              <a:t> </a:t>
            </a:r>
            <a:r>
              <a:rPr sz="1800" dirty="0">
                <a:solidFill>
                  <a:srgbClr val="232323"/>
                </a:solidFill>
                <a:latin typeface="Segoe UI"/>
                <a:cs typeface="Segoe UI"/>
              </a:rPr>
              <a:t>for</a:t>
            </a:r>
            <a:r>
              <a:rPr sz="1800" spc="-60" dirty="0">
                <a:solidFill>
                  <a:srgbClr val="232323"/>
                </a:solidFill>
                <a:latin typeface="Segoe UI"/>
                <a:cs typeface="Segoe UI"/>
              </a:rPr>
              <a:t> </a:t>
            </a:r>
            <a:r>
              <a:rPr sz="1800" dirty="0">
                <a:solidFill>
                  <a:srgbClr val="232323"/>
                </a:solidFill>
                <a:latin typeface="Segoe UI"/>
                <a:cs typeface="Segoe UI"/>
              </a:rPr>
              <a:t>languages</a:t>
            </a:r>
            <a:r>
              <a:rPr sz="1800" spc="-50" dirty="0">
                <a:solidFill>
                  <a:srgbClr val="232323"/>
                </a:solidFill>
                <a:latin typeface="Segoe UI"/>
                <a:cs typeface="Segoe UI"/>
              </a:rPr>
              <a:t> </a:t>
            </a:r>
            <a:r>
              <a:rPr sz="1800" dirty="0">
                <a:solidFill>
                  <a:srgbClr val="232323"/>
                </a:solidFill>
                <a:latin typeface="Segoe UI"/>
                <a:cs typeface="Segoe UI"/>
              </a:rPr>
              <a:t>with</a:t>
            </a:r>
            <a:r>
              <a:rPr sz="1800" spc="-45" dirty="0">
                <a:solidFill>
                  <a:srgbClr val="232323"/>
                </a:solidFill>
                <a:latin typeface="Segoe UI"/>
                <a:cs typeface="Segoe UI"/>
              </a:rPr>
              <a:t> </a:t>
            </a:r>
            <a:r>
              <a:rPr sz="1800" dirty="0">
                <a:solidFill>
                  <a:srgbClr val="232323"/>
                </a:solidFill>
                <a:latin typeface="Segoe UI"/>
                <a:cs typeface="Segoe UI"/>
              </a:rPr>
              <a:t>complex</a:t>
            </a:r>
            <a:r>
              <a:rPr sz="1800" spc="-30" dirty="0">
                <a:solidFill>
                  <a:srgbClr val="232323"/>
                </a:solidFill>
                <a:latin typeface="Segoe UI"/>
                <a:cs typeface="Segoe UI"/>
              </a:rPr>
              <a:t> </a:t>
            </a:r>
            <a:r>
              <a:rPr sz="1800" spc="-10" dirty="0">
                <a:solidFill>
                  <a:srgbClr val="232323"/>
                </a:solidFill>
                <a:latin typeface="Segoe UI"/>
                <a:cs typeface="Segoe UI"/>
              </a:rPr>
              <a:t>morphology.</a:t>
            </a:r>
            <a:endParaRPr sz="1800">
              <a:latin typeface="Segoe UI"/>
              <a:cs typeface="Segoe UI"/>
            </a:endParaRPr>
          </a:p>
        </p:txBody>
      </p:sp>
      <p:sp>
        <p:nvSpPr>
          <p:cNvPr id="4" name="object 4"/>
          <p:cNvSpPr txBox="1"/>
          <p:nvPr/>
        </p:nvSpPr>
        <p:spPr>
          <a:xfrm>
            <a:off x="485343" y="4985384"/>
            <a:ext cx="10758170" cy="57404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232323"/>
                </a:solidFill>
                <a:latin typeface="Segoe UI"/>
                <a:cs typeface="Segoe UI"/>
              </a:rPr>
              <a:t>WordPiece's</a:t>
            </a:r>
            <a:r>
              <a:rPr sz="1800" spc="-5" dirty="0">
                <a:solidFill>
                  <a:srgbClr val="232323"/>
                </a:solidFill>
                <a:latin typeface="Segoe UI"/>
                <a:cs typeface="Segoe UI"/>
              </a:rPr>
              <a:t> </a:t>
            </a:r>
            <a:r>
              <a:rPr sz="1800" dirty="0">
                <a:solidFill>
                  <a:srgbClr val="232323"/>
                </a:solidFill>
                <a:latin typeface="Segoe UI"/>
                <a:cs typeface="Segoe UI"/>
              </a:rPr>
              <a:t>use</a:t>
            </a:r>
            <a:r>
              <a:rPr sz="1800" spc="-50" dirty="0">
                <a:solidFill>
                  <a:srgbClr val="232323"/>
                </a:solidFill>
                <a:latin typeface="Segoe UI"/>
                <a:cs typeface="Segoe UI"/>
              </a:rPr>
              <a:t> </a:t>
            </a:r>
            <a:r>
              <a:rPr sz="1800" dirty="0">
                <a:solidFill>
                  <a:srgbClr val="232323"/>
                </a:solidFill>
                <a:latin typeface="Segoe UI"/>
                <a:cs typeface="Segoe UI"/>
              </a:rPr>
              <a:t>of</a:t>
            </a:r>
            <a:r>
              <a:rPr sz="1800" spc="-40" dirty="0">
                <a:solidFill>
                  <a:srgbClr val="232323"/>
                </a:solidFill>
                <a:latin typeface="Segoe UI"/>
                <a:cs typeface="Segoe UI"/>
              </a:rPr>
              <a:t> </a:t>
            </a:r>
            <a:r>
              <a:rPr sz="1800" dirty="0">
                <a:solidFill>
                  <a:srgbClr val="232323"/>
                </a:solidFill>
                <a:latin typeface="Segoe UI"/>
                <a:cs typeface="Segoe UI"/>
              </a:rPr>
              <a:t>a</a:t>
            </a:r>
            <a:r>
              <a:rPr sz="1800" spc="-30" dirty="0">
                <a:solidFill>
                  <a:srgbClr val="232323"/>
                </a:solidFill>
                <a:latin typeface="Segoe UI"/>
                <a:cs typeface="Segoe UI"/>
              </a:rPr>
              <a:t> </a:t>
            </a:r>
            <a:r>
              <a:rPr sz="1800" spc="-10" dirty="0">
                <a:solidFill>
                  <a:srgbClr val="232323"/>
                </a:solidFill>
                <a:latin typeface="Segoe UI"/>
                <a:cs typeface="Segoe UI"/>
              </a:rPr>
              <a:t>likelihood-</a:t>
            </a:r>
            <a:r>
              <a:rPr sz="1800" dirty="0">
                <a:solidFill>
                  <a:srgbClr val="232323"/>
                </a:solidFill>
                <a:latin typeface="Segoe UI"/>
                <a:cs typeface="Segoe UI"/>
              </a:rPr>
              <a:t>based</a:t>
            </a:r>
            <a:r>
              <a:rPr sz="1800" spc="-30" dirty="0">
                <a:solidFill>
                  <a:srgbClr val="232323"/>
                </a:solidFill>
                <a:latin typeface="Segoe UI"/>
                <a:cs typeface="Segoe UI"/>
              </a:rPr>
              <a:t> </a:t>
            </a:r>
            <a:r>
              <a:rPr sz="1800" dirty="0">
                <a:solidFill>
                  <a:srgbClr val="232323"/>
                </a:solidFill>
                <a:latin typeface="Segoe UI"/>
                <a:cs typeface="Segoe UI"/>
              </a:rPr>
              <a:t>scoring</a:t>
            </a:r>
            <a:r>
              <a:rPr sz="1800" spc="-35" dirty="0">
                <a:solidFill>
                  <a:srgbClr val="232323"/>
                </a:solidFill>
                <a:latin typeface="Segoe UI"/>
                <a:cs typeface="Segoe UI"/>
              </a:rPr>
              <a:t> </a:t>
            </a:r>
            <a:r>
              <a:rPr sz="1800" dirty="0">
                <a:solidFill>
                  <a:srgbClr val="232323"/>
                </a:solidFill>
                <a:latin typeface="Segoe UI"/>
                <a:cs typeface="Segoe UI"/>
              </a:rPr>
              <a:t>method</a:t>
            </a:r>
            <a:r>
              <a:rPr sz="1800" spc="-30" dirty="0">
                <a:solidFill>
                  <a:srgbClr val="232323"/>
                </a:solidFill>
                <a:latin typeface="Segoe UI"/>
                <a:cs typeface="Segoe UI"/>
              </a:rPr>
              <a:t> </a:t>
            </a:r>
            <a:r>
              <a:rPr sz="1800" dirty="0">
                <a:solidFill>
                  <a:srgbClr val="232323"/>
                </a:solidFill>
                <a:latin typeface="Segoe UI"/>
                <a:cs typeface="Segoe UI"/>
              </a:rPr>
              <a:t>distinguishes</a:t>
            </a:r>
            <a:r>
              <a:rPr sz="1800" spc="-35" dirty="0">
                <a:solidFill>
                  <a:srgbClr val="232323"/>
                </a:solidFill>
                <a:latin typeface="Segoe UI"/>
                <a:cs typeface="Segoe UI"/>
              </a:rPr>
              <a:t> </a:t>
            </a:r>
            <a:r>
              <a:rPr sz="1800" dirty="0">
                <a:solidFill>
                  <a:srgbClr val="232323"/>
                </a:solidFill>
                <a:latin typeface="Segoe UI"/>
                <a:cs typeface="Segoe UI"/>
              </a:rPr>
              <a:t>it</a:t>
            </a:r>
            <a:r>
              <a:rPr sz="1800" spc="-30" dirty="0">
                <a:solidFill>
                  <a:srgbClr val="232323"/>
                </a:solidFill>
                <a:latin typeface="Segoe UI"/>
                <a:cs typeface="Segoe UI"/>
              </a:rPr>
              <a:t> </a:t>
            </a:r>
            <a:r>
              <a:rPr sz="1800" dirty="0">
                <a:solidFill>
                  <a:srgbClr val="232323"/>
                </a:solidFill>
                <a:latin typeface="Segoe UI"/>
                <a:cs typeface="Segoe UI"/>
              </a:rPr>
              <a:t>from</a:t>
            </a:r>
            <a:r>
              <a:rPr sz="1800" spc="-45" dirty="0">
                <a:solidFill>
                  <a:srgbClr val="232323"/>
                </a:solidFill>
                <a:latin typeface="Segoe UI"/>
                <a:cs typeface="Segoe UI"/>
              </a:rPr>
              <a:t> </a:t>
            </a:r>
            <a:r>
              <a:rPr sz="1800" dirty="0">
                <a:solidFill>
                  <a:srgbClr val="232323"/>
                </a:solidFill>
                <a:latin typeface="Segoe UI"/>
                <a:cs typeface="Segoe UI"/>
              </a:rPr>
              <a:t>BPE's</a:t>
            </a:r>
            <a:r>
              <a:rPr sz="1800" spc="-35" dirty="0">
                <a:solidFill>
                  <a:srgbClr val="232323"/>
                </a:solidFill>
                <a:latin typeface="Segoe UI"/>
                <a:cs typeface="Segoe UI"/>
              </a:rPr>
              <a:t> </a:t>
            </a:r>
            <a:r>
              <a:rPr sz="1800" dirty="0">
                <a:solidFill>
                  <a:srgbClr val="232323"/>
                </a:solidFill>
                <a:latin typeface="Segoe UI"/>
                <a:cs typeface="Segoe UI"/>
              </a:rPr>
              <a:t>simpler</a:t>
            </a:r>
            <a:r>
              <a:rPr sz="1800" spc="-20" dirty="0">
                <a:solidFill>
                  <a:srgbClr val="232323"/>
                </a:solidFill>
                <a:latin typeface="Segoe UI"/>
                <a:cs typeface="Segoe UI"/>
              </a:rPr>
              <a:t> </a:t>
            </a:r>
            <a:r>
              <a:rPr sz="1800" spc="-10" dirty="0">
                <a:solidFill>
                  <a:srgbClr val="232323"/>
                </a:solidFill>
                <a:latin typeface="Segoe UI"/>
                <a:cs typeface="Segoe UI"/>
              </a:rPr>
              <a:t>frequency-based </a:t>
            </a:r>
            <a:r>
              <a:rPr sz="1800" dirty="0">
                <a:solidFill>
                  <a:srgbClr val="232323"/>
                </a:solidFill>
                <a:latin typeface="Segoe UI"/>
                <a:cs typeface="Segoe UI"/>
              </a:rPr>
              <a:t>approach,</a:t>
            </a:r>
            <a:r>
              <a:rPr sz="1800" spc="-30" dirty="0">
                <a:solidFill>
                  <a:srgbClr val="232323"/>
                </a:solidFill>
                <a:latin typeface="Segoe UI"/>
                <a:cs typeface="Segoe UI"/>
              </a:rPr>
              <a:t> </a:t>
            </a:r>
            <a:r>
              <a:rPr sz="1800" dirty="0">
                <a:solidFill>
                  <a:srgbClr val="232323"/>
                </a:solidFill>
                <a:latin typeface="Segoe UI"/>
                <a:cs typeface="Segoe UI"/>
              </a:rPr>
              <a:t>often</a:t>
            </a:r>
            <a:r>
              <a:rPr sz="1800" spc="-55" dirty="0">
                <a:solidFill>
                  <a:srgbClr val="232323"/>
                </a:solidFill>
                <a:latin typeface="Segoe UI"/>
                <a:cs typeface="Segoe UI"/>
              </a:rPr>
              <a:t> </a:t>
            </a:r>
            <a:r>
              <a:rPr sz="1800" dirty="0">
                <a:solidFill>
                  <a:srgbClr val="232323"/>
                </a:solidFill>
                <a:latin typeface="Segoe UI"/>
                <a:cs typeface="Segoe UI"/>
              </a:rPr>
              <a:t>resulting</a:t>
            </a:r>
            <a:r>
              <a:rPr sz="1800" spc="-30" dirty="0">
                <a:solidFill>
                  <a:srgbClr val="232323"/>
                </a:solidFill>
                <a:latin typeface="Segoe UI"/>
                <a:cs typeface="Segoe UI"/>
              </a:rPr>
              <a:t> </a:t>
            </a:r>
            <a:r>
              <a:rPr sz="1800" dirty="0">
                <a:solidFill>
                  <a:srgbClr val="232323"/>
                </a:solidFill>
                <a:latin typeface="Segoe UI"/>
                <a:cs typeface="Segoe UI"/>
              </a:rPr>
              <a:t>in</a:t>
            </a:r>
            <a:r>
              <a:rPr sz="1800" spc="-40" dirty="0">
                <a:solidFill>
                  <a:srgbClr val="232323"/>
                </a:solidFill>
                <a:latin typeface="Segoe UI"/>
                <a:cs typeface="Segoe UI"/>
              </a:rPr>
              <a:t> </a:t>
            </a:r>
            <a:r>
              <a:rPr sz="1800" dirty="0">
                <a:solidFill>
                  <a:srgbClr val="232323"/>
                </a:solidFill>
                <a:latin typeface="Segoe UI"/>
                <a:cs typeface="Segoe UI"/>
              </a:rPr>
              <a:t>a</a:t>
            </a:r>
            <a:r>
              <a:rPr sz="1800" spc="-35" dirty="0">
                <a:solidFill>
                  <a:srgbClr val="232323"/>
                </a:solidFill>
                <a:latin typeface="Segoe UI"/>
                <a:cs typeface="Segoe UI"/>
              </a:rPr>
              <a:t> </a:t>
            </a:r>
            <a:r>
              <a:rPr sz="1800" dirty="0">
                <a:solidFill>
                  <a:srgbClr val="232323"/>
                </a:solidFill>
                <a:latin typeface="Segoe UI"/>
                <a:cs typeface="Segoe UI"/>
              </a:rPr>
              <a:t>vocabulary</a:t>
            </a:r>
            <a:r>
              <a:rPr sz="1800" spc="-30" dirty="0">
                <a:solidFill>
                  <a:srgbClr val="232323"/>
                </a:solidFill>
                <a:latin typeface="Segoe UI"/>
                <a:cs typeface="Segoe UI"/>
              </a:rPr>
              <a:t> </a:t>
            </a:r>
            <a:r>
              <a:rPr sz="1800" dirty="0">
                <a:solidFill>
                  <a:srgbClr val="232323"/>
                </a:solidFill>
                <a:latin typeface="Segoe UI"/>
                <a:cs typeface="Segoe UI"/>
              </a:rPr>
              <a:t>that</a:t>
            </a:r>
            <a:r>
              <a:rPr sz="1800" spc="-25" dirty="0">
                <a:solidFill>
                  <a:srgbClr val="232323"/>
                </a:solidFill>
                <a:latin typeface="Segoe UI"/>
                <a:cs typeface="Segoe UI"/>
              </a:rPr>
              <a:t> </a:t>
            </a:r>
            <a:r>
              <a:rPr sz="1800" dirty="0">
                <a:solidFill>
                  <a:srgbClr val="232323"/>
                </a:solidFill>
                <a:latin typeface="Segoe UI"/>
                <a:cs typeface="Segoe UI"/>
              </a:rPr>
              <a:t>better</a:t>
            </a:r>
            <a:r>
              <a:rPr sz="1800" spc="-30" dirty="0">
                <a:solidFill>
                  <a:srgbClr val="232323"/>
                </a:solidFill>
                <a:latin typeface="Segoe UI"/>
                <a:cs typeface="Segoe UI"/>
              </a:rPr>
              <a:t> </a:t>
            </a:r>
            <a:r>
              <a:rPr sz="1800" dirty="0">
                <a:solidFill>
                  <a:srgbClr val="232323"/>
                </a:solidFill>
                <a:latin typeface="Segoe UI"/>
                <a:cs typeface="Segoe UI"/>
              </a:rPr>
              <a:t>captures</a:t>
            </a:r>
            <a:r>
              <a:rPr sz="1800" spc="-35" dirty="0">
                <a:solidFill>
                  <a:srgbClr val="232323"/>
                </a:solidFill>
                <a:latin typeface="Segoe UI"/>
                <a:cs typeface="Segoe UI"/>
              </a:rPr>
              <a:t> </a:t>
            </a:r>
            <a:r>
              <a:rPr sz="1800" dirty="0">
                <a:solidFill>
                  <a:srgbClr val="232323"/>
                </a:solidFill>
                <a:latin typeface="Segoe UI"/>
                <a:cs typeface="Segoe UI"/>
              </a:rPr>
              <a:t>the</a:t>
            </a:r>
            <a:r>
              <a:rPr sz="1800" spc="-45" dirty="0">
                <a:solidFill>
                  <a:srgbClr val="232323"/>
                </a:solidFill>
                <a:latin typeface="Segoe UI"/>
                <a:cs typeface="Segoe UI"/>
              </a:rPr>
              <a:t> </a:t>
            </a:r>
            <a:r>
              <a:rPr sz="1800" dirty="0">
                <a:solidFill>
                  <a:srgbClr val="232323"/>
                </a:solidFill>
                <a:latin typeface="Segoe UI"/>
                <a:cs typeface="Segoe UI"/>
              </a:rPr>
              <a:t>linguistic</a:t>
            </a:r>
            <a:r>
              <a:rPr sz="1800" spc="-15" dirty="0">
                <a:solidFill>
                  <a:srgbClr val="232323"/>
                </a:solidFill>
                <a:latin typeface="Segoe UI"/>
                <a:cs typeface="Segoe UI"/>
              </a:rPr>
              <a:t> </a:t>
            </a:r>
            <a:r>
              <a:rPr sz="1800" dirty="0">
                <a:solidFill>
                  <a:srgbClr val="232323"/>
                </a:solidFill>
                <a:latin typeface="Segoe UI"/>
                <a:cs typeface="Segoe UI"/>
              </a:rPr>
              <a:t>structure</a:t>
            </a:r>
            <a:r>
              <a:rPr sz="1800" spc="-55" dirty="0">
                <a:solidFill>
                  <a:srgbClr val="232323"/>
                </a:solidFill>
                <a:latin typeface="Segoe UI"/>
                <a:cs typeface="Segoe UI"/>
              </a:rPr>
              <a:t> </a:t>
            </a:r>
            <a:r>
              <a:rPr sz="1800" dirty="0">
                <a:solidFill>
                  <a:srgbClr val="232323"/>
                </a:solidFill>
                <a:latin typeface="Segoe UI"/>
                <a:cs typeface="Segoe UI"/>
              </a:rPr>
              <a:t>of</a:t>
            </a:r>
            <a:r>
              <a:rPr sz="1800" spc="-45" dirty="0">
                <a:solidFill>
                  <a:srgbClr val="232323"/>
                </a:solidFill>
                <a:latin typeface="Segoe UI"/>
                <a:cs typeface="Segoe UI"/>
              </a:rPr>
              <a:t> </a:t>
            </a:r>
            <a:r>
              <a:rPr sz="1800" dirty="0">
                <a:solidFill>
                  <a:srgbClr val="232323"/>
                </a:solidFill>
                <a:latin typeface="Segoe UI"/>
                <a:cs typeface="Segoe UI"/>
              </a:rPr>
              <a:t>the</a:t>
            </a:r>
            <a:r>
              <a:rPr sz="1800" spc="-45" dirty="0">
                <a:solidFill>
                  <a:srgbClr val="232323"/>
                </a:solidFill>
                <a:latin typeface="Segoe UI"/>
                <a:cs typeface="Segoe UI"/>
              </a:rPr>
              <a:t> </a:t>
            </a:r>
            <a:r>
              <a:rPr sz="1800" dirty="0">
                <a:solidFill>
                  <a:srgbClr val="232323"/>
                </a:solidFill>
                <a:latin typeface="Segoe UI"/>
                <a:cs typeface="Segoe UI"/>
              </a:rPr>
              <a:t>training</a:t>
            </a:r>
            <a:r>
              <a:rPr sz="1800" spc="-35" dirty="0">
                <a:solidFill>
                  <a:srgbClr val="232323"/>
                </a:solidFill>
                <a:latin typeface="Segoe UI"/>
                <a:cs typeface="Segoe UI"/>
              </a:rPr>
              <a:t> </a:t>
            </a:r>
            <a:r>
              <a:rPr sz="1800" spc="-10" dirty="0">
                <a:solidFill>
                  <a:srgbClr val="232323"/>
                </a:solidFill>
                <a:latin typeface="Segoe UI"/>
                <a:cs typeface="Segoe UI"/>
              </a:rPr>
              <a:t>data.</a:t>
            </a:r>
            <a:endParaRPr sz="1800">
              <a:latin typeface="Segoe UI"/>
              <a:cs typeface="Segoe UI"/>
            </a:endParaRPr>
          </a:p>
        </p:txBody>
      </p:sp>
    </p:spTree>
    <p:extLst>
      <p:ext uri="{BB962C8B-B14F-4D97-AF65-F5344CB8AC3E}">
        <p14:creationId xmlns:p14="http://schemas.microsoft.com/office/powerpoint/2010/main" val="3064464679"/>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
          </p:nvPr>
        </p:nvSpPr>
        <p:spPr>
          <a:xfrm>
            <a:off x="0" y="1418706"/>
            <a:ext cx="11164916" cy="5219006"/>
          </a:xfrm>
        </p:spPr>
        <p:txBody>
          <a:bodyPr>
            <a:normAutofit fontScale="77500" lnSpcReduction="20000"/>
          </a:bodyPr>
          <a:lstStyle/>
          <a:p>
            <a:pPr marL="342900" indent="-342900">
              <a:buFont typeface="Arial" panose="020B0604020202020204" pitchFamily="34" charset="0"/>
              <a:buChar char="•"/>
            </a:pPr>
            <a:r>
              <a:rPr lang="en-US" b="0" dirty="0" err="1"/>
              <a:t>WordPiece</a:t>
            </a:r>
            <a:r>
              <a:rPr lang="en-US" b="0" dirty="0"/>
              <a:t> is the tokenization algorithm Google developed to </a:t>
            </a:r>
            <a:r>
              <a:rPr lang="en-US" b="0" dirty="0" err="1"/>
              <a:t>pretrain</a:t>
            </a:r>
            <a:r>
              <a:rPr lang="en-US" b="0" dirty="0"/>
              <a:t> BERT.</a:t>
            </a:r>
          </a:p>
          <a:p>
            <a:pPr marL="342900" indent="-342900">
              <a:buFont typeface="Arial" panose="020B0604020202020204" pitchFamily="34" charset="0"/>
              <a:buChar char="•"/>
            </a:pPr>
            <a:r>
              <a:rPr lang="en-US" b="0" dirty="0"/>
              <a:t> It’s very similar to BPE in terms of the training, but the actual tokenization is done differently.</a:t>
            </a:r>
          </a:p>
          <a:p>
            <a:pPr marL="342900" indent="-342900" eaLnBrk="0" fontAlgn="base" hangingPunct="0">
              <a:lnSpc>
                <a:spcPct val="100000"/>
              </a:lnSpc>
              <a:spcBef>
                <a:spcPct val="0"/>
              </a:spcBef>
              <a:spcAft>
                <a:spcPct val="0"/>
              </a:spcAft>
              <a:buFont typeface="Arial" panose="020B0604020202020204" pitchFamily="34" charset="0"/>
              <a:buChar char="•"/>
            </a:pPr>
            <a:r>
              <a:rPr lang="en-US" altLang="en-US" b="0" dirty="0"/>
              <a:t>S</a:t>
            </a:r>
            <a:r>
              <a:rPr kumimoji="0" lang="en-US" altLang="en-US" b="0" i="0" u="none" strike="noStrike" cap="none" normalizeH="0" baseline="0" dirty="0">
                <a:ln>
                  <a:noFill/>
                </a:ln>
                <a:effectLst/>
              </a:rPr>
              <a:t>tarts from a small vocabulary : special tokens used by the model and the initial alphabet. </a:t>
            </a:r>
          </a:p>
          <a:p>
            <a:pPr marL="342900" indent="-342900" eaLnBrk="0" fontAlgn="base" hangingPunct="0">
              <a:lnSpc>
                <a:spcPct val="100000"/>
              </a:lnSpc>
              <a:spcBef>
                <a:spcPct val="0"/>
              </a:spcBef>
              <a:spcAft>
                <a:spcPct val="0"/>
              </a:spcAft>
              <a:buFont typeface="Arial" panose="020B0604020202020204" pitchFamily="34" charset="0"/>
              <a:buChar char="•"/>
            </a:pPr>
            <a:r>
              <a:rPr lang="en-US" altLang="en-US" b="0" dirty="0"/>
              <a:t>I</a:t>
            </a:r>
            <a:r>
              <a:rPr kumimoji="0" lang="en-US" altLang="en-US" b="0" i="0" u="none" strike="noStrike" cap="none" normalizeH="0" baseline="0" dirty="0">
                <a:ln>
                  <a:noFill/>
                </a:ln>
                <a:effectLst/>
              </a:rPr>
              <a:t>dentifies </a:t>
            </a:r>
            <a:r>
              <a:rPr kumimoji="0" lang="en-US" altLang="en-US" b="0" i="0" u="none" strike="noStrike" cap="none" normalizeH="0" baseline="0" dirty="0" err="1">
                <a:ln>
                  <a:noFill/>
                </a:ln>
                <a:effectLst/>
              </a:rPr>
              <a:t>subwords</a:t>
            </a:r>
            <a:r>
              <a:rPr kumimoji="0" lang="en-US" altLang="en-US" b="0" i="0" u="none" strike="noStrike" cap="none" normalizeH="0" baseline="0" dirty="0">
                <a:ln>
                  <a:noFill/>
                </a:ln>
                <a:effectLst/>
              </a:rPr>
              <a:t> by adding a prefix (like ## for BERT), </a:t>
            </a:r>
          </a:p>
          <a:p>
            <a:pPr marL="342900" indent="-342900" eaLnBrk="0" fontAlgn="base" hangingPunct="0">
              <a:lnSpc>
                <a:spcPct val="100000"/>
              </a:lnSpc>
              <a:spcBef>
                <a:spcPct val="0"/>
              </a:spcBef>
              <a:spcAft>
                <a:spcPct val="0"/>
              </a:spcAft>
              <a:buFont typeface="Arial" panose="020B0604020202020204" pitchFamily="34" charset="0"/>
              <a:buChar char="•"/>
            </a:pPr>
            <a:endParaRPr kumimoji="0" lang="en-US" altLang="en-US" b="0" i="0" u="none" strike="noStrike" cap="none" normalizeH="0" baseline="0" dirty="0">
              <a:ln>
                <a:noFill/>
              </a:ln>
              <a:effectLst/>
            </a:endParaRPr>
          </a:p>
          <a:p>
            <a:pPr marL="800100" lvl="1" indent="-342900" eaLnBrk="0" fontAlgn="base" hangingPunct="0">
              <a:lnSpc>
                <a:spcPct val="100000"/>
              </a:lnSpc>
              <a:spcBef>
                <a:spcPct val="0"/>
              </a:spcBef>
              <a:spcAft>
                <a:spcPct val="0"/>
              </a:spcAft>
              <a:buFont typeface="Arial" panose="020B0604020202020204" pitchFamily="34" charset="0"/>
              <a:buChar char="•"/>
            </a:pPr>
            <a:r>
              <a:rPr lang="en-US" altLang="en-US" b="0" dirty="0"/>
              <a:t>                   </a:t>
            </a:r>
            <a:r>
              <a:rPr kumimoji="0" lang="en-US" altLang="en-US" b="0" i="0" u="none" strike="noStrike" cap="none" normalizeH="0" baseline="0" dirty="0">
                <a:ln>
                  <a:noFill/>
                </a:ln>
                <a:solidFill>
                  <a:srgbClr val="C00000"/>
                </a:solidFill>
                <a:effectLst/>
              </a:rPr>
              <a:t>"word" gets split like this: w  ##o  ##r  ##d</a:t>
            </a:r>
          </a:p>
          <a:p>
            <a:pPr marL="800100" lvl="1" indent="-342900" eaLnBrk="0" fontAlgn="base" hangingPunct="0">
              <a:lnSpc>
                <a:spcPct val="100000"/>
              </a:lnSpc>
              <a:spcBef>
                <a:spcPct val="0"/>
              </a:spcBef>
              <a:spcAft>
                <a:spcPct val="0"/>
              </a:spcAft>
              <a:buFont typeface="Arial" panose="020B0604020202020204" pitchFamily="34" charset="0"/>
              <a:buChar char="•"/>
            </a:pPr>
            <a:endParaRPr kumimoji="0" lang="en-US" altLang="en-US" b="0" i="0" u="none" strike="noStrike" cap="none" normalizeH="0" baseline="0" dirty="0">
              <a:ln>
                <a:noFill/>
              </a:ln>
              <a:solidFill>
                <a:srgbClr val="C00000"/>
              </a:solidFill>
              <a:effectLst/>
            </a:endParaRPr>
          </a:p>
          <a:p>
            <a:pPr marL="342900" indent="-342900" eaLnBrk="0" fontAlgn="base" hangingPunct="0">
              <a:spcBef>
                <a:spcPct val="0"/>
              </a:spcBef>
              <a:spcAft>
                <a:spcPct val="0"/>
              </a:spcAft>
              <a:buFont typeface="Arial" panose="020B0604020202020204" pitchFamily="34" charset="0"/>
              <a:buChar char="•"/>
            </a:pPr>
            <a:r>
              <a:rPr lang="en-US" b="0" dirty="0"/>
              <a:t>Initial </a:t>
            </a:r>
            <a:r>
              <a:rPr lang="en-US" altLang="en-US" b="0" dirty="0"/>
              <a:t>vocabulary</a:t>
            </a:r>
            <a:r>
              <a:rPr lang="en-US" b="0" dirty="0"/>
              <a:t> contains all the characters present at the beginning of a word and the characters present inside a word preceded by the </a:t>
            </a:r>
            <a:r>
              <a:rPr lang="en-US" b="0" dirty="0" err="1"/>
              <a:t>WordPiece</a:t>
            </a:r>
            <a:r>
              <a:rPr lang="en-US" b="0" dirty="0"/>
              <a:t> prefix.</a:t>
            </a:r>
            <a:endParaRPr kumimoji="0" lang="en-US" altLang="en-US" b="0" i="0" u="none" strike="noStrike" cap="none" normalizeH="0" baseline="0" dirty="0">
              <a:ln>
                <a:noFill/>
              </a:ln>
              <a:effectLst/>
            </a:endParaRPr>
          </a:p>
          <a:p>
            <a:pPr marL="342900" indent="-342900">
              <a:buFont typeface="Arial" panose="020B0604020202020204" pitchFamily="34" charset="0"/>
              <a:buChar char="•"/>
            </a:pPr>
            <a:endParaRPr lang="en-US" b="0" dirty="0"/>
          </a:p>
          <a:p>
            <a:pPr marL="342900" indent="-342900">
              <a:buFont typeface="Arial" panose="020B0604020202020204" pitchFamily="34" charset="0"/>
              <a:buChar char="•"/>
            </a:pPr>
            <a:endParaRPr lang="en-IN" b="0" dirty="0"/>
          </a:p>
        </p:txBody>
      </p:sp>
      <p:sp>
        <p:nvSpPr>
          <p:cNvPr id="2" name="Title 1"/>
          <p:cNvSpPr>
            <a:spLocks noGrp="1"/>
          </p:cNvSpPr>
          <p:nvPr>
            <p:ph type="title" idx="4294967295"/>
          </p:nvPr>
        </p:nvSpPr>
        <p:spPr>
          <a:xfrm>
            <a:off x="0" y="200025"/>
            <a:ext cx="10880725" cy="1219200"/>
          </a:xfrm>
        </p:spPr>
        <p:txBody>
          <a:bodyPr/>
          <a:lstStyle/>
          <a:p>
            <a:r>
              <a:rPr lang="en-US" dirty="0" err="1"/>
              <a:t>WordPiece</a:t>
            </a:r>
            <a:r>
              <a:rPr lang="en-US" dirty="0"/>
              <a:t> tokenization algorithm</a:t>
            </a:r>
            <a:br>
              <a:rPr lang="en-IN" dirty="0"/>
            </a:br>
            <a:endParaRPr lang="en-IN" dirty="0"/>
          </a:p>
        </p:txBody>
      </p:sp>
    </p:spTree>
    <p:extLst>
      <p:ext uri="{BB962C8B-B14F-4D97-AF65-F5344CB8AC3E}">
        <p14:creationId xmlns:p14="http://schemas.microsoft.com/office/powerpoint/2010/main" val="1212258533"/>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
          </p:nvPr>
        </p:nvSpPr>
        <p:spPr>
          <a:xfrm>
            <a:off x="157017" y="1047404"/>
            <a:ext cx="12034983" cy="6500552"/>
          </a:xfrm>
        </p:spPr>
        <p:txBody>
          <a:bodyPr>
            <a:noAutofit/>
          </a:bodyPr>
          <a:lstStyle/>
          <a:p>
            <a:pPr marL="342900" indent="-342900" eaLnBrk="0" fontAlgn="base" hangingPunct="0">
              <a:lnSpc>
                <a:spcPct val="100000"/>
              </a:lnSpc>
              <a:spcBef>
                <a:spcPct val="0"/>
              </a:spcBef>
              <a:spcAft>
                <a:spcPct val="0"/>
              </a:spcAft>
              <a:buFont typeface="Arial" panose="020B0604020202020204" pitchFamily="34" charset="0"/>
              <a:buChar char="•"/>
            </a:pPr>
            <a:r>
              <a:rPr lang="en-US" altLang="en-US" sz="2000" dirty="0"/>
              <a:t>C</a:t>
            </a:r>
            <a:r>
              <a:rPr kumimoji="0" lang="en-US" altLang="en-US" sz="2000" b="0" i="0" u="none" strike="noStrike" cap="none" normalizeH="0" baseline="0" dirty="0">
                <a:ln>
                  <a:noFill/>
                </a:ln>
                <a:effectLst/>
              </a:rPr>
              <a:t>orpus uses these five words: </a:t>
            </a:r>
            <a:r>
              <a:rPr kumimoji="0" lang="en-US" altLang="en-US" sz="2000" b="1" i="0" u="none" strike="noStrike" cap="none" normalizeH="0" baseline="0" dirty="0">
                <a:ln>
                  <a:noFill/>
                </a:ln>
                <a:solidFill>
                  <a:srgbClr val="002060"/>
                </a:solidFill>
                <a:effectLst/>
              </a:rPr>
              <a:t>"hug", "pug", "pun", "bun", "hugs"</a:t>
            </a:r>
          </a:p>
          <a:p>
            <a:pPr marL="342900" indent="-342900" eaLnBrk="0" fontAlgn="base" hangingPunct="0">
              <a:lnSpc>
                <a:spcPct val="100000"/>
              </a:lnSpc>
              <a:spcBef>
                <a:spcPct val="0"/>
              </a:spcBef>
              <a:spcAft>
                <a:spcPct val="0"/>
              </a:spcAft>
              <a:buFont typeface="Arial" panose="020B0604020202020204" pitchFamily="34" charset="0"/>
              <a:buChar char="•"/>
            </a:pPr>
            <a:r>
              <a:rPr lang="en-US" sz="2000" dirty="0"/>
              <a:t>Assume the words had the following frequencies: </a:t>
            </a:r>
            <a:r>
              <a:rPr kumimoji="0" lang="en-US" altLang="en-US" sz="2000" b="1" i="0" u="none" strike="noStrike" cap="none" normalizeH="0" baseline="0" dirty="0">
                <a:ln>
                  <a:noFill/>
                </a:ln>
                <a:solidFill>
                  <a:srgbClr val="002060"/>
                </a:solidFill>
                <a:effectLst/>
              </a:rPr>
              <a:t>("hug", 10), ("pug", 5), ("pun", 12), ("bun", 4), ("hugs", 5)</a:t>
            </a:r>
          </a:p>
          <a:p>
            <a:pPr marL="342900" indent="-342900" eaLnBrk="0" fontAlgn="base" hangingPunct="0">
              <a:lnSpc>
                <a:spcPct val="100000"/>
              </a:lnSpc>
              <a:spcBef>
                <a:spcPct val="0"/>
              </a:spcBef>
              <a:spcAft>
                <a:spcPct val="0"/>
              </a:spcAft>
              <a:buFont typeface="Arial" panose="020B0604020202020204" pitchFamily="34" charset="0"/>
              <a:buChar char="•"/>
            </a:pPr>
            <a:r>
              <a:rPr lang="en-US" altLang="en-US" sz="2000" dirty="0"/>
              <a:t>Training: </a:t>
            </a:r>
            <a:r>
              <a:rPr lang="en-US" sz="2000" dirty="0"/>
              <a:t>token </a:t>
            </a:r>
            <a:r>
              <a:rPr lang="en-US" sz="2000" b="1" dirty="0"/>
              <a:t>learner</a:t>
            </a:r>
            <a:r>
              <a:rPr lang="en-US" sz="2000" dirty="0"/>
              <a:t> : </a:t>
            </a:r>
            <a:r>
              <a:rPr lang="en-IN" sz="2000" dirty="0"/>
              <a:t>splitting words and </a:t>
            </a:r>
            <a:r>
              <a:rPr kumimoji="0" lang="en-US" altLang="en-US" sz="2000" b="0" i="0" u="none" strike="noStrike" cap="none" normalizeH="0" baseline="0" dirty="0">
                <a:ln>
                  <a:noFill/>
                </a:ln>
                <a:effectLst/>
              </a:rPr>
              <a:t>adding a prefix ## for </a:t>
            </a:r>
            <a:r>
              <a:rPr kumimoji="0" lang="en-US" altLang="en-US" sz="2000" b="0" i="0" u="none" strike="noStrike" cap="none" normalizeH="0" baseline="0" dirty="0" err="1">
                <a:ln>
                  <a:noFill/>
                </a:ln>
                <a:effectLst/>
              </a:rPr>
              <a:t>subwords</a:t>
            </a:r>
            <a:endParaRPr kumimoji="0" lang="en-US" altLang="en-US" sz="2000" b="0" i="0" u="none" strike="noStrike" cap="none" normalizeH="0" baseline="0" dirty="0">
              <a:ln>
                <a:noFill/>
              </a:ln>
              <a:effectLst/>
            </a:endParaRPr>
          </a:p>
          <a:p>
            <a:pPr marL="1257300" lvl="2" indent="-342900" eaLnBrk="0" hangingPunct="0">
              <a:spcBef>
                <a:spcPct val="0"/>
              </a:spcBef>
              <a:buFont typeface="Arial" panose="020B0604020202020204" pitchFamily="34" charset="0"/>
              <a:buChar char="•"/>
            </a:pPr>
            <a:r>
              <a:rPr kumimoji="0" lang="en-US" altLang="en-US" sz="2000" b="0" i="0" u="none" strike="noStrike" cap="none" normalizeH="0" baseline="0" dirty="0">
                <a:ln>
                  <a:noFill/>
                </a:ln>
                <a:effectLst/>
              </a:rPr>
              <a:t>("h" "##u" "##g", 10), ("p" "##u" "##g", 5), ("p" "##u" "##n", 12), </a:t>
            </a:r>
          </a:p>
          <a:p>
            <a:pPr marL="1257300" lvl="2" indent="-342900" eaLnBrk="0" hangingPunct="0">
              <a:spcBef>
                <a:spcPct val="0"/>
              </a:spcBef>
              <a:buFont typeface="Arial" panose="020B0604020202020204" pitchFamily="34" charset="0"/>
              <a:buChar char="•"/>
            </a:pPr>
            <a:r>
              <a:rPr kumimoji="0" lang="en-US" altLang="en-US" sz="2000" b="0" i="0" u="none" strike="noStrike" cap="none" normalizeH="0" baseline="0" dirty="0">
                <a:ln>
                  <a:noFill/>
                </a:ln>
                <a:effectLst/>
              </a:rPr>
              <a:t>("b" "##u" "##n", 4), ("h" "##u" "##g" "##s", 5) </a:t>
            </a:r>
          </a:p>
          <a:p>
            <a:pPr marL="1257300" lvl="2" indent="-342900" eaLnBrk="0" hangingPunct="0">
              <a:spcBef>
                <a:spcPct val="0"/>
              </a:spcBef>
              <a:buFont typeface="Arial" panose="020B0604020202020204" pitchFamily="34" charset="0"/>
              <a:buChar char="•"/>
            </a:pPr>
            <a:endParaRPr kumimoji="0" lang="en-US" altLang="en-US" sz="2000" b="0" i="0" u="none" strike="noStrike" cap="none" normalizeH="0" baseline="0" dirty="0">
              <a:ln>
                <a:noFill/>
              </a:ln>
              <a:effectLst/>
            </a:endParaRPr>
          </a:p>
          <a:p>
            <a:pPr marL="342900" indent="-342900" eaLnBrk="0" fontAlgn="base" hangingPunct="0">
              <a:lnSpc>
                <a:spcPct val="100000"/>
              </a:lnSpc>
              <a:spcBef>
                <a:spcPct val="0"/>
              </a:spcBef>
              <a:spcAft>
                <a:spcPct val="0"/>
              </a:spcAft>
              <a:buFont typeface="Arial" panose="020B0604020202020204" pitchFamily="34" charset="0"/>
              <a:buChar char="•"/>
            </a:pPr>
            <a:r>
              <a:rPr lang="en-US" altLang="en-US" sz="2000" dirty="0"/>
              <a:t>First iteration: </a:t>
            </a:r>
            <a:r>
              <a:rPr kumimoji="0" lang="en-US" altLang="en-US" sz="2000" b="0" i="0" u="none" strike="noStrike" cap="none" normalizeH="0" baseline="0" dirty="0">
                <a:ln>
                  <a:noFill/>
                </a:ln>
                <a:effectLst/>
              </a:rPr>
              <a:t>initial vocabulary : ["b", "h", "p", "##g", "##n", "##s", "##u"] (ignoring </a:t>
            </a:r>
            <a:r>
              <a:rPr lang="en-IN" sz="2000" dirty="0"/>
              <a:t>special tokens)</a:t>
            </a:r>
          </a:p>
          <a:p>
            <a:pPr marL="1257300" lvl="2" indent="-342900" eaLnBrk="0" hangingPunct="0">
              <a:spcBef>
                <a:spcPct val="0"/>
              </a:spcBef>
              <a:buFont typeface="Arial" panose="020B0604020202020204" pitchFamily="34" charset="0"/>
              <a:buChar char="•"/>
            </a:pPr>
            <a:r>
              <a:rPr kumimoji="0" lang="en-US" altLang="en-US" sz="2000" b="0" i="0" u="none" strike="noStrike" cap="none" normalizeH="0" baseline="0" dirty="0">
                <a:ln>
                  <a:noFill/>
                </a:ln>
                <a:effectLst/>
              </a:rPr>
              <a:t>Score ("##u", "##g")  :  pair </a:t>
            </a:r>
            <a:r>
              <a:rPr kumimoji="0" lang="en-US" altLang="en-US" sz="2000" b="0" i="0" u="none" strike="noStrike" cap="none" normalizeH="0" baseline="0" dirty="0" err="1">
                <a:ln>
                  <a:noFill/>
                </a:ln>
                <a:effectLst/>
              </a:rPr>
              <a:t>freq</a:t>
            </a:r>
            <a:r>
              <a:rPr kumimoji="0" lang="en-US" altLang="en-US" sz="2000" b="0" i="0" u="none" strike="noStrike" cap="none" normalizeH="0" baseline="0" dirty="0">
                <a:ln>
                  <a:noFill/>
                </a:ln>
                <a:effectLst/>
              </a:rPr>
              <a:t>/individual </a:t>
            </a:r>
            <a:r>
              <a:rPr kumimoji="0" lang="en-US" altLang="en-US" sz="2000" b="0" i="0" u="none" strike="noStrike" cap="none" normalizeH="0" baseline="0" dirty="0" err="1">
                <a:ln>
                  <a:noFill/>
                </a:ln>
                <a:effectLst/>
              </a:rPr>
              <a:t>freq</a:t>
            </a:r>
            <a:r>
              <a:rPr kumimoji="0" lang="en-US" altLang="en-US" sz="2000" b="0" i="0" u="none" strike="noStrike" cap="none" normalizeH="0" baseline="0" dirty="0">
                <a:ln>
                  <a:noFill/>
                </a:ln>
                <a:effectLst/>
              </a:rPr>
              <a:t> = 20/36*20=1/36</a:t>
            </a:r>
          </a:p>
          <a:p>
            <a:pPr marL="1257300" lvl="2" indent="-342900" eaLnBrk="0" hangingPunct="0">
              <a:spcBef>
                <a:spcPct val="0"/>
              </a:spcBef>
              <a:buFont typeface="Arial" panose="020B0604020202020204" pitchFamily="34" charset="0"/>
              <a:buChar char="•"/>
            </a:pPr>
            <a:r>
              <a:rPr lang="en-IN" sz="2000" dirty="0"/>
              <a:t>Score ("##g", "##s"): </a:t>
            </a:r>
            <a:r>
              <a:rPr kumimoji="0" lang="en-US" altLang="en-US" sz="2000" b="0" i="0" u="none" strike="noStrike" cap="none" normalizeH="0" baseline="0" dirty="0">
                <a:ln>
                  <a:noFill/>
                </a:ln>
                <a:effectLst/>
              </a:rPr>
              <a:t>pair </a:t>
            </a:r>
            <a:r>
              <a:rPr kumimoji="0" lang="en-US" altLang="en-US" sz="2000" b="0" i="0" u="none" strike="noStrike" cap="none" normalizeH="0" baseline="0" dirty="0" err="1">
                <a:ln>
                  <a:noFill/>
                </a:ln>
                <a:effectLst/>
              </a:rPr>
              <a:t>freq</a:t>
            </a:r>
            <a:r>
              <a:rPr kumimoji="0" lang="en-US" altLang="en-US" sz="2000" b="0" i="0" u="none" strike="noStrike" cap="none" normalizeH="0" baseline="0" dirty="0">
                <a:ln>
                  <a:noFill/>
                </a:ln>
                <a:effectLst/>
              </a:rPr>
              <a:t>/individual </a:t>
            </a:r>
            <a:r>
              <a:rPr kumimoji="0" lang="en-US" altLang="en-US" sz="2000" b="0" i="0" u="none" strike="noStrike" cap="none" normalizeH="0" baseline="0" dirty="0" err="1">
                <a:ln>
                  <a:noFill/>
                </a:ln>
                <a:effectLst/>
              </a:rPr>
              <a:t>freq</a:t>
            </a:r>
            <a:r>
              <a:rPr kumimoji="0" lang="en-US" altLang="en-US" sz="2000" b="0" i="0" u="none" strike="noStrike" cap="none" normalizeH="0" baseline="0" dirty="0">
                <a:ln>
                  <a:noFill/>
                </a:ln>
                <a:effectLst/>
              </a:rPr>
              <a:t> = 5/20*5=1/20</a:t>
            </a:r>
          </a:p>
          <a:p>
            <a:pPr marL="1257300" lvl="2" indent="-342900" eaLnBrk="0" hangingPunct="0">
              <a:spcBef>
                <a:spcPct val="0"/>
              </a:spcBef>
              <a:buFont typeface="Arial" panose="020B0604020202020204" pitchFamily="34" charset="0"/>
              <a:buChar char="•"/>
            </a:pPr>
            <a:r>
              <a:rPr lang="en-US" altLang="en-US" sz="2000" dirty="0"/>
              <a:t>Likewise compute scores for all the pairs</a:t>
            </a:r>
            <a:endParaRPr kumimoji="0" lang="en-US" altLang="en-US" sz="2000" b="0" i="0" u="none" strike="noStrike" cap="none" normalizeH="0" baseline="0" dirty="0">
              <a:ln>
                <a:noFill/>
              </a:ln>
              <a:effectLst/>
            </a:endParaRPr>
          </a:p>
          <a:p>
            <a:pPr marL="1257300" lvl="2" indent="-342900" eaLnBrk="0" hangingPunct="0">
              <a:spcBef>
                <a:spcPct val="0"/>
              </a:spcBef>
              <a:buFont typeface="Arial" panose="020B0604020202020204" pitchFamily="34" charset="0"/>
              <a:buChar char="•"/>
            </a:pPr>
            <a:r>
              <a:rPr lang="en-US" altLang="en-US" sz="2000" dirty="0"/>
              <a:t>first merge learned is ("##g", "##s") -&gt; </a:t>
            </a:r>
            <a:r>
              <a:rPr lang="en-US" altLang="en-US" sz="2000" b="1" dirty="0">
                <a:solidFill>
                  <a:srgbClr val="7030A0"/>
                </a:solidFill>
              </a:rPr>
              <a:t>("##</a:t>
            </a:r>
            <a:r>
              <a:rPr lang="en-US" altLang="en-US" sz="2000" b="1" dirty="0" err="1">
                <a:solidFill>
                  <a:srgbClr val="7030A0"/>
                </a:solidFill>
              </a:rPr>
              <a:t>gs</a:t>
            </a:r>
            <a:r>
              <a:rPr lang="en-US" altLang="en-US" sz="2000" b="1" dirty="0">
                <a:solidFill>
                  <a:srgbClr val="7030A0"/>
                </a:solidFill>
              </a:rPr>
              <a:t>") </a:t>
            </a:r>
          </a:p>
          <a:p>
            <a:pPr marL="342900" indent="-342900" eaLnBrk="0" fontAlgn="base" hangingPunct="0">
              <a:spcBef>
                <a:spcPct val="0"/>
              </a:spcBef>
              <a:spcAft>
                <a:spcPct val="0"/>
              </a:spcAft>
              <a:buFont typeface="Arial" panose="020B0604020202020204" pitchFamily="34" charset="0"/>
              <a:buChar char="•"/>
            </a:pPr>
            <a:r>
              <a:rPr lang="en-US" altLang="en-US" sz="2000" dirty="0"/>
              <a:t>Vocabulary after first iteration: ["b", "h", "p", "##g", "##n", "##s", "##u“, </a:t>
            </a:r>
            <a:r>
              <a:rPr lang="en-US" altLang="en-US" sz="2000" b="1" dirty="0">
                <a:solidFill>
                  <a:srgbClr val="7030A0"/>
                </a:solidFill>
              </a:rPr>
              <a:t>"##</a:t>
            </a:r>
            <a:r>
              <a:rPr lang="en-US" altLang="en-US" sz="2000" b="1" dirty="0" err="1">
                <a:solidFill>
                  <a:srgbClr val="7030A0"/>
                </a:solidFill>
              </a:rPr>
              <a:t>gs</a:t>
            </a:r>
            <a:r>
              <a:rPr lang="en-US" altLang="en-US" sz="2000" b="1" dirty="0">
                <a:solidFill>
                  <a:srgbClr val="7030A0"/>
                </a:solidFill>
              </a:rPr>
              <a:t>" </a:t>
            </a:r>
            <a:r>
              <a:rPr lang="en-US" altLang="en-US" sz="2000" dirty="0"/>
              <a:t>] </a:t>
            </a:r>
          </a:p>
          <a:p>
            <a:pPr marL="342900" indent="-342900" eaLnBrk="0" fontAlgn="base" hangingPunct="0">
              <a:lnSpc>
                <a:spcPct val="100000"/>
              </a:lnSpc>
              <a:spcBef>
                <a:spcPct val="0"/>
              </a:spcBef>
              <a:spcAft>
                <a:spcPct val="0"/>
              </a:spcAft>
              <a:buFont typeface="Arial" panose="020B0604020202020204" pitchFamily="34" charset="0"/>
              <a:buChar char="•"/>
            </a:pPr>
            <a:r>
              <a:rPr lang="en-US" altLang="en-US" sz="2000" dirty="0"/>
              <a:t>Repeat iterations till you get a desired vocab size.</a:t>
            </a:r>
          </a:p>
        </p:txBody>
      </p:sp>
      <p:sp>
        <p:nvSpPr>
          <p:cNvPr id="2" name="Title 1"/>
          <p:cNvSpPr>
            <a:spLocks noGrp="1"/>
          </p:cNvSpPr>
          <p:nvPr>
            <p:ph type="title" idx="4294967295"/>
          </p:nvPr>
        </p:nvSpPr>
        <p:spPr>
          <a:xfrm>
            <a:off x="0" y="0"/>
            <a:ext cx="10880725" cy="1219200"/>
          </a:xfrm>
        </p:spPr>
        <p:txBody>
          <a:bodyPr/>
          <a:lstStyle/>
          <a:p>
            <a:r>
              <a:rPr lang="en-US" dirty="0"/>
              <a:t>Tokenization example using </a:t>
            </a:r>
            <a:r>
              <a:rPr lang="en-US" dirty="0" err="1"/>
              <a:t>wordpiece</a:t>
            </a:r>
            <a:br>
              <a:rPr lang="en-IN" dirty="0"/>
            </a:br>
            <a:endParaRPr lang="en-IN" dirty="0"/>
          </a:p>
        </p:txBody>
      </p:sp>
    </p:spTree>
    <p:extLst>
      <p:ext uri="{BB962C8B-B14F-4D97-AF65-F5344CB8AC3E}">
        <p14:creationId xmlns:p14="http://schemas.microsoft.com/office/powerpoint/2010/main" val="3024190148"/>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
          </p:nvPr>
        </p:nvSpPr>
        <p:spPr>
          <a:xfrm>
            <a:off x="339898" y="1429788"/>
            <a:ext cx="11663679" cy="5817524"/>
          </a:xfrm>
        </p:spPr>
        <p:txBody>
          <a:bodyPr>
            <a:noAutofit/>
          </a:bodyPr>
          <a:lstStyle/>
          <a:p>
            <a:pPr marL="342900" indent="-342900">
              <a:buFont typeface="Arial" panose="020B0604020202020204" pitchFamily="34" charset="0"/>
              <a:buChar char="•"/>
            </a:pPr>
            <a:r>
              <a:rPr lang="en-US" sz="2000" dirty="0"/>
              <a:t>Token </a:t>
            </a:r>
            <a:r>
              <a:rPr lang="en-US" sz="2000" b="1" dirty="0" err="1"/>
              <a:t>segmenter</a:t>
            </a:r>
            <a:r>
              <a:rPr lang="en-US" sz="2000" b="1" dirty="0"/>
              <a:t>: </a:t>
            </a:r>
            <a:r>
              <a:rPr lang="en-US" sz="2000" dirty="0"/>
              <a:t>New inputs are tokenized by applying the following steps:</a:t>
            </a:r>
          </a:p>
          <a:p>
            <a:pPr marL="800100" lvl="1" indent="-342900">
              <a:buFont typeface="Arial" panose="020B0604020202020204" pitchFamily="34" charset="0"/>
              <a:buChar char="•"/>
            </a:pPr>
            <a:r>
              <a:rPr lang="en-US" sz="2000" dirty="0"/>
              <a:t>Pre-tokenize it</a:t>
            </a:r>
          </a:p>
          <a:p>
            <a:pPr marL="800100" lvl="1" indent="-342900">
              <a:buFont typeface="Arial" panose="020B0604020202020204" pitchFamily="34" charset="0"/>
              <a:buChar char="•"/>
            </a:pPr>
            <a:r>
              <a:rPr lang="en-US" sz="2000" dirty="0"/>
              <a:t> Split it</a:t>
            </a:r>
          </a:p>
          <a:p>
            <a:pPr marL="800100" lvl="1" indent="-342900">
              <a:buFont typeface="Arial" panose="020B0604020202020204" pitchFamily="34" charset="0"/>
              <a:buChar char="•"/>
            </a:pPr>
            <a:r>
              <a:rPr lang="en-US" sz="2000" dirty="0"/>
              <a:t>Apply the tokenization algorithm on each word. </a:t>
            </a:r>
          </a:p>
          <a:p>
            <a:pPr marL="1257300" lvl="2" indent="-342900">
              <a:buFont typeface="Arial" panose="020B0604020202020204" pitchFamily="34" charset="0"/>
              <a:buChar char="•"/>
            </a:pPr>
            <a:r>
              <a:rPr lang="en-US" sz="2000" dirty="0"/>
              <a:t>Look for the biggest </a:t>
            </a:r>
            <a:r>
              <a:rPr lang="en-US" sz="2000" dirty="0" err="1"/>
              <a:t>subword</a:t>
            </a:r>
            <a:r>
              <a:rPr lang="en-US" sz="2000" dirty="0"/>
              <a:t> starting at the beginning of the first word and split it</a:t>
            </a:r>
          </a:p>
          <a:p>
            <a:pPr marL="1257300" lvl="2" indent="-342900">
              <a:buFont typeface="Arial" panose="020B0604020202020204" pitchFamily="34" charset="0"/>
              <a:buChar char="•"/>
            </a:pPr>
            <a:r>
              <a:rPr lang="en-US" sz="2000" dirty="0"/>
              <a:t>Repeat the process on the second part </a:t>
            </a:r>
          </a:p>
          <a:p>
            <a:pPr marL="1257300" lvl="2" indent="-342900">
              <a:buFont typeface="Arial" panose="020B0604020202020204" pitchFamily="34" charset="0"/>
              <a:buChar char="•"/>
            </a:pPr>
            <a:r>
              <a:rPr lang="en-US" sz="2000" dirty="0"/>
              <a:t>And so on for the rest of that word and the following words in the text</a:t>
            </a:r>
          </a:p>
          <a:p>
            <a:pPr marL="342900" indent="-342900" eaLnBrk="0" fontAlgn="base" hangingPunct="0">
              <a:lnSpc>
                <a:spcPct val="100000"/>
              </a:lnSpc>
              <a:spcBef>
                <a:spcPct val="0"/>
              </a:spcBef>
              <a:spcAft>
                <a:spcPct val="0"/>
              </a:spcAft>
              <a:buFont typeface="Arial" panose="020B0604020202020204" pitchFamily="34" charset="0"/>
              <a:buChar char="•"/>
            </a:pPr>
            <a:r>
              <a:rPr lang="en-US" altLang="en-US" sz="2000" dirty="0"/>
              <a:t>Continuing the example: suppose the final vocab learnt: </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effectLst/>
              </a:rPr>
              <a:t>Vocabulary: </a:t>
            </a:r>
            <a:r>
              <a:rPr kumimoji="0" lang="en-US" altLang="en-US" sz="2000" b="1" i="0" u="none" strike="noStrike" cap="none" normalizeH="0" baseline="0" dirty="0">
                <a:ln>
                  <a:noFill/>
                </a:ln>
                <a:solidFill>
                  <a:srgbClr val="7030A0"/>
                </a:solidFill>
                <a:effectLst/>
              </a:rPr>
              <a:t>["b", "h", "p", "##g", "##n", "##s", "##u", "##</a:t>
            </a:r>
            <a:r>
              <a:rPr kumimoji="0" lang="en-US" altLang="en-US" sz="2000" b="1" i="0" u="none" strike="noStrike" cap="none" normalizeH="0" baseline="0" dirty="0" err="1">
                <a:ln>
                  <a:noFill/>
                </a:ln>
                <a:solidFill>
                  <a:srgbClr val="7030A0"/>
                </a:solidFill>
                <a:effectLst/>
              </a:rPr>
              <a:t>gs</a:t>
            </a:r>
            <a:r>
              <a:rPr kumimoji="0" lang="en-US" altLang="en-US" sz="2000" b="1" i="0" u="none" strike="noStrike" cap="none" normalizeH="0" baseline="0" dirty="0">
                <a:ln>
                  <a:noFill/>
                </a:ln>
                <a:solidFill>
                  <a:srgbClr val="7030A0"/>
                </a:solidFill>
                <a:effectLst/>
              </a:rPr>
              <a:t>", "</a:t>
            </a:r>
            <a:r>
              <a:rPr kumimoji="0" lang="en-US" altLang="en-US" sz="2000" b="1" i="0" u="none" strike="noStrike" cap="none" normalizeH="0" baseline="0" dirty="0" err="1">
                <a:ln>
                  <a:noFill/>
                </a:ln>
                <a:solidFill>
                  <a:srgbClr val="7030A0"/>
                </a:solidFill>
                <a:effectLst/>
              </a:rPr>
              <a:t>hu</a:t>
            </a:r>
            <a:r>
              <a:rPr kumimoji="0" lang="en-US" altLang="en-US" sz="2000" b="1" i="0" u="none" strike="noStrike" cap="none" normalizeH="0" baseline="0" dirty="0">
                <a:ln>
                  <a:noFill/>
                </a:ln>
                <a:solidFill>
                  <a:srgbClr val="7030A0"/>
                </a:solidFill>
                <a:effectLst/>
              </a:rPr>
              <a:t>", "hug"] </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effectLst/>
              </a:rPr>
              <a:t>Corpus: ("hug", 10), ("p" "##u" "##g", 5), ("p" "##u" "##n", 12), ("b" "##u" "##n", 4), ("</a:t>
            </a:r>
            <a:r>
              <a:rPr kumimoji="0" lang="en-US" altLang="en-US" sz="2000" b="0" i="0" u="none" strike="noStrike" cap="none" normalizeH="0" baseline="0" dirty="0" err="1">
                <a:ln>
                  <a:noFill/>
                </a:ln>
                <a:effectLst/>
              </a:rPr>
              <a:t>hu</a:t>
            </a:r>
            <a:r>
              <a:rPr kumimoji="0" lang="en-US" altLang="en-US" sz="2000" b="0" i="0" u="none" strike="noStrike" cap="none" normalizeH="0" baseline="0" dirty="0">
                <a:ln>
                  <a:noFill/>
                </a:ln>
                <a:effectLst/>
              </a:rPr>
              <a:t>" "##</a:t>
            </a:r>
            <a:r>
              <a:rPr kumimoji="0" lang="en-US" altLang="en-US" sz="2000" b="0" i="0" u="none" strike="noStrike" cap="none" normalizeH="0" baseline="0" dirty="0" err="1">
                <a:ln>
                  <a:noFill/>
                </a:ln>
                <a:effectLst/>
              </a:rPr>
              <a:t>gs</a:t>
            </a:r>
            <a:r>
              <a:rPr kumimoji="0" lang="en-US" altLang="en-US" sz="2000" b="0" i="0" u="none" strike="noStrike" cap="none" normalizeH="0" baseline="0" dirty="0">
                <a:ln>
                  <a:noFill/>
                </a:ln>
                <a:effectLst/>
              </a:rPr>
              <a:t>", 5)</a:t>
            </a:r>
          </a:p>
          <a:p>
            <a:pPr marL="800100" lvl="1" indent="-342900">
              <a:buFont typeface="Arial" panose="020B0604020202020204" pitchFamily="34" charset="0"/>
              <a:buChar char="•"/>
            </a:pPr>
            <a:r>
              <a:rPr lang="en-US" sz="2000" b="1" dirty="0">
                <a:solidFill>
                  <a:srgbClr val="002060"/>
                </a:solidFill>
              </a:rPr>
              <a:t>Test word : “hugs”    </a:t>
            </a:r>
          </a:p>
          <a:p>
            <a:pPr marL="800100" lvl="1" indent="-342900">
              <a:buFont typeface="Arial" panose="020B0604020202020204" pitchFamily="34" charset="0"/>
              <a:buChar char="•"/>
            </a:pPr>
            <a:r>
              <a:rPr lang="en-US" sz="2000" b="1" dirty="0">
                <a:solidFill>
                  <a:srgbClr val="002060"/>
                </a:solidFill>
              </a:rPr>
              <a:t>T</a:t>
            </a:r>
            <a:r>
              <a:rPr lang="en-US" altLang="en-US" sz="2000" b="1" dirty="0">
                <a:solidFill>
                  <a:srgbClr val="002060"/>
                </a:solidFill>
              </a:rPr>
              <a:t>okenization of "hugs" is ["hug", "##s"] </a:t>
            </a:r>
          </a:p>
          <a:p>
            <a:pPr marL="800100" lvl="1" indent="-342900" eaLnBrk="0" fontAlgn="base" hangingPunct="0">
              <a:spcBef>
                <a:spcPct val="0"/>
              </a:spcBef>
              <a:spcAft>
                <a:spcPct val="0"/>
              </a:spcAft>
              <a:buFont typeface="Arial" panose="020B0604020202020204" pitchFamily="34" charset="0"/>
              <a:buChar char="•"/>
            </a:pPr>
            <a:endParaRPr kumimoji="0" lang="en-US" altLang="en-US" sz="2000" b="0" i="0" u="none" strike="noStrike" cap="none" normalizeH="0" baseline="0" dirty="0">
              <a:ln>
                <a:noFill/>
              </a:ln>
              <a:effectLst/>
            </a:endParaRPr>
          </a:p>
          <a:p>
            <a:pPr marL="1257300" lvl="2" indent="-342900">
              <a:buFont typeface="Arial" panose="020B0604020202020204" pitchFamily="34" charset="0"/>
              <a:buChar char="•"/>
            </a:pPr>
            <a:endParaRPr lang="en-IN" sz="2000" dirty="0"/>
          </a:p>
        </p:txBody>
      </p:sp>
      <p:sp>
        <p:nvSpPr>
          <p:cNvPr id="2" name="Title 1"/>
          <p:cNvSpPr>
            <a:spLocks noGrp="1"/>
          </p:cNvSpPr>
          <p:nvPr>
            <p:ph type="title" idx="4294967295"/>
          </p:nvPr>
        </p:nvSpPr>
        <p:spPr>
          <a:xfrm>
            <a:off x="0" y="0"/>
            <a:ext cx="10880725" cy="1219200"/>
          </a:xfrm>
        </p:spPr>
        <p:txBody>
          <a:bodyPr/>
          <a:lstStyle/>
          <a:p>
            <a:r>
              <a:rPr lang="en-US" dirty="0"/>
              <a:t>Tokenization example using </a:t>
            </a:r>
            <a:r>
              <a:rPr lang="en-US" dirty="0" err="1"/>
              <a:t>wordpiece</a:t>
            </a:r>
            <a:br>
              <a:rPr lang="en-IN" dirty="0"/>
            </a:br>
            <a:endParaRPr lang="en-IN" dirty="0"/>
          </a:p>
        </p:txBody>
      </p:sp>
    </p:spTree>
    <p:extLst>
      <p:ext uri="{BB962C8B-B14F-4D97-AF65-F5344CB8AC3E}">
        <p14:creationId xmlns:p14="http://schemas.microsoft.com/office/powerpoint/2010/main" val="3321633338"/>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1953</TotalTime>
  <Words>5558</Words>
  <Application>Microsoft Office PowerPoint</Application>
  <PresentationFormat>Widescreen</PresentationFormat>
  <Paragraphs>572</Paragraphs>
  <Slides>66</Slides>
  <Notes>16</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66</vt:i4>
      </vt:variant>
    </vt:vector>
  </HeadingPairs>
  <TitlesOfParts>
    <vt:vector size="82" baseType="lpstr">
      <vt:lpstr>Arial</vt:lpstr>
      <vt:lpstr>Arial MT</vt:lpstr>
      <vt:lpstr>Calibri</vt:lpstr>
      <vt:lpstr>Calibri Light</vt:lpstr>
      <vt:lpstr>Cambria</vt:lpstr>
      <vt:lpstr>Cambria Math</vt:lpstr>
      <vt:lpstr>Courier New</vt:lpstr>
      <vt:lpstr>Montserrat</vt:lpstr>
      <vt:lpstr>pplxSerif</vt:lpstr>
      <vt:lpstr>Segoe UI</vt:lpstr>
      <vt:lpstr>Spectral</vt:lpstr>
      <vt:lpstr>Tahoma</vt:lpstr>
      <vt:lpstr>Times New Roman</vt:lpstr>
      <vt:lpstr>Wingdings</vt:lpstr>
      <vt:lpstr>1_Office Theme</vt:lpstr>
      <vt:lpstr>2_Office Theme</vt:lpstr>
      <vt:lpstr> </vt:lpstr>
      <vt:lpstr>PowerPoint Presentation</vt:lpstr>
      <vt:lpstr>PowerPoint Presentation</vt:lpstr>
      <vt:lpstr>Evaluation</vt:lpstr>
      <vt:lpstr>PowerPoint Presentation</vt:lpstr>
      <vt:lpstr>PowerPoint Presentation</vt:lpstr>
      <vt:lpstr>PowerPoint Presentation</vt:lpstr>
      <vt:lpstr>Probabilistic Language Models</vt:lpstr>
      <vt:lpstr>PowerPoint Presentation</vt:lpstr>
      <vt:lpstr>PowerPoint Presentation</vt:lpstr>
      <vt:lpstr>PowerPoint Presentation</vt:lpstr>
      <vt:lpstr>PowerPoint Presentation</vt:lpstr>
      <vt:lpstr>Natural language generation with LLMs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Word structure and subword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Wordpiece</vt:lpstr>
      <vt:lpstr>Wordpiece</vt:lpstr>
      <vt:lpstr>WordPiece tokenization algorithm </vt:lpstr>
      <vt:lpstr>Tokenization example using wordpiece </vt:lpstr>
      <vt:lpstr>Tokenization example using wordpiece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Microsoft account</dc:creator>
  <cp:lastModifiedBy>Monali Mavani .</cp:lastModifiedBy>
  <cp:revision>79</cp:revision>
  <dcterms:created xsi:type="dcterms:W3CDTF">2026-03-18T13:07:06Z</dcterms:created>
  <dcterms:modified xsi:type="dcterms:W3CDTF">2026-04-24T13:54:32Z</dcterms:modified>
</cp:coreProperties>
</file>