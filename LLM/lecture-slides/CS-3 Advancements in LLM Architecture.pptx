
<file path=[Content_Types].xml><?xml version="1.0" encoding="utf-8"?>
<Types xmlns="http://schemas.openxmlformats.org/package/2006/content-types">
  <Default Extension="emf" ContentType="image/x-emf"/>
  <Default Extension="jpeg" ContentType="image/jpeg"/>
  <Default Extension="jpg" ContentType="image/jp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0" r:id="rId1"/>
    <p:sldMasterId id="2147483674" r:id="rId2"/>
  </p:sldMasterIdLst>
  <p:notesMasterIdLst>
    <p:notesMasterId r:id="rId45"/>
  </p:notesMasterIdLst>
  <p:sldIdLst>
    <p:sldId id="257" r:id="rId3"/>
    <p:sldId id="258" r:id="rId4"/>
    <p:sldId id="262" r:id="rId5"/>
    <p:sldId id="480" r:id="rId6"/>
    <p:sldId id="422" r:id="rId7"/>
    <p:sldId id="443" r:id="rId8"/>
    <p:sldId id="442" r:id="rId9"/>
    <p:sldId id="446" r:id="rId10"/>
    <p:sldId id="444" r:id="rId11"/>
    <p:sldId id="424" r:id="rId12"/>
    <p:sldId id="635" r:id="rId13"/>
    <p:sldId id="431" r:id="rId14"/>
    <p:sldId id="636" r:id="rId15"/>
    <p:sldId id="637" r:id="rId16"/>
    <p:sldId id="437" r:id="rId17"/>
    <p:sldId id="439" r:id="rId18"/>
    <p:sldId id="440" r:id="rId19"/>
    <p:sldId id="445" r:id="rId20"/>
    <p:sldId id="447" r:id="rId21"/>
    <p:sldId id="448" r:id="rId22"/>
    <p:sldId id="453" r:id="rId23"/>
    <p:sldId id="454" r:id="rId24"/>
    <p:sldId id="467" r:id="rId25"/>
    <p:sldId id="461" r:id="rId26"/>
    <p:sldId id="459" r:id="rId27"/>
    <p:sldId id="460" r:id="rId28"/>
    <p:sldId id="462" r:id="rId29"/>
    <p:sldId id="640" r:id="rId30"/>
    <p:sldId id="641" r:id="rId31"/>
    <p:sldId id="464" r:id="rId32"/>
    <p:sldId id="465" r:id="rId33"/>
    <p:sldId id="639" r:id="rId34"/>
    <p:sldId id="472" r:id="rId35"/>
    <p:sldId id="646" r:id="rId36"/>
    <p:sldId id="642" r:id="rId37"/>
    <p:sldId id="643" r:id="rId38"/>
    <p:sldId id="645" r:id="rId39"/>
    <p:sldId id="427" r:id="rId40"/>
    <p:sldId id="267" r:id="rId41"/>
    <p:sldId id="638" r:id="rId42"/>
    <p:sldId id="570" r:id="rId43"/>
    <p:sldId id="634"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88200" autoAdjust="0"/>
  </p:normalViewPr>
  <p:slideViewPr>
    <p:cSldViewPr snapToGrid="0">
      <p:cViewPr varScale="1">
        <p:scale>
          <a:sx n="65" d="100"/>
          <a:sy n="65" d="100"/>
        </p:scale>
        <p:origin x="724" y="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36311DD-96BC-48D8-A887-C0241ACEBCEC}" type="datetimeFigureOut">
              <a:rPr lang="en-IN" smtClean="0"/>
              <a:t>08-05-2026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AD1180-89B7-4B77-82A2-F71C55345F5A}" type="slidenum">
              <a:rPr lang="en-IN" smtClean="0"/>
              <a:t>‹#›</a:t>
            </a:fld>
            <a:endParaRPr lang="en-IN"/>
          </a:p>
        </p:txBody>
      </p:sp>
    </p:spTree>
    <p:extLst>
      <p:ext uri="{BB962C8B-B14F-4D97-AF65-F5344CB8AC3E}">
        <p14:creationId xmlns:p14="http://schemas.microsoft.com/office/powerpoint/2010/main" val="6754814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AAD1180-89B7-4B77-82A2-F71C55345F5A}" type="slidenum">
              <a:rPr lang="en-IN" smtClean="0"/>
              <a:t>5</a:t>
            </a:fld>
            <a:endParaRPr lang="en-IN"/>
          </a:p>
        </p:txBody>
      </p:sp>
    </p:spTree>
    <p:extLst>
      <p:ext uri="{BB962C8B-B14F-4D97-AF65-F5344CB8AC3E}">
        <p14:creationId xmlns:p14="http://schemas.microsoft.com/office/powerpoint/2010/main" val="10093113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AAD1180-89B7-4B77-82A2-F71C55345F5A}" type="slidenum">
              <a:rPr lang="en-IN" smtClean="0"/>
              <a:t>6</a:t>
            </a:fld>
            <a:endParaRPr lang="en-IN"/>
          </a:p>
        </p:txBody>
      </p:sp>
    </p:spTree>
    <p:extLst>
      <p:ext uri="{BB962C8B-B14F-4D97-AF65-F5344CB8AC3E}">
        <p14:creationId xmlns:p14="http://schemas.microsoft.com/office/powerpoint/2010/main" val="5659344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AAD1180-89B7-4B77-82A2-F71C55345F5A}" type="slidenum">
              <a:rPr lang="en-IN" smtClean="0"/>
              <a:t>7</a:t>
            </a:fld>
            <a:endParaRPr lang="en-IN"/>
          </a:p>
        </p:txBody>
      </p:sp>
    </p:spTree>
    <p:extLst>
      <p:ext uri="{BB962C8B-B14F-4D97-AF65-F5344CB8AC3E}">
        <p14:creationId xmlns:p14="http://schemas.microsoft.com/office/powerpoint/2010/main" val="38248763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AAD1180-89B7-4B77-82A2-F71C55345F5A}" type="slidenum">
              <a:rPr lang="en-IN" smtClean="0"/>
              <a:t>8</a:t>
            </a:fld>
            <a:endParaRPr lang="en-IN"/>
          </a:p>
        </p:txBody>
      </p:sp>
    </p:spTree>
    <p:extLst>
      <p:ext uri="{BB962C8B-B14F-4D97-AF65-F5344CB8AC3E}">
        <p14:creationId xmlns:p14="http://schemas.microsoft.com/office/powerpoint/2010/main" val="34470584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IN" dirty="0"/>
              </a:p>
            </p:txBody>
          </p:sp>
        </mc:Choice>
        <mc:Fallback xmlns="">
          <p:sp>
            <p:nvSpPr>
              <p:cNvPr id="3" name="Notes Placeholder 2"/>
              <p:cNvSpPr>
                <a:spLocks noGrp="1"/>
              </p:cNvSpPr>
              <p:nvPr>
                <p:ph type="body" idx="1"/>
              </p:nvPr>
            </p:nvSpPr>
            <p:spPr/>
            <p:txBody>
              <a:bodyPr/>
              <a:lstStyle/>
              <a:p>
                <a:r>
                  <a:rPr lang="en-US" dirty="0"/>
                  <a:t>The effect I</a:t>
                </a:r>
              </a:p>
              <a:p>
                <a:r>
                  <a:rPr lang="en-US" sz="1200" b="0" i="0" kern="1200" dirty="0" err="1">
                    <a:solidFill>
                      <a:schemeClr val="tx1"/>
                    </a:solidFill>
                    <a:effectLst/>
                    <a:latin typeface="+mn-lt"/>
                    <a:ea typeface="+mn-ea"/>
                    <a:cs typeface="+mn-cs"/>
                  </a:rPr>
                  <a:t>QKNorm</a:t>
                </a:r>
                <a:r>
                  <a:rPr lang="en-US" sz="1200" b="0" i="0" kern="1200" dirty="0">
                    <a:solidFill>
                      <a:schemeClr val="tx1"/>
                    </a:solidFill>
                    <a:effectLst/>
                    <a:latin typeface="+mn-lt"/>
                    <a:ea typeface="+mn-ea"/>
                    <a:cs typeface="+mn-cs"/>
                  </a:rPr>
                  <a:t> is used to normalize the query and key vectors before attention so their dot products do not become arbitrarily large, which makes </a:t>
                </a:r>
                <a:r>
                  <a:rPr lang="en-US" sz="1200" b="0" i="0" kern="1200" dirty="0" err="1">
                    <a:solidFill>
                      <a:schemeClr val="tx1"/>
                    </a:solidFill>
                    <a:effectLst/>
                    <a:latin typeface="+mn-lt"/>
                    <a:ea typeface="+mn-ea"/>
                    <a:cs typeface="+mn-cs"/>
                  </a:rPr>
                  <a:t>softmax</a:t>
                </a:r>
                <a:r>
                  <a:rPr lang="en-US" sz="1200" b="0" i="0" kern="1200" dirty="0">
                    <a:solidFill>
                      <a:schemeClr val="tx1"/>
                    </a:solidFill>
                    <a:effectLst/>
                    <a:latin typeface="+mn-lt"/>
                    <a:ea typeface="+mn-ea"/>
                    <a:cs typeface="+mn-cs"/>
                  </a:rPr>
                  <a:t> less likely to saturate and training more </a:t>
                </a:r>
                <a:r>
                  <a:rPr lang="en-US" sz="1200" b="0" i="0" kern="1200" dirty="0" err="1">
                    <a:solidFill>
                      <a:schemeClr val="tx1"/>
                    </a:solidFill>
                    <a:effectLst/>
                    <a:latin typeface="+mn-lt"/>
                    <a:ea typeface="+mn-ea"/>
                    <a:cs typeface="+mn-cs"/>
                  </a:rPr>
                  <a:t>stable.</a:t>
                </a:r>
                <a:r>
                  <a:rPr lang="en-US" dirty="0" err="1"/>
                  <a:t>s</a:t>
                </a:r>
                <a:r>
                  <a:rPr lang="en-US" dirty="0"/>
                  <a:t> to make each element of QKT the cosine similarity of the corresponding pair of contextual token representations instead of their dot product. </a:t>
                </a:r>
                <a:r>
                  <a:rPr lang="en-IN" sz="1200" b="0" i="0" kern="1200" dirty="0">
                    <a:solidFill>
                      <a:schemeClr val="tx1"/>
                    </a:solidFill>
                    <a:effectLst/>
                    <a:latin typeface="+mn-lt"/>
                    <a:ea typeface="+mn-ea"/>
                    <a:cs typeface="+mn-cs"/>
                  </a:rPr>
                  <a:t>In effect, it changes attention from being heavily driven by raw vector magnitude to something closer to scaled cosine similarity, usually with a learnable scale instead of the fixed </a:t>
                </a:r>
                <a:r>
                  <a:rPr lang="en-IN" sz="1200" i="0" kern="1200">
                    <a:solidFill>
                      <a:schemeClr val="tx1"/>
                    </a:solidFill>
                    <a:latin typeface="+mn-lt"/>
                    <a:ea typeface="+mn-ea"/>
                    <a:cs typeface="+mn-cs"/>
                  </a:rPr>
                  <a:t>1/</a:t>
                </a:r>
                <a:r>
                  <a:rPr lang="ar-AE" sz="1200" i="0" kern="1200">
                    <a:solidFill>
                      <a:schemeClr val="tx1"/>
                    </a:solidFill>
                    <a:latin typeface="+mn-lt"/>
                    <a:ea typeface="+mn-ea"/>
                    <a:cs typeface="+mn-cs"/>
                  </a:rPr>
                  <a:t>√(𝑑_𝑘 )</a:t>
                </a:r>
                <a:r>
                  <a:rPr lang="ar-AE" sz="1200" b="0" i="0" kern="1200" dirty="0">
                    <a:solidFill>
                      <a:schemeClr val="tx1"/>
                    </a:solidFill>
                    <a:effectLst/>
                    <a:latin typeface="+mn-lt"/>
                    <a:ea typeface="+mn-ea"/>
                    <a:cs typeface="+mn-cs"/>
                  </a:rPr>
                  <a:t> </a:t>
                </a:r>
                <a:r>
                  <a:rPr lang="en-IN" sz="1200" b="0" i="0" kern="1200" dirty="0">
                    <a:solidFill>
                      <a:schemeClr val="tx1"/>
                    </a:solidFill>
                    <a:effectLst/>
                    <a:latin typeface="+mn-lt"/>
                    <a:ea typeface="+mn-ea"/>
                    <a:cs typeface="+mn-cs"/>
                  </a:rPr>
                  <a:t>factor.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QKNorm</a:t>
                </a:r>
                <a:r>
                  <a:rPr lang="en-US" sz="1200" b="0" i="0" kern="1200" dirty="0">
                    <a:solidFill>
                      <a:schemeClr val="tx1"/>
                    </a:solidFill>
                    <a:effectLst/>
                    <a:latin typeface="+mn-lt"/>
                    <a:ea typeface="+mn-ea"/>
                    <a:cs typeface="+mn-cs"/>
                  </a:rPr>
                  <a:t> is especially helpful in regimes where Q and K norms tend to grow or drift, including low-resource training and some multimodal transformers.</a:t>
                </a:r>
                <a:br>
                  <a:rPr lang="en-US" dirty="0"/>
                </a:br>
                <a:r>
                  <a:rPr lang="en-US" sz="1200" b="0" i="0" kern="1200" dirty="0">
                    <a:solidFill>
                      <a:schemeClr val="tx1"/>
                    </a:solidFill>
                    <a:effectLst/>
                    <a:latin typeface="+mn-lt"/>
                    <a:ea typeface="+mn-ea"/>
                    <a:cs typeface="+mn-cs"/>
                  </a:rPr>
                  <a:t>Recent discussions also note that it has become important in unified multimodal models because those setups can be particularly prone to instability without extra normalization in attention. </a:t>
                </a:r>
                <a:r>
                  <a:rPr lang="en-US" sz="1200" b="0" i="0" kern="1200" dirty="0" err="1">
                    <a:solidFill>
                      <a:schemeClr val="tx1"/>
                    </a:solidFill>
                    <a:effectLst/>
                    <a:latin typeface="+mn-lt"/>
                    <a:ea typeface="+mn-ea"/>
                    <a:cs typeface="+mn-cs"/>
                  </a:rPr>
                  <a:t>RMSNorm</a:t>
                </a:r>
                <a:r>
                  <a:rPr lang="en-US" sz="1200" b="0" i="0" kern="1200" dirty="0">
                    <a:solidFill>
                      <a:schemeClr val="tx1"/>
                    </a:solidFill>
                    <a:effectLst/>
                    <a:latin typeface="+mn-lt"/>
                    <a:ea typeface="+mn-ea"/>
                    <a:cs typeface="+mn-cs"/>
                  </a:rPr>
                  <a:t> is the baseline normalization choice, while QK-Norm is an extra attention-specific stabilization technique you add when training dynamics or scaling behavior benefit from it.</a:t>
                </a:r>
                <a:endParaRPr lang="en-IN" dirty="0"/>
              </a:p>
            </p:txBody>
          </p:sp>
        </mc:Fallback>
      </mc:AlternateContent>
      <p:sp>
        <p:nvSpPr>
          <p:cNvPr id="4" name="Slide Number Placeholder 3"/>
          <p:cNvSpPr>
            <a:spLocks noGrp="1"/>
          </p:cNvSpPr>
          <p:nvPr>
            <p:ph type="sldNum" sz="quarter" idx="5"/>
          </p:nvPr>
        </p:nvSpPr>
        <p:spPr/>
        <p:txBody>
          <a:bodyPr/>
          <a:lstStyle/>
          <a:p>
            <a:fld id="{9AAD1180-89B7-4B77-82A2-F71C55345F5A}" type="slidenum">
              <a:rPr lang="en-IN" smtClean="0"/>
              <a:t>9</a:t>
            </a:fld>
            <a:endParaRPr lang="en-IN"/>
          </a:p>
        </p:txBody>
      </p:sp>
    </p:spTree>
    <p:extLst>
      <p:ext uri="{BB962C8B-B14F-4D97-AF65-F5344CB8AC3E}">
        <p14:creationId xmlns:p14="http://schemas.microsoft.com/office/powerpoint/2010/main" val="19303408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AAD1180-89B7-4B77-82A2-F71C55345F5A}" type="slidenum">
              <a:rPr lang="en-IN" smtClean="0"/>
              <a:t>13</a:t>
            </a:fld>
            <a:endParaRPr lang="en-IN"/>
          </a:p>
        </p:txBody>
      </p:sp>
    </p:spTree>
    <p:extLst>
      <p:ext uri="{BB962C8B-B14F-4D97-AF65-F5344CB8AC3E}">
        <p14:creationId xmlns:p14="http://schemas.microsoft.com/office/powerpoint/2010/main" val="33885933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AAD1180-89B7-4B77-82A2-F71C55345F5A}" type="slidenum">
              <a:rPr lang="en-IN" smtClean="0"/>
              <a:t>14</a:t>
            </a:fld>
            <a:endParaRPr lang="en-IN"/>
          </a:p>
        </p:txBody>
      </p:sp>
    </p:spTree>
    <p:extLst>
      <p:ext uri="{BB962C8B-B14F-4D97-AF65-F5344CB8AC3E}">
        <p14:creationId xmlns:p14="http://schemas.microsoft.com/office/powerpoint/2010/main" val="7596816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AAD1180-89B7-4B77-82A2-F71C55345F5A}" type="slidenum">
              <a:rPr lang="en-IN" smtClean="0"/>
              <a:t>17</a:t>
            </a:fld>
            <a:endParaRPr lang="en-IN"/>
          </a:p>
        </p:txBody>
      </p:sp>
    </p:spTree>
    <p:extLst>
      <p:ext uri="{BB962C8B-B14F-4D97-AF65-F5344CB8AC3E}">
        <p14:creationId xmlns:p14="http://schemas.microsoft.com/office/powerpoint/2010/main" val="13811757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AAD1180-89B7-4B77-82A2-F71C55345F5A}" type="slidenum">
              <a:rPr lang="en-IN" smtClean="0"/>
              <a:t>19</a:t>
            </a:fld>
            <a:endParaRPr lang="en-IN"/>
          </a:p>
        </p:txBody>
      </p:sp>
    </p:spTree>
    <p:extLst>
      <p:ext uri="{BB962C8B-B14F-4D97-AF65-F5344CB8AC3E}">
        <p14:creationId xmlns:p14="http://schemas.microsoft.com/office/powerpoint/2010/main" val="37940979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AAD1180-89B7-4B77-82A2-F71C55345F5A}" type="slidenum">
              <a:rPr lang="en-IN" smtClean="0"/>
              <a:t>20</a:t>
            </a:fld>
            <a:endParaRPr lang="en-IN"/>
          </a:p>
        </p:txBody>
      </p:sp>
    </p:spTree>
    <p:extLst>
      <p:ext uri="{BB962C8B-B14F-4D97-AF65-F5344CB8AC3E}">
        <p14:creationId xmlns:p14="http://schemas.microsoft.com/office/powerpoint/2010/main" val="12631038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AAD1180-89B7-4B77-82A2-F71C55345F5A}" type="slidenum">
              <a:rPr lang="en-IN" smtClean="0"/>
              <a:t>21</a:t>
            </a:fld>
            <a:endParaRPr lang="en-IN"/>
          </a:p>
        </p:txBody>
      </p:sp>
    </p:spTree>
    <p:extLst>
      <p:ext uri="{BB962C8B-B14F-4D97-AF65-F5344CB8AC3E}">
        <p14:creationId xmlns:p14="http://schemas.microsoft.com/office/powerpoint/2010/main" val="24342228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IN" dirty="0"/>
              </a:p>
            </p:txBody>
          </p:sp>
        </mc:Choice>
        <mc:Fallback xmlns="">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So, overall, using the GLU variants results in fewer parameters, and they perform better as well. The reason for this better performance is that these GLU variants provide an additional multiplicative interaction, which improves expressivity (the same reason deep &amp; slim neural nets perform better than shallow &amp; wide neural nets, provided they are trained well).</a:t>
                </a:r>
              </a:p>
              <a:p>
                <a:r>
                  <a:rPr lang="en-US" sz="1200" b="0" i="0" kern="1200" dirty="0">
                    <a:solidFill>
                      <a:schemeClr val="tx1"/>
                    </a:solidFill>
                    <a:effectLst/>
                    <a:latin typeface="+mn-lt"/>
                    <a:ea typeface="+mn-ea"/>
                    <a:cs typeface="+mn-cs"/>
                  </a:rPr>
                  <a:t>GLUs are used because they let the network </a:t>
                </a:r>
                <a:r>
                  <a:rPr lang="en-US" sz="1200" b="1" i="0" kern="1200" dirty="0">
                    <a:solidFill>
                      <a:schemeClr val="tx1"/>
                    </a:solidFill>
                    <a:effectLst/>
                    <a:latin typeface="+mn-lt"/>
                    <a:ea typeface="+mn-ea"/>
                    <a:cs typeface="+mn-cs"/>
                  </a:rPr>
                  <a:t>gate</a:t>
                </a:r>
                <a:r>
                  <a:rPr lang="en-US" sz="1200" b="0" i="0" kern="1200" dirty="0">
                    <a:solidFill>
                      <a:schemeClr val="tx1"/>
                    </a:solidFill>
                    <a:effectLst/>
                    <a:latin typeface="+mn-lt"/>
                    <a:ea typeface="+mn-ea"/>
                    <a:cs typeface="+mn-cs"/>
                  </a:rPr>
                  <a:t> information: one pathway produces candidate features and another pathway decides, element by element, how much of those features should pass through</a:t>
                </a:r>
              </a:p>
              <a:p>
                <a:r>
                  <a:rPr lang="en-US" sz="1200" b="0" i="0" kern="1200" dirty="0">
                    <a:solidFill>
                      <a:schemeClr val="tx1"/>
                    </a:solidFill>
                    <a:effectLst/>
                    <a:latin typeface="+mn-lt"/>
                    <a:ea typeface="+mn-ea"/>
                    <a:cs typeface="+mn-cs"/>
                  </a:rPr>
                  <a:t>A simple mental model is: GELU says “transform every feature smoothly,” while GLU says “transform features and learn which ones should pass.”</a:t>
                </a:r>
              </a:p>
              <a:p>
                <a:r>
                  <a:rPr lang="en-IN" i="0">
                    <a:latin typeface="Cambria Math" panose="02040503050406030204" pitchFamily="18" charset="0"/>
                  </a:rPr>
                  <a:t>𝑥𝑉</a:t>
                </a:r>
                <a:r>
                  <a:rPr lang="en-IN" dirty="0"/>
                  <a:t> is the content/value path, and </a:t>
                </a:r>
              </a:p>
            </p:txBody>
          </p:sp>
        </mc:Fallback>
      </mc:AlternateContent>
      <p:sp>
        <p:nvSpPr>
          <p:cNvPr id="4" name="Slide Number Placeholder 3"/>
          <p:cNvSpPr>
            <a:spLocks noGrp="1"/>
          </p:cNvSpPr>
          <p:nvPr>
            <p:ph type="sldNum" sz="quarter" idx="10"/>
          </p:nvPr>
        </p:nvSpPr>
        <p:spPr/>
        <p:txBody>
          <a:bodyPr/>
          <a:lstStyle/>
          <a:p>
            <a:fld id="{9AAD1180-89B7-4B77-82A2-F71C55345F5A}" type="slidenum">
              <a:rPr lang="en-IN" smtClean="0"/>
              <a:t>22</a:t>
            </a:fld>
            <a:endParaRPr lang="en-IN"/>
          </a:p>
        </p:txBody>
      </p:sp>
    </p:spTree>
    <p:extLst>
      <p:ext uri="{BB962C8B-B14F-4D97-AF65-F5344CB8AC3E}">
        <p14:creationId xmlns:p14="http://schemas.microsoft.com/office/powerpoint/2010/main" val="41741017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AAD1180-89B7-4B77-82A2-F71C55345F5A}" type="slidenum">
              <a:rPr lang="en-IN" smtClean="0"/>
              <a:t>24</a:t>
            </a:fld>
            <a:endParaRPr lang="en-IN"/>
          </a:p>
        </p:txBody>
      </p:sp>
    </p:spTree>
    <p:extLst>
      <p:ext uri="{BB962C8B-B14F-4D97-AF65-F5344CB8AC3E}">
        <p14:creationId xmlns:p14="http://schemas.microsoft.com/office/powerpoint/2010/main" val="29226349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AAD1180-89B7-4B77-82A2-F71C55345F5A}" type="slidenum">
              <a:rPr lang="en-IN" smtClean="0"/>
              <a:t>25</a:t>
            </a:fld>
            <a:endParaRPr lang="en-IN"/>
          </a:p>
        </p:txBody>
      </p:sp>
    </p:spTree>
    <p:extLst>
      <p:ext uri="{BB962C8B-B14F-4D97-AF65-F5344CB8AC3E}">
        <p14:creationId xmlns:p14="http://schemas.microsoft.com/office/powerpoint/2010/main" val="22754892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AAD1180-89B7-4B77-82A2-F71C55345F5A}" type="slidenum">
              <a:rPr lang="en-IN" smtClean="0"/>
              <a:t>29</a:t>
            </a:fld>
            <a:endParaRPr lang="en-IN"/>
          </a:p>
        </p:txBody>
      </p:sp>
    </p:spTree>
    <p:extLst>
      <p:ext uri="{BB962C8B-B14F-4D97-AF65-F5344CB8AC3E}">
        <p14:creationId xmlns:p14="http://schemas.microsoft.com/office/powerpoint/2010/main" val="31219368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AAD1180-89B7-4B77-82A2-F71C55345F5A}" type="slidenum">
              <a:rPr lang="en-IN" smtClean="0"/>
              <a:t>33</a:t>
            </a:fld>
            <a:endParaRPr lang="en-IN"/>
          </a:p>
        </p:txBody>
      </p:sp>
    </p:spTree>
    <p:extLst>
      <p:ext uri="{BB962C8B-B14F-4D97-AF65-F5344CB8AC3E}">
        <p14:creationId xmlns:p14="http://schemas.microsoft.com/office/powerpoint/2010/main" val="7387982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AAD1180-89B7-4B77-82A2-F71C55345F5A}" type="slidenum">
              <a:rPr lang="en-IN" smtClean="0"/>
              <a:t>34</a:t>
            </a:fld>
            <a:endParaRPr lang="en-IN"/>
          </a:p>
        </p:txBody>
      </p:sp>
    </p:spTree>
    <p:extLst>
      <p:ext uri="{BB962C8B-B14F-4D97-AF65-F5344CB8AC3E}">
        <p14:creationId xmlns:p14="http://schemas.microsoft.com/office/powerpoint/2010/main" val="3341329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2.xml"/><Relationship Id="rId1" Type="http://schemas.openxmlformats.org/officeDocument/2006/relationships/tags" Target="../tags/tag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2.xml"/><Relationship Id="rId1" Type="http://schemas.openxmlformats.org/officeDocument/2006/relationships/tags" Target="../tags/tag2.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2.xml"/><Relationship Id="rId1" Type="http://schemas.openxmlformats.org/officeDocument/2006/relationships/tags" Target="../tags/tag3.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2.xml"/><Relationship Id="rId1" Type="http://schemas.openxmlformats.org/officeDocument/2006/relationships/tags" Target="../tags/tag4.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2.xml"/><Relationship Id="rId1" Type="http://schemas.openxmlformats.org/officeDocument/2006/relationships/tags" Target="../tags/tag5.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2.xml"/><Relationship Id="rId1" Type="http://schemas.openxmlformats.org/officeDocument/2006/relationships/tags" Target="../tags/tag6.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D93CF500-1D26-44BC-BC6C-88E98416E58A}" type="datetimeFigureOut">
              <a:rPr lang="en-IN" smtClean="0">
                <a:solidFill>
                  <a:prstClr val="black">
                    <a:tint val="75000"/>
                  </a:prstClr>
                </a:solidFill>
              </a:rPr>
              <a:pPr/>
              <a:t>08-05-2026</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D5714EA2-AE2F-48FB-9E42-953B9A61852C}"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39188173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D93CF500-1D26-44BC-BC6C-88E98416E58A}" type="datetimeFigureOut">
              <a:rPr lang="en-IN" smtClean="0">
                <a:solidFill>
                  <a:prstClr val="black">
                    <a:tint val="75000"/>
                  </a:prstClr>
                </a:solidFill>
              </a:rPr>
              <a:pPr/>
              <a:t>08-05-2026</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D5714EA2-AE2F-48FB-9E42-953B9A61852C}"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41765198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93CF500-1D26-44BC-BC6C-88E98416E58A}" type="datetimeFigureOut">
              <a:rPr lang="en-IN" smtClean="0">
                <a:solidFill>
                  <a:prstClr val="black">
                    <a:tint val="75000"/>
                  </a:prstClr>
                </a:solidFill>
              </a:rPr>
              <a:pPr/>
              <a:t>08-05-2026</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D5714EA2-AE2F-48FB-9E42-953B9A61852C}"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2802680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D93CF500-1D26-44BC-BC6C-88E98416E58A}" type="datetimeFigureOut">
              <a:rPr lang="en-IN" smtClean="0">
                <a:solidFill>
                  <a:prstClr val="black">
                    <a:tint val="75000"/>
                  </a:prstClr>
                </a:solidFill>
              </a:rPr>
              <a:pPr/>
              <a:t>08-05-2026</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7" name="Slide Number Placeholder 6"/>
          <p:cNvSpPr>
            <a:spLocks noGrp="1"/>
          </p:cNvSpPr>
          <p:nvPr>
            <p:ph type="sldNum" sz="quarter" idx="12"/>
          </p:nvPr>
        </p:nvSpPr>
        <p:spPr/>
        <p:txBody>
          <a:bodyPr/>
          <a:lstStyle/>
          <a:p>
            <a:fld id="{D5714EA2-AE2F-48FB-9E42-953B9A61852C}"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4793211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D93CF500-1D26-44BC-BC6C-88E98416E58A}" type="datetimeFigureOut">
              <a:rPr lang="en-IN" smtClean="0">
                <a:solidFill>
                  <a:prstClr val="black">
                    <a:tint val="75000"/>
                  </a:prstClr>
                </a:solidFill>
              </a:rPr>
              <a:pPr/>
              <a:t>08-05-2026</a:t>
            </a:fld>
            <a:endParaRPr lang="en-IN">
              <a:solidFill>
                <a:prstClr val="black">
                  <a:tint val="75000"/>
                </a:prstClr>
              </a:solidFill>
            </a:endParaRPr>
          </a:p>
        </p:txBody>
      </p:sp>
      <p:sp>
        <p:nvSpPr>
          <p:cNvPr id="8" name="Footer Placeholder 7"/>
          <p:cNvSpPr>
            <a:spLocks noGrp="1"/>
          </p:cNvSpPr>
          <p:nvPr>
            <p:ph type="ftr" sz="quarter" idx="11"/>
          </p:nvPr>
        </p:nvSpPr>
        <p:spPr/>
        <p:txBody>
          <a:bodyPr/>
          <a:lstStyle/>
          <a:p>
            <a:endParaRPr lang="en-IN">
              <a:solidFill>
                <a:prstClr val="black">
                  <a:tint val="75000"/>
                </a:prstClr>
              </a:solidFill>
            </a:endParaRPr>
          </a:p>
        </p:txBody>
      </p:sp>
      <p:sp>
        <p:nvSpPr>
          <p:cNvPr id="9" name="Slide Number Placeholder 8"/>
          <p:cNvSpPr>
            <a:spLocks noGrp="1"/>
          </p:cNvSpPr>
          <p:nvPr>
            <p:ph type="sldNum" sz="quarter" idx="12"/>
          </p:nvPr>
        </p:nvSpPr>
        <p:spPr/>
        <p:txBody>
          <a:bodyPr/>
          <a:lstStyle/>
          <a:p>
            <a:fld id="{D5714EA2-AE2F-48FB-9E42-953B9A61852C}"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5154820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D93CF500-1D26-44BC-BC6C-88E98416E58A}" type="datetimeFigureOut">
              <a:rPr lang="en-IN" smtClean="0">
                <a:solidFill>
                  <a:prstClr val="black">
                    <a:tint val="75000"/>
                  </a:prstClr>
                </a:solidFill>
              </a:rPr>
              <a:pPr/>
              <a:t>08-05-2026</a:t>
            </a:fld>
            <a:endParaRPr lang="en-IN">
              <a:solidFill>
                <a:prstClr val="black">
                  <a:tint val="75000"/>
                </a:prstClr>
              </a:solidFill>
            </a:endParaRPr>
          </a:p>
        </p:txBody>
      </p:sp>
      <p:sp>
        <p:nvSpPr>
          <p:cNvPr id="4" name="Footer Placeholder 3"/>
          <p:cNvSpPr>
            <a:spLocks noGrp="1"/>
          </p:cNvSpPr>
          <p:nvPr>
            <p:ph type="ftr" sz="quarter" idx="11"/>
          </p:nvPr>
        </p:nvSpPr>
        <p:spPr/>
        <p:txBody>
          <a:bodyPr/>
          <a:lstStyle/>
          <a:p>
            <a:endParaRPr lang="en-IN">
              <a:solidFill>
                <a:prstClr val="black">
                  <a:tint val="75000"/>
                </a:prstClr>
              </a:solidFill>
            </a:endParaRPr>
          </a:p>
        </p:txBody>
      </p:sp>
      <p:sp>
        <p:nvSpPr>
          <p:cNvPr id="5" name="Slide Number Placeholder 4"/>
          <p:cNvSpPr>
            <a:spLocks noGrp="1"/>
          </p:cNvSpPr>
          <p:nvPr>
            <p:ph type="sldNum" sz="quarter" idx="12"/>
          </p:nvPr>
        </p:nvSpPr>
        <p:spPr/>
        <p:txBody>
          <a:bodyPr/>
          <a:lstStyle/>
          <a:p>
            <a:fld id="{D5714EA2-AE2F-48FB-9E42-953B9A61852C}"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42049519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93CF500-1D26-44BC-BC6C-88E98416E58A}" type="datetimeFigureOut">
              <a:rPr lang="en-IN" smtClean="0">
                <a:solidFill>
                  <a:prstClr val="black">
                    <a:tint val="75000"/>
                  </a:prstClr>
                </a:solidFill>
              </a:rPr>
              <a:pPr/>
              <a:t>08-05-2026</a:t>
            </a:fld>
            <a:endParaRPr lang="en-IN">
              <a:solidFill>
                <a:prstClr val="black">
                  <a:tint val="75000"/>
                </a:prstClr>
              </a:solidFill>
            </a:endParaRPr>
          </a:p>
        </p:txBody>
      </p:sp>
      <p:sp>
        <p:nvSpPr>
          <p:cNvPr id="3" name="Footer Placeholder 2"/>
          <p:cNvSpPr>
            <a:spLocks noGrp="1"/>
          </p:cNvSpPr>
          <p:nvPr>
            <p:ph type="ftr" sz="quarter" idx="11"/>
          </p:nvPr>
        </p:nvSpPr>
        <p:spPr/>
        <p:txBody>
          <a:bodyPr/>
          <a:lstStyle/>
          <a:p>
            <a:endParaRPr lang="en-IN">
              <a:solidFill>
                <a:prstClr val="black">
                  <a:tint val="75000"/>
                </a:prstClr>
              </a:solidFill>
            </a:endParaRPr>
          </a:p>
        </p:txBody>
      </p:sp>
      <p:sp>
        <p:nvSpPr>
          <p:cNvPr id="4" name="Slide Number Placeholder 3"/>
          <p:cNvSpPr>
            <a:spLocks noGrp="1"/>
          </p:cNvSpPr>
          <p:nvPr>
            <p:ph type="sldNum" sz="quarter" idx="12"/>
          </p:nvPr>
        </p:nvSpPr>
        <p:spPr/>
        <p:txBody>
          <a:bodyPr/>
          <a:lstStyle/>
          <a:p>
            <a:fld id="{D5714EA2-AE2F-48FB-9E42-953B9A61852C}"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3951244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93CF500-1D26-44BC-BC6C-88E98416E58A}" type="datetimeFigureOut">
              <a:rPr lang="en-IN" smtClean="0">
                <a:solidFill>
                  <a:prstClr val="black">
                    <a:tint val="75000"/>
                  </a:prstClr>
                </a:solidFill>
              </a:rPr>
              <a:pPr/>
              <a:t>08-05-2026</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7" name="Slide Number Placeholder 6"/>
          <p:cNvSpPr>
            <a:spLocks noGrp="1"/>
          </p:cNvSpPr>
          <p:nvPr>
            <p:ph type="sldNum" sz="quarter" idx="12"/>
          </p:nvPr>
        </p:nvSpPr>
        <p:spPr/>
        <p:txBody>
          <a:bodyPr/>
          <a:lstStyle/>
          <a:p>
            <a:fld id="{D5714EA2-AE2F-48FB-9E42-953B9A61852C}"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3437904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93CF500-1D26-44BC-BC6C-88E98416E58A}" type="datetimeFigureOut">
              <a:rPr lang="en-IN" smtClean="0">
                <a:solidFill>
                  <a:prstClr val="black">
                    <a:tint val="75000"/>
                  </a:prstClr>
                </a:solidFill>
              </a:rPr>
              <a:pPr/>
              <a:t>08-05-2026</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7" name="Slide Number Placeholder 6"/>
          <p:cNvSpPr>
            <a:spLocks noGrp="1"/>
          </p:cNvSpPr>
          <p:nvPr>
            <p:ph type="sldNum" sz="quarter" idx="12"/>
          </p:nvPr>
        </p:nvSpPr>
        <p:spPr/>
        <p:txBody>
          <a:bodyPr/>
          <a:lstStyle/>
          <a:p>
            <a:fld id="{D5714EA2-AE2F-48FB-9E42-953B9A61852C}"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2027213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D93CF500-1D26-44BC-BC6C-88E98416E58A}" type="datetimeFigureOut">
              <a:rPr lang="en-IN" smtClean="0">
                <a:solidFill>
                  <a:prstClr val="black">
                    <a:tint val="75000"/>
                  </a:prstClr>
                </a:solidFill>
              </a:rPr>
              <a:pPr/>
              <a:t>08-05-2026</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D5714EA2-AE2F-48FB-9E42-953B9A61852C}"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4733012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D93CF500-1D26-44BC-BC6C-88E98416E58A}" type="datetimeFigureOut">
              <a:rPr lang="en-IN" smtClean="0">
                <a:solidFill>
                  <a:prstClr val="black">
                    <a:tint val="75000"/>
                  </a:prstClr>
                </a:solidFill>
              </a:rPr>
              <a:pPr/>
              <a:t>08-05-2026</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D5714EA2-AE2F-48FB-9E42-953B9A61852C}"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5048428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ustom Layout">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3352800"/>
            <a:ext cx="115824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dirty="0">
              <a:solidFill>
                <a:prstClr val="white"/>
              </a:solidFill>
              <a:latin typeface="Arial" pitchFamily="34" charset="0"/>
              <a:cs typeface="Arial" pitchFamily="34" charset="0"/>
            </a:endParaRPr>
          </a:p>
        </p:txBody>
      </p:sp>
      <p:sp>
        <p:nvSpPr>
          <p:cNvPr id="5" name="Rectangle 4"/>
          <p:cNvSpPr/>
          <p:nvPr/>
        </p:nvSpPr>
        <p:spPr>
          <a:xfrm>
            <a:off x="3860800" y="609600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6" name="Rectangle 5"/>
          <p:cNvSpPr/>
          <p:nvPr/>
        </p:nvSpPr>
        <p:spPr>
          <a:xfrm>
            <a:off x="0" y="609600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8" name="Rectangle 7"/>
          <p:cNvSpPr/>
          <p:nvPr/>
        </p:nvSpPr>
        <p:spPr>
          <a:xfrm>
            <a:off x="7721600" y="609600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pic>
        <p:nvPicPr>
          <p:cNvPr id="9" name="Picture 10" descr="BITS_university_logo_whitevert.png"/>
          <p:cNvPicPr>
            <a:picLocks noChangeAspect="1"/>
          </p:cNvPicPr>
          <p:nvPr/>
        </p:nvPicPr>
        <p:blipFill>
          <a:blip r:embed="rId3" cstate="print"/>
          <a:srcRect t="2" b="28592"/>
          <a:stretch>
            <a:fillRect/>
          </a:stretch>
        </p:blipFill>
        <p:spPr bwMode="auto">
          <a:xfrm>
            <a:off x="101600" y="3352803"/>
            <a:ext cx="2743200" cy="1979613"/>
          </a:xfrm>
          <a:prstGeom prst="rect">
            <a:avLst/>
          </a:prstGeom>
          <a:noFill/>
          <a:ln w="9525">
            <a:noFill/>
            <a:miter lim="800000"/>
            <a:headEnd/>
            <a:tailEnd/>
          </a:ln>
        </p:spPr>
      </p:pic>
      <p:sp>
        <p:nvSpPr>
          <p:cNvPr id="10" name="TextBox 9"/>
          <p:cNvSpPr txBox="1"/>
          <p:nvPr/>
        </p:nvSpPr>
        <p:spPr>
          <a:xfrm>
            <a:off x="-101600" y="5257800"/>
            <a:ext cx="2946400" cy="427040"/>
          </a:xfrm>
          <a:prstGeom prst="rect">
            <a:avLst/>
          </a:prstGeom>
          <a:noFill/>
        </p:spPr>
        <p:txBody>
          <a:bodyPr>
            <a:spAutoFit/>
          </a:bodyPr>
          <a:lstStyle/>
          <a:p>
            <a:pPr algn="ctr" fontAlgn="base">
              <a:spcBef>
                <a:spcPct val="0"/>
              </a:spcBef>
              <a:spcAft>
                <a:spcPct val="0"/>
              </a:spcAft>
              <a:defRPr/>
            </a:pPr>
            <a:r>
              <a:rPr lang="en-US" sz="2175" b="1" spc="-113" dirty="0">
                <a:solidFill>
                  <a:prstClr val="white"/>
                </a:solidFill>
                <a:latin typeface="Arial"/>
                <a:cs typeface="Arial"/>
              </a:rPr>
              <a:t>BITS</a:t>
            </a:r>
            <a:r>
              <a:rPr lang="en-US" sz="2175" spc="-113" dirty="0">
                <a:solidFill>
                  <a:prstClr val="white"/>
                </a:solidFill>
                <a:latin typeface="Arial"/>
                <a:cs typeface="Arial"/>
              </a:rPr>
              <a:t> Pilani</a:t>
            </a:r>
          </a:p>
        </p:txBody>
      </p:sp>
      <p:sp>
        <p:nvSpPr>
          <p:cNvPr id="11" name="TextBox 10"/>
          <p:cNvSpPr txBox="1"/>
          <p:nvPr/>
        </p:nvSpPr>
        <p:spPr>
          <a:xfrm>
            <a:off x="203200" y="5667376"/>
            <a:ext cx="2540000" cy="230832"/>
          </a:xfrm>
          <a:prstGeom prst="rect">
            <a:avLst/>
          </a:prstGeom>
          <a:noFill/>
        </p:spPr>
        <p:txBody>
          <a:bodyPr>
            <a:spAutoFit/>
          </a:bodyPr>
          <a:lstStyle/>
          <a:p>
            <a:pPr fontAlgn="base">
              <a:spcBef>
                <a:spcPct val="0"/>
              </a:spcBef>
              <a:spcAft>
                <a:spcPct val="0"/>
              </a:spcAft>
              <a:defRPr/>
            </a:pPr>
            <a:r>
              <a:rPr lang="en-US" sz="900" dirty="0">
                <a:solidFill>
                  <a:srgbClr val="FFFFFF"/>
                </a:solidFill>
                <a:latin typeface="Arial"/>
                <a:cs typeface="Arial"/>
              </a:rPr>
              <a:t>Pilani Campus</a:t>
            </a:r>
          </a:p>
        </p:txBody>
      </p:sp>
      <p:sp>
        <p:nvSpPr>
          <p:cNvPr id="12" name="Rectangle 11"/>
          <p:cNvSpPr/>
          <p:nvPr/>
        </p:nvSpPr>
        <p:spPr>
          <a:xfrm>
            <a:off x="0" y="3352800"/>
            <a:ext cx="115824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dirty="0">
              <a:solidFill>
                <a:prstClr val="white"/>
              </a:solidFill>
              <a:latin typeface="Arial" pitchFamily="34" charset="0"/>
              <a:cs typeface="Arial" pitchFamily="34" charset="0"/>
            </a:endParaRPr>
          </a:p>
        </p:txBody>
      </p:sp>
      <p:sp>
        <p:nvSpPr>
          <p:cNvPr id="13" name="Rectangle 12"/>
          <p:cNvSpPr/>
          <p:nvPr/>
        </p:nvSpPr>
        <p:spPr>
          <a:xfrm>
            <a:off x="3860800" y="609600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14" name="Rectangle 13"/>
          <p:cNvSpPr/>
          <p:nvPr/>
        </p:nvSpPr>
        <p:spPr>
          <a:xfrm>
            <a:off x="0" y="609600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15" name="Rectangle 14"/>
          <p:cNvSpPr/>
          <p:nvPr/>
        </p:nvSpPr>
        <p:spPr>
          <a:xfrm>
            <a:off x="7721600" y="609600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pic>
        <p:nvPicPr>
          <p:cNvPr id="16" name="Picture 17" descr="BITS_university_logo_whitevert.png"/>
          <p:cNvPicPr>
            <a:picLocks noChangeAspect="1"/>
          </p:cNvPicPr>
          <p:nvPr/>
        </p:nvPicPr>
        <p:blipFill>
          <a:blip r:embed="rId3" cstate="print"/>
          <a:srcRect t="2" b="28592"/>
          <a:stretch>
            <a:fillRect/>
          </a:stretch>
        </p:blipFill>
        <p:spPr bwMode="auto">
          <a:xfrm>
            <a:off x="101600" y="3352803"/>
            <a:ext cx="2743200" cy="1979613"/>
          </a:xfrm>
          <a:prstGeom prst="rect">
            <a:avLst/>
          </a:prstGeom>
          <a:noFill/>
          <a:ln w="9525">
            <a:noFill/>
            <a:miter lim="800000"/>
            <a:headEnd/>
            <a:tailEnd/>
          </a:ln>
        </p:spPr>
      </p:pic>
      <p:sp>
        <p:nvSpPr>
          <p:cNvPr id="17" name="TextBox 16"/>
          <p:cNvSpPr txBox="1"/>
          <p:nvPr/>
        </p:nvSpPr>
        <p:spPr>
          <a:xfrm>
            <a:off x="-101600" y="5257800"/>
            <a:ext cx="2946400" cy="427040"/>
          </a:xfrm>
          <a:prstGeom prst="rect">
            <a:avLst/>
          </a:prstGeom>
          <a:noFill/>
        </p:spPr>
        <p:txBody>
          <a:bodyPr>
            <a:spAutoFit/>
          </a:bodyPr>
          <a:lstStyle/>
          <a:p>
            <a:pPr algn="ctr" fontAlgn="base">
              <a:spcBef>
                <a:spcPct val="0"/>
              </a:spcBef>
              <a:spcAft>
                <a:spcPct val="0"/>
              </a:spcAft>
              <a:defRPr/>
            </a:pPr>
            <a:r>
              <a:rPr lang="en-US" sz="2175" b="1" spc="-113" dirty="0">
                <a:solidFill>
                  <a:prstClr val="white"/>
                </a:solidFill>
                <a:latin typeface="Arial"/>
                <a:cs typeface="Arial"/>
              </a:rPr>
              <a:t>BITS</a:t>
            </a:r>
            <a:r>
              <a:rPr lang="en-US" sz="2175" spc="-113" dirty="0">
                <a:solidFill>
                  <a:prstClr val="white"/>
                </a:solidFill>
                <a:latin typeface="Arial"/>
                <a:cs typeface="Arial"/>
              </a:rPr>
              <a:t> Pilani</a:t>
            </a:r>
          </a:p>
        </p:txBody>
      </p:sp>
      <p:sp>
        <p:nvSpPr>
          <p:cNvPr id="18" name="TextBox 17"/>
          <p:cNvSpPr txBox="1"/>
          <p:nvPr/>
        </p:nvSpPr>
        <p:spPr>
          <a:xfrm>
            <a:off x="203200" y="5667376"/>
            <a:ext cx="2540000" cy="230832"/>
          </a:xfrm>
          <a:prstGeom prst="rect">
            <a:avLst/>
          </a:prstGeom>
          <a:noFill/>
        </p:spPr>
        <p:txBody>
          <a:bodyPr>
            <a:spAutoFit/>
          </a:bodyPr>
          <a:lstStyle/>
          <a:p>
            <a:pPr fontAlgn="base">
              <a:spcBef>
                <a:spcPct val="0"/>
              </a:spcBef>
              <a:spcAft>
                <a:spcPct val="0"/>
              </a:spcAft>
              <a:defRPr/>
            </a:pPr>
            <a:r>
              <a:rPr lang="en-US" sz="900" dirty="0">
                <a:solidFill>
                  <a:srgbClr val="FFFFFF"/>
                </a:solidFill>
                <a:latin typeface="Arial"/>
                <a:cs typeface="Arial"/>
              </a:rPr>
              <a:t>Pilani Campus</a:t>
            </a:r>
          </a:p>
        </p:txBody>
      </p:sp>
      <p:sp>
        <p:nvSpPr>
          <p:cNvPr id="7" name="Content Placeholder 6"/>
          <p:cNvSpPr>
            <a:spLocks noGrp="1"/>
          </p:cNvSpPr>
          <p:nvPr>
            <p:ph sz="quarter" idx="13"/>
          </p:nvPr>
        </p:nvSpPr>
        <p:spPr>
          <a:xfrm>
            <a:off x="3352800" y="5410200"/>
            <a:ext cx="8026400" cy="533400"/>
          </a:xfrm>
        </p:spPr>
        <p:txBody>
          <a:bodyPr anchor="b">
            <a:noAutofit/>
          </a:bodyPr>
          <a:lstStyle>
            <a:lvl1pPr marL="0" indent="0" algn="r">
              <a:lnSpc>
                <a:spcPts val="1350"/>
              </a:lnSpc>
              <a:spcBef>
                <a:spcPts val="0"/>
              </a:spcBef>
              <a:buNone/>
              <a:defRPr sz="135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3352800" y="3810000"/>
            <a:ext cx="8026400" cy="1524000"/>
          </a:xfrm>
        </p:spPr>
        <p:txBody>
          <a:bodyPr anchorCtr="0">
            <a:noAutofit/>
          </a:bodyPr>
          <a:lstStyle>
            <a:lvl1pPr algn="l">
              <a:lnSpc>
                <a:spcPts val="3000"/>
              </a:lnSpc>
              <a:defRPr sz="33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18647272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1_Title and Content">
    <p:spTree>
      <p:nvGrpSpPr>
        <p:cNvPr id="1" name=""/>
        <p:cNvGrpSpPr/>
        <p:nvPr/>
      </p:nvGrpSpPr>
      <p:grpSpPr>
        <a:xfrm>
          <a:off x="0" y="0"/>
          <a:ext cx="0" cy="0"/>
          <a:chOff x="0" y="0"/>
          <a:chExt cx="0" cy="0"/>
        </a:xfrm>
      </p:grpSpPr>
      <p:sp>
        <p:nvSpPr>
          <p:cNvPr id="4" name="TextBox 3"/>
          <p:cNvSpPr txBox="1"/>
          <p:nvPr/>
        </p:nvSpPr>
        <p:spPr>
          <a:xfrm>
            <a:off x="4368800" y="6596066"/>
            <a:ext cx="7823200" cy="219291"/>
          </a:xfrm>
          <a:prstGeom prst="rect">
            <a:avLst/>
          </a:prstGeom>
          <a:noFill/>
        </p:spPr>
        <p:txBody>
          <a:bodyPr>
            <a:spAutoFit/>
          </a:bodyPr>
          <a:lstStyle/>
          <a:p>
            <a:pPr algn="r" fontAlgn="base">
              <a:spcBef>
                <a:spcPct val="0"/>
              </a:spcBef>
              <a:spcAft>
                <a:spcPct val="0"/>
              </a:spcAft>
              <a:defRPr/>
            </a:pPr>
            <a:r>
              <a:rPr lang="en-US" sz="825" b="1" dirty="0">
                <a:solidFill>
                  <a:srgbClr val="101141"/>
                </a:solidFill>
                <a:latin typeface="Arial"/>
                <a:cs typeface="Arial"/>
              </a:rPr>
              <a:t>BITS </a:t>
            </a:r>
            <a:r>
              <a:rPr lang="en-US" sz="825" dirty="0">
                <a:solidFill>
                  <a:srgbClr val="101141"/>
                </a:solidFill>
                <a:latin typeface="Arial"/>
                <a:cs typeface="Arial"/>
              </a:rPr>
              <a:t>Pilani, Pilani Campus</a:t>
            </a:r>
          </a:p>
        </p:txBody>
      </p:sp>
      <p:grpSp>
        <p:nvGrpSpPr>
          <p:cNvPr id="5" name="Group 11"/>
          <p:cNvGrpSpPr>
            <a:grpSpLocks/>
          </p:cNvGrpSpPr>
          <p:nvPr/>
        </p:nvGrpSpPr>
        <p:grpSpPr bwMode="auto">
          <a:xfrm>
            <a:off x="2779184" y="6550028"/>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grpSp>
      <p:pic>
        <p:nvPicPr>
          <p:cNvPr id="9" name="Picture 11" descr="Picture 7.png"/>
          <p:cNvPicPr>
            <a:picLocks noChangeAspect="1"/>
          </p:cNvPicPr>
          <p:nvPr/>
        </p:nvPicPr>
        <p:blipFill>
          <a:blip r:embed="rId2" cstate="print"/>
          <a:srcRect l="1923" b="5336"/>
          <a:stretch>
            <a:fillRect/>
          </a:stretch>
        </p:blipFill>
        <p:spPr bwMode="auto">
          <a:xfrm>
            <a:off x="8839202" y="0"/>
            <a:ext cx="2925233" cy="692150"/>
          </a:xfrm>
          <a:prstGeom prst="rect">
            <a:avLst/>
          </a:prstGeom>
          <a:noFill/>
          <a:ln w="9525">
            <a:noFill/>
            <a:miter lim="800000"/>
            <a:headEnd/>
            <a:tailEnd/>
          </a:ln>
        </p:spPr>
      </p:pic>
      <p:grpSp>
        <p:nvGrpSpPr>
          <p:cNvPr id="10" name="Group 18"/>
          <p:cNvGrpSpPr>
            <a:grpSpLocks/>
          </p:cNvGrpSpPr>
          <p:nvPr/>
        </p:nvGrpSpPr>
        <p:grpSpPr bwMode="auto">
          <a:xfrm>
            <a:off x="2844800" y="6553200"/>
            <a:ext cx="93472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grpSp>
      <p:grpSp>
        <p:nvGrpSpPr>
          <p:cNvPr id="14" name="Group 22"/>
          <p:cNvGrpSpPr>
            <a:grpSpLocks/>
          </p:cNvGrpSpPr>
          <p:nvPr/>
        </p:nvGrpSpPr>
        <p:grpSpPr bwMode="auto">
          <a:xfrm>
            <a:off x="0" y="1295400"/>
            <a:ext cx="93472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grpSp>
      <p:sp>
        <p:nvSpPr>
          <p:cNvPr id="3" name="Content Placeholder 2"/>
          <p:cNvSpPr>
            <a:spLocks noGrp="1"/>
          </p:cNvSpPr>
          <p:nvPr>
            <p:ph idx="1"/>
          </p:nvPr>
        </p:nvSpPr>
        <p:spPr>
          <a:xfrm>
            <a:off x="406400" y="1493840"/>
            <a:ext cx="10972800" cy="4525963"/>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1800">
                <a:latin typeface="Arial" pitchFamily="34" charset="0"/>
                <a:cs typeface="Arial" pitchFamily="34" charset="0"/>
              </a:defRPr>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406400" y="152400"/>
            <a:ext cx="84328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9282135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08187" y="400303"/>
            <a:ext cx="3600027" cy="574040"/>
          </a:xfrm>
          <a:prstGeom prst="rect">
            <a:avLst/>
          </a:prstGeom>
        </p:spPr>
        <p:txBody>
          <a:bodyPr wrap="square" lIns="0" tIns="0" rIns="0" bIns="0">
            <a:spAutoFit/>
          </a:bodyPr>
          <a:lstStyle>
            <a:lvl1pPr>
              <a:defRPr sz="3600" b="1" i="0">
                <a:solidFill>
                  <a:schemeClr val="tx1"/>
                </a:solidFill>
                <a:latin typeface="Cambria"/>
                <a:cs typeface="Cambria"/>
              </a:defRPr>
            </a:lvl1pPr>
          </a:lstStyle>
          <a:p>
            <a:endParaRPr/>
          </a:p>
        </p:txBody>
      </p:sp>
      <p:sp>
        <p:nvSpPr>
          <p:cNvPr id="3" name="Holder 3"/>
          <p:cNvSpPr>
            <a:spLocks noGrp="1"/>
          </p:cNvSpPr>
          <p:nvPr>
            <p:ph type="subTitle" idx="4"/>
          </p:nvPr>
        </p:nvSpPr>
        <p:spPr>
          <a:xfrm>
            <a:off x="1828800" y="3840480"/>
            <a:ext cx="8534400" cy="246221"/>
          </a:xfrm>
          <a:prstGeom prst="rect">
            <a:avLst/>
          </a:prstGeom>
        </p:spPr>
        <p:txBody>
          <a:bodyPr wrap="square" lIns="0" tIns="0" rIns="0" bIns="0">
            <a:spAutoFit/>
          </a:bodyPr>
          <a:lstStyle>
            <a:lvl1pPr>
              <a:defRPr sz="1600" b="0" i="0">
                <a:solidFill>
                  <a:schemeClr val="tx1"/>
                </a:solidFill>
                <a:latin typeface="Arial MT"/>
                <a:cs typeface="Arial MT"/>
              </a:defRPr>
            </a:lvl1pPr>
          </a:lstStyle>
          <a:p>
            <a:endParaRPr/>
          </a:p>
        </p:txBody>
      </p:sp>
      <p:sp>
        <p:nvSpPr>
          <p:cNvPr id="4" name="Holder 4"/>
          <p:cNvSpPr>
            <a:spLocks noGrp="1"/>
          </p:cNvSpPr>
          <p:nvPr>
            <p:ph type="ftr" sz="quarter" idx="5"/>
          </p:nvPr>
        </p:nvSpPr>
        <p:spPr>
          <a:xfrm>
            <a:off x="9811512" y="6639736"/>
            <a:ext cx="2274993" cy="182245"/>
          </a:xfrm>
          <a:prstGeom prst="rect">
            <a:avLst/>
          </a:prstGeom>
        </p:spPr>
        <p:txBody>
          <a:bodyPr lIns="0" tIns="0" rIns="0" bIns="0"/>
          <a:lstStyle>
            <a:lvl1pPr>
              <a:defRPr sz="1100" b="0" i="0">
                <a:solidFill>
                  <a:srgbClr val="0F1141"/>
                </a:solidFill>
                <a:latin typeface="Arial MT"/>
                <a:cs typeface="Arial MT"/>
              </a:defRPr>
            </a:lvl1pPr>
          </a:lstStyle>
          <a:p>
            <a:pPr marL="12700"/>
            <a:r>
              <a:rPr lang="en-IN" b="1" kern="0">
                <a:latin typeface="Arial"/>
                <a:cs typeface="Arial"/>
              </a:rPr>
              <a:t>BITS</a:t>
            </a:r>
            <a:r>
              <a:rPr lang="en-IN" b="1" kern="0" spc="-55">
                <a:latin typeface="Arial"/>
                <a:cs typeface="Arial"/>
              </a:rPr>
              <a:t> </a:t>
            </a:r>
            <a:r>
              <a:rPr lang="en-IN" kern="0"/>
              <a:t>Pilani,</a:t>
            </a:r>
            <a:r>
              <a:rPr lang="en-IN" kern="0" spc="-35"/>
              <a:t> </a:t>
            </a:r>
            <a:r>
              <a:rPr lang="en-IN" kern="0"/>
              <a:t>Pilani</a:t>
            </a:r>
            <a:r>
              <a:rPr lang="en-IN" kern="0" spc="-30"/>
              <a:t> </a:t>
            </a:r>
            <a:r>
              <a:rPr lang="en-IN" kern="0" spc="-10"/>
              <a:t>Campus</a:t>
            </a:r>
            <a:endParaRPr lang="en-IN" kern="0" spc="-10" dirty="0"/>
          </a:p>
        </p:txBody>
      </p:sp>
      <p:sp>
        <p:nvSpPr>
          <p:cNvPr id="5" name="Holder 5"/>
          <p:cNvSpPr>
            <a:spLocks noGrp="1"/>
          </p:cNvSpPr>
          <p:nvPr>
            <p:ph type="dt" sz="half" idx="6"/>
          </p:nvPr>
        </p:nvSpPr>
        <p:spPr>
          <a:xfrm>
            <a:off x="609600" y="6377940"/>
            <a:ext cx="2804160" cy="34290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kern="0">
                <a:solidFill>
                  <a:prstClr val="black">
                    <a:tint val="75000"/>
                  </a:prstClr>
                </a:solidFill>
              </a:rPr>
              <a:pPr/>
              <a:t>5/8/2026</a:t>
            </a:fld>
            <a:endParaRPr lang="en-US" kern="0">
              <a:solidFill>
                <a:prstClr val="black">
                  <a:tint val="75000"/>
                </a:prstClr>
              </a:solidFill>
            </a:endParaRPr>
          </a:p>
        </p:txBody>
      </p:sp>
      <p:sp>
        <p:nvSpPr>
          <p:cNvPr id="6" name="Holder 6"/>
          <p:cNvSpPr>
            <a:spLocks noGrp="1"/>
          </p:cNvSpPr>
          <p:nvPr>
            <p:ph type="sldNum" sz="quarter" idx="7"/>
          </p:nvPr>
        </p:nvSpPr>
        <p:spPr>
          <a:xfrm>
            <a:off x="8778240" y="6377940"/>
            <a:ext cx="2804160" cy="342900"/>
          </a:xfrm>
          <a:prstGeom prst="rect">
            <a:avLst/>
          </a:prstGeom>
        </p:spPr>
        <p:txBody>
          <a:bodyPr lIns="0" tIns="0" rIns="0" bIns="0"/>
          <a:lstStyle>
            <a:lvl1pPr algn="r">
              <a:defRPr>
                <a:solidFill>
                  <a:schemeClr val="tx1">
                    <a:tint val="75000"/>
                  </a:schemeClr>
                </a:solidFill>
              </a:defRPr>
            </a:lvl1pPr>
          </a:lstStyle>
          <a:p>
            <a:fld id="{B6F15528-21DE-4FAA-801E-634DDDAF4B2B}" type="slidenum">
              <a:rPr kern="0">
                <a:solidFill>
                  <a:prstClr val="black">
                    <a:tint val="75000"/>
                  </a:prstClr>
                </a:solidFill>
              </a:rPr>
              <a:pPr/>
              <a:t>‹#›</a:t>
            </a:fld>
            <a:endParaRPr kern="0">
              <a:solidFill>
                <a:prstClr val="black">
                  <a:tint val="75000"/>
                </a:prstClr>
              </a:solidFill>
            </a:endParaRPr>
          </a:p>
        </p:txBody>
      </p:sp>
    </p:spTree>
    <p:extLst>
      <p:ext uri="{BB962C8B-B14F-4D97-AF65-F5344CB8AC3E}">
        <p14:creationId xmlns:p14="http://schemas.microsoft.com/office/powerpoint/2010/main" val="11605217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Holder 4"/>
          <p:cNvSpPr>
            <a:spLocks noGrp="1"/>
          </p:cNvSpPr>
          <p:nvPr>
            <p:ph type="ftr" sz="quarter" idx="5"/>
          </p:nvPr>
        </p:nvSpPr>
        <p:spPr>
          <a:xfrm>
            <a:off x="9811512" y="6639736"/>
            <a:ext cx="2274993" cy="182245"/>
          </a:xfrm>
          <a:prstGeom prst="rect">
            <a:avLst/>
          </a:prstGeom>
        </p:spPr>
        <p:txBody>
          <a:bodyPr lIns="0" tIns="0" rIns="0" bIns="0"/>
          <a:lstStyle>
            <a:lvl1pPr>
              <a:defRPr sz="1100" b="0" i="0">
                <a:solidFill>
                  <a:srgbClr val="0F1141"/>
                </a:solidFill>
                <a:latin typeface="Arial MT"/>
                <a:cs typeface="Arial MT"/>
              </a:defRPr>
            </a:lvl1pPr>
          </a:lstStyle>
          <a:p>
            <a:pPr marL="12700"/>
            <a:r>
              <a:rPr lang="en-IN" b="1" kern="0">
                <a:latin typeface="Arial"/>
                <a:cs typeface="Arial"/>
              </a:rPr>
              <a:t>BITS</a:t>
            </a:r>
            <a:r>
              <a:rPr lang="en-IN" b="1" kern="0" spc="-55">
                <a:latin typeface="Arial"/>
                <a:cs typeface="Arial"/>
              </a:rPr>
              <a:t> </a:t>
            </a:r>
            <a:r>
              <a:rPr lang="en-IN" kern="0"/>
              <a:t>Pilani,</a:t>
            </a:r>
            <a:r>
              <a:rPr lang="en-IN" kern="0" spc="-35"/>
              <a:t> </a:t>
            </a:r>
            <a:r>
              <a:rPr lang="en-IN" kern="0"/>
              <a:t>Pilani</a:t>
            </a:r>
            <a:r>
              <a:rPr lang="en-IN" kern="0" spc="-30"/>
              <a:t> </a:t>
            </a:r>
            <a:r>
              <a:rPr lang="en-IN" kern="0" spc="-10"/>
              <a:t>Campus</a:t>
            </a:r>
            <a:endParaRPr lang="en-IN" kern="0" spc="-10" dirty="0"/>
          </a:p>
        </p:txBody>
      </p:sp>
      <p:sp>
        <p:nvSpPr>
          <p:cNvPr id="8" name="Content Placeholder 2"/>
          <p:cNvSpPr>
            <a:spLocks noGrp="1"/>
          </p:cNvSpPr>
          <p:nvPr>
            <p:ph idx="10"/>
          </p:nvPr>
        </p:nvSpPr>
        <p:spPr>
          <a:xfrm>
            <a:off x="304800" y="1545224"/>
            <a:ext cx="11480800" cy="4525963"/>
          </a:xfrm>
          <a:prstGeom prst="rect">
            <a:avLst/>
          </a:prstGeom>
        </p:spPr>
        <p:txBody>
          <a:bodyPr>
            <a:normAutofit/>
          </a:bodyPr>
          <a:lstStyle>
            <a:lvl1pPr>
              <a:defRPr sz="2400">
                <a:latin typeface="Cambria" panose="02040503050406030204" pitchFamily="18" charset="0"/>
                <a:ea typeface="Cambria" panose="02040503050406030204" pitchFamily="18" charset="0"/>
              </a:defRPr>
            </a:lvl1pPr>
            <a:lvl2pPr>
              <a:defRPr sz="2400">
                <a:latin typeface="Cambria" panose="02040503050406030204" pitchFamily="18" charset="0"/>
                <a:ea typeface="Cambria" panose="02040503050406030204" pitchFamily="18" charset="0"/>
              </a:defRPr>
            </a:lvl2pPr>
            <a:lvl3pPr>
              <a:defRPr sz="2400">
                <a:latin typeface="Cambria" panose="02040503050406030204" pitchFamily="18" charset="0"/>
                <a:ea typeface="Cambria" panose="02040503050406030204" pitchFamily="18" charset="0"/>
              </a:defRPr>
            </a:lvl3pPr>
            <a:lvl4pPr>
              <a:defRPr sz="2400">
                <a:latin typeface="Cambria" panose="02040503050406030204" pitchFamily="18" charset="0"/>
                <a:ea typeface="Cambria" panose="02040503050406030204" pitchFamily="18" charset="0"/>
              </a:defRPr>
            </a:lvl4pPr>
            <a:lvl5pPr>
              <a:defRPr sz="2400">
                <a:latin typeface="Cambria" panose="02040503050406030204" pitchFamily="18" charset="0"/>
                <a:ea typeface="Cambria" panose="020405030504060302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Title 1"/>
          <p:cNvSpPr>
            <a:spLocks noGrp="1"/>
          </p:cNvSpPr>
          <p:nvPr>
            <p:ph type="title"/>
          </p:nvPr>
        </p:nvSpPr>
        <p:spPr>
          <a:xfrm>
            <a:off x="304801" y="0"/>
            <a:ext cx="10881209" cy="1219200"/>
          </a:xfrm>
          <a:prstGeom prst="rect">
            <a:avLst/>
          </a:prstGeom>
        </p:spPr>
        <p:txBody>
          <a:bodyPr anchor="ctr"/>
          <a:lstStyle>
            <a:lvl1pPr algn="l">
              <a:defRPr sz="3600" b="0">
                <a:latin typeface="Cambria" panose="02040503050406030204" pitchFamily="18" charset="0"/>
                <a:ea typeface="Cambria" panose="02040503050406030204" pitchFamily="18" charset="0"/>
              </a:defRPr>
            </a:lvl1pPr>
          </a:lstStyle>
          <a:p>
            <a:r>
              <a:rPr lang="en-US" dirty="0"/>
              <a:t>Click to edit Master title style</a:t>
            </a:r>
            <a:endParaRPr lang="en-IN" dirty="0"/>
          </a:p>
        </p:txBody>
      </p:sp>
    </p:spTree>
    <p:extLst>
      <p:ext uri="{BB962C8B-B14F-4D97-AF65-F5344CB8AC3E}">
        <p14:creationId xmlns:p14="http://schemas.microsoft.com/office/powerpoint/2010/main" val="16246475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308187" y="361315"/>
            <a:ext cx="6561667" cy="613028"/>
          </a:xfrm>
          <a:prstGeom prst="rect">
            <a:avLst/>
          </a:prstGeom>
        </p:spPr>
        <p:txBody>
          <a:bodyPr lIns="0" tIns="0" rIns="0" bIns="0"/>
          <a:lstStyle>
            <a:lvl1pPr>
              <a:defRPr sz="3600" b="1" i="0">
                <a:solidFill>
                  <a:schemeClr val="tx1"/>
                </a:solidFill>
                <a:latin typeface="Cambria"/>
                <a:cs typeface="Cambria"/>
              </a:defRPr>
            </a:lvl1pPr>
          </a:lstStyle>
          <a:p>
            <a:endParaRPr/>
          </a:p>
        </p:txBody>
      </p:sp>
      <p:sp>
        <p:nvSpPr>
          <p:cNvPr id="3" name="Holder 3"/>
          <p:cNvSpPr>
            <a:spLocks noGrp="1"/>
          </p:cNvSpPr>
          <p:nvPr>
            <p:ph sz="half" idx="2"/>
          </p:nvPr>
        </p:nvSpPr>
        <p:spPr>
          <a:xfrm>
            <a:off x="609600" y="1577340"/>
            <a:ext cx="5303520" cy="369332"/>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369332"/>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a:xfrm>
            <a:off x="9811512" y="6639736"/>
            <a:ext cx="2274993" cy="182245"/>
          </a:xfrm>
          <a:prstGeom prst="rect">
            <a:avLst/>
          </a:prstGeom>
        </p:spPr>
        <p:txBody>
          <a:bodyPr lIns="0" tIns="0" rIns="0" bIns="0"/>
          <a:lstStyle>
            <a:lvl1pPr>
              <a:defRPr sz="1100" b="0" i="0">
                <a:solidFill>
                  <a:srgbClr val="0F1141"/>
                </a:solidFill>
                <a:latin typeface="Arial MT"/>
                <a:cs typeface="Arial MT"/>
              </a:defRPr>
            </a:lvl1pPr>
          </a:lstStyle>
          <a:p>
            <a:pPr marL="12700"/>
            <a:r>
              <a:rPr lang="en-IN" b="1" kern="0">
                <a:latin typeface="Arial"/>
                <a:cs typeface="Arial"/>
              </a:rPr>
              <a:t>BITS</a:t>
            </a:r>
            <a:r>
              <a:rPr lang="en-IN" b="1" kern="0" spc="-55">
                <a:latin typeface="Arial"/>
                <a:cs typeface="Arial"/>
              </a:rPr>
              <a:t> </a:t>
            </a:r>
            <a:r>
              <a:rPr lang="en-IN" kern="0"/>
              <a:t>Pilani,</a:t>
            </a:r>
            <a:r>
              <a:rPr lang="en-IN" kern="0" spc="-35"/>
              <a:t> </a:t>
            </a:r>
            <a:r>
              <a:rPr lang="en-IN" kern="0"/>
              <a:t>Pilani</a:t>
            </a:r>
            <a:r>
              <a:rPr lang="en-IN" kern="0" spc="-30"/>
              <a:t> </a:t>
            </a:r>
            <a:r>
              <a:rPr lang="en-IN" kern="0" spc="-10"/>
              <a:t>Campus</a:t>
            </a:r>
            <a:endParaRPr lang="en-IN" kern="0" spc="-10" dirty="0"/>
          </a:p>
        </p:txBody>
      </p:sp>
      <p:sp>
        <p:nvSpPr>
          <p:cNvPr id="6" name="Holder 6"/>
          <p:cNvSpPr>
            <a:spLocks noGrp="1"/>
          </p:cNvSpPr>
          <p:nvPr>
            <p:ph type="dt" sz="half" idx="6"/>
          </p:nvPr>
        </p:nvSpPr>
        <p:spPr>
          <a:xfrm>
            <a:off x="609600" y="6377940"/>
            <a:ext cx="2804160" cy="34290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kern="0">
                <a:solidFill>
                  <a:prstClr val="black">
                    <a:tint val="75000"/>
                  </a:prstClr>
                </a:solidFill>
              </a:rPr>
              <a:pPr/>
              <a:t>5/8/2026</a:t>
            </a:fld>
            <a:endParaRPr lang="en-US" kern="0">
              <a:solidFill>
                <a:prstClr val="black">
                  <a:tint val="75000"/>
                </a:prstClr>
              </a:solidFill>
            </a:endParaRPr>
          </a:p>
        </p:txBody>
      </p:sp>
      <p:sp>
        <p:nvSpPr>
          <p:cNvPr id="7" name="Holder 7"/>
          <p:cNvSpPr>
            <a:spLocks noGrp="1"/>
          </p:cNvSpPr>
          <p:nvPr>
            <p:ph type="sldNum" sz="quarter" idx="7"/>
          </p:nvPr>
        </p:nvSpPr>
        <p:spPr>
          <a:xfrm>
            <a:off x="8778240" y="6377940"/>
            <a:ext cx="2804160" cy="342900"/>
          </a:xfrm>
          <a:prstGeom prst="rect">
            <a:avLst/>
          </a:prstGeom>
        </p:spPr>
        <p:txBody>
          <a:bodyPr lIns="0" tIns="0" rIns="0" bIns="0"/>
          <a:lstStyle>
            <a:lvl1pPr algn="r">
              <a:defRPr>
                <a:solidFill>
                  <a:schemeClr val="tx1">
                    <a:tint val="75000"/>
                  </a:schemeClr>
                </a:solidFill>
              </a:defRPr>
            </a:lvl1pPr>
          </a:lstStyle>
          <a:p>
            <a:fld id="{B6F15528-21DE-4FAA-801E-634DDDAF4B2B}" type="slidenum">
              <a:rPr kern="0">
                <a:solidFill>
                  <a:prstClr val="black">
                    <a:tint val="75000"/>
                  </a:prstClr>
                </a:solidFill>
              </a:rPr>
              <a:pPr/>
              <a:t>‹#›</a:t>
            </a:fld>
            <a:endParaRPr kern="0">
              <a:solidFill>
                <a:prstClr val="black">
                  <a:tint val="75000"/>
                </a:prstClr>
              </a:solidFill>
            </a:endParaRPr>
          </a:p>
        </p:txBody>
      </p:sp>
    </p:spTree>
    <p:extLst>
      <p:ext uri="{BB962C8B-B14F-4D97-AF65-F5344CB8AC3E}">
        <p14:creationId xmlns:p14="http://schemas.microsoft.com/office/powerpoint/2010/main" val="41603713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8839200" y="0"/>
            <a:ext cx="2924048" cy="693420"/>
          </a:xfrm>
          <a:prstGeom prst="rect">
            <a:avLst/>
          </a:prstGeom>
        </p:spPr>
      </p:pic>
      <p:sp>
        <p:nvSpPr>
          <p:cNvPr id="17" name="bg object 17"/>
          <p:cNvSpPr/>
          <p:nvPr/>
        </p:nvSpPr>
        <p:spPr>
          <a:xfrm>
            <a:off x="5994400" y="6553200"/>
            <a:ext cx="3105573"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endParaRPr kern="0">
              <a:solidFill>
                <a:sysClr val="windowText" lastClr="000000"/>
              </a:solidFill>
            </a:endParaRPr>
          </a:p>
        </p:txBody>
      </p:sp>
      <p:sp>
        <p:nvSpPr>
          <p:cNvPr id="18" name="bg object 18"/>
          <p:cNvSpPr/>
          <p:nvPr/>
        </p:nvSpPr>
        <p:spPr>
          <a:xfrm>
            <a:off x="2844800" y="6553200"/>
            <a:ext cx="3149600" cy="45720"/>
          </a:xfrm>
          <a:custGeom>
            <a:avLst/>
            <a:gdLst/>
            <a:ahLst/>
            <a:cxnLst/>
            <a:rect l="l" t="t" r="r" b="b"/>
            <a:pathLst>
              <a:path w="2362200" h="45720">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endParaRPr kern="0">
              <a:solidFill>
                <a:sysClr val="windowText" lastClr="000000"/>
              </a:solidFill>
            </a:endParaRPr>
          </a:p>
        </p:txBody>
      </p:sp>
      <p:sp>
        <p:nvSpPr>
          <p:cNvPr id="19" name="bg object 19"/>
          <p:cNvSpPr/>
          <p:nvPr/>
        </p:nvSpPr>
        <p:spPr>
          <a:xfrm>
            <a:off x="9087104" y="6553200"/>
            <a:ext cx="3105573"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endParaRPr kern="0">
              <a:solidFill>
                <a:sysClr val="windowText" lastClr="000000"/>
              </a:solidFill>
            </a:endParaRPr>
          </a:p>
        </p:txBody>
      </p:sp>
      <p:sp>
        <p:nvSpPr>
          <p:cNvPr id="20" name="bg object 20"/>
          <p:cNvSpPr/>
          <p:nvPr/>
        </p:nvSpPr>
        <p:spPr>
          <a:xfrm>
            <a:off x="3149600" y="1295400"/>
            <a:ext cx="3105573"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endParaRPr kern="0">
              <a:solidFill>
                <a:sysClr val="windowText" lastClr="000000"/>
              </a:solidFill>
            </a:endParaRPr>
          </a:p>
        </p:txBody>
      </p:sp>
      <p:sp>
        <p:nvSpPr>
          <p:cNvPr id="21" name="bg object 21"/>
          <p:cNvSpPr/>
          <p:nvPr/>
        </p:nvSpPr>
        <p:spPr>
          <a:xfrm>
            <a:off x="0" y="1295400"/>
            <a:ext cx="3149600" cy="45720"/>
          </a:xfrm>
          <a:custGeom>
            <a:avLst/>
            <a:gdLst/>
            <a:ahLst/>
            <a:cxnLst/>
            <a:rect l="l" t="t" r="r" b="b"/>
            <a:pathLst>
              <a:path w="2362200" h="45719">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endParaRPr kern="0">
              <a:solidFill>
                <a:sysClr val="windowText" lastClr="000000"/>
              </a:solidFill>
            </a:endParaRPr>
          </a:p>
        </p:txBody>
      </p:sp>
      <p:sp>
        <p:nvSpPr>
          <p:cNvPr id="22" name="bg object 22"/>
          <p:cNvSpPr/>
          <p:nvPr/>
        </p:nvSpPr>
        <p:spPr>
          <a:xfrm>
            <a:off x="6242304" y="1295400"/>
            <a:ext cx="3105573"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endParaRPr kern="0">
              <a:solidFill>
                <a:sysClr val="windowText" lastClr="000000"/>
              </a:solidFill>
            </a:endParaRPr>
          </a:p>
        </p:txBody>
      </p:sp>
      <p:sp>
        <p:nvSpPr>
          <p:cNvPr id="2" name="Holder 2"/>
          <p:cNvSpPr>
            <a:spLocks noGrp="1"/>
          </p:cNvSpPr>
          <p:nvPr>
            <p:ph type="title"/>
          </p:nvPr>
        </p:nvSpPr>
        <p:spPr>
          <a:xfrm>
            <a:off x="308187" y="361315"/>
            <a:ext cx="6561667" cy="613028"/>
          </a:xfrm>
          <a:prstGeom prst="rect">
            <a:avLst/>
          </a:prstGeom>
        </p:spPr>
        <p:txBody>
          <a:bodyPr lIns="0" tIns="0" rIns="0" bIns="0"/>
          <a:lstStyle>
            <a:lvl1pPr>
              <a:defRPr sz="3600" b="1" i="0">
                <a:solidFill>
                  <a:schemeClr val="tx1"/>
                </a:solidFill>
                <a:latin typeface="Cambria"/>
                <a:cs typeface="Cambria"/>
              </a:defRPr>
            </a:lvl1pPr>
          </a:lstStyle>
          <a:p>
            <a:endParaRPr/>
          </a:p>
        </p:txBody>
      </p:sp>
      <p:sp>
        <p:nvSpPr>
          <p:cNvPr id="3" name="Holder 3"/>
          <p:cNvSpPr>
            <a:spLocks noGrp="1"/>
          </p:cNvSpPr>
          <p:nvPr>
            <p:ph type="ftr" sz="quarter" idx="5"/>
          </p:nvPr>
        </p:nvSpPr>
        <p:spPr>
          <a:xfrm>
            <a:off x="9811512" y="6639736"/>
            <a:ext cx="2274993" cy="182245"/>
          </a:xfrm>
          <a:prstGeom prst="rect">
            <a:avLst/>
          </a:prstGeom>
        </p:spPr>
        <p:txBody>
          <a:bodyPr lIns="0" tIns="0" rIns="0" bIns="0"/>
          <a:lstStyle>
            <a:lvl1pPr>
              <a:defRPr sz="1100" b="0" i="0">
                <a:solidFill>
                  <a:srgbClr val="0F1141"/>
                </a:solidFill>
                <a:latin typeface="Arial MT"/>
                <a:cs typeface="Arial MT"/>
              </a:defRPr>
            </a:lvl1pPr>
          </a:lstStyle>
          <a:p>
            <a:pPr marL="12700"/>
            <a:r>
              <a:rPr lang="en-IN" b="1" kern="0">
                <a:latin typeface="Arial"/>
                <a:cs typeface="Arial"/>
              </a:rPr>
              <a:t>BITS</a:t>
            </a:r>
            <a:r>
              <a:rPr lang="en-IN" b="1" kern="0" spc="-55">
                <a:latin typeface="Arial"/>
                <a:cs typeface="Arial"/>
              </a:rPr>
              <a:t> </a:t>
            </a:r>
            <a:r>
              <a:rPr lang="en-IN" kern="0"/>
              <a:t>Pilani,</a:t>
            </a:r>
            <a:r>
              <a:rPr lang="en-IN" kern="0" spc="-35"/>
              <a:t> </a:t>
            </a:r>
            <a:r>
              <a:rPr lang="en-IN" kern="0"/>
              <a:t>Pilani</a:t>
            </a:r>
            <a:r>
              <a:rPr lang="en-IN" kern="0" spc="-30"/>
              <a:t> </a:t>
            </a:r>
            <a:r>
              <a:rPr lang="en-IN" kern="0" spc="-10"/>
              <a:t>Campus</a:t>
            </a:r>
            <a:endParaRPr lang="en-IN" kern="0" spc="-10" dirty="0"/>
          </a:p>
        </p:txBody>
      </p:sp>
      <p:sp>
        <p:nvSpPr>
          <p:cNvPr id="4" name="Holder 4"/>
          <p:cNvSpPr>
            <a:spLocks noGrp="1"/>
          </p:cNvSpPr>
          <p:nvPr>
            <p:ph type="dt" sz="half" idx="6"/>
          </p:nvPr>
        </p:nvSpPr>
        <p:spPr>
          <a:xfrm>
            <a:off x="609600" y="6377940"/>
            <a:ext cx="2804160" cy="34290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kern="0">
                <a:solidFill>
                  <a:prstClr val="black">
                    <a:tint val="75000"/>
                  </a:prstClr>
                </a:solidFill>
              </a:rPr>
              <a:pPr/>
              <a:t>5/8/2026</a:t>
            </a:fld>
            <a:endParaRPr lang="en-US" kern="0">
              <a:solidFill>
                <a:prstClr val="black">
                  <a:tint val="75000"/>
                </a:prstClr>
              </a:solidFill>
            </a:endParaRPr>
          </a:p>
        </p:txBody>
      </p:sp>
      <p:sp>
        <p:nvSpPr>
          <p:cNvPr id="5" name="Holder 5"/>
          <p:cNvSpPr>
            <a:spLocks noGrp="1"/>
          </p:cNvSpPr>
          <p:nvPr>
            <p:ph type="sldNum" sz="quarter" idx="7"/>
          </p:nvPr>
        </p:nvSpPr>
        <p:spPr>
          <a:xfrm>
            <a:off x="8778240" y="6377940"/>
            <a:ext cx="2804160" cy="342900"/>
          </a:xfrm>
          <a:prstGeom prst="rect">
            <a:avLst/>
          </a:prstGeom>
        </p:spPr>
        <p:txBody>
          <a:bodyPr lIns="0" tIns="0" rIns="0" bIns="0"/>
          <a:lstStyle>
            <a:lvl1pPr algn="r">
              <a:defRPr>
                <a:solidFill>
                  <a:schemeClr val="tx1">
                    <a:tint val="75000"/>
                  </a:schemeClr>
                </a:solidFill>
              </a:defRPr>
            </a:lvl1pPr>
          </a:lstStyle>
          <a:p>
            <a:fld id="{B6F15528-21DE-4FAA-801E-634DDDAF4B2B}" type="slidenum">
              <a:rPr kern="0">
                <a:solidFill>
                  <a:prstClr val="black">
                    <a:tint val="75000"/>
                  </a:prstClr>
                </a:solidFill>
              </a:rPr>
              <a:pPr/>
              <a:t>‹#›</a:t>
            </a:fld>
            <a:endParaRPr kern="0">
              <a:solidFill>
                <a:prstClr val="black">
                  <a:tint val="75000"/>
                </a:prstClr>
              </a:solidFill>
            </a:endParaRPr>
          </a:p>
        </p:txBody>
      </p:sp>
    </p:spTree>
    <p:extLst>
      <p:ext uri="{BB962C8B-B14F-4D97-AF65-F5344CB8AC3E}">
        <p14:creationId xmlns:p14="http://schemas.microsoft.com/office/powerpoint/2010/main" val="312349639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1" y="1"/>
            <a:ext cx="12191999" cy="6857999"/>
          </a:xfrm>
          <a:prstGeom prst="rect">
            <a:avLst/>
          </a:prstGeom>
        </p:spPr>
      </p:pic>
      <p:sp>
        <p:nvSpPr>
          <p:cNvPr id="17" name="bg object 17"/>
          <p:cNvSpPr/>
          <p:nvPr/>
        </p:nvSpPr>
        <p:spPr>
          <a:xfrm>
            <a:off x="3860800" y="6096000"/>
            <a:ext cx="3860800" cy="76200"/>
          </a:xfrm>
          <a:custGeom>
            <a:avLst/>
            <a:gdLst/>
            <a:ahLst/>
            <a:cxnLst/>
            <a:rect l="l" t="t" r="r" b="b"/>
            <a:pathLst>
              <a:path w="2895600" h="76200">
                <a:moveTo>
                  <a:pt x="2895600" y="0"/>
                </a:moveTo>
                <a:lnTo>
                  <a:pt x="0" y="0"/>
                </a:lnTo>
                <a:lnTo>
                  <a:pt x="0" y="76200"/>
                </a:lnTo>
                <a:lnTo>
                  <a:pt x="2895600" y="76200"/>
                </a:lnTo>
                <a:lnTo>
                  <a:pt x="2895600" y="0"/>
                </a:lnTo>
                <a:close/>
              </a:path>
            </a:pathLst>
          </a:custGeom>
          <a:solidFill>
            <a:srgbClr val="76C2E4"/>
          </a:solidFill>
        </p:spPr>
        <p:txBody>
          <a:bodyPr wrap="square" lIns="0" tIns="0" rIns="0" bIns="0" rtlCol="0"/>
          <a:lstStyle/>
          <a:p>
            <a:endParaRPr kern="0">
              <a:solidFill>
                <a:sysClr val="windowText" lastClr="000000"/>
              </a:solidFill>
            </a:endParaRPr>
          </a:p>
        </p:txBody>
      </p:sp>
      <p:sp>
        <p:nvSpPr>
          <p:cNvPr id="18" name="bg object 18"/>
          <p:cNvSpPr/>
          <p:nvPr/>
        </p:nvSpPr>
        <p:spPr>
          <a:xfrm>
            <a:off x="0" y="6096000"/>
            <a:ext cx="3860800" cy="76200"/>
          </a:xfrm>
          <a:custGeom>
            <a:avLst/>
            <a:gdLst/>
            <a:ahLst/>
            <a:cxnLst/>
            <a:rect l="l" t="t" r="r" b="b"/>
            <a:pathLst>
              <a:path w="2895600" h="76200">
                <a:moveTo>
                  <a:pt x="2895600" y="0"/>
                </a:moveTo>
                <a:lnTo>
                  <a:pt x="0" y="0"/>
                </a:lnTo>
                <a:lnTo>
                  <a:pt x="0" y="76200"/>
                </a:lnTo>
                <a:lnTo>
                  <a:pt x="2895600" y="76200"/>
                </a:lnTo>
                <a:lnTo>
                  <a:pt x="2895600" y="0"/>
                </a:lnTo>
                <a:close/>
              </a:path>
            </a:pathLst>
          </a:custGeom>
          <a:solidFill>
            <a:srgbClr val="FBAF17"/>
          </a:solidFill>
        </p:spPr>
        <p:txBody>
          <a:bodyPr wrap="square" lIns="0" tIns="0" rIns="0" bIns="0" rtlCol="0"/>
          <a:lstStyle/>
          <a:p>
            <a:endParaRPr kern="0">
              <a:solidFill>
                <a:sysClr val="windowText" lastClr="000000"/>
              </a:solidFill>
            </a:endParaRPr>
          </a:p>
        </p:txBody>
      </p:sp>
      <p:sp>
        <p:nvSpPr>
          <p:cNvPr id="19" name="bg object 19"/>
          <p:cNvSpPr/>
          <p:nvPr/>
        </p:nvSpPr>
        <p:spPr>
          <a:xfrm>
            <a:off x="7721600" y="6096000"/>
            <a:ext cx="3860800" cy="76200"/>
          </a:xfrm>
          <a:custGeom>
            <a:avLst/>
            <a:gdLst/>
            <a:ahLst/>
            <a:cxnLst/>
            <a:rect l="l" t="t" r="r" b="b"/>
            <a:pathLst>
              <a:path w="2895600" h="76200">
                <a:moveTo>
                  <a:pt x="2895600" y="0"/>
                </a:moveTo>
                <a:lnTo>
                  <a:pt x="0" y="0"/>
                </a:lnTo>
                <a:lnTo>
                  <a:pt x="0" y="76200"/>
                </a:lnTo>
                <a:lnTo>
                  <a:pt x="2895600" y="76200"/>
                </a:lnTo>
                <a:lnTo>
                  <a:pt x="2895600" y="0"/>
                </a:lnTo>
                <a:close/>
              </a:path>
            </a:pathLst>
          </a:custGeom>
          <a:solidFill>
            <a:srgbClr val="FF0000"/>
          </a:solidFill>
        </p:spPr>
        <p:txBody>
          <a:bodyPr wrap="square" lIns="0" tIns="0" rIns="0" bIns="0" rtlCol="0"/>
          <a:lstStyle/>
          <a:p>
            <a:endParaRPr kern="0">
              <a:solidFill>
                <a:sysClr val="windowText" lastClr="000000"/>
              </a:solidFill>
            </a:endParaRPr>
          </a:p>
        </p:txBody>
      </p:sp>
      <p:pic>
        <p:nvPicPr>
          <p:cNvPr id="20" name="bg object 20"/>
          <p:cNvPicPr/>
          <p:nvPr/>
        </p:nvPicPr>
        <p:blipFill>
          <a:blip r:embed="rId3" cstate="print"/>
          <a:stretch>
            <a:fillRect/>
          </a:stretch>
        </p:blipFill>
        <p:spPr>
          <a:xfrm>
            <a:off x="101600" y="3352800"/>
            <a:ext cx="2743200" cy="1979676"/>
          </a:xfrm>
          <a:prstGeom prst="rect">
            <a:avLst/>
          </a:prstGeom>
        </p:spPr>
      </p:pic>
      <p:sp>
        <p:nvSpPr>
          <p:cNvPr id="2" name="Holder 2"/>
          <p:cNvSpPr>
            <a:spLocks noGrp="1"/>
          </p:cNvSpPr>
          <p:nvPr>
            <p:ph type="ftr" sz="quarter" idx="5"/>
          </p:nvPr>
        </p:nvSpPr>
        <p:spPr>
          <a:xfrm>
            <a:off x="9811512" y="6639736"/>
            <a:ext cx="2274993" cy="182245"/>
          </a:xfrm>
          <a:prstGeom prst="rect">
            <a:avLst/>
          </a:prstGeom>
        </p:spPr>
        <p:txBody>
          <a:bodyPr lIns="0" tIns="0" rIns="0" bIns="0"/>
          <a:lstStyle>
            <a:lvl1pPr>
              <a:defRPr sz="1100" b="0" i="0">
                <a:solidFill>
                  <a:srgbClr val="0F1141"/>
                </a:solidFill>
                <a:latin typeface="Arial MT"/>
                <a:cs typeface="Arial MT"/>
              </a:defRPr>
            </a:lvl1pPr>
          </a:lstStyle>
          <a:p>
            <a:pPr marL="12700"/>
            <a:r>
              <a:rPr lang="en-IN" b="1" kern="0">
                <a:latin typeface="Arial"/>
                <a:cs typeface="Arial"/>
              </a:rPr>
              <a:t>BITS</a:t>
            </a:r>
            <a:r>
              <a:rPr lang="en-IN" b="1" kern="0" spc="-55">
                <a:latin typeface="Arial"/>
                <a:cs typeface="Arial"/>
              </a:rPr>
              <a:t> </a:t>
            </a:r>
            <a:r>
              <a:rPr lang="en-IN" kern="0"/>
              <a:t>Pilani,</a:t>
            </a:r>
            <a:r>
              <a:rPr lang="en-IN" kern="0" spc="-35"/>
              <a:t> </a:t>
            </a:r>
            <a:r>
              <a:rPr lang="en-IN" kern="0"/>
              <a:t>Pilani</a:t>
            </a:r>
            <a:r>
              <a:rPr lang="en-IN" kern="0" spc="-30"/>
              <a:t> </a:t>
            </a:r>
            <a:r>
              <a:rPr lang="en-IN" kern="0" spc="-10"/>
              <a:t>Campus</a:t>
            </a:r>
            <a:endParaRPr lang="en-IN" kern="0" spc="-10" dirty="0"/>
          </a:p>
        </p:txBody>
      </p:sp>
      <p:sp>
        <p:nvSpPr>
          <p:cNvPr id="3" name="Holder 3"/>
          <p:cNvSpPr>
            <a:spLocks noGrp="1"/>
          </p:cNvSpPr>
          <p:nvPr>
            <p:ph type="dt" sz="half" idx="6"/>
          </p:nvPr>
        </p:nvSpPr>
        <p:spPr>
          <a:xfrm>
            <a:off x="609600" y="6377940"/>
            <a:ext cx="2804160" cy="34290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kern="0">
                <a:solidFill>
                  <a:prstClr val="black">
                    <a:tint val="75000"/>
                  </a:prstClr>
                </a:solidFill>
              </a:rPr>
              <a:pPr/>
              <a:t>5/8/2026</a:t>
            </a:fld>
            <a:endParaRPr lang="en-US" kern="0">
              <a:solidFill>
                <a:prstClr val="black">
                  <a:tint val="75000"/>
                </a:prstClr>
              </a:solidFill>
            </a:endParaRPr>
          </a:p>
        </p:txBody>
      </p:sp>
      <p:sp>
        <p:nvSpPr>
          <p:cNvPr id="4" name="Holder 4"/>
          <p:cNvSpPr>
            <a:spLocks noGrp="1"/>
          </p:cNvSpPr>
          <p:nvPr>
            <p:ph type="sldNum" sz="quarter" idx="7"/>
          </p:nvPr>
        </p:nvSpPr>
        <p:spPr>
          <a:xfrm>
            <a:off x="8778240" y="6377940"/>
            <a:ext cx="2804160" cy="342900"/>
          </a:xfrm>
          <a:prstGeom prst="rect">
            <a:avLst/>
          </a:prstGeom>
        </p:spPr>
        <p:txBody>
          <a:bodyPr lIns="0" tIns="0" rIns="0" bIns="0"/>
          <a:lstStyle>
            <a:lvl1pPr algn="r">
              <a:defRPr>
                <a:solidFill>
                  <a:schemeClr val="tx1">
                    <a:tint val="75000"/>
                  </a:schemeClr>
                </a:solidFill>
              </a:defRPr>
            </a:lvl1pPr>
          </a:lstStyle>
          <a:p>
            <a:fld id="{B6F15528-21DE-4FAA-801E-634DDDAF4B2B}" type="slidenum">
              <a:rPr kern="0">
                <a:solidFill>
                  <a:prstClr val="black">
                    <a:tint val="75000"/>
                  </a:prstClr>
                </a:solidFill>
              </a:rPr>
              <a:pPr/>
              <a:t>‹#›</a:t>
            </a:fld>
            <a:endParaRPr kern="0">
              <a:solidFill>
                <a:prstClr val="black">
                  <a:tint val="75000"/>
                </a:prstClr>
              </a:solidFill>
            </a:endParaRPr>
          </a:p>
        </p:txBody>
      </p:sp>
    </p:spTree>
    <p:extLst>
      <p:ext uri="{BB962C8B-B14F-4D97-AF65-F5344CB8AC3E}">
        <p14:creationId xmlns:p14="http://schemas.microsoft.com/office/powerpoint/2010/main" val="339377529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39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a:defRPr/>
            </a:pPr>
            <a:r>
              <a:rPr lang="en-US" altLang="en-US" sz="1100" b="1" kern="0">
                <a:solidFill>
                  <a:srgbClr val="101141"/>
                </a:solidFill>
              </a:rPr>
              <a:t>BITS </a:t>
            </a:r>
            <a:r>
              <a:rPr lang="en-US" altLang="en-US" sz="1100" kern="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kern="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kern="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kern="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kern="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kern="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kern="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kern="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kern="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kern="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72174470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0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131138366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1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93230312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5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364409644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6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122600309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37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350125281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7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355941321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21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91077511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24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267052024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25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217368982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26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181246790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27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43426218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28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123773460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29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207907516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30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151001792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31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267782694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18_Title and Content">
    <p:spTree>
      <p:nvGrpSpPr>
        <p:cNvPr id="1" name=""/>
        <p:cNvGrpSpPr/>
        <p:nvPr/>
      </p:nvGrpSpPr>
      <p:grpSpPr>
        <a:xfrm>
          <a:off x="0" y="0"/>
          <a:ext cx="0" cy="0"/>
          <a:chOff x="0" y="0"/>
          <a:chExt cx="0" cy="0"/>
        </a:xfrm>
      </p:grpSpPr>
      <p:sp>
        <p:nvSpPr>
          <p:cNvPr id="2" name="Do not remove" hidden="1"/>
          <p:cNvSpPr/>
          <p:nvPr userDrawn="1">
            <p:custDataLst>
              <p:tags r:id="rId1"/>
            </p:custDataLst>
          </p:nvPr>
        </p:nvSpPr>
        <p:spPr>
          <a:xfrm>
            <a:off x="0" y="0"/>
            <a:ext cx="16933"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3" name="Content Placeholder 2"/>
          <p:cNvSpPr>
            <a:spLocks noGrp="1"/>
          </p:cNvSpPr>
          <p:nvPr>
            <p:ph idx="1" hasCustomPrompt="1"/>
          </p:nvPr>
        </p:nvSpPr>
        <p:spPr>
          <a:xfrm>
            <a:off x="406400" y="1493842"/>
            <a:ext cx="10972800" cy="4525963"/>
          </a:xfrm>
          <a:prstGeom prst="rect">
            <a:avLst/>
          </a:prstGeom>
        </p:spPr>
        <p:txBody>
          <a:bodyPr/>
          <a:lstStyle>
            <a:lvl1pPr marL="192881" marR="0" indent="-192881" algn="l" defTabSz="514350" rtl="0" eaLnBrk="1" fontAlgn="auto" latinLnBrk="0" hangingPunct="1">
              <a:lnSpc>
                <a:spcPct val="100000"/>
              </a:lnSpc>
              <a:spcBef>
                <a:spcPct val="20000"/>
              </a:spcBef>
              <a:spcAft>
                <a:spcPts val="0"/>
              </a:spcAft>
              <a:buClr>
                <a:srgbClr val="101141"/>
              </a:buClr>
              <a:buSzTx/>
              <a:buFont typeface="Arial" pitchFamily="34" charset="0"/>
              <a:buNone/>
              <a:tabLst/>
              <a:defRPr sz="1350">
                <a:latin typeface="Arial" pitchFamily="34" charset="0"/>
                <a:cs typeface="Arial" pitchFamily="34" charset="0"/>
              </a:defRPr>
            </a:lvl1pPr>
            <a:lvl2pPr marL="417910" marR="0" indent="-160735" algn="l" defTabSz="514350" rtl="0" eaLnBrk="1" fontAlgn="auto" latinLnBrk="0" hangingPunct="1">
              <a:lnSpc>
                <a:spcPct val="100000"/>
              </a:lnSpc>
              <a:spcBef>
                <a:spcPct val="20000"/>
              </a:spcBef>
              <a:spcAft>
                <a:spcPts val="0"/>
              </a:spcAft>
              <a:buClrTx/>
              <a:buSzTx/>
              <a:buFont typeface="Arial" pitchFamily="34" charset="0"/>
              <a:buChar char="–"/>
              <a:tabLst/>
              <a:defRPr sz="900">
                <a:latin typeface="Arial" pitchFamily="34" charset="0"/>
                <a:cs typeface="Arial" pitchFamily="34" charset="0"/>
              </a:defRPr>
            </a:lvl2pPr>
          </a:lstStyle>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1350" u="none" strike="noStrike" kern="1200" cap="none" spc="0" normalizeH="0" noProof="0" dirty="0">
              <a:ln>
                <a:noFill/>
              </a:ln>
              <a:solidFill>
                <a:srgbClr val="101141"/>
              </a:solidFill>
              <a:effectLst/>
              <a:uLnTx/>
              <a:uFillTx/>
              <a:latin typeface="Arial"/>
              <a:cs typeface="Arial"/>
            </a:endParaRPr>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4368800" y="6596394"/>
            <a:ext cx="7823200" cy="187615"/>
          </a:xfrm>
          <a:prstGeom prst="rect">
            <a:avLst/>
          </a:prstGeom>
          <a:noFill/>
        </p:spPr>
        <p:txBody>
          <a:bodyPr wrap="square" rtlCol="0">
            <a:spAutoFit/>
          </a:bodyPr>
          <a:lstStyle/>
          <a:p>
            <a:pPr algn="r" defTabSz="685800">
              <a:defRPr/>
            </a:pPr>
            <a:r>
              <a:rPr lang="en-US" sz="619" b="1" dirty="0">
                <a:solidFill>
                  <a:srgbClr val="101141"/>
                </a:solidFill>
                <a:latin typeface="Arial"/>
                <a:cs typeface="Arial"/>
              </a:rPr>
              <a:t>BITS </a:t>
            </a:r>
            <a:r>
              <a:rPr lang="en-US" sz="619" dirty="0">
                <a:solidFill>
                  <a:srgbClr val="101141"/>
                </a:solidFill>
                <a:latin typeface="Arial"/>
                <a:cs typeface="Arial"/>
              </a:rPr>
              <a:t>Pilani, Deemed to be University under Section 3 of UGC Act, 1956</a:t>
            </a:r>
          </a:p>
        </p:txBody>
      </p:sp>
      <p:grpSp>
        <p:nvGrpSpPr>
          <p:cNvPr id="12" name="Group 11"/>
          <p:cNvGrpSpPr/>
          <p:nvPr userDrawn="1"/>
        </p:nvGrpSpPr>
        <p:grpSpPr>
          <a:xfrm>
            <a:off x="2778517" y="6550676"/>
            <a:ext cx="9413483"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pic>
        <p:nvPicPr>
          <p:cNvPr id="16" name="Picture 15" descr="Picture 7.png"/>
          <p:cNvPicPr>
            <a:picLocks noChangeAspect="1"/>
          </p:cNvPicPr>
          <p:nvPr userDrawn="1"/>
        </p:nvPicPr>
        <p:blipFill>
          <a:blip r:embed="rId3" cstate="print"/>
          <a:srcRect l="1923" b="5336"/>
          <a:stretch>
            <a:fillRect/>
          </a:stretch>
        </p:blipFill>
        <p:spPr>
          <a:xfrm>
            <a:off x="8839204" y="-1"/>
            <a:ext cx="2924257" cy="692697"/>
          </a:xfrm>
          <a:prstGeom prst="rect">
            <a:avLst/>
          </a:prstGeom>
        </p:spPr>
      </p:pic>
      <p:grpSp>
        <p:nvGrpSpPr>
          <p:cNvPr id="19" name="Group 18"/>
          <p:cNvGrpSpPr/>
          <p:nvPr userDrawn="1"/>
        </p:nvGrpSpPr>
        <p:grpSpPr>
          <a:xfrm>
            <a:off x="2844800" y="6558117"/>
            <a:ext cx="93472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grpSp>
        <p:nvGrpSpPr>
          <p:cNvPr id="23" name="Group 22"/>
          <p:cNvGrpSpPr/>
          <p:nvPr userDrawn="1"/>
        </p:nvGrpSpPr>
        <p:grpSpPr>
          <a:xfrm>
            <a:off x="0" y="1295405"/>
            <a:ext cx="93472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sp>
        <p:nvSpPr>
          <p:cNvPr id="27" name="Content Placeholder 18"/>
          <p:cNvSpPr>
            <a:spLocks noGrp="1"/>
          </p:cNvSpPr>
          <p:nvPr>
            <p:ph sz="quarter" idx="10"/>
          </p:nvPr>
        </p:nvSpPr>
        <p:spPr>
          <a:xfrm>
            <a:off x="406400" y="152400"/>
            <a:ext cx="8432800" cy="1143000"/>
          </a:xfrm>
          <a:prstGeom prst="rect">
            <a:avLst/>
          </a:prstGeom>
        </p:spPr>
        <p:txBody>
          <a:bodyPr anchor="ctr" anchorCtr="0">
            <a:normAutofit/>
          </a:bodyPr>
          <a:lstStyle>
            <a:lvl1pPr marL="0">
              <a:lnSpc>
                <a:spcPts val="2025"/>
              </a:lnSpc>
              <a:spcBef>
                <a:spcPts val="0"/>
              </a:spcBef>
              <a:buNone/>
              <a:defRPr sz="2025" b="1" spc="-85" baseline="0">
                <a:latin typeface="Arial" pitchFamily="34" charset="0"/>
                <a:cs typeface="Arial" pitchFamily="34" charset="0"/>
              </a:defRPr>
            </a:lvl1pPr>
          </a:lstStyle>
          <a:p>
            <a:pPr lvl="0"/>
            <a:endParaRPr lang="en-US" dirty="0"/>
          </a:p>
        </p:txBody>
      </p:sp>
      <p:sp>
        <p:nvSpPr>
          <p:cNvPr id="4" name="Content Placeholder 3">
            <a:extLst>
              <a:ext uri="{FF2B5EF4-FFF2-40B4-BE49-F238E27FC236}">
                <a16:creationId xmlns:a16="http://schemas.microsoft.com/office/drawing/2014/main" id="{6FA95B91-80DC-439F-8C70-3B1EBFBBF1F5}"/>
              </a:ext>
            </a:extLst>
          </p:cNvPr>
          <p:cNvSpPr>
            <a:spLocks noGrp="1"/>
          </p:cNvSpPr>
          <p:nvPr>
            <p:ph sz="quarter" idx="11"/>
          </p:nvPr>
        </p:nvSpPr>
        <p:spPr>
          <a:xfrm>
            <a:off x="5994400" y="6363741"/>
            <a:ext cx="1219200" cy="91440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116052-1273-4EC0-ADD6-422E16AA4781}"/>
              </a:ext>
            </a:extLst>
          </p:cNvPr>
          <p:cNvSpPr>
            <a:spLocks noGrp="1"/>
          </p:cNvSpPr>
          <p:nvPr>
            <p:ph type="dt" sz="half" idx="12"/>
          </p:nvPr>
        </p:nvSpPr>
        <p:spPr>
          <a:xfrm>
            <a:off x="609600" y="6377940"/>
            <a:ext cx="2804160" cy="342900"/>
          </a:xfrm>
          <a:prstGeom prst="rect">
            <a:avLst/>
          </a:prstGeom>
        </p:spPr>
        <p:txBody>
          <a:bodyPr/>
          <a:lstStyle/>
          <a:p>
            <a:pPr fontAlgn="base">
              <a:spcBef>
                <a:spcPct val="0"/>
              </a:spcBef>
              <a:spcAft>
                <a:spcPct val="0"/>
              </a:spcAft>
            </a:pPr>
            <a:endParaRPr lang="en-US" sz="1200">
              <a:solidFill>
                <a:prstClr val="black">
                  <a:tint val="75000"/>
                </a:prstClr>
              </a:solidFill>
              <a:latin typeface="Tahoma" charset="0"/>
            </a:endParaRPr>
          </a:p>
        </p:txBody>
      </p:sp>
      <p:sp>
        <p:nvSpPr>
          <p:cNvPr id="6" name="Footer Placeholder 5">
            <a:extLst>
              <a:ext uri="{FF2B5EF4-FFF2-40B4-BE49-F238E27FC236}">
                <a16:creationId xmlns:a16="http://schemas.microsoft.com/office/drawing/2014/main" id="{4FDE8E7A-623C-40DD-A712-BEEDA93A9756}"/>
              </a:ext>
            </a:extLst>
          </p:cNvPr>
          <p:cNvSpPr>
            <a:spLocks noGrp="1"/>
          </p:cNvSpPr>
          <p:nvPr>
            <p:ph type="ftr" sz="quarter" idx="13"/>
          </p:nvPr>
        </p:nvSpPr>
        <p:spPr>
          <a:xfrm>
            <a:off x="9811512" y="6639736"/>
            <a:ext cx="2274993" cy="182245"/>
          </a:xfrm>
          <a:prstGeom prst="rect">
            <a:avLst/>
          </a:prstGeom>
        </p:spPr>
        <p:txBody>
          <a:bodyPr/>
          <a:lstStyle/>
          <a:p>
            <a:pPr fontAlgn="base">
              <a:spcBef>
                <a:spcPct val="0"/>
              </a:spcBef>
              <a:spcAft>
                <a:spcPct val="0"/>
              </a:spcAft>
            </a:pPr>
            <a:endParaRPr lang="en-US" sz="1200">
              <a:solidFill>
                <a:prstClr val="black">
                  <a:tint val="75000"/>
                </a:prstClr>
              </a:solidFill>
              <a:latin typeface="Tahoma" charset="0"/>
            </a:endParaRPr>
          </a:p>
        </p:txBody>
      </p:sp>
      <p:sp>
        <p:nvSpPr>
          <p:cNvPr id="8" name="Slide Number Placeholder 7">
            <a:extLst>
              <a:ext uri="{FF2B5EF4-FFF2-40B4-BE49-F238E27FC236}">
                <a16:creationId xmlns:a16="http://schemas.microsoft.com/office/drawing/2014/main" id="{0CD26A9A-C7D3-441E-9815-2014756B5490}"/>
              </a:ext>
            </a:extLst>
          </p:cNvPr>
          <p:cNvSpPr>
            <a:spLocks noGrp="1"/>
          </p:cNvSpPr>
          <p:nvPr>
            <p:ph type="sldNum" sz="quarter" idx="14"/>
          </p:nvPr>
        </p:nvSpPr>
        <p:spPr>
          <a:xfrm>
            <a:off x="9347200" y="6101556"/>
            <a:ext cx="2844800" cy="365125"/>
          </a:xfrm>
          <a:prstGeom prst="rect">
            <a:avLst/>
          </a:prstGeom>
        </p:spPr>
        <p:txBody>
          <a:bodyPr/>
          <a:lstStyle/>
          <a:p>
            <a:pPr fontAlgn="base">
              <a:spcBef>
                <a:spcPct val="0"/>
              </a:spcBef>
              <a:spcAft>
                <a:spcPct val="0"/>
              </a:spcAft>
            </a:pPr>
            <a:fld id="{BC8D7E44-7D4F-4942-A8C9-2DF6BF8399E8}" type="slidenum">
              <a:rPr lang="en-US" sz="1200">
                <a:solidFill>
                  <a:prstClr val="black">
                    <a:tint val="75000"/>
                  </a:prstClr>
                </a:solidFill>
                <a:latin typeface="Tahoma" charset="0"/>
              </a:rPr>
              <a:pPr fontAlgn="base">
                <a:spcBef>
                  <a:spcPct val="0"/>
                </a:spcBef>
                <a:spcAft>
                  <a:spcPct val="0"/>
                </a:spcAft>
              </a:pPr>
              <a:t>‹#›</a:t>
            </a:fld>
            <a:endParaRPr lang="en-US" sz="1200" dirty="0">
              <a:solidFill>
                <a:prstClr val="black">
                  <a:tint val="75000"/>
                </a:prstClr>
              </a:solidFill>
              <a:latin typeface="Tahoma" charset="0"/>
            </a:endParaRPr>
          </a:p>
        </p:txBody>
      </p:sp>
    </p:spTree>
    <p:extLst>
      <p:ext uri="{BB962C8B-B14F-4D97-AF65-F5344CB8AC3E}">
        <p14:creationId xmlns:p14="http://schemas.microsoft.com/office/powerpoint/2010/main" val="428176751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32_Title and Content">
    <p:spTree>
      <p:nvGrpSpPr>
        <p:cNvPr id="1" name=""/>
        <p:cNvGrpSpPr/>
        <p:nvPr/>
      </p:nvGrpSpPr>
      <p:grpSpPr>
        <a:xfrm>
          <a:off x="0" y="0"/>
          <a:ext cx="0" cy="0"/>
          <a:chOff x="0" y="0"/>
          <a:chExt cx="0" cy="0"/>
        </a:xfrm>
      </p:grpSpPr>
      <p:sp>
        <p:nvSpPr>
          <p:cNvPr id="2" name="Do not remove" hidden="1"/>
          <p:cNvSpPr/>
          <p:nvPr userDrawn="1">
            <p:custDataLst>
              <p:tags r:id="rId1"/>
            </p:custDataLst>
          </p:nvPr>
        </p:nvSpPr>
        <p:spPr>
          <a:xfrm>
            <a:off x="0" y="0"/>
            <a:ext cx="16933"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3" name="Content Placeholder 2"/>
          <p:cNvSpPr>
            <a:spLocks noGrp="1"/>
          </p:cNvSpPr>
          <p:nvPr>
            <p:ph idx="1" hasCustomPrompt="1"/>
          </p:nvPr>
        </p:nvSpPr>
        <p:spPr>
          <a:xfrm>
            <a:off x="406400" y="1493842"/>
            <a:ext cx="10972800" cy="4525963"/>
          </a:xfrm>
          <a:prstGeom prst="rect">
            <a:avLst/>
          </a:prstGeom>
        </p:spPr>
        <p:txBody>
          <a:bodyPr/>
          <a:lstStyle>
            <a:lvl1pPr marL="192881" marR="0" indent="-192881" algn="l" defTabSz="514350" rtl="0" eaLnBrk="1" fontAlgn="auto" latinLnBrk="0" hangingPunct="1">
              <a:lnSpc>
                <a:spcPct val="100000"/>
              </a:lnSpc>
              <a:spcBef>
                <a:spcPct val="20000"/>
              </a:spcBef>
              <a:spcAft>
                <a:spcPts val="0"/>
              </a:spcAft>
              <a:buClr>
                <a:srgbClr val="101141"/>
              </a:buClr>
              <a:buSzTx/>
              <a:buFont typeface="Arial" pitchFamily="34" charset="0"/>
              <a:buNone/>
              <a:tabLst/>
              <a:defRPr sz="1350">
                <a:latin typeface="Arial" pitchFamily="34" charset="0"/>
                <a:cs typeface="Arial" pitchFamily="34" charset="0"/>
              </a:defRPr>
            </a:lvl1pPr>
            <a:lvl2pPr marL="417910" marR="0" indent="-160735" algn="l" defTabSz="514350" rtl="0" eaLnBrk="1" fontAlgn="auto" latinLnBrk="0" hangingPunct="1">
              <a:lnSpc>
                <a:spcPct val="100000"/>
              </a:lnSpc>
              <a:spcBef>
                <a:spcPct val="20000"/>
              </a:spcBef>
              <a:spcAft>
                <a:spcPts val="0"/>
              </a:spcAft>
              <a:buClrTx/>
              <a:buSzTx/>
              <a:buFont typeface="Arial" pitchFamily="34" charset="0"/>
              <a:buChar char="–"/>
              <a:tabLst/>
              <a:defRPr sz="900">
                <a:latin typeface="Arial" pitchFamily="34" charset="0"/>
                <a:cs typeface="Arial" pitchFamily="34" charset="0"/>
              </a:defRPr>
            </a:lvl2pPr>
          </a:lstStyle>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1350" u="none" strike="noStrike" kern="1200" cap="none" spc="0" normalizeH="0" noProof="0" dirty="0">
              <a:ln>
                <a:noFill/>
              </a:ln>
              <a:solidFill>
                <a:srgbClr val="101141"/>
              </a:solidFill>
              <a:effectLst/>
              <a:uLnTx/>
              <a:uFillTx/>
              <a:latin typeface="Arial"/>
              <a:cs typeface="Arial"/>
            </a:endParaRPr>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4368800" y="6596394"/>
            <a:ext cx="7823200" cy="187615"/>
          </a:xfrm>
          <a:prstGeom prst="rect">
            <a:avLst/>
          </a:prstGeom>
          <a:noFill/>
        </p:spPr>
        <p:txBody>
          <a:bodyPr wrap="square" rtlCol="0">
            <a:spAutoFit/>
          </a:bodyPr>
          <a:lstStyle/>
          <a:p>
            <a:pPr algn="r" defTabSz="685800">
              <a:defRPr/>
            </a:pPr>
            <a:r>
              <a:rPr lang="en-US" sz="619" b="1" dirty="0">
                <a:solidFill>
                  <a:srgbClr val="101141"/>
                </a:solidFill>
                <a:latin typeface="Arial"/>
                <a:cs typeface="Arial"/>
              </a:rPr>
              <a:t>BITS </a:t>
            </a:r>
            <a:r>
              <a:rPr lang="en-US" sz="619" dirty="0">
                <a:solidFill>
                  <a:srgbClr val="101141"/>
                </a:solidFill>
                <a:latin typeface="Arial"/>
                <a:cs typeface="Arial"/>
              </a:rPr>
              <a:t>Pilani, Deemed to be University under Section 3 of UGC Act, 1956</a:t>
            </a:r>
          </a:p>
        </p:txBody>
      </p:sp>
      <p:grpSp>
        <p:nvGrpSpPr>
          <p:cNvPr id="12" name="Group 11"/>
          <p:cNvGrpSpPr/>
          <p:nvPr userDrawn="1"/>
        </p:nvGrpSpPr>
        <p:grpSpPr>
          <a:xfrm>
            <a:off x="2778517" y="6550676"/>
            <a:ext cx="9413483"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pic>
        <p:nvPicPr>
          <p:cNvPr id="16" name="Picture 15" descr="Picture 7.png"/>
          <p:cNvPicPr>
            <a:picLocks noChangeAspect="1"/>
          </p:cNvPicPr>
          <p:nvPr userDrawn="1"/>
        </p:nvPicPr>
        <p:blipFill>
          <a:blip r:embed="rId3" cstate="print"/>
          <a:srcRect l="1923" b="5336"/>
          <a:stretch>
            <a:fillRect/>
          </a:stretch>
        </p:blipFill>
        <p:spPr>
          <a:xfrm>
            <a:off x="8839204" y="-1"/>
            <a:ext cx="2924257" cy="692697"/>
          </a:xfrm>
          <a:prstGeom prst="rect">
            <a:avLst/>
          </a:prstGeom>
        </p:spPr>
      </p:pic>
      <p:grpSp>
        <p:nvGrpSpPr>
          <p:cNvPr id="19" name="Group 18"/>
          <p:cNvGrpSpPr/>
          <p:nvPr userDrawn="1"/>
        </p:nvGrpSpPr>
        <p:grpSpPr>
          <a:xfrm>
            <a:off x="2844800" y="6558117"/>
            <a:ext cx="93472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grpSp>
        <p:nvGrpSpPr>
          <p:cNvPr id="23" name="Group 22"/>
          <p:cNvGrpSpPr/>
          <p:nvPr userDrawn="1"/>
        </p:nvGrpSpPr>
        <p:grpSpPr>
          <a:xfrm>
            <a:off x="0" y="1295405"/>
            <a:ext cx="93472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sp>
        <p:nvSpPr>
          <p:cNvPr id="27" name="Content Placeholder 18"/>
          <p:cNvSpPr>
            <a:spLocks noGrp="1"/>
          </p:cNvSpPr>
          <p:nvPr>
            <p:ph sz="quarter" idx="10"/>
          </p:nvPr>
        </p:nvSpPr>
        <p:spPr>
          <a:xfrm>
            <a:off x="406400" y="152400"/>
            <a:ext cx="8432800" cy="1143000"/>
          </a:xfrm>
          <a:prstGeom prst="rect">
            <a:avLst/>
          </a:prstGeom>
        </p:spPr>
        <p:txBody>
          <a:bodyPr anchor="ctr" anchorCtr="0">
            <a:normAutofit/>
          </a:bodyPr>
          <a:lstStyle>
            <a:lvl1pPr marL="0">
              <a:lnSpc>
                <a:spcPts val="2025"/>
              </a:lnSpc>
              <a:spcBef>
                <a:spcPts val="0"/>
              </a:spcBef>
              <a:buNone/>
              <a:defRPr sz="2025" b="1" spc="-85" baseline="0">
                <a:latin typeface="Arial" pitchFamily="34" charset="0"/>
                <a:cs typeface="Arial" pitchFamily="34" charset="0"/>
              </a:defRPr>
            </a:lvl1pPr>
          </a:lstStyle>
          <a:p>
            <a:pPr lvl="0"/>
            <a:endParaRPr lang="en-US" dirty="0"/>
          </a:p>
        </p:txBody>
      </p:sp>
      <p:sp>
        <p:nvSpPr>
          <p:cNvPr id="4" name="Content Placeholder 3">
            <a:extLst>
              <a:ext uri="{FF2B5EF4-FFF2-40B4-BE49-F238E27FC236}">
                <a16:creationId xmlns:a16="http://schemas.microsoft.com/office/drawing/2014/main" id="{6FA95B91-80DC-439F-8C70-3B1EBFBBF1F5}"/>
              </a:ext>
            </a:extLst>
          </p:cNvPr>
          <p:cNvSpPr>
            <a:spLocks noGrp="1"/>
          </p:cNvSpPr>
          <p:nvPr>
            <p:ph sz="quarter" idx="11"/>
          </p:nvPr>
        </p:nvSpPr>
        <p:spPr>
          <a:xfrm>
            <a:off x="5994400" y="6363741"/>
            <a:ext cx="1219200" cy="91440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116052-1273-4EC0-ADD6-422E16AA4781}"/>
              </a:ext>
            </a:extLst>
          </p:cNvPr>
          <p:cNvSpPr>
            <a:spLocks noGrp="1"/>
          </p:cNvSpPr>
          <p:nvPr>
            <p:ph type="dt" sz="half" idx="12"/>
          </p:nvPr>
        </p:nvSpPr>
        <p:spPr>
          <a:xfrm>
            <a:off x="609600" y="6377940"/>
            <a:ext cx="2804160" cy="342900"/>
          </a:xfrm>
          <a:prstGeom prst="rect">
            <a:avLst/>
          </a:prstGeom>
        </p:spPr>
        <p:txBody>
          <a:bodyPr/>
          <a:lstStyle/>
          <a:p>
            <a:pPr fontAlgn="base">
              <a:spcBef>
                <a:spcPct val="0"/>
              </a:spcBef>
              <a:spcAft>
                <a:spcPct val="0"/>
              </a:spcAft>
            </a:pPr>
            <a:endParaRPr lang="en-US" sz="1200">
              <a:solidFill>
                <a:prstClr val="black">
                  <a:tint val="75000"/>
                </a:prstClr>
              </a:solidFill>
              <a:latin typeface="Tahoma" charset="0"/>
            </a:endParaRPr>
          </a:p>
        </p:txBody>
      </p:sp>
      <p:sp>
        <p:nvSpPr>
          <p:cNvPr id="6" name="Footer Placeholder 5">
            <a:extLst>
              <a:ext uri="{FF2B5EF4-FFF2-40B4-BE49-F238E27FC236}">
                <a16:creationId xmlns:a16="http://schemas.microsoft.com/office/drawing/2014/main" id="{4FDE8E7A-623C-40DD-A712-BEEDA93A9756}"/>
              </a:ext>
            </a:extLst>
          </p:cNvPr>
          <p:cNvSpPr>
            <a:spLocks noGrp="1"/>
          </p:cNvSpPr>
          <p:nvPr>
            <p:ph type="ftr" sz="quarter" idx="13"/>
          </p:nvPr>
        </p:nvSpPr>
        <p:spPr>
          <a:xfrm>
            <a:off x="9811512" y="6639736"/>
            <a:ext cx="2274993" cy="182245"/>
          </a:xfrm>
          <a:prstGeom prst="rect">
            <a:avLst/>
          </a:prstGeom>
        </p:spPr>
        <p:txBody>
          <a:bodyPr/>
          <a:lstStyle/>
          <a:p>
            <a:pPr fontAlgn="base">
              <a:spcBef>
                <a:spcPct val="0"/>
              </a:spcBef>
              <a:spcAft>
                <a:spcPct val="0"/>
              </a:spcAft>
            </a:pPr>
            <a:endParaRPr lang="en-US" sz="1200">
              <a:solidFill>
                <a:prstClr val="black">
                  <a:tint val="75000"/>
                </a:prstClr>
              </a:solidFill>
              <a:latin typeface="Tahoma" charset="0"/>
            </a:endParaRPr>
          </a:p>
        </p:txBody>
      </p:sp>
      <p:sp>
        <p:nvSpPr>
          <p:cNvPr id="8" name="Slide Number Placeholder 7">
            <a:extLst>
              <a:ext uri="{FF2B5EF4-FFF2-40B4-BE49-F238E27FC236}">
                <a16:creationId xmlns:a16="http://schemas.microsoft.com/office/drawing/2014/main" id="{0CD26A9A-C7D3-441E-9815-2014756B5490}"/>
              </a:ext>
            </a:extLst>
          </p:cNvPr>
          <p:cNvSpPr>
            <a:spLocks noGrp="1"/>
          </p:cNvSpPr>
          <p:nvPr>
            <p:ph type="sldNum" sz="quarter" idx="14"/>
          </p:nvPr>
        </p:nvSpPr>
        <p:spPr>
          <a:xfrm>
            <a:off x="9347200" y="6101556"/>
            <a:ext cx="2844800" cy="365125"/>
          </a:xfrm>
          <a:prstGeom prst="rect">
            <a:avLst/>
          </a:prstGeom>
        </p:spPr>
        <p:txBody>
          <a:bodyPr/>
          <a:lstStyle/>
          <a:p>
            <a:pPr fontAlgn="base">
              <a:spcBef>
                <a:spcPct val="0"/>
              </a:spcBef>
              <a:spcAft>
                <a:spcPct val="0"/>
              </a:spcAft>
            </a:pPr>
            <a:fld id="{BC8D7E44-7D4F-4942-A8C9-2DF6BF8399E8}" type="slidenum">
              <a:rPr lang="en-US" sz="1200">
                <a:solidFill>
                  <a:prstClr val="black">
                    <a:tint val="75000"/>
                  </a:prstClr>
                </a:solidFill>
                <a:latin typeface="Tahoma" charset="0"/>
              </a:rPr>
              <a:pPr fontAlgn="base">
                <a:spcBef>
                  <a:spcPct val="0"/>
                </a:spcBef>
                <a:spcAft>
                  <a:spcPct val="0"/>
                </a:spcAft>
              </a:pPr>
              <a:t>‹#›</a:t>
            </a:fld>
            <a:endParaRPr lang="en-US" sz="1200" dirty="0">
              <a:solidFill>
                <a:prstClr val="black">
                  <a:tint val="75000"/>
                </a:prstClr>
              </a:solidFill>
              <a:latin typeface="Tahoma" charset="0"/>
            </a:endParaRPr>
          </a:p>
        </p:txBody>
      </p:sp>
    </p:spTree>
    <p:extLst>
      <p:ext uri="{BB962C8B-B14F-4D97-AF65-F5344CB8AC3E}">
        <p14:creationId xmlns:p14="http://schemas.microsoft.com/office/powerpoint/2010/main" val="155042975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33_Title and Content">
    <p:spTree>
      <p:nvGrpSpPr>
        <p:cNvPr id="1" name=""/>
        <p:cNvGrpSpPr/>
        <p:nvPr/>
      </p:nvGrpSpPr>
      <p:grpSpPr>
        <a:xfrm>
          <a:off x="0" y="0"/>
          <a:ext cx="0" cy="0"/>
          <a:chOff x="0" y="0"/>
          <a:chExt cx="0" cy="0"/>
        </a:xfrm>
      </p:grpSpPr>
      <p:sp>
        <p:nvSpPr>
          <p:cNvPr id="2" name="Do not remove" hidden="1"/>
          <p:cNvSpPr/>
          <p:nvPr userDrawn="1">
            <p:custDataLst>
              <p:tags r:id="rId1"/>
            </p:custDataLst>
          </p:nvPr>
        </p:nvSpPr>
        <p:spPr>
          <a:xfrm>
            <a:off x="0" y="0"/>
            <a:ext cx="16933"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3" name="Content Placeholder 2"/>
          <p:cNvSpPr>
            <a:spLocks noGrp="1"/>
          </p:cNvSpPr>
          <p:nvPr>
            <p:ph idx="1" hasCustomPrompt="1"/>
          </p:nvPr>
        </p:nvSpPr>
        <p:spPr>
          <a:xfrm>
            <a:off x="406400" y="1493842"/>
            <a:ext cx="10972800" cy="4525963"/>
          </a:xfrm>
          <a:prstGeom prst="rect">
            <a:avLst/>
          </a:prstGeom>
        </p:spPr>
        <p:txBody>
          <a:bodyPr/>
          <a:lstStyle>
            <a:lvl1pPr marL="192881" marR="0" indent="-192881" algn="l" defTabSz="514350" rtl="0" eaLnBrk="1" fontAlgn="auto" latinLnBrk="0" hangingPunct="1">
              <a:lnSpc>
                <a:spcPct val="100000"/>
              </a:lnSpc>
              <a:spcBef>
                <a:spcPct val="20000"/>
              </a:spcBef>
              <a:spcAft>
                <a:spcPts val="0"/>
              </a:spcAft>
              <a:buClr>
                <a:srgbClr val="101141"/>
              </a:buClr>
              <a:buSzTx/>
              <a:buFont typeface="Arial" pitchFamily="34" charset="0"/>
              <a:buNone/>
              <a:tabLst/>
              <a:defRPr sz="1350">
                <a:latin typeface="Arial" pitchFamily="34" charset="0"/>
                <a:cs typeface="Arial" pitchFamily="34" charset="0"/>
              </a:defRPr>
            </a:lvl1pPr>
            <a:lvl2pPr marL="417910" marR="0" indent="-160735" algn="l" defTabSz="514350" rtl="0" eaLnBrk="1" fontAlgn="auto" latinLnBrk="0" hangingPunct="1">
              <a:lnSpc>
                <a:spcPct val="100000"/>
              </a:lnSpc>
              <a:spcBef>
                <a:spcPct val="20000"/>
              </a:spcBef>
              <a:spcAft>
                <a:spcPts val="0"/>
              </a:spcAft>
              <a:buClrTx/>
              <a:buSzTx/>
              <a:buFont typeface="Arial" pitchFamily="34" charset="0"/>
              <a:buChar char="–"/>
              <a:tabLst/>
              <a:defRPr sz="900">
                <a:latin typeface="Arial" pitchFamily="34" charset="0"/>
                <a:cs typeface="Arial" pitchFamily="34" charset="0"/>
              </a:defRPr>
            </a:lvl2pPr>
          </a:lstStyle>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1350" u="none" strike="noStrike" kern="1200" cap="none" spc="0" normalizeH="0" noProof="0" dirty="0">
              <a:ln>
                <a:noFill/>
              </a:ln>
              <a:solidFill>
                <a:srgbClr val="101141"/>
              </a:solidFill>
              <a:effectLst/>
              <a:uLnTx/>
              <a:uFillTx/>
              <a:latin typeface="Arial"/>
              <a:cs typeface="Arial"/>
            </a:endParaRPr>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4368800" y="6596394"/>
            <a:ext cx="7823200" cy="187615"/>
          </a:xfrm>
          <a:prstGeom prst="rect">
            <a:avLst/>
          </a:prstGeom>
          <a:noFill/>
        </p:spPr>
        <p:txBody>
          <a:bodyPr wrap="square" rtlCol="0">
            <a:spAutoFit/>
          </a:bodyPr>
          <a:lstStyle/>
          <a:p>
            <a:pPr algn="r" defTabSz="685800">
              <a:defRPr/>
            </a:pPr>
            <a:r>
              <a:rPr lang="en-US" sz="619" b="1" dirty="0">
                <a:solidFill>
                  <a:srgbClr val="101141"/>
                </a:solidFill>
                <a:latin typeface="Arial"/>
                <a:cs typeface="Arial"/>
              </a:rPr>
              <a:t>BITS </a:t>
            </a:r>
            <a:r>
              <a:rPr lang="en-US" sz="619" dirty="0">
                <a:solidFill>
                  <a:srgbClr val="101141"/>
                </a:solidFill>
                <a:latin typeface="Arial"/>
                <a:cs typeface="Arial"/>
              </a:rPr>
              <a:t>Pilani, Deemed to be University under Section 3 of UGC Act, 1956</a:t>
            </a:r>
          </a:p>
        </p:txBody>
      </p:sp>
      <p:grpSp>
        <p:nvGrpSpPr>
          <p:cNvPr id="12" name="Group 11"/>
          <p:cNvGrpSpPr/>
          <p:nvPr userDrawn="1"/>
        </p:nvGrpSpPr>
        <p:grpSpPr>
          <a:xfrm>
            <a:off x="2778517" y="6550676"/>
            <a:ext cx="9413483"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pic>
        <p:nvPicPr>
          <p:cNvPr id="16" name="Picture 15" descr="Picture 7.png"/>
          <p:cNvPicPr>
            <a:picLocks noChangeAspect="1"/>
          </p:cNvPicPr>
          <p:nvPr userDrawn="1"/>
        </p:nvPicPr>
        <p:blipFill>
          <a:blip r:embed="rId3" cstate="print"/>
          <a:srcRect l="1923" b="5336"/>
          <a:stretch>
            <a:fillRect/>
          </a:stretch>
        </p:blipFill>
        <p:spPr>
          <a:xfrm>
            <a:off x="8839204" y="-1"/>
            <a:ext cx="2924257" cy="692697"/>
          </a:xfrm>
          <a:prstGeom prst="rect">
            <a:avLst/>
          </a:prstGeom>
        </p:spPr>
      </p:pic>
      <p:grpSp>
        <p:nvGrpSpPr>
          <p:cNvPr id="19" name="Group 18"/>
          <p:cNvGrpSpPr/>
          <p:nvPr userDrawn="1"/>
        </p:nvGrpSpPr>
        <p:grpSpPr>
          <a:xfrm>
            <a:off x="2844800" y="6558117"/>
            <a:ext cx="93472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grpSp>
        <p:nvGrpSpPr>
          <p:cNvPr id="23" name="Group 22"/>
          <p:cNvGrpSpPr/>
          <p:nvPr userDrawn="1"/>
        </p:nvGrpSpPr>
        <p:grpSpPr>
          <a:xfrm>
            <a:off x="0" y="1295405"/>
            <a:ext cx="93472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sp>
        <p:nvSpPr>
          <p:cNvPr id="27" name="Content Placeholder 18"/>
          <p:cNvSpPr>
            <a:spLocks noGrp="1"/>
          </p:cNvSpPr>
          <p:nvPr>
            <p:ph sz="quarter" idx="10"/>
          </p:nvPr>
        </p:nvSpPr>
        <p:spPr>
          <a:xfrm>
            <a:off x="406400" y="152400"/>
            <a:ext cx="8432800" cy="1143000"/>
          </a:xfrm>
          <a:prstGeom prst="rect">
            <a:avLst/>
          </a:prstGeom>
        </p:spPr>
        <p:txBody>
          <a:bodyPr anchor="ctr" anchorCtr="0">
            <a:normAutofit/>
          </a:bodyPr>
          <a:lstStyle>
            <a:lvl1pPr marL="0">
              <a:lnSpc>
                <a:spcPts val="2025"/>
              </a:lnSpc>
              <a:spcBef>
                <a:spcPts val="0"/>
              </a:spcBef>
              <a:buNone/>
              <a:defRPr sz="2025" b="1" spc="-85" baseline="0">
                <a:latin typeface="Arial" pitchFamily="34" charset="0"/>
                <a:cs typeface="Arial" pitchFamily="34" charset="0"/>
              </a:defRPr>
            </a:lvl1pPr>
          </a:lstStyle>
          <a:p>
            <a:pPr lvl="0"/>
            <a:endParaRPr lang="en-US" dirty="0"/>
          </a:p>
        </p:txBody>
      </p:sp>
      <p:sp>
        <p:nvSpPr>
          <p:cNvPr id="4" name="Content Placeholder 3">
            <a:extLst>
              <a:ext uri="{FF2B5EF4-FFF2-40B4-BE49-F238E27FC236}">
                <a16:creationId xmlns:a16="http://schemas.microsoft.com/office/drawing/2014/main" id="{6FA95B91-80DC-439F-8C70-3B1EBFBBF1F5}"/>
              </a:ext>
            </a:extLst>
          </p:cNvPr>
          <p:cNvSpPr>
            <a:spLocks noGrp="1"/>
          </p:cNvSpPr>
          <p:nvPr>
            <p:ph sz="quarter" idx="11"/>
          </p:nvPr>
        </p:nvSpPr>
        <p:spPr>
          <a:xfrm>
            <a:off x="5994400" y="6363741"/>
            <a:ext cx="1219200" cy="91440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116052-1273-4EC0-ADD6-422E16AA4781}"/>
              </a:ext>
            </a:extLst>
          </p:cNvPr>
          <p:cNvSpPr>
            <a:spLocks noGrp="1"/>
          </p:cNvSpPr>
          <p:nvPr>
            <p:ph type="dt" sz="half" idx="12"/>
          </p:nvPr>
        </p:nvSpPr>
        <p:spPr>
          <a:xfrm>
            <a:off x="609600" y="6377940"/>
            <a:ext cx="2804160" cy="342900"/>
          </a:xfrm>
          <a:prstGeom prst="rect">
            <a:avLst/>
          </a:prstGeom>
        </p:spPr>
        <p:txBody>
          <a:bodyPr/>
          <a:lstStyle/>
          <a:p>
            <a:pPr fontAlgn="base">
              <a:spcBef>
                <a:spcPct val="0"/>
              </a:spcBef>
              <a:spcAft>
                <a:spcPct val="0"/>
              </a:spcAft>
            </a:pPr>
            <a:endParaRPr lang="en-US" sz="1200">
              <a:solidFill>
                <a:prstClr val="black">
                  <a:tint val="75000"/>
                </a:prstClr>
              </a:solidFill>
              <a:latin typeface="Tahoma" charset="0"/>
            </a:endParaRPr>
          </a:p>
        </p:txBody>
      </p:sp>
      <p:sp>
        <p:nvSpPr>
          <p:cNvPr id="6" name="Footer Placeholder 5">
            <a:extLst>
              <a:ext uri="{FF2B5EF4-FFF2-40B4-BE49-F238E27FC236}">
                <a16:creationId xmlns:a16="http://schemas.microsoft.com/office/drawing/2014/main" id="{4FDE8E7A-623C-40DD-A712-BEEDA93A9756}"/>
              </a:ext>
            </a:extLst>
          </p:cNvPr>
          <p:cNvSpPr>
            <a:spLocks noGrp="1"/>
          </p:cNvSpPr>
          <p:nvPr>
            <p:ph type="ftr" sz="quarter" idx="13"/>
          </p:nvPr>
        </p:nvSpPr>
        <p:spPr>
          <a:xfrm>
            <a:off x="9811512" y="6639736"/>
            <a:ext cx="2274993" cy="182245"/>
          </a:xfrm>
          <a:prstGeom prst="rect">
            <a:avLst/>
          </a:prstGeom>
        </p:spPr>
        <p:txBody>
          <a:bodyPr/>
          <a:lstStyle/>
          <a:p>
            <a:pPr fontAlgn="base">
              <a:spcBef>
                <a:spcPct val="0"/>
              </a:spcBef>
              <a:spcAft>
                <a:spcPct val="0"/>
              </a:spcAft>
            </a:pPr>
            <a:endParaRPr lang="en-US" sz="1200">
              <a:solidFill>
                <a:prstClr val="black">
                  <a:tint val="75000"/>
                </a:prstClr>
              </a:solidFill>
              <a:latin typeface="Tahoma" charset="0"/>
            </a:endParaRPr>
          </a:p>
        </p:txBody>
      </p:sp>
      <p:sp>
        <p:nvSpPr>
          <p:cNvPr id="8" name="Slide Number Placeholder 7">
            <a:extLst>
              <a:ext uri="{FF2B5EF4-FFF2-40B4-BE49-F238E27FC236}">
                <a16:creationId xmlns:a16="http://schemas.microsoft.com/office/drawing/2014/main" id="{0CD26A9A-C7D3-441E-9815-2014756B5490}"/>
              </a:ext>
            </a:extLst>
          </p:cNvPr>
          <p:cNvSpPr>
            <a:spLocks noGrp="1"/>
          </p:cNvSpPr>
          <p:nvPr>
            <p:ph type="sldNum" sz="quarter" idx="14"/>
          </p:nvPr>
        </p:nvSpPr>
        <p:spPr>
          <a:xfrm>
            <a:off x="9347200" y="6101556"/>
            <a:ext cx="2844800" cy="365125"/>
          </a:xfrm>
          <a:prstGeom prst="rect">
            <a:avLst/>
          </a:prstGeom>
        </p:spPr>
        <p:txBody>
          <a:bodyPr/>
          <a:lstStyle/>
          <a:p>
            <a:pPr fontAlgn="base">
              <a:spcBef>
                <a:spcPct val="0"/>
              </a:spcBef>
              <a:spcAft>
                <a:spcPct val="0"/>
              </a:spcAft>
            </a:pPr>
            <a:fld id="{BC8D7E44-7D4F-4942-A8C9-2DF6BF8399E8}" type="slidenum">
              <a:rPr lang="en-US" sz="1200">
                <a:solidFill>
                  <a:prstClr val="black">
                    <a:tint val="75000"/>
                  </a:prstClr>
                </a:solidFill>
                <a:latin typeface="Tahoma" charset="0"/>
              </a:rPr>
              <a:pPr fontAlgn="base">
                <a:spcBef>
                  <a:spcPct val="0"/>
                </a:spcBef>
                <a:spcAft>
                  <a:spcPct val="0"/>
                </a:spcAft>
              </a:pPr>
              <a:t>‹#›</a:t>
            </a:fld>
            <a:endParaRPr lang="en-US" sz="1200" dirty="0">
              <a:solidFill>
                <a:prstClr val="black">
                  <a:tint val="75000"/>
                </a:prstClr>
              </a:solidFill>
              <a:latin typeface="Tahoma" charset="0"/>
            </a:endParaRPr>
          </a:p>
        </p:txBody>
      </p:sp>
    </p:spTree>
    <p:extLst>
      <p:ext uri="{BB962C8B-B14F-4D97-AF65-F5344CB8AC3E}">
        <p14:creationId xmlns:p14="http://schemas.microsoft.com/office/powerpoint/2010/main" val="96553945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34_Title and Content">
    <p:spTree>
      <p:nvGrpSpPr>
        <p:cNvPr id="1" name=""/>
        <p:cNvGrpSpPr/>
        <p:nvPr/>
      </p:nvGrpSpPr>
      <p:grpSpPr>
        <a:xfrm>
          <a:off x="0" y="0"/>
          <a:ext cx="0" cy="0"/>
          <a:chOff x="0" y="0"/>
          <a:chExt cx="0" cy="0"/>
        </a:xfrm>
      </p:grpSpPr>
      <p:sp>
        <p:nvSpPr>
          <p:cNvPr id="2" name="Do not remove" hidden="1"/>
          <p:cNvSpPr/>
          <p:nvPr userDrawn="1">
            <p:custDataLst>
              <p:tags r:id="rId1"/>
            </p:custDataLst>
          </p:nvPr>
        </p:nvSpPr>
        <p:spPr>
          <a:xfrm>
            <a:off x="0" y="0"/>
            <a:ext cx="16933"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3" name="Content Placeholder 2"/>
          <p:cNvSpPr>
            <a:spLocks noGrp="1"/>
          </p:cNvSpPr>
          <p:nvPr>
            <p:ph idx="1" hasCustomPrompt="1"/>
          </p:nvPr>
        </p:nvSpPr>
        <p:spPr>
          <a:xfrm>
            <a:off x="406400" y="1493842"/>
            <a:ext cx="10972800" cy="4525963"/>
          </a:xfrm>
          <a:prstGeom prst="rect">
            <a:avLst/>
          </a:prstGeom>
        </p:spPr>
        <p:txBody>
          <a:bodyPr/>
          <a:lstStyle>
            <a:lvl1pPr marL="192881" marR="0" indent="-192881" algn="l" defTabSz="514350" rtl="0" eaLnBrk="1" fontAlgn="auto" latinLnBrk="0" hangingPunct="1">
              <a:lnSpc>
                <a:spcPct val="100000"/>
              </a:lnSpc>
              <a:spcBef>
                <a:spcPct val="20000"/>
              </a:spcBef>
              <a:spcAft>
                <a:spcPts val="0"/>
              </a:spcAft>
              <a:buClr>
                <a:srgbClr val="101141"/>
              </a:buClr>
              <a:buSzTx/>
              <a:buFont typeface="Arial" pitchFamily="34" charset="0"/>
              <a:buNone/>
              <a:tabLst/>
              <a:defRPr sz="1350">
                <a:latin typeface="Arial" pitchFamily="34" charset="0"/>
                <a:cs typeface="Arial" pitchFamily="34" charset="0"/>
              </a:defRPr>
            </a:lvl1pPr>
            <a:lvl2pPr marL="417910" marR="0" indent="-160735" algn="l" defTabSz="514350" rtl="0" eaLnBrk="1" fontAlgn="auto" latinLnBrk="0" hangingPunct="1">
              <a:lnSpc>
                <a:spcPct val="100000"/>
              </a:lnSpc>
              <a:spcBef>
                <a:spcPct val="20000"/>
              </a:spcBef>
              <a:spcAft>
                <a:spcPts val="0"/>
              </a:spcAft>
              <a:buClrTx/>
              <a:buSzTx/>
              <a:buFont typeface="Arial" pitchFamily="34" charset="0"/>
              <a:buChar char="–"/>
              <a:tabLst/>
              <a:defRPr sz="900">
                <a:latin typeface="Arial" pitchFamily="34" charset="0"/>
                <a:cs typeface="Arial" pitchFamily="34" charset="0"/>
              </a:defRPr>
            </a:lvl2pPr>
          </a:lstStyle>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1350" u="none" strike="noStrike" kern="1200" cap="none" spc="0" normalizeH="0" noProof="0" dirty="0">
              <a:ln>
                <a:noFill/>
              </a:ln>
              <a:solidFill>
                <a:srgbClr val="101141"/>
              </a:solidFill>
              <a:effectLst/>
              <a:uLnTx/>
              <a:uFillTx/>
              <a:latin typeface="Arial"/>
              <a:cs typeface="Arial"/>
            </a:endParaRPr>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4368800" y="6596394"/>
            <a:ext cx="7823200" cy="187615"/>
          </a:xfrm>
          <a:prstGeom prst="rect">
            <a:avLst/>
          </a:prstGeom>
          <a:noFill/>
        </p:spPr>
        <p:txBody>
          <a:bodyPr wrap="square" rtlCol="0">
            <a:spAutoFit/>
          </a:bodyPr>
          <a:lstStyle/>
          <a:p>
            <a:pPr algn="r" defTabSz="685800">
              <a:defRPr/>
            </a:pPr>
            <a:r>
              <a:rPr lang="en-US" sz="619" b="1" dirty="0">
                <a:solidFill>
                  <a:srgbClr val="101141"/>
                </a:solidFill>
                <a:latin typeface="Arial"/>
                <a:cs typeface="Arial"/>
              </a:rPr>
              <a:t>BITS </a:t>
            </a:r>
            <a:r>
              <a:rPr lang="en-US" sz="619" dirty="0">
                <a:solidFill>
                  <a:srgbClr val="101141"/>
                </a:solidFill>
                <a:latin typeface="Arial"/>
                <a:cs typeface="Arial"/>
              </a:rPr>
              <a:t>Pilani, Deemed to be University under Section 3 of UGC Act, 1956</a:t>
            </a:r>
          </a:p>
        </p:txBody>
      </p:sp>
      <p:grpSp>
        <p:nvGrpSpPr>
          <p:cNvPr id="12" name="Group 11"/>
          <p:cNvGrpSpPr/>
          <p:nvPr userDrawn="1"/>
        </p:nvGrpSpPr>
        <p:grpSpPr>
          <a:xfrm>
            <a:off x="2778517" y="6550676"/>
            <a:ext cx="9413483"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pic>
        <p:nvPicPr>
          <p:cNvPr id="16" name="Picture 15" descr="Picture 7.png"/>
          <p:cNvPicPr>
            <a:picLocks noChangeAspect="1"/>
          </p:cNvPicPr>
          <p:nvPr userDrawn="1"/>
        </p:nvPicPr>
        <p:blipFill>
          <a:blip r:embed="rId3" cstate="print"/>
          <a:srcRect l="1923" b="5336"/>
          <a:stretch>
            <a:fillRect/>
          </a:stretch>
        </p:blipFill>
        <p:spPr>
          <a:xfrm>
            <a:off x="8839204" y="-1"/>
            <a:ext cx="2924257" cy="692697"/>
          </a:xfrm>
          <a:prstGeom prst="rect">
            <a:avLst/>
          </a:prstGeom>
        </p:spPr>
      </p:pic>
      <p:grpSp>
        <p:nvGrpSpPr>
          <p:cNvPr id="19" name="Group 18"/>
          <p:cNvGrpSpPr/>
          <p:nvPr userDrawn="1"/>
        </p:nvGrpSpPr>
        <p:grpSpPr>
          <a:xfrm>
            <a:off x="2844800" y="6558117"/>
            <a:ext cx="93472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grpSp>
        <p:nvGrpSpPr>
          <p:cNvPr id="23" name="Group 22"/>
          <p:cNvGrpSpPr/>
          <p:nvPr userDrawn="1"/>
        </p:nvGrpSpPr>
        <p:grpSpPr>
          <a:xfrm>
            <a:off x="0" y="1295405"/>
            <a:ext cx="93472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sp>
        <p:nvSpPr>
          <p:cNvPr id="27" name="Content Placeholder 18"/>
          <p:cNvSpPr>
            <a:spLocks noGrp="1"/>
          </p:cNvSpPr>
          <p:nvPr>
            <p:ph sz="quarter" idx="10"/>
          </p:nvPr>
        </p:nvSpPr>
        <p:spPr>
          <a:xfrm>
            <a:off x="406400" y="152400"/>
            <a:ext cx="8432800" cy="1143000"/>
          </a:xfrm>
          <a:prstGeom prst="rect">
            <a:avLst/>
          </a:prstGeom>
        </p:spPr>
        <p:txBody>
          <a:bodyPr anchor="ctr" anchorCtr="0">
            <a:normAutofit/>
          </a:bodyPr>
          <a:lstStyle>
            <a:lvl1pPr marL="0">
              <a:lnSpc>
                <a:spcPts val="2025"/>
              </a:lnSpc>
              <a:spcBef>
                <a:spcPts val="0"/>
              </a:spcBef>
              <a:buNone/>
              <a:defRPr sz="2025" b="1" spc="-85" baseline="0">
                <a:latin typeface="Arial" pitchFamily="34" charset="0"/>
                <a:cs typeface="Arial" pitchFamily="34" charset="0"/>
              </a:defRPr>
            </a:lvl1pPr>
          </a:lstStyle>
          <a:p>
            <a:pPr lvl="0"/>
            <a:endParaRPr lang="en-US" dirty="0"/>
          </a:p>
        </p:txBody>
      </p:sp>
      <p:sp>
        <p:nvSpPr>
          <p:cNvPr id="4" name="Content Placeholder 3">
            <a:extLst>
              <a:ext uri="{FF2B5EF4-FFF2-40B4-BE49-F238E27FC236}">
                <a16:creationId xmlns:a16="http://schemas.microsoft.com/office/drawing/2014/main" id="{6FA95B91-80DC-439F-8C70-3B1EBFBBF1F5}"/>
              </a:ext>
            </a:extLst>
          </p:cNvPr>
          <p:cNvSpPr>
            <a:spLocks noGrp="1"/>
          </p:cNvSpPr>
          <p:nvPr>
            <p:ph sz="quarter" idx="11"/>
          </p:nvPr>
        </p:nvSpPr>
        <p:spPr>
          <a:xfrm>
            <a:off x="5994400" y="6363741"/>
            <a:ext cx="1219200" cy="91440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116052-1273-4EC0-ADD6-422E16AA4781}"/>
              </a:ext>
            </a:extLst>
          </p:cNvPr>
          <p:cNvSpPr>
            <a:spLocks noGrp="1"/>
          </p:cNvSpPr>
          <p:nvPr>
            <p:ph type="dt" sz="half" idx="12"/>
          </p:nvPr>
        </p:nvSpPr>
        <p:spPr>
          <a:xfrm>
            <a:off x="609600" y="6377940"/>
            <a:ext cx="2804160" cy="342900"/>
          </a:xfrm>
          <a:prstGeom prst="rect">
            <a:avLst/>
          </a:prstGeom>
        </p:spPr>
        <p:txBody>
          <a:bodyPr/>
          <a:lstStyle/>
          <a:p>
            <a:pPr fontAlgn="base">
              <a:spcBef>
                <a:spcPct val="0"/>
              </a:spcBef>
              <a:spcAft>
                <a:spcPct val="0"/>
              </a:spcAft>
            </a:pPr>
            <a:endParaRPr lang="en-US" sz="1200">
              <a:solidFill>
                <a:prstClr val="black">
                  <a:tint val="75000"/>
                </a:prstClr>
              </a:solidFill>
              <a:latin typeface="Tahoma" charset="0"/>
            </a:endParaRPr>
          </a:p>
        </p:txBody>
      </p:sp>
      <p:sp>
        <p:nvSpPr>
          <p:cNvPr id="6" name="Footer Placeholder 5">
            <a:extLst>
              <a:ext uri="{FF2B5EF4-FFF2-40B4-BE49-F238E27FC236}">
                <a16:creationId xmlns:a16="http://schemas.microsoft.com/office/drawing/2014/main" id="{4FDE8E7A-623C-40DD-A712-BEEDA93A9756}"/>
              </a:ext>
            </a:extLst>
          </p:cNvPr>
          <p:cNvSpPr>
            <a:spLocks noGrp="1"/>
          </p:cNvSpPr>
          <p:nvPr>
            <p:ph type="ftr" sz="quarter" idx="13"/>
          </p:nvPr>
        </p:nvSpPr>
        <p:spPr>
          <a:xfrm>
            <a:off x="9811512" y="6639736"/>
            <a:ext cx="2274993" cy="182245"/>
          </a:xfrm>
          <a:prstGeom prst="rect">
            <a:avLst/>
          </a:prstGeom>
        </p:spPr>
        <p:txBody>
          <a:bodyPr/>
          <a:lstStyle/>
          <a:p>
            <a:pPr fontAlgn="base">
              <a:spcBef>
                <a:spcPct val="0"/>
              </a:spcBef>
              <a:spcAft>
                <a:spcPct val="0"/>
              </a:spcAft>
            </a:pPr>
            <a:endParaRPr lang="en-US" sz="1200">
              <a:solidFill>
                <a:prstClr val="black">
                  <a:tint val="75000"/>
                </a:prstClr>
              </a:solidFill>
              <a:latin typeface="Tahoma" charset="0"/>
            </a:endParaRPr>
          </a:p>
        </p:txBody>
      </p:sp>
      <p:sp>
        <p:nvSpPr>
          <p:cNvPr id="8" name="Slide Number Placeholder 7">
            <a:extLst>
              <a:ext uri="{FF2B5EF4-FFF2-40B4-BE49-F238E27FC236}">
                <a16:creationId xmlns:a16="http://schemas.microsoft.com/office/drawing/2014/main" id="{0CD26A9A-C7D3-441E-9815-2014756B5490}"/>
              </a:ext>
            </a:extLst>
          </p:cNvPr>
          <p:cNvSpPr>
            <a:spLocks noGrp="1"/>
          </p:cNvSpPr>
          <p:nvPr>
            <p:ph type="sldNum" sz="quarter" idx="14"/>
          </p:nvPr>
        </p:nvSpPr>
        <p:spPr>
          <a:xfrm>
            <a:off x="9347200" y="6101556"/>
            <a:ext cx="2844800" cy="365125"/>
          </a:xfrm>
          <a:prstGeom prst="rect">
            <a:avLst/>
          </a:prstGeom>
        </p:spPr>
        <p:txBody>
          <a:bodyPr/>
          <a:lstStyle/>
          <a:p>
            <a:pPr fontAlgn="base">
              <a:spcBef>
                <a:spcPct val="0"/>
              </a:spcBef>
              <a:spcAft>
                <a:spcPct val="0"/>
              </a:spcAft>
            </a:pPr>
            <a:fld id="{BC8D7E44-7D4F-4942-A8C9-2DF6BF8399E8}" type="slidenum">
              <a:rPr lang="en-US" sz="1200">
                <a:solidFill>
                  <a:prstClr val="black">
                    <a:tint val="75000"/>
                  </a:prstClr>
                </a:solidFill>
                <a:latin typeface="Tahoma" charset="0"/>
              </a:rPr>
              <a:pPr fontAlgn="base">
                <a:spcBef>
                  <a:spcPct val="0"/>
                </a:spcBef>
                <a:spcAft>
                  <a:spcPct val="0"/>
                </a:spcAft>
              </a:pPr>
              <a:t>‹#›</a:t>
            </a:fld>
            <a:endParaRPr lang="en-US" sz="1200" dirty="0">
              <a:solidFill>
                <a:prstClr val="black">
                  <a:tint val="75000"/>
                </a:prstClr>
              </a:solidFill>
              <a:latin typeface="Tahoma" charset="0"/>
            </a:endParaRPr>
          </a:p>
        </p:txBody>
      </p:sp>
    </p:spTree>
    <p:extLst>
      <p:ext uri="{BB962C8B-B14F-4D97-AF65-F5344CB8AC3E}">
        <p14:creationId xmlns:p14="http://schemas.microsoft.com/office/powerpoint/2010/main" val="365348967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35_Title and Content">
    <p:spTree>
      <p:nvGrpSpPr>
        <p:cNvPr id="1" name=""/>
        <p:cNvGrpSpPr/>
        <p:nvPr/>
      </p:nvGrpSpPr>
      <p:grpSpPr>
        <a:xfrm>
          <a:off x="0" y="0"/>
          <a:ext cx="0" cy="0"/>
          <a:chOff x="0" y="0"/>
          <a:chExt cx="0" cy="0"/>
        </a:xfrm>
      </p:grpSpPr>
      <p:sp>
        <p:nvSpPr>
          <p:cNvPr id="2" name="Do not remove" hidden="1"/>
          <p:cNvSpPr/>
          <p:nvPr userDrawn="1">
            <p:custDataLst>
              <p:tags r:id="rId1"/>
            </p:custDataLst>
          </p:nvPr>
        </p:nvSpPr>
        <p:spPr>
          <a:xfrm>
            <a:off x="0" y="0"/>
            <a:ext cx="16933"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3" name="Content Placeholder 2"/>
          <p:cNvSpPr>
            <a:spLocks noGrp="1"/>
          </p:cNvSpPr>
          <p:nvPr>
            <p:ph idx="1" hasCustomPrompt="1"/>
          </p:nvPr>
        </p:nvSpPr>
        <p:spPr>
          <a:xfrm>
            <a:off x="406400" y="1493842"/>
            <a:ext cx="10972800" cy="4525963"/>
          </a:xfrm>
          <a:prstGeom prst="rect">
            <a:avLst/>
          </a:prstGeom>
        </p:spPr>
        <p:txBody>
          <a:bodyPr/>
          <a:lstStyle>
            <a:lvl1pPr marL="192881" marR="0" indent="-192881" algn="l" defTabSz="514350" rtl="0" eaLnBrk="1" fontAlgn="auto" latinLnBrk="0" hangingPunct="1">
              <a:lnSpc>
                <a:spcPct val="100000"/>
              </a:lnSpc>
              <a:spcBef>
                <a:spcPct val="20000"/>
              </a:spcBef>
              <a:spcAft>
                <a:spcPts val="0"/>
              </a:spcAft>
              <a:buClr>
                <a:srgbClr val="101141"/>
              </a:buClr>
              <a:buSzTx/>
              <a:buFont typeface="Arial" pitchFamily="34" charset="0"/>
              <a:buNone/>
              <a:tabLst/>
              <a:defRPr sz="1350">
                <a:latin typeface="Arial" pitchFamily="34" charset="0"/>
                <a:cs typeface="Arial" pitchFamily="34" charset="0"/>
              </a:defRPr>
            </a:lvl1pPr>
            <a:lvl2pPr marL="417910" marR="0" indent="-160735" algn="l" defTabSz="514350" rtl="0" eaLnBrk="1" fontAlgn="auto" latinLnBrk="0" hangingPunct="1">
              <a:lnSpc>
                <a:spcPct val="100000"/>
              </a:lnSpc>
              <a:spcBef>
                <a:spcPct val="20000"/>
              </a:spcBef>
              <a:spcAft>
                <a:spcPts val="0"/>
              </a:spcAft>
              <a:buClrTx/>
              <a:buSzTx/>
              <a:buFont typeface="Arial" pitchFamily="34" charset="0"/>
              <a:buChar char="–"/>
              <a:tabLst/>
              <a:defRPr sz="900">
                <a:latin typeface="Arial" pitchFamily="34" charset="0"/>
                <a:cs typeface="Arial" pitchFamily="34" charset="0"/>
              </a:defRPr>
            </a:lvl2pPr>
          </a:lstStyle>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1350" u="none" strike="noStrike" kern="1200" cap="none" spc="0" normalizeH="0" noProof="0" dirty="0">
              <a:ln>
                <a:noFill/>
              </a:ln>
              <a:solidFill>
                <a:srgbClr val="101141"/>
              </a:solidFill>
              <a:effectLst/>
              <a:uLnTx/>
              <a:uFillTx/>
              <a:latin typeface="Arial"/>
              <a:cs typeface="Arial"/>
            </a:endParaRPr>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4368800" y="6596394"/>
            <a:ext cx="7823200" cy="187615"/>
          </a:xfrm>
          <a:prstGeom prst="rect">
            <a:avLst/>
          </a:prstGeom>
          <a:noFill/>
        </p:spPr>
        <p:txBody>
          <a:bodyPr wrap="square" rtlCol="0">
            <a:spAutoFit/>
          </a:bodyPr>
          <a:lstStyle/>
          <a:p>
            <a:pPr algn="r" defTabSz="685800">
              <a:defRPr/>
            </a:pPr>
            <a:r>
              <a:rPr lang="en-US" sz="619" b="1" dirty="0">
                <a:solidFill>
                  <a:srgbClr val="101141"/>
                </a:solidFill>
                <a:latin typeface="Arial"/>
                <a:cs typeface="Arial"/>
              </a:rPr>
              <a:t>BITS </a:t>
            </a:r>
            <a:r>
              <a:rPr lang="en-US" sz="619" dirty="0">
                <a:solidFill>
                  <a:srgbClr val="101141"/>
                </a:solidFill>
                <a:latin typeface="Arial"/>
                <a:cs typeface="Arial"/>
              </a:rPr>
              <a:t>Pilani, Deemed to be University under Section 3 of UGC Act, 1956</a:t>
            </a:r>
          </a:p>
        </p:txBody>
      </p:sp>
      <p:grpSp>
        <p:nvGrpSpPr>
          <p:cNvPr id="12" name="Group 11"/>
          <p:cNvGrpSpPr/>
          <p:nvPr userDrawn="1"/>
        </p:nvGrpSpPr>
        <p:grpSpPr>
          <a:xfrm>
            <a:off x="2778517" y="6550676"/>
            <a:ext cx="9413483"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pic>
        <p:nvPicPr>
          <p:cNvPr id="16" name="Picture 15" descr="Picture 7.png"/>
          <p:cNvPicPr>
            <a:picLocks noChangeAspect="1"/>
          </p:cNvPicPr>
          <p:nvPr userDrawn="1"/>
        </p:nvPicPr>
        <p:blipFill>
          <a:blip r:embed="rId3" cstate="print"/>
          <a:srcRect l="1923" b="5336"/>
          <a:stretch>
            <a:fillRect/>
          </a:stretch>
        </p:blipFill>
        <p:spPr>
          <a:xfrm>
            <a:off x="8839204" y="-1"/>
            <a:ext cx="2924257" cy="692697"/>
          </a:xfrm>
          <a:prstGeom prst="rect">
            <a:avLst/>
          </a:prstGeom>
        </p:spPr>
      </p:pic>
      <p:grpSp>
        <p:nvGrpSpPr>
          <p:cNvPr id="19" name="Group 18"/>
          <p:cNvGrpSpPr/>
          <p:nvPr userDrawn="1"/>
        </p:nvGrpSpPr>
        <p:grpSpPr>
          <a:xfrm>
            <a:off x="2844800" y="6558117"/>
            <a:ext cx="93472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grpSp>
        <p:nvGrpSpPr>
          <p:cNvPr id="23" name="Group 22"/>
          <p:cNvGrpSpPr/>
          <p:nvPr userDrawn="1"/>
        </p:nvGrpSpPr>
        <p:grpSpPr>
          <a:xfrm>
            <a:off x="0" y="1295405"/>
            <a:ext cx="93472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sp>
        <p:nvSpPr>
          <p:cNvPr id="27" name="Content Placeholder 18"/>
          <p:cNvSpPr>
            <a:spLocks noGrp="1"/>
          </p:cNvSpPr>
          <p:nvPr>
            <p:ph sz="quarter" idx="10"/>
          </p:nvPr>
        </p:nvSpPr>
        <p:spPr>
          <a:xfrm>
            <a:off x="406400" y="152400"/>
            <a:ext cx="8432800" cy="1143000"/>
          </a:xfrm>
          <a:prstGeom prst="rect">
            <a:avLst/>
          </a:prstGeom>
        </p:spPr>
        <p:txBody>
          <a:bodyPr anchor="ctr" anchorCtr="0">
            <a:normAutofit/>
          </a:bodyPr>
          <a:lstStyle>
            <a:lvl1pPr marL="0">
              <a:lnSpc>
                <a:spcPts val="2025"/>
              </a:lnSpc>
              <a:spcBef>
                <a:spcPts val="0"/>
              </a:spcBef>
              <a:buNone/>
              <a:defRPr sz="2025" b="1" spc="-85" baseline="0">
                <a:latin typeface="Arial" pitchFamily="34" charset="0"/>
                <a:cs typeface="Arial" pitchFamily="34" charset="0"/>
              </a:defRPr>
            </a:lvl1pPr>
          </a:lstStyle>
          <a:p>
            <a:pPr lvl="0"/>
            <a:endParaRPr lang="en-US" dirty="0"/>
          </a:p>
        </p:txBody>
      </p:sp>
      <p:sp>
        <p:nvSpPr>
          <p:cNvPr id="4" name="Content Placeholder 3">
            <a:extLst>
              <a:ext uri="{FF2B5EF4-FFF2-40B4-BE49-F238E27FC236}">
                <a16:creationId xmlns:a16="http://schemas.microsoft.com/office/drawing/2014/main" id="{6FA95B91-80DC-439F-8C70-3B1EBFBBF1F5}"/>
              </a:ext>
            </a:extLst>
          </p:cNvPr>
          <p:cNvSpPr>
            <a:spLocks noGrp="1"/>
          </p:cNvSpPr>
          <p:nvPr>
            <p:ph sz="quarter" idx="11"/>
          </p:nvPr>
        </p:nvSpPr>
        <p:spPr>
          <a:xfrm>
            <a:off x="5994400" y="6363741"/>
            <a:ext cx="1219200" cy="91440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116052-1273-4EC0-ADD6-422E16AA4781}"/>
              </a:ext>
            </a:extLst>
          </p:cNvPr>
          <p:cNvSpPr>
            <a:spLocks noGrp="1"/>
          </p:cNvSpPr>
          <p:nvPr>
            <p:ph type="dt" sz="half" idx="12"/>
          </p:nvPr>
        </p:nvSpPr>
        <p:spPr>
          <a:xfrm>
            <a:off x="609600" y="6377940"/>
            <a:ext cx="2804160" cy="342900"/>
          </a:xfrm>
          <a:prstGeom prst="rect">
            <a:avLst/>
          </a:prstGeom>
        </p:spPr>
        <p:txBody>
          <a:bodyPr/>
          <a:lstStyle/>
          <a:p>
            <a:pPr fontAlgn="base">
              <a:spcBef>
                <a:spcPct val="0"/>
              </a:spcBef>
              <a:spcAft>
                <a:spcPct val="0"/>
              </a:spcAft>
            </a:pPr>
            <a:endParaRPr lang="en-US" sz="1200">
              <a:solidFill>
                <a:prstClr val="black">
                  <a:tint val="75000"/>
                </a:prstClr>
              </a:solidFill>
              <a:latin typeface="Tahoma" charset="0"/>
            </a:endParaRPr>
          </a:p>
        </p:txBody>
      </p:sp>
      <p:sp>
        <p:nvSpPr>
          <p:cNvPr id="6" name="Footer Placeholder 5">
            <a:extLst>
              <a:ext uri="{FF2B5EF4-FFF2-40B4-BE49-F238E27FC236}">
                <a16:creationId xmlns:a16="http://schemas.microsoft.com/office/drawing/2014/main" id="{4FDE8E7A-623C-40DD-A712-BEEDA93A9756}"/>
              </a:ext>
            </a:extLst>
          </p:cNvPr>
          <p:cNvSpPr>
            <a:spLocks noGrp="1"/>
          </p:cNvSpPr>
          <p:nvPr>
            <p:ph type="ftr" sz="quarter" idx="13"/>
          </p:nvPr>
        </p:nvSpPr>
        <p:spPr>
          <a:xfrm>
            <a:off x="9811512" y="6639736"/>
            <a:ext cx="2274993" cy="182245"/>
          </a:xfrm>
          <a:prstGeom prst="rect">
            <a:avLst/>
          </a:prstGeom>
        </p:spPr>
        <p:txBody>
          <a:bodyPr/>
          <a:lstStyle/>
          <a:p>
            <a:pPr fontAlgn="base">
              <a:spcBef>
                <a:spcPct val="0"/>
              </a:spcBef>
              <a:spcAft>
                <a:spcPct val="0"/>
              </a:spcAft>
            </a:pPr>
            <a:endParaRPr lang="en-US" sz="1200">
              <a:solidFill>
                <a:prstClr val="black">
                  <a:tint val="75000"/>
                </a:prstClr>
              </a:solidFill>
              <a:latin typeface="Tahoma" charset="0"/>
            </a:endParaRPr>
          </a:p>
        </p:txBody>
      </p:sp>
      <p:sp>
        <p:nvSpPr>
          <p:cNvPr id="8" name="Slide Number Placeholder 7">
            <a:extLst>
              <a:ext uri="{FF2B5EF4-FFF2-40B4-BE49-F238E27FC236}">
                <a16:creationId xmlns:a16="http://schemas.microsoft.com/office/drawing/2014/main" id="{0CD26A9A-C7D3-441E-9815-2014756B5490}"/>
              </a:ext>
            </a:extLst>
          </p:cNvPr>
          <p:cNvSpPr>
            <a:spLocks noGrp="1"/>
          </p:cNvSpPr>
          <p:nvPr>
            <p:ph type="sldNum" sz="quarter" idx="14"/>
          </p:nvPr>
        </p:nvSpPr>
        <p:spPr>
          <a:xfrm>
            <a:off x="9347200" y="6101556"/>
            <a:ext cx="2844800" cy="365125"/>
          </a:xfrm>
          <a:prstGeom prst="rect">
            <a:avLst/>
          </a:prstGeom>
        </p:spPr>
        <p:txBody>
          <a:bodyPr/>
          <a:lstStyle/>
          <a:p>
            <a:pPr fontAlgn="base">
              <a:spcBef>
                <a:spcPct val="0"/>
              </a:spcBef>
              <a:spcAft>
                <a:spcPct val="0"/>
              </a:spcAft>
            </a:pPr>
            <a:fld id="{BC8D7E44-7D4F-4942-A8C9-2DF6BF8399E8}" type="slidenum">
              <a:rPr lang="en-US" sz="1200">
                <a:solidFill>
                  <a:prstClr val="black">
                    <a:tint val="75000"/>
                  </a:prstClr>
                </a:solidFill>
                <a:latin typeface="Tahoma" charset="0"/>
              </a:rPr>
              <a:pPr fontAlgn="base">
                <a:spcBef>
                  <a:spcPct val="0"/>
                </a:spcBef>
                <a:spcAft>
                  <a:spcPct val="0"/>
                </a:spcAft>
              </a:pPr>
              <a:t>‹#›</a:t>
            </a:fld>
            <a:endParaRPr lang="en-US" sz="1200" dirty="0">
              <a:solidFill>
                <a:prstClr val="black">
                  <a:tint val="75000"/>
                </a:prstClr>
              </a:solidFill>
              <a:latin typeface="Tahoma" charset="0"/>
            </a:endParaRPr>
          </a:p>
        </p:txBody>
      </p:sp>
    </p:spTree>
    <p:extLst>
      <p:ext uri="{BB962C8B-B14F-4D97-AF65-F5344CB8AC3E}">
        <p14:creationId xmlns:p14="http://schemas.microsoft.com/office/powerpoint/2010/main" val="186179088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36_Title and Content">
    <p:spTree>
      <p:nvGrpSpPr>
        <p:cNvPr id="1" name=""/>
        <p:cNvGrpSpPr/>
        <p:nvPr/>
      </p:nvGrpSpPr>
      <p:grpSpPr>
        <a:xfrm>
          <a:off x="0" y="0"/>
          <a:ext cx="0" cy="0"/>
          <a:chOff x="0" y="0"/>
          <a:chExt cx="0" cy="0"/>
        </a:xfrm>
      </p:grpSpPr>
      <p:sp>
        <p:nvSpPr>
          <p:cNvPr id="2" name="Do not remove" hidden="1"/>
          <p:cNvSpPr/>
          <p:nvPr userDrawn="1">
            <p:custDataLst>
              <p:tags r:id="rId1"/>
            </p:custDataLst>
          </p:nvPr>
        </p:nvSpPr>
        <p:spPr>
          <a:xfrm>
            <a:off x="0" y="0"/>
            <a:ext cx="16933"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3" name="Content Placeholder 2"/>
          <p:cNvSpPr>
            <a:spLocks noGrp="1"/>
          </p:cNvSpPr>
          <p:nvPr>
            <p:ph idx="1" hasCustomPrompt="1"/>
          </p:nvPr>
        </p:nvSpPr>
        <p:spPr>
          <a:xfrm>
            <a:off x="406400" y="1493842"/>
            <a:ext cx="10972800" cy="4525963"/>
          </a:xfrm>
          <a:prstGeom prst="rect">
            <a:avLst/>
          </a:prstGeom>
        </p:spPr>
        <p:txBody>
          <a:bodyPr/>
          <a:lstStyle>
            <a:lvl1pPr marL="192881" marR="0" indent="-192881" algn="l" defTabSz="514350" rtl="0" eaLnBrk="1" fontAlgn="auto" latinLnBrk="0" hangingPunct="1">
              <a:lnSpc>
                <a:spcPct val="100000"/>
              </a:lnSpc>
              <a:spcBef>
                <a:spcPct val="20000"/>
              </a:spcBef>
              <a:spcAft>
                <a:spcPts val="0"/>
              </a:spcAft>
              <a:buClr>
                <a:srgbClr val="101141"/>
              </a:buClr>
              <a:buSzTx/>
              <a:buFont typeface="Arial" pitchFamily="34" charset="0"/>
              <a:buNone/>
              <a:tabLst/>
              <a:defRPr sz="1350">
                <a:latin typeface="Arial" pitchFamily="34" charset="0"/>
                <a:cs typeface="Arial" pitchFamily="34" charset="0"/>
              </a:defRPr>
            </a:lvl1pPr>
            <a:lvl2pPr marL="417910" marR="0" indent="-160735" algn="l" defTabSz="514350" rtl="0" eaLnBrk="1" fontAlgn="auto" latinLnBrk="0" hangingPunct="1">
              <a:lnSpc>
                <a:spcPct val="100000"/>
              </a:lnSpc>
              <a:spcBef>
                <a:spcPct val="20000"/>
              </a:spcBef>
              <a:spcAft>
                <a:spcPts val="0"/>
              </a:spcAft>
              <a:buClrTx/>
              <a:buSzTx/>
              <a:buFont typeface="Arial" pitchFamily="34" charset="0"/>
              <a:buChar char="–"/>
              <a:tabLst/>
              <a:defRPr sz="900">
                <a:latin typeface="Arial" pitchFamily="34" charset="0"/>
                <a:cs typeface="Arial" pitchFamily="34" charset="0"/>
              </a:defRPr>
            </a:lvl2pPr>
          </a:lstStyle>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1350" u="none" strike="noStrike" kern="1200" cap="none" spc="0" normalizeH="0" noProof="0" dirty="0">
              <a:ln>
                <a:noFill/>
              </a:ln>
              <a:solidFill>
                <a:srgbClr val="101141"/>
              </a:solidFill>
              <a:effectLst/>
              <a:uLnTx/>
              <a:uFillTx/>
              <a:latin typeface="Arial"/>
              <a:cs typeface="Arial"/>
            </a:endParaRPr>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4368800" y="6596394"/>
            <a:ext cx="7823200" cy="187615"/>
          </a:xfrm>
          <a:prstGeom prst="rect">
            <a:avLst/>
          </a:prstGeom>
          <a:noFill/>
        </p:spPr>
        <p:txBody>
          <a:bodyPr wrap="square" rtlCol="0">
            <a:spAutoFit/>
          </a:bodyPr>
          <a:lstStyle/>
          <a:p>
            <a:pPr algn="r" defTabSz="685800">
              <a:defRPr/>
            </a:pPr>
            <a:r>
              <a:rPr lang="en-US" sz="619" b="1" dirty="0">
                <a:solidFill>
                  <a:srgbClr val="101141"/>
                </a:solidFill>
                <a:latin typeface="Arial"/>
                <a:cs typeface="Arial"/>
              </a:rPr>
              <a:t>BITS </a:t>
            </a:r>
            <a:r>
              <a:rPr lang="en-US" sz="619" dirty="0">
                <a:solidFill>
                  <a:srgbClr val="101141"/>
                </a:solidFill>
                <a:latin typeface="Arial"/>
                <a:cs typeface="Arial"/>
              </a:rPr>
              <a:t>Pilani, Deemed to be University under Section 3 of UGC Act, 1956</a:t>
            </a:r>
          </a:p>
        </p:txBody>
      </p:sp>
      <p:grpSp>
        <p:nvGrpSpPr>
          <p:cNvPr id="12" name="Group 11"/>
          <p:cNvGrpSpPr/>
          <p:nvPr userDrawn="1"/>
        </p:nvGrpSpPr>
        <p:grpSpPr>
          <a:xfrm>
            <a:off x="2778517" y="6550676"/>
            <a:ext cx="9413483"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pic>
        <p:nvPicPr>
          <p:cNvPr id="16" name="Picture 15" descr="Picture 7.png"/>
          <p:cNvPicPr>
            <a:picLocks noChangeAspect="1"/>
          </p:cNvPicPr>
          <p:nvPr userDrawn="1"/>
        </p:nvPicPr>
        <p:blipFill>
          <a:blip r:embed="rId3" cstate="print"/>
          <a:srcRect l="1923" b="5336"/>
          <a:stretch>
            <a:fillRect/>
          </a:stretch>
        </p:blipFill>
        <p:spPr>
          <a:xfrm>
            <a:off x="8839204" y="-1"/>
            <a:ext cx="2924257" cy="692697"/>
          </a:xfrm>
          <a:prstGeom prst="rect">
            <a:avLst/>
          </a:prstGeom>
        </p:spPr>
      </p:pic>
      <p:grpSp>
        <p:nvGrpSpPr>
          <p:cNvPr id="19" name="Group 18"/>
          <p:cNvGrpSpPr/>
          <p:nvPr userDrawn="1"/>
        </p:nvGrpSpPr>
        <p:grpSpPr>
          <a:xfrm>
            <a:off x="2844800" y="6558117"/>
            <a:ext cx="93472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grpSp>
        <p:nvGrpSpPr>
          <p:cNvPr id="23" name="Group 22"/>
          <p:cNvGrpSpPr/>
          <p:nvPr userDrawn="1"/>
        </p:nvGrpSpPr>
        <p:grpSpPr>
          <a:xfrm>
            <a:off x="0" y="1295405"/>
            <a:ext cx="93472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sp>
        <p:nvSpPr>
          <p:cNvPr id="27" name="Content Placeholder 18"/>
          <p:cNvSpPr>
            <a:spLocks noGrp="1"/>
          </p:cNvSpPr>
          <p:nvPr>
            <p:ph sz="quarter" idx="10"/>
          </p:nvPr>
        </p:nvSpPr>
        <p:spPr>
          <a:xfrm>
            <a:off x="406400" y="152400"/>
            <a:ext cx="8432800" cy="1143000"/>
          </a:xfrm>
          <a:prstGeom prst="rect">
            <a:avLst/>
          </a:prstGeom>
        </p:spPr>
        <p:txBody>
          <a:bodyPr anchor="ctr" anchorCtr="0">
            <a:normAutofit/>
          </a:bodyPr>
          <a:lstStyle>
            <a:lvl1pPr marL="0">
              <a:lnSpc>
                <a:spcPts val="2025"/>
              </a:lnSpc>
              <a:spcBef>
                <a:spcPts val="0"/>
              </a:spcBef>
              <a:buNone/>
              <a:defRPr sz="2025" b="1" spc="-85" baseline="0">
                <a:latin typeface="Arial" pitchFamily="34" charset="0"/>
                <a:cs typeface="Arial" pitchFamily="34" charset="0"/>
              </a:defRPr>
            </a:lvl1pPr>
          </a:lstStyle>
          <a:p>
            <a:pPr lvl="0"/>
            <a:endParaRPr lang="en-US" dirty="0"/>
          </a:p>
        </p:txBody>
      </p:sp>
      <p:sp>
        <p:nvSpPr>
          <p:cNvPr id="4" name="Content Placeholder 3">
            <a:extLst>
              <a:ext uri="{FF2B5EF4-FFF2-40B4-BE49-F238E27FC236}">
                <a16:creationId xmlns:a16="http://schemas.microsoft.com/office/drawing/2014/main" id="{6FA95B91-80DC-439F-8C70-3B1EBFBBF1F5}"/>
              </a:ext>
            </a:extLst>
          </p:cNvPr>
          <p:cNvSpPr>
            <a:spLocks noGrp="1"/>
          </p:cNvSpPr>
          <p:nvPr>
            <p:ph sz="quarter" idx="11"/>
          </p:nvPr>
        </p:nvSpPr>
        <p:spPr>
          <a:xfrm>
            <a:off x="5994400" y="6363741"/>
            <a:ext cx="1219200" cy="91440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116052-1273-4EC0-ADD6-422E16AA4781}"/>
              </a:ext>
            </a:extLst>
          </p:cNvPr>
          <p:cNvSpPr>
            <a:spLocks noGrp="1"/>
          </p:cNvSpPr>
          <p:nvPr>
            <p:ph type="dt" sz="half" idx="12"/>
          </p:nvPr>
        </p:nvSpPr>
        <p:spPr>
          <a:xfrm>
            <a:off x="609600" y="6377940"/>
            <a:ext cx="2804160" cy="342900"/>
          </a:xfrm>
          <a:prstGeom prst="rect">
            <a:avLst/>
          </a:prstGeom>
        </p:spPr>
        <p:txBody>
          <a:bodyPr/>
          <a:lstStyle/>
          <a:p>
            <a:pPr fontAlgn="base">
              <a:spcBef>
                <a:spcPct val="0"/>
              </a:spcBef>
              <a:spcAft>
                <a:spcPct val="0"/>
              </a:spcAft>
            </a:pPr>
            <a:endParaRPr lang="en-US" sz="1200">
              <a:solidFill>
                <a:prstClr val="black">
                  <a:tint val="75000"/>
                </a:prstClr>
              </a:solidFill>
              <a:latin typeface="Tahoma" charset="0"/>
            </a:endParaRPr>
          </a:p>
        </p:txBody>
      </p:sp>
      <p:sp>
        <p:nvSpPr>
          <p:cNvPr id="6" name="Footer Placeholder 5">
            <a:extLst>
              <a:ext uri="{FF2B5EF4-FFF2-40B4-BE49-F238E27FC236}">
                <a16:creationId xmlns:a16="http://schemas.microsoft.com/office/drawing/2014/main" id="{4FDE8E7A-623C-40DD-A712-BEEDA93A9756}"/>
              </a:ext>
            </a:extLst>
          </p:cNvPr>
          <p:cNvSpPr>
            <a:spLocks noGrp="1"/>
          </p:cNvSpPr>
          <p:nvPr>
            <p:ph type="ftr" sz="quarter" idx="13"/>
          </p:nvPr>
        </p:nvSpPr>
        <p:spPr>
          <a:xfrm>
            <a:off x="9811512" y="6639736"/>
            <a:ext cx="2274993" cy="182245"/>
          </a:xfrm>
          <a:prstGeom prst="rect">
            <a:avLst/>
          </a:prstGeom>
        </p:spPr>
        <p:txBody>
          <a:bodyPr/>
          <a:lstStyle/>
          <a:p>
            <a:pPr fontAlgn="base">
              <a:spcBef>
                <a:spcPct val="0"/>
              </a:spcBef>
              <a:spcAft>
                <a:spcPct val="0"/>
              </a:spcAft>
            </a:pPr>
            <a:endParaRPr lang="en-US" sz="1200">
              <a:solidFill>
                <a:prstClr val="black">
                  <a:tint val="75000"/>
                </a:prstClr>
              </a:solidFill>
              <a:latin typeface="Tahoma" charset="0"/>
            </a:endParaRPr>
          </a:p>
        </p:txBody>
      </p:sp>
      <p:sp>
        <p:nvSpPr>
          <p:cNvPr id="8" name="Slide Number Placeholder 7">
            <a:extLst>
              <a:ext uri="{FF2B5EF4-FFF2-40B4-BE49-F238E27FC236}">
                <a16:creationId xmlns:a16="http://schemas.microsoft.com/office/drawing/2014/main" id="{0CD26A9A-C7D3-441E-9815-2014756B5490}"/>
              </a:ext>
            </a:extLst>
          </p:cNvPr>
          <p:cNvSpPr>
            <a:spLocks noGrp="1"/>
          </p:cNvSpPr>
          <p:nvPr>
            <p:ph type="sldNum" sz="quarter" idx="14"/>
          </p:nvPr>
        </p:nvSpPr>
        <p:spPr>
          <a:xfrm>
            <a:off x="9347200" y="6101556"/>
            <a:ext cx="2844800" cy="365125"/>
          </a:xfrm>
          <a:prstGeom prst="rect">
            <a:avLst/>
          </a:prstGeom>
        </p:spPr>
        <p:txBody>
          <a:bodyPr/>
          <a:lstStyle/>
          <a:p>
            <a:pPr fontAlgn="base">
              <a:spcBef>
                <a:spcPct val="0"/>
              </a:spcBef>
              <a:spcAft>
                <a:spcPct val="0"/>
              </a:spcAft>
            </a:pPr>
            <a:fld id="{BC8D7E44-7D4F-4942-A8C9-2DF6BF8399E8}" type="slidenum">
              <a:rPr lang="en-US" sz="1200">
                <a:solidFill>
                  <a:prstClr val="black">
                    <a:tint val="75000"/>
                  </a:prstClr>
                </a:solidFill>
                <a:latin typeface="Tahoma" charset="0"/>
              </a:rPr>
              <a:pPr fontAlgn="base">
                <a:spcBef>
                  <a:spcPct val="0"/>
                </a:spcBef>
                <a:spcAft>
                  <a:spcPct val="0"/>
                </a:spcAft>
              </a:pPr>
              <a:t>‹#›</a:t>
            </a:fld>
            <a:endParaRPr lang="en-US" sz="1200" dirty="0">
              <a:solidFill>
                <a:prstClr val="black">
                  <a:tint val="75000"/>
                </a:prstClr>
              </a:solidFill>
              <a:latin typeface="Tahoma" charset="0"/>
            </a:endParaRPr>
          </a:p>
        </p:txBody>
      </p:sp>
    </p:spTree>
    <p:extLst>
      <p:ext uri="{BB962C8B-B14F-4D97-AF65-F5344CB8AC3E}">
        <p14:creationId xmlns:p14="http://schemas.microsoft.com/office/powerpoint/2010/main" val="309560229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fontAlgn="base">
              <a:spcBef>
                <a:spcPct val="0"/>
              </a:spcBef>
              <a:spcAft>
                <a:spcPct val="0"/>
              </a:spcAft>
              <a:defRPr/>
            </a:pPr>
            <a:r>
              <a:rPr lang="en-US" sz="1100" b="1" dirty="0">
                <a:solidFill>
                  <a:srgbClr val="101141"/>
                </a:solidFill>
                <a:cs typeface="Arial" panose="020B0604020202020204" pitchFamily="34" charset="0"/>
              </a:rPr>
              <a:t>BITS </a:t>
            </a:r>
            <a:r>
              <a:rPr lang="en-US" sz="1100" dirty="0" err="1">
                <a:solidFill>
                  <a:srgbClr val="101141"/>
                </a:solidFill>
                <a:cs typeface="Arial" panose="020B0604020202020204" pitchFamily="34" charset="0"/>
              </a:rPr>
              <a:t>Pilani</a:t>
            </a:r>
            <a:endParaRPr lang="en-US" sz="1100" dirty="0">
              <a:solidFill>
                <a:srgbClr val="101141"/>
              </a:solidFill>
              <a:cs typeface="Arial" panose="020B0604020202020204" pitchFamily="34" charset="0"/>
            </a:endParaRP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pic>
        <p:nvPicPr>
          <p:cNvPr id="9" name="Picture 11" descr="Picture 7.png"/>
          <p:cNvPicPr>
            <a:picLocks noChangeAspect="1"/>
          </p:cNvPicPr>
          <p:nvPr userDrawn="1"/>
        </p:nvPicPr>
        <p:blipFill>
          <a:blip r:embed="rId2" cstate="print"/>
          <a:srcRect l="1923" b="5336"/>
          <a:stretch>
            <a:fillRect/>
          </a:stretch>
        </p:blipFill>
        <p:spPr bwMode="auto">
          <a:xfrm>
            <a:off x="8839201" y="0"/>
            <a:ext cx="2925233" cy="692150"/>
          </a:xfrm>
          <a:prstGeom prst="rect">
            <a:avLst/>
          </a:prstGeom>
          <a:noFill/>
          <a:ln w="9525">
            <a:noFill/>
            <a:miter lim="800000"/>
            <a:headEnd/>
            <a:tailEnd/>
          </a:ln>
        </p:spPr>
      </p:pic>
      <p:grpSp>
        <p:nvGrpSpPr>
          <p:cNvPr id="10" name="Group 18"/>
          <p:cNvGrpSpPr>
            <a:grpSpLocks/>
          </p:cNvGrpSpPr>
          <p:nvPr userDrawn="1"/>
        </p:nvGrpSpPr>
        <p:grpSpPr bwMode="auto">
          <a:xfrm>
            <a:off x="2844800" y="6553200"/>
            <a:ext cx="93472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grpSp>
        <p:nvGrpSpPr>
          <p:cNvPr id="14" name="Group 22"/>
          <p:cNvGrpSpPr>
            <a:grpSpLocks/>
          </p:cNvGrpSpPr>
          <p:nvPr userDrawn="1"/>
        </p:nvGrpSpPr>
        <p:grpSpPr bwMode="auto">
          <a:xfrm>
            <a:off x="0" y="1295400"/>
            <a:ext cx="93472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sp>
        <p:nvSpPr>
          <p:cNvPr id="3" name="Content Placeholder 2"/>
          <p:cNvSpPr>
            <a:spLocks noGrp="1"/>
          </p:cNvSpPr>
          <p:nvPr>
            <p:ph idx="1"/>
          </p:nvPr>
        </p:nvSpPr>
        <p:spPr>
          <a:xfrm>
            <a:off x="406400" y="1600201"/>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0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2000">
                <a:latin typeface="Cambria" panose="02040503050406030204" pitchFamily="18" charset="0"/>
                <a:ea typeface="Cambria" panose="02040503050406030204" pitchFamily="18" charset="0"/>
                <a:cs typeface="Times New Roman" panose="02020603050405020304" pitchFamily="18" charset="0"/>
              </a:defRPr>
            </a:lvl2pPr>
            <a:lvl3pPr>
              <a:defRPr sz="2000">
                <a:latin typeface="Cambria" panose="02040503050406030204" pitchFamily="18" charset="0"/>
                <a:ea typeface="Cambria" panose="02040503050406030204" pitchFamily="18" charset="0"/>
                <a:cs typeface="Times New Roman" panose="02020603050405020304" pitchFamily="18" charset="0"/>
              </a:defRPr>
            </a:lvl3pPr>
            <a:lvl4pPr>
              <a:defRPr sz="2000">
                <a:latin typeface="Cambria" panose="02040503050406030204" pitchFamily="18" charset="0"/>
                <a:ea typeface="Cambria" panose="02040503050406030204" pitchFamily="18" charset="0"/>
                <a:cs typeface="Times New Roman" panose="02020603050405020304" pitchFamily="18" charset="0"/>
              </a:defRPr>
            </a:lvl4pPr>
            <a:lvl5pPr>
              <a:defRPr sz="2000">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chemeClr val="accent2"/>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dirty="0"/>
              <a:t>Click to edit Master text styles</a:t>
            </a:r>
          </a:p>
        </p:txBody>
      </p:sp>
      <p:sp>
        <p:nvSpPr>
          <p:cNvPr id="2" name="Date Placeholder 1"/>
          <p:cNvSpPr>
            <a:spLocks noGrp="1"/>
          </p:cNvSpPr>
          <p:nvPr>
            <p:ph type="dt" sz="half" idx="11"/>
          </p:nvPr>
        </p:nvSpPr>
        <p:spPr>
          <a:xfrm>
            <a:off x="609600" y="6356351"/>
            <a:ext cx="2844800" cy="365125"/>
          </a:xfrm>
          <a:prstGeom prst="rect">
            <a:avLst/>
          </a:prstGeom>
        </p:spPr>
        <p:txBody>
          <a:bodyPr/>
          <a:lstStyle/>
          <a:p>
            <a:pPr fontAlgn="base">
              <a:spcBef>
                <a:spcPct val="0"/>
              </a:spcBef>
              <a:spcAft>
                <a:spcPct val="0"/>
              </a:spcAft>
              <a:defRPr/>
            </a:pPr>
            <a:endParaRPr lang="en-US" sz="1600">
              <a:solidFill>
                <a:prstClr val="black">
                  <a:tint val="75000"/>
                </a:prstClr>
              </a:solidFill>
              <a:latin typeface="Tahoma" charset="0"/>
            </a:endParaRPr>
          </a:p>
        </p:txBody>
      </p:sp>
      <p:sp>
        <p:nvSpPr>
          <p:cNvPr id="18" name="Footer Placeholder 17"/>
          <p:cNvSpPr>
            <a:spLocks noGrp="1"/>
          </p:cNvSpPr>
          <p:nvPr>
            <p:ph type="ftr" sz="quarter" idx="12"/>
          </p:nvPr>
        </p:nvSpPr>
        <p:spPr>
          <a:xfrm>
            <a:off x="4165600" y="6356351"/>
            <a:ext cx="3860800" cy="365125"/>
          </a:xfrm>
          <a:prstGeom prst="rect">
            <a:avLst/>
          </a:prstGeom>
        </p:spPr>
        <p:txBody>
          <a:bodyPr/>
          <a:lstStyle/>
          <a:p>
            <a:pPr fontAlgn="base">
              <a:spcBef>
                <a:spcPct val="0"/>
              </a:spcBef>
              <a:spcAft>
                <a:spcPct val="0"/>
              </a:spcAft>
              <a:defRPr/>
            </a:pPr>
            <a:endParaRPr lang="en-US" sz="1600" dirty="0">
              <a:solidFill>
                <a:prstClr val="black">
                  <a:tint val="75000"/>
                </a:prstClr>
              </a:solidFill>
              <a:latin typeface="Tahoma" charset="0"/>
            </a:endParaRPr>
          </a:p>
        </p:txBody>
      </p:sp>
      <p:sp>
        <p:nvSpPr>
          <p:cNvPr id="19" name="Slide Number Placeholder 18"/>
          <p:cNvSpPr>
            <a:spLocks noGrp="1"/>
          </p:cNvSpPr>
          <p:nvPr>
            <p:ph type="sldNum" sz="quarter" idx="13"/>
          </p:nvPr>
        </p:nvSpPr>
        <p:spPr>
          <a:xfrm>
            <a:off x="4114800" y="6424613"/>
            <a:ext cx="2844800" cy="365125"/>
          </a:xfrm>
          <a:prstGeom prst="rect">
            <a:avLst/>
          </a:prstGeom>
        </p:spPr>
        <p:txBody>
          <a:bodyPr/>
          <a:lstStyle>
            <a:lvl1pPr>
              <a:defRPr>
                <a:solidFill>
                  <a:srgbClr val="C00000"/>
                </a:solidFill>
              </a:defRPr>
            </a:lvl1pPr>
          </a:lstStyle>
          <a:p>
            <a:pPr fontAlgn="base">
              <a:spcBef>
                <a:spcPct val="0"/>
              </a:spcBef>
              <a:spcAft>
                <a:spcPct val="0"/>
              </a:spcAft>
            </a:pPr>
            <a:fld id="{DB1C2494-8932-4549-9EEA-B787E7A0F253}" type="slidenum">
              <a:rPr lang="en-US" sz="1600" smtClean="0">
                <a:latin typeface="Tahoma" charset="0"/>
              </a:rPr>
              <a:pPr fontAlgn="base">
                <a:spcBef>
                  <a:spcPct val="0"/>
                </a:spcBef>
                <a:spcAft>
                  <a:spcPct val="0"/>
                </a:spcAft>
              </a:pPr>
              <a:t>‹#›</a:t>
            </a:fld>
            <a:endParaRPr lang="en-US" sz="1600" dirty="0">
              <a:latin typeface="Tahoma" charset="0"/>
            </a:endParaRPr>
          </a:p>
        </p:txBody>
      </p:sp>
    </p:spTree>
    <p:extLst>
      <p:ext uri="{BB962C8B-B14F-4D97-AF65-F5344CB8AC3E}">
        <p14:creationId xmlns:p14="http://schemas.microsoft.com/office/powerpoint/2010/main" val="119226133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38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16855596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40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283742216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152038135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312242406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7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126722075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8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204828229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9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16433353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20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339648778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22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405835196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23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7"/>
            <a:ext cx="10972800" cy="1920526"/>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2400">
                <a:latin typeface="Cambria" panose="02040503050406030204" pitchFamily="18" charset="0"/>
                <a:ea typeface="Cambria" panose="02040503050406030204" pitchFamily="18" charset="0"/>
                <a:cs typeface="Times New Roman" panose="02020603050405020304" pitchFamily="18" charset="0"/>
              </a:defRPr>
            </a:lvl2pPr>
            <a:lvl3pPr>
              <a:defRPr sz="2400">
                <a:latin typeface="Cambria" panose="02040503050406030204" pitchFamily="18" charset="0"/>
                <a:ea typeface="Cambria" panose="02040503050406030204" pitchFamily="18" charset="0"/>
                <a:cs typeface="Times New Roman" panose="02020603050405020304" pitchFamily="18" charset="0"/>
              </a:defRPr>
            </a:lvl3pPr>
            <a:lvl4pPr>
              <a:defRPr sz="2400">
                <a:latin typeface="Cambria" panose="02040503050406030204" pitchFamily="18" charset="0"/>
                <a:ea typeface="Cambria" panose="02040503050406030204" pitchFamily="18" charset="0"/>
                <a:cs typeface="Times New Roman" panose="02020603050405020304" pitchFamily="18" charset="0"/>
              </a:defRPr>
            </a:lvl4pPr>
            <a:lvl5pPr>
              <a:defRPr sz="2400">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0" spc="-150" baseline="0">
                <a:solidFill>
                  <a:schemeClr val="tx1"/>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dirty="0"/>
              <a:t>Click to edit Master text styles</a:t>
            </a:r>
          </a:p>
        </p:txBody>
      </p:sp>
    </p:spTree>
    <p:extLst>
      <p:ext uri="{BB962C8B-B14F-4D97-AF65-F5344CB8AC3E}">
        <p14:creationId xmlns:p14="http://schemas.microsoft.com/office/powerpoint/2010/main" val="2966583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8"/>
        <p:cNvGrpSpPr/>
        <p:nvPr/>
      </p:nvGrpSpPr>
      <p:grpSpPr>
        <a:xfrm>
          <a:off x="0" y="0"/>
          <a:ext cx="0" cy="0"/>
          <a:chOff x="0" y="0"/>
          <a:chExt cx="0" cy="0"/>
        </a:xfrm>
      </p:grpSpPr>
      <p:sp>
        <p:nvSpPr>
          <p:cNvPr id="19" name="Google Shape;19;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Font typeface="Montserrat"/>
              <a:buNone/>
              <a:defRPr>
                <a:latin typeface="Montserrat"/>
                <a:ea typeface="Montserrat"/>
                <a:cs typeface="Montserrat"/>
                <a:sym typeface="Montserrat"/>
              </a:defRPr>
            </a:lvl1pPr>
            <a:lvl2pPr lvl="1">
              <a:spcBef>
                <a:spcPts val="0"/>
              </a:spcBef>
              <a:spcAft>
                <a:spcPts val="0"/>
              </a:spcAft>
              <a:buSzPts val="2800"/>
              <a:buFont typeface="Montserrat"/>
              <a:buNone/>
              <a:defRPr>
                <a:latin typeface="Montserrat"/>
                <a:ea typeface="Montserrat"/>
                <a:cs typeface="Montserrat"/>
                <a:sym typeface="Montserrat"/>
              </a:defRPr>
            </a:lvl2pPr>
            <a:lvl3pPr lvl="2">
              <a:spcBef>
                <a:spcPts val="0"/>
              </a:spcBef>
              <a:spcAft>
                <a:spcPts val="0"/>
              </a:spcAft>
              <a:buSzPts val="2800"/>
              <a:buFont typeface="Montserrat"/>
              <a:buNone/>
              <a:defRPr>
                <a:latin typeface="Montserrat"/>
                <a:ea typeface="Montserrat"/>
                <a:cs typeface="Montserrat"/>
                <a:sym typeface="Montserrat"/>
              </a:defRPr>
            </a:lvl3pPr>
            <a:lvl4pPr lvl="3">
              <a:spcBef>
                <a:spcPts val="0"/>
              </a:spcBef>
              <a:spcAft>
                <a:spcPts val="0"/>
              </a:spcAft>
              <a:buSzPts val="2800"/>
              <a:buFont typeface="Montserrat"/>
              <a:buNone/>
              <a:defRPr>
                <a:latin typeface="Montserrat"/>
                <a:ea typeface="Montserrat"/>
                <a:cs typeface="Montserrat"/>
                <a:sym typeface="Montserrat"/>
              </a:defRPr>
            </a:lvl4pPr>
            <a:lvl5pPr lvl="4">
              <a:spcBef>
                <a:spcPts val="0"/>
              </a:spcBef>
              <a:spcAft>
                <a:spcPts val="0"/>
              </a:spcAft>
              <a:buSzPts val="2800"/>
              <a:buFont typeface="Montserrat"/>
              <a:buNone/>
              <a:defRPr>
                <a:latin typeface="Montserrat"/>
                <a:ea typeface="Montserrat"/>
                <a:cs typeface="Montserrat"/>
                <a:sym typeface="Montserrat"/>
              </a:defRPr>
            </a:lvl5pPr>
            <a:lvl6pPr lvl="5">
              <a:spcBef>
                <a:spcPts val="0"/>
              </a:spcBef>
              <a:spcAft>
                <a:spcPts val="0"/>
              </a:spcAft>
              <a:buSzPts val="2800"/>
              <a:buFont typeface="Montserrat"/>
              <a:buNone/>
              <a:defRPr>
                <a:latin typeface="Montserrat"/>
                <a:ea typeface="Montserrat"/>
                <a:cs typeface="Montserrat"/>
                <a:sym typeface="Montserrat"/>
              </a:defRPr>
            </a:lvl6pPr>
            <a:lvl7pPr lvl="6">
              <a:spcBef>
                <a:spcPts val="0"/>
              </a:spcBef>
              <a:spcAft>
                <a:spcPts val="0"/>
              </a:spcAft>
              <a:buSzPts val="2800"/>
              <a:buFont typeface="Montserrat"/>
              <a:buNone/>
              <a:defRPr>
                <a:latin typeface="Montserrat"/>
                <a:ea typeface="Montserrat"/>
                <a:cs typeface="Montserrat"/>
                <a:sym typeface="Montserrat"/>
              </a:defRPr>
            </a:lvl7pPr>
            <a:lvl8pPr lvl="7">
              <a:spcBef>
                <a:spcPts val="0"/>
              </a:spcBef>
              <a:spcAft>
                <a:spcPts val="0"/>
              </a:spcAft>
              <a:buSzPts val="2800"/>
              <a:buFont typeface="Montserrat"/>
              <a:buNone/>
              <a:defRPr>
                <a:latin typeface="Montserrat"/>
                <a:ea typeface="Montserrat"/>
                <a:cs typeface="Montserrat"/>
                <a:sym typeface="Montserrat"/>
              </a:defRPr>
            </a:lvl8pPr>
            <a:lvl9pPr lvl="8">
              <a:spcBef>
                <a:spcPts val="0"/>
              </a:spcBef>
              <a:spcAft>
                <a:spcPts val="0"/>
              </a:spcAft>
              <a:buSzPts val="2800"/>
              <a:buFont typeface="Montserrat"/>
              <a:buNone/>
              <a:defRPr>
                <a:latin typeface="Montserrat"/>
                <a:ea typeface="Montserrat"/>
                <a:cs typeface="Montserrat"/>
                <a:sym typeface="Montserrat"/>
              </a:defRPr>
            </a:lvl9pPr>
          </a:lstStyle>
          <a:p>
            <a:endParaRPr/>
          </a:p>
        </p:txBody>
      </p:sp>
      <p:sp>
        <p:nvSpPr>
          <p:cNvPr id="20" name="Google Shape;20;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Font typeface="Montserrat"/>
              <a:buChar char="●"/>
              <a:defRPr>
                <a:latin typeface="Montserrat"/>
                <a:ea typeface="Montserrat"/>
                <a:cs typeface="Montserrat"/>
                <a:sym typeface="Montserrat"/>
              </a:defRPr>
            </a:lvl1pPr>
            <a:lvl2pPr marL="914400" lvl="1" indent="-317500">
              <a:spcBef>
                <a:spcPts val="0"/>
              </a:spcBef>
              <a:spcAft>
                <a:spcPts val="0"/>
              </a:spcAft>
              <a:buSzPts val="1400"/>
              <a:buFont typeface="Montserrat"/>
              <a:buChar char="○"/>
              <a:defRPr>
                <a:latin typeface="Montserrat"/>
                <a:ea typeface="Montserrat"/>
                <a:cs typeface="Montserrat"/>
                <a:sym typeface="Montserrat"/>
              </a:defRPr>
            </a:lvl2pPr>
            <a:lvl3pPr marL="1371600" lvl="2" indent="-317500">
              <a:spcBef>
                <a:spcPts val="0"/>
              </a:spcBef>
              <a:spcAft>
                <a:spcPts val="0"/>
              </a:spcAft>
              <a:buSzPts val="1400"/>
              <a:buFont typeface="Montserrat"/>
              <a:buChar char="■"/>
              <a:defRPr>
                <a:latin typeface="Montserrat"/>
                <a:ea typeface="Montserrat"/>
                <a:cs typeface="Montserrat"/>
                <a:sym typeface="Montserrat"/>
              </a:defRPr>
            </a:lvl3pPr>
            <a:lvl4pPr marL="1828800" lvl="3" indent="-317500">
              <a:spcBef>
                <a:spcPts val="0"/>
              </a:spcBef>
              <a:spcAft>
                <a:spcPts val="0"/>
              </a:spcAft>
              <a:buSzPts val="1400"/>
              <a:buFont typeface="Montserrat"/>
              <a:buChar char="●"/>
              <a:defRPr>
                <a:latin typeface="Montserrat"/>
                <a:ea typeface="Montserrat"/>
                <a:cs typeface="Montserrat"/>
                <a:sym typeface="Montserrat"/>
              </a:defRPr>
            </a:lvl4pPr>
            <a:lvl5pPr marL="2286000" lvl="4" indent="-317500">
              <a:spcBef>
                <a:spcPts val="0"/>
              </a:spcBef>
              <a:spcAft>
                <a:spcPts val="0"/>
              </a:spcAft>
              <a:buSzPts val="1400"/>
              <a:buFont typeface="Montserrat"/>
              <a:buChar char="○"/>
              <a:defRPr>
                <a:latin typeface="Montserrat"/>
                <a:ea typeface="Montserrat"/>
                <a:cs typeface="Montserrat"/>
                <a:sym typeface="Montserrat"/>
              </a:defRPr>
            </a:lvl5pPr>
            <a:lvl6pPr marL="2743200" lvl="5" indent="-317500">
              <a:spcBef>
                <a:spcPts val="0"/>
              </a:spcBef>
              <a:spcAft>
                <a:spcPts val="0"/>
              </a:spcAft>
              <a:buSzPts val="1400"/>
              <a:buFont typeface="Montserrat"/>
              <a:buChar char="■"/>
              <a:defRPr>
                <a:latin typeface="Montserrat"/>
                <a:ea typeface="Montserrat"/>
                <a:cs typeface="Montserrat"/>
                <a:sym typeface="Montserrat"/>
              </a:defRPr>
            </a:lvl6pPr>
            <a:lvl7pPr marL="3200400" lvl="6" indent="-317500">
              <a:spcBef>
                <a:spcPts val="0"/>
              </a:spcBef>
              <a:spcAft>
                <a:spcPts val="0"/>
              </a:spcAft>
              <a:buSzPts val="1400"/>
              <a:buFont typeface="Montserrat"/>
              <a:buChar char="●"/>
              <a:defRPr>
                <a:latin typeface="Montserrat"/>
                <a:ea typeface="Montserrat"/>
                <a:cs typeface="Montserrat"/>
                <a:sym typeface="Montserrat"/>
              </a:defRPr>
            </a:lvl7pPr>
            <a:lvl8pPr marL="3657600" lvl="7" indent="-317500">
              <a:spcBef>
                <a:spcPts val="0"/>
              </a:spcBef>
              <a:spcAft>
                <a:spcPts val="0"/>
              </a:spcAft>
              <a:buSzPts val="1400"/>
              <a:buFont typeface="Montserrat"/>
              <a:buChar char="○"/>
              <a:defRPr>
                <a:latin typeface="Montserrat"/>
                <a:ea typeface="Montserrat"/>
                <a:cs typeface="Montserrat"/>
                <a:sym typeface="Montserrat"/>
              </a:defRPr>
            </a:lvl8pPr>
            <a:lvl9pPr marL="4114800" lvl="8" indent="-317500">
              <a:spcBef>
                <a:spcPts val="0"/>
              </a:spcBef>
              <a:spcAft>
                <a:spcPts val="0"/>
              </a:spcAft>
              <a:buSzPts val="1400"/>
              <a:buFont typeface="Montserrat"/>
              <a:buChar char="■"/>
              <a:defRPr>
                <a:latin typeface="Montserrat"/>
                <a:ea typeface="Montserrat"/>
                <a:cs typeface="Montserrat"/>
                <a:sym typeface="Montserrat"/>
              </a:defRPr>
            </a:lvl9pPr>
          </a:lstStyle>
          <a:p>
            <a:endParaRPr/>
          </a:p>
        </p:txBody>
      </p:sp>
      <p:sp>
        <p:nvSpPr>
          <p:cNvPr id="21" name="Google Shape;21;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a:fld id="{00000000-1234-1234-1234-123412341234}" type="slidenum">
              <a:rPr lang="en" kern="0" smtClean="0">
                <a:solidFill>
                  <a:sysClr val="windowText" lastClr="000000"/>
                </a:solidFill>
              </a:rPr>
              <a:pPr algn="r"/>
              <a:t>‹#›</a:t>
            </a:fld>
            <a:endParaRPr lang="en" kern="0">
              <a:solidFill>
                <a:sysClr val="windowText" lastClr="000000"/>
              </a:solidFill>
            </a:endParaRPr>
          </a:p>
        </p:txBody>
      </p:sp>
      <p:pic>
        <p:nvPicPr>
          <p:cNvPr id="22" name="Google Shape;22;p4"/>
          <p:cNvPicPr preferRelativeResize="0"/>
          <p:nvPr/>
        </p:nvPicPr>
        <p:blipFill rotWithShape="1">
          <a:blip r:embed="rId2">
            <a:alphaModFix amt="24000"/>
          </a:blip>
          <a:srcRect b="93593"/>
          <a:stretch/>
        </p:blipFill>
        <p:spPr>
          <a:xfrm>
            <a:off x="2" y="6594465"/>
            <a:ext cx="12192004" cy="263533"/>
          </a:xfrm>
          <a:prstGeom prst="rect">
            <a:avLst/>
          </a:prstGeom>
          <a:noFill/>
          <a:ln>
            <a:noFill/>
          </a:ln>
        </p:spPr>
      </p:pic>
    </p:spTree>
    <p:extLst>
      <p:ext uri="{BB962C8B-B14F-4D97-AF65-F5344CB8AC3E}">
        <p14:creationId xmlns:p14="http://schemas.microsoft.com/office/powerpoint/2010/main" val="90018680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x">
  <p:cSld name="2_Title and Content">
    <p:bg>
      <p:bgPr>
        <a:solidFill>
          <a:srgbClr val="FFFFFF"/>
        </a:solidFill>
        <a:effectLst/>
      </p:bgPr>
    </p:bg>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02C8AA01-D23D-4041-A02F-F9D7E8C37BA3}"/>
              </a:ext>
            </a:extLst>
          </p:cNvPr>
          <p:cNvGrpSpPr/>
          <p:nvPr userDrawn="1"/>
        </p:nvGrpSpPr>
        <p:grpSpPr>
          <a:xfrm>
            <a:off x="-451962" y="-603517"/>
            <a:ext cx="12689524" cy="8232476"/>
            <a:chOff x="-211367" y="-654317"/>
            <a:chExt cx="9517143" cy="8232476"/>
          </a:xfrm>
        </p:grpSpPr>
        <p:pic>
          <p:nvPicPr>
            <p:cNvPr id="17" name="Graphic 16">
              <a:extLst>
                <a:ext uri="{FF2B5EF4-FFF2-40B4-BE49-F238E27FC236}">
                  <a16:creationId xmlns:a16="http://schemas.microsoft.com/office/drawing/2014/main" id="{00B6697F-8542-4467-A5D4-DC15ABACEC71}"/>
                </a:ext>
              </a:extLst>
            </p:cNvPr>
            <p:cNvPicPr>
              <a:picLocks noChangeAspect="1"/>
            </p:cNvPicPr>
            <p:nvPr userDrawn="1"/>
          </p:nvPicPr>
          <p:blipFill>
            <a:blip r:embed="rId2"/>
            <a:stretch>
              <a:fillRect/>
            </a:stretch>
          </p:blipFill>
          <p:spPr>
            <a:xfrm rot="4121095">
              <a:off x="-211367" y="4076943"/>
              <a:ext cx="3329835" cy="3329835"/>
            </a:xfrm>
            <a:prstGeom prst="rect">
              <a:avLst/>
            </a:prstGeom>
          </p:spPr>
        </p:pic>
        <p:pic>
          <p:nvPicPr>
            <p:cNvPr id="30" name="Graphic 29">
              <a:extLst>
                <a:ext uri="{FF2B5EF4-FFF2-40B4-BE49-F238E27FC236}">
                  <a16:creationId xmlns:a16="http://schemas.microsoft.com/office/drawing/2014/main" id="{DF072920-AAB1-4F9B-AEF5-9F5B25676BF6}"/>
                </a:ext>
              </a:extLst>
            </p:cNvPr>
            <p:cNvPicPr>
              <a:picLocks noChangeAspect="1"/>
            </p:cNvPicPr>
            <p:nvPr userDrawn="1"/>
          </p:nvPicPr>
          <p:blipFill>
            <a:blip r:embed="rId2"/>
            <a:stretch>
              <a:fillRect/>
            </a:stretch>
          </p:blipFill>
          <p:spPr>
            <a:xfrm>
              <a:off x="5883072" y="4248324"/>
              <a:ext cx="3329835" cy="3329835"/>
            </a:xfrm>
            <a:prstGeom prst="rect">
              <a:avLst/>
            </a:prstGeom>
          </p:spPr>
        </p:pic>
        <p:pic>
          <p:nvPicPr>
            <p:cNvPr id="31" name="Graphic 30">
              <a:extLst>
                <a:ext uri="{FF2B5EF4-FFF2-40B4-BE49-F238E27FC236}">
                  <a16:creationId xmlns:a16="http://schemas.microsoft.com/office/drawing/2014/main" id="{960E9350-5FB1-471B-9AD7-8193A597F780}"/>
                </a:ext>
              </a:extLst>
            </p:cNvPr>
            <p:cNvPicPr>
              <a:picLocks noChangeAspect="1"/>
            </p:cNvPicPr>
            <p:nvPr userDrawn="1"/>
          </p:nvPicPr>
          <p:blipFill>
            <a:blip r:embed="rId2"/>
            <a:stretch>
              <a:fillRect/>
            </a:stretch>
          </p:blipFill>
          <p:spPr>
            <a:xfrm>
              <a:off x="0" y="-654317"/>
              <a:ext cx="3329835" cy="3329835"/>
            </a:xfrm>
            <a:prstGeom prst="rect">
              <a:avLst/>
            </a:prstGeom>
          </p:spPr>
        </p:pic>
        <p:pic>
          <p:nvPicPr>
            <p:cNvPr id="32" name="Graphic 31">
              <a:extLst>
                <a:ext uri="{FF2B5EF4-FFF2-40B4-BE49-F238E27FC236}">
                  <a16:creationId xmlns:a16="http://schemas.microsoft.com/office/drawing/2014/main" id="{A05A99E4-B47E-42C9-87BE-16A834F645F4}"/>
                </a:ext>
              </a:extLst>
            </p:cNvPr>
            <p:cNvPicPr>
              <a:picLocks noChangeAspect="1"/>
            </p:cNvPicPr>
            <p:nvPr userDrawn="1"/>
          </p:nvPicPr>
          <p:blipFill>
            <a:blip r:embed="rId2"/>
            <a:stretch>
              <a:fillRect/>
            </a:stretch>
          </p:blipFill>
          <p:spPr>
            <a:xfrm rot="4121095">
              <a:off x="5975941" y="-392139"/>
              <a:ext cx="3329835" cy="3329835"/>
            </a:xfrm>
            <a:prstGeom prst="rect">
              <a:avLst/>
            </a:prstGeom>
          </p:spPr>
        </p:pic>
        <p:grpSp>
          <p:nvGrpSpPr>
            <p:cNvPr id="33" name="Group 32">
              <a:extLst>
                <a:ext uri="{FF2B5EF4-FFF2-40B4-BE49-F238E27FC236}">
                  <a16:creationId xmlns:a16="http://schemas.microsoft.com/office/drawing/2014/main" id="{976E5146-2464-4A58-B8E6-F561205F0C87}"/>
                </a:ext>
              </a:extLst>
            </p:cNvPr>
            <p:cNvGrpSpPr/>
            <p:nvPr userDrawn="1"/>
          </p:nvGrpSpPr>
          <p:grpSpPr>
            <a:xfrm>
              <a:off x="0" y="0"/>
              <a:ext cx="9144001" cy="6857673"/>
              <a:chOff x="0" y="0"/>
              <a:chExt cx="9144001" cy="6857673"/>
            </a:xfrm>
          </p:grpSpPr>
          <p:grpSp>
            <p:nvGrpSpPr>
              <p:cNvPr id="36" name="Group 6">
                <a:extLst>
                  <a:ext uri="{FF2B5EF4-FFF2-40B4-BE49-F238E27FC236}">
                    <a16:creationId xmlns:a16="http://schemas.microsoft.com/office/drawing/2014/main" id="{D474A4EC-C93A-493C-88B2-A48BACCF5FE0}"/>
                  </a:ext>
                </a:extLst>
              </p:cNvPr>
              <p:cNvGrpSpPr/>
              <p:nvPr userDrawn="1"/>
            </p:nvGrpSpPr>
            <p:grpSpPr>
              <a:xfrm>
                <a:off x="0" y="1295400"/>
                <a:ext cx="7010401" cy="46038"/>
                <a:chOff x="0" y="0"/>
                <a:chExt cx="7010400" cy="46037"/>
              </a:xfrm>
            </p:grpSpPr>
            <p:sp>
              <p:nvSpPr>
                <p:cNvPr id="43" name="Rectangle 6">
                  <a:extLst>
                    <a:ext uri="{FF2B5EF4-FFF2-40B4-BE49-F238E27FC236}">
                      <a16:creationId xmlns:a16="http://schemas.microsoft.com/office/drawing/2014/main" id="{C23217C1-B547-4717-A00E-AEDE28E1BA28}"/>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solidFill>
                      <a:srgbClr val="FFFFFF"/>
                    </a:solidFill>
                  </a:endParaRPr>
                </a:p>
              </p:txBody>
            </p:sp>
            <p:sp>
              <p:nvSpPr>
                <p:cNvPr id="44" name="Rectangle 7">
                  <a:extLst>
                    <a:ext uri="{FF2B5EF4-FFF2-40B4-BE49-F238E27FC236}">
                      <a16:creationId xmlns:a16="http://schemas.microsoft.com/office/drawing/2014/main" id="{94960EAA-1D93-4A85-9211-9BE99B612958}"/>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solidFill>
                      <a:srgbClr val="FFFFFF"/>
                    </a:solidFill>
                  </a:endParaRPr>
                </a:p>
              </p:txBody>
            </p:sp>
            <p:sp>
              <p:nvSpPr>
                <p:cNvPr id="45" name="Rectangle 8">
                  <a:extLst>
                    <a:ext uri="{FF2B5EF4-FFF2-40B4-BE49-F238E27FC236}">
                      <a16:creationId xmlns:a16="http://schemas.microsoft.com/office/drawing/2014/main" id="{23DC74F6-8BD3-4602-A913-B33658D45409}"/>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solidFill>
                      <a:srgbClr val="FFFFFF"/>
                    </a:solidFill>
                  </a:endParaRPr>
                </a:p>
              </p:txBody>
            </p:sp>
          </p:grpSp>
          <p:grpSp>
            <p:nvGrpSpPr>
              <p:cNvPr id="37" name="Group 10">
                <a:extLst>
                  <a:ext uri="{FF2B5EF4-FFF2-40B4-BE49-F238E27FC236}">
                    <a16:creationId xmlns:a16="http://schemas.microsoft.com/office/drawing/2014/main" id="{B487F23B-3F7A-4580-828C-3849452F8D18}"/>
                  </a:ext>
                </a:extLst>
              </p:cNvPr>
              <p:cNvGrpSpPr/>
              <p:nvPr userDrawn="1"/>
            </p:nvGrpSpPr>
            <p:grpSpPr>
              <a:xfrm>
                <a:off x="2133600" y="6553200"/>
                <a:ext cx="7010401" cy="46038"/>
                <a:chOff x="0" y="0"/>
                <a:chExt cx="7010400" cy="46037"/>
              </a:xfrm>
            </p:grpSpPr>
            <p:sp>
              <p:nvSpPr>
                <p:cNvPr id="40" name="Rectangle 10">
                  <a:extLst>
                    <a:ext uri="{FF2B5EF4-FFF2-40B4-BE49-F238E27FC236}">
                      <a16:creationId xmlns:a16="http://schemas.microsoft.com/office/drawing/2014/main" id="{806EAF59-B583-4157-AF07-612D17BCA1AD}"/>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solidFill>
                      <a:srgbClr val="FFFFFF"/>
                    </a:solidFill>
                  </a:endParaRPr>
                </a:p>
              </p:txBody>
            </p:sp>
            <p:sp>
              <p:nvSpPr>
                <p:cNvPr id="41" name="Rectangle 11">
                  <a:extLst>
                    <a:ext uri="{FF2B5EF4-FFF2-40B4-BE49-F238E27FC236}">
                      <a16:creationId xmlns:a16="http://schemas.microsoft.com/office/drawing/2014/main" id="{A4CE5782-6411-48D1-8D40-24ABC6B6C519}"/>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solidFill>
                      <a:srgbClr val="FFFFFF"/>
                    </a:solidFill>
                  </a:endParaRPr>
                </a:p>
              </p:txBody>
            </p:sp>
            <p:sp>
              <p:nvSpPr>
                <p:cNvPr id="42" name="Rectangle 12">
                  <a:extLst>
                    <a:ext uri="{FF2B5EF4-FFF2-40B4-BE49-F238E27FC236}">
                      <a16:creationId xmlns:a16="http://schemas.microsoft.com/office/drawing/2014/main" id="{36543293-26AC-4E3C-A8DA-43E28BB29BF9}"/>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solidFill>
                      <a:srgbClr val="FFFFFF"/>
                    </a:solidFill>
                  </a:endParaRPr>
                </a:p>
              </p:txBody>
            </p:sp>
          </p:grpSp>
          <p:pic>
            <p:nvPicPr>
              <p:cNvPr id="38" name="Picture 14" descr="Picture 14">
                <a:extLst>
                  <a:ext uri="{FF2B5EF4-FFF2-40B4-BE49-F238E27FC236}">
                    <a16:creationId xmlns:a16="http://schemas.microsoft.com/office/drawing/2014/main" id="{AC11A442-C24C-4CF0-824F-FAB8D04EC68B}"/>
                  </a:ext>
                </a:extLst>
              </p:cNvPr>
              <p:cNvPicPr>
                <a:picLocks noChangeAspect="1"/>
              </p:cNvPicPr>
              <p:nvPr userDrawn="1"/>
            </p:nvPicPr>
            <p:blipFill>
              <a:blip r:embed="rId3"/>
              <a:srcRect t="2677" b="2677"/>
              <a:stretch>
                <a:fillRect/>
              </a:stretch>
            </p:blipFill>
            <p:spPr>
              <a:xfrm>
                <a:off x="6629400" y="0"/>
                <a:ext cx="2193925" cy="692150"/>
              </a:xfrm>
              <a:prstGeom prst="rect">
                <a:avLst/>
              </a:prstGeom>
              <a:ln w="12700">
                <a:miter lim="400000"/>
              </a:ln>
            </p:spPr>
          </p:pic>
          <p:sp>
            <p:nvSpPr>
              <p:cNvPr id="39" name="TextBox 14">
                <a:extLst>
                  <a:ext uri="{FF2B5EF4-FFF2-40B4-BE49-F238E27FC236}">
                    <a16:creationId xmlns:a16="http://schemas.microsoft.com/office/drawing/2014/main" id="{F994DF25-1BCD-464E-ADD1-B3C346DE9FDD}"/>
                  </a:ext>
                </a:extLst>
              </p:cNvPr>
              <p:cNvSpPr txBox="1"/>
              <p:nvPr userDrawn="1"/>
            </p:nvSpPr>
            <p:spPr>
              <a:xfrm>
                <a:off x="3322319" y="6596063"/>
                <a:ext cx="5775962" cy="26161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r">
                  <a:defRPr sz="1100" b="1">
                    <a:solidFill>
                      <a:srgbClr val="101141"/>
                    </a:solidFill>
                    <a:latin typeface="+mj-lt"/>
                    <a:ea typeface="+mj-ea"/>
                    <a:cs typeface="+mj-cs"/>
                    <a:sym typeface="Arial"/>
                  </a:defRPr>
                </a:pPr>
                <a:r>
                  <a:rPr lang="en-IN" sz="1100" b="1" dirty="0">
                    <a:solidFill>
                      <a:srgbClr val="101141"/>
                    </a:solidFill>
                    <a:sym typeface="Arial"/>
                  </a:rPr>
                  <a:t>BITS </a:t>
                </a:r>
                <a:r>
                  <a:rPr lang="en-IN" sz="1100" dirty="0" err="1">
                    <a:solidFill>
                      <a:srgbClr val="101141"/>
                    </a:solidFill>
                    <a:sym typeface="Arial"/>
                  </a:rPr>
                  <a:t>Pilani</a:t>
                </a:r>
                <a:r>
                  <a:rPr lang="en-IN" sz="1100" dirty="0">
                    <a:solidFill>
                      <a:srgbClr val="101141"/>
                    </a:solidFill>
                    <a:sym typeface="Arial"/>
                  </a:rPr>
                  <a:t>, Deemed to be University under Section 3 of UGC Act, 1956</a:t>
                </a:r>
              </a:p>
            </p:txBody>
          </p:sp>
        </p:grpSp>
        <p:pic>
          <p:nvPicPr>
            <p:cNvPr id="34" name="Graphic 33">
              <a:extLst>
                <a:ext uri="{FF2B5EF4-FFF2-40B4-BE49-F238E27FC236}">
                  <a16:creationId xmlns:a16="http://schemas.microsoft.com/office/drawing/2014/main" id="{210FB0E2-5FFB-452D-AB3F-19BF47E44DE4}"/>
                </a:ext>
              </a:extLst>
            </p:cNvPr>
            <p:cNvPicPr>
              <a:picLocks noChangeAspect="1"/>
            </p:cNvPicPr>
            <p:nvPr userDrawn="1"/>
          </p:nvPicPr>
          <p:blipFill>
            <a:blip r:embed="rId4"/>
            <a:stretch>
              <a:fillRect/>
            </a:stretch>
          </p:blipFill>
          <p:spPr>
            <a:xfrm>
              <a:off x="3866657" y="2807158"/>
              <a:ext cx="1410686" cy="1410686"/>
            </a:xfrm>
            <a:prstGeom prst="rect">
              <a:avLst/>
            </a:prstGeom>
          </p:spPr>
        </p:pic>
        <p:pic>
          <p:nvPicPr>
            <p:cNvPr id="35" name="Graphic 34">
              <a:extLst>
                <a:ext uri="{FF2B5EF4-FFF2-40B4-BE49-F238E27FC236}">
                  <a16:creationId xmlns:a16="http://schemas.microsoft.com/office/drawing/2014/main" id="{8F91D43F-7C38-4BC3-A6AC-0620D2341DCF}"/>
                </a:ext>
              </a:extLst>
            </p:cNvPr>
            <p:cNvPicPr>
              <a:picLocks noChangeAspect="1"/>
            </p:cNvPicPr>
            <p:nvPr userDrawn="1"/>
          </p:nvPicPr>
          <p:blipFill>
            <a:blip r:embed="rId2"/>
            <a:stretch>
              <a:fillRect/>
            </a:stretch>
          </p:blipFill>
          <p:spPr>
            <a:xfrm rot="1789776">
              <a:off x="1980952" y="2061094"/>
              <a:ext cx="5246055" cy="5246055"/>
            </a:xfrm>
            <a:prstGeom prst="rect">
              <a:avLst/>
            </a:prstGeom>
          </p:spPr>
        </p:pic>
      </p:grpSp>
      <p:sp>
        <p:nvSpPr>
          <p:cNvPr id="100" name="Body Level One…"/>
          <p:cNvSpPr txBox="1">
            <a:spLocks noGrp="1"/>
          </p:cNvSpPr>
          <p:nvPr>
            <p:ph type="body" sz="quarter" idx="1"/>
          </p:nvPr>
        </p:nvSpPr>
        <p:spPr>
          <a:xfrm>
            <a:off x="406400" y="152400"/>
            <a:ext cx="8432800" cy="1143000"/>
          </a:xfrm>
          <a:prstGeom prst="rect">
            <a:avLst/>
          </a:prstGeom>
        </p:spPr>
        <p:txBody>
          <a:bodyPr anchor="ctr">
            <a:normAutofit/>
          </a:bodyPr>
          <a:lstStyle>
            <a:lvl1pPr indent="-685800">
              <a:lnSpc>
                <a:spcPts val="3600"/>
              </a:lnSpc>
              <a:spcBef>
                <a:spcPts val="0"/>
              </a:spcBef>
              <a:buSzTx/>
              <a:buFontTx/>
              <a:buNone/>
              <a:defRPr sz="3600" b="1" spc="-150"/>
            </a:lvl1pPr>
            <a:lvl2pPr marL="824592" indent="-367392">
              <a:lnSpc>
                <a:spcPts val="3600"/>
              </a:lnSpc>
              <a:spcBef>
                <a:spcPts val="0"/>
              </a:spcBef>
              <a:buFontTx/>
              <a:defRPr sz="3600" b="1" spc="-150"/>
            </a:lvl2pPr>
            <a:lvl3pPr marL="1257300" indent="-342900">
              <a:lnSpc>
                <a:spcPts val="3600"/>
              </a:lnSpc>
              <a:spcBef>
                <a:spcPts val="0"/>
              </a:spcBef>
              <a:buFontTx/>
              <a:defRPr sz="3600" b="1" spc="-150"/>
            </a:lvl3pPr>
            <a:lvl4pPr marL="1783079" indent="-411479">
              <a:lnSpc>
                <a:spcPts val="3600"/>
              </a:lnSpc>
              <a:spcBef>
                <a:spcPts val="0"/>
              </a:spcBef>
              <a:buFontTx/>
              <a:defRPr sz="3600" b="1" spc="-150"/>
            </a:lvl4pPr>
            <a:lvl5pPr marL="2240279" indent="-411479">
              <a:lnSpc>
                <a:spcPts val="3600"/>
              </a:lnSpc>
              <a:spcBef>
                <a:spcPts val="0"/>
              </a:spcBef>
              <a:buFontTx/>
              <a:defRPr sz="3600" b="1" spc="-150"/>
            </a:lvl5pPr>
          </a:lstStyle>
          <a:p>
            <a:r>
              <a:t>Body Level One</a:t>
            </a:r>
          </a:p>
          <a:p>
            <a:pPr lvl="1"/>
            <a:r>
              <a:t>Body Level Two</a:t>
            </a:r>
          </a:p>
          <a:p>
            <a:pPr lvl="2"/>
            <a:r>
              <a:t>Body Level Three</a:t>
            </a:r>
          </a:p>
          <a:p>
            <a:pPr lvl="3"/>
            <a:r>
              <a:t>Body Level Four</a:t>
            </a:r>
          </a:p>
          <a:p>
            <a:pPr lvl="4"/>
            <a:r>
              <a:t>Body Level Five</a:t>
            </a:r>
          </a:p>
        </p:txBody>
      </p:sp>
      <p:sp>
        <p:nvSpPr>
          <p:cNvPr id="102" name="Slide Number"/>
          <p:cNvSpPr txBox="1">
            <a:spLocks noGrp="1"/>
          </p:cNvSpPr>
          <p:nvPr>
            <p:ph type="sldNum" sz="quarter" idx="2"/>
          </p:nvPr>
        </p:nvSpPr>
        <p:spPr>
          <a:xfrm>
            <a:off x="5892800" y="6172201"/>
            <a:ext cx="2844800" cy="368301"/>
          </a:xfrm>
          <a:prstGeom prst="rect">
            <a:avLst/>
          </a:prstGeom>
        </p:spPr>
        <p:txBody>
          <a:bodyPr/>
          <a:lstStyle/>
          <a:p>
            <a:fld id="{86CB4B4D-7CA3-9044-876B-883B54F8677D}" type="slidenum">
              <a:rPr>
                <a:solidFill>
                  <a:prstClr val="black"/>
                </a:solidFill>
              </a:rPr>
              <a:pPr/>
              <a:t>‹#›</a:t>
            </a:fld>
            <a:endParaRPr>
              <a:solidFill>
                <a:prstClr val="black"/>
              </a:solidFill>
            </a:endParaRPr>
          </a:p>
        </p:txBody>
      </p:sp>
    </p:spTree>
    <p:extLst>
      <p:ext uri="{BB962C8B-B14F-4D97-AF65-F5344CB8AC3E}">
        <p14:creationId xmlns:p14="http://schemas.microsoft.com/office/powerpoint/2010/main" val="178551615"/>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6.xml"/><Relationship Id="rId18" Type="http://schemas.openxmlformats.org/officeDocument/2006/relationships/slideLayout" Target="../slideLayouts/slideLayout31.xml"/><Relationship Id="rId26" Type="http://schemas.openxmlformats.org/officeDocument/2006/relationships/slideLayout" Target="../slideLayouts/slideLayout39.xml"/><Relationship Id="rId39" Type="http://schemas.openxmlformats.org/officeDocument/2006/relationships/slideLayout" Target="../slideLayouts/slideLayout52.xml"/><Relationship Id="rId21" Type="http://schemas.openxmlformats.org/officeDocument/2006/relationships/slideLayout" Target="../slideLayouts/slideLayout34.xml"/><Relationship Id="rId34" Type="http://schemas.openxmlformats.org/officeDocument/2006/relationships/slideLayout" Target="../slideLayouts/slideLayout47.xml"/><Relationship Id="rId42" Type="http://schemas.openxmlformats.org/officeDocument/2006/relationships/image" Target="../media/image4.jpg"/><Relationship Id="rId7" Type="http://schemas.openxmlformats.org/officeDocument/2006/relationships/slideLayout" Target="../slideLayouts/slideLayout20.xml"/><Relationship Id="rId2" Type="http://schemas.openxmlformats.org/officeDocument/2006/relationships/slideLayout" Target="../slideLayouts/slideLayout15.xml"/><Relationship Id="rId16" Type="http://schemas.openxmlformats.org/officeDocument/2006/relationships/slideLayout" Target="../slideLayouts/slideLayout29.xml"/><Relationship Id="rId20" Type="http://schemas.openxmlformats.org/officeDocument/2006/relationships/slideLayout" Target="../slideLayouts/slideLayout33.xml"/><Relationship Id="rId29" Type="http://schemas.openxmlformats.org/officeDocument/2006/relationships/slideLayout" Target="../slideLayouts/slideLayout42.xml"/><Relationship Id="rId41" Type="http://schemas.openxmlformats.org/officeDocument/2006/relationships/theme" Target="../theme/theme2.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24" Type="http://schemas.openxmlformats.org/officeDocument/2006/relationships/slideLayout" Target="../slideLayouts/slideLayout37.xml"/><Relationship Id="rId32" Type="http://schemas.openxmlformats.org/officeDocument/2006/relationships/slideLayout" Target="../slideLayouts/slideLayout45.xml"/><Relationship Id="rId37" Type="http://schemas.openxmlformats.org/officeDocument/2006/relationships/slideLayout" Target="../slideLayouts/slideLayout50.xml"/><Relationship Id="rId40" Type="http://schemas.openxmlformats.org/officeDocument/2006/relationships/slideLayout" Target="../slideLayouts/slideLayout53.xml"/><Relationship Id="rId5" Type="http://schemas.openxmlformats.org/officeDocument/2006/relationships/slideLayout" Target="../slideLayouts/slideLayout18.xml"/><Relationship Id="rId15" Type="http://schemas.openxmlformats.org/officeDocument/2006/relationships/slideLayout" Target="../slideLayouts/slideLayout28.xml"/><Relationship Id="rId23" Type="http://schemas.openxmlformats.org/officeDocument/2006/relationships/slideLayout" Target="../slideLayouts/slideLayout36.xml"/><Relationship Id="rId28" Type="http://schemas.openxmlformats.org/officeDocument/2006/relationships/slideLayout" Target="../slideLayouts/slideLayout41.xml"/><Relationship Id="rId36" Type="http://schemas.openxmlformats.org/officeDocument/2006/relationships/slideLayout" Target="../slideLayouts/slideLayout49.xml"/><Relationship Id="rId10" Type="http://schemas.openxmlformats.org/officeDocument/2006/relationships/slideLayout" Target="../slideLayouts/slideLayout23.xml"/><Relationship Id="rId19" Type="http://schemas.openxmlformats.org/officeDocument/2006/relationships/slideLayout" Target="../slideLayouts/slideLayout32.xml"/><Relationship Id="rId31" Type="http://schemas.openxmlformats.org/officeDocument/2006/relationships/slideLayout" Target="../slideLayouts/slideLayout44.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 Id="rId22" Type="http://schemas.openxmlformats.org/officeDocument/2006/relationships/slideLayout" Target="../slideLayouts/slideLayout35.xml"/><Relationship Id="rId27" Type="http://schemas.openxmlformats.org/officeDocument/2006/relationships/slideLayout" Target="../slideLayouts/slideLayout40.xml"/><Relationship Id="rId30" Type="http://schemas.openxmlformats.org/officeDocument/2006/relationships/slideLayout" Target="../slideLayouts/slideLayout43.xml"/><Relationship Id="rId35" Type="http://schemas.openxmlformats.org/officeDocument/2006/relationships/slideLayout" Target="../slideLayouts/slideLayout48.xml"/><Relationship Id="rId8" Type="http://schemas.openxmlformats.org/officeDocument/2006/relationships/slideLayout" Target="../slideLayouts/slideLayout21.xml"/><Relationship Id="rId3" Type="http://schemas.openxmlformats.org/officeDocument/2006/relationships/slideLayout" Target="../slideLayouts/slideLayout16.xml"/><Relationship Id="rId12" Type="http://schemas.openxmlformats.org/officeDocument/2006/relationships/slideLayout" Target="../slideLayouts/slideLayout25.xml"/><Relationship Id="rId17" Type="http://schemas.openxmlformats.org/officeDocument/2006/relationships/slideLayout" Target="../slideLayouts/slideLayout30.xml"/><Relationship Id="rId25" Type="http://schemas.openxmlformats.org/officeDocument/2006/relationships/slideLayout" Target="../slideLayouts/slideLayout38.xml"/><Relationship Id="rId33" Type="http://schemas.openxmlformats.org/officeDocument/2006/relationships/slideLayout" Target="../slideLayouts/slideLayout46.xml"/><Relationship Id="rId38" Type="http://schemas.openxmlformats.org/officeDocument/2006/relationships/slideLayout" Target="../slideLayouts/slideLayout5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3CF500-1D26-44BC-BC6C-88E98416E58A}" type="datetimeFigureOut">
              <a:rPr lang="en-IN" smtClean="0">
                <a:solidFill>
                  <a:prstClr val="black">
                    <a:tint val="75000"/>
                  </a:prstClr>
                </a:solidFill>
              </a:rPr>
              <a:pPr/>
              <a:t>08-05-2026</a:t>
            </a:fld>
            <a:endParaRPr lang="en-IN">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714EA2-AE2F-48FB-9E42-953B9A61852C}"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87259094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6175248" y="6550153"/>
            <a:ext cx="3105573" cy="48895"/>
          </a:xfrm>
          <a:custGeom>
            <a:avLst/>
            <a:gdLst/>
            <a:ahLst/>
            <a:cxnLst/>
            <a:rect l="l" t="t" r="r" b="b"/>
            <a:pathLst>
              <a:path w="2329179" h="48895">
                <a:moveTo>
                  <a:pt x="2328671" y="0"/>
                </a:moveTo>
                <a:lnTo>
                  <a:pt x="0" y="0"/>
                </a:lnTo>
                <a:lnTo>
                  <a:pt x="0" y="48768"/>
                </a:lnTo>
                <a:lnTo>
                  <a:pt x="2328671" y="48768"/>
                </a:lnTo>
                <a:lnTo>
                  <a:pt x="2328671" y="0"/>
                </a:lnTo>
                <a:close/>
              </a:path>
            </a:pathLst>
          </a:custGeom>
          <a:solidFill>
            <a:srgbClr val="76C2E4"/>
          </a:solidFill>
        </p:spPr>
        <p:txBody>
          <a:bodyPr wrap="square" lIns="0" tIns="0" rIns="0" bIns="0" rtlCol="0"/>
          <a:lstStyle/>
          <a:p>
            <a:endParaRPr kern="0">
              <a:solidFill>
                <a:sysClr val="windowText" lastClr="000000"/>
              </a:solidFill>
            </a:endParaRPr>
          </a:p>
        </p:txBody>
      </p:sp>
      <p:sp>
        <p:nvSpPr>
          <p:cNvPr id="17" name="bg object 17"/>
          <p:cNvSpPr/>
          <p:nvPr/>
        </p:nvSpPr>
        <p:spPr>
          <a:xfrm>
            <a:off x="9211056" y="6550152"/>
            <a:ext cx="2981113" cy="45720"/>
          </a:xfrm>
          <a:custGeom>
            <a:avLst/>
            <a:gdLst/>
            <a:ahLst/>
            <a:cxnLst/>
            <a:rect l="l" t="t" r="r" b="b"/>
            <a:pathLst>
              <a:path w="2235834" h="45720">
                <a:moveTo>
                  <a:pt x="2235707" y="0"/>
                </a:moveTo>
                <a:lnTo>
                  <a:pt x="0" y="0"/>
                </a:lnTo>
                <a:lnTo>
                  <a:pt x="0" y="45720"/>
                </a:lnTo>
                <a:lnTo>
                  <a:pt x="2235707" y="45720"/>
                </a:lnTo>
                <a:lnTo>
                  <a:pt x="2235707" y="0"/>
                </a:lnTo>
                <a:close/>
              </a:path>
            </a:pathLst>
          </a:custGeom>
          <a:solidFill>
            <a:srgbClr val="E21C23"/>
          </a:solidFill>
        </p:spPr>
        <p:txBody>
          <a:bodyPr wrap="square" lIns="0" tIns="0" rIns="0" bIns="0" rtlCol="0"/>
          <a:lstStyle/>
          <a:p>
            <a:endParaRPr kern="0">
              <a:solidFill>
                <a:sysClr val="windowText" lastClr="000000"/>
              </a:solidFill>
            </a:endParaRPr>
          </a:p>
        </p:txBody>
      </p:sp>
      <p:sp>
        <p:nvSpPr>
          <p:cNvPr id="18" name="bg object 18"/>
          <p:cNvSpPr/>
          <p:nvPr/>
        </p:nvSpPr>
        <p:spPr>
          <a:xfrm>
            <a:off x="2779776" y="6550153"/>
            <a:ext cx="3440853" cy="48895"/>
          </a:xfrm>
          <a:custGeom>
            <a:avLst/>
            <a:gdLst/>
            <a:ahLst/>
            <a:cxnLst/>
            <a:rect l="l" t="t" r="r" b="b"/>
            <a:pathLst>
              <a:path w="2580640" h="48895">
                <a:moveTo>
                  <a:pt x="2580132" y="0"/>
                </a:moveTo>
                <a:lnTo>
                  <a:pt x="0" y="0"/>
                </a:lnTo>
                <a:lnTo>
                  <a:pt x="0" y="48768"/>
                </a:lnTo>
                <a:lnTo>
                  <a:pt x="2580132" y="48768"/>
                </a:lnTo>
                <a:lnTo>
                  <a:pt x="2580132" y="0"/>
                </a:lnTo>
                <a:close/>
              </a:path>
            </a:pathLst>
          </a:custGeom>
          <a:solidFill>
            <a:srgbClr val="FBAF17"/>
          </a:solidFill>
        </p:spPr>
        <p:txBody>
          <a:bodyPr wrap="square" lIns="0" tIns="0" rIns="0" bIns="0" rtlCol="0"/>
          <a:lstStyle/>
          <a:p>
            <a:endParaRPr kern="0">
              <a:solidFill>
                <a:sysClr val="windowText" lastClr="000000"/>
              </a:solidFill>
            </a:endParaRPr>
          </a:p>
        </p:txBody>
      </p:sp>
      <p:sp>
        <p:nvSpPr>
          <p:cNvPr id="19" name="bg object 19"/>
          <p:cNvSpPr/>
          <p:nvPr/>
        </p:nvSpPr>
        <p:spPr>
          <a:xfrm>
            <a:off x="5994400" y="6553200"/>
            <a:ext cx="3105573"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endParaRPr kern="0">
              <a:solidFill>
                <a:sysClr val="windowText" lastClr="000000"/>
              </a:solidFill>
            </a:endParaRPr>
          </a:p>
        </p:txBody>
      </p:sp>
      <p:sp>
        <p:nvSpPr>
          <p:cNvPr id="20" name="bg object 20"/>
          <p:cNvSpPr/>
          <p:nvPr/>
        </p:nvSpPr>
        <p:spPr>
          <a:xfrm>
            <a:off x="2844800" y="6553200"/>
            <a:ext cx="3149600" cy="45720"/>
          </a:xfrm>
          <a:custGeom>
            <a:avLst/>
            <a:gdLst/>
            <a:ahLst/>
            <a:cxnLst/>
            <a:rect l="l" t="t" r="r" b="b"/>
            <a:pathLst>
              <a:path w="2362200" h="45720">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endParaRPr kern="0">
              <a:solidFill>
                <a:sysClr val="windowText" lastClr="000000"/>
              </a:solidFill>
            </a:endParaRPr>
          </a:p>
        </p:txBody>
      </p:sp>
      <p:sp>
        <p:nvSpPr>
          <p:cNvPr id="21" name="bg object 21"/>
          <p:cNvSpPr/>
          <p:nvPr/>
        </p:nvSpPr>
        <p:spPr>
          <a:xfrm>
            <a:off x="9087104" y="6553200"/>
            <a:ext cx="3105573"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endParaRPr kern="0">
              <a:solidFill>
                <a:sysClr val="windowText" lastClr="000000"/>
              </a:solidFill>
            </a:endParaRPr>
          </a:p>
        </p:txBody>
      </p:sp>
      <p:pic>
        <p:nvPicPr>
          <p:cNvPr id="22" name="bg object 22"/>
          <p:cNvPicPr/>
          <p:nvPr/>
        </p:nvPicPr>
        <p:blipFill>
          <a:blip r:embed="rId42" cstate="print"/>
          <a:stretch>
            <a:fillRect/>
          </a:stretch>
        </p:blipFill>
        <p:spPr>
          <a:xfrm>
            <a:off x="8839201" y="0"/>
            <a:ext cx="2926079" cy="691896"/>
          </a:xfrm>
          <a:prstGeom prst="rect">
            <a:avLst/>
          </a:prstGeom>
        </p:spPr>
      </p:pic>
      <p:sp>
        <p:nvSpPr>
          <p:cNvPr id="23" name="bg object 23"/>
          <p:cNvSpPr/>
          <p:nvPr/>
        </p:nvSpPr>
        <p:spPr>
          <a:xfrm>
            <a:off x="3149600" y="1295400"/>
            <a:ext cx="3105573"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endParaRPr kern="0">
              <a:solidFill>
                <a:sysClr val="windowText" lastClr="000000"/>
              </a:solidFill>
            </a:endParaRPr>
          </a:p>
        </p:txBody>
      </p:sp>
      <p:sp>
        <p:nvSpPr>
          <p:cNvPr id="24" name="bg object 24"/>
          <p:cNvSpPr/>
          <p:nvPr/>
        </p:nvSpPr>
        <p:spPr>
          <a:xfrm>
            <a:off x="0" y="1295400"/>
            <a:ext cx="3149600" cy="45720"/>
          </a:xfrm>
          <a:custGeom>
            <a:avLst/>
            <a:gdLst/>
            <a:ahLst/>
            <a:cxnLst/>
            <a:rect l="l" t="t" r="r" b="b"/>
            <a:pathLst>
              <a:path w="2362200" h="45719">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endParaRPr kern="0">
              <a:solidFill>
                <a:sysClr val="windowText" lastClr="000000"/>
              </a:solidFill>
            </a:endParaRPr>
          </a:p>
        </p:txBody>
      </p:sp>
      <p:sp>
        <p:nvSpPr>
          <p:cNvPr id="25" name="bg object 25"/>
          <p:cNvSpPr/>
          <p:nvPr/>
        </p:nvSpPr>
        <p:spPr>
          <a:xfrm>
            <a:off x="6242304" y="1295400"/>
            <a:ext cx="3105573"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endParaRPr kern="0">
              <a:solidFill>
                <a:sysClr val="windowText" lastClr="000000"/>
              </a:solidFill>
            </a:endParaRPr>
          </a:p>
        </p:txBody>
      </p:sp>
      <p:sp>
        <p:nvSpPr>
          <p:cNvPr id="8" name="Title Placeholder 7"/>
          <p:cNvSpPr>
            <a:spLocks noGrp="1"/>
          </p:cNvSpPr>
          <p:nvPr>
            <p:ph type="title"/>
          </p:nvPr>
        </p:nvSpPr>
        <p:spPr>
          <a:xfrm>
            <a:off x="231987" y="32163"/>
            <a:ext cx="10515600" cy="1325563"/>
          </a:xfrm>
          <a:prstGeom prst="rect">
            <a:avLst/>
          </a:prstGeom>
        </p:spPr>
        <p:txBody>
          <a:bodyPr vert="horz" lIns="91440" tIns="45720" rIns="91440" bIns="45720" rtlCol="0" anchor="ctr">
            <a:normAutofit/>
          </a:bodyPr>
          <a:lstStyle/>
          <a:p>
            <a:r>
              <a:rPr lang="en-US" dirty="0"/>
              <a:t>Click to edit Master title style</a:t>
            </a:r>
            <a:endParaRPr lang="en-IN" dirty="0"/>
          </a:p>
        </p:txBody>
      </p:sp>
      <p:sp>
        <p:nvSpPr>
          <p:cNvPr id="9" name="Text Placeholder 8"/>
          <p:cNvSpPr>
            <a:spLocks noGrp="1"/>
          </p:cNvSpPr>
          <p:nvPr>
            <p:ph type="body" idx="1"/>
          </p:nvPr>
        </p:nvSpPr>
        <p:spPr>
          <a:xfrm>
            <a:off x="406400" y="1676400"/>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238215287"/>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88" r:id="rId14"/>
    <p:sldLayoutId id="2147483689" r:id="rId15"/>
    <p:sldLayoutId id="2147483690" r:id="rId16"/>
    <p:sldLayoutId id="2147483691" r:id="rId17"/>
    <p:sldLayoutId id="2147483692" r:id="rId18"/>
    <p:sldLayoutId id="2147483693" r:id="rId19"/>
    <p:sldLayoutId id="2147483694" r:id="rId20"/>
    <p:sldLayoutId id="2147483695" r:id="rId21"/>
    <p:sldLayoutId id="2147483696" r:id="rId22"/>
    <p:sldLayoutId id="2147483697" r:id="rId23"/>
    <p:sldLayoutId id="2147483698" r:id="rId24"/>
    <p:sldLayoutId id="2147483699" r:id="rId25"/>
    <p:sldLayoutId id="2147483700" r:id="rId26"/>
    <p:sldLayoutId id="2147483701" r:id="rId27"/>
    <p:sldLayoutId id="2147483702" r:id="rId28"/>
    <p:sldLayoutId id="2147483703" r:id="rId29"/>
    <p:sldLayoutId id="2147483704" r:id="rId30"/>
    <p:sldLayoutId id="2147483705" r:id="rId31"/>
    <p:sldLayoutId id="2147483706" r:id="rId32"/>
    <p:sldLayoutId id="2147483707" r:id="rId33"/>
    <p:sldLayoutId id="2147483708" r:id="rId34"/>
    <p:sldLayoutId id="2147483709" r:id="rId35"/>
    <p:sldLayoutId id="2147483710" r:id="rId36"/>
    <p:sldLayoutId id="2147483711" r:id="rId37"/>
    <p:sldLayoutId id="2147483712" r:id="rId38"/>
    <p:sldLayoutId id="2147483713" r:id="rId39"/>
    <p:sldLayoutId id="2147483714" r:id="rId40"/>
  </p:sldLayoutIdLst>
  <p:txStyles>
    <p:titleStyle>
      <a:lvl1pPr>
        <a:defRPr sz="3600">
          <a:latin typeface="Cambria" panose="02040503050406030204" pitchFamily="18" charset="0"/>
          <a:ea typeface="Cambria" panose="02040503050406030204" pitchFamily="18" charset="0"/>
          <a:cs typeface="+mj-cs"/>
        </a:defRPr>
      </a:lvl1pPr>
    </p:titleStyle>
    <p:bodyStyle>
      <a:lvl1pPr marL="0">
        <a:defRPr sz="2400">
          <a:latin typeface="Cambria" panose="02040503050406030204" pitchFamily="18" charset="0"/>
          <a:ea typeface="Cambria" panose="02040503050406030204" pitchFamily="18" charset="0"/>
          <a:cs typeface="+mn-cs"/>
        </a:defRPr>
      </a:lvl1pPr>
      <a:lvl2pPr marL="457200">
        <a:defRPr sz="2400">
          <a:latin typeface="Cambria" panose="02040503050406030204" pitchFamily="18" charset="0"/>
          <a:ea typeface="Cambria" panose="02040503050406030204" pitchFamily="18" charset="0"/>
          <a:cs typeface="+mn-cs"/>
        </a:defRPr>
      </a:lvl2pPr>
      <a:lvl3pPr marL="914400">
        <a:defRPr sz="2400">
          <a:latin typeface="Cambria" panose="02040503050406030204" pitchFamily="18" charset="0"/>
          <a:ea typeface="Cambria" panose="02040503050406030204" pitchFamily="18" charset="0"/>
          <a:cs typeface="+mn-cs"/>
        </a:defRPr>
      </a:lvl3pPr>
      <a:lvl4pPr marL="1371600">
        <a:defRPr sz="2400">
          <a:latin typeface="Cambria" panose="02040503050406030204" pitchFamily="18" charset="0"/>
          <a:ea typeface="Cambria" panose="02040503050406030204" pitchFamily="18" charset="0"/>
          <a:cs typeface="+mn-cs"/>
        </a:defRPr>
      </a:lvl4pPr>
      <a:lvl5pPr marL="1828800">
        <a:defRPr sz="2400">
          <a:latin typeface="Cambria" panose="02040503050406030204" pitchFamily="18" charset="0"/>
          <a:ea typeface="Cambria" panose="02040503050406030204" pitchFamily="18" charset="0"/>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Layout" Target="../slideLayouts/slideLayout15.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xml"/><Relationship Id="rId1" Type="http://schemas.openxmlformats.org/officeDocument/2006/relationships/slideLayout" Target="../slideLayouts/slideLayout15.xml"/><Relationship Id="rId5" Type="http://schemas.openxmlformats.org/officeDocument/2006/relationships/image" Target="../media/image22.png"/><Relationship Id="rId4" Type="http://schemas.openxmlformats.org/officeDocument/2006/relationships/image" Target="../media/image21.png"/></Relationships>
</file>

<file path=ppt/slides/_rels/slide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xml"/><Relationship Id="rId1" Type="http://schemas.openxmlformats.org/officeDocument/2006/relationships/slideLayout" Target="../slideLayouts/slideLayout15.xml"/><Relationship Id="rId4" Type="http://schemas.openxmlformats.org/officeDocument/2006/relationships/image" Target="../media/image2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notesSlide" Target="../notesSlides/notesSlide6.xml"/><Relationship Id="rId1" Type="http://schemas.openxmlformats.org/officeDocument/2006/relationships/slideLayout" Target="../slideLayouts/slideLayout15.xml"/><Relationship Id="rId6" Type="http://schemas.openxmlformats.org/officeDocument/2006/relationships/image" Target="../media/image31.png"/><Relationship Id="rId11" Type="http://schemas.openxmlformats.org/officeDocument/2006/relationships/image" Target="../media/image36.png"/><Relationship Id="rId5" Type="http://schemas.openxmlformats.org/officeDocument/2006/relationships/image" Target="../media/image30.png"/><Relationship Id="rId10" Type="http://schemas.openxmlformats.org/officeDocument/2006/relationships/image" Target="../media/image35.png"/><Relationship Id="rId4" Type="http://schemas.openxmlformats.org/officeDocument/2006/relationships/image" Target="../media/image29.png"/><Relationship Id="rId9" Type="http://schemas.openxmlformats.org/officeDocument/2006/relationships/image" Target="../media/image34.png"/></Relationships>
</file>

<file path=ppt/slides/_rels/slide1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7.xml"/><Relationship Id="rId1" Type="http://schemas.openxmlformats.org/officeDocument/2006/relationships/slideLayout" Target="../slideLayouts/slideLayout15.xml"/><Relationship Id="rId5" Type="http://schemas.openxmlformats.org/officeDocument/2006/relationships/image" Target="../media/image39.png"/><Relationship Id="rId4" Type="http://schemas.openxmlformats.org/officeDocument/2006/relationships/image" Target="../media/image38.png"/></Relationships>
</file>

<file path=ppt/slides/_rels/slide1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15.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16.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9.xml"/><Relationship Id="rId1" Type="http://schemas.openxmlformats.org/officeDocument/2006/relationships/slideLayout" Target="../slideLayouts/slideLayout15.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2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0.xml"/><Relationship Id="rId1" Type="http://schemas.openxmlformats.org/officeDocument/2006/relationships/slideLayout" Target="../slideLayouts/slideLayout15.xml"/><Relationship Id="rId5" Type="http://schemas.openxmlformats.org/officeDocument/2006/relationships/image" Target="../media/image52.png"/><Relationship Id="rId4" Type="http://schemas.openxmlformats.org/officeDocument/2006/relationships/image" Target="../media/image51.png"/></Relationships>
</file>

<file path=ppt/slides/_rels/slide21.xml.rels><?xml version="1.0" encoding="UTF-8" standalone="yes"?>
<Relationships xmlns="http://schemas.openxmlformats.org/package/2006/relationships"><Relationship Id="rId3" Type="http://schemas.openxmlformats.org/officeDocument/2006/relationships/hyperlink" Target="https://magazine.sebastianraschka.com/p/from-gpt-2-to-gpt-oss-analyzing-the" TargetMode="External"/><Relationship Id="rId2" Type="http://schemas.openxmlformats.org/officeDocument/2006/relationships/notesSlide" Target="../notesSlides/notesSlide11.xml"/><Relationship Id="rId1" Type="http://schemas.openxmlformats.org/officeDocument/2006/relationships/slideLayout" Target="../slideLayouts/slideLayout15.xml"/><Relationship Id="rId5" Type="http://schemas.openxmlformats.org/officeDocument/2006/relationships/image" Target="../media/image54.png"/><Relationship Id="rId4" Type="http://schemas.openxmlformats.org/officeDocument/2006/relationships/image" Target="../media/image53.png"/></Relationships>
</file>

<file path=ppt/slides/_rels/slide2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2.xml"/><Relationship Id="rId1" Type="http://schemas.openxmlformats.org/officeDocument/2006/relationships/slideLayout" Target="../slideLayouts/slideLayout15.xml"/><Relationship Id="rId6" Type="http://schemas.openxmlformats.org/officeDocument/2006/relationships/hyperlink" Target="https://magazine.sebastianraschka.com/p/from-gpt-2-to-gpt-oss-analyzing-the" TargetMode="External"/><Relationship Id="rId5" Type="http://schemas.openxmlformats.org/officeDocument/2006/relationships/image" Target="../media/image57.png"/><Relationship Id="rId4" Type="http://schemas.openxmlformats.org/officeDocument/2006/relationships/image" Target="../media/image5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4.xml"/><Relationship Id="rId1" Type="http://schemas.openxmlformats.org/officeDocument/2006/relationships/slideLayout" Target="../slideLayouts/slideLayout15.xml"/><Relationship Id="rId4" Type="http://schemas.openxmlformats.org/officeDocument/2006/relationships/image" Target="../media/image60.png"/></Relationships>
</file>

<file path=ppt/slides/_rels/slide26.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15.xml"/><Relationship Id="rId5" Type="http://schemas.openxmlformats.org/officeDocument/2006/relationships/image" Target="../media/image67.png"/><Relationship Id="rId4" Type="http://schemas.openxmlformats.org/officeDocument/2006/relationships/image" Target="../media/image66.png"/></Relationships>
</file>

<file path=ppt/slides/_rels/slide29.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15.xml"/><Relationship Id="rId1" Type="http://schemas.openxmlformats.org/officeDocument/2006/relationships/slideLayout" Target="../slideLayouts/slideLayout15.xml"/><Relationship Id="rId5" Type="http://schemas.openxmlformats.org/officeDocument/2006/relationships/image" Target="../media/image70.png"/><Relationship Id="rId4" Type="http://schemas.openxmlformats.org/officeDocument/2006/relationships/image" Target="../media/image69.png"/></Relationships>
</file>

<file path=ppt/slides/_rels/slide30.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3" Type="http://schemas.openxmlformats.org/officeDocument/2006/relationships/hyperlink" Target="https://magazine.sebastianraschka.com/p/the-big-llm-architecture-comparison" TargetMode="External"/><Relationship Id="rId2" Type="http://schemas.openxmlformats.org/officeDocument/2006/relationships/hyperlink" Target="https://sebastianraschka.com/llms-from-scratch/ch04/" TargetMode="External"/><Relationship Id="rId1" Type="http://schemas.openxmlformats.org/officeDocument/2006/relationships/slideLayout" Target="../slideLayouts/slideLayout15.xml"/><Relationship Id="rId6" Type="http://schemas.openxmlformats.org/officeDocument/2006/relationships/hyperlink" Target="https://www.youtube.com/watch?v=tEUpWgy-Tuo&amp;list=PLYnrabpSIM-93QtJmGnQcJRdiqMBEwZ7_&amp;index=5" TargetMode="External"/><Relationship Id="rId5" Type="http://schemas.openxmlformats.org/officeDocument/2006/relationships/hyperlink" Target="https://newsletter.maartengrootendorst.com/p/a-visual-guide-to-mixture-of-experts" TargetMode="External"/><Relationship Id="rId4" Type="http://schemas.openxmlformats.org/officeDocument/2006/relationships/hyperlink" Target="https://sebastianraschka.com/llm-architecture-gallery/"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15.xml"/></Relationships>
</file>

<file path=ppt/slides/_rels/slide41.xml.rels><?xml version="1.0" encoding="UTF-8" standalone="yes"?>
<Relationships xmlns="http://schemas.openxmlformats.org/package/2006/relationships"><Relationship Id="rId3" Type="http://schemas.openxmlformats.org/officeDocument/2006/relationships/hyperlink" Target="https://machinelearningmastery.com/a-gentle-introduction-to-positional-encoding-in-transformer-models-part-1/" TargetMode="External"/><Relationship Id="rId2" Type="http://schemas.openxmlformats.org/officeDocument/2006/relationships/image" Target="../media/image78.png"/><Relationship Id="rId1" Type="http://schemas.openxmlformats.org/officeDocument/2006/relationships/slideLayout" Target="../slideLayouts/slideLayout19.xml"/><Relationship Id="rId4" Type="http://schemas.openxmlformats.org/officeDocument/2006/relationships/image" Target="../media/image79.emf"/></Relationships>
</file>

<file path=ppt/slides/_rels/slide42.xml.rels><?xml version="1.0" encoding="UTF-8" standalone="yes"?>
<Relationships xmlns="http://schemas.openxmlformats.org/package/2006/relationships"><Relationship Id="rId3" Type="http://schemas.openxmlformats.org/officeDocument/2006/relationships/image" Target="../media/image79.emf"/><Relationship Id="rId2" Type="http://schemas.openxmlformats.org/officeDocument/2006/relationships/image" Target="../media/image103.png"/><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439" name="Watermark 14439"/>
          <p:cNvPicPr>
            <a:picLocks noChangeAspect="1"/>
          </p:cNvPicPr>
          <p:nvPr/>
        </p:nvPicPr>
        <p:blipFill>
          <a:blip>
            <a:extLst>
              <a:ext uri="{96DAC541-7B7A-43D3-8B79-37D633B846F1}">
                <asvg:svgBlip xmlns:asvg="http://schemas.microsoft.com/office/drawing/2016/SVG/main" r:embed="rId2"/>
              </a:ext>
            </a:extLst>
          </a:blip>
          <a:stretch>
            <a:fillRect/>
          </a:stretch>
        </p:blipFill>
        <p:spPr>
          <a:xfrm rot="1789776">
            <a:off x="2641269" y="2061094"/>
            <a:ext cx="5246055" cy="5246055"/>
          </a:xfrm>
          <a:prstGeom prst="rect">
            <a:avLst/>
          </a:prstGeom>
        </p:spPr>
      </p:pic>
      <p:sp>
        <p:nvSpPr>
          <p:cNvPr id="5" name="Title 4"/>
          <p:cNvSpPr>
            <a:spLocks noGrp="1"/>
          </p:cNvSpPr>
          <p:nvPr>
            <p:ph type="title"/>
          </p:nvPr>
        </p:nvSpPr>
        <p:spPr>
          <a:xfrm>
            <a:off x="4438650" y="3714750"/>
            <a:ext cx="4629150" cy="1143000"/>
          </a:xfrm>
        </p:spPr>
        <p:txBody>
          <a:bodyPr/>
          <a:lstStyle/>
          <a:p>
            <a:pPr>
              <a:defRPr/>
            </a:pPr>
            <a:br>
              <a:rPr lang="en-US" sz="3000" dirty="0">
                <a:latin typeface="Times New Roman" panose="02020603050405020304" pitchFamily="18" charset="0"/>
                <a:cs typeface="Times New Roman" panose="02020603050405020304" pitchFamily="18" charset="0"/>
              </a:rPr>
            </a:br>
            <a:endParaRPr lang="en-US" sz="3000" dirty="0">
              <a:latin typeface="Times New Roman" panose="02020603050405020304" pitchFamily="18" charset="0"/>
              <a:cs typeface="Times New Roman" panose="02020603050405020304" pitchFamily="18" charset="0"/>
            </a:endParaRPr>
          </a:p>
        </p:txBody>
      </p:sp>
      <p:sp>
        <p:nvSpPr>
          <p:cNvPr id="14339" name="Content Placeholder 5"/>
          <p:cNvSpPr>
            <a:spLocks noGrp="1"/>
          </p:cNvSpPr>
          <p:nvPr>
            <p:ph sz="quarter" idx="13"/>
          </p:nvPr>
        </p:nvSpPr>
        <p:spPr>
          <a:xfrm>
            <a:off x="3198056" y="5140863"/>
            <a:ext cx="8026400" cy="533400"/>
          </a:xfrm>
        </p:spPr>
        <p:txBody>
          <a:bodyPr/>
          <a:lstStyle/>
          <a:p>
            <a:pPr eaLnBrk="1" hangingPunct="1">
              <a:spcBef>
                <a:spcPct val="0"/>
              </a:spcBef>
            </a:pPr>
            <a:r>
              <a:rPr lang="en-US" sz="1500" i="1" dirty="0">
                <a:latin typeface="Times New Roman" pitchFamily="18" charset="0"/>
                <a:cs typeface="Times New Roman" pitchFamily="18" charset="0"/>
              </a:rPr>
              <a:t>Dr. </a:t>
            </a:r>
            <a:r>
              <a:rPr lang="en-US" sz="1500" i="1" dirty="0" err="1">
                <a:latin typeface="Times New Roman" pitchFamily="18" charset="0"/>
                <a:cs typeface="Times New Roman" pitchFamily="18" charset="0"/>
              </a:rPr>
              <a:t>Monali</a:t>
            </a:r>
            <a:r>
              <a:rPr lang="en-US" sz="1500" i="1" dirty="0">
                <a:latin typeface="Times New Roman" pitchFamily="18" charset="0"/>
                <a:cs typeface="Times New Roman" pitchFamily="18" charset="0"/>
              </a:rPr>
              <a:t> </a:t>
            </a:r>
            <a:r>
              <a:rPr lang="en-US" sz="1500" i="1" dirty="0" err="1">
                <a:latin typeface="Times New Roman" pitchFamily="18" charset="0"/>
                <a:cs typeface="Times New Roman" pitchFamily="18" charset="0"/>
              </a:rPr>
              <a:t>Mavani</a:t>
            </a:r>
            <a:endParaRPr lang="en-US" sz="1500" i="1" dirty="0">
              <a:latin typeface="Times New Roman" pitchFamily="18" charset="0"/>
              <a:cs typeface="Times New Roman" pitchFamily="18" charset="0"/>
            </a:endParaRPr>
          </a:p>
        </p:txBody>
      </p:sp>
      <p:sp>
        <p:nvSpPr>
          <p:cNvPr id="4" name="Title 4"/>
          <p:cNvSpPr txBox="1">
            <a:spLocks/>
          </p:cNvSpPr>
          <p:nvPr/>
        </p:nvSpPr>
        <p:spPr>
          <a:xfrm>
            <a:off x="3329835" y="3562110"/>
            <a:ext cx="7113271" cy="1143000"/>
          </a:xfrm>
          <a:prstGeom prst="rect">
            <a:avLst/>
          </a:prstGeom>
        </p:spPr>
        <p:txBody>
          <a:bodyPr vert="horz" lIns="91440" tIns="45720" rIns="91440" bIns="45720" rtlCol="0" anchor="ctr" anchorCtr="0">
            <a:noAutofit/>
          </a:bodyPr>
          <a:lstStyle>
            <a:lvl1pPr algn="l" defTabSz="914400" rtl="0" eaLnBrk="1" latinLnBrk="0" hangingPunct="1">
              <a:lnSpc>
                <a:spcPts val="3000"/>
              </a:lnSpc>
              <a:spcBef>
                <a:spcPct val="0"/>
              </a:spcBef>
              <a:buNone/>
              <a:defRPr sz="3300" kern="1200" baseline="0">
                <a:solidFill>
                  <a:schemeClr val="bg1"/>
                </a:solidFill>
                <a:latin typeface="+mj-lt"/>
                <a:ea typeface="+mj-ea"/>
                <a:cs typeface="+mj-cs"/>
              </a:defRPr>
            </a:lvl1pPr>
          </a:lstStyle>
          <a:p>
            <a:pPr>
              <a:defRPr/>
            </a:pPr>
            <a:br>
              <a:rPr lang="en-US" sz="3000" dirty="0">
                <a:solidFill>
                  <a:prstClr val="white"/>
                </a:solidFill>
                <a:latin typeface="Times New Roman" panose="02020603050405020304" pitchFamily="18" charset="0"/>
                <a:cs typeface="Times New Roman" panose="02020603050405020304" pitchFamily="18" charset="0"/>
              </a:rPr>
            </a:br>
            <a:r>
              <a:rPr lang="en-US" sz="3000" dirty="0">
                <a:solidFill>
                  <a:prstClr val="white"/>
                </a:solidFill>
                <a:latin typeface="Times New Roman" panose="02020603050405020304" pitchFamily="18" charset="0"/>
                <a:cs typeface="Times New Roman" panose="02020603050405020304" pitchFamily="18" charset="0"/>
              </a:rPr>
              <a:t>Large Language Models for Generative AI</a:t>
            </a:r>
          </a:p>
          <a:p>
            <a:pPr>
              <a:defRPr/>
            </a:pPr>
            <a:r>
              <a:rPr lang="en-IN" sz="3200" dirty="0">
                <a:solidFill>
                  <a:prstClr val="white"/>
                </a:solidFill>
              </a:rPr>
              <a:t>AIML* ZG536</a:t>
            </a:r>
            <a:endParaRPr lang="en-US" sz="3000" dirty="0">
              <a:solidFill>
                <a:prstClr val="white"/>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41827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a:noFill/>
          <a:ln w="9525">
            <a:noFill/>
            <a:miter lim="800000"/>
            <a:headEnd/>
            <a:tailEnd/>
          </a:ln>
          <a:effectLst/>
        </p:spPr>
        <p:txBody>
          <a:bodyPr wrap="square">
            <a:spAutoFit/>
          </a:bodyPr>
          <a:lstStyle/>
          <a:p>
            <a:pPr>
              <a:defRPr/>
            </a:pPr>
            <a:r>
              <a:rPr lang="en-US" sz="2800" dirty="0">
                <a:latin typeface="Times New Roman" panose="02020603050405020304" pitchFamily="18" charset="0"/>
                <a:cs typeface="Times New Roman" panose="02020603050405020304" pitchFamily="18" charset="0"/>
              </a:rPr>
              <a:t>Large Language Models for Generative AI</a:t>
            </a:r>
          </a:p>
        </p:txBody>
      </p:sp>
      <p:sp>
        <p:nvSpPr>
          <p:cNvPr id="3" name="object 3"/>
          <p:cNvSpPr txBox="1"/>
          <p:nvPr/>
        </p:nvSpPr>
        <p:spPr>
          <a:xfrm>
            <a:off x="2758786" y="4133141"/>
            <a:ext cx="6777644" cy="848137"/>
          </a:xfrm>
          <a:prstGeom prst="rect">
            <a:avLst/>
          </a:prstGeom>
        </p:spPr>
        <p:txBody>
          <a:bodyPr vert="horz" wrap="square" lIns="0" tIns="24595" rIns="0" bIns="0" rtlCol="0">
            <a:spAutoFit/>
          </a:bodyPr>
          <a:lstStyle/>
          <a:p>
            <a:pPr marL="99961" marR="29325" indent="-93969" fontAlgn="base">
              <a:lnSpc>
                <a:spcPts val="1153"/>
              </a:lnSpc>
              <a:spcBef>
                <a:spcPts val="194"/>
              </a:spcBef>
              <a:spcAft>
                <a:spcPct val="0"/>
              </a:spcAft>
              <a:buFont typeface="Arial MT"/>
              <a:buChar char="•"/>
              <a:tabLst>
                <a:tab pos="100276" algn="l"/>
              </a:tabLst>
            </a:pPr>
            <a:r>
              <a:rPr sz="1200" spc="-2" dirty="0">
                <a:solidFill>
                  <a:prstClr val="black"/>
                </a:solidFill>
                <a:latin typeface="Cambria" panose="02040503050406030204" pitchFamily="18" charset="0"/>
                <a:ea typeface="Cambria" panose="02040503050406030204" pitchFamily="18" charset="0"/>
                <a:cs typeface="Calibri"/>
              </a:rPr>
              <a:t>The </a:t>
            </a:r>
            <a:r>
              <a:rPr sz="1200" spc="-8" dirty="0">
                <a:solidFill>
                  <a:prstClr val="black"/>
                </a:solidFill>
                <a:latin typeface="Cambria" panose="02040503050406030204" pitchFamily="18" charset="0"/>
                <a:ea typeface="Cambria" panose="02040503050406030204" pitchFamily="18" charset="0"/>
                <a:cs typeface="Calibri"/>
              </a:rPr>
              <a:t>content </a:t>
            </a:r>
            <a:r>
              <a:rPr sz="1200" spc="-10" dirty="0">
                <a:solidFill>
                  <a:prstClr val="black"/>
                </a:solidFill>
                <a:latin typeface="Cambria" panose="02040503050406030204" pitchFamily="18" charset="0"/>
                <a:ea typeface="Cambria" panose="02040503050406030204" pitchFamily="18" charset="0"/>
                <a:cs typeface="Calibri"/>
              </a:rPr>
              <a:t>for </a:t>
            </a:r>
            <a:r>
              <a:rPr sz="1200" spc="-2" dirty="0">
                <a:solidFill>
                  <a:prstClr val="black"/>
                </a:solidFill>
                <a:latin typeface="Cambria" panose="02040503050406030204" pitchFamily="18" charset="0"/>
                <a:ea typeface="Cambria" panose="02040503050406030204" pitchFamily="18" charset="0"/>
                <a:cs typeface="Calibri"/>
              </a:rPr>
              <a:t>these slides has been </a:t>
            </a:r>
            <a:r>
              <a:rPr sz="1200" spc="-5" dirty="0">
                <a:solidFill>
                  <a:prstClr val="black"/>
                </a:solidFill>
                <a:latin typeface="Cambria" panose="02040503050406030204" pitchFamily="18" charset="0"/>
                <a:ea typeface="Cambria" panose="02040503050406030204" pitchFamily="18" charset="0"/>
                <a:cs typeface="Calibri"/>
              </a:rPr>
              <a:t>obtained </a:t>
            </a:r>
            <a:r>
              <a:rPr sz="1200" spc="-8" dirty="0">
                <a:solidFill>
                  <a:prstClr val="black"/>
                </a:solidFill>
                <a:latin typeface="Cambria" panose="02040503050406030204" pitchFamily="18" charset="0"/>
                <a:ea typeface="Cambria" panose="02040503050406030204" pitchFamily="18" charset="0"/>
                <a:cs typeface="Calibri"/>
              </a:rPr>
              <a:t>from </a:t>
            </a:r>
            <a:r>
              <a:rPr sz="1200" spc="-5" dirty="0">
                <a:solidFill>
                  <a:prstClr val="black"/>
                </a:solidFill>
                <a:latin typeface="Cambria" panose="02040503050406030204" pitchFamily="18" charset="0"/>
                <a:ea typeface="Cambria" panose="02040503050406030204" pitchFamily="18" charset="0"/>
                <a:cs typeface="Calibri"/>
              </a:rPr>
              <a:t>books </a:t>
            </a:r>
            <a:r>
              <a:rPr sz="1200" spc="-2" dirty="0">
                <a:solidFill>
                  <a:prstClr val="black"/>
                </a:solidFill>
                <a:latin typeface="Cambria" panose="02040503050406030204" pitchFamily="18" charset="0"/>
                <a:ea typeface="Cambria" panose="02040503050406030204" pitchFamily="18" charset="0"/>
                <a:cs typeface="Calibri"/>
              </a:rPr>
              <a:t>and </a:t>
            </a:r>
            <a:r>
              <a:rPr sz="1200" spc="-5" dirty="0">
                <a:solidFill>
                  <a:prstClr val="black"/>
                </a:solidFill>
                <a:latin typeface="Cambria" panose="02040503050406030204" pitchFamily="18" charset="0"/>
                <a:ea typeface="Cambria" panose="02040503050406030204" pitchFamily="18" charset="0"/>
                <a:cs typeface="Calibri"/>
              </a:rPr>
              <a:t>various other </a:t>
            </a:r>
            <a:r>
              <a:rPr sz="1200" spc="-236" dirty="0">
                <a:solidFill>
                  <a:prstClr val="black"/>
                </a:solidFill>
                <a:latin typeface="Cambria" panose="02040503050406030204" pitchFamily="18" charset="0"/>
                <a:ea typeface="Cambria" panose="02040503050406030204" pitchFamily="18" charset="0"/>
                <a:cs typeface="Calibri"/>
              </a:rPr>
              <a:t> </a:t>
            </a:r>
            <a:r>
              <a:rPr sz="1200" spc="-5" dirty="0">
                <a:solidFill>
                  <a:prstClr val="black"/>
                </a:solidFill>
                <a:latin typeface="Cambria" panose="02040503050406030204" pitchFamily="18" charset="0"/>
                <a:ea typeface="Cambria" panose="02040503050406030204" pitchFamily="18" charset="0"/>
                <a:cs typeface="Calibri"/>
              </a:rPr>
              <a:t>source</a:t>
            </a:r>
            <a:r>
              <a:rPr sz="1200" spc="-10" dirty="0">
                <a:solidFill>
                  <a:prstClr val="black"/>
                </a:solidFill>
                <a:latin typeface="Cambria" panose="02040503050406030204" pitchFamily="18" charset="0"/>
                <a:ea typeface="Cambria" panose="02040503050406030204" pitchFamily="18" charset="0"/>
                <a:cs typeface="Calibri"/>
              </a:rPr>
              <a:t> </a:t>
            </a:r>
            <a:r>
              <a:rPr sz="1200" spc="-2" dirty="0">
                <a:solidFill>
                  <a:prstClr val="black"/>
                </a:solidFill>
                <a:latin typeface="Cambria" panose="02040503050406030204" pitchFamily="18" charset="0"/>
                <a:ea typeface="Cambria" panose="02040503050406030204" pitchFamily="18" charset="0"/>
                <a:cs typeface="Calibri"/>
              </a:rPr>
              <a:t>on the </a:t>
            </a:r>
            <a:r>
              <a:rPr sz="1200" spc="-8" dirty="0">
                <a:solidFill>
                  <a:prstClr val="black"/>
                </a:solidFill>
                <a:latin typeface="Cambria" panose="02040503050406030204" pitchFamily="18" charset="0"/>
                <a:ea typeface="Cambria" panose="02040503050406030204" pitchFamily="18" charset="0"/>
                <a:cs typeface="Calibri"/>
              </a:rPr>
              <a:t>Internet</a:t>
            </a:r>
            <a:endParaRPr sz="1200" dirty="0">
              <a:solidFill>
                <a:prstClr val="black"/>
              </a:solidFill>
              <a:latin typeface="Cambria" panose="02040503050406030204" pitchFamily="18" charset="0"/>
              <a:ea typeface="Cambria" panose="02040503050406030204" pitchFamily="18" charset="0"/>
              <a:cs typeface="Calibri"/>
            </a:endParaRPr>
          </a:p>
          <a:p>
            <a:pPr marL="99961" indent="-93969" fontAlgn="base">
              <a:spcBef>
                <a:spcPts val="258"/>
              </a:spcBef>
              <a:spcAft>
                <a:spcPct val="0"/>
              </a:spcAft>
              <a:buFont typeface="Arial MT"/>
              <a:buChar char="•"/>
              <a:tabLst>
                <a:tab pos="100276" algn="l"/>
              </a:tabLst>
            </a:pPr>
            <a:r>
              <a:rPr sz="1200" spc="-2" dirty="0">
                <a:solidFill>
                  <a:prstClr val="black"/>
                </a:solidFill>
                <a:latin typeface="Cambria" panose="02040503050406030204" pitchFamily="18" charset="0"/>
                <a:ea typeface="Cambria" panose="02040503050406030204" pitchFamily="18" charset="0"/>
                <a:cs typeface="Calibri"/>
              </a:rPr>
              <a:t>I</a:t>
            </a:r>
            <a:r>
              <a:rPr sz="1200" dirty="0">
                <a:solidFill>
                  <a:prstClr val="black"/>
                </a:solidFill>
                <a:latin typeface="Cambria" panose="02040503050406030204" pitchFamily="18" charset="0"/>
                <a:ea typeface="Cambria" panose="02040503050406030204" pitchFamily="18" charset="0"/>
                <a:cs typeface="Calibri"/>
              </a:rPr>
              <a:t> </a:t>
            </a:r>
            <a:r>
              <a:rPr sz="1200" spc="-8" dirty="0">
                <a:solidFill>
                  <a:prstClr val="black"/>
                </a:solidFill>
                <a:latin typeface="Cambria" panose="02040503050406030204" pitchFamily="18" charset="0"/>
                <a:ea typeface="Cambria" panose="02040503050406030204" pitchFamily="18" charset="0"/>
                <a:cs typeface="Calibri"/>
              </a:rPr>
              <a:t>here</a:t>
            </a:r>
            <a:r>
              <a:rPr sz="1200" dirty="0">
                <a:solidFill>
                  <a:prstClr val="black"/>
                </a:solidFill>
                <a:latin typeface="Cambria" panose="02040503050406030204" pitchFamily="18" charset="0"/>
                <a:ea typeface="Cambria" panose="02040503050406030204" pitchFamily="18" charset="0"/>
                <a:cs typeface="Calibri"/>
              </a:rPr>
              <a:t> </a:t>
            </a:r>
            <a:r>
              <a:rPr sz="1200" spc="-5" dirty="0">
                <a:solidFill>
                  <a:prstClr val="black"/>
                </a:solidFill>
                <a:latin typeface="Cambria" panose="02040503050406030204" pitchFamily="18" charset="0"/>
                <a:ea typeface="Cambria" panose="02040503050406030204" pitchFamily="18" charset="0"/>
                <a:cs typeface="Calibri"/>
              </a:rPr>
              <a:t>by</a:t>
            </a:r>
            <a:r>
              <a:rPr sz="1200" spc="2" dirty="0">
                <a:solidFill>
                  <a:prstClr val="black"/>
                </a:solidFill>
                <a:latin typeface="Cambria" panose="02040503050406030204" pitchFamily="18" charset="0"/>
                <a:ea typeface="Cambria" panose="02040503050406030204" pitchFamily="18" charset="0"/>
                <a:cs typeface="Calibri"/>
              </a:rPr>
              <a:t> </a:t>
            </a:r>
            <a:r>
              <a:rPr sz="1200" spc="-5" dirty="0">
                <a:solidFill>
                  <a:prstClr val="black"/>
                </a:solidFill>
                <a:latin typeface="Cambria" panose="02040503050406030204" pitchFamily="18" charset="0"/>
                <a:ea typeface="Cambria" panose="02040503050406030204" pitchFamily="18" charset="0"/>
                <a:cs typeface="Calibri"/>
              </a:rPr>
              <a:t>acknowledge</a:t>
            </a:r>
            <a:r>
              <a:rPr sz="1200" dirty="0">
                <a:solidFill>
                  <a:prstClr val="black"/>
                </a:solidFill>
                <a:latin typeface="Cambria" panose="02040503050406030204" pitchFamily="18" charset="0"/>
                <a:ea typeface="Cambria" panose="02040503050406030204" pitchFamily="18" charset="0"/>
                <a:cs typeface="Calibri"/>
              </a:rPr>
              <a:t> </a:t>
            </a:r>
            <a:r>
              <a:rPr sz="1200" spc="-2" dirty="0">
                <a:solidFill>
                  <a:prstClr val="black"/>
                </a:solidFill>
                <a:latin typeface="Cambria" panose="02040503050406030204" pitchFamily="18" charset="0"/>
                <a:ea typeface="Cambria" panose="02040503050406030204" pitchFamily="18" charset="0"/>
                <a:cs typeface="Calibri"/>
              </a:rPr>
              <a:t>all</a:t>
            </a:r>
            <a:r>
              <a:rPr sz="1200" dirty="0">
                <a:solidFill>
                  <a:prstClr val="black"/>
                </a:solidFill>
                <a:latin typeface="Cambria" panose="02040503050406030204" pitchFamily="18" charset="0"/>
                <a:ea typeface="Cambria" panose="02040503050406030204" pitchFamily="18" charset="0"/>
                <a:cs typeface="Calibri"/>
              </a:rPr>
              <a:t> </a:t>
            </a:r>
            <a:r>
              <a:rPr sz="1200" spc="-2" dirty="0">
                <a:solidFill>
                  <a:prstClr val="black"/>
                </a:solidFill>
                <a:latin typeface="Cambria" panose="02040503050406030204" pitchFamily="18" charset="0"/>
                <a:ea typeface="Cambria" panose="02040503050406030204" pitchFamily="18" charset="0"/>
                <a:cs typeface="Calibri"/>
              </a:rPr>
              <a:t>the</a:t>
            </a:r>
            <a:r>
              <a:rPr sz="1200" spc="2" dirty="0">
                <a:solidFill>
                  <a:prstClr val="black"/>
                </a:solidFill>
                <a:latin typeface="Cambria" panose="02040503050406030204" pitchFamily="18" charset="0"/>
                <a:ea typeface="Cambria" panose="02040503050406030204" pitchFamily="18" charset="0"/>
                <a:cs typeface="Calibri"/>
              </a:rPr>
              <a:t> </a:t>
            </a:r>
            <a:r>
              <a:rPr sz="1200" spc="-8" dirty="0">
                <a:solidFill>
                  <a:prstClr val="black"/>
                </a:solidFill>
                <a:latin typeface="Cambria" panose="02040503050406030204" pitchFamily="18" charset="0"/>
                <a:ea typeface="Cambria" panose="02040503050406030204" pitchFamily="18" charset="0"/>
                <a:cs typeface="Calibri"/>
              </a:rPr>
              <a:t>contributors</a:t>
            </a:r>
            <a:r>
              <a:rPr sz="1200" dirty="0">
                <a:solidFill>
                  <a:prstClr val="black"/>
                </a:solidFill>
                <a:latin typeface="Cambria" panose="02040503050406030204" pitchFamily="18" charset="0"/>
                <a:ea typeface="Cambria" panose="02040503050406030204" pitchFamily="18" charset="0"/>
                <a:cs typeface="Calibri"/>
              </a:rPr>
              <a:t> </a:t>
            </a:r>
            <a:r>
              <a:rPr sz="1200" spc="-10" dirty="0">
                <a:solidFill>
                  <a:prstClr val="black"/>
                </a:solidFill>
                <a:latin typeface="Cambria" panose="02040503050406030204" pitchFamily="18" charset="0"/>
                <a:ea typeface="Cambria" panose="02040503050406030204" pitchFamily="18" charset="0"/>
                <a:cs typeface="Calibri"/>
              </a:rPr>
              <a:t>for</a:t>
            </a:r>
            <a:r>
              <a:rPr sz="1200" dirty="0">
                <a:solidFill>
                  <a:prstClr val="black"/>
                </a:solidFill>
                <a:latin typeface="Cambria" panose="02040503050406030204" pitchFamily="18" charset="0"/>
                <a:ea typeface="Cambria" panose="02040503050406030204" pitchFamily="18" charset="0"/>
                <a:cs typeface="Calibri"/>
              </a:rPr>
              <a:t> </a:t>
            </a:r>
            <a:r>
              <a:rPr sz="1200" spc="-2" dirty="0">
                <a:solidFill>
                  <a:prstClr val="black"/>
                </a:solidFill>
                <a:latin typeface="Cambria" panose="02040503050406030204" pitchFamily="18" charset="0"/>
                <a:ea typeface="Cambria" panose="02040503050406030204" pitchFamily="18" charset="0"/>
                <a:cs typeface="Calibri"/>
              </a:rPr>
              <a:t>their</a:t>
            </a:r>
            <a:r>
              <a:rPr sz="1200" dirty="0">
                <a:solidFill>
                  <a:prstClr val="black"/>
                </a:solidFill>
                <a:latin typeface="Cambria" panose="02040503050406030204" pitchFamily="18" charset="0"/>
                <a:ea typeface="Cambria" panose="02040503050406030204" pitchFamily="18" charset="0"/>
                <a:cs typeface="Calibri"/>
              </a:rPr>
              <a:t> </a:t>
            </a:r>
            <a:r>
              <a:rPr sz="1200" spc="-5" dirty="0">
                <a:solidFill>
                  <a:prstClr val="black"/>
                </a:solidFill>
                <a:latin typeface="Cambria" panose="02040503050406030204" pitchFamily="18" charset="0"/>
                <a:ea typeface="Cambria" panose="02040503050406030204" pitchFamily="18" charset="0"/>
                <a:cs typeface="Calibri"/>
              </a:rPr>
              <a:t>material</a:t>
            </a:r>
            <a:r>
              <a:rPr sz="1200" dirty="0">
                <a:solidFill>
                  <a:prstClr val="black"/>
                </a:solidFill>
                <a:latin typeface="Cambria" panose="02040503050406030204" pitchFamily="18" charset="0"/>
                <a:ea typeface="Cambria" panose="02040503050406030204" pitchFamily="18" charset="0"/>
                <a:cs typeface="Calibri"/>
              </a:rPr>
              <a:t> </a:t>
            </a:r>
            <a:r>
              <a:rPr sz="1200" spc="-2" dirty="0">
                <a:solidFill>
                  <a:prstClr val="black"/>
                </a:solidFill>
                <a:latin typeface="Cambria" panose="02040503050406030204" pitchFamily="18" charset="0"/>
                <a:ea typeface="Cambria" panose="02040503050406030204" pitchFamily="18" charset="0"/>
                <a:cs typeface="Calibri"/>
              </a:rPr>
              <a:t>and</a:t>
            </a:r>
            <a:r>
              <a:rPr sz="1200" spc="2" dirty="0">
                <a:solidFill>
                  <a:prstClr val="black"/>
                </a:solidFill>
                <a:latin typeface="Cambria" panose="02040503050406030204" pitchFamily="18" charset="0"/>
                <a:ea typeface="Cambria" panose="02040503050406030204" pitchFamily="18" charset="0"/>
                <a:cs typeface="Calibri"/>
              </a:rPr>
              <a:t> </a:t>
            </a:r>
            <a:r>
              <a:rPr sz="1200" spc="-5" dirty="0">
                <a:solidFill>
                  <a:prstClr val="black"/>
                </a:solidFill>
                <a:latin typeface="Cambria" panose="02040503050406030204" pitchFamily="18" charset="0"/>
                <a:ea typeface="Cambria" panose="02040503050406030204" pitchFamily="18" charset="0"/>
                <a:cs typeface="Calibri"/>
              </a:rPr>
              <a:t>inputs.</a:t>
            </a:r>
            <a:endParaRPr sz="1200" dirty="0">
              <a:solidFill>
                <a:prstClr val="black"/>
              </a:solidFill>
              <a:latin typeface="Cambria" panose="02040503050406030204" pitchFamily="18" charset="0"/>
              <a:ea typeface="Cambria" panose="02040503050406030204" pitchFamily="18" charset="0"/>
              <a:cs typeface="Calibri"/>
            </a:endParaRPr>
          </a:p>
          <a:p>
            <a:pPr marL="99961" indent="-93969" fontAlgn="base">
              <a:spcBef>
                <a:spcPts val="281"/>
              </a:spcBef>
              <a:spcAft>
                <a:spcPct val="0"/>
              </a:spcAft>
              <a:buFont typeface="Arial MT"/>
              <a:buChar char="•"/>
              <a:tabLst>
                <a:tab pos="100276" algn="l"/>
              </a:tabLst>
            </a:pPr>
            <a:r>
              <a:rPr sz="1200" spc="-2" dirty="0">
                <a:solidFill>
                  <a:prstClr val="black"/>
                </a:solidFill>
                <a:latin typeface="Cambria" panose="02040503050406030204" pitchFamily="18" charset="0"/>
                <a:ea typeface="Cambria" panose="02040503050406030204" pitchFamily="18" charset="0"/>
                <a:cs typeface="Calibri"/>
              </a:rPr>
              <a:t>I </a:t>
            </a:r>
            <a:r>
              <a:rPr sz="1200" spc="-10" dirty="0">
                <a:solidFill>
                  <a:prstClr val="black"/>
                </a:solidFill>
                <a:latin typeface="Cambria" panose="02040503050406030204" pitchFamily="18" charset="0"/>
                <a:ea typeface="Cambria" panose="02040503050406030204" pitchFamily="18" charset="0"/>
                <a:cs typeface="Calibri"/>
              </a:rPr>
              <a:t>have</a:t>
            </a:r>
            <a:r>
              <a:rPr sz="1200" spc="-2" dirty="0">
                <a:solidFill>
                  <a:prstClr val="black"/>
                </a:solidFill>
                <a:latin typeface="Cambria" panose="02040503050406030204" pitchFamily="18" charset="0"/>
                <a:ea typeface="Cambria" panose="02040503050406030204" pitchFamily="18" charset="0"/>
                <a:cs typeface="Calibri"/>
              </a:rPr>
              <a:t> </a:t>
            </a:r>
            <a:r>
              <a:rPr sz="1200" spc="-5" dirty="0">
                <a:solidFill>
                  <a:prstClr val="black"/>
                </a:solidFill>
                <a:latin typeface="Cambria" panose="02040503050406030204" pitchFamily="18" charset="0"/>
                <a:ea typeface="Cambria" panose="02040503050406030204" pitchFamily="18" charset="0"/>
                <a:cs typeface="Calibri"/>
              </a:rPr>
              <a:t>provided</a:t>
            </a:r>
            <a:r>
              <a:rPr sz="1200" spc="-8" dirty="0">
                <a:solidFill>
                  <a:prstClr val="black"/>
                </a:solidFill>
                <a:latin typeface="Cambria" panose="02040503050406030204" pitchFamily="18" charset="0"/>
                <a:ea typeface="Cambria" panose="02040503050406030204" pitchFamily="18" charset="0"/>
                <a:cs typeface="Calibri"/>
              </a:rPr>
              <a:t> </a:t>
            </a:r>
            <a:r>
              <a:rPr sz="1200" spc="-5" dirty="0">
                <a:solidFill>
                  <a:prstClr val="black"/>
                </a:solidFill>
                <a:latin typeface="Cambria" panose="02040503050406030204" pitchFamily="18" charset="0"/>
                <a:ea typeface="Cambria" panose="02040503050406030204" pitchFamily="18" charset="0"/>
                <a:cs typeface="Calibri"/>
              </a:rPr>
              <a:t>source</a:t>
            </a:r>
            <a:r>
              <a:rPr sz="1200" spc="-8" dirty="0">
                <a:solidFill>
                  <a:prstClr val="black"/>
                </a:solidFill>
                <a:latin typeface="Cambria" panose="02040503050406030204" pitchFamily="18" charset="0"/>
                <a:ea typeface="Cambria" panose="02040503050406030204" pitchFamily="18" charset="0"/>
                <a:cs typeface="Calibri"/>
              </a:rPr>
              <a:t> information</a:t>
            </a:r>
            <a:r>
              <a:rPr sz="1200" spc="-2" dirty="0">
                <a:solidFill>
                  <a:prstClr val="black"/>
                </a:solidFill>
                <a:latin typeface="Cambria" panose="02040503050406030204" pitchFamily="18" charset="0"/>
                <a:ea typeface="Cambria" panose="02040503050406030204" pitchFamily="18" charset="0"/>
                <a:cs typeface="Calibri"/>
              </a:rPr>
              <a:t> </a:t>
            </a:r>
            <a:r>
              <a:rPr sz="1200" spc="-8" dirty="0">
                <a:solidFill>
                  <a:prstClr val="black"/>
                </a:solidFill>
                <a:latin typeface="Cambria" panose="02040503050406030204" pitchFamily="18" charset="0"/>
                <a:ea typeface="Cambria" panose="02040503050406030204" pitchFamily="18" charset="0"/>
                <a:cs typeface="Calibri"/>
              </a:rPr>
              <a:t>wherever </a:t>
            </a:r>
            <a:r>
              <a:rPr sz="1200" spc="-2" dirty="0">
                <a:solidFill>
                  <a:prstClr val="black"/>
                </a:solidFill>
                <a:latin typeface="Cambria" panose="02040503050406030204" pitchFamily="18" charset="0"/>
                <a:ea typeface="Cambria" panose="02040503050406030204" pitchFamily="18" charset="0"/>
                <a:cs typeface="Calibri"/>
              </a:rPr>
              <a:t>necessary</a:t>
            </a:r>
            <a:endParaRPr sz="1200" dirty="0">
              <a:solidFill>
                <a:prstClr val="black"/>
              </a:solidFill>
              <a:latin typeface="Cambria" panose="02040503050406030204" pitchFamily="18" charset="0"/>
              <a:ea typeface="Cambria" panose="02040503050406030204" pitchFamily="18" charset="0"/>
              <a:cs typeface="Calibri"/>
            </a:endParaRPr>
          </a:p>
          <a:p>
            <a:pPr marL="99961" indent="-93969" fontAlgn="base">
              <a:spcBef>
                <a:spcPts val="281"/>
              </a:spcBef>
              <a:spcAft>
                <a:spcPct val="0"/>
              </a:spcAft>
              <a:buFont typeface="Arial MT"/>
              <a:buChar char="•"/>
              <a:tabLst>
                <a:tab pos="100276" algn="l"/>
              </a:tabLst>
            </a:pPr>
            <a:r>
              <a:rPr sz="1200" spc="-2" dirty="0">
                <a:solidFill>
                  <a:prstClr val="black"/>
                </a:solidFill>
                <a:latin typeface="Cambria" panose="02040503050406030204" pitchFamily="18" charset="0"/>
                <a:ea typeface="Cambria" panose="02040503050406030204" pitchFamily="18" charset="0"/>
                <a:cs typeface="Calibri"/>
              </a:rPr>
              <a:t>I </a:t>
            </a:r>
            <a:r>
              <a:rPr sz="1200" spc="-10" dirty="0">
                <a:solidFill>
                  <a:prstClr val="black"/>
                </a:solidFill>
                <a:latin typeface="Cambria" panose="02040503050406030204" pitchFamily="18" charset="0"/>
                <a:ea typeface="Cambria" panose="02040503050406030204" pitchFamily="18" charset="0"/>
                <a:cs typeface="Calibri"/>
              </a:rPr>
              <a:t>have</a:t>
            </a:r>
            <a:r>
              <a:rPr sz="1200" spc="-2" dirty="0">
                <a:solidFill>
                  <a:prstClr val="black"/>
                </a:solidFill>
                <a:latin typeface="Cambria" panose="02040503050406030204" pitchFamily="18" charset="0"/>
                <a:ea typeface="Cambria" panose="02040503050406030204" pitchFamily="18" charset="0"/>
                <a:cs typeface="Calibri"/>
              </a:rPr>
              <a:t> added</a:t>
            </a:r>
            <a:r>
              <a:rPr sz="1200" spc="-8" dirty="0">
                <a:solidFill>
                  <a:prstClr val="black"/>
                </a:solidFill>
                <a:latin typeface="Cambria" panose="02040503050406030204" pitchFamily="18" charset="0"/>
                <a:ea typeface="Cambria" panose="02040503050406030204" pitchFamily="18" charset="0"/>
                <a:cs typeface="Calibri"/>
              </a:rPr>
              <a:t> </a:t>
            </a:r>
            <a:r>
              <a:rPr sz="1200" spc="-2" dirty="0">
                <a:solidFill>
                  <a:prstClr val="black"/>
                </a:solidFill>
                <a:latin typeface="Cambria" panose="02040503050406030204" pitchFamily="18" charset="0"/>
                <a:ea typeface="Cambria" panose="02040503050406030204" pitchFamily="18" charset="0"/>
                <a:cs typeface="Calibri"/>
              </a:rPr>
              <a:t>and </a:t>
            </a:r>
            <a:r>
              <a:rPr sz="1200" spc="-5" dirty="0">
                <a:solidFill>
                  <a:prstClr val="black"/>
                </a:solidFill>
                <a:latin typeface="Cambria" panose="02040503050406030204" pitchFamily="18" charset="0"/>
                <a:ea typeface="Cambria" panose="02040503050406030204" pitchFamily="18" charset="0"/>
                <a:cs typeface="Calibri"/>
              </a:rPr>
              <a:t>modified</a:t>
            </a:r>
            <a:r>
              <a:rPr sz="1200" spc="-8" dirty="0">
                <a:solidFill>
                  <a:prstClr val="black"/>
                </a:solidFill>
                <a:latin typeface="Cambria" panose="02040503050406030204" pitchFamily="18" charset="0"/>
                <a:ea typeface="Cambria" panose="02040503050406030204" pitchFamily="18" charset="0"/>
                <a:cs typeface="Calibri"/>
              </a:rPr>
              <a:t> </a:t>
            </a:r>
            <a:r>
              <a:rPr sz="1200" spc="-2" dirty="0">
                <a:solidFill>
                  <a:prstClr val="black"/>
                </a:solidFill>
                <a:latin typeface="Cambria" panose="02040503050406030204" pitchFamily="18" charset="0"/>
                <a:ea typeface="Cambria" panose="02040503050406030204" pitchFamily="18" charset="0"/>
                <a:cs typeface="Calibri"/>
              </a:rPr>
              <a:t>the</a:t>
            </a:r>
            <a:r>
              <a:rPr sz="1200" spc="-8" dirty="0">
                <a:solidFill>
                  <a:prstClr val="black"/>
                </a:solidFill>
                <a:latin typeface="Cambria" panose="02040503050406030204" pitchFamily="18" charset="0"/>
                <a:ea typeface="Cambria" panose="02040503050406030204" pitchFamily="18" charset="0"/>
                <a:cs typeface="Calibri"/>
              </a:rPr>
              <a:t> content to</a:t>
            </a:r>
            <a:r>
              <a:rPr sz="1200" spc="-2" dirty="0">
                <a:solidFill>
                  <a:prstClr val="black"/>
                </a:solidFill>
                <a:latin typeface="Cambria" panose="02040503050406030204" pitchFamily="18" charset="0"/>
                <a:ea typeface="Cambria" panose="02040503050406030204" pitchFamily="18" charset="0"/>
                <a:cs typeface="Calibri"/>
              </a:rPr>
              <a:t> suit the</a:t>
            </a:r>
            <a:r>
              <a:rPr sz="1200" spc="-8" dirty="0">
                <a:solidFill>
                  <a:prstClr val="black"/>
                </a:solidFill>
                <a:latin typeface="Cambria" panose="02040503050406030204" pitchFamily="18" charset="0"/>
                <a:ea typeface="Cambria" panose="02040503050406030204" pitchFamily="18" charset="0"/>
                <a:cs typeface="Calibri"/>
              </a:rPr>
              <a:t> </a:t>
            </a:r>
            <a:r>
              <a:rPr sz="1200" spc="-5" dirty="0">
                <a:solidFill>
                  <a:prstClr val="black"/>
                </a:solidFill>
                <a:latin typeface="Cambria" panose="02040503050406030204" pitchFamily="18" charset="0"/>
                <a:ea typeface="Cambria" panose="02040503050406030204" pitchFamily="18" charset="0"/>
                <a:cs typeface="Calibri"/>
              </a:rPr>
              <a:t>requirements</a:t>
            </a:r>
            <a:r>
              <a:rPr sz="1200" spc="-12" dirty="0">
                <a:solidFill>
                  <a:prstClr val="black"/>
                </a:solidFill>
                <a:latin typeface="Cambria" panose="02040503050406030204" pitchFamily="18" charset="0"/>
                <a:ea typeface="Cambria" panose="02040503050406030204" pitchFamily="18" charset="0"/>
                <a:cs typeface="Calibri"/>
              </a:rPr>
              <a:t> </a:t>
            </a:r>
            <a:r>
              <a:rPr sz="1200" spc="-2" dirty="0">
                <a:solidFill>
                  <a:prstClr val="black"/>
                </a:solidFill>
                <a:latin typeface="Cambria" panose="02040503050406030204" pitchFamily="18" charset="0"/>
                <a:ea typeface="Cambria" panose="02040503050406030204" pitchFamily="18" charset="0"/>
                <a:cs typeface="Calibri"/>
              </a:rPr>
              <a:t>of the</a:t>
            </a:r>
            <a:r>
              <a:rPr sz="1200" spc="-8" dirty="0">
                <a:solidFill>
                  <a:prstClr val="black"/>
                </a:solidFill>
                <a:latin typeface="Cambria" panose="02040503050406030204" pitchFamily="18" charset="0"/>
                <a:ea typeface="Cambria" panose="02040503050406030204" pitchFamily="18" charset="0"/>
                <a:cs typeface="Calibri"/>
              </a:rPr>
              <a:t> course</a:t>
            </a:r>
            <a:endParaRPr sz="1200" dirty="0">
              <a:solidFill>
                <a:prstClr val="black"/>
              </a:solidFill>
              <a:latin typeface="Cambria" panose="02040503050406030204" pitchFamily="18" charset="0"/>
              <a:ea typeface="Cambria" panose="02040503050406030204" pitchFamily="18" charset="0"/>
              <a:cs typeface="Calibri"/>
            </a:endParaRPr>
          </a:p>
        </p:txBody>
      </p:sp>
      <p:sp>
        <p:nvSpPr>
          <p:cNvPr id="4" name="object 4"/>
          <p:cNvSpPr txBox="1"/>
          <p:nvPr/>
        </p:nvSpPr>
        <p:spPr>
          <a:xfrm>
            <a:off x="4467389" y="2171701"/>
            <a:ext cx="4274196" cy="233216"/>
          </a:xfrm>
          <a:prstGeom prst="rect">
            <a:avLst/>
          </a:prstGeom>
        </p:spPr>
        <p:txBody>
          <a:bodyPr vert="horz" wrap="square" lIns="0" tIns="7568" rIns="0" bIns="0" rtlCol="0">
            <a:spAutoFit/>
          </a:bodyPr>
          <a:lstStyle/>
          <a:p>
            <a:pPr marL="6306" fontAlgn="base">
              <a:spcBef>
                <a:spcPts val="59"/>
              </a:spcBef>
              <a:spcAft>
                <a:spcPct val="0"/>
              </a:spcAft>
            </a:pPr>
            <a:r>
              <a:rPr sz="1466" spc="-8" dirty="0">
                <a:solidFill>
                  <a:srgbClr val="1C1572"/>
                </a:solidFill>
                <a:latin typeface="Cambria" panose="02040503050406030204" pitchFamily="18" charset="0"/>
                <a:ea typeface="Cambria" panose="02040503050406030204" pitchFamily="18" charset="0"/>
                <a:cs typeface="Calibri Light"/>
              </a:rPr>
              <a:t>Disclaimer</a:t>
            </a:r>
            <a:r>
              <a:rPr sz="1466" spc="-35" dirty="0">
                <a:solidFill>
                  <a:srgbClr val="1C1572"/>
                </a:solidFill>
                <a:latin typeface="Cambria" panose="02040503050406030204" pitchFamily="18" charset="0"/>
                <a:ea typeface="Cambria" panose="02040503050406030204" pitchFamily="18" charset="0"/>
                <a:cs typeface="Calibri Light"/>
              </a:rPr>
              <a:t> </a:t>
            </a:r>
            <a:r>
              <a:rPr sz="1466" spc="-5" dirty="0">
                <a:solidFill>
                  <a:srgbClr val="1C1572"/>
                </a:solidFill>
                <a:latin typeface="Cambria" panose="02040503050406030204" pitchFamily="18" charset="0"/>
                <a:ea typeface="Cambria" panose="02040503050406030204" pitchFamily="18" charset="0"/>
                <a:cs typeface="Calibri Light"/>
              </a:rPr>
              <a:t>and</a:t>
            </a:r>
            <a:r>
              <a:rPr sz="1466" spc="-35" dirty="0">
                <a:solidFill>
                  <a:srgbClr val="1C1572"/>
                </a:solidFill>
                <a:latin typeface="Cambria" panose="02040503050406030204" pitchFamily="18" charset="0"/>
                <a:ea typeface="Cambria" panose="02040503050406030204" pitchFamily="18" charset="0"/>
                <a:cs typeface="Calibri Light"/>
              </a:rPr>
              <a:t> </a:t>
            </a:r>
            <a:r>
              <a:rPr sz="1466" spc="-12" dirty="0">
                <a:solidFill>
                  <a:srgbClr val="1C1572"/>
                </a:solidFill>
                <a:latin typeface="Cambria" panose="02040503050406030204" pitchFamily="18" charset="0"/>
                <a:ea typeface="Cambria" panose="02040503050406030204" pitchFamily="18" charset="0"/>
                <a:cs typeface="Calibri Light"/>
              </a:rPr>
              <a:t>Acknowledgement</a:t>
            </a:r>
            <a:endParaRPr sz="1466" dirty="0">
              <a:solidFill>
                <a:prstClr val="black"/>
              </a:solidFill>
              <a:latin typeface="Cambria" panose="02040503050406030204" pitchFamily="18" charset="0"/>
              <a:ea typeface="Cambria" panose="02040503050406030204" pitchFamily="18" charset="0"/>
              <a:cs typeface="Calibri Light"/>
            </a:endParaRPr>
          </a:p>
        </p:txBody>
      </p:sp>
      <p:pic>
        <p:nvPicPr>
          <p:cNvPr id="5" name="object 5"/>
          <p:cNvPicPr/>
          <p:nvPr/>
        </p:nvPicPr>
        <p:blipFill>
          <a:blip r:embed="rId2" cstate="print"/>
          <a:stretch>
            <a:fillRect/>
          </a:stretch>
        </p:blipFill>
        <p:spPr>
          <a:xfrm>
            <a:off x="5280598" y="2823275"/>
            <a:ext cx="815403" cy="891476"/>
          </a:xfrm>
          <a:prstGeom prst="rect">
            <a:avLst/>
          </a:prstGeom>
        </p:spPr>
      </p:pic>
    </p:spTree>
    <p:extLst>
      <p:ext uri="{BB962C8B-B14F-4D97-AF65-F5344CB8AC3E}">
        <p14:creationId xmlns:p14="http://schemas.microsoft.com/office/powerpoint/2010/main" val="18272692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Agenda</a:t>
            </a:r>
            <a:endParaRPr lang="en-IN" dirty="0"/>
          </a:p>
        </p:txBody>
      </p:sp>
      <p:sp>
        <p:nvSpPr>
          <p:cNvPr id="5" name="Content Placeholder 4"/>
          <p:cNvSpPr>
            <a:spLocks noGrp="1"/>
          </p:cNvSpPr>
          <p:nvPr>
            <p:ph idx="10"/>
          </p:nvPr>
        </p:nvSpPr>
        <p:spPr>
          <a:xfrm>
            <a:off x="181970" y="1436042"/>
            <a:ext cx="11480800" cy="4525963"/>
          </a:xfrm>
        </p:spPr>
        <p:txBody>
          <a:bodyPr/>
          <a:lstStyle/>
          <a:p>
            <a:pPr marL="342900" lvl="0" indent="-342900">
              <a:buFont typeface="Arial" panose="020B0604020202020204" pitchFamily="34" charset="0"/>
              <a:buChar char="•"/>
            </a:pPr>
            <a:r>
              <a:rPr lang="en-IN" dirty="0"/>
              <a:t>Normalization: </a:t>
            </a:r>
            <a:r>
              <a:rPr lang="en-IN" dirty="0" err="1"/>
              <a:t>LayerNorm</a:t>
            </a:r>
            <a:r>
              <a:rPr lang="en-IN" dirty="0"/>
              <a:t>,  </a:t>
            </a:r>
            <a:r>
              <a:rPr lang="en-IN" dirty="0" err="1"/>
              <a:t>RMSNorm</a:t>
            </a:r>
            <a:r>
              <a:rPr lang="en-IN" dirty="0"/>
              <a:t>, </a:t>
            </a:r>
            <a:r>
              <a:rPr lang="en-IN" dirty="0" err="1"/>
              <a:t>QKNorm</a:t>
            </a:r>
            <a:r>
              <a:rPr lang="en-IN" dirty="0"/>
              <a:t>, Norm placement</a:t>
            </a:r>
          </a:p>
          <a:p>
            <a:pPr marL="342900" lvl="0" indent="-342900">
              <a:buFont typeface="Arial" panose="020B0604020202020204" pitchFamily="34" charset="0"/>
              <a:buChar char="•"/>
            </a:pPr>
            <a:r>
              <a:rPr lang="en-IN" dirty="0"/>
              <a:t>Positional Encoding Advances :  </a:t>
            </a:r>
            <a:r>
              <a:rPr lang="en-IN" dirty="0" err="1"/>
              <a:t>RoPE</a:t>
            </a:r>
            <a:r>
              <a:rPr lang="en-IN" dirty="0"/>
              <a:t>, </a:t>
            </a:r>
            <a:r>
              <a:rPr lang="en-IN" dirty="0" err="1"/>
              <a:t>NoPE</a:t>
            </a:r>
            <a:endParaRPr lang="en-IN" dirty="0"/>
          </a:p>
          <a:p>
            <a:pPr marL="342900" lvl="0" indent="-342900">
              <a:buFont typeface="Arial" panose="020B0604020202020204" pitchFamily="34" charset="0"/>
              <a:buChar char="•"/>
            </a:pPr>
            <a:r>
              <a:rPr lang="en-IN" dirty="0"/>
              <a:t>Advanced activations : GELU, Swish, Gated Linear Units (GLU)</a:t>
            </a:r>
          </a:p>
          <a:p>
            <a:pPr marL="342900" indent="-342900">
              <a:buFont typeface="Arial" panose="020B0604020202020204" pitchFamily="34" charset="0"/>
              <a:buChar char="•"/>
            </a:pPr>
            <a:r>
              <a:rPr lang="en-IN" dirty="0" err="1"/>
              <a:t>MoE</a:t>
            </a:r>
            <a:endParaRPr lang="en-IN" dirty="0"/>
          </a:p>
        </p:txBody>
      </p:sp>
    </p:spTree>
    <p:extLst>
      <p:ext uri="{BB962C8B-B14F-4D97-AF65-F5344CB8AC3E}">
        <p14:creationId xmlns:p14="http://schemas.microsoft.com/office/powerpoint/2010/main" val="40255807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75647" y="1370809"/>
            <a:ext cx="3460039" cy="5060036"/>
            <a:chOff x="457198" y="1028107"/>
            <a:chExt cx="2595025" cy="3795027"/>
          </a:xfrm>
        </p:grpSpPr>
        <p:pic>
          <p:nvPicPr>
            <p:cNvPr id="3" name="object 3"/>
            <p:cNvPicPr/>
            <p:nvPr/>
          </p:nvPicPr>
          <p:blipFill>
            <a:blip r:embed="rId2" cstate="print"/>
            <a:stretch>
              <a:fillRect/>
            </a:stretch>
          </p:blipFill>
          <p:spPr>
            <a:xfrm>
              <a:off x="457198" y="1028107"/>
              <a:ext cx="2595025" cy="3795027"/>
            </a:xfrm>
            <a:prstGeom prst="rect">
              <a:avLst/>
            </a:prstGeom>
          </p:spPr>
        </p:pic>
        <p:pic>
          <p:nvPicPr>
            <p:cNvPr id="4" name="object 4"/>
            <p:cNvPicPr/>
            <p:nvPr/>
          </p:nvPicPr>
          <p:blipFill>
            <a:blip r:embed="rId3" cstate="print"/>
            <a:stretch>
              <a:fillRect/>
            </a:stretch>
          </p:blipFill>
          <p:spPr>
            <a:xfrm>
              <a:off x="1863233" y="3876439"/>
              <a:ext cx="701924" cy="629018"/>
            </a:xfrm>
            <a:prstGeom prst="rect">
              <a:avLst/>
            </a:prstGeom>
          </p:spPr>
        </p:pic>
        <p:pic>
          <p:nvPicPr>
            <p:cNvPr id="5" name="object 5"/>
            <p:cNvPicPr/>
            <p:nvPr/>
          </p:nvPicPr>
          <p:blipFill>
            <a:blip r:embed="rId4" cstate="print"/>
            <a:stretch>
              <a:fillRect/>
            </a:stretch>
          </p:blipFill>
          <p:spPr>
            <a:xfrm>
              <a:off x="1863232" y="2989667"/>
              <a:ext cx="910892" cy="812024"/>
            </a:xfrm>
            <a:prstGeom prst="rect">
              <a:avLst/>
            </a:prstGeom>
          </p:spPr>
        </p:pic>
        <p:pic>
          <p:nvPicPr>
            <p:cNvPr id="6" name="object 6"/>
            <p:cNvPicPr/>
            <p:nvPr/>
          </p:nvPicPr>
          <p:blipFill>
            <a:blip r:embed="rId5" cstate="print"/>
            <a:stretch>
              <a:fillRect/>
            </a:stretch>
          </p:blipFill>
          <p:spPr>
            <a:xfrm>
              <a:off x="1861853" y="2395536"/>
              <a:ext cx="912271" cy="431999"/>
            </a:xfrm>
            <a:prstGeom prst="rect">
              <a:avLst/>
            </a:prstGeom>
          </p:spPr>
        </p:pic>
        <p:pic>
          <p:nvPicPr>
            <p:cNvPr id="7" name="object 7"/>
            <p:cNvPicPr/>
            <p:nvPr/>
          </p:nvPicPr>
          <p:blipFill>
            <a:blip r:embed="rId6" cstate="print"/>
            <a:stretch>
              <a:fillRect/>
            </a:stretch>
          </p:blipFill>
          <p:spPr>
            <a:xfrm>
              <a:off x="1861341" y="1837929"/>
              <a:ext cx="815501" cy="473305"/>
            </a:xfrm>
            <a:prstGeom prst="rect">
              <a:avLst/>
            </a:prstGeom>
          </p:spPr>
        </p:pic>
        <p:sp>
          <p:nvSpPr>
            <p:cNvPr id="8" name="object 8"/>
            <p:cNvSpPr/>
            <p:nvPr/>
          </p:nvSpPr>
          <p:spPr>
            <a:xfrm>
              <a:off x="2512208" y="2149049"/>
              <a:ext cx="396239" cy="0"/>
            </a:xfrm>
            <a:custGeom>
              <a:avLst/>
              <a:gdLst/>
              <a:ahLst/>
              <a:cxnLst/>
              <a:rect l="l" t="t" r="r" b="b"/>
              <a:pathLst>
                <a:path w="396239">
                  <a:moveTo>
                    <a:pt x="0" y="0"/>
                  </a:moveTo>
                  <a:lnTo>
                    <a:pt x="395699" y="0"/>
                  </a:lnTo>
                </a:path>
              </a:pathLst>
            </a:custGeom>
            <a:ln w="19049">
              <a:solidFill>
                <a:srgbClr val="C41230"/>
              </a:solidFill>
            </a:ln>
          </p:spPr>
          <p:txBody>
            <a:bodyPr wrap="square" lIns="0" tIns="0" rIns="0" bIns="0" rtlCol="0"/>
            <a:lstStyle/>
            <a:p>
              <a:endParaRPr sz="2400"/>
            </a:p>
          </p:txBody>
        </p:sp>
        <p:pic>
          <p:nvPicPr>
            <p:cNvPr id="9" name="object 9"/>
            <p:cNvPicPr/>
            <p:nvPr/>
          </p:nvPicPr>
          <p:blipFill>
            <a:blip r:embed="rId7" cstate="print"/>
            <a:stretch>
              <a:fillRect/>
            </a:stretch>
          </p:blipFill>
          <p:spPr>
            <a:xfrm>
              <a:off x="2898383" y="2108058"/>
              <a:ext cx="105500" cy="81980"/>
            </a:xfrm>
            <a:prstGeom prst="rect">
              <a:avLst/>
            </a:prstGeom>
          </p:spPr>
        </p:pic>
        <p:sp>
          <p:nvSpPr>
            <p:cNvPr id="10" name="object 10"/>
            <p:cNvSpPr/>
            <p:nvPr/>
          </p:nvSpPr>
          <p:spPr>
            <a:xfrm>
              <a:off x="2512208" y="2693072"/>
              <a:ext cx="396239" cy="0"/>
            </a:xfrm>
            <a:custGeom>
              <a:avLst/>
              <a:gdLst/>
              <a:ahLst/>
              <a:cxnLst/>
              <a:rect l="l" t="t" r="r" b="b"/>
              <a:pathLst>
                <a:path w="396239">
                  <a:moveTo>
                    <a:pt x="0" y="0"/>
                  </a:moveTo>
                  <a:lnTo>
                    <a:pt x="395699" y="0"/>
                  </a:lnTo>
                </a:path>
              </a:pathLst>
            </a:custGeom>
            <a:ln w="19049">
              <a:solidFill>
                <a:srgbClr val="C41230"/>
              </a:solidFill>
            </a:ln>
          </p:spPr>
          <p:txBody>
            <a:bodyPr wrap="square" lIns="0" tIns="0" rIns="0" bIns="0" rtlCol="0"/>
            <a:lstStyle/>
            <a:p>
              <a:endParaRPr sz="2400"/>
            </a:p>
          </p:txBody>
        </p:sp>
        <p:pic>
          <p:nvPicPr>
            <p:cNvPr id="11" name="object 11"/>
            <p:cNvPicPr/>
            <p:nvPr/>
          </p:nvPicPr>
          <p:blipFill>
            <a:blip r:embed="rId7" cstate="print"/>
            <a:stretch>
              <a:fillRect/>
            </a:stretch>
          </p:blipFill>
          <p:spPr>
            <a:xfrm>
              <a:off x="2898383" y="2652081"/>
              <a:ext cx="105500" cy="81980"/>
            </a:xfrm>
            <a:prstGeom prst="rect">
              <a:avLst/>
            </a:prstGeom>
          </p:spPr>
        </p:pic>
        <p:sp>
          <p:nvSpPr>
            <p:cNvPr id="12" name="object 12"/>
            <p:cNvSpPr/>
            <p:nvPr/>
          </p:nvSpPr>
          <p:spPr>
            <a:xfrm>
              <a:off x="2512207" y="3099886"/>
              <a:ext cx="396239" cy="0"/>
            </a:xfrm>
            <a:custGeom>
              <a:avLst/>
              <a:gdLst/>
              <a:ahLst/>
              <a:cxnLst/>
              <a:rect l="l" t="t" r="r" b="b"/>
              <a:pathLst>
                <a:path w="396239">
                  <a:moveTo>
                    <a:pt x="0" y="0"/>
                  </a:moveTo>
                  <a:lnTo>
                    <a:pt x="395699" y="0"/>
                  </a:lnTo>
                </a:path>
              </a:pathLst>
            </a:custGeom>
            <a:ln w="19049">
              <a:solidFill>
                <a:srgbClr val="C41230"/>
              </a:solidFill>
            </a:ln>
          </p:spPr>
          <p:txBody>
            <a:bodyPr wrap="square" lIns="0" tIns="0" rIns="0" bIns="0" rtlCol="0"/>
            <a:lstStyle/>
            <a:p>
              <a:endParaRPr sz="2400"/>
            </a:p>
          </p:txBody>
        </p:sp>
        <p:pic>
          <p:nvPicPr>
            <p:cNvPr id="13" name="object 13"/>
            <p:cNvPicPr/>
            <p:nvPr/>
          </p:nvPicPr>
          <p:blipFill>
            <a:blip r:embed="rId8" cstate="print"/>
            <a:stretch>
              <a:fillRect/>
            </a:stretch>
          </p:blipFill>
          <p:spPr>
            <a:xfrm>
              <a:off x="2898382" y="3058896"/>
              <a:ext cx="105500" cy="81980"/>
            </a:xfrm>
            <a:prstGeom prst="rect">
              <a:avLst/>
            </a:prstGeom>
          </p:spPr>
        </p:pic>
        <p:sp>
          <p:nvSpPr>
            <p:cNvPr id="14" name="object 14"/>
            <p:cNvSpPr/>
            <p:nvPr/>
          </p:nvSpPr>
          <p:spPr>
            <a:xfrm>
              <a:off x="2542067" y="3980355"/>
              <a:ext cx="396239" cy="0"/>
            </a:xfrm>
            <a:custGeom>
              <a:avLst/>
              <a:gdLst/>
              <a:ahLst/>
              <a:cxnLst/>
              <a:rect l="l" t="t" r="r" b="b"/>
              <a:pathLst>
                <a:path w="396239">
                  <a:moveTo>
                    <a:pt x="0" y="0"/>
                  </a:moveTo>
                  <a:lnTo>
                    <a:pt x="395699" y="0"/>
                  </a:lnTo>
                </a:path>
              </a:pathLst>
            </a:custGeom>
            <a:ln w="19049">
              <a:solidFill>
                <a:srgbClr val="C41230"/>
              </a:solidFill>
            </a:ln>
          </p:spPr>
          <p:txBody>
            <a:bodyPr wrap="square" lIns="0" tIns="0" rIns="0" bIns="0" rtlCol="0"/>
            <a:lstStyle/>
            <a:p>
              <a:endParaRPr sz="2400"/>
            </a:p>
          </p:txBody>
        </p:sp>
        <p:pic>
          <p:nvPicPr>
            <p:cNvPr id="15" name="object 15"/>
            <p:cNvPicPr/>
            <p:nvPr/>
          </p:nvPicPr>
          <p:blipFill>
            <a:blip r:embed="rId7" cstate="print"/>
            <a:stretch>
              <a:fillRect/>
            </a:stretch>
          </p:blipFill>
          <p:spPr>
            <a:xfrm>
              <a:off x="2928248" y="3939364"/>
              <a:ext cx="105500" cy="81981"/>
            </a:xfrm>
            <a:prstGeom prst="rect">
              <a:avLst/>
            </a:prstGeom>
          </p:spPr>
        </p:pic>
      </p:grpSp>
      <p:sp>
        <p:nvSpPr>
          <p:cNvPr id="16" name="object 16"/>
          <p:cNvSpPr txBox="1">
            <a:spLocks noGrp="1"/>
          </p:cNvSpPr>
          <p:nvPr>
            <p:ph type="title"/>
          </p:nvPr>
        </p:nvSpPr>
        <p:spPr>
          <a:xfrm>
            <a:off x="304801" y="324052"/>
            <a:ext cx="10881209" cy="571096"/>
          </a:xfrm>
          <a:prstGeom prst="rect">
            <a:avLst/>
          </a:prstGeom>
        </p:spPr>
        <p:txBody>
          <a:bodyPr vert="horz" wrap="square" lIns="0" tIns="16933" rIns="0" bIns="0" rtlCol="0" anchor="ctr">
            <a:spAutoFit/>
          </a:bodyPr>
          <a:lstStyle/>
          <a:p>
            <a:pPr marL="16933">
              <a:spcBef>
                <a:spcPts val="133"/>
              </a:spcBef>
            </a:pPr>
            <a:r>
              <a:rPr lang="en-US" dirty="0"/>
              <a:t>Transformer architecture </a:t>
            </a:r>
            <a:endParaRPr spc="-13" dirty="0"/>
          </a:p>
        </p:txBody>
      </p:sp>
      <p:sp>
        <p:nvSpPr>
          <p:cNvPr id="19" name="object 19"/>
          <p:cNvSpPr txBox="1">
            <a:spLocks noGrp="1"/>
          </p:cNvSpPr>
          <p:nvPr>
            <p:ph type="sldNum" sz="quarter" idx="4294967295"/>
          </p:nvPr>
        </p:nvSpPr>
        <p:spPr>
          <a:xfrm>
            <a:off x="11426261" y="6580188"/>
            <a:ext cx="331787" cy="860425"/>
          </a:xfrm>
          <a:prstGeom prst="rect">
            <a:avLst/>
          </a:prstGeom>
        </p:spPr>
        <p:txBody>
          <a:bodyPr vert="horz" wrap="square" lIns="0" tIns="29633" rIns="0" bIns="0" rtlCol="0">
            <a:spAutoFit/>
          </a:bodyPr>
          <a:lstStyle/>
          <a:p>
            <a:pPr marL="156629">
              <a:spcBef>
                <a:spcPts val="233"/>
              </a:spcBef>
            </a:pPr>
            <a:fld id="{81D60167-4931-47E6-BA6A-407CBD079E47}" type="slidenum">
              <a:rPr spc="-67" dirty="0"/>
              <a:pPr marL="156629">
                <a:spcBef>
                  <a:spcPts val="233"/>
                </a:spcBef>
              </a:pPr>
              <a:t>4</a:t>
            </a:fld>
            <a:endParaRPr spc="-67" dirty="0"/>
          </a:p>
        </p:txBody>
      </p:sp>
      <p:sp>
        <p:nvSpPr>
          <p:cNvPr id="18" name="object 18"/>
          <p:cNvSpPr txBox="1"/>
          <p:nvPr/>
        </p:nvSpPr>
        <p:spPr>
          <a:xfrm>
            <a:off x="3732882" y="5110017"/>
            <a:ext cx="2107353" cy="320665"/>
          </a:xfrm>
          <a:prstGeom prst="rect">
            <a:avLst/>
          </a:prstGeom>
        </p:spPr>
        <p:txBody>
          <a:bodyPr vert="horz" wrap="square" lIns="0" tIns="33020" rIns="0" bIns="0" rtlCol="0">
            <a:spAutoFit/>
          </a:bodyPr>
          <a:lstStyle/>
          <a:p>
            <a:pPr marL="16933">
              <a:spcBef>
                <a:spcPts val="260"/>
              </a:spcBef>
            </a:pPr>
            <a:r>
              <a:rPr sz="1867" dirty="0">
                <a:solidFill>
                  <a:srgbClr val="C41230"/>
                </a:solidFill>
                <a:latin typeface="Tahoma"/>
                <a:cs typeface="Tahoma"/>
              </a:rPr>
              <a:t>Positional</a:t>
            </a:r>
            <a:r>
              <a:rPr sz="1867" spc="73" dirty="0">
                <a:solidFill>
                  <a:srgbClr val="C41230"/>
                </a:solidFill>
                <a:latin typeface="Tahoma"/>
                <a:cs typeface="Tahoma"/>
              </a:rPr>
              <a:t> </a:t>
            </a:r>
            <a:r>
              <a:rPr sz="1867" spc="-13" dirty="0">
                <a:solidFill>
                  <a:srgbClr val="C41230"/>
                </a:solidFill>
                <a:latin typeface="Tahoma"/>
                <a:cs typeface="Tahoma"/>
              </a:rPr>
              <a:t>Encoding</a:t>
            </a:r>
            <a:endParaRPr sz="1867" dirty="0">
              <a:latin typeface="Tahoma"/>
              <a:cs typeface="Tahoma"/>
            </a:endParaRPr>
          </a:p>
        </p:txBody>
      </p:sp>
      <p:sp>
        <p:nvSpPr>
          <p:cNvPr id="17" name="object 17"/>
          <p:cNvSpPr txBox="1"/>
          <p:nvPr/>
        </p:nvSpPr>
        <p:spPr>
          <a:xfrm>
            <a:off x="3693070" y="2684596"/>
            <a:ext cx="1496060" cy="1581566"/>
          </a:xfrm>
          <a:prstGeom prst="rect">
            <a:avLst/>
          </a:prstGeom>
        </p:spPr>
        <p:txBody>
          <a:bodyPr vert="horz" wrap="square" lIns="0" tIns="16933" rIns="0" bIns="0" rtlCol="0">
            <a:spAutoFit/>
          </a:bodyPr>
          <a:lstStyle/>
          <a:p>
            <a:pPr marL="16933">
              <a:spcBef>
                <a:spcPts val="133"/>
              </a:spcBef>
            </a:pPr>
            <a:r>
              <a:rPr sz="1867" dirty="0">
                <a:solidFill>
                  <a:srgbClr val="C41230"/>
                </a:solidFill>
                <a:latin typeface="Tahoma"/>
                <a:cs typeface="Tahoma"/>
              </a:rPr>
              <a:t>Feed</a:t>
            </a:r>
            <a:r>
              <a:rPr sz="1867" spc="-13" dirty="0">
                <a:solidFill>
                  <a:srgbClr val="C41230"/>
                </a:solidFill>
                <a:latin typeface="Tahoma"/>
                <a:cs typeface="Tahoma"/>
              </a:rPr>
              <a:t> Forward</a:t>
            </a:r>
            <a:endParaRPr sz="1867" dirty="0">
              <a:latin typeface="Tahoma"/>
              <a:cs typeface="Tahoma"/>
            </a:endParaRPr>
          </a:p>
          <a:p>
            <a:pPr marL="16933" marR="217588">
              <a:lnSpc>
                <a:spcPct val="190700"/>
              </a:lnSpc>
              <a:spcBef>
                <a:spcPts val="1440"/>
              </a:spcBef>
            </a:pPr>
            <a:r>
              <a:rPr sz="1867" spc="-13" dirty="0">
                <a:solidFill>
                  <a:srgbClr val="C41230"/>
                </a:solidFill>
                <a:latin typeface="Tahoma"/>
                <a:cs typeface="Tahoma"/>
              </a:rPr>
              <a:t>Attention </a:t>
            </a:r>
            <a:r>
              <a:rPr sz="1867" dirty="0">
                <a:solidFill>
                  <a:srgbClr val="C41230"/>
                </a:solidFill>
                <a:latin typeface="Tahoma"/>
                <a:cs typeface="Tahoma"/>
              </a:rPr>
              <a:t>Layer</a:t>
            </a:r>
            <a:r>
              <a:rPr sz="1867" spc="-93" dirty="0">
                <a:solidFill>
                  <a:srgbClr val="C41230"/>
                </a:solidFill>
                <a:latin typeface="Tahoma"/>
                <a:cs typeface="Tahoma"/>
              </a:rPr>
              <a:t> </a:t>
            </a:r>
            <a:r>
              <a:rPr sz="1867" spc="40" dirty="0">
                <a:solidFill>
                  <a:srgbClr val="C41230"/>
                </a:solidFill>
                <a:latin typeface="Tahoma"/>
                <a:cs typeface="Tahoma"/>
              </a:rPr>
              <a:t>Norm</a:t>
            </a:r>
            <a:endParaRPr sz="1867" dirty="0">
              <a:latin typeface="Tahoma"/>
              <a:cs typeface="Tahoma"/>
            </a:endParaRPr>
          </a:p>
        </p:txBody>
      </p:sp>
      <p:sp>
        <p:nvSpPr>
          <p:cNvPr id="21" name="Rectangle 20"/>
          <p:cNvSpPr/>
          <p:nvPr/>
        </p:nvSpPr>
        <p:spPr>
          <a:xfrm>
            <a:off x="6545909" y="3717681"/>
            <a:ext cx="2020543" cy="830997"/>
          </a:xfrm>
          <a:prstGeom prst="rect">
            <a:avLst/>
          </a:prstGeom>
        </p:spPr>
        <p:txBody>
          <a:bodyPr wrap="square">
            <a:spAutoFit/>
          </a:bodyPr>
          <a:lstStyle/>
          <a:p>
            <a:r>
              <a:rPr lang="en-IN" sz="2400" b="1" dirty="0"/>
              <a:t>Places</a:t>
            </a:r>
            <a:r>
              <a:rPr lang="en-IN" sz="2400" b="1" spc="5" dirty="0"/>
              <a:t> </a:t>
            </a:r>
            <a:r>
              <a:rPr lang="en-IN" sz="2400" b="1" dirty="0"/>
              <a:t>for</a:t>
            </a:r>
            <a:r>
              <a:rPr lang="en-IN" sz="2400" b="1" spc="15" dirty="0"/>
              <a:t> </a:t>
            </a:r>
            <a:r>
              <a:rPr lang="en-IN" sz="2400" b="1" spc="-10" dirty="0"/>
              <a:t>Improvements</a:t>
            </a:r>
            <a:endParaRPr lang="en-IN" sz="2400" b="1" dirty="0"/>
          </a:p>
        </p:txBody>
      </p:sp>
      <p:sp>
        <p:nvSpPr>
          <p:cNvPr id="22" name="Right Brace 21"/>
          <p:cNvSpPr/>
          <p:nvPr/>
        </p:nvSpPr>
        <p:spPr>
          <a:xfrm>
            <a:off x="5618929" y="2617349"/>
            <a:ext cx="772733" cy="3031663"/>
          </a:xfrm>
          <a:prstGeom prst="rightBrace">
            <a:avLst/>
          </a:pr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en-IN"/>
          </a:p>
        </p:txBody>
      </p:sp>
    </p:spTree>
    <p:extLst>
      <p:ext uri="{BB962C8B-B14F-4D97-AF65-F5344CB8AC3E}">
        <p14:creationId xmlns:p14="http://schemas.microsoft.com/office/powerpoint/2010/main" val="2801302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idx="10"/>
          </p:nvPr>
        </p:nvSpPr>
        <p:spPr>
          <a:xfrm>
            <a:off x="304802" y="1746879"/>
            <a:ext cx="11682760" cy="4796796"/>
          </a:xfrm>
        </p:spPr>
        <p:txBody>
          <a:bodyPr>
            <a:noAutofit/>
          </a:bodyPr>
          <a:lstStyle/>
          <a:p>
            <a:pPr marL="342900" indent="-342900">
              <a:buFont typeface="Arial" panose="020B0604020202020204" pitchFamily="34" charset="0"/>
              <a:buChar char="•"/>
            </a:pPr>
            <a:r>
              <a:rPr lang="en-US" sz="2000" b="1" dirty="0" err="1"/>
              <a:t>RMSNorm</a:t>
            </a:r>
            <a:r>
              <a:rPr lang="en-US" sz="2000" b="1" dirty="0"/>
              <a:t> </a:t>
            </a:r>
            <a:r>
              <a:rPr lang="en-US" sz="2000" dirty="0"/>
              <a:t>is simplified version of </a:t>
            </a:r>
            <a:r>
              <a:rPr lang="en-US" sz="2000" dirty="0" err="1"/>
              <a:t>LayerNorm</a:t>
            </a:r>
            <a:r>
              <a:rPr lang="en-US" sz="2000" dirty="0"/>
              <a:t> with fewer trainable parameters</a:t>
            </a:r>
          </a:p>
          <a:p>
            <a:pPr marL="342900" indent="-342900">
              <a:buFont typeface="Arial" panose="020B0604020202020204" pitchFamily="34" charset="0"/>
              <a:buChar char="•"/>
            </a:pPr>
            <a:r>
              <a:rPr lang="en-US" sz="2000" dirty="0" err="1"/>
              <a:t>LayerNorm</a:t>
            </a:r>
            <a:r>
              <a:rPr lang="en-US" sz="2000" dirty="0"/>
              <a:t> enforces zero mean and unit variance. </a:t>
            </a:r>
            <a:r>
              <a:rPr lang="en-US" sz="2000" dirty="0" err="1"/>
              <a:t>RMSNorm</a:t>
            </a:r>
            <a:r>
              <a:rPr lang="en-US" sz="2000" dirty="0"/>
              <a:t> only rescales by the root-mean-square (RMS) of the activations, so it controls the magnitude of the activations but does not force them to be centered around zero. </a:t>
            </a:r>
          </a:p>
          <a:p>
            <a:pPr marL="342900" indent="-342900">
              <a:buFont typeface="Arial" panose="020B0604020202020204" pitchFamily="34" charset="0"/>
              <a:buChar char="•"/>
            </a:pPr>
            <a:r>
              <a:rPr lang="en-US" sz="2000" dirty="0" err="1"/>
              <a:t>RMSNorm</a:t>
            </a:r>
            <a:r>
              <a:rPr lang="en-US" sz="2000" dirty="0"/>
              <a:t> does not compute both a mean and a variance</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285750" indent="-285750">
              <a:buFont typeface="Arial" panose="020B0604020202020204" pitchFamily="34" charset="0"/>
              <a:buChar char="•"/>
            </a:pPr>
            <a:endParaRPr lang="en-US" sz="2000" b="1" dirty="0"/>
          </a:p>
          <a:p>
            <a:pPr marL="285750" indent="-285750">
              <a:buFont typeface="Arial" panose="020B0604020202020204" pitchFamily="34" charset="0"/>
              <a:buChar char="•"/>
            </a:pPr>
            <a:endParaRPr lang="en-US" sz="2000" b="1" dirty="0"/>
          </a:p>
          <a:p>
            <a:pPr marL="285750" indent="-285750">
              <a:buFont typeface="Arial" panose="020B0604020202020204" pitchFamily="34" charset="0"/>
              <a:buChar char="•"/>
            </a:pPr>
            <a:endParaRPr lang="en-US" sz="2000" b="1" dirty="0"/>
          </a:p>
          <a:p>
            <a:pPr marL="285750" indent="-285750">
              <a:buFont typeface="Arial" panose="020B0604020202020204" pitchFamily="34" charset="0"/>
              <a:buChar char="•"/>
            </a:pPr>
            <a:r>
              <a:rPr lang="en-US" sz="2000" dirty="0"/>
              <a:t>~7–15% faster than </a:t>
            </a:r>
            <a:r>
              <a:rPr lang="en-US" sz="2000" dirty="0" err="1"/>
              <a:t>LayerNorm</a:t>
            </a:r>
            <a:r>
              <a:rPr lang="en-US" sz="2000" dirty="0"/>
              <a:t> due to fewer operations (no mean computation)</a:t>
            </a:r>
          </a:p>
          <a:p>
            <a:pPr marL="285750" indent="-285750">
              <a:buFont typeface="Arial" panose="020B0604020202020204" pitchFamily="34" charset="0"/>
              <a:buChar char="•"/>
            </a:pPr>
            <a:r>
              <a:rPr lang="en-US" sz="2000" dirty="0"/>
              <a:t>It largely displaced </a:t>
            </a:r>
            <a:r>
              <a:rPr lang="en-US" sz="2000" dirty="0" err="1"/>
              <a:t>LayerNorm</a:t>
            </a:r>
            <a:r>
              <a:rPr lang="en-US" sz="2000" dirty="0"/>
              <a:t> in current decoder stacks because it solves the same optimization problem with a slightly cheaper computation</a:t>
            </a:r>
            <a:endParaRPr lang="en-IN" sz="2000" dirty="0"/>
          </a:p>
        </p:txBody>
      </p:sp>
      <p:sp>
        <p:nvSpPr>
          <p:cNvPr id="6" name="Title 5"/>
          <p:cNvSpPr>
            <a:spLocks noGrp="1"/>
          </p:cNvSpPr>
          <p:nvPr>
            <p:ph type="title"/>
          </p:nvPr>
        </p:nvSpPr>
        <p:spPr/>
        <p:txBody>
          <a:bodyPr/>
          <a:lstStyle/>
          <a:p>
            <a:r>
              <a:rPr lang="en-US" dirty="0" err="1"/>
              <a:t>RMSNorm</a:t>
            </a:r>
            <a:br>
              <a:rPr lang="en-IN" dirty="0"/>
            </a:br>
            <a:endParaRPr lang="en-IN" dirty="0"/>
          </a:p>
        </p:txBody>
      </p:sp>
      <p:pic>
        <p:nvPicPr>
          <p:cNvPr id="4" name="Picture 3"/>
          <p:cNvPicPr>
            <a:picLocks noChangeAspect="1"/>
          </p:cNvPicPr>
          <p:nvPr/>
        </p:nvPicPr>
        <p:blipFill>
          <a:blip r:embed="rId3"/>
          <a:stretch>
            <a:fillRect/>
          </a:stretch>
        </p:blipFill>
        <p:spPr>
          <a:xfrm>
            <a:off x="578491" y="3624794"/>
            <a:ext cx="5711965" cy="1040965"/>
          </a:xfrm>
          <a:prstGeom prst="rect">
            <a:avLst/>
          </a:prstGeom>
        </p:spPr>
      </p:pic>
      <p:sp>
        <p:nvSpPr>
          <p:cNvPr id="5" name="Rectangle 4"/>
          <p:cNvSpPr/>
          <p:nvPr/>
        </p:nvSpPr>
        <p:spPr>
          <a:xfrm>
            <a:off x="7377111" y="3556160"/>
            <a:ext cx="3500439" cy="923330"/>
          </a:xfrm>
          <a:prstGeom prst="rect">
            <a:avLst/>
          </a:prstGeom>
        </p:spPr>
        <p:txBody>
          <a:bodyPr wrap="square">
            <a:spAutoFit/>
          </a:bodyPr>
          <a:lstStyle/>
          <a:p>
            <a:r>
              <a:rPr lang="en-US" dirty="0"/>
              <a:t>a = raw summed inputs </a:t>
            </a:r>
          </a:p>
          <a:p>
            <a:r>
              <a:rPr lang="en-US" dirty="0"/>
              <a:t>g = gain parameter used to re-scale the standardized summed inputs</a:t>
            </a:r>
          </a:p>
        </p:txBody>
      </p:sp>
      <p:pic>
        <p:nvPicPr>
          <p:cNvPr id="3" name="Picture 2">
            <a:extLst>
              <a:ext uri="{FF2B5EF4-FFF2-40B4-BE49-F238E27FC236}">
                <a16:creationId xmlns:a16="http://schemas.microsoft.com/office/drawing/2014/main" id="{9423D886-CA65-DA53-1BB8-BE2CE7392EC5}"/>
              </a:ext>
            </a:extLst>
          </p:cNvPr>
          <p:cNvPicPr>
            <a:picLocks noChangeAspect="1"/>
          </p:cNvPicPr>
          <p:nvPr/>
        </p:nvPicPr>
        <p:blipFill>
          <a:blip r:embed="rId4"/>
          <a:stretch>
            <a:fillRect/>
          </a:stretch>
        </p:blipFill>
        <p:spPr>
          <a:xfrm>
            <a:off x="8524874" y="104150"/>
            <a:ext cx="3330941" cy="681329"/>
          </a:xfrm>
          <a:prstGeom prst="rect">
            <a:avLst/>
          </a:prstGeom>
          <a:ln>
            <a:solidFill>
              <a:schemeClr val="tx2"/>
            </a:solidFill>
          </a:ln>
        </p:spPr>
      </p:pic>
      <p:pic>
        <p:nvPicPr>
          <p:cNvPr id="7" name="Picture 6">
            <a:extLst>
              <a:ext uri="{FF2B5EF4-FFF2-40B4-BE49-F238E27FC236}">
                <a16:creationId xmlns:a16="http://schemas.microsoft.com/office/drawing/2014/main" id="{A23AC73C-B707-819C-94E2-5C6749A5FBAC}"/>
              </a:ext>
            </a:extLst>
          </p:cNvPr>
          <p:cNvPicPr>
            <a:picLocks noChangeAspect="1"/>
          </p:cNvPicPr>
          <p:nvPr/>
        </p:nvPicPr>
        <p:blipFill>
          <a:blip r:embed="rId5"/>
          <a:stretch>
            <a:fillRect/>
          </a:stretch>
        </p:blipFill>
        <p:spPr>
          <a:xfrm>
            <a:off x="8524874" y="837554"/>
            <a:ext cx="3362325" cy="857250"/>
          </a:xfrm>
          <a:prstGeom prst="rect">
            <a:avLst/>
          </a:prstGeom>
          <a:ln>
            <a:solidFill>
              <a:schemeClr val="tx1"/>
            </a:solidFill>
          </a:ln>
        </p:spPr>
      </p:pic>
    </p:spTree>
    <p:extLst>
      <p:ext uri="{BB962C8B-B14F-4D97-AF65-F5344CB8AC3E}">
        <p14:creationId xmlns:p14="http://schemas.microsoft.com/office/powerpoint/2010/main" val="25015720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0"/>
          </p:nvPr>
        </p:nvPicPr>
        <p:blipFill>
          <a:blip r:embed="rId3"/>
          <a:stretch>
            <a:fillRect/>
          </a:stretch>
        </p:blipFill>
        <p:spPr>
          <a:xfrm>
            <a:off x="119922" y="1219200"/>
            <a:ext cx="11927747" cy="5226570"/>
          </a:xfrm>
          <a:prstGeom prst="rect">
            <a:avLst/>
          </a:prstGeom>
        </p:spPr>
      </p:pic>
      <p:sp>
        <p:nvSpPr>
          <p:cNvPr id="3" name="Title 2"/>
          <p:cNvSpPr>
            <a:spLocks noGrp="1"/>
          </p:cNvSpPr>
          <p:nvPr>
            <p:ph type="title"/>
          </p:nvPr>
        </p:nvSpPr>
        <p:spPr/>
        <p:txBody>
          <a:bodyPr/>
          <a:lstStyle/>
          <a:p>
            <a:r>
              <a:rPr lang="en-US" dirty="0" err="1"/>
              <a:t>LayerNorm</a:t>
            </a:r>
            <a:r>
              <a:rPr lang="en-US" dirty="0"/>
              <a:t> Vs </a:t>
            </a:r>
            <a:r>
              <a:rPr lang="en-US" dirty="0" err="1"/>
              <a:t>RMSNorm</a:t>
            </a:r>
            <a:endParaRPr lang="en-IN" dirty="0"/>
          </a:p>
        </p:txBody>
      </p:sp>
      <p:sp>
        <p:nvSpPr>
          <p:cNvPr id="5" name="Rectangle 4"/>
          <p:cNvSpPr/>
          <p:nvPr/>
        </p:nvSpPr>
        <p:spPr>
          <a:xfrm>
            <a:off x="119922" y="6581001"/>
            <a:ext cx="6096000" cy="276999"/>
          </a:xfrm>
          <a:prstGeom prst="rect">
            <a:avLst/>
          </a:prstGeom>
        </p:spPr>
        <p:txBody>
          <a:bodyPr>
            <a:spAutoFit/>
          </a:bodyPr>
          <a:lstStyle/>
          <a:p>
            <a:r>
              <a:rPr lang="en-IN" sz="1200" dirty="0"/>
              <a:t>https://sebastianraschka.com/llms-from-scratch/ch04/09_rmsnorm/</a:t>
            </a:r>
          </a:p>
        </p:txBody>
      </p:sp>
    </p:spTree>
    <p:extLst>
      <p:ext uri="{BB962C8B-B14F-4D97-AF65-F5344CB8AC3E}">
        <p14:creationId xmlns:p14="http://schemas.microsoft.com/office/powerpoint/2010/main" val="14676193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idx="10"/>
          </p:nvPr>
        </p:nvSpPr>
        <p:spPr>
          <a:xfrm>
            <a:off x="304800" y="1425302"/>
            <a:ext cx="11887200" cy="4915537"/>
          </a:xfrm>
        </p:spPr>
        <p:txBody>
          <a:bodyPr>
            <a:noAutofit/>
          </a:bodyPr>
          <a:lstStyle/>
          <a:p>
            <a:pPr marL="342900" indent="-342900">
              <a:buFont typeface="Arial" panose="020B0604020202020204" pitchFamily="34" charset="0"/>
              <a:buChar char="•"/>
            </a:pPr>
            <a:r>
              <a:rPr lang="en-US" sz="2000" dirty="0"/>
              <a:t>In Post-Norm (original "Attention is All You Need" design), </a:t>
            </a:r>
            <a:r>
              <a:rPr lang="en-US" sz="2000" dirty="0" err="1"/>
              <a:t>LayerNorm</a:t>
            </a:r>
            <a:r>
              <a:rPr lang="en-US" sz="2000" dirty="0"/>
              <a:t> is applied </a:t>
            </a:r>
            <a:r>
              <a:rPr lang="en-US" sz="2000" b="1" dirty="0"/>
              <a:t>after</a:t>
            </a:r>
            <a:r>
              <a:rPr lang="en-US" sz="2000" dirty="0"/>
              <a:t> the sublayer (attention and FFNN) and residual addition           </a:t>
            </a:r>
          </a:p>
          <a:p>
            <a:r>
              <a:rPr lang="en-US" sz="2000" dirty="0"/>
              <a:t>         </a:t>
            </a:r>
          </a:p>
          <a:p>
            <a:pPr lvl="1" algn="ctr"/>
            <a:r>
              <a:rPr lang="en-US" sz="2000" b="1" dirty="0" err="1">
                <a:solidFill>
                  <a:srgbClr val="FF0000"/>
                </a:solidFill>
              </a:rPr>
              <a:t>PostNorm</a:t>
            </a:r>
            <a:r>
              <a:rPr lang="en-US" sz="2000" b="1" dirty="0">
                <a:solidFill>
                  <a:srgbClr val="FF0000"/>
                </a:solidFill>
              </a:rPr>
              <a:t>(x) = </a:t>
            </a:r>
            <a:r>
              <a:rPr lang="en-US" sz="2000" b="1" dirty="0" err="1">
                <a:solidFill>
                  <a:srgbClr val="FF0000"/>
                </a:solidFill>
              </a:rPr>
              <a:t>LayerNorm</a:t>
            </a:r>
            <a:r>
              <a:rPr lang="en-US" sz="2000" b="1" dirty="0">
                <a:solidFill>
                  <a:srgbClr val="FF0000"/>
                </a:solidFill>
              </a:rPr>
              <a:t>(x + Sublayer(x))</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Pre-Norm applies </a:t>
            </a:r>
            <a:r>
              <a:rPr lang="en-US" sz="2000" dirty="0" err="1"/>
              <a:t>LayerNorm</a:t>
            </a:r>
            <a:r>
              <a:rPr lang="en-US" sz="2000" dirty="0"/>
              <a:t> </a:t>
            </a:r>
            <a:r>
              <a:rPr lang="en-US" sz="2000" b="1" dirty="0"/>
              <a:t>before</a:t>
            </a:r>
            <a:r>
              <a:rPr lang="en-US" sz="2000" dirty="0"/>
              <a:t> the sublayer, keeping the residual addition outside</a:t>
            </a:r>
          </a:p>
          <a:p>
            <a:pPr algn="ctr"/>
            <a:r>
              <a:rPr lang="en-US" sz="2000" b="1" dirty="0" err="1">
                <a:solidFill>
                  <a:srgbClr val="FF0000"/>
                </a:solidFill>
              </a:rPr>
              <a:t>PreNorm</a:t>
            </a:r>
            <a:r>
              <a:rPr lang="en-US" sz="2000" b="1" dirty="0">
                <a:solidFill>
                  <a:srgbClr val="FF0000"/>
                </a:solidFill>
              </a:rPr>
              <a:t>(x) = x + Sublayer(</a:t>
            </a:r>
            <a:r>
              <a:rPr lang="en-US" sz="2000" b="1" dirty="0" err="1">
                <a:solidFill>
                  <a:srgbClr val="FF0000"/>
                </a:solidFill>
              </a:rPr>
              <a:t>LayerNorm</a:t>
            </a:r>
            <a:r>
              <a:rPr lang="en-US" sz="2000" b="1" dirty="0">
                <a:solidFill>
                  <a:srgbClr val="FF0000"/>
                </a:solidFill>
              </a:rPr>
              <a:t>(x))</a:t>
            </a:r>
          </a:p>
          <a:p>
            <a:pPr marL="285750" indent="-285750" algn="ctr">
              <a:buFont typeface="Arial" panose="020B0604020202020204" pitchFamily="34" charset="0"/>
              <a:buChar char="•"/>
            </a:pPr>
            <a:endParaRPr lang="en-US" sz="2000" dirty="0"/>
          </a:p>
          <a:p>
            <a:pPr marL="742950" lvl="1" indent="-285750">
              <a:buFont typeface="Arial" panose="020B0604020202020204" pitchFamily="34" charset="0"/>
              <a:buChar char="•"/>
            </a:pPr>
            <a:r>
              <a:rPr lang="en-US" sz="2000" dirty="0"/>
              <a:t>Gradient highway:  Gradient has a </a:t>
            </a:r>
            <a:r>
              <a:rPr lang="en-US" sz="2000" b="1" dirty="0"/>
              <a:t>direct, unmodified path</a:t>
            </a:r>
            <a:r>
              <a:rPr lang="en-US" sz="2000" dirty="0"/>
              <a:t> back through the residual connection, bypassing both the sublayer and normalization entirely</a:t>
            </a:r>
          </a:p>
          <a:p>
            <a:pPr marL="742950" lvl="1" indent="-285750">
              <a:buFont typeface="Arial" panose="020B0604020202020204" pitchFamily="34" charset="0"/>
              <a:buChar char="•"/>
            </a:pPr>
            <a:r>
              <a:rPr lang="en-US" sz="2000" dirty="0"/>
              <a:t>Trains stably even at </a:t>
            </a:r>
            <a:r>
              <a:rPr lang="en-US" sz="2000" b="1" dirty="0"/>
              <a:t>100+ layers</a:t>
            </a:r>
            <a:r>
              <a:rPr lang="en-US" sz="2000" dirty="0"/>
              <a:t> without warmup tricks</a:t>
            </a:r>
          </a:p>
          <a:p>
            <a:pPr marL="742950" lvl="1" indent="-285750">
              <a:buFont typeface="Arial" panose="020B0604020202020204" pitchFamily="34" charset="0"/>
              <a:buChar char="•"/>
            </a:pPr>
            <a:r>
              <a:rPr lang="en-US" sz="2000" dirty="0"/>
              <a:t>Tolerates larger learning rates and doesn’t require careful learning rate warm-up</a:t>
            </a:r>
          </a:p>
          <a:p>
            <a:pPr marL="742950" lvl="1"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err="1"/>
              <a:t>OLMo</a:t>
            </a:r>
            <a:r>
              <a:rPr lang="en-US" sz="2000" dirty="0"/>
              <a:t> 2 moves </a:t>
            </a:r>
            <a:r>
              <a:rPr lang="en-US" sz="2000" dirty="0" err="1"/>
              <a:t>RMSNorm</a:t>
            </a:r>
            <a:r>
              <a:rPr lang="en-US" sz="2000" dirty="0"/>
              <a:t> into a post-norm-like position inside the residual path, while Gemma 3 uses it both before and after sublayers</a:t>
            </a:r>
          </a:p>
        </p:txBody>
      </p:sp>
      <p:sp>
        <p:nvSpPr>
          <p:cNvPr id="4" name="Title 3"/>
          <p:cNvSpPr>
            <a:spLocks noGrp="1"/>
          </p:cNvSpPr>
          <p:nvPr>
            <p:ph type="title"/>
          </p:nvPr>
        </p:nvSpPr>
        <p:spPr/>
        <p:txBody>
          <a:bodyPr/>
          <a:lstStyle/>
          <a:p>
            <a:r>
              <a:rPr lang="en-US" dirty="0">
                <a:latin typeface="pplxSerif"/>
              </a:rPr>
              <a:t>Pre-Norm vs Post Norm</a:t>
            </a:r>
            <a:endParaRPr lang="en-IN" dirty="0"/>
          </a:p>
        </p:txBody>
      </p:sp>
    </p:spTree>
    <p:extLst>
      <p:ext uri="{BB962C8B-B14F-4D97-AF65-F5344CB8AC3E}">
        <p14:creationId xmlns:p14="http://schemas.microsoft.com/office/powerpoint/2010/main" val="22192083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0"/>
          </p:nvPr>
        </p:nvPicPr>
        <p:blipFill>
          <a:blip r:embed="rId3"/>
          <a:stretch>
            <a:fillRect/>
          </a:stretch>
        </p:blipFill>
        <p:spPr>
          <a:xfrm>
            <a:off x="1" y="357031"/>
            <a:ext cx="11917180" cy="6511534"/>
          </a:xfrm>
          <a:prstGeom prst="rect">
            <a:avLst/>
          </a:prstGeom>
        </p:spPr>
      </p:pic>
    </p:spTree>
    <p:extLst>
      <p:ext uri="{BB962C8B-B14F-4D97-AF65-F5344CB8AC3E}">
        <p14:creationId xmlns:p14="http://schemas.microsoft.com/office/powerpoint/2010/main" val="6408515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0"/>
          </p:nvPr>
        </p:nvSpPr>
        <p:spPr>
          <a:xfrm>
            <a:off x="223520" y="1524904"/>
            <a:ext cx="11480800" cy="5109576"/>
          </a:xfrm>
        </p:spPr>
        <p:txBody>
          <a:bodyPr>
            <a:normAutofit lnSpcReduction="10000"/>
          </a:bodyPr>
          <a:lstStyle/>
          <a:p>
            <a:pPr marL="342900" indent="-342900">
              <a:buFont typeface="Arial" panose="020B0604020202020204" pitchFamily="34" charset="0"/>
              <a:buChar char="•"/>
            </a:pPr>
            <a:r>
              <a:rPr lang="en-US" dirty="0"/>
              <a:t>Applies l2 normalization to Q and K only, and it does so along the head dimension(which is the same dimension as the embedding dimension, but after </a:t>
            </a:r>
            <a:r>
              <a:rPr lang="en-US" dirty="0" err="1"/>
              <a:t>multihead</a:t>
            </a:r>
            <a:r>
              <a:rPr lang="en-US" dirty="0"/>
              <a:t> attention has split its input into separate heads)</a:t>
            </a:r>
          </a:p>
          <a:p>
            <a:pPr marL="342900" indent="-342900">
              <a:buFont typeface="Arial" panose="020B0604020202020204" pitchFamily="34" charset="0"/>
              <a:buChar char="•"/>
            </a:pPr>
            <a:r>
              <a:rPr lang="en-US" dirty="0"/>
              <a:t> </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It stabilizes attention computation by forcing query and key vectors onto a controlled scale instead of letting large norms dominate the dot product</a:t>
            </a:r>
          </a:p>
          <a:p>
            <a:pPr marL="342900" indent="-342900">
              <a:buFont typeface="Arial" panose="020B0604020202020204" pitchFamily="34" charset="0"/>
              <a:buChar char="•"/>
            </a:pPr>
            <a:r>
              <a:rPr lang="en-US" dirty="0"/>
              <a:t>It reduces </a:t>
            </a:r>
            <a:r>
              <a:rPr lang="en-US" dirty="0" err="1"/>
              <a:t>softmax</a:t>
            </a:r>
            <a:r>
              <a:rPr lang="en-US" dirty="0"/>
              <a:t> saturation, so gradients remain more useful during training</a:t>
            </a:r>
          </a:p>
          <a:p>
            <a:pPr marL="342900" indent="-342900">
              <a:buFont typeface="Arial" panose="020B0604020202020204" pitchFamily="34" charset="0"/>
              <a:buChar char="•"/>
            </a:pPr>
            <a:r>
              <a:rPr lang="en-US" dirty="0"/>
              <a:t>Improves gradient stability, reduces training instability</a:t>
            </a:r>
          </a:p>
          <a:p>
            <a:pPr marL="342900" indent="-342900">
              <a:buFont typeface="Arial" panose="020B0604020202020204" pitchFamily="34" charset="0"/>
              <a:buChar char="•"/>
            </a:pPr>
            <a:r>
              <a:rPr lang="en-US" dirty="0" err="1"/>
              <a:t>MiniMax</a:t>
            </a:r>
            <a:r>
              <a:rPr lang="en-US" dirty="0"/>
              <a:t> M2 used a per-head variation</a:t>
            </a:r>
          </a:p>
          <a:p>
            <a:pPr marL="342900" indent="-342900">
              <a:buFont typeface="Arial" panose="020B0604020202020204" pitchFamily="34" charset="0"/>
              <a:buChar char="•"/>
            </a:pPr>
            <a:r>
              <a:rPr lang="en-US" dirty="0"/>
              <a:t>Qwen3-Next moved toward a zero-centered variant inside its gated attention blocks</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IN" dirty="0"/>
          </a:p>
        </p:txBody>
      </p:sp>
      <p:sp>
        <p:nvSpPr>
          <p:cNvPr id="3" name="Title 2"/>
          <p:cNvSpPr>
            <a:spLocks noGrp="1"/>
          </p:cNvSpPr>
          <p:nvPr>
            <p:ph type="title"/>
          </p:nvPr>
        </p:nvSpPr>
        <p:spPr/>
        <p:txBody>
          <a:bodyPr/>
          <a:lstStyle/>
          <a:p>
            <a:r>
              <a:rPr lang="en-IN" dirty="0"/>
              <a:t>QK-Norm</a:t>
            </a:r>
            <a:br>
              <a:rPr lang="en-IN" dirty="0"/>
            </a:br>
            <a:endParaRPr lang="en-IN" dirty="0"/>
          </a:p>
        </p:txBody>
      </p:sp>
      <p:pic>
        <p:nvPicPr>
          <p:cNvPr id="5" name="Picture 4">
            <a:extLst>
              <a:ext uri="{FF2B5EF4-FFF2-40B4-BE49-F238E27FC236}">
                <a16:creationId xmlns:a16="http://schemas.microsoft.com/office/drawing/2014/main" id="{DF6F2088-85F0-CF9F-15BE-5F9C4F560189}"/>
              </a:ext>
            </a:extLst>
          </p:cNvPr>
          <p:cNvPicPr>
            <a:picLocks noChangeAspect="1"/>
          </p:cNvPicPr>
          <p:nvPr/>
        </p:nvPicPr>
        <p:blipFill>
          <a:blip r:embed="rId3"/>
          <a:stretch>
            <a:fillRect/>
          </a:stretch>
        </p:blipFill>
        <p:spPr>
          <a:xfrm>
            <a:off x="524231" y="2706362"/>
            <a:ext cx="1633301" cy="822283"/>
          </a:xfrm>
          <a:prstGeom prst="rect">
            <a:avLst/>
          </a:prstGeom>
        </p:spPr>
      </p:pic>
      <p:pic>
        <p:nvPicPr>
          <p:cNvPr id="7" name="Picture 6">
            <a:extLst>
              <a:ext uri="{FF2B5EF4-FFF2-40B4-BE49-F238E27FC236}">
                <a16:creationId xmlns:a16="http://schemas.microsoft.com/office/drawing/2014/main" id="{22E58E67-05C6-EEF4-C91D-697E7667FBA6}"/>
              </a:ext>
            </a:extLst>
          </p:cNvPr>
          <p:cNvPicPr>
            <a:picLocks noChangeAspect="1"/>
          </p:cNvPicPr>
          <p:nvPr/>
        </p:nvPicPr>
        <p:blipFill>
          <a:blip r:embed="rId4"/>
          <a:stretch>
            <a:fillRect/>
          </a:stretch>
        </p:blipFill>
        <p:spPr>
          <a:xfrm>
            <a:off x="2815710" y="2836903"/>
            <a:ext cx="2271516" cy="561199"/>
          </a:xfrm>
          <a:prstGeom prst="rect">
            <a:avLst/>
          </a:prstGeom>
        </p:spPr>
      </p:pic>
      <p:sp>
        <p:nvSpPr>
          <p:cNvPr id="11" name="TextBox 10">
            <a:extLst>
              <a:ext uri="{FF2B5EF4-FFF2-40B4-BE49-F238E27FC236}">
                <a16:creationId xmlns:a16="http://schemas.microsoft.com/office/drawing/2014/main" id="{6FCC851A-9BD5-859B-E770-DAF8D15CCAB7}"/>
              </a:ext>
            </a:extLst>
          </p:cNvPr>
          <p:cNvSpPr txBox="1"/>
          <p:nvPr/>
        </p:nvSpPr>
        <p:spPr>
          <a:xfrm>
            <a:off x="5745405" y="2917449"/>
            <a:ext cx="4416078" cy="400110"/>
          </a:xfrm>
          <a:prstGeom prst="rect">
            <a:avLst/>
          </a:prstGeom>
          <a:noFill/>
        </p:spPr>
        <p:txBody>
          <a:bodyPr wrap="square">
            <a:spAutoFit/>
          </a:bodyPr>
          <a:lstStyle/>
          <a:p>
            <a:r>
              <a:rPr lang="en-US" sz="2000" dirty="0"/>
              <a:t>g is learnable scalar parameter</a:t>
            </a:r>
            <a:endParaRPr lang="en-IN" sz="2000" dirty="0"/>
          </a:p>
        </p:txBody>
      </p:sp>
    </p:spTree>
    <p:extLst>
      <p:ext uri="{BB962C8B-B14F-4D97-AF65-F5344CB8AC3E}">
        <p14:creationId xmlns:p14="http://schemas.microsoft.com/office/powerpoint/2010/main" val="31731340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768825" y="2702257"/>
            <a:ext cx="10881209" cy="1219200"/>
          </a:xfrm>
        </p:spPr>
        <p:txBody>
          <a:bodyPr>
            <a:normAutofit/>
          </a:bodyPr>
          <a:lstStyle/>
          <a:p>
            <a:r>
              <a:rPr lang="en-IN" dirty="0"/>
              <a:t>Position Embedding</a:t>
            </a:r>
            <a:br>
              <a:rPr lang="en-IN" dirty="0"/>
            </a:br>
            <a:endParaRPr lang="en-IN" dirty="0"/>
          </a:p>
        </p:txBody>
      </p:sp>
    </p:spTree>
    <p:extLst>
      <p:ext uri="{BB962C8B-B14F-4D97-AF65-F5344CB8AC3E}">
        <p14:creationId xmlns:p14="http://schemas.microsoft.com/office/powerpoint/2010/main" val="36853584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9D56227-D557-5E2C-F614-937D6ABFD68A}"/>
              </a:ext>
            </a:extLst>
          </p:cNvPr>
          <p:cNvSpPr>
            <a:spLocks noGrp="1"/>
          </p:cNvSpPr>
          <p:nvPr>
            <p:ph idx="10"/>
          </p:nvPr>
        </p:nvSpPr>
        <p:spPr>
          <a:xfrm>
            <a:off x="0" y="1433464"/>
            <a:ext cx="12192000" cy="4525963"/>
          </a:xfrm>
        </p:spPr>
        <p:txBody>
          <a:bodyPr>
            <a:normAutofit/>
          </a:bodyPr>
          <a:lstStyle/>
          <a:p>
            <a:pPr marL="342900" indent="-342900">
              <a:buFont typeface="Arial" panose="020B0604020202020204" pitchFamily="34" charset="0"/>
              <a:buChar char="•"/>
            </a:pPr>
            <a:r>
              <a:rPr lang="en-US" dirty="0"/>
              <a:t>Key intuition: instead of each token saying “I am at position k”, pairs of tokens should implicitly say “we are k tokens apart”</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Example: “my </a:t>
            </a:r>
            <a:r>
              <a:rPr lang="en-US" dirty="0">
                <a:highlight>
                  <a:srgbClr val="FFFF00"/>
                </a:highlight>
              </a:rPr>
              <a:t>daughter called </a:t>
            </a:r>
            <a:r>
              <a:rPr lang="en-US" dirty="0"/>
              <a:t>her brother last night” </a:t>
            </a:r>
          </a:p>
          <a:p>
            <a:r>
              <a:rPr lang="en-US" dirty="0"/>
              <a:t>                         “last night, my </a:t>
            </a:r>
            <a:r>
              <a:rPr lang="en-US" dirty="0">
                <a:highlight>
                  <a:srgbClr val="FFFF00"/>
                </a:highlight>
              </a:rPr>
              <a:t>daughter called </a:t>
            </a:r>
            <a:r>
              <a:rPr lang="en-US" dirty="0"/>
              <a:t>her brother” </a:t>
            </a:r>
          </a:p>
          <a:p>
            <a:pPr marL="342900" indent="-342900">
              <a:buFont typeface="Arial" panose="020B0604020202020204" pitchFamily="34" charset="0"/>
              <a:buChar char="•"/>
            </a:pPr>
            <a:r>
              <a:rPr lang="en-US" dirty="0"/>
              <a:t>Attention between “daughter” and “called” should be invariant to shifts.</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Linguistic motivation: many dependencies (e.g., adjective–noun, pronoun–antecedent, verb–subject) are inherently relative, not tied to fixed absolute positions.</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Rotation captures relative distance</a:t>
            </a:r>
            <a:endParaRPr lang="en-IN" dirty="0"/>
          </a:p>
        </p:txBody>
      </p:sp>
      <p:sp>
        <p:nvSpPr>
          <p:cNvPr id="3" name="Title 2">
            <a:extLst>
              <a:ext uri="{FF2B5EF4-FFF2-40B4-BE49-F238E27FC236}">
                <a16:creationId xmlns:a16="http://schemas.microsoft.com/office/drawing/2014/main" id="{AAD4A5F4-1305-D238-8B0C-1B2C90934DCD}"/>
              </a:ext>
            </a:extLst>
          </p:cNvPr>
          <p:cNvSpPr>
            <a:spLocks noGrp="1"/>
          </p:cNvSpPr>
          <p:nvPr>
            <p:ph type="title"/>
          </p:nvPr>
        </p:nvSpPr>
        <p:spPr/>
        <p:txBody>
          <a:bodyPr/>
          <a:lstStyle/>
          <a:p>
            <a:r>
              <a:rPr lang="en-US" dirty="0"/>
              <a:t>Rotary Positional Embeddings (</a:t>
            </a:r>
            <a:r>
              <a:rPr lang="en-US" dirty="0" err="1"/>
              <a:t>RoPE</a:t>
            </a:r>
            <a:r>
              <a:rPr lang="en-US" dirty="0"/>
              <a:t>)</a:t>
            </a:r>
            <a:endParaRPr lang="en-IN" dirty="0"/>
          </a:p>
        </p:txBody>
      </p:sp>
    </p:spTree>
    <p:extLst>
      <p:ext uri="{BB962C8B-B14F-4D97-AF65-F5344CB8AC3E}">
        <p14:creationId xmlns:p14="http://schemas.microsoft.com/office/powerpoint/2010/main" val="18944797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0"/>
          </p:nvPr>
        </p:nvPicPr>
        <p:blipFill>
          <a:blip r:embed="rId2"/>
          <a:stretch>
            <a:fillRect/>
          </a:stretch>
        </p:blipFill>
        <p:spPr>
          <a:xfrm>
            <a:off x="0" y="1441082"/>
            <a:ext cx="5811271" cy="4959718"/>
          </a:xfrm>
          <a:prstGeom prst="rect">
            <a:avLst/>
          </a:prstGeom>
        </p:spPr>
      </p:pic>
      <p:sp>
        <p:nvSpPr>
          <p:cNvPr id="3" name="Title 2"/>
          <p:cNvSpPr>
            <a:spLocks noGrp="1"/>
          </p:cNvSpPr>
          <p:nvPr>
            <p:ph type="title"/>
          </p:nvPr>
        </p:nvSpPr>
        <p:spPr/>
        <p:txBody>
          <a:bodyPr/>
          <a:lstStyle/>
          <a:p>
            <a:r>
              <a:rPr lang="en-US" dirty="0" err="1"/>
              <a:t>RoPE</a:t>
            </a:r>
            <a:endParaRPr lang="en-IN" dirty="0"/>
          </a:p>
        </p:txBody>
      </p:sp>
      <p:sp>
        <p:nvSpPr>
          <p:cNvPr id="5" name="Rectangle 4"/>
          <p:cNvSpPr/>
          <p:nvPr/>
        </p:nvSpPr>
        <p:spPr>
          <a:xfrm>
            <a:off x="6056931" y="1595021"/>
            <a:ext cx="6135069" cy="5262979"/>
          </a:xfrm>
          <a:prstGeom prst="rect">
            <a:avLst/>
          </a:prstGeom>
        </p:spPr>
        <p:txBody>
          <a:bodyPr vert="horz" lIns="91440" tIns="45720" rIns="91440" bIns="45720" rtlCol="0">
            <a:normAutofit/>
          </a:bodyPr>
          <a:lstStyle/>
          <a:p>
            <a:pPr marL="342900" indent="-342900">
              <a:buFont typeface="Arial" panose="020B0604020202020204" pitchFamily="34" charset="0"/>
              <a:buChar char="•"/>
            </a:pPr>
            <a:r>
              <a:rPr lang="en-US" sz="2400" dirty="0">
                <a:latin typeface="Cambria" panose="02040503050406030204" pitchFamily="18" charset="0"/>
                <a:ea typeface="Cambria" panose="02040503050406030204" pitchFamily="18" charset="0"/>
              </a:rPr>
              <a:t>Introduced in the </a:t>
            </a:r>
            <a:r>
              <a:rPr lang="en-US" sz="2400" dirty="0" err="1">
                <a:latin typeface="Cambria" panose="02040503050406030204" pitchFamily="18" charset="0"/>
                <a:ea typeface="Cambria" panose="02040503050406030204" pitchFamily="18" charset="0"/>
              </a:rPr>
              <a:t>RoFormer</a:t>
            </a:r>
            <a:r>
              <a:rPr lang="en-US" sz="2400" dirty="0">
                <a:latin typeface="Cambria" panose="02040503050406030204" pitchFamily="18" charset="0"/>
                <a:ea typeface="Cambria" panose="02040503050406030204" pitchFamily="18" charset="0"/>
              </a:rPr>
              <a:t> paper (Su et al., 2021)</a:t>
            </a:r>
          </a:p>
          <a:p>
            <a:pPr marL="342900" indent="-342900">
              <a:buFont typeface="Arial" panose="020B0604020202020204" pitchFamily="34" charset="0"/>
              <a:buChar char="•"/>
            </a:pPr>
            <a:r>
              <a:rPr lang="en-US" sz="2400" dirty="0" err="1">
                <a:latin typeface="Cambria" panose="02040503050406030204" pitchFamily="18" charset="0"/>
                <a:ea typeface="Cambria" panose="02040503050406030204" pitchFamily="18" charset="0"/>
              </a:rPr>
              <a:t>RoPE</a:t>
            </a:r>
            <a:r>
              <a:rPr lang="en-US" sz="2400" dirty="0">
                <a:latin typeface="Cambria" panose="02040503050406030204" pitchFamily="18" charset="0"/>
                <a:ea typeface="Cambria" panose="02040503050406030204" pitchFamily="18" charset="0"/>
              </a:rPr>
              <a:t> rotates the query and key vectors using position-dependent sine and cosine terms. </a:t>
            </a:r>
          </a:p>
          <a:p>
            <a:pPr marL="342900" indent="-342900">
              <a:buFont typeface="Arial" panose="020B0604020202020204" pitchFamily="34" charset="0"/>
              <a:buChar char="•"/>
            </a:pPr>
            <a:r>
              <a:rPr lang="en-US" sz="2400" dirty="0">
                <a:latin typeface="Cambria" panose="02040503050406030204" pitchFamily="18" charset="0"/>
                <a:ea typeface="Cambria" panose="02040503050406030204" pitchFamily="18" charset="0"/>
              </a:rPr>
              <a:t>The practical effect is that relative position gets encoded directly into the dot product used by attention</a:t>
            </a:r>
          </a:p>
          <a:p>
            <a:pPr marL="342900" indent="-342900">
              <a:buFont typeface="Arial" panose="020B0604020202020204" pitchFamily="34" charset="0"/>
              <a:buChar char="•"/>
            </a:pPr>
            <a:r>
              <a:rPr lang="en-US" sz="2400" dirty="0">
                <a:latin typeface="Cambria" panose="02040503050406030204" pitchFamily="18" charset="0"/>
                <a:ea typeface="Cambria" panose="02040503050406030204" pitchFamily="18" charset="0"/>
              </a:rPr>
              <a:t>So instead of adding a separate learned vector for “position 512,” the attention computation itself becomes position-aware.</a:t>
            </a:r>
          </a:p>
          <a:p>
            <a:pPr marL="342900" indent="-342900">
              <a:buFont typeface="Arial" panose="020B0604020202020204" pitchFamily="34" charset="0"/>
              <a:buChar char="•"/>
            </a:pPr>
            <a:endParaRPr lang="en-US" sz="2400" dirty="0">
              <a:latin typeface="Cambria" panose="02040503050406030204" pitchFamily="18" charset="0"/>
              <a:ea typeface="Cambria" panose="02040503050406030204" pitchFamily="18" charset="0"/>
            </a:endParaRPr>
          </a:p>
          <a:p>
            <a:pPr marL="342900" indent="-342900">
              <a:buFont typeface="Arial" panose="020B0604020202020204" pitchFamily="34" charset="0"/>
              <a:buChar char="•"/>
            </a:pPr>
            <a:endParaRPr lang="en-US" sz="24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5006325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C35FFBD0-396E-E08D-904A-856CAEA043B0}"/>
                  </a:ext>
                </a:extLst>
              </p:cNvPr>
              <p:cNvSpPr>
                <a:spLocks noGrp="1"/>
              </p:cNvSpPr>
              <p:nvPr>
                <p:ph idx="10"/>
              </p:nvPr>
            </p:nvSpPr>
            <p:spPr>
              <a:xfrm>
                <a:off x="149525" y="1380115"/>
                <a:ext cx="11480800" cy="5408874"/>
              </a:xfrm>
            </p:spPr>
            <p:txBody>
              <a:bodyPr>
                <a:normAutofit/>
              </a:bodyPr>
              <a:lstStyle/>
              <a:p>
                <a:pPr marL="342900" indent="-342900">
                  <a:buFont typeface="Arial" panose="020B0604020202020204" pitchFamily="34" charset="0"/>
                  <a:buChar char="•"/>
                </a:pPr>
                <a:r>
                  <a:rPr lang="en-US" sz="2000" dirty="0"/>
                  <a:t>In basic trigonometry for rotating a point around the origin in 2D</a:t>
                </a:r>
              </a:p>
              <a:p>
                <a:pPr lvl="3"/>
                <a:r>
                  <a:rPr lang="en-IN" sz="2000" i="1" dirty="0"/>
                  <a:t>x</a:t>
                </a:r>
                <a:r>
                  <a:rPr lang="en-IN" sz="2000" dirty="0"/>
                  <a:t>′=</a:t>
                </a:r>
                <a:r>
                  <a:rPr lang="en-IN" sz="2000" i="1" dirty="0"/>
                  <a:t>x </a:t>
                </a:r>
                <a:r>
                  <a:rPr lang="en-IN" sz="2000" dirty="0"/>
                  <a:t>cos</a:t>
                </a:r>
                <a:r>
                  <a:rPr lang="el-GR" sz="2000" i="1" dirty="0"/>
                  <a:t>θ</a:t>
                </a:r>
                <a:r>
                  <a:rPr lang="el-GR" sz="2000" dirty="0"/>
                  <a:t>−</a:t>
                </a:r>
                <a:r>
                  <a:rPr lang="en-IN" sz="2000" i="1" dirty="0"/>
                  <a:t>y </a:t>
                </a:r>
                <a:r>
                  <a:rPr lang="en-IN" sz="2000" dirty="0"/>
                  <a:t>sin</a:t>
                </a:r>
                <a:r>
                  <a:rPr lang="el-GR" sz="2000" i="1" dirty="0"/>
                  <a:t>θ</a:t>
                </a:r>
                <a:endParaRPr lang="en-US" sz="2000" b="0" i="1" dirty="0"/>
              </a:p>
              <a:p>
                <a:pPr lvl="3"/>
                <a14:m>
                  <m:oMathPara xmlns:m="http://schemas.openxmlformats.org/officeDocument/2006/math">
                    <m:oMathParaPr>
                      <m:jc m:val="left"/>
                    </m:oMathParaPr>
                    <m:oMath xmlns:m="http://schemas.openxmlformats.org/officeDocument/2006/math">
                      <m:sSup>
                        <m:sSupPr>
                          <m:ctrlPr>
                            <a:rPr lang="ar-AE" sz="2000" i="1">
                              <a:latin typeface="Cambria Math" panose="02040503050406030204" pitchFamily="18" charset="0"/>
                            </a:rPr>
                          </m:ctrlPr>
                        </m:sSupPr>
                        <m:e>
                          <m:r>
                            <a:rPr lang="ar-AE" sz="2000" i="1">
                              <a:latin typeface="Cambria Math" panose="02040503050406030204" pitchFamily="18" charset="0"/>
                            </a:rPr>
                            <m:t>𝑦</m:t>
                          </m:r>
                        </m:e>
                        <m:sup>
                          <m:r>
                            <a:rPr lang="ar-AE" sz="2000">
                              <a:latin typeface="Cambria Math" panose="02040503050406030204" pitchFamily="18" charset="0"/>
                            </a:rPr>
                            <m:t>′</m:t>
                          </m:r>
                        </m:sup>
                      </m:sSup>
                      <m:r>
                        <a:rPr lang="ar-AE" sz="2000">
                          <a:latin typeface="Cambria Math" panose="02040503050406030204" pitchFamily="18" charset="0"/>
                        </a:rPr>
                        <m:t>=</m:t>
                      </m:r>
                      <m:r>
                        <a:rPr lang="ar-AE" sz="2000" i="1">
                          <a:latin typeface="Cambria Math" panose="02040503050406030204" pitchFamily="18" charset="0"/>
                        </a:rPr>
                        <m:t>𝑥</m:t>
                      </m:r>
                      <m:func>
                        <m:funcPr>
                          <m:ctrlPr>
                            <a:rPr lang="ar-AE" sz="2000" i="1">
                              <a:latin typeface="Cambria Math" panose="02040503050406030204" pitchFamily="18" charset="0"/>
                            </a:rPr>
                          </m:ctrlPr>
                        </m:funcPr>
                        <m:fName>
                          <m:r>
                            <m:rPr>
                              <m:sty m:val="p"/>
                            </m:rPr>
                            <a:rPr lang="en-IN" sz="2000">
                              <a:latin typeface="Cambria Math" panose="02040503050406030204" pitchFamily="18" charset="0"/>
                            </a:rPr>
                            <m:t>sin</m:t>
                          </m:r>
                        </m:fName>
                        <m:e>
                          <m:r>
                            <a:rPr lang="ar-AE" sz="2000" i="1">
                              <a:latin typeface="Cambria Math" panose="02040503050406030204" pitchFamily="18" charset="0"/>
                            </a:rPr>
                            <m:t>𝜃</m:t>
                          </m:r>
                        </m:e>
                      </m:func>
                      <m:r>
                        <a:rPr lang="ar-AE" sz="2000">
                          <a:latin typeface="Cambria Math" panose="02040503050406030204" pitchFamily="18" charset="0"/>
                        </a:rPr>
                        <m:t>+</m:t>
                      </m:r>
                      <m:r>
                        <a:rPr lang="ar-AE" sz="2000" i="1">
                          <a:latin typeface="Cambria Math" panose="02040503050406030204" pitchFamily="18" charset="0"/>
                        </a:rPr>
                        <m:t>𝑦</m:t>
                      </m:r>
                      <m:func>
                        <m:funcPr>
                          <m:ctrlPr>
                            <a:rPr lang="ar-AE" sz="2000" i="1">
                              <a:latin typeface="Cambria Math" panose="02040503050406030204" pitchFamily="18" charset="0"/>
                            </a:rPr>
                          </m:ctrlPr>
                        </m:funcPr>
                        <m:fName>
                          <m:r>
                            <m:rPr>
                              <m:sty m:val="p"/>
                            </m:rPr>
                            <a:rPr lang="en-IN" sz="2000">
                              <a:latin typeface="Cambria Math" panose="02040503050406030204" pitchFamily="18" charset="0"/>
                            </a:rPr>
                            <m:t>cos</m:t>
                          </m:r>
                        </m:fName>
                        <m:e>
                          <m:r>
                            <a:rPr lang="ar-AE" sz="2000" i="1">
                              <a:latin typeface="Cambria Math" panose="02040503050406030204" pitchFamily="18" charset="0"/>
                            </a:rPr>
                            <m:t>𝜃</m:t>
                          </m:r>
                        </m:e>
                      </m:func>
                    </m:oMath>
                  </m:oMathPara>
                </a14:m>
                <a:endParaRPr lang="en-US" sz="2000" dirty="0"/>
              </a:p>
              <a:p>
                <a:pPr marL="342900" indent="-342900">
                  <a:buFont typeface="Arial" panose="020B0604020202020204" pitchFamily="34" charset="0"/>
                  <a:buChar char="•"/>
                </a:pPr>
                <a:r>
                  <a:rPr lang="en-US" sz="2000" dirty="0"/>
                  <a:t>We can define a rotation matrix as </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IN" sz="2000" dirty="0"/>
                  <a:t>Given a vector </a:t>
                </a:r>
                <a14:m>
                  <m:oMath xmlns:m="http://schemas.openxmlformats.org/officeDocument/2006/math">
                    <m:d>
                      <m:dPr>
                        <m:begChr m:val="["/>
                        <m:endChr m:val="]"/>
                        <m:ctrlPr>
                          <a:rPr lang="ar-AE" sz="2000" i="1">
                            <a:latin typeface="Cambria Math" panose="02040503050406030204" pitchFamily="18" charset="0"/>
                          </a:rPr>
                        </m:ctrlPr>
                      </m:dPr>
                      <m:e>
                        <m:m>
                          <m:mPr>
                            <m:plcHide m:val="on"/>
                            <m:mcs>
                              <m:mc>
                                <m:mcPr>
                                  <m:count m:val="1"/>
                                  <m:mcJc m:val="center"/>
                                </m:mcPr>
                              </m:mc>
                            </m:mcs>
                            <m:ctrlPr>
                              <a:rPr lang="ar-AE" sz="2000" i="1">
                                <a:latin typeface="Cambria Math" panose="02040503050406030204" pitchFamily="18" charset="0"/>
                              </a:rPr>
                            </m:ctrlPr>
                          </m:mPr>
                          <m:mr>
                            <m:e>
                              <m:r>
                                <a:rPr lang="ar-AE" sz="2000" i="1">
                                  <a:latin typeface="Cambria Math" panose="02040503050406030204" pitchFamily="18" charset="0"/>
                                </a:rPr>
                                <m:t>𝑥</m:t>
                              </m:r>
                              <m:r>
                                <m:rPr>
                                  <m:nor/>
                                </m:rPr>
                                <a:rPr lang="ar-AE" sz="2000" i="1"/>
                                <m:t> </m:t>
                              </m:r>
                              <m:r>
                                <a:rPr lang="ar-AE" sz="2000" i="1">
                                  <a:latin typeface="Cambria Math" panose="02040503050406030204" pitchFamily="18" charset="0"/>
                                </a:rPr>
                                <m:t>𝑦</m:t>
                              </m:r>
                            </m:e>
                          </m:mr>
                        </m:m>
                      </m:e>
                    </m:d>
                  </m:oMath>
                </a14:m>
                <a:r>
                  <a:rPr lang="ar-AE" sz="2000" dirty="0"/>
                  <a:t>, </a:t>
                </a:r>
                <a:r>
                  <a:rPr lang="en-IN" sz="2000" dirty="0"/>
                  <a:t>the rotated vector is</a:t>
                </a:r>
              </a:p>
              <a:p>
                <a:pPr marL="342900" indent="-342900">
                  <a:buFont typeface="Arial" panose="020B0604020202020204" pitchFamily="34" charset="0"/>
                  <a:buChar char="•"/>
                </a:pPr>
                <a:endParaRPr lang="en-IN" sz="2000" dirty="0"/>
              </a:p>
              <a:p>
                <a:pPr marL="342900" indent="-342900">
                  <a:buFont typeface="Arial" panose="020B0604020202020204" pitchFamily="34" charset="0"/>
                  <a:buChar char="•"/>
                </a:pPr>
                <a:endParaRPr lang="en-IN" sz="2000" dirty="0"/>
              </a:p>
              <a:p>
                <a:pPr marL="342900" indent="-342900">
                  <a:buFont typeface="Arial" panose="020B0604020202020204" pitchFamily="34" charset="0"/>
                  <a:buChar char="•"/>
                </a:pPr>
                <a:r>
                  <a:rPr lang="en-IN" sz="2000" dirty="0"/>
                  <a:t>Attention score for Query at position m and Key at position </a:t>
                </a:r>
                <a14:m>
                  <m:oMath xmlns:m="http://schemas.openxmlformats.org/officeDocument/2006/math">
                    <m:r>
                      <a:rPr lang="en-IN" sz="2000" i="1">
                        <a:latin typeface="Cambria Math" panose="02040503050406030204" pitchFamily="18" charset="0"/>
                      </a:rPr>
                      <m:t>𝑛</m:t>
                    </m:r>
                    <m:r>
                      <a:rPr lang="en-US" sz="2000" b="0" i="0" smtClean="0">
                        <a:latin typeface="Cambria Math" panose="02040503050406030204" pitchFamily="18" charset="0"/>
                      </a:rPr>
                      <m:t> </m:t>
                    </m:r>
                  </m:oMath>
                </a14:m>
                <a:endParaRPr lang="en-US" sz="2000" b="0" i="0" dirty="0">
                  <a:latin typeface="Cambria Math" panose="02040503050406030204" pitchFamily="18" charset="0"/>
                </a:endParaRP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multiply Q and K by a position‑dependent rotation</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b="0" dirty="0"/>
                  <a:t>Attention score now becomes </a:t>
                </a:r>
                <a14:m>
                  <m:oMath xmlns:m="http://schemas.openxmlformats.org/officeDocument/2006/math">
                    <m:r>
                      <a:rPr lang="en-US" sz="2000" b="0" i="0" smtClean="0">
                        <a:latin typeface="Cambria Math" panose="02040503050406030204" pitchFamily="18" charset="0"/>
                      </a:rPr>
                      <m:t>   </m:t>
                    </m:r>
                  </m:oMath>
                </a14:m>
                <a:endParaRPr lang="ar-AE" sz="2000" dirty="0"/>
              </a:p>
              <a:p>
                <a:r>
                  <a:rPr lang="en-IN" sz="2000" dirty="0"/>
                  <a:t>   </a:t>
                </a:r>
                <a:endParaRPr lang="ar-AE" sz="2000" dirty="0"/>
              </a:p>
              <a:p>
                <a:pPr marL="342900" indent="-342900">
                  <a:buFont typeface="Arial" panose="020B0604020202020204" pitchFamily="34" charset="0"/>
                  <a:buChar char="•"/>
                </a:pPr>
                <a:endParaRPr lang="en-IN" sz="2000" dirty="0"/>
              </a:p>
            </p:txBody>
          </p:sp>
        </mc:Choice>
        <mc:Fallback xmlns="">
          <p:sp>
            <p:nvSpPr>
              <p:cNvPr id="2" name="Content Placeholder 1">
                <a:extLst>
                  <a:ext uri="{FF2B5EF4-FFF2-40B4-BE49-F238E27FC236}">
                    <a16:creationId xmlns:a16="http://schemas.microsoft.com/office/drawing/2014/main" id="{C35FFBD0-396E-E08D-904A-856CAEA043B0}"/>
                  </a:ext>
                </a:extLst>
              </p:cNvPr>
              <p:cNvSpPr>
                <a:spLocks noGrp="1" noRot="1" noChangeAspect="1" noMove="1" noResize="1" noEditPoints="1" noAdjustHandles="1" noChangeArrowheads="1" noChangeShapeType="1" noTextEdit="1"/>
              </p:cNvSpPr>
              <p:nvPr>
                <p:ph idx="10"/>
              </p:nvPr>
            </p:nvSpPr>
            <p:spPr>
              <a:xfrm>
                <a:off x="149525" y="1380115"/>
                <a:ext cx="11480800" cy="5408874"/>
              </a:xfrm>
              <a:blipFill>
                <a:blip r:embed="rId3"/>
                <a:stretch>
                  <a:fillRect l="-478" t="-563"/>
                </a:stretch>
              </a:blipFill>
            </p:spPr>
            <p:txBody>
              <a:bodyPr/>
              <a:lstStyle/>
              <a:p>
                <a:r>
                  <a:rPr lang="en-IN">
                    <a:noFill/>
                  </a:rPr>
                  <a:t> </a:t>
                </a:r>
              </a:p>
            </p:txBody>
          </p:sp>
        </mc:Fallback>
      </mc:AlternateContent>
      <p:sp>
        <p:nvSpPr>
          <p:cNvPr id="3" name="Title 2">
            <a:extLst>
              <a:ext uri="{FF2B5EF4-FFF2-40B4-BE49-F238E27FC236}">
                <a16:creationId xmlns:a16="http://schemas.microsoft.com/office/drawing/2014/main" id="{6B3FB991-8977-431B-B3B0-6DC6AC57E8AE}"/>
              </a:ext>
            </a:extLst>
          </p:cNvPr>
          <p:cNvSpPr>
            <a:spLocks noGrp="1"/>
          </p:cNvSpPr>
          <p:nvPr>
            <p:ph type="title"/>
          </p:nvPr>
        </p:nvSpPr>
        <p:spPr/>
        <p:txBody>
          <a:bodyPr/>
          <a:lstStyle/>
          <a:p>
            <a:r>
              <a:rPr lang="en-US" dirty="0" err="1"/>
              <a:t>RoPE</a:t>
            </a:r>
            <a:endParaRPr lang="en-IN" dirty="0"/>
          </a:p>
        </p:txBody>
      </p:sp>
      <p:pic>
        <p:nvPicPr>
          <p:cNvPr id="5" name="Picture 4">
            <a:extLst>
              <a:ext uri="{FF2B5EF4-FFF2-40B4-BE49-F238E27FC236}">
                <a16:creationId xmlns:a16="http://schemas.microsoft.com/office/drawing/2014/main" id="{6D10A2FA-F739-9AA3-26BE-9C165E0C6C8C}"/>
              </a:ext>
            </a:extLst>
          </p:cNvPr>
          <p:cNvPicPr>
            <a:picLocks noChangeAspect="1"/>
          </p:cNvPicPr>
          <p:nvPr/>
        </p:nvPicPr>
        <p:blipFill>
          <a:blip r:embed="rId4"/>
          <a:stretch>
            <a:fillRect/>
          </a:stretch>
        </p:blipFill>
        <p:spPr>
          <a:xfrm>
            <a:off x="4542008" y="2153372"/>
            <a:ext cx="2695833" cy="776332"/>
          </a:xfrm>
          <a:prstGeom prst="rect">
            <a:avLst/>
          </a:prstGeom>
        </p:spPr>
      </p:pic>
      <p:pic>
        <p:nvPicPr>
          <p:cNvPr id="7" name="Picture 6">
            <a:extLst>
              <a:ext uri="{FF2B5EF4-FFF2-40B4-BE49-F238E27FC236}">
                <a16:creationId xmlns:a16="http://schemas.microsoft.com/office/drawing/2014/main" id="{17BABB13-B8A1-AC5B-AD1B-512B3D1B08A3}"/>
              </a:ext>
            </a:extLst>
          </p:cNvPr>
          <p:cNvPicPr>
            <a:picLocks noChangeAspect="1"/>
          </p:cNvPicPr>
          <p:nvPr/>
        </p:nvPicPr>
        <p:blipFill>
          <a:blip r:embed="rId5"/>
          <a:stretch>
            <a:fillRect/>
          </a:stretch>
        </p:blipFill>
        <p:spPr>
          <a:xfrm>
            <a:off x="5385137" y="3129943"/>
            <a:ext cx="1485976" cy="711237"/>
          </a:xfrm>
          <a:prstGeom prst="rect">
            <a:avLst/>
          </a:prstGeom>
        </p:spPr>
      </p:pic>
      <p:pic>
        <p:nvPicPr>
          <p:cNvPr id="9" name="Picture 8">
            <a:extLst>
              <a:ext uri="{FF2B5EF4-FFF2-40B4-BE49-F238E27FC236}">
                <a16:creationId xmlns:a16="http://schemas.microsoft.com/office/drawing/2014/main" id="{FC04E5BD-661E-2FEB-A15C-BDD9594817AA}"/>
              </a:ext>
            </a:extLst>
          </p:cNvPr>
          <p:cNvPicPr>
            <a:picLocks noChangeAspect="1"/>
          </p:cNvPicPr>
          <p:nvPr/>
        </p:nvPicPr>
        <p:blipFill>
          <a:blip r:embed="rId6"/>
          <a:stretch>
            <a:fillRect/>
          </a:stretch>
        </p:blipFill>
        <p:spPr>
          <a:xfrm>
            <a:off x="6290685" y="4923569"/>
            <a:ext cx="1717004" cy="488248"/>
          </a:xfrm>
          <a:prstGeom prst="rect">
            <a:avLst/>
          </a:prstGeom>
        </p:spPr>
      </p:pic>
      <p:pic>
        <p:nvPicPr>
          <p:cNvPr id="11" name="Picture 10">
            <a:extLst>
              <a:ext uri="{FF2B5EF4-FFF2-40B4-BE49-F238E27FC236}">
                <a16:creationId xmlns:a16="http://schemas.microsoft.com/office/drawing/2014/main" id="{C64526AB-0C4D-3EC7-B6F1-1FBEC384658D}"/>
              </a:ext>
            </a:extLst>
          </p:cNvPr>
          <p:cNvPicPr>
            <a:picLocks noChangeAspect="1"/>
          </p:cNvPicPr>
          <p:nvPr/>
        </p:nvPicPr>
        <p:blipFill>
          <a:blip r:embed="rId7"/>
          <a:stretch>
            <a:fillRect/>
          </a:stretch>
        </p:blipFill>
        <p:spPr>
          <a:xfrm>
            <a:off x="8272581" y="4923569"/>
            <a:ext cx="1836620" cy="523390"/>
          </a:xfrm>
          <a:prstGeom prst="rect">
            <a:avLst/>
          </a:prstGeom>
        </p:spPr>
      </p:pic>
      <p:pic>
        <p:nvPicPr>
          <p:cNvPr id="13" name="Picture 12">
            <a:extLst>
              <a:ext uri="{FF2B5EF4-FFF2-40B4-BE49-F238E27FC236}">
                <a16:creationId xmlns:a16="http://schemas.microsoft.com/office/drawing/2014/main" id="{1BB4C981-E3DB-B967-3987-1CB4B01DC33C}"/>
              </a:ext>
            </a:extLst>
          </p:cNvPr>
          <p:cNvPicPr>
            <a:picLocks noChangeAspect="1"/>
          </p:cNvPicPr>
          <p:nvPr/>
        </p:nvPicPr>
        <p:blipFill>
          <a:blip r:embed="rId8"/>
          <a:stretch>
            <a:fillRect/>
          </a:stretch>
        </p:blipFill>
        <p:spPr>
          <a:xfrm>
            <a:off x="7441666" y="4035920"/>
            <a:ext cx="2930391" cy="588341"/>
          </a:xfrm>
          <a:prstGeom prst="rect">
            <a:avLst/>
          </a:prstGeom>
        </p:spPr>
      </p:pic>
      <p:pic>
        <p:nvPicPr>
          <p:cNvPr id="15" name="Picture 14">
            <a:extLst>
              <a:ext uri="{FF2B5EF4-FFF2-40B4-BE49-F238E27FC236}">
                <a16:creationId xmlns:a16="http://schemas.microsoft.com/office/drawing/2014/main" id="{361DE071-0360-1A15-8BD4-D5EA9C6F137F}"/>
              </a:ext>
            </a:extLst>
          </p:cNvPr>
          <p:cNvPicPr>
            <a:picLocks noChangeAspect="1"/>
          </p:cNvPicPr>
          <p:nvPr/>
        </p:nvPicPr>
        <p:blipFill>
          <a:blip r:embed="rId9"/>
          <a:stretch>
            <a:fillRect/>
          </a:stretch>
        </p:blipFill>
        <p:spPr>
          <a:xfrm>
            <a:off x="1227382" y="6042237"/>
            <a:ext cx="2680371" cy="529353"/>
          </a:xfrm>
          <a:prstGeom prst="rect">
            <a:avLst/>
          </a:prstGeom>
        </p:spPr>
      </p:pic>
      <p:pic>
        <p:nvPicPr>
          <p:cNvPr id="17" name="Picture 16">
            <a:extLst>
              <a:ext uri="{FF2B5EF4-FFF2-40B4-BE49-F238E27FC236}">
                <a16:creationId xmlns:a16="http://schemas.microsoft.com/office/drawing/2014/main" id="{111DEE24-866C-E63D-471B-269017A6001D}"/>
              </a:ext>
            </a:extLst>
          </p:cNvPr>
          <p:cNvPicPr>
            <a:picLocks noChangeAspect="1"/>
          </p:cNvPicPr>
          <p:nvPr/>
        </p:nvPicPr>
        <p:blipFill>
          <a:blip r:embed="rId10"/>
          <a:stretch>
            <a:fillRect/>
          </a:stretch>
        </p:blipFill>
        <p:spPr>
          <a:xfrm>
            <a:off x="7932119" y="1092130"/>
            <a:ext cx="2637200" cy="2059712"/>
          </a:xfrm>
          <a:prstGeom prst="rect">
            <a:avLst/>
          </a:prstGeom>
          <a:ln>
            <a:solidFill>
              <a:srgbClr val="C00000"/>
            </a:solidFill>
          </a:ln>
        </p:spPr>
      </p:pic>
      <p:pic>
        <p:nvPicPr>
          <p:cNvPr id="19" name="Picture 18">
            <a:extLst>
              <a:ext uri="{FF2B5EF4-FFF2-40B4-BE49-F238E27FC236}">
                <a16:creationId xmlns:a16="http://schemas.microsoft.com/office/drawing/2014/main" id="{99A6642A-F15E-7DF0-C7D4-5EB95611B9AE}"/>
              </a:ext>
            </a:extLst>
          </p:cNvPr>
          <p:cNvPicPr>
            <a:picLocks noChangeAspect="1"/>
          </p:cNvPicPr>
          <p:nvPr/>
        </p:nvPicPr>
        <p:blipFill>
          <a:blip r:embed="rId11"/>
          <a:stretch>
            <a:fillRect/>
          </a:stretch>
        </p:blipFill>
        <p:spPr>
          <a:xfrm>
            <a:off x="8906861" y="5868655"/>
            <a:ext cx="2930391" cy="507184"/>
          </a:xfrm>
          <a:prstGeom prst="rect">
            <a:avLst/>
          </a:prstGeom>
          <a:ln>
            <a:solidFill>
              <a:schemeClr val="tx2"/>
            </a:solidFill>
          </a:ln>
        </p:spPr>
      </p:pic>
      <p:sp>
        <p:nvSpPr>
          <p:cNvPr id="21" name="TextBox 20">
            <a:extLst>
              <a:ext uri="{FF2B5EF4-FFF2-40B4-BE49-F238E27FC236}">
                <a16:creationId xmlns:a16="http://schemas.microsoft.com/office/drawing/2014/main" id="{4C2511A2-7760-6F11-BE78-62C325B51B5C}"/>
              </a:ext>
            </a:extLst>
          </p:cNvPr>
          <p:cNvSpPr txBox="1"/>
          <p:nvPr/>
        </p:nvSpPr>
        <p:spPr>
          <a:xfrm>
            <a:off x="5745405" y="6006507"/>
            <a:ext cx="3032835" cy="369332"/>
          </a:xfrm>
          <a:prstGeom prst="rect">
            <a:avLst/>
          </a:prstGeom>
          <a:noFill/>
        </p:spPr>
        <p:txBody>
          <a:bodyPr wrap="square">
            <a:spAutoFit/>
          </a:bodyPr>
          <a:lstStyle/>
          <a:p>
            <a:pPr algn="l">
              <a:buNone/>
            </a:pPr>
            <a:r>
              <a:rPr lang="en-IN" b="0" i="0" dirty="0">
                <a:solidFill>
                  <a:srgbClr val="27251E"/>
                </a:solidFill>
                <a:effectLst/>
                <a:latin typeface="pplxSerif"/>
              </a:rPr>
              <a:t>By the algebra of rotations </a:t>
            </a:r>
            <a:r>
              <a:rPr lang="en-IN" b="0" i="0" dirty="0">
                <a:solidFill>
                  <a:srgbClr val="27251E"/>
                </a:solidFill>
                <a:effectLst/>
                <a:latin typeface="pplxSerif"/>
                <a:sym typeface="Wingdings" panose="05000000000000000000" pitchFamily="2" charset="2"/>
              </a:rPr>
              <a:t></a:t>
            </a:r>
            <a:endParaRPr lang="en-IN" b="0" i="0" dirty="0">
              <a:solidFill>
                <a:srgbClr val="27251E"/>
              </a:solidFill>
              <a:effectLst/>
              <a:latin typeface="pplxSerif"/>
            </a:endParaRPr>
          </a:p>
        </p:txBody>
      </p:sp>
    </p:spTree>
    <p:extLst>
      <p:ext uri="{BB962C8B-B14F-4D97-AF65-F5344CB8AC3E}">
        <p14:creationId xmlns:p14="http://schemas.microsoft.com/office/powerpoint/2010/main" val="10595360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70CC623F-055D-94DA-7156-C7B67D51B867}"/>
                  </a:ext>
                </a:extLst>
              </p:cNvPr>
              <p:cNvSpPr>
                <a:spLocks noGrp="1"/>
              </p:cNvSpPr>
              <p:nvPr>
                <p:ph idx="10"/>
              </p:nvPr>
            </p:nvSpPr>
            <p:spPr>
              <a:xfrm>
                <a:off x="111611" y="1514744"/>
                <a:ext cx="11480800" cy="4525963"/>
              </a:xfrm>
            </p:spPr>
            <p:txBody>
              <a:bodyPr>
                <a:normAutofit/>
              </a:bodyPr>
              <a:lstStyle/>
              <a:p>
                <a:r>
                  <a:rPr lang="en-IN" sz="2000" dirty="0"/>
                  <a:t>Splitting each vector into </a:t>
                </a:r>
                <a14:m>
                  <m:oMath xmlns:m="http://schemas.openxmlformats.org/officeDocument/2006/math">
                    <m:r>
                      <a:rPr lang="en-IN" sz="2000" i="1">
                        <a:latin typeface="Cambria Math" panose="02040503050406030204" pitchFamily="18" charset="0"/>
                      </a:rPr>
                      <m:t>𝑑</m:t>
                    </m:r>
                    <m:r>
                      <a:rPr lang="en-IN" sz="2000">
                        <a:latin typeface="Cambria Math" panose="02040503050406030204" pitchFamily="18" charset="0"/>
                      </a:rPr>
                      <m:t>/2</m:t>
                    </m:r>
                  </m:oMath>
                </a14:m>
                <a:r>
                  <a:rPr lang="en-IN" sz="2000" dirty="0"/>
                  <a:t> , 2D pairs: </a:t>
                </a:r>
                <a14:m>
                  <m:oMath xmlns:m="http://schemas.openxmlformats.org/officeDocument/2006/math">
                    <m:d>
                      <m:dPr>
                        <m:sepChr m:val=","/>
                        <m:ctrlPr>
                          <a:rPr lang="ar-AE" sz="2000" i="1">
                            <a:latin typeface="Cambria Math" panose="02040503050406030204" pitchFamily="18" charset="0"/>
                          </a:rPr>
                        </m:ctrlPr>
                      </m:dPr>
                      <m:e>
                        <m:sSub>
                          <m:sSubPr>
                            <m:ctrlPr>
                              <a:rPr lang="ar-AE" sz="2000" i="1">
                                <a:latin typeface="Cambria Math" panose="02040503050406030204" pitchFamily="18" charset="0"/>
                              </a:rPr>
                            </m:ctrlPr>
                          </m:sSubPr>
                          <m:e>
                            <m:r>
                              <a:rPr lang="ar-AE" sz="2000" i="1">
                                <a:latin typeface="Cambria Math" panose="02040503050406030204" pitchFamily="18" charset="0"/>
                              </a:rPr>
                              <m:t>𝑥</m:t>
                            </m:r>
                          </m:e>
                          <m:sub>
                            <m:r>
                              <a:rPr lang="ar-AE" sz="2000">
                                <a:latin typeface="Cambria Math" panose="02040503050406030204" pitchFamily="18" charset="0"/>
                              </a:rPr>
                              <m:t>0</m:t>
                            </m:r>
                          </m:sub>
                        </m:sSub>
                      </m:e>
                      <m:e>
                        <m:sSub>
                          <m:sSubPr>
                            <m:ctrlPr>
                              <a:rPr lang="ar-AE" sz="2000" i="1">
                                <a:latin typeface="Cambria Math" panose="02040503050406030204" pitchFamily="18" charset="0"/>
                              </a:rPr>
                            </m:ctrlPr>
                          </m:sSubPr>
                          <m:e>
                            <m:r>
                              <a:rPr lang="ar-AE" sz="2000" i="1">
                                <a:latin typeface="Cambria Math" panose="02040503050406030204" pitchFamily="18" charset="0"/>
                              </a:rPr>
                              <m:t>𝑥</m:t>
                            </m:r>
                          </m:e>
                          <m:sub>
                            <m:r>
                              <a:rPr lang="ar-AE" sz="2000">
                                <a:latin typeface="Cambria Math" panose="02040503050406030204" pitchFamily="18" charset="0"/>
                              </a:rPr>
                              <m:t>1</m:t>
                            </m:r>
                          </m:sub>
                        </m:sSub>
                      </m:e>
                    </m:d>
                    <m:r>
                      <a:rPr lang="ar-AE" sz="2000">
                        <a:latin typeface="Cambria Math" panose="02040503050406030204" pitchFamily="18" charset="0"/>
                      </a:rPr>
                      <m:t>,</m:t>
                    </m:r>
                    <m:d>
                      <m:dPr>
                        <m:sepChr m:val=","/>
                        <m:ctrlPr>
                          <a:rPr lang="ar-AE" sz="2000" i="1">
                            <a:latin typeface="Cambria Math" panose="02040503050406030204" pitchFamily="18" charset="0"/>
                          </a:rPr>
                        </m:ctrlPr>
                      </m:dPr>
                      <m:e>
                        <m:sSub>
                          <m:sSubPr>
                            <m:ctrlPr>
                              <a:rPr lang="ar-AE" sz="2000" i="1">
                                <a:latin typeface="Cambria Math" panose="02040503050406030204" pitchFamily="18" charset="0"/>
                              </a:rPr>
                            </m:ctrlPr>
                          </m:sSubPr>
                          <m:e>
                            <m:r>
                              <a:rPr lang="ar-AE" sz="2000" i="1">
                                <a:latin typeface="Cambria Math" panose="02040503050406030204" pitchFamily="18" charset="0"/>
                              </a:rPr>
                              <m:t>𝑥</m:t>
                            </m:r>
                          </m:e>
                          <m:sub>
                            <m:r>
                              <a:rPr lang="ar-AE" sz="2000">
                                <a:latin typeface="Cambria Math" panose="02040503050406030204" pitchFamily="18" charset="0"/>
                              </a:rPr>
                              <m:t>2</m:t>
                            </m:r>
                          </m:sub>
                        </m:sSub>
                      </m:e>
                      <m:e>
                        <m:sSub>
                          <m:sSubPr>
                            <m:ctrlPr>
                              <a:rPr lang="ar-AE" sz="2000" i="1">
                                <a:latin typeface="Cambria Math" panose="02040503050406030204" pitchFamily="18" charset="0"/>
                              </a:rPr>
                            </m:ctrlPr>
                          </m:sSubPr>
                          <m:e>
                            <m:r>
                              <a:rPr lang="ar-AE" sz="2000" i="1">
                                <a:latin typeface="Cambria Math" panose="02040503050406030204" pitchFamily="18" charset="0"/>
                              </a:rPr>
                              <m:t>𝑥</m:t>
                            </m:r>
                          </m:e>
                          <m:sub>
                            <m:r>
                              <a:rPr lang="ar-AE" sz="2000">
                                <a:latin typeface="Cambria Math" panose="02040503050406030204" pitchFamily="18" charset="0"/>
                              </a:rPr>
                              <m:t>3</m:t>
                            </m:r>
                          </m:sub>
                        </m:sSub>
                      </m:e>
                    </m:d>
                    <m:r>
                      <a:rPr lang="ar-AE" sz="2000">
                        <a:latin typeface="Cambria Math" panose="02040503050406030204" pitchFamily="18" charset="0"/>
                      </a:rPr>
                      <m:t>,…</m:t>
                    </m:r>
                  </m:oMath>
                </a14:m>
                <a:r>
                  <a:rPr lang="ar-AE" sz="2000" dirty="0"/>
                  <a:t>.</a:t>
                </a:r>
              </a:p>
              <a:p>
                <a:r>
                  <a:rPr lang="en-IN" sz="2000" dirty="0"/>
                  <a:t>Applying a </a:t>
                </a:r>
                <a:r>
                  <a:rPr lang="en-IN" sz="2000" b="1" dirty="0"/>
                  <a:t>different rotation angle</a:t>
                </a:r>
                <a:r>
                  <a:rPr lang="en-IN" sz="2000" dirty="0"/>
                  <a:t> to each pair</a:t>
                </a:r>
              </a:p>
              <a:p>
                <a:r>
                  <a:rPr lang="nn-NO" sz="2000" dirty="0"/>
                  <a:t>θ</a:t>
                </a:r>
                <a:r>
                  <a:rPr lang="nn-NO" sz="2000" baseline="-25000" dirty="0"/>
                  <a:t>i</a:t>
                </a:r>
                <a:r>
                  <a:rPr lang="nn-NO" sz="2000" dirty="0"/>
                  <a:t> = 10000</a:t>
                </a:r>
                <a:r>
                  <a:rPr lang="nn-NO" sz="2000" baseline="30000" dirty="0"/>
                  <a:t>−2(i−1)/d  </a:t>
                </a:r>
                <a:r>
                  <a:rPr lang="nn-NO" sz="2000" dirty="0"/>
                  <a:t>in radians</a:t>
                </a:r>
              </a:p>
              <a:p>
                <a:r>
                  <a:rPr lang="nn-NO" sz="2000" dirty="0"/>
                  <a:t>i ∈ [1, 2, ..., d/2]     </a:t>
                </a:r>
                <a:endParaRPr lang="en-IN" sz="2000" dirty="0"/>
              </a:p>
              <a:p>
                <a:br>
                  <a:rPr lang="en-IN" sz="2000" dirty="0"/>
                </a:br>
                <a:endParaRPr lang="en-IN" sz="2000" dirty="0"/>
              </a:p>
            </p:txBody>
          </p:sp>
        </mc:Choice>
        <mc:Fallback xmlns="">
          <p:sp>
            <p:nvSpPr>
              <p:cNvPr id="2" name="Content Placeholder 1">
                <a:extLst>
                  <a:ext uri="{FF2B5EF4-FFF2-40B4-BE49-F238E27FC236}">
                    <a16:creationId xmlns:a16="http://schemas.microsoft.com/office/drawing/2014/main" id="{70CC623F-055D-94DA-7156-C7B67D51B867}"/>
                  </a:ext>
                </a:extLst>
              </p:cNvPr>
              <p:cNvSpPr>
                <a:spLocks noGrp="1" noRot="1" noChangeAspect="1" noMove="1" noResize="1" noEditPoints="1" noAdjustHandles="1" noChangeArrowheads="1" noChangeShapeType="1" noTextEdit="1"/>
              </p:cNvSpPr>
              <p:nvPr>
                <p:ph idx="10"/>
              </p:nvPr>
            </p:nvSpPr>
            <p:spPr>
              <a:xfrm>
                <a:off x="111611" y="1514744"/>
                <a:ext cx="11480800" cy="4525963"/>
              </a:xfrm>
              <a:blipFill>
                <a:blip r:embed="rId3"/>
                <a:stretch>
                  <a:fillRect l="-531" t="-673"/>
                </a:stretch>
              </a:blipFill>
            </p:spPr>
            <p:txBody>
              <a:bodyPr/>
              <a:lstStyle/>
              <a:p>
                <a:r>
                  <a:rPr lang="en-IN">
                    <a:noFill/>
                  </a:rPr>
                  <a:t> </a:t>
                </a:r>
              </a:p>
            </p:txBody>
          </p:sp>
        </mc:Fallback>
      </mc:AlternateContent>
      <p:sp>
        <p:nvSpPr>
          <p:cNvPr id="3" name="Title 2">
            <a:extLst>
              <a:ext uri="{FF2B5EF4-FFF2-40B4-BE49-F238E27FC236}">
                <a16:creationId xmlns:a16="http://schemas.microsoft.com/office/drawing/2014/main" id="{6E41B96A-9DCB-490C-4E01-5C32B4016E22}"/>
              </a:ext>
            </a:extLst>
          </p:cNvPr>
          <p:cNvSpPr>
            <a:spLocks noGrp="1"/>
          </p:cNvSpPr>
          <p:nvPr>
            <p:ph type="title"/>
          </p:nvPr>
        </p:nvSpPr>
        <p:spPr/>
        <p:txBody>
          <a:bodyPr/>
          <a:lstStyle/>
          <a:p>
            <a:r>
              <a:rPr lang="en-US" dirty="0" err="1"/>
              <a:t>RoPE</a:t>
            </a:r>
            <a:endParaRPr lang="en-IN" dirty="0"/>
          </a:p>
        </p:txBody>
      </p:sp>
      <p:pic>
        <p:nvPicPr>
          <p:cNvPr id="5" name="Picture 4">
            <a:extLst>
              <a:ext uri="{FF2B5EF4-FFF2-40B4-BE49-F238E27FC236}">
                <a16:creationId xmlns:a16="http://schemas.microsoft.com/office/drawing/2014/main" id="{2AE120F4-3837-5909-574A-DDE431E7E191}"/>
              </a:ext>
            </a:extLst>
          </p:cNvPr>
          <p:cNvPicPr>
            <a:picLocks noChangeAspect="1"/>
          </p:cNvPicPr>
          <p:nvPr/>
        </p:nvPicPr>
        <p:blipFill>
          <a:blip r:embed="rId4"/>
          <a:stretch>
            <a:fillRect/>
          </a:stretch>
        </p:blipFill>
        <p:spPr>
          <a:xfrm>
            <a:off x="5452387" y="1860469"/>
            <a:ext cx="6388428" cy="1568531"/>
          </a:xfrm>
          <a:prstGeom prst="rect">
            <a:avLst/>
          </a:prstGeom>
        </p:spPr>
      </p:pic>
      <p:pic>
        <p:nvPicPr>
          <p:cNvPr id="7" name="Picture 6">
            <a:extLst>
              <a:ext uri="{FF2B5EF4-FFF2-40B4-BE49-F238E27FC236}">
                <a16:creationId xmlns:a16="http://schemas.microsoft.com/office/drawing/2014/main" id="{A579CF96-0EC1-87C9-FB8A-08F605B728CF}"/>
              </a:ext>
            </a:extLst>
          </p:cNvPr>
          <p:cNvPicPr>
            <a:picLocks noChangeAspect="1"/>
          </p:cNvPicPr>
          <p:nvPr/>
        </p:nvPicPr>
        <p:blipFill>
          <a:blip r:embed="rId5"/>
          <a:stretch>
            <a:fillRect/>
          </a:stretch>
        </p:blipFill>
        <p:spPr>
          <a:xfrm>
            <a:off x="111611" y="3169193"/>
            <a:ext cx="5791498" cy="3587934"/>
          </a:xfrm>
          <a:prstGeom prst="rect">
            <a:avLst/>
          </a:prstGeom>
        </p:spPr>
      </p:pic>
    </p:spTree>
    <p:extLst>
      <p:ext uri="{BB962C8B-B14F-4D97-AF65-F5344CB8AC3E}">
        <p14:creationId xmlns:p14="http://schemas.microsoft.com/office/powerpoint/2010/main" val="29750124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0"/>
              </p:nvPr>
            </p:nvSpPr>
            <p:spPr>
              <a:xfrm>
                <a:off x="169889" y="1380332"/>
                <a:ext cx="12022111" cy="4525963"/>
              </a:xfrm>
            </p:spPr>
            <p:txBody>
              <a:bodyPr>
                <a:noAutofit/>
              </a:bodyPr>
              <a:lstStyle/>
              <a:p>
                <a:pPr lvl="0" algn="l" rtl="0" eaLnBrk="0" fontAlgn="base" hangingPunct="0">
                  <a:spcBef>
                    <a:spcPct val="0"/>
                  </a:spcBef>
                  <a:spcAft>
                    <a:spcPct val="0"/>
                  </a:spcAft>
                </a:pPr>
                <a:r>
                  <a:rPr lang="en-US" altLang="en-US" b="1" dirty="0">
                    <a:solidFill>
                      <a:schemeClr val="tx1"/>
                    </a:solidFill>
                  </a:rPr>
                  <a:t> 4D embedding Vector to 2 Pairs  :  </a:t>
                </a:r>
                <a:r>
                  <a:rPr lang="en-US" altLang="en-US" b="1" dirty="0">
                    <a:solidFill>
                      <a:schemeClr val="tx1"/>
                    </a:solidFill>
                    <a:highlight>
                      <a:srgbClr val="FFFF00"/>
                    </a:highlight>
                  </a:rPr>
                  <a:t>q</a:t>
                </a:r>
                <a:r>
                  <a:rPr lang="en-US" altLang="en-US" dirty="0">
                    <a:solidFill>
                      <a:schemeClr val="tx1"/>
                    </a:solidFill>
                    <a:highlight>
                      <a:srgbClr val="FFFF00"/>
                    </a:highlight>
                  </a:rPr>
                  <a:t> = [1, 0, 0, 1]</a:t>
                </a:r>
              </a:p>
              <a:p>
                <a:pPr lvl="0" algn="l" rtl="0" eaLnBrk="0" fontAlgn="base" hangingPunct="0">
                  <a:spcBef>
                    <a:spcPct val="0"/>
                  </a:spcBef>
                  <a:spcAft>
                    <a:spcPct val="0"/>
                  </a:spcAft>
                </a:pPr>
                <a:r>
                  <a:rPr lang="en-US" altLang="en-US" b="1" dirty="0">
                    <a:solidFill>
                      <a:schemeClr val="tx1"/>
                    </a:solidFill>
                  </a:rPr>
                  <a:t>Pair 1:</a:t>
                </a:r>
                <a:r>
                  <a:rPr lang="en-US" altLang="en-US" dirty="0">
                    <a:solidFill>
                      <a:schemeClr val="tx1"/>
                    </a:solidFill>
                  </a:rPr>
                  <a:t> (1, 0) — This pair will rotate at frequency </a:t>
                </a:r>
                <a:r>
                  <a:rPr lang="en-US" altLang="en-US" dirty="0">
                    <a:solidFill>
                      <a:schemeClr val="tx1"/>
                    </a:solidFill>
                    <a:sym typeface="Symbol" panose="05050102010706020507" pitchFamily="18" charset="2"/>
                  </a:rPr>
                  <a:t></a:t>
                </a:r>
                <a:r>
                  <a:rPr lang="en-US" altLang="en-US" baseline="-25000" dirty="0">
                    <a:solidFill>
                      <a:schemeClr val="tx1"/>
                    </a:solidFill>
                    <a:sym typeface="Symbol" panose="05050102010706020507" pitchFamily="18" charset="2"/>
                  </a:rPr>
                  <a:t>1</a:t>
                </a:r>
                <a:endParaRPr lang="en-US" altLang="en-US" baseline="-25000" dirty="0">
                  <a:solidFill>
                    <a:schemeClr val="tx1"/>
                  </a:solidFill>
                </a:endParaRPr>
              </a:p>
              <a:p>
                <a:pPr lvl="0" algn="l" rtl="0" eaLnBrk="0" fontAlgn="base" hangingPunct="0">
                  <a:spcBef>
                    <a:spcPct val="0"/>
                  </a:spcBef>
                  <a:spcAft>
                    <a:spcPct val="0"/>
                  </a:spcAft>
                </a:pPr>
                <a:r>
                  <a:rPr lang="en-US" altLang="en-US" b="1" dirty="0">
                    <a:solidFill>
                      <a:schemeClr val="tx1"/>
                    </a:solidFill>
                  </a:rPr>
                  <a:t>Pair 2:</a:t>
                </a:r>
                <a:r>
                  <a:rPr lang="en-US" altLang="en-US" dirty="0">
                    <a:solidFill>
                      <a:schemeClr val="tx1"/>
                    </a:solidFill>
                  </a:rPr>
                  <a:t> (0, 1) — This pair will rotate at frequency </a:t>
                </a:r>
                <a:r>
                  <a:rPr lang="en-US" altLang="en-US" dirty="0">
                    <a:solidFill>
                      <a:schemeClr val="tx1"/>
                    </a:solidFill>
                    <a:sym typeface="Symbol" panose="05050102010706020507" pitchFamily="18" charset="2"/>
                  </a:rPr>
                  <a:t></a:t>
                </a:r>
                <a:r>
                  <a:rPr lang="en-US" altLang="en-US" baseline="-25000" dirty="0">
                    <a:solidFill>
                      <a:schemeClr val="tx1"/>
                    </a:solidFill>
                    <a:sym typeface="Symbol" panose="05050102010706020507" pitchFamily="18" charset="2"/>
                  </a:rPr>
                  <a:t>2</a:t>
                </a:r>
                <a:r>
                  <a:rPr lang="en-US" altLang="en-US" dirty="0">
                    <a:solidFill>
                      <a:schemeClr val="tx1"/>
                    </a:solidFill>
                    <a:sym typeface="Symbol" panose="05050102010706020507" pitchFamily="18" charset="2"/>
                  </a:rPr>
                  <a:t> </a:t>
                </a:r>
              </a:p>
              <a:p>
                <a:r>
                  <a:rPr lang="el-GR" i="1" dirty="0"/>
                  <a:t>θ</a:t>
                </a:r>
                <a:r>
                  <a:rPr lang="el-GR" baseline="-25000" dirty="0"/>
                  <a:t>1</a:t>
                </a:r>
                <a:r>
                  <a:rPr lang="el-GR" dirty="0"/>
                  <a:t>​=10000</a:t>
                </a:r>
                <a:r>
                  <a:rPr lang="el-GR" baseline="30000" dirty="0"/>
                  <a:t>−2(1−1)/4</a:t>
                </a:r>
                <a:r>
                  <a:rPr lang="el-GR" dirty="0"/>
                  <a:t>=1,</a:t>
                </a:r>
                <a:r>
                  <a:rPr lang="en-US" dirty="0"/>
                  <a:t>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𝜃</m:t>
                        </m:r>
                      </m:e>
                      <m:sub>
                        <m:r>
                          <a:rPr lang="ar-AE">
                            <a:latin typeface="Cambria Math" panose="02040503050406030204" pitchFamily="18" charset="0"/>
                          </a:rPr>
                          <m:t>2</m:t>
                        </m:r>
                      </m:sub>
                    </m:sSub>
                    <m:r>
                      <a:rPr lang="ar-AE">
                        <a:latin typeface="Cambria Math" panose="02040503050406030204" pitchFamily="18" charset="0"/>
                      </a:rPr>
                      <m:t>=</m:t>
                    </m:r>
                    <m:sSup>
                      <m:sSupPr>
                        <m:ctrlPr>
                          <a:rPr lang="ar-AE" i="1">
                            <a:latin typeface="Cambria Math" panose="02040503050406030204" pitchFamily="18" charset="0"/>
                          </a:rPr>
                        </m:ctrlPr>
                      </m:sSupPr>
                      <m:e>
                        <m:r>
                          <a:rPr lang="ar-AE">
                            <a:latin typeface="Cambria Math" panose="02040503050406030204" pitchFamily="18" charset="0"/>
                          </a:rPr>
                          <m:t>10000</m:t>
                        </m:r>
                      </m:e>
                      <m:sup>
                        <m:r>
                          <a:rPr lang="ar-AE">
                            <a:latin typeface="Cambria Math" panose="02040503050406030204" pitchFamily="18" charset="0"/>
                          </a:rPr>
                          <m:t>−</m:t>
                        </m:r>
                        <m:r>
                          <a:rPr lang="ar-AE">
                            <a:latin typeface="Cambria Math" panose="02040503050406030204" pitchFamily="18" charset="0"/>
                          </a:rPr>
                          <m:t>2</m:t>
                        </m:r>
                        <m:d>
                          <m:dPr>
                            <m:ctrlPr>
                              <a:rPr lang="ar-AE" i="1">
                                <a:latin typeface="Cambria Math" panose="02040503050406030204" pitchFamily="18" charset="0"/>
                              </a:rPr>
                            </m:ctrlPr>
                          </m:dPr>
                          <m:e>
                            <m:r>
                              <a:rPr lang="ar-AE">
                                <a:latin typeface="Cambria Math" panose="02040503050406030204" pitchFamily="18" charset="0"/>
                              </a:rPr>
                              <m:t>2</m:t>
                            </m:r>
                            <m:r>
                              <a:rPr lang="ar-AE">
                                <a:latin typeface="Cambria Math" panose="02040503050406030204" pitchFamily="18" charset="0"/>
                              </a:rPr>
                              <m:t>−</m:t>
                            </m:r>
                            <m:r>
                              <a:rPr lang="ar-AE">
                                <a:latin typeface="Cambria Math" panose="02040503050406030204" pitchFamily="18" charset="0"/>
                              </a:rPr>
                              <m:t>1</m:t>
                            </m:r>
                          </m:e>
                        </m:d>
                        <m:r>
                          <a:rPr lang="ar-AE">
                            <a:latin typeface="Cambria Math" panose="02040503050406030204" pitchFamily="18" charset="0"/>
                          </a:rPr>
                          <m:t>/</m:t>
                        </m:r>
                        <m:r>
                          <a:rPr lang="ar-AE">
                            <a:latin typeface="Cambria Math" panose="02040503050406030204" pitchFamily="18" charset="0"/>
                          </a:rPr>
                          <m:t>4</m:t>
                        </m:r>
                      </m:sup>
                    </m:sSup>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01</m:t>
                    </m:r>
                  </m:oMath>
                </a14:m>
                <a:endParaRPr lang="en-US" dirty="0"/>
              </a:p>
              <a:p>
                <a:r>
                  <a:rPr lang="en-IN" dirty="0"/>
                  <a:t>Rotating X at position </a:t>
                </a:r>
                <a14:m>
                  <m:oMath xmlns:m="http://schemas.openxmlformats.org/officeDocument/2006/math">
                    <m:r>
                      <a:rPr lang="en-IN" i="1">
                        <a:latin typeface="Cambria Math" panose="02040503050406030204" pitchFamily="18" charset="0"/>
                      </a:rPr>
                      <m:t>𝑚</m:t>
                    </m:r>
                    <m:r>
                      <a:rPr lang="en-IN">
                        <a:latin typeface="Cambria Math" panose="02040503050406030204" pitchFamily="18" charset="0"/>
                      </a:rPr>
                      <m:t>=</m:t>
                    </m:r>
                    <m:r>
                      <a:rPr lang="en-IN">
                        <a:latin typeface="Cambria Math" panose="02040503050406030204" pitchFamily="18" charset="0"/>
                      </a:rPr>
                      <m:t>1</m:t>
                    </m:r>
                  </m:oMath>
                </a14:m>
                <a:r>
                  <a:rPr lang="en-IN" dirty="0"/>
                  <a:t>, each pair rotated by </a:t>
                </a:r>
                <a14:m>
                  <m:oMath xmlns:m="http://schemas.openxmlformats.org/officeDocument/2006/math">
                    <m:r>
                      <a:rPr lang="en-IN">
                        <a:latin typeface="Cambria Math" panose="02040503050406030204" pitchFamily="18" charset="0"/>
                      </a:rPr>
                      <m:t>1</m:t>
                    </m:r>
                    <m:r>
                      <a:rPr lang="en-IN">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𝜃</m:t>
                        </m:r>
                      </m:e>
                      <m:sub>
                        <m:r>
                          <a:rPr lang="ar-AE" i="1">
                            <a:latin typeface="Cambria Math" panose="02040503050406030204" pitchFamily="18" charset="0"/>
                          </a:rPr>
                          <m:t>𝑖</m:t>
                        </m:r>
                      </m:sub>
                    </m:sSub>
                  </m:oMath>
                </a14:m>
                <a:endParaRPr lang="ar-AE" dirty="0"/>
              </a:p>
              <a:p>
                <a:endParaRPr lang="en-US" dirty="0"/>
              </a:p>
              <a:p>
                <a:endParaRPr lang="en-US" dirty="0"/>
              </a:p>
              <a:p>
                <a:endParaRPr lang="en-US" dirty="0"/>
              </a:p>
              <a:p>
                <a:endParaRPr lang="en-US" dirty="0"/>
              </a:p>
              <a:p>
                <a:endParaRPr lang="en-US" dirty="0"/>
              </a:p>
              <a:p>
                <a:r>
                  <a:rPr lang="en-IN" b="1" dirty="0"/>
                  <a:t>Resulting rotated q</a:t>
                </a:r>
                <a:r>
                  <a:rPr lang="en-IN" dirty="0"/>
                  <a:t>:</a:t>
                </a:r>
              </a:p>
              <a:p>
                <a14:m>
                  <m:oMath xmlns:m="http://schemas.openxmlformats.org/officeDocument/2006/math">
                    <m:acc>
                      <m:accPr>
                        <m:chr m:val="̃"/>
                        <m:ctrlPr>
                          <a:rPr lang="ar-AE" b="1" i="1">
                            <a:highlight>
                              <a:srgbClr val="FFFF00"/>
                            </a:highlight>
                            <a:latin typeface="Cambria Math" panose="02040503050406030204" pitchFamily="18" charset="0"/>
                          </a:rPr>
                        </m:ctrlPr>
                      </m:accPr>
                      <m:e>
                        <m:r>
                          <a:rPr lang="ar-AE" b="1">
                            <a:highlight>
                              <a:srgbClr val="FFFF00"/>
                            </a:highlight>
                            <a:latin typeface="Cambria Math" panose="02040503050406030204" pitchFamily="18" charset="0"/>
                          </a:rPr>
                          <m:t>𝐪</m:t>
                        </m:r>
                      </m:e>
                    </m:acc>
                    <m:r>
                      <a:rPr lang="ar-AE">
                        <a:highlight>
                          <a:srgbClr val="FFFF00"/>
                        </a:highlight>
                        <a:latin typeface="Cambria Math" panose="02040503050406030204" pitchFamily="18" charset="0"/>
                      </a:rPr>
                      <m:t>≈</m:t>
                    </m:r>
                  </m:oMath>
                </a14:m>
                <a:r>
                  <a:rPr lang="en-US" b="0" dirty="0">
                    <a:highlight>
                      <a:srgbClr val="FFFF00"/>
                    </a:highlight>
                  </a:rPr>
                  <a:t> [0.5403, 0.8415, -0.01, 0.99995]</a:t>
                </a:r>
                <a:endParaRPr lang="ar-AE" b="0" dirty="0">
                  <a:highlight>
                    <a:srgbClr val="FFFF00"/>
                  </a:highlight>
                </a:endParaRPr>
              </a:p>
              <a:p>
                <a:endParaRPr lang="ar-AE" dirty="0"/>
              </a:p>
              <a:p>
                <a:endParaRPr lang="ar-AE" dirty="0"/>
              </a:p>
              <a:p>
                <a:br>
                  <a:rPr lang="ar-AE" dirty="0"/>
                </a:br>
                <a:endParaRPr lang="en-US" altLang="en-US" b="1" dirty="0">
                  <a:solidFill>
                    <a:schemeClr val="tx1"/>
                  </a:solidFill>
                  <a:sym typeface="Symbol" panose="05050102010706020507" pitchFamily="18" charset="2"/>
                </a:endParaRPr>
              </a:p>
              <a:p>
                <a:endParaRPr lang="en-IN" dirty="0"/>
              </a:p>
            </p:txBody>
          </p:sp>
        </mc:Choice>
        <mc:Fallback xmlns="">
          <p:sp>
            <p:nvSpPr>
              <p:cNvPr id="2" name="Content Placeholder 1"/>
              <p:cNvSpPr>
                <a:spLocks noGrp="1" noRot="1" noChangeAspect="1" noMove="1" noResize="1" noEditPoints="1" noAdjustHandles="1" noChangeArrowheads="1" noChangeShapeType="1" noTextEdit="1"/>
              </p:cNvSpPr>
              <p:nvPr>
                <p:ph idx="10"/>
              </p:nvPr>
            </p:nvSpPr>
            <p:spPr>
              <a:xfrm>
                <a:off x="169889" y="1380332"/>
                <a:ext cx="12022111" cy="4525963"/>
              </a:xfrm>
              <a:blipFill>
                <a:blip r:embed="rId2"/>
                <a:stretch>
                  <a:fillRect l="-811" t="-1077" b="-2557"/>
                </a:stretch>
              </a:blipFill>
            </p:spPr>
            <p:txBody>
              <a:bodyPr/>
              <a:lstStyle/>
              <a:p>
                <a:r>
                  <a:rPr lang="en-IN">
                    <a:noFill/>
                  </a:rPr>
                  <a:t> </a:t>
                </a:r>
              </a:p>
            </p:txBody>
          </p:sp>
        </mc:Fallback>
      </mc:AlternateContent>
      <p:sp>
        <p:nvSpPr>
          <p:cNvPr id="3" name="Title 2"/>
          <p:cNvSpPr>
            <a:spLocks noGrp="1"/>
          </p:cNvSpPr>
          <p:nvPr>
            <p:ph type="title"/>
          </p:nvPr>
        </p:nvSpPr>
        <p:spPr/>
        <p:txBody>
          <a:bodyPr/>
          <a:lstStyle/>
          <a:p>
            <a:r>
              <a:rPr lang="en-US" dirty="0"/>
              <a:t>Rotation example for </a:t>
            </a:r>
            <a:r>
              <a:rPr lang="en-US" dirty="0" err="1"/>
              <a:t>RoPE</a:t>
            </a:r>
            <a:endParaRPr lang="en-IN" dirty="0"/>
          </a:p>
        </p:txBody>
      </p:sp>
      <p:pic>
        <p:nvPicPr>
          <p:cNvPr id="5" name="Picture 4">
            <a:extLst>
              <a:ext uri="{FF2B5EF4-FFF2-40B4-BE49-F238E27FC236}">
                <a16:creationId xmlns:a16="http://schemas.microsoft.com/office/drawing/2014/main" id="{921F9CAD-4DC6-7023-A316-C756869588F0}"/>
              </a:ext>
            </a:extLst>
          </p:cNvPr>
          <p:cNvPicPr>
            <a:picLocks noChangeAspect="1"/>
          </p:cNvPicPr>
          <p:nvPr/>
        </p:nvPicPr>
        <p:blipFill>
          <a:blip r:embed="rId3"/>
          <a:stretch>
            <a:fillRect/>
          </a:stretch>
        </p:blipFill>
        <p:spPr>
          <a:xfrm>
            <a:off x="304801" y="3959464"/>
            <a:ext cx="3778444" cy="673135"/>
          </a:xfrm>
          <a:prstGeom prst="rect">
            <a:avLst/>
          </a:prstGeom>
          <a:ln>
            <a:solidFill>
              <a:schemeClr val="tx2"/>
            </a:solidFill>
          </a:ln>
        </p:spPr>
      </p:pic>
      <p:pic>
        <p:nvPicPr>
          <p:cNvPr id="7" name="Picture 6">
            <a:extLst>
              <a:ext uri="{FF2B5EF4-FFF2-40B4-BE49-F238E27FC236}">
                <a16:creationId xmlns:a16="http://schemas.microsoft.com/office/drawing/2014/main" id="{61D2418E-D0B9-DFCB-B136-266508984FF4}"/>
              </a:ext>
            </a:extLst>
          </p:cNvPr>
          <p:cNvPicPr>
            <a:picLocks noChangeAspect="1"/>
          </p:cNvPicPr>
          <p:nvPr/>
        </p:nvPicPr>
        <p:blipFill>
          <a:blip r:embed="rId4"/>
          <a:stretch>
            <a:fillRect/>
          </a:stretch>
        </p:blipFill>
        <p:spPr>
          <a:xfrm>
            <a:off x="5175006" y="3959464"/>
            <a:ext cx="4730993" cy="628682"/>
          </a:xfrm>
          <a:prstGeom prst="rect">
            <a:avLst/>
          </a:prstGeom>
          <a:ln>
            <a:solidFill>
              <a:schemeClr val="tx2"/>
            </a:solidFill>
          </a:ln>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73A64019-D9C4-B44E-8BBF-CB65A93206D5}"/>
                  </a:ext>
                </a:extLst>
              </p:cNvPr>
              <p:cNvSpPr txBox="1"/>
              <p:nvPr/>
            </p:nvSpPr>
            <p:spPr>
              <a:xfrm>
                <a:off x="7662422" y="3388545"/>
                <a:ext cx="2783840" cy="373914"/>
              </a:xfrm>
              <a:prstGeom prst="rect">
                <a:avLst/>
              </a:prstGeom>
              <a:noFill/>
            </p:spPr>
            <p:txBody>
              <a:bodyPr wrap="square">
                <a:spAutoFit/>
              </a:bodyPr>
              <a:lstStyle/>
              <a:p>
                <a:pPr algn="l">
                  <a:buNone/>
                </a:pPr>
                <a:r>
                  <a:rPr lang="en-IN" b="0" i="0" dirty="0">
                    <a:solidFill>
                      <a:srgbClr val="27251E"/>
                    </a:solidFill>
                    <a:effectLst/>
                    <a:latin typeface="pplxSerif"/>
                  </a:rPr>
                  <a:t>Pair 2 </a:t>
                </a:r>
                <a14:m>
                  <m:oMath xmlns:m="http://schemas.openxmlformats.org/officeDocument/2006/math">
                    <m:d>
                      <m:dPr>
                        <m:ctrlPr>
                          <a:rPr lang="ar-AE" i="1">
                            <a:latin typeface="Cambria Math" panose="02040503050406030204" pitchFamily="18" charset="0"/>
                          </a:rPr>
                        </m:ctrlPr>
                      </m:dPr>
                      <m:e>
                        <m:r>
                          <a:rPr lang="ar-AE" i="0">
                            <a:latin typeface="Cambria Math" panose="02040503050406030204" pitchFamily="18" charset="0"/>
                          </a:rPr>
                          <m:t>1</m:t>
                        </m:r>
                        <m:r>
                          <a:rPr lang="ar-AE" i="0">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𝜃</m:t>
                            </m:r>
                          </m:e>
                          <m:sub>
                            <m:r>
                              <a:rPr lang="ar-AE" i="0">
                                <a:latin typeface="Cambria Math" panose="02040503050406030204" pitchFamily="18" charset="0"/>
                              </a:rPr>
                              <m:t>2</m:t>
                            </m:r>
                          </m:sub>
                        </m:sSub>
                        <m:r>
                          <a:rPr lang="ar-AE" i="0">
                            <a:latin typeface="Cambria Math" panose="02040503050406030204" pitchFamily="18" charset="0"/>
                          </a:rPr>
                          <m:t>=</m:t>
                        </m:r>
                        <m:r>
                          <a:rPr lang="ar-AE" i="0">
                            <a:latin typeface="Cambria Math" panose="02040503050406030204" pitchFamily="18" charset="0"/>
                          </a:rPr>
                          <m:t>0</m:t>
                        </m:r>
                        <m:r>
                          <a:rPr lang="ar-AE" i="0">
                            <a:latin typeface="Cambria Math" panose="02040503050406030204" pitchFamily="18" charset="0"/>
                          </a:rPr>
                          <m:t>.</m:t>
                        </m:r>
                        <m:r>
                          <a:rPr lang="ar-AE" i="0">
                            <a:latin typeface="Cambria Math" panose="02040503050406030204" pitchFamily="18" charset="0"/>
                          </a:rPr>
                          <m:t>01</m:t>
                        </m:r>
                      </m:e>
                    </m:d>
                  </m:oMath>
                </a14:m>
                <a:endParaRPr lang="ar-AE" b="0" i="0" dirty="0">
                  <a:solidFill>
                    <a:srgbClr val="27251E"/>
                  </a:solidFill>
                  <a:effectLst/>
                  <a:latin typeface="pplxSerif"/>
                </a:endParaRPr>
              </a:p>
            </p:txBody>
          </p:sp>
        </mc:Choice>
        <mc:Fallback xmlns="">
          <p:sp>
            <p:nvSpPr>
              <p:cNvPr id="9" name="TextBox 8">
                <a:extLst>
                  <a:ext uri="{FF2B5EF4-FFF2-40B4-BE49-F238E27FC236}">
                    <a16:creationId xmlns:a16="http://schemas.microsoft.com/office/drawing/2014/main" id="{73A64019-D9C4-B44E-8BBF-CB65A93206D5}"/>
                  </a:ext>
                </a:extLst>
              </p:cNvPr>
              <p:cNvSpPr txBox="1">
                <a:spLocks noRot="1" noChangeAspect="1" noMove="1" noResize="1" noEditPoints="1" noAdjustHandles="1" noChangeArrowheads="1" noChangeShapeType="1" noTextEdit="1"/>
              </p:cNvSpPr>
              <p:nvPr/>
            </p:nvSpPr>
            <p:spPr>
              <a:xfrm>
                <a:off x="7662422" y="3388545"/>
                <a:ext cx="2783840" cy="373914"/>
              </a:xfrm>
              <a:prstGeom prst="rect">
                <a:avLst/>
              </a:prstGeom>
              <a:blipFill>
                <a:blip r:embed="rId5"/>
                <a:stretch>
                  <a:fillRect l="-1969" t="-9836" b="-2459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484D3B9C-9FBA-AA49-57F1-78D5655F73AD}"/>
                  </a:ext>
                </a:extLst>
              </p:cNvPr>
              <p:cNvSpPr txBox="1"/>
              <p:nvPr/>
            </p:nvSpPr>
            <p:spPr>
              <a:xfrm>
                <a:off x="1057716" y="3509566"/>
                <a:ext cx="2580640" cy="369332"/>
              </a:xfrm>
              <a:prstGeom prst="rect">
                <a:avLst/>
              </a:prstGeom>
              <a:noFill/>
            </p:spPr>
            <p:txBody>
              <a:bodyPr wrap="square">
                <a:spAutoFit/>
              </a:bodyPr>
              <a:lstStyle/>
              <a:p>
                <a:r>
                  <a:rPr lang="en-IN" dirty="0"/>
                  <a:t>Pair 1 </a:t>
                </a:r>
                <a14:m>
                  <m:oMath xmlns:m="http://schemas.openxmlformats.org/officeDocument/2006/math">
                    <m:d>
                      <m:dPr>
                        <m:ctrlPr>
                          <a:rPr lang="ar-AE" i="1">
                            <a:latin typeface="Cambria Math" panose="02040503050406030204" pitchFamily="18" charset="0"/>
                          </a:rPr>
                        </m:ctrlPr>
                      </m:dPr>
                      <m:e>
                        <m:r>
                          <a:rPr lang="ar-AE">
                            <a:latin typeface="Cambria Math" panose="02040503050406030204" pitchFamily="18" charset="0"/>
                          </a:rPr>
                          <m:t>1</m:t>
                        </m:r>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𝜃</m:t>
                            </m:r>
                          </m:e>
                          <m:sub>
                            <m:r>
                              <a:rPr lang="ar-AE">
                                <a:latin typeface="Cambria Math" panose="02040503050406030204" pitchFamily="18" charset="0"/>
                              </a:rPr>
                              <m:t>1</m:t>
                            </m:r>
                          </m:sub>
                        </m:sSub>
                        <m:r>
                          <a:rPr lang="ar-AE">
                            <a:latin typeface="Cambria Math" panose="02040503050406030204" pitchFamily="18" charset="0"/>
                          </a:rPr>
                          <m:t>=</m:t>
                        </m:r>
                        <m:r>
                          <a:rPr lang="ar-AE">
                            <a:latin typeface="Cambria Math" panose="02040503050406030204" pitchFamily="18" charset="0"/>
                          </a:rPr>
                          <m:t>1</m:t>
                        </m:r>
                      </m:e>
                    </m:d>
                  </m:oMath>
                </a14:m>
                <a:endParaRPr lang="en-IN" dirty="0"/>
              </a:p>
            </p:txBody>
          </p:sp>
        </mc:Choice>
        <mc:Fallback xmlns="">
          <p:sp>
            <p:nvSpPr>
              <p:cNvPr id="13" name="TextBox 12">
                <a:extLst>
                  <a:ext uri="{FF2B5EF4-FFF2-40B4-BE49-F238E27FC236}">
                    <a16:creationId xmlns:a16="http://schemas.microsoft.com/office/drawing/2014/main" id="{484D3B9C-9FBA-AA49-57F1-78D5655F73AD}"/>
                  </a:ext>
                </a:extLst>
              </p:cNvPr>
              <p:cNvSpPr txBox="1">
                <a:spLocks noRot="1" noChangeAspect="1" noMove="1" noResize="1" noEditPoints="1" noAdjustHandles="1" noChangeArrowheads="1" noChangeShapeType="1" noTextEdit="1"/>
              </p:cNvSpPr>
              <p:nvPr/>
            </p:nvSpPr>
            <p:spPr>
              <a:xfrm>
                <a:off x="1057716" y="3509566"/>
                <a:ext cx="2580640" cy="369332"/>
              </a:xfrm>
              <a:prstGeom prst="rect">
                <a:avLst/>
              </a:prstGeom>
              <a:blipFill>
                <a:blip r:embed="rId6"/>
                <a:stretch>
                  <a:fillRect l="-2128" t="-10000" b="-26667"/>
                </a:stretch>
              </a:blipFill>
            </p:spPr>
            <p:txBody>
              <a:bodyPr/>
              <a:lstStyle/>
              <a:p>
                <a:r>
                  <a:rPr lang="en-IN">
                    <a:noFill/>
                  </a:rPr>
                  <a:t> </a:t>
                </a:r>
              </a:p>
            </p:txBody>
          </p:sp>
        </mc:Fallback>
      </mc:AlternateContent>
      <p:sp>
        <p:nvSpPr>
          <p:cNvPr id="10" name="TextBox 9">
            <a:extLst>
              <a:ext uri="{FF2B5EF4-FFF2-40B4-BE49-F238E27FC236}">
                <a16:creationId xmlns:a16="http://schemas.microsoft.com/office/drawing/2014/main" id="{F0F87BD4-643C-18F9-BC13-4FA6E00CFC7B}"/>
              </a:ext>
            </a:extLst>
          </p:cNvPr>
          <p:cNvSpPr txBox="1"/>
          <p:nvPr/>
        </p:nvSpPr>
        <p:spPr>
          <a:xfrm>
            <a:off x="8769862" y="1683481"/>
            <a:ext cx="3095502" cy="830997"/>
          </a:xfrm>
          <a:prstGeom prst="rect">
            <a:avLst/>
          </a:prstGeom>
          <a:solidFill>
            <a:schemeClr val="accent2">
              <a:lumMod val="60000"/>
              <a:lumOff val="40000"/>
            </a:schemeClr>
          </a:solidFill>
        </p:spPr>
        <p:txBody>
          <a:bodyPr wrap="square">
            <a:spAutoFit/>
          </a:bodyPr>
          <a:lstStyle/>
          <a:p>
            <a:r>
              <a:rPr lang="nn-NO" sz="2400" dirty="0"/>
              <a:t>θ</a:t>
            </a:r>
            <a:r>
              <a:rPr lang="nn-NO" sz="2400" baseline="-25000" dirty="0"/>
              <a:t>i</a:t>
            </a:r>
            <a:r>
              <a:rPr lang="nn-NO" sz="2400" dirty="0"/>
              <a:t> = 10000</a:t>
            </a:r>
            <a:r>
              <a:rPr lang="nn-NO" sz="2400" baseline="30000" dirty="0"/>
              <a:t>−2(i−1)/d</a:t>
            </a:r>
            <a:r>
              <a:rPr lang="nn-NO" sz="2400" dirty="0"/>
              <a:t> </a:t>
            </a:r>
          </a:p>
          <a:p>
            <a:r>
              <a:rPr lang="nn-NO" sz="2400" dirty="0"/>
              <a:t>i ∈ [1, 2, ..., d/2] </a:t>
            </a:r>
            <a:endParaRPr lang="en-IN" sz="2400" dirty="0"/>
          </a:p>
        </p:txBody>
      </p:sp>
    </p:spTree>
    <p:extLst>
      <p:ext uri="{BB962C8B-B14F-4D97-AF65-F5344CB8AC3E}">
        <p14:creationId xmlns:p14="http://schemas.microsoft.com/office/powerpoint/2010/main" val="34935008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0"/>
          </p:nvPr>
        </p:nvSpPr>
        <p:spPr>
          <a:xfrm>
            <a:off x="304800" y="1545224"/>
            <a:ext cx="5601325" cy="4525963"/>
          </a:xfrm>
        </p:spPr>
        <p:txBody>
          <a:bodyPr>
            <a:normAutofit fontScale="92500" lnSpcReduction="20000"/>
          </a:bodyPr>
          <a:lstStyle/>
          <a:p>
            <a:pPr marL="342900" indent="-342900">
              <a:buFont typeface="Arial" panose="020B0604020202020204" pitchFamily="34" charset="0"/>
              <a:buChar char="•"/>
            </a:pPr>
            <a:r>
              <a:rPr lang="en-US" dirty="0"/>
              <a:t>Why did many models move away from learned absolute positional </a:t>
            </a:r>
            <a:r>
              <a:rPr lang="en-US" dirty="0" err="1"/>
              <a:t>embeddings</a:t>
            </a:r>
            <a:r>
              <a:rPr lang="en-US" dirty="0"/>
              <a:t>?</a:t>
            </a:r>
          </a:p>
          <a:p>
            <a:pPr marL="800100" lvl="1" indent="-342900">
              <a:buFont typeface="Arial" panose="020B0604020202020204" pitchFamily="34" charset="0"/>
              <a:buChar char="•"/>
            </a:pPr>
            <a:r>
              <a:rPr lang="en-US" b="1" dirty="0"/>
              <a:t>Better handling of relative distances.</a:t>
            </a:r>
            <a:r>
              <a:rPr lang="en-US" dirty="0"/>
              <a:t> </a:t>
            </a:r>
            <a:r>
              <a:rPr lang="en-US" dirty="0" err="1"/>
              <a:t>RoPE</a:t>
            </a:r>
            <a:r>
              <a:rPr lang="en-US" dirty="0"/>
              <a:t> makes the attention interaction itself position-aware</a:t>
            </a:r>
          </a:p>
          <a:p>
            <a:pPr marL="800100" lvl="1" indent="-342900">
              <a:buFont typeface="Arial" panose="020B0604020202020204" pitchFamily="34" charset="0"/>
              <a:buChar char="•"/>
            </a:pPr>
            <a:r>
              <a:rPr lang="en-US" b="1" dirty="0"/>
              <a:t>Better long-context behavior.</a:t>
            </a:r>
            <a:r>
              <a:rPr lang="en-US" dirty="0"/>
              <a:t> It is often easier to extend or adapt </a:t>
            </a:r>
            <a:r>
              <a:rPr lang="en-US" dirty="0" err="1"/>
              <a:t>RoPE</a:t>
            </a:r>
            <a:r>
              <a:rPr lang="en-US" dirty="0"/>
              <a:t>-based models to larger context windows</a:t>
            </a:r>
          </a:p>
          <a:p>
            <a:pPr marL="800100" lvl="1" indent="-342900">
              <a:buFont typeface="Arial" panose="020B0604020202020204" pitchFamily="34" charset="0"/>
              <a:buChar char="•"/>
            </a:pPr>
            <a:r>
              <a:rPr lang="en-US" b="1" dirty="0"/>
              <a:t>Cleaner integration with attention.</a:t>
            </a:r>
            <a:r>
              <a:rPr lang="en-US" dirty="0"/>
              <a:t> Position is encoded where it matters most: in the query-key interaction</a:t>
            </a:r>
          </a:p>
          <a:p>
            <a:pPr marL="342900" indent="-342900">
              <a:buFont typeface="Arial" panose="020B0604020202020204" pitchFamily="34" charset="0"/>
              <a:buChar char="•"/>
            </a:pPr>
            <a:endParaRPr lang="sv-SE" dirty="0"/>
          </a:p>
          <a:p>
            <a:pPr marL="342900" indent="-342900">
              <a:buFont typeface="Arial" panose="020B0604020202020204" pitchFamily="34" charset="0"/>
              <a:buChar char="•"/>
            </a:pPr>
            <a:r>
              <a:rPr lang="sv-SE" dirty="0"/>
              <a:t>Typical models: Llama, Qwen, GPT-OSS, DeepSeek, GLM-4.5, Sarvam 30B</a:t>
            </a:r>
            <a:endParaRPr lang="en-US" dirty="0"/>
          </a:p>
          <a:p>
            <a:pPr marL="342900" indent="-342900">
              <a:buFont typeface="Arial" panose="020B0604020202020204" pitchFamily="34" charset="0"/>
              <a:buChar char="•"/>
            </a:pPr>
            <a:endParaRPr lang="en-IN" dirty="0"/>
          </a:p>
        </p:txBody>
      </p:sp>
      <p:sp>
        <p:nvSpPr>
          <p:cNvPr id="3" name="Title 2"/>
          <p:cNvSpPr>
            <a:spLocks noGrp="1"/>
          </p:cNvSpPr>
          <p:nvPr>
            <p:ph type="title"/>
          </p:nvPr>
        </p:nvSpPr>
        <p:spPr/>
        <p:txBody>
          <a:bodyPr/>
          <a:lstStyle/>
          <a:p>
            <a:r>
              <a:rPr lang="en-US" dirty="0" err="1"/>
              <a:t>RoPE</a:t>
            </a:r>
            <a:endParaRPr lang="en-IN" dirty="0"/>
          </a:p>
        </p:txBody>
      </p:sp>
      <p:pic>
        <p:nvPicPr>
          <p:cNvPr id="4" name="Content Placeholder 3"/>
          <p:cNvPicPr>
            <a:picLocks noChangeAspect="1"/>
          </p:cNvPicPr>
          <p:nvPr/>
        </p:nvPicPr>
        <p:blipFill>
          <a:blip r:embed="rId2"/>
          <a:stretch>
            <a:fillRect/>
          </a:stretch>
        </p:blipFill>
        <p:spPr>
          <a:xfrm>
            <a:off x="5745405" y="0"/>
            <a:ext cx="6116050" cy="6491460"/>
          </a:xfrm>
          <a:prstGeom prst="rect">
            <a:avLst/>
          </a:prstGeom>
        </p:spPr>
      </p:pic>
    </p:spTree>
    <p:extLst>
      <p:ext uri="{BB962C8B-B14F-4D97-AF65-F5344CB8AC3E}">
        <p14:creationId xmlns:p14="http://schemas.microsoft.com/office/powerpoint/2010/main" val="24976072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0"/>
          </p:nvPr>
        </p:nvSpPr>
        <p:spPr>
          <a:xfrm>
            <a:off x="-11921" y="1425303"/>
            <a:ext cx="11756881" cy="5140389"/>
          </a:xfrm>
        </p:spPr>
        <p:txBody>
          <a:bodyPr>
            <a:noAutofit/>
          </a:bodyPr>
          <a:lstStyle/>
          <a:p>
            <a:pPr marL="342900" indent="-342900">
              <a:buFont typeface="Arial" panose="020B0604020202020204" pitchFamily="34" charset="0"/>
              <a:buChar char="•"/>
            </a:pPr>
            <a:r>
              <a:rPr lang="en-US" dirty="0"/>
              <a:t>Omitting explicit positional information injection in selected attention layers</a:t>
            </a:r>
          </a:p>
          <a:p>
            <a:pPr marL="342900" indent="-342900">
              <a:buFont typeface="Arial" panose="020B0604020202020204" pitchFamily="34" charset="0"/>
              <a:buChar char="•"/>
            </a:pPr>
            <a:r>
              <a:rPr lang="en-US" dirty="0"/>
              <a:t>The key point is that causal generation still imposes an ordering structure.  </a:t>
            </a:r>
            <a:r>
              <a:rPr lang="en-US" i="1" dirty="0"/>
              <a:t>A token can attend only to earlier tokens, not future ones</a:t>
            </a:r>
          </a:p>
          <a:p>
            <a:pPr marL="342900" indent="-342900">
              <a:buFont typeface="Arial" panose="020B0604020202020204" pitchFamily="34" charset="0"/>
              <a:buChar char="•"/>
            </a:pPr>
            <a:r>
              <a:rPr lang="en-US" dirty="0"/>
              <a:t>Intuition: if position is not hard‑wired, the model may learn </a:t>
            </a:r>
            <a:r>
              <a:rPr lang="en-US" b="1" dirty="0"/>
              <a:t>relative, content‑driven patterns</a:t>
            </a:r>
            <a:r>
              <a:rPr lang="en-US" dirty="0"/>
              <a:t> that extrapolate more smoothly when the sequence is longer than anything seen in training</a:t>
            </a:r>
          </a:p>
          <a:p>
            <a:pPr marL="342900" indent="-342900">
              <a:buFont typeface="Arial" panose="020B0604020202020204" pitchFamily="34" charset="0"/>
              <a:buChar char="•"/>
            </a:pPr>
            <a:r>
              <a:rPr lang="en-US" dirty="0"/>
              <a:t>Practical use is hybrid architectures now mix:</a:t>
            </a:r>
          </a:p>
          <a:p>
            <a:pPr marL="800100" lvl="1" indent="-342900">
              <a:buFont typeface="Arial" panose="020B0604020202020204" pitchFamily="34" charset="0"/>
              <a:buChar char="•"/>
            </a:pPr>
            <a:r>
              <a:rPr lang="en-US" b="1" dirty="0" err="1"/>
              <a:t>RoPE</a:t>
            </a:r>
            <a:r>
              <a:rPr lang="en-US" b="1" dirty="0"/>
              <a:t> layers</a:t>
            </a:r>
            <a:r>
              <a:rPr lang="en-US" dirty="0"/>
              <a:t> (strong recency/positional bias)</a:t>
            </a:r>
          </a:p>
          <a:p>
            <a:pPr marL="800100" lvl="1" indent="-342900">
              <a:buFont typeface="Arial" panose="020B0604020202020204" pitchFamily="34" charset="0"/>
              <a:buChar char="•"/>
            </a:pPr>
            <a:r>
              <a:rPr lang="en-US" b="1" dirty="0" err="1"/>
              <a:t>NoPE</a:t>
            </a:r>
            <a:r>
              <a:rPr lang="en-US" b="1" dirty="0"/>
              <a:t> layers</a:t>
            </a:r>
            <a:r>
              <a:rPr lang="en-US" dirty="0"/>
              <a:t> (long‑range, content‑only retrieval)</a:t>
            </a:r>
          </a:p>
          <a:p>
            <a:pPr marL="342900" indent="-342900">
              <a:buFont typeface="Arial" panose="020B0604020202020204" pitchFamily="34" charset="0"/>
              <a:buChar char="•"/>
            </a:pPr>
            <a:r>
              <a:rPr lang="en-IN" dirty="0"/>
              <a:t>E.g. SmolLM3  </a:t>
            </a:r>
            <a:r>
              <a:rPr lang="en-US" dirty="0"/>
              <a:t>omits it in every fourth layer</a:t>
            </a:r>
          </a:p>
        </p:txBody>
      </p:sp>
      <p:sp>
        <p:nvSpPr>
          <p:cNvPr id="3" name="Title 2"/>
          <p:cNvSpPr>
            <a:spLocks noGrp="1"/>
          </p:cNvSpPr>
          <p:nvPr>
            <p:ph type="title"/>
          </p:nvPr>
        </p:nvSpPr>
        <p:spPr/>
        <p:txBody>
          <a:bodyPr/>
          <a:lstStyle/>
          <a:p>
            <a:r>
              <a:rPr lang="en-IN" dirty="0"/>
              <a:t>No Positional </a:t>
            </a:r>
            <a:r>
              <a:rPr lang="en-IN" dirty="0" err="1"/>
              <a:t>Embeddings</a:t>
            </a:r>
            <a:r>
              <a:rPr lang="en-IN" dirty="0"/>
              <a:t> (</a:t>
            </a:r>
            <a:r>
              <a:rPr lang="en-IN" dirty="0" err="1"/>
              <a:t>NoPE</a:t>
            </a:r>
            <a:r>
              <a:rPr lang="en-IN" dirty="0"/>
              <a:t>)</a:t>
            </a:r>
          </a:p>
        </p:txBody>
      </p:sp>
    </p:spTree>
    <p:extLst>
      <p:ext uri="{BB962C8B-B14F-4D97-AF65-F5344CB8AC3E}">
        <p14:creationId xmlns:p14="http://schemas.microsoft.com/office/powerpoint/2010/main" val="37750030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34584" y="2758190"/>
            <a:ext cx="10881209" cy="1219200"/>
          </a:xfrm>
        </p:spPr>
        <p:txBody>
          <a:bodyPr>
            <a:normAutofit fontScale="90000"/>
          </a:bodyPr>
          <a:lstStyle/>
          <a:p>
            <a:r>
              <a:rPr lang="en-IN" dirty="0"/>
              <a:t>Advanced activations </a:t>
            </a:r>
            <a:br>
              <a:rPr lang="en-IN" dirty="0"/>
            </a:br>
            <a:r>
              <a:rPr lang="en-IN" dirty="0"/>
              <a:t> GELU, Gated Linear Units (GLU), </a:t>
            </a:r>
            <a:r>
              <a:rPr lang="en-IN" dirty="0" err="1"/>
              <a:t>SwiGLU</a:t>
            </a:r>
            <a:br>
              <a:rPr lang="en-IN" dirty="0"/>
            </a:br>
            <a:endParaRPr lang="en-IN" dirty="0"/>
          </a:p>
        </p:txBody>
      </p:sp>
    </p:spTree>
    <p:extLst>
      <p:ext uri="{BB962C8B-B14F-4D97-AF65-F5344CB8AC3E}">
        <p14:creationId xmlns:p14="http://schemas.microsoft.com/office/powerpoint/2010/main" val="5103465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0"/>
          </p:nvPr>
        </p:nvSpPr>
        <p:spPr>
          <a:xfrm>
            <a:off x="179881" y="1352944"/>
            <a:ext cx="7305210" cy="4580241"/>
          </a:xfrm>
        </p:spPr>
        <p:txBody>
          <a:bodyPr>
            <a:normAutofit/>
          </a:bodyPr>
          <a:lstStyle/>
          <a:p>
            <a:pPr marL="342900" indent="-342900">
              <a:buFont typeface="Arial" panose="020B0604020202020204" pitchFamily="34" charset="0"/>
              <a:buChar char="•"/>
            </a:pPr>
            <a:r>
              <a:rPr lang="en-US" sz="2000" dirty="0"/>
              <a:t>Introduced in 2016 and popularized by BERT and GPT-2/3,  Google's Gemma models </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Goal: keep the good properties of </a:t>
            </a:r>
            <a:r>
              <a:rPr lang="en-US" sz="2000" dirty="0" err="1"/>
              <a:t>ReLU</a:t>
            </a:r>
            <a:r>
              <a:rPr lang="en-US" sz="2000" dirty="0"/>
              <a:t> (no saturation for large positives) but make the activation </a:t>
            </a:r>
            <a:r>
              <a:rPr lang="en-US" sz="2000" b="1" dirty="0"/>
              <a:t>smooth and probabilistic</a:t>
            </a:r>
            <a:r>
              <a:rPr lang="en-US" sz="2000" dirty="0"/>
              <a:t> instead of a hard on/off gate.</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sym typeface="Symbol" panose="05050102010706020507" pitchFamily="18" charset="2"/>
            </a:endParaRPr>
          </a:p>
          <a:p>
            <a:r>
              <a:rPr lang="en-US" sz="2000" dirty="0">
                <a:sym typeface="Symbol" panose="05050102010706020507" pitchFamily="18" charset="2"/>
              </a:rPr>
              <a:t></a:t>
            </a:r>
            <a:r>
              <a:rPr lang="en-US" sz="2000" dirty="0"/>
              <a:t>(x)=  standard Gaussian CDF, </a:t>
            </a:r>
            <a:r>
              <a:rPr lang="en-IN" sz="2000" dirty="0"/>
              <a:t> number in [0,1]</a:t>
            </a:r>
            <a:r>
              <a:rPr lang="ar-AE" sz="2000" dirty="0"/>
              <a:t>, </a:t>
            </a:r>
            <a:r>
              <a:rPr lang="en-IN" sz="2000" dirty="0"/>
              <a:t>so GELU </a:t>
            </a:r>
            <a:r>
              <a:rPr lang="en-IN" sz="2000" b="1" dirty="0"/>
              <a:t>smoothly weights</a:t>
            </a:r>
            <a:r>
              <a:rPr lang="en-IN" sz="2000" dirty="0"/>
              <a:t> each input instead of hard‑clipping it</a:t>
            </a:r>
          </a:p>
          <a:p>
            <a:endParaRPr lang="en-IN" sz="2000" dirty="0"/>
          </a:p>
          <a:p>
            <a:pPr marL="342900" indent="-342900">
              <a:buFont typeface="Arial" panose="020B0604020202020204" pitchFamily="34" charset="0"/>
              <a:buChar char="•"/>
            </a:pPr>
            <a:r>
              <a:rPr lang="en-IN" sz="2000" b="1" dirty="0"/>
              <a:t>Smooth gradients everywhere</a:t>
            </a:r>
          </a:p>
          <a:p>
            <a:pPr marL="342900" indent="-342900">
              <a:buFont typeface="Arial" panose="020B0604020202020204" pitchFamily="34" charset="0"/>
              <a:buChar char="•"/>
            </a:pPr>
            <a:r>
              <a:rPr lang="en-IN" sz="2000" b="1" dirty="0"/>
              <a:t>No “dying </a:t>
            </a:r>
            <a:r>
              <a:rPr lang="en-IN" sz="2000" b="1" dirty="0" err="1"/>
              <a:t>ReLU</a:t>
            </a:r>
            <a:r>
              <a:rPr lang="en-IN" sz="2000" b="1" dirty="0"/>
              <a:t>”</a:t>
            </a:r>
            <a:endParaRPr lang="en-IN" sz="2000" dirty="0"/>
          </a:p>
          <a:p>
            <a:pPr marL="342900" indent="-342900">
              <a:buFont typeface="Arial" panose="020B0604020202020204" pitchFamily="34" charset="0"/>
              <a:buChar char="•"/>
            </a:pPr>
            <a:endParaRPr lang="en-US" sz="2000" dirty="0"/>
          </a:p>
        </p:txBody>
      </p:sp>
      <p:sp>
        <p:nvSpPr>
          <p:cNvPr id="3" name="Title 2"/>
          <p:cNvSpPr>
            <a:spLocks noGrp="1"/>
          </p:cNvSpPr>
          <p:nvPr>
            <p:ph type="title"/>
          </p:nvPr>
        </p:nvSpPr>
        <p:spPr/>
        <p:txBody>
          <a:bodyPr/>
          <a:lstStyle/>
          <a:p>
            <a:r>
              <a:rPr lang="en-US" dirty="0"/>
              <a:t>GELU (Gaussian Error Linear Unit)</a:t>
            </a:r>
            <a:endParaRPr lang="en-IN" dirty="0"/>
          </a:p>
        </p:txBody>
      </p:sp>
      <p:pic>
        <p:nvPicPr>
          <p:cNvPr id="6" name="Picture 5"/>
          <p:cNvPicPr>
            <a:picLocks noChangeAspect="1"/>
          </p:cNvPicPr>
          <p:nvPr/>
        </p:nvPicPr>
        <p:blipFill>
          <a:blip r:embed="rId3"/>
          <a:stretch>
            <a:fillRect/>
          </a:stretch>
        </p:blipFill>
        <p:spPr>
          <a:xfrm>
            <a:off x="807837" y="3354523"/>
            <a:ext cx="5288163" cy="577081"/>
          </a:xfrm>
          <a:prstGeom prst="rect">
            <a:avLst/>
          </a:prstGeom>
        </p:spPr>
      </p:pic>
      <p:pic>
        <p:nvPicPr>
          <p:cNvPr id="7" name="Picture 6"/>
          <p:cNvPicPr>
            <a:picLocks noChangeAspect="1"/>
          </p:cNvPicPr>
          <p:nvPr/>
        </p:nvPicPr>
        <p:blipFill>
          <a:blip r:embed="rId4"/>
          <a:stretch>
            <a:fillRect/>
          </a:stretch>
        </p:blipFill>
        <p:spPr>
          <a:xfrm>
            <a:off x="8391757" y="4842049"/>
            <a:ext cx="3620362" cy="351692"/>
          </a:xfrm>
          <a:prstGeom prst="rect">
            <a:avLst/>
          </a:prstGeom>
        </p:spPr>
      </p:pic>
      <p:pic>
        <p:nvPicPr>
          <p:cNvPr id="8" name="Picture 7"/>
          <p:cNvPicPr>
            <a:picLocks noChangeAspect="1"/>
          </p:cNvPicPr>
          <p:nvPr/>
        </p:nvPicPr>
        <p:blipFill>
          <a:blip r:embed="rId5"/>
          <a:stretch>
            <a:fillRect/>
          </a:stretch>
        </p:blipFill>
        <p:spPr>
          <a:xfrm>
            <a:off x="8643711" y="5947458"/>
            <a:ext cx="1287854" cy="400110"/>
          </a:xfrm>
          <a:prstGeom prst="rect">
            <a:avLst/>
          </a:prstGeom>
        </p:spPr>
      </p:pic>
      <p:pic>
        <p:nvPicPr>
          <p:cNvPr id="10" name="Picture 9"/>
          <p:cNvPicPr>
            <a:picLocks noChangeAspect="1"/>
          </p:cNvPicPr>
          <p:nvPr/>
        </p:nvPicPr>
        <p:blipFill>
          <a:blip r:embed="rId6"/>
          <a:stretch>
            <a:fillRect/>
          </a:stretch>
        </p:blipFill>
        <p:spPr>
          <a:xfrm>
            <a:off x="7563944" y="651918"/>
            <a:ext cx="4448175" cy="3333750"/>
          </a:xfrm>
          <a:prstGeom prst="rect">
            <a:avLst/>
          </a:prstGeom>
        </p:spPr>
      </p:pic>
      <p:sp>
        <p:nvSpPr>
          <p:cNvPr id="5" name="TextBox 4">
            <a:extLst>
              <a:ext uri="{FF2B5EF4-FFF2-40B4-BE49-F238E27FC236}">
                <a16:creationId xmlns:a16="http://schemas.microsoft.com/office/drawing/2014/main" id="{B7F2C40A-CD52-8660-086F-5058D577A136}"/>
              </a:ext>
            </a:extLst>
          </p:cNvPr>
          <p:cNvSpPr txBox="1"/>
          <p:nvPr/>
        </p:nvSpPr>
        <p:spPr>
          <a:xfrm>
            <a:off x="8501367" y="5433866"/>
            <a:ext cx="2377440" cy="400110"/>
          </a:xfrm>
          <a:prstGeom prst="rect">
            <a:avLst/>
          </a:prstGeom>
          <a:noFill/>
        </p:spPr>
        <p:txBody>
          <a:bodyPr wrap="square">
            <a:spAutoFit/>
          </a:bodyPr>
          <a:lstStyle/>
          <a:p>
            <a:r>
              <a:rPr lang="en-IN" sz="2000" dirty="0">
                <a:latin typeface="Cambria" panose="02040503050406030204" pitchFamily="18" charset="0"/>
                <a:ea typeface="Cambria" panose="02040503050406030204" pitchFamily="18" charset="0"/>
              </a:rPr>
              <a:t>Sigmoid form:</a:t>
            </a:r>
          </a:p>
        </p:txBody>
      </p:sp>
      <p:sp>
        <p:nvSpPr>
          <p:cNvPr id="12" name="TextBox 11">
            <a:extLst>
              <a:ext uri="{FF2B5EF4-FFF2-40B4-BE49-F238E27FC236}">
                <a16:creationId xmlns:a16="http://schemas.microsoft.com/office/drawing/2014/main" id="{8B226B66-8CD7-16F0-7E69-97B9C43A2475}"/>
              </a:ext>
            </a:extLst>
          </p:cNvPr>
          <p:cNvSpPr txBox="1"/>
          <p:nvPr/>
        </p:nvSpPr>
        <p:spPr>
          <a:xfrm>
            <a:off x="8311999" y="3985668"/>
            <a:ext cx="3700120" cy="707886"/>
          </a:xfrm>
          <a:prstGeom prst="rect">
            <a:avLst/>
          </a:prstGeom>
          <a:noFill/>
        </p:spPr>
        <p:txBody>
          <a:bodyPr wrap="square">
            <a:spAutoFit/>
          </a:bodyPr>
          <a:lstStyle/>
          <a:p>
            <a:r>
              <a:rPr lang="en-IN" sz="2000" dirty="0"/>
              <a:t>Common approximations:    </a:t>
            </a:r>
          </a:p>
          <a:p>
            <a:r>
              <a:rPr lang="en-IN" sz="2000" dirty="0"/>
              <a:t>Tanh form:</a:t>
            </a:r>
          </a:p>
        </p:txBody>
      </p:sp>
    </p:spTree>
    <p:extLst>
      <p:ext uri="{BB962C8B-B14F-4D97-AF65-F5344CB8AC3E}">
        <p14:creationId xmlns:p14="http://schemas.microsoft.com/office/powerpoint/2010/main" val="3530135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0"/>
          </p:nvPr>
        </p:nvSpPr>
        <p:spPr>
          <a:xfrm>
            <a:off x="55043" y="1417728"/>
            <a:ext cx="6860498" cy="4525963"/>
          </a:xfrm>
        </p:spPr>
        <p:txBody>
          <a:bodyPr>
            <a:normAutofit/>
          </a:bodyPr>
          <a:lstStyle/>
          <a:p>
            <a:pPr marL="342900" indent="-342900">
              <a:buFont typeface="Arial" panose="020B0604020202020204" pitchFamily="34" charset="0"/>
              <a:buChar char="•"/>
            </a:pPr>
            <a:r>
              <a:rPr lang="en-US" dirty="0"/>
              <a:t>A smooth activation that is slightly cheaper than GELU in large decoder MLPs</a:t>
            </a:r>
          </a:p>
          <a:p>
            <a:pPr marL="342900" indent="-342900">
              <a:buFont typeface="Arial" panose="020B0604020202020204" pitchFamily="34" charset="0"/>
              <a:buChar char="•"/>
            </a:pPr>
            <a:r>
              <a:rPr lang="en-US" dirty="0"/>
              <a:t>Mostly an engineering preference rather than a dramatic modeling difference</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IN" b="1" cap="all" dirty="0"/>
          </a:p>
          <a:p>
            <a:pPr marL="342900" indent="-342900">
              <a:buFont typeface="Arial" panose="020B0604020202020204" pitchFamily="34" charset="0"/>
              <a:buChar char="•"/>
            </a:pPr>
            <a:r>
              <a:rPr lang="en-IN" b="1" dirty="0"/>
              <a:t>Typical models </a:t>
            </a:r>
            <a:r>
              <a:rPr lang="en-IN" b="1" cap="all" dirty="0"/>
              <a:t>: </a:t>
            </a:r>
            <a:r>
              <a:rPr lang="en-IN" dirty="0"/>
              <a:t>Llama, </a:t>
            </a:r>
            <a:r>
              <a:rPr lang="en-IN" dirty="0" err="1"/>
              <a:t>Qwen</a:t>
            </a:r>
            <a:r>
              <a:rPr lang="en-IN" dirty="0"/>
              <a:t>, </a:t>
            </a:r>
            <a:r>
              <a:rPr lang="en-IN" dirty="0" err="1"/>
              <a:t>DeepSeek</a:t>
            </a:r>
            <a:r>
              <a:rPr lang="en-IN" dirty="0"/>
              <a:t>, GPT-OSS, Mistral, </a:t>
            </a:r>
            <a:r>
              <a:rPr lang="en-IN" dirty="0" err="1"/>
              <a:t>Sarvam</a:t>
            </a:r>
            <a:endParaRPr lang="en-IN" dirty="0"/>
          </a:p>
          <a:p>
            <a:pPr marL="342900" indent="-342900">
              <a:buFont typeface="Arial" panose="020B0604020202020204" pitchFamily="34" charset="0"/>
              <a:buChar char="•"/>
            </a:pPr>
            <a:r>
              <a:rPr lang="en-US" dirty="0"/>
              <a:t>Swish is used in most architectures today</a:t>
            </a:r>
            <a:endParaRPr lang="en-IN" dirty="0"/>
          </a:p>
        </p:txBody>
      </p:sp>
      <p:sp>
        <p:nvSpPr>
          <p:cNvPr id="3" name="Title 2"/>
          <p:cNvSpPr>
            <a:spLocks noGrp="1"/>
          </p:cNvSpPr>
          <p:nvPr>
            <p:ph type="title"/>
          </p:nvPr>
        </p:nvSpPr>
        <p:spPr/>
        <p:txBody>
          <a:bodyPr/>
          <a:lstStyle/>
          <a:p>
            <a:r>
              <a:rPr lang="en-US" dirty="0" err="1"/>
              <a:t>SiLU</a:t>
            </a:r>
            <a:r>
              <a:rPr lang="en-US" dirty="0"/>
              <a:t> (Sigmoid Linear Unit) / Swish</a:t>
            </a:r>
            <a:endParaRPr lang="en-IN" dirty="0"/>
          </a:p>
        </p:txBody>
      </p:sp>
      <p:pic>
        <p:nvPicPr>
          <p:cNvPr id="6" name="Picture 5"/>
          <p:cNvPicPr>
            <a:picLocks noChangeAspect="1"/>
          </p:cNvPicPr>
          <p:nvPr/>
        </p:nvPicPr>
        <p:blipFill>
          <a:blip r:embed="rId3"/>
          <a:stretch>
            <a:fillRect/>
          </a:stretch>
        </p:blipFill>
        <p:spPr>
          <a:xfrm>
            <a:off x="1056260" y="3159174"/>
            <a:ext cx="3170967" cy="782955"/>
          </a:xfrm>
          <a:prstGeom prst="rect">
            <a:avLst/>
          </a:prstGeom>
        </p:spPr>
      </p:pic>
      <p:sp>
        <p:nvSpPr>
          <p:cNvPr id="7" name="Rectangle 6"/>
          <p:cNvSpPr/>
          <p:nvPr/>
        </p:nvSpPr>
        <p:spPr>
          <a:xfrm>
            <a:off x="167483" y="6488668"/>
            <a:ext cx="4109908" cy="276999"/>
          </a:xfrm>
          <a:prstGeom prst="rect">
            <a:avLst/>
          </a:prstGeom>
        </p:spPr>
        <p:txBody>
          <a:bodyPr wrap="none">
            <a:spAutoFit/>
          </a:bodyPr>
          <a:lstStyle/>
          <a:p>
            <a:r>
              <a:rPr lang="en-IN" sz="1200" dirty="0"/>
              <a:t>https://sebastianraschka.com/llms-from-scratch/ch04/11_silu/</a:t>
            </a:r>
          </a:p>
        </p:txBody>
      </p:sp>
      <p:pic>
        <p:nvPicPr>
          <p:cNvPr id="8" name="Picture 7">
            <a:extLst>
              <a:ext uri="{FF2B5EF4-FFF2-40B4-BE49-F238E27FC236}">
                <a16:creationId xmlns:a16="http://schemas.microsoft.com/office/drawing/2014/main" id="{697CE90A-65A2-8A1B-5604-E89DF30DF9D9}"/>
              </a:ext>
            </a:extLst>
          </p:cNvPr>
          <p:cNvPicPr>
            <a:picLocks noChangeAspect="1"/>
          </p:cNvPicPr>
          <p:nvPr/>
        </p:nvPicPr>
        <p:blipFill>
          <a:blip r:embed="rId4"/>
          <a:stretch>
            <a:fillRect/>
          </a:stretch>
        </p:blipFill>
        <p:spPr>
          <a:xfrm>
            <a:off x="7923243" y="487680"/>
            <a:ext cx="3739086" cy="2087139"/>
          </a:xfrm>
          <a:prstGeom prst="rect">
            <a:avLst/>
          </a:prstGeom>
        </p:spPr>
      </p:pic>
      <p:pic>
        <p:nvPicPr>
          <p:cNvPr id="9" name="Picture 8">
            <a:extLst>
              <a:ext uri="{FF2B5EF4-FFF2-40B4-BE49-F238E27FC236}">
                <a16:creationId xmlns:a16="http://schemas.microsoft.com/office/drawing/2014/main" id="{C354F782-49F0-1A7F-1FD5-2C3FCD9067F4}"/>
              </a:ext>
            </a:extLst>
          </p:cNvPr>
          <p:cNvPicPr>
            <a:picLocks noChangeAspect="1"/>
          </p:cNvPicPr>
          <p:nvPr/>
        </p:nvPicPr>
        <p:blipFill>
          <a:blip r:embed="rId5"/>
          <a:stretch>
            <a:fillRect/>
          </a:stretch>
        </p:blipFill>
        <p:spPr>
          <a:xfrm>
            <a:off x="7129035" y="3159174"/>
            <a:ext cx="4903472" cy="3001828"/>
          </a:xfrm>
          <a:prstGeom prst="rect">
            <a:avLst/>
          </a:prstGeom>
        </p:spPr>
      </p:pic>
    </p:spTree>
    <p:extLst>
      <p:ext uri="{BB962C8B-B14F-4D97-AF65-F5344CB8AC3E}">
        <p14:creationId xmlns:p14="http://schemas.microsoft.com/office/powerpoint/2010/main" val="30489339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0"/>
          </p:nvPr>
        </p:nvSpPr>
        <p:spPr>
          <a:xfrm>
            <a:off x="7056193" y="1601772"/>
            <a:ext cx="5135807" cy="1727200"/>
          </a:xfrm>
        </p:spPr>
        <p:txBody>
          <a:bodyPr>
            <a:normAutofit/>
          </a:bodyPr>
          <a:lstStyle/>
          <a:p>
            <a:pPr marL="342900" indent="-342900">
              <a:buFont typeface="Arial" panose="020B0604020202020204" pitchFamily="34" charset="0"/>
              <a:buChar char="•"/>
            </a:pPr>
            <a:r>
              <a:rPr lang="en-US" sz="2000" dirty="0"/>
              <a:t>Traditional FFN that follows self-attention layer consists of two linear layers with a non-linear activation function in between</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endParaRPr lang="en-US" sz="2000" dirty="0"/>
          </a:p>
          <a:p>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IN" sz="2000" dirty="0"/>
          </a:p>
        </p:txBody>
      </p:sp>
      <p:sp>
        <p:nvSpPr>
          <p:cNvPr id="3" name="Title 2"/>
          <p:cNvSpPr>
            <a:spLocks noGrp="1"/>
          </p:cNvSpPr>
          <p:nvPr>
            <p:ph type="title"/>
          </p:nvPr>
        </p:nvSpPr>
        <p:spPr/>
        <p:txBody>
          <a:bodyPr/>
          <a:lstStyle/>
          <a:p>
            <a:r>
              <a:rPr lang="en-US" dirty="0"/>
              <a:t>Regular FFNN module (2 layer MLP)</a:t>
            </a:r>
            <a:endParaRPr lang="en-IN" dirty="0"/>
          </a:p>
        </p:txBody>
      </p:sp>
      <p:sp>
        <p:nvSpPr>
          <p:cNvPr id="8" name="Rectangle 7"/>
          <p:cNvSpPr/>
          <p:nvPr/>
        </p:nvSpPr>
        <p:spPr>
          <a:xfrm>
            <a:off x="5004" y="6366394"/>
            <a:ext cx="6096000" cy="461665"/>
          </a:xfrm>
          <a:prstGeom prst="rect">
            <a:avLst/>
          </a:prstGeom>
        </p:spPr>
        <p:txBody>
          <a:bodyPr>
            <a:spAutoFit/>
          </a:bodyPr>
          <a:lstStyle/>
          <a:p>
            <a:r>
              <a:rPr lang="en-IN" sz="1200" dirty="0"/>
              <a:t>Figure credit : </a:t>
            </a:r>
            <a:r>
              <a:rPr lang="en-IN" sz="1200" dirty="0">
                <a:hlinkClick r:id="rId3"/>
              </a:rPr>
              <a:t>https://magazine.sebastianraschka.com/p/from-gpt-2-to-gpt-oss-analyzing-the</a:t>
            </a:r>
            <a:endParaRPr lang="en-IN" sz="1200" dirty="0"/>
          </a:p>
          <a:p>
            <a:r>
              <a:rPr lang="en-IN" sz="1200" dirty="0"/>
              <a:t>GLU Variants Improve Transformer</a:t>
            </a:r>
          </a:p>
        </p:txBody>
      </p:sp>
      <p:pic>
        <p:nvPicPr>
          <p:cNvPr id="9" name="Picture 8">
            <a:extLst>
              <a:ext uri="{FF2B5EF4-FFF2-40B4-BE49-F238E27FC236}">
                <a16:creationId xmlns:a16="http://schemas.microsoft.com/office/drawing/2014/main" id="{E7A8CB9D-363D-72A8-3ED8-8672AE1CC1E8}"/>
              </a:ext>
            </a:extLst>
          </p:cNvPr>
          <p:cNvPicPr>
            <a:picLocks noChangeAspect="1"/>
          </p:cNvPicPr>
          <p:nvPr/>
        </p:nvPicPr>
        <p:blipFill>
          <a:blip r:embed="rId4"/>
          <a:stretch>
            <a:fillRect/>
          </a:stretch>
        </p:blipFill>
        <p:spPr>
          <a:xfrm>
            <a:off x="115447" y="2743200"/>
            <a:ext cx="6848242" cy="3294803"/>
          </a:xfrm>
          <a:prstGeom prst="rect">
            <a:avLst/>
          </a:prstGeom>
        </p:spPr>
      </p:pic>
      <p:pic>
        <p:nvPicPr>
          <p:cNvPr id="12" name="Picture 11">
            <a:extLst>
              <a:ext uri="{FF2B5EF4-FFF2-40B4-BE49-F238E27FC236}">
                <a16:creationId xmlns:a16="http://schemas.microsoft.com/office/drawing/2014/main" id="{78223534-0383-F316-D021-D974D4F5FAC6}"/>
              </a:ext>
            </a:extLst>
          </p:cNvPr>
          <p:cNvPicPr>
            <a:picLocks noChangeAspect="1"/>
          </p:cNvPicPr>
          <p:nvPr/>
        </p:nvPicPr>
        <p:blipFill>
          <a:blip r:embed="rId5"/>
          <a:stretch>
            <a:fillRect/>
          </a:stretch>
        </p:blipFill>
        <p:spPr>
          <a:xfrm>
            <a:off x="207950" y="1492215"/>
            <a:ext cx="6663237" cy="609708"/>
          </a:xfrm>
          <a:prstGeom prst="rect">
            <a:avLst/>
          </a:prstGeom>
        </p:spPr>
      </p:pic>
      <p:sp>
        <p:nvSpPr>
          <p:cNvPr id="16" name="TextBox 15">
            <a:extLst>
              <a:ext uri="{FF2B5EF4-FFF2-40B4-BE49-F238E27FC236}">
                <a16:creationId xmlns:a16="http://schemas.microsoft.com/office/drawing/2014/main" id="{AA2DED52-4016-5EF0-E804-779A137C57AB}"/>
              </a:ext>
            </a:extLst>
          </p:cNvPr>
          <p:cNvSpPr txBox="1"/>
          <p:nvPr/>
        </p:nvSpPr>
        <p:spPr>
          <a:xfrm>
            <a:off x="7177049" y="5438744"/>
            <a:ext cx="5135807" cy="400110"/>
          </a:xfrm>
          <a:prstGeom prst="rect">
            <a:avLst/>
          </a:prstGeom>
          <a:noFill/>
        </p:spPr>
        <p:txBody>
          <a:bodyPr wrap="square">
            <a:spAutoFit/>
          </a:bodyPr>
          <a:lstStyle/>
          <a:p>
            <a:r>
              <a:rPr lang="en-US" sz="2000" dirty="0">
                <a:sym typeface="Wingdings" panose="05000000000000000000" pitchFamily="2" charset="2"/>
              </a:rPr>
              <a:t> </a:t>
            </a:r>
            <a:r>
              <a:rPr lang="en-US" sz="2000" dirty="0"/>
              <a:t>Using GELU and Swish (ignoring bias terms)</a:t>
            </a:r>
          </a:p>
        </p:txBody>
      </p:sp>
    </p:spTree>
    <p:extLst>
      <p:ext uri="{BB962C8B-B14F-4D97-AF65-F5344CB8AC3E}">
        <p14:creationId xmlns:p14="http://schemas.microsoft.com/office/powerpoint/2010/main" val="709903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0"/>
              </p:nvPr>
            </p:nvSpPr>
            <p:spPr>
              <a:xfrm>
                <a:off x="121586" y="1385968"/>
                <a:ext cx="12070413" cy="4525963"/>
              </a:xfrm>
            </p:spPr>
            <p:txBody>
              <a:bodyPr>
                <a:normAutofit/>
              </a:bodyPr>
              <a:lstStyle/>
              <a:p>
                <a:pPr marL="342900" indent="-342900">
                  <a:buFont typeface="Arial" panose="020B0604020202020204" pitchFamily="34" charset="0"/>
                  <a:buChar char="•"/>
                </a:pPr>
                <a:r>
                  <a:rPr lang="en-US" sz="2000" dirty="0"/>
                  <a:t>Controls information flow using a gating mechanism  </a:t>
                </a:r>
                <a:r>
                  <a:rPr lang="en-US" sz="2000" b="1" dirty="0"/>
                  <a:t>(</a:t>
                </a:r>
                <a14:m>
                  <m:oMath xmlns:m="http://schemas.openxmlformats.org/officeDocument/2006/math">
                    <m:r>
                      <a:rPr lang="en-IN" sz="2000" b="1" i="1">
                        <a:latin typeface="Cambria Math" panose="02040503050406030204" pitchFamily="18" charset="0"/>
                      </a:rPr>
                      <m:t>𝐆𝐄𝐋𝐔</m:t>
                    </m:r>
                    <m:d>
                      <m:dPr>
                        <m:ctrlPr>
                          <a:rPr lang="ar-AE" sz="2000" b="1" i="1">
                            <a:latin typeface="Cambria Math" panose="02040503050406030204" pitchFamily="18" charset="0"/>
                          </a:rPr>
                        </m:ctrlPr>
                      </m:dPr>
                      <m:e>
                        <m:r>
                          <a:rPr lang="ar-AE" sz="2000" b="1" i="1">
                            <a:latin typeface="Cambria Math" panose="02040503050406030204" pitchFamily="18" charset="0"/>
                          </a:rPr>
                          <m:t>𝒙𝑾</m:t>
                        </m:r>
                      </m:e>
                    </m:d>
                  </m:oMath>
                </a14:m>
                <a:r>
                  <a:rPr lang="ar-AE" sz="2000" b="1" dirty="0"/>
                  <a:t> </a:t>
                </a:r>
                <a:r>
                  <a:rPr lang="en-IN" sz="2000" b="1" dirty="0"/>
                  <a:t>or </a:t>
                </a:r>
                <a14:m>
                  <m:oMath xmlns:m="http://schemas.openxmlformats.org/officeDocument/2006/math">
                    <m:r>
                      <a:rPr lang="en-IN" sz="2000" b="1" i="1">
                        <a:latin typeface="Cambria Math" panose="02040503050406030204" pitchFamily="18" charset="0"/>
                      </a:rPr>
                      <m:t>𝐒𝐰𝐢𝐬𝐡</m:t>
                    </m:r>
                    <m:d>
                      <m:dPr>
                        <m:ctrlPr>
                          <a:rPr lang="ar-AE" sz="2000" b="1" i="1">
                            <a:latin typeface="Cambria Math" panose="02040503050406030204" pitchFamily="18" charset="0"/>
                          </a:rPr>
                        </m:ctrlPr>
                      </m:dPr>
                      <m:e>
                        <m:r>
                          <a:rPr lang="ar-AE" sz="2000" b="1" i="1">
                            <a:latin typeface="Cambria Math" panose="02040503050406030204" pitchFamily="18" charset="0"/>
                          </a:rPr>
                          <m:t>𝒙𝑾</m:t>
                        </m:r>
                      </m:e>
                    </m:d>
                  </m:oMath>
                </a14:m>
                <a:r>
                  <a:rPr lang="ar-AE" sz="2000" b="1" dirty="0"/>
                  <a:t> </a:t>
                </a:r>
                <a:r>
                  <a:rPr lang="en-IN" sz="2000" b="1" dirty="0"/>
                  <a:t>is the gate-like modulator)</a:t>
                </a:r>
              </a:p>
              <a:p>
                <a:pPr marL="342900" indent="-342900">
                  <a:buFont typeface="Arial" panose="020B0604020202020204" pitchFamily="34" charset="0"/>
                  <a:buChar char="•"/>
                </a:pPr>
                <a:r>
                  <a:rPr lang="en-US" sz="2000" b="1" dirty="0">
                    <a:solidFill>
                      <a:srgbClr val="FF0000"/>
                    </a:solidFill>
                  </a:rPr>
                  <a:t>GLUs can suppress noisy or irrelevant features and amplify useful ones on a per-dimension basis.</a:t>
                </a:r>
              </a:p>
              <a:p>
                <a:pPr marL="342900" indent="-342900">
                  <a:buFont typeface="Arial" panose="020B0604020202020204" pitchFamily="34" charset="0"/>
                  <a:buChar char="•"/>
                </a:pPr>
                <a:r>
                  <a:rPr lang="en-US" sz="2000" dirty="0"/>
                  <a:t>2 fully connected layers are replaced by 3 fully connected layers</a:t>
                </a:r>
              </a:p>
              <a:p>
                <a:pPr marL="342900" indent="-342900">
                  <a:buFont typeface="Arial" panose="020B0604020202020204" pitchFamily="34" charset="0"/>
                  <a:buChar char="•"/>
                </a:pPr>
                <a:r>
                  <a:rPr lang="en-US" sz="2000" dirty="0"/>
                  <a:t>Almost all state-of-the-art models currently have moved away from the standard GELU or </a:t>
                </a:r>
                <a:r>
                  <a:rPr lang="en-US" sz="2000" dirty="0" err="1"/>
                  <a:t>ReLU</a:t>
                </a:r>
                <a:r>
                  <a:rPr lang="en-US" sz="2000" dirty="0"/>
                  <a:t> in favor of a gated architecture and adopted of GLU variants</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IN" sz="2000" dirty="0"/>
              </a:p>
            </p:txBody>
          </p:sp>
        </mc:Choice>
        <mc:Fallback xmlns="">
          <p:sp>
            <p:nvSpPr>
              <p:cNvPr id="2" name="Content Placeholder 1"/>
              <p:cNvSpPr>
                <a:spLocks noGrp="1" noRot="1" noChangeAspect="1" noMove="1" noResize="1" noEditPoints="1" noAdjustHandles="1" noChangeArrowheads="1" noChangeShapeType="1" noTextEdit="1"/>
              </p:cNvSpPr>
              <p:nvPr>
                <p:ph idx="10"/>
              </p:nvPr>
            </p:nvSpPr>
            <p:spPr>
              <a:xfrm>
                <a:off x="121586" y="1385968"/>
                <a:ext cx="12070413" cy="4525963"/>
              </a:xfrm>
              <a:blipFill>
                <a:blip r:embed="rId3"/>
                <a:stretch>
                  <a:fillRect l="-455" t="-673" r="-303"/>
                </a:stretch>
              </a:blipFill>
            </p:spPr>
            <p:txBody>
              <a:bodyPr/>
              <a:lstStyle/>
              <a:p>
                <a:r>
                  <a:rPr lang="en-IN">
                    <a:noFill/>
                  </a:rPr>
                  <a:t> </a:t>
                </a:r>
              </a:p>
            </p:txBody>
          </p:sp>
        </mc:Fallback>
      </mc:AlternateContent>
      <p:sp>
        <p:nvSpPr>
          <p:cNvPr id="3" name="Title 2"/>
          <p:cNvSpPr>
            <a:spLocks noGrp="1"/>
          </p:cNvSpPr>
          <p:nvPr>
            <p:ph type="title"/>
          </p:nvPr>
        </p:nvSpPr>
        <p:spPr/>
        <p:txBody>
          <a:bodyPr/>
          <a:lstStyle/>
          <a:p>
            <a:r>
              <a:rPr lang="en-US" dirty="0"/>
              <a:t>FFNN with Gated Linear Unit (GLU)</a:t>
            </a:r>
            <a:endParaRPr lang="en-IN" dirty="0"/>
          </a:p>
        </p:txBody>
      </p:sp>
      <p:pic>
        <p:nvPicPr>
          <p:cNvPr id="4" name="Picture 3"/>
          <p:cNvPicPr>
            <a:picLocks noChangeAspect="1"/>
          </p:cNvPicPr>
          <p:nvPr/>
        </p:nvPicPr>
        <p:blipFill>
          <a:blip r:embed="rId4"/>
          <a:stretch>
            <a:fillRect/>
          </a:stretch>
        </p:blipFill>
        <p:spPr>
          <a:xfrm>
            <a:off x="662939" y="3614265"/>
            <a:ext cx="5317639" cy="1877475"/>
          </a:xfrm>
          <a:prstGeom prst="rect">
            <a:avLst/>
          </a:prstGeom>
        </p:spPr>
      </p:pic>
      <p:pic>
        <p:nvPicPr>
          <p:cNvPr id="6" name="Picture 5"/>
          <p:cNvPicPr>
            <a:picLocks noChangeAspect="1"/>
          </p:cNvPicPr>
          <p:nvPr/>
        </p:nvPicPr>
        <p:blipFill>
          <a:blip r:embed="rId5"/>
          <a:stretch>
            <a:fillRect/>
          </a:stretch>
        </p:blipFill>
        <p:spPr>
          <a:xfrm>
            <a:off x="7738989" y="3320397"/>
            <a:ext cx="4193929" cy="3045997"/>
          </a:xfrm>
          <a:prstGeom prst="rect">
            <a:avLst/>
          </a:prstGeom>
        </p:spPr>
      </p:pic>
      <p:sp>
        <p:nvSpPr>
          <p:cNvPr id="8" name="Rectangle 7"/>
          <p:cNvSpPr/>
          <p:nvPr/>
        </p:nvSpPr>
        <p:spPr>
          <a:xfrm>
            <a:off x="430530" y="5557988"/>
            <a:ext cx="6096001" cy="707886"/>
          </a:xfrm>
          <a:prstGeom prst="rect">
            <a:avLst/>
          </a:prstGeom>
        </p:spPr>
        <p:txBody>
          <a:bodyPr wrap="square">
            <a:spAutoFit/>
          </a:bodyPr>
          <a:lstStyle/>
          <a:p>
            <a:r>
              <a:rPr lang="en-US" sz="2000" dirty="0"/>
              <a:t>Bilinear Layer : Omitting the activation, which they call a "bilinear" layer</a:t>
            </a:r>
          </a:p>
        </p:txBody>
      </p:sp>
      <p:sp>
        <p:nvSpPr>
          <p:cNvPr id="10" name="Rectangle 9"/>
          <p:cNvSpPr/>
          <p:nvPr/>
        </p:nvSpPr>
        <p:spPr>
          <a:xfrm>
            <a:off x="5004" y="6366394"/>
            <a:ext cx="6096000" cy="461665"/>
          </a:xfrm>
          <a:prstGeom prst="rect">
            <a:avLst/>
          </a:prstGeom>
        </p:spPr>
        <p:txBody>
          <a:bodyPr>
            <a:spAutoFit/>
          </a:bodyPr>
          <a:lstStyle/>
          <a:p>
            <a:r>
              <a:rPr lang="en-IN" sz="1200" dirty="0"/>
              <a:t>Figure credit : </a:t>
            </a:r>
            <a:r>
              <a:rPr lang="en-IN" sz="1200" dirty="0">
                <a:hlinkClick r:id="rId6"/>
              </a:rPr>
              <a:t>https://magazine.sebastianraschka.com/p/from-gpt-2-to-gpt-oss-analyzing-the</a:t>
            </a:r>
            <a:endParaRPr lang="en-IN" sz="1200" dirty="0"/>
          </a:p>
          <a:p>
            <a:r>
              <a:rPr lang="en-IN" sz="1200" dirty="0"/>
              <a:t>GLU Variants Improve Transformer</a:t>
            </a:r>
          </a:p>
        </p:txBody>
      </p:sp>
    </p:spTree>
    <p:extLst>
      <p:ext uri="{BB962C8B-B14F-4D97-AF65-F5344CB8AC3E}">
        <p14:creationId xmlns:p14="http://schemas.microsoft.com/office/powerpoint/2010/main" val="19238023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89418" y="2668249"/>
            <a:ext cx="8164642" cy="1219200"/>
          </a:xfrm>
        </p:spPr>
        <p:txBody>
          <a:bodyPr/>
          <a:lstStyle/>
          <a:p>
            <a:r>
              <a:rPr lang="en-IN" b="1" dirty="0"/>
              <a:t>Mixture of Experts (</a:t>
            </a:r>
            <a:r>
              <a:rPr lang="en-IN" b="1" dirty="0" err="1"/>
              <a:t>MoE</a:t>
            </a:r>
            <a:r>
              <a:rPr lang="en-IN" b="1" dirty="0"/>
              <a:t>)</a:t>
            </a:r>
            <a:endParaRPr lang="en-IN" dirty="0"/>
          </a:p>
        </p:txBody>
      </p:sp>
    </p:spTree>
    <p:extLst>
      <p:ext uri="{BB962C8B-B14F-4D97-AF65-F5344CB8AC3E}">
        <p14:creationId xmlns:p14="http://schemas.microsoft.com/office/powerpoint/2010/main" val="8735736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b="1" dirty="0"/>
              <a:t>Mixture of Experts (</a:t>
            </a:r>
            <a:r>
              <a:rPr lang="en-IN" b="1" dirty="0" err="1"/>
              <a:t>MoE</a:t>
            </a:r>
            <a:r>
              <a:rPr lang="en-IN" b="1" dirty="0"/>
              <a:t>)</a:t>
            </a:r>
            <a:endParaRPr lang="en-IN" dirty="0"/>
          </a:p>
        </p:txBody>
      </p:sp>
      <p:pic>
        <p:nvPicPr>
          <p:cNvPr id="5122" name="Picture 2" descr="https://substackcdn.com/image/fetch/$s_!7Tla!,w_1456,c_limit,f_auto,q_auto:good,fl_progressive:steep/https%3A%2F%2Fsubstack-post-media.s3.amazonaws.com%2Fpublic%2Fimages%2Fb97a8ac7-db97-497f-866d-10400729d51e_1248x764.png"/>
          <p:cNvPicPr>
            <a:picLocks noGrp="1" noChangeAspect="1" noChangeArrowheads="1"/>
          </p:cNvPicPr>
          <p:nvPr>
            <p:ph idx="10"/>
          </p:nvPr>
        </p:nvPicPr>
        <p:blipFill>
          <a:blip r:embed="rId3">
            <a:extLst>
              <a:ext uri="{28A0092B-C50C-407E-A947-70E740481C1C}">
                <a14:useLocalDpi xmlns:a14="http://schemas.microsoft.com/office/drawing/2010/main" val="0"/>
              </a:ext>
            </a:extLst>
          </a:blip>
          <a:srcRect/>
          <a:stretch>
            <a:fillRect/>
          </a:stretch>
        </p:blipFill>
        <p:spPr bwMode="auto">
          <a:xfrm>
            <a:off x="214859" y="1663560"/>
            <a:ext cx="6844399" cy="4190001"/>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7167716" y="1446100"/>
            <a:ext cx="4809425" cy="5324535"/>
          </a:xfrm>
          <a:prstGeom prst="rect">
            <a:avLst/>
          </a:prstGeom>
        </p:spPr>
        <p:txBody>
          <a:bodyPr wrap="square">
            <a:spAutoFit/>
          </a:bodyPr>
          <a:lstStyle/>
          <a:p>
            <a:pPr marL="342900" indent="-342900">
              <a:buFont typeface="Arial" panose="020B0604020202020204" pitchFamily="34" charset="0"/>
              <a:buChar char="•"/>
            </a:pPr>
            <a:r>
              <a:rPr lang="en-US" sz="2000" dirty="0">
                <a:latin typeface="Cambria" panose="02040503050406030204" pitchFamily="18" charset="0"/>
                <a:ea typeface="Cambria" panose="02040503050406030204" pitchFamily="18" charset="0"/>
              </a:rPr>
              <a:t>Dense Layers : FFNN in a traditional Transformer is called a dense model since all parameters (its weights and biases) are activated</a:t>
            </a:r>
          </a:p>
          <a:p>
            <a:pPr marL="342900" indent="-342900">
              <a:buFont typeface="Arial" panose="020B0604020202020204" pitchFamily="34" charset="0"/>
              <a:buChar char="•"/>
            </a:pPr>
            <a:r>
              <a:rPr lang="en-US" sz="2000" dirty="0">
                <a:latin typeface="Cambria" panose="02040503050406030204" pitchFamily="18" charset="0"/>
                <a:ea typeface="Cambria" panose="02040503050406030204" pitchFamily="18" charset="0"/>
              </a:rPr>
              <a:t>Sparse Layers : sparse models only activate a portion of their total parameters and are closely related to Mixture of Experts</a:t>
            </a:r>
            <a:endParaRPr lang="en-IN" sz="2000" dirty="0">
              <a:latin typeface="Cambria" panose="02040503050406030204" pitchFamily="18" charset="0"/>
              <a:ea typeface="Cambria" panose="02040503050406030204" pitchFamily="18" charset="0"/>
            </a:endParaRPr>
          </a:p>
          <a:p>
            <a:pPr marL="285750" indent="-285750">
              <a:buFont typeface="Arial" panose="020B0604020202020204" pitchFamily="34" charset="0"/>
              <a:buChar char="•"/>
            </a:pPr>
            <a:r>
              <a:rPr lang="en-US" sz="2000" dirty="0">
                <a:solidFill>
                  <a:srgbClr val="363737"/>
                </a:solidFill>
                <a:latin typeface="Cambria" panose="02040503050406030204" pitchFamily="18" charset="0"/>
                <a:ea typeface="Cambria" panose="02040503050406030204" pitchFamily="18" charset="0"/>
              </a:rPr>
              <a:t>Decoder block now has multiple FFNNs (each an “expert”) that it can use during inference</a:t>
            </a:r>
          </a:p>
          <a:p>
            <a:pPr marL="285750" indent="-285750">
              <a:buFont typeface="Arial" panose="020B0604020202020204" pitchFamily="34" charset="0"/>
              <a:buChar char="•"/>
            </a:pPr>
            <a:r>
              <a:rPr lang="en-US" sz="2000" dirty="0">
                <a:latin typeface="Cambria" panose="02040503050406030204" pitchFamily="18" charset="0"/>
                <a:ea typeface="Cambria" panose="02040503050406030204" pitchFamily="18" charset="0"/>
              </a:rPr>
              <a:t> </a:t>
            </a:r>
            <a:r>
              <a:rPr lang="en-US" sz="2000" dirty="0" err="1">
                <a:latin typeface="Cambria" panose="02040503050406030204" pitchFamily="18" charset="0"/>
                <a:ea typeface="Cambria" panose="02040503050406030204" pitchFamily="18" charset="0"/>
              </a:rPr>
              <a:t>MoE</a:t>
            </a:r>
            <a:r>
              <a:rPr lang="en-US" sz="2000" dirty="0">
                <a:latin typeface="Cambria" panose="02040503050406030204" pitchFamily="18" charset="0"/>
                <a:ea typeface="Cambria" panose="02040503050406030204" pitchFamily="18" charset="0"/>
              </a:rPr>
              <a:t> : A technique that uses many different sub-models (or “experts”) to improve the quality of LLMs</a:t>
            </a:r>
          </a:p>
          <a:p>
            <a:pPr marL="285750" indent="-285750">
              <a:buFont typeface="Arial" panose="020B0604020202020204" pitchFamily="34" charset="0"/>
              <a:buChar char="•"/>
            </a:pPr>
            <a:r>
              <a:rPr lang="en-US" dirty="0"/>
              <a:t> </a:t>
            </a:r>
            <a:r>
              <a:rPr lang="en-US" sz="2000" dirty="0" err="1">
                <a:latin typeface="Cambria" panose="02040503050406030204" pitchFamily="18" charset="0"/>
                <a:ea typeface="Cambria" panose="02040503050406030204" pitchFamily="18" charset="0"/>
              </a:rPr>
              <a:t>MoE</a:t>
            </a:r>
            <a:r>
              <a:rPr lang="en-US" sz="2000" dirty="0">
                <a:latin typeface="Cambria" panose="02040503050406030204" pitchFamily="18" charset="0"/>
                <a:ea typeface="Cambria" panose="02040503050406030204" pitchFamily="18" charset="0"/>
              </a:rPr>
              <a:t> saves FLOPs by activating only a few experts</a:t>
            </a:r>
          </a:p>
          <a:p>
            <a:endParaRPr lang="en-IN" sz="2000" dirty="0">
              <a:latin typeface="Cambria" panose="02040503050406030204" pitchFamily="18" charset="0"/>
              <a:ea typeface="Cambria" panose="02040503050406030204" pitchFamily="18" charset="0"/>
            </a:endParaRPr>
          </a:p>
        </p:txBody>
      </p:sp>
      <p:sp>
        <p:nvSpPr>
          <p:cNvPr id="6" name="Rectangle 5"/>
          <p:cNvSpPr/>
          <p:nvPr/>
        </p:nvSpPr>
        <p:spPr>
          <a:xfrm>
            <a:off x="0" y="6432973"/>
            <a:ext cx="6096000" cy="276999"/>
          </a:xfrm>
          <a:prstGeom prst="rect">
            <a:avLst/>
          </a:prstGeom>
        </p:spPr>
        <p:txBody>
          <a:bodyPr>
            <a:spAutoFit/>
          </a:bodyPr>
          <a:lstStyle/>
          <a:p>
            <a:r>
              <a:rPr lang="en-IN" sz="1200" dirty="0"/>
              <a:t>https://newsletter.maartengrootendorst.com/p/a-visual-guide-to-mixture-of-experts</a:t>
            </a:r>
          </a:p>
        </p:txBody>
      </p:sp>
    </p:spTree>
    <p:extLst>
      <p:ext uri="{BB962C8B-B14F-4D97-AF65-F5344CB8AC3E}">
        <p14:creationId xmlns:p14="http://schemas.microsoft.com/office/powerpoint/2010/main" val="21119114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b="1" dirty="0"/>
              <a:t>Architecture of Experts</a:t>
            </a:r>
            <a:br>
              <a:rPr lang="en-IN" b="1" dirty="0"/>
            </a:br>
            <a:endParaRPr lang="en-IN" dirty="0"/>
          </a:p>
        </p:txBody>
      </p:sp>
      <p:pic>
        <p:nvPicPr>
          <p:cNvPr id="3074" name="Picture 2" descr="https://substackcdn.com/image/fetch/$s_!bmV0!,w_1456,c_limit,f_auto,q_auto:good,fl_progressive:steep/https%3A%2F%2Fsubstack-post-media.s3.amazonaws.com%2Fpublic%2Fimages%2Fce63e5cc-9b82-45b4-b3dc-9db0cac47da3_880x748.png"/>
          <p:cNvPicPr>
            <a:picLocks noGrp="1" noChangeAspect="1" noChangeArrowheads="1"/>
          </p:cNvPicPr>
          <p:nvPr>
            <p:ph idx="10"/>
          </p:nvPr>
        </p:nvPicPr>
        <p:blipFill>
          <a:blip r:embed="rId3">
            <a:extLst>
              <a:ext uri="{28A0092B-C50C-407E-A947-70E740481C1C}">
                <a14:useLocalDpi xmlns:a14="http://schemas.microsoft.com/office/drawing/2010/main" val="0"/>
              </a:ext>
            </a:extLst>
          </a:blip>
          <a:srcRect/>
          <a:stretch>
            <a:fillRect/>
          </a:stretch>
        </p:blipFill>
        <p:spPr bwMode="auto">
          <a:xfrm>
            <a:off x="304801" y="1219200"/>
            <a:ext cx="5317099" cy="4519534"/>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https://substackcdn.com/image/fetch/$s_!dNL3!,w_1456,c_limit,f_auto,q_auto:good,fl_progressive:steep/https%3A%2F%2Fsubstack-post-media.s3.amazonaws.com%2Fpublic%2Fimages%2Fe51561eb-f3d6-45ca-a2f8-c71abfa7c2a9_880x748.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02595" y="1304144"/>
            <a:ext cx="4999660" cy="4249711"/>
          </a:xfrm>
          <a:prstGeom prst="rect">
            <a:avLst/>
          </a:prstGeom>
          <a:noFill/>
          <a:extLst>
            <a:ext uri="{909E8E84-426E-40DD-AFC4-6F175D3DCCD1}">
              <a14:hiddenFill xmlns:a14="http://schemas.microsoft.com/office/drawing/2010/main">
                <a:solidFill>
                  <a:srgbClr val="FFFFFF"/>
                </a:solidFill>
              </a14:hiddenFill>
            </a:ext>
          </a:extLst>
        </p:spPr>
      </p:pic>
      <p:sp>
        <p:nvSpPr>
          <p:cNvPr id="4" name="Notched Right Arrow 3"/>
          <p:cNvSpPr/>
          <p:nvPr/>
        </p:nvSpPr>
        <p:spPr>
          <a:xfrm>
            <a:off x="5621900" y="3627620"/>
            <a:ext cx="978408" cy="484632"/>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p:cNvSpPr/>
          <p:nvPr/>
        </p:nvSpPr>
        <p:spPr>
          <a:xfrm>
            <a:off x="0" y="6432973"/>
            <a:ext cx="6096000" cy="276999"/>
          </a:xfrm>
          <a:prstGeom prst="rect">
            <a:avLst/>
          </a:prstGeom>
        </p:spPr>
        <p:txBody>
          <a:bodyPr>
            <a:spAutoFit/>
          </a:bodyPr>
          <a:lstStyle/>
          <a:p>
            <a:r>
              <a:rPr lang="en-IN" sz="1200" dirty="0"/>
              <a:t>https://newsletter.maartengrootendorst.com/p/a-visual-guide-to-mixture-of-experts</a:t>
            </a:r>
          </a:p>
        </p:txBody>
      </p:sp>
      <p:sp>
        <p:nvSpPr>
          <p:cNvPr id="5" name="TextBox 4">
            <a:extLst>
              <a:ext uri="{FF2B5EF4-FFF2-40B4-BE49-F238E27FC236}">
                <a16:creationId xmlns:a16="http://schemas.microsoft.com/office/drawing/2014/main" id="{983883D6-636E-0CF3-FF82-00D1B32146FC}"/>
              </a:ext>
            </a:extLst>
          </p:cNvPr>
          <p:cNvSpPr txBox="1"/>
          <p:nvPr/>
        </p:nvSpPr>
        <p:spPr>
          <a:xfrm>
            <a:off x="3060646" y="5813098"/>
            <a:ext cx="6100916" cy="369332"/>
          </a:xfrm>
          <a:prstGeom prst="rect">
            <a:avLst/>
          </a:prstGeom>
          <a:noFill/>
        </p:spPr>
        <p:txBody>
          <a:bodyPr wrap="square">
            <a:spAutoFit/>
          </a:bodyPr>
          <a:lstStyle/>
          <a:p>
            <a:r>
              <a:rPr lang="en-US" b="1" i="0" dirty="0">
                <a:solidFill>
                  <a:srgbClr val="27251E"/>
                </a:solidFill>
                <a:effectLst/>
                <a:latin typeface="pplxSerif"/>
              </a:rPr>
              <a:t>more model capacity at roughly fixed per-token compute</a:t>
            </a:r>
            <a:endParaRPr lang="en-IN" b="1" dirty="0"/>
          </a:p>
        </p:txBody>
      </p:sp>
    </p:spTree>
    <p:extLst>
      <p:ext uri="{BB962C8B-B14F-4D97-AF65-F5344CB8AC3E}">
        <p14:creationId xmlns:p14="http://schemas.microsoft.com/office/powerpoint/2010/main" val="931294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b="1" dirty="0"/>
              <a:t>Mixture of Experts (</a:t>
            </a:r>
            <a:r>
              <a:rPr lang="en-IN" b="1" dirty="0" err="1"/>
              <a:t>MoE</a:t>
            </a:r>
            <a:r>
              <a:rPr lang="en-IN" b="1" dirty="0"/>
              <a:t>)</a:t>
            </a:r>
            <a:endParaRPr lang="en-IN" dirty="0"/>
          </a:p>
        </p:txBody>
      </p:sp>
      <p:pic>
        <p:nvPicPr>
          <p:cNvPr id="4098" name="Picture 2" descr="https://substackcdn.com/image/fetch/$s_!Xs0T!,w_1456,c_limit,f_auto,q_auto:good,fl_progressive:steep/https%3A%2F%2Fsubstack-post-media.s3.amazonaws.com%2Fpublic%2Fimages%2F89b1caad-5201-43fe-b7de-04ebe877eb2d_1196x836.png"/>
          <p:cNvPicPr>
            <a:picLocks noGrp="1" noChangeAspect="1" noChangeArrowheads="1"/>
          </p:cNvPicPr>
          <p:nvPr>
            <p:ph idx="10"/>
          </p:nvPr>
        </p:nvPicPr>
        <p:blipFill>
          <a:blip r:embed="rId2">
            <a:extLst>
              <a:ext uri="{28A0092B-C50C-407E-A947-70E740481C1C}">
                <a14:useLocalDpi xmlns:a14="http://schemas.microsoft.com/office/drawing/2010/main" val="0"/>
              </a:ext>
            </a:extLst>
          </a:blip>
          <a:srcRect/>
          <a:stretch>
            <a:fillRect/>
          </a:stretch>
        </p:blipFill>
        <p:spPr bwMode="auto">
          <a:xfrm>
            <a:off x="298906" y="1522721"/>
            <a:ext cx="5446499" cy="3807085"/>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https://substackcdn.com/image/fetch/$s_!Z27D!,w_1456,c_limit,f_auto,q_auto:good,fl_progressive:steep/https%3A%2F%2Fsubstack-post-media.s3.amazonaws.com%2Fpublic%2Fimages%2Fcde4794d-8b3e-454d-9a1c-88c1999fdd45_1372x932.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55828" y="1522721"/>
            <a:ext cx="5551357" cy="3771039"/>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0" y="5453446"/>
            <a:ext cx="5501390" cy="1015663"/>
          </a:xfrm>
          <a:prstGeom prst="rect">
            <a:avLst/>
          </a:prstGeom>
        </p:spPr>
        <p:txBody>
          <a:bodyPr wrap="square">
            <a:spAutoFit/>
          </a:bodyPr>
          <a:lstStyle/>
          <a:p>
            <a:r>
              <a:rPr lang="en-US" sz="2000" dirty="0">
                <a:solidFill>
                  <a:srgbClr val="363737"/>
                </a:solidFill>
                <a:latin typeface="Cambria" panose="02040503050406030204" pitchFamily="18" charset="0"/>
                <a:ea typeface="Cambria" panose="02040503050406030204" pitchFamily="18" charset="0"/>
              </a:rPr>
              <a:t>Most LLMs have several decoder blocks, a given text will pass through multiple experts before the text is generated</a:t>
            </a:r>
            <a:endParaRPr lang="en-IN" sz="2000" dirty="0">
              <a:latin typeface="Cambria" panose="02040503050406030204" pitchFamily="18" charset="0"/>
              <a:ea typeface="Cambria" panose="02040503050406030204" pitchFamily="18" charset="0"/>
            </a:endParaRPr>
          </a:p>
        </p:txBody>
      </p:sp>
      <p:sp>
        <p:nvSpPr>
          <p:cNvPr id="5" name="Rectangle 4"/>
          <p:cNvSpPr/>
          <p:nvPr/>
        </p:nvSpPr>
        <p:spPr>
          <a:xfrm>
            <a:off x="5918843" y="5453446"/>
            <a:ext cx="6273157" cy="1015663"/>
          </a:xfrm>
          <a:prstGeom prst="rect">
            <a:avLst/>
          </a:prstGeom>
        </p:spPr>
        <p:txBody>
          <a:bodyPr wrap="square">
            <a:spAutoFit/>
          </a:bodyPr>
          <a:lstStyle/>
          <a:p>
            <a:r>
              <a:rPr lang="en-IN" sz="2000" dirty="0">
                <a:solidFill>
                  <a:srgbClr val="363737"/>
                </a:solidFill>
                <a:latin typeface="Cambria" panose="02040503050406030204" pitchFamily="18" charset="0"/>
                <a:ea typeface="Cambria" panose="02040503050406030204" pitchFamily="18" charset="0"/>
              </a:rPr>
              <a:t>Different “paths” for different tokens</a:t>
            </a:r>
          </a:p>
          <a:p>
            <a:r>
              <a:rPr lang="en-US" sz="2000" dirty="0">
                <a:solidFill>
                  <a:srgbClr val="363737"/>
                </a:solidFill>
                <a:latin typeface="Cambria" panose="02040503050406030204" pitchFamily="18" charset="0"/>
                <a:ea typeface="Cambria" panose="02040503050406030204" pitchFamily="18" charset="0"/>
              </a:rPr>
              <a:t>Model can have much higher total capacity while keeping only a smaller active path per token</a:t>
            </a:r>
            <a:endParaRPr lang="en-IN" sz="2000" dirty="0">
              <a:solidFill>
                <a:srgbClr val="363737"/>
              </a:solidFill>
              <a:latin typeface="Cambria" panose="02040503050406030204" pitchFamily="18" charset="0"/>
              <a:ea typeface="Cambria" panose="02040503050406030204" pitchFamily="18" charset="0"/>
            </a:endParaRPr>
          </a:p>
        </p:txBody>
      </p:sp>
      <p:sp>
        <p:nvSpPr>
          <p:cNvPr id="8" name="Rectangle 7"/>
          <p:cNvSpPr/>
          <p:nvPr/>
        </p:nvSpPr>
        <p:spPr>
          <a:xfrm>
            <a:off x="0" y="6432973"/>
            <a:ext cx="6096000" cy="276999"/>
          </a:xfrm>
          <a:prstGeom prst="rect">
            <a:avLst/>
          </a:prstGeom>
        </p:spPr>
        <p:txBody>
          <a:bodyPr>
            <a:spAutoFit/>
          </a:bodyPr>
          <a:lstStyle/>
          <a:p>
            <a:r>
              <a:rPr lang="en-IN" sz="1200" dirty="0"/>
              <a:t>https://newsletter.maartengrootendorst.com/p/a-visual-guide-to-mixture-of-experts</a:t>
            </a:r>
          </a:p>
        </p:txBody>
      </p:sp>
    </p:spTree>
    <p:extLst>
      <p:ext uri="{BB962C8B-B14F-4D97-AF65-F5344CB8AC3E}">
        <p14:creationId xmlns:p14="http://schemas.microsoft.com/office/powerpoint/2010/main" val="36670740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0"/>
          </p:nvPr>
        </p:nvSpPr>
        <p:spPr>
          <a:xfrm>
            <a:off x="152400" y="1463944"/>
            <a:ext cx="5440429" cy="4525963"/>
          </a:xfrm>
        </p:spPr>
        <p:txBody>
          <a:bodyPr/>
          <a:lstStyle/>
          <a:p>
            <a:pPr marL="342900" indent="-342900">
              <a:buFont typeface="Arial" panose="020B0604020202020204" pitchFamily="34" charset="0"/>
              <a:buChar char="•"/>
            </a:pPr>
            <a:r>
              <a:rPr lang="en-US" b="1" dirty="0"/>
              <a:t>Router</a:t>
            </a:r>
            <a:r>
              <a:rPr lang="en-US" dirty="0"/>
              <a:t> (or </a:t>
            </a:r>
            <a:r>
              <a:rPr lang="en-US" b="1" dirty="0"/>
              <a:t>gate network</a:t>
            </a:r>
            <a:r>
              <a:rPr lang="en-US" dirty="0"/>
              <a:t>) is also an FFNN and is used to choose the expert based on a particular input</a:t>
            </a:r>
          </a:p>
          <a:p>
            <a:pPr marL="342900" indent="-342900">
              <a:buFont typeface="Arial" panose="020B0604020202020204" pitchFamily="34" charset="0"/>
              <a:buChar char="•"/>
            </a:pPr>
            <a:r>
              <a:rPr lang="en-US" dirty="0"/>
              <a:t>It outputs probabilities which it uses to select the best matching expert</a:t>
            </a:r>
          </a:p>
          <a:p>
            <a:pPr marL="342900" indent="-342900">
              <a:buFont typeface="Arial" panose="020B0604020202020204" pitchFamily="34" charset="0"/>
              <a:buChar char="•"/>
            </a:pPr>
            <a:r>
              <a:rPr lang="en-US" dirty="0"/>
              <a:t>Expert layer returns the output of the selected expert multiplied by the gate value (selection probabilities)</a:t>
            </a:r>
          </a:p>
          <a:p>
            <a:pPr marL="342900" indent="-342900">
              <a:buFont typeface="Arial" panose="020B0604020202020204" pitchFamily="34" charset="0"/>
              <a:buChar char="•"/>
            </a:pPr>
            <a:endParaRPr lang="en-IN" dirty="0"/>
          </a:p>
        </p:txBody>
      </p:sp>
      <p:sp>
        <p:nvSpPr>
          <p:cNvPr id="3" name="Title 2"/>
          <p:cNvSpPr>
            <a:spLocks noGrp="1"/>
          </p:cNvSpPr>
          <p:nvPr>
            <p:ph type="title"/>
          </p:nvPr>
        </p:nvSpPr>
        <p:spPr/>
        <p:txBody>
          <a:bodyPr/>
          <a:lstStyle/>
          <a:p>
            <a:r>
              <a:rPr lang="en-IN" b="1" dirty="0"/>
              <a:t>Mixture of Experts (</a:t>
            </a:r>
            <a:r>
              <a:rPr lang="en-IN" b="1" dirty="0" err="1"/>
              <a:t>MoE</a:t>
            </a:r>
            <a:r>
              <a:rPr lang="en-IN" b="1" dirty="0"/>
              <a:t>)</a:t>
            </a:r>
            <a:endParaRPr lang="en-IN" dirty="0"/>
          </a:p>
        </p:txBody>
      </p:sp>
      <p:pic>
        <p:nvPicPr>
          <p:cNvPr id="6146" name="Picture 2" descr="https://substackcdn.com/image/fetch/$s_!K5Xp!,w_1456,c_limit,f_auto,q_auto:good,fl_progressive:steep/https%3A%2F%2Fsubstack-post-media.s3.amazonaws.com%2Fpublic%2Fimages%2Facc49abf-bc55-45fd-9697-99c9434087d0_864x916.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45229" y="284813"/>
            <a:ext cx="6201932" cy="6575197"/>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0" y="6432973"/>
            <a:ext cx="6096000" cy="276999"/>
          </a:xfrm>
          <a:prstGeom prst="rect">
            <a:avLst/>
          </a:prstGeom>
        </p:spPr>
        <p:txBody>
          <a:bodyPr>
            <a:spAutoFit/>
          </a:bodyPr>
          <a:lstStyle/>
          <a:p>
            <a:r>
              <a:rPr lang="en-IN" sz="1200" dirty="0"/>
              <a:t>https://newsletter.maartengrootendorst.com/p/a-visual-guide-to-mixture-of-experts</a:t>
            </a:r>
          </a:p>
        </p:txBody>
      </p:sp>
    </p:spTree>
    <p:extLst>
      <p:ext uri="{BB962C8B-B14F-4D97-AF65-F5344CB8AC3E}">
        <p14:creationId xmlns:p14="http://schemas.microsoft.com/office/powerpoint/2010/main" val="16617963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22DE0F4-B5BC-BF00-AA9E-CD0300D4A948}"/>
              </a:ext>
            </a:extLst>
          </p:cNvPr>
          <p:cNvSpPr>
            <a:spLocks noGrp="1"/>
          </p:cNvSpPr>
          <p:nvPr>
            <p:ph type="title"/>
          </p:nvPr>
        </p:nvSpPr>
        <p:spPr/>
        <p:txBody>
          <a:bodyPr/>
          <a:lstStyle/>
          <a:p>
            <a:r>
              <a:rPr lang="en-IN" b="1" dirty="0"/>
              <a:t>Mixture of Experts (</a:t>
            </a:r>
            <a:r>
              <a:rPr lang="en-IN" b="1" dirty="0" err="1"/>
              <a:t>MoE</a:t>
            </a:r>
            <a:r>
              <a:rPr lang="en-IN" b="1" dirty="0"/>
              <a:t>)</a:t>
            </a:r>
            <a:endParaRPr lang="en-IN" dirty="0"/>
          </a:p>
        </p:txBody>
      </p:sp>
      <p:pic>
        <p:nvPicPr>
          <p:cNvPr id="2050" name="Picture 2">
            <a:extLst>
              <a:ext uri="{FF2B5EF4-FFF2-40B4-BE49-F238E27FC236}">
                <a16:creationId xmlns:a16="http://schemas.microsoft.com/office/drawing/2014/main" id="{1828355C-C6A1-5983-B4FC-C7A881FB7945}"/>
              </a:ext>
            </a:extLst>
          </p:cNvPr>
          <p:cNvPicPr>
            <a:picLocks noGrp="1" noChangeAspect="1" noChangeArrowheads="1"/>
          </p:cNvPicPr>
          <p:nvPr>
            <p:ph idx="10"/>
          </p:nvPr>
        </p:nvPicPr>
        <p:blipFill>
          <a:blip r:embed="rId2" cstate="print">
            <a:extLst>
              <a:ext uri="{28A0092B-C50C-407E-A947-70E740481C1C}">
                <a14:useLocalDpi xmlns:a14="http://schemas.microsoft.com/office/drawing/2010/main" val="0"/>
              </a:ext>
            </a:extLst>
          </a:blip>
          <a:srcRect/>
          <a:stretch>
            <a:fillRect/>
          </a:stretch>
        </p:blipFill>
        <p:spPr bwMode="auto">
          <a:xfrm>
            <a:off x="209333" y="836712"/>
            <a:ext cx="5429466" cy="584711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D5FE4BB0-E693-32AC-E70D-8CABE16FA469}"/>
              </a:ext>
            </a:extLst>
          </p:cNvPr>
          <p:cNvSpPr txBox="1"/>
          <p:nvPr/>
        </p:nvSpPr>
        <p:spPr>
          <a:xfrm>
            <a:off x="5720045" y="2342438"/>
            <a:ext cx="1666315" cy="461665"/>
          </a:xfrm>
          <a:prstGeom prst="rect">
            <a:avLst/>
          </a:prstGeom>
          <a:noFill/>
        </p:spPr>
        <p:txBody>
          <a:bodyPr wrap="square">
            <a:spAutoFit/>
          </a:bodyPr>
          <a:lstStyle/>
          <a:p>
            <a:r>
              <a:rPr lang="en-IN" sz="2400" b="1" i="1" dirty="0">
                <a:solidFill>
                  <a:srgbClr val="27251E"/>
                </a:solidFill>
                <a:effectLst/>
                <a:latin typeface="KaTeX_Math"/>
              </a:rPr>
              <a:t>H</a:t>
            </a:r>
            <a:r>
              <a:rPr lang="en-IN" sz="2400" b="1" i="0" dirty="0">
                <a:solidFill>
                  <a:srgbClr val="27251E"/>
                </a:solidFill>
                <a:effectLst/>
                <a:latin typeface="KaTeX_Main"/>
              </a:rPr>
              <a:t>(</a:t>
            </a:r>
            <a:r>
              <a:rPr lang="en-IN" sz="2400" b="1" i="1" dirty="0">
                <a:solidFill>
                  <a:srgbClr val="27251E"/>
                </a:solidFill>
                <a:effectLst/>
                <a:latin typeface="KaTeX_Math"/>
              </a:rPr>
              <a:t>x</a:t>
            </a:r>
            <a:r>
              <a:rPr lang="en-IN" sz="2400" b="1" i="0" dirty="0">
                <a:solidFill>
                  <a:srgbClr val="27251E"/>
                </a:solidFill>
                <a:effectLst/>
                <a:latin typeface="KaTeX_Main"/>
              </a:rPr>
              <a:t>)=</a:t>
            </a:r>
            <a:r>
              <a:rPr lang="en-IN" sz="2400" b="1" i="1" dirty="0" err="1">
                <a:solidFill>
                  <a:srgbClr val="27251E"/>
                </a:solidFill>
                <a:effectLst/>
                <a:latin typeface="KaTeX_Math"/>
              </a:rPr>
              <a:t>W</a:t>
            </a:r>
            <a:r>
              <a:rPr lang="en-IN" sz="2400" b="1" i="0" dirty="0" err="1">
                <a:solidFill>
                  <a:srgbClr val="27251E"/>
                </a:solidFill>
                <a:effectLst/>
                <a:latin typeface="KaTeX_Main"/>
              </a:rPr>
              <a:t>⋅</a:t>
            </a:r>
            <a:r>
              <a:rPr lang="en-IN" sz="2400" b="1" i="1" dirty="0" err="1">
                <a:solidFill>
                  <a:srgbClr val="27251E"/>
                </a:solidFill>
                <a:effectLst/>
                <a:latin typeface="KaTeX_Math"/>
              </a:rPr>
              <a:t>x</a:t>
            </a:r>
            <a:endParaRPr lang="en-IN" sz="2400" b="1" dirty="0"/>
          </a:p>
        </p:txBody>
      </p:sp>
      <p:pic>
        <p:nvPicPr>
          <p:cNvPr id="7" name="Picture 6">
            <a:extLst>
              <a:ext uri="{FF2B5EF4-FFF2-40B4-BE49-F238E27FC236}">
                <a16:creationId xmlns:a16="http://schemas.microsoft.com/office/drawing/2014/main" id="{FEFAB0E4-4E65-6C04-7DE2-5F6AD25B4905}"/>
              </a:ext>
            </a:extLst>
          </p:cNvPr>
          <p:cNvPicPr>
            <a:picLocks noChangeAspect="1"/>
          </p:cNvPicPr>
          <p:nvPr/>
        </p:nvPicPr>
        <p:blipFill>
          <a:blip r:embed="rId3"/>
          <a:stretch>
            <a:fillRect/>
          </a:stretch>
        </p:blipFill>
        <p:spPr>
          <a:xfrm>
            <a:off x="5955957" y="3246654"/>
            <a:ext cx="5230053" cy="1007975"/>
          </a:xfrm>
          <a:prstGeom prst="rect">
            <a:avLst/>
          </a:prstGeom>
        </p:spPr>
      </p:pic>
      <p:pic>
        <p:nvPicPr>
          <p:cNvPr id="9" name="Picture 8">
            <a:extLst>
              <a:ext uri="{FF2B5EF4-FFF2-40B4-BE49-F238E27FC236}">
                <a16:creationId xmlns:a16="http://schemas.microsoft.com/office/drawing/2014/main" id="{DE7B1979-6F59-6696-7459-179D514129D9}"/>
              </a:ext>
            </a:extLst>
          </p:cNvPr>
          <p:cNvPicPr>
            <a:picLocks noChangeAspect="1"/>
          </p:cNvPicPr>
          <p:nvPr/>
        </p:nvPicPr>
        <p:blipFill>
          <a:blip r:embed="rId4"/>
          <a:stretch>
            <a:fillRect/>
          </a:stretch>
        </p:blipFill>
        <p:spPr>
          <a:xfrm>
            <a:off x="5359316" y="4603215"/>
            <a:ext cx="1935566" cy="527882"/>
          </a:xfrm>
          <a:prstGeom prst="rect">
            <a:avLst/>
          </a:prstGeom>
        </p:spPr>
      </p:pic>
      <p:pic>
        <p:nvPicPr>
          <p:cNvPr id="11" name="Picture 10">
            <a:extLst>
              <a:ext uri="{FF2B5EF4-FFF2-40B4-BE49-F238E27FC236}">
                <a16:creationId xmlns:a16="http://schemas.microsoft.com/office/drawing/2014/main" id="{9EFC1E99-9356-8C97-7B64-3454C71A8717}"/>
              </a:ext>
            </a:extLst>
          </p:cNvPr>
          <p:cNvPicPr>
            <a:picLocks noChangeAspect="1"/>
          </p:cNvPicPr>
          <p:nvPr/>
        </p:nvPicPr>
        <p:blipFill>
          <a:blip r:embed="rId5"/>
          <a:stretch>
            <a:fillRect/>
          </a:stretch>
        </p:blipFill>
        <p:spPr>
          <a:xfrm>
            <a:off x="5113274" y="5854588"/>
            <a:ext cx="2005914" cy="765508"/>
          </a:xfrm>
          <a:prstGeom prst="rect">
            <a:avLst/>
          </a:prstGeom>
        </p:spPr>
      </p:pic>
      <p:sp>
        <p:nvSpPr>
          <p:cNvPr id="13" name="TextBox 12">
            <a:extLst>
              <a:ext uri="{FF2B5EF4-FFF2-40B4-BE49-F238E27FC236}">
                <a16:creationId xmlns:a16="http://schemas.microsoft.com/office/drawing/2014/main" id="{7ECF1714-E396-177B-5C92-3BBBD0A5008C}"/>
              </a:ext>
            </a:extLst>
          </p:cNvPr>
          <p:cNvSpPr txBox="1"/>
          <p:nvPr/>
        </p:nvSpPr>
        <p:spPr>
          <a:xfrm>
            <a:off x="7522427" y="1456887"/>
            <a:ext cx="4080293" cy="646331"/>
          </a:xfrm>
          <a:prstGeom prst="rect">
            <a:avLst/>
          </a:prstGeom>
          <a:noFill/>
        </p:spPr>
        <p:txBody>
          <a:bodyPr wrap="square">
            <a:spAutoFit/>
          </a:bodyPr>
          <a:lstStyle/>
          <a:p>
            <a:r>
              <a:rPr lang="en-US" b="0" i="0" dirty="0">
                <a:solidFill>
                  <a:srgbClr val="363737"/>
                </a:solidFill>
                <a:effectLst/>
                <a:latin typeface="Spectral"/>
              </a:rPr>
              <a:t> input flows through the router and experts</a:t>
            </a:r>
            <a:endParaRPr lang="en-IN" dirty="0"/>
          </a:p>
        </p:txBody>
      </p:sp>
      <p:sp>
        <p:nvSpPr>
          <p:cNvPr id="14" name="Arrow: Right 13">
            <a:extLst>
              <a:ext uri="{FF2B5EF4-FFF2-40B4-BE49-F238E27FC236}">
                <a16:creationId xmlns:a16="http://schemas.microsoft.com/office/drawing/2014/main" id="{93F2A672-DB66-AF63-8849-302AEBB25E09}"/>
              </a:ext>
            </a:extLst>
          </p:cNvPr>
          <p:cNvSpPr/>
          <p:nvPr/>
        </p:nvSpPr>
        <p:spPr>
          <a:xfrm>
            <a:off x="3801021" y="2560263"/>
            <a:ext cx="1696719" cy="2032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Arrow: Right 14">
            <a:extLst>
              <a:ext uri="{FF2B5EF4-FFF2-40B4-BE49-F238E27FC236}">
                <a16:creationId xmlns:a16="http://schemas.microsoft.com/office/drawing/2014/main" id="{74D70024-F1E5-738D-3C5E-9B077A73EB36}"/>
              </a:ext>
            </a:extLst>
          </p:cNvPr>
          <p:cNvSpPr/>
          <p:nvPr/>
        </p:nvSpPr>
        <p:spPr>
          <a:xfrm>
            <a:off x="4224455" y="3633567"/>
            <a:ext cx="1696719" cy="2032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Arrow: Right 15">
            <a:extLst>
              <a:ext uri="{FF2B5EF4-FFF2-40B4-BE49-F238E27FC236}">
                <a16:creationId xmlns:a16="http://schemas.microsoft.com/office/drawing/2014/main" id="{FBF9BE1C-74C1-D9D1-758C-A198A7A5D85C}"/>
              </a:ext>
            </a:extLst>
          </p:cNvPr>
          <p:cNvSpPr/>
          <p:nvPr/>
        </p:nvSpPr>
        <p:spPr>
          <a:xfrm>
            <a:off x="3134344" y="4730764"/>
            <a:ext cx="2115528" cy="2032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Arrow: Right 16">
            <a:extLst>
              <a:ext uri="{FF2B5EF4-FFF2-40B4-BE49-F238E27FC236}">
                <a16:creationId xmlns:a16="http://schemas.microsoft.com/office/drawing/2014/main" id="{A5D816A9-8C19-9E2B-057B-55F26FBB730F}"/>
              </a:ext>
            </a:extLst>
          </p:cNvPr>
          <p:cNvSpPr/>
          <p:nvPr/>
        </p:nvSpPr>
        <p:spPr>
          <a:xfrm>
            <a:off x="3376095" y="6173427"/>
            <a:ext cx="1696719" cy="2032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6767330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C6B2779-E39F-32CA-0A5C-A6812B947E58}"/>
              </a:ext>
            </a:extLst>
          </p:cNvPr>
          <p:cNvSpPr>
            <a:spLocks noGrp="1"/>
          </p:cNvSpPr>
          <p:nvPr>
            <p:ph type="title"/>
          </p:nvPr>
        </p:nvSpPr>
        <p:spPr/>
        <p:txBody>
          <a:bodyPr/>
          <a:lstStyle/>
          <a:p>
            <a:r>
              <a:rPr lang="en-IN" b="1" dirty="0"/>
              <a:t>Load Balancing: </a:t>
            </a:r>
            <a:r>
              <a:rPr lang="en-IN" b="1" dirty="0" err="1"/>
              <a:t>KeepTopK</a:t>
            </a:r>
            <a:endParaRPr lang="en-IN" dirty="0"/>
          </a:p>
        </p:txBody>
      </p:sp>
      <p:pic>
        <p:nvPicPr>
          <p:cNvPr id="3076" name="Picture 4">
            <a:extLst>
              <a:ext uri="{FF2B5EF4-FFF2-40B4-BE49-F238E27FC236}">
                <a16:creationId xmlns:a16="http://schemas.microsoft.com/office/drawing/2014/main" id="{9547F3C7-0218-6419-F6E8-6D399719C43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5821" y="2190399"/>
            <a:ext cx="4713172" cy="1668236"/>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a:extLst>
              <a:ext uri="{FF2B5EF4-FFF2-40B4-BE49-F238E27FC236}">
                <a16:creationId xmlns:a16="http://schemas.microsoft.com/office/drawing/2014/main" id="{DBF8E209-6D83-1B15-8A10-B8AC728F02B6}"/>
              </a:ext>
            </a:extLst>
          </p:cNvPr>
          <p:cNvPicPr>
            <a:picLocks noGrp="1" noChangeAspect="1" noChangeArrowheads="1"/>
          </p:cNvPicPr>
          <p:nvPr>
            <p:ph idx="10"/>
          </p:nvPr>
        </p:nvPicPr>
        <p:blipFill>
          <a:blip r:embed="rId4" cstate="print">
            <a:extLst>
              <a:ext uri="{28A0092B-C50C-407E-A947-70E740481C1C}">
                <a14:useLocalDpi xmlns:a14="http://schemas.microsoft.com/office/drawing/2010/main" val="0"/>
              </a:ext>
            </a:extLst>
          </a:blip>
          <a:srcRect/>
          <a:stretch>
            <a:fillRect/>
          </a:stretch>
        </p:blipFill>
        <p:spPr bwMode="auto">
          <a:xfrm>
            <a:off x="7316269" y="2139922"/>
            <a:ext cx="4429910" cy="185721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7F3D485E-03B6-AE28-6411-110B142FE701}"/>
              </a:ext>
            </a:extLst>
          </p:cNvPr>
          <p:cNvPicPr>
            <a:picLocks noChangeAspect="1"/>
          </p:cNvPicPr>
          <p:nvPr/>
        </p:nvPicPr>
        <p:blipFill>
          <a:blip r:embed="rId5"/>
          <a:stretch>
            <a:fillRect/>
          </a:stretch>
        </p:blipFill>
        <p:spPr>
          <a:xfrm>
            <a:off x="7463322" y="4125609"/>
            <a:ext cx="4135803" cy="2230827"/>
          </a:xfrm>
          <a:prstGeom prst="rect">
            <a:avLst/>
          </a:prstGeom>
        </p:spPr>
      </p:pic>
      <p:sp>
        <p:nvSpPr>
          <p:cNvPr id="7" name="TextBox 6">
            <a:extLst>
              <a:ext uri="{FF2B5EF4-FFF2-40B4-BE49-F238E27FC236}">
                <a16:creationId xmlns:a16="http://schemas.microsoft.com/office/drawing/2014/main" id="{04E1F587-DD69-918E-FD04-5B4B5055D486}"/>
              </a:ext>
            </a:extLst>
          </p:cNvPr>
          <p:cNvSpPr txBox="1"/>
          <p:nvPr/>
        </p:nvSpPr>
        <p:spPr>
          <a:xfrm>
            <a:off x="92621" y="1348530"/>
            <a:ext cx="6096000" cy="646331"/>
          </a:xfrm>
          <a:prstGeom prst="rect">
            <a:avLst/>
          </a:prstGeom>
          <a:solidFill>
            <a:schemeClr val="tx2">
              <a:lumMod val="20000"/>
              <a:lumOff val="80000"/>
            </a:schemeClr>
          </a:solidFill>
        </p:spPr>
        <p:txBody>
          <a:bodyPr wrap="square">
            <a:spAutoFit/>
          </a:bodyPr>
          <a:lstStyle/>
          <a:p>
            <a:r>
              <a:rPr lang="en-US" b="0" i="0" dirty="0">
                <a:solidFill>
                  <a:srgbClr val="363737"/>
                </a:solidFill>
                <a:effectLst/>
                <a:latin typeface="Spectral"/>
              </a:rPr>
              <a:t>By introducing trainable (gaussian) noise, we can prevent the same experts from always being picked</a:t>
            </a:r>
            <a:endParaRPr lang="en-IN" dirty="0"/>
          </a:p>
        </p:txBody>
      </p:sp>
      <p:sp>
        <p:nvSpPr>
          <p:cNvPr id="9" name="TextBox 8">
            <a:extLst>
              <a:ext uri="{FF2B5EF4-FFF2-40B4-BE49-F238E27FC236}">
                <a16:creationId xmlns:a16="http://schemas.microsoft.com/office/drawing/2014/main" id="{2D832A97-738F-00A9-87EA-A243D56478D1}"/>
              </a:ext>
            </a:extLst>
          </p:cNvPr>
          <p:cNvSpPr txBox="1"/>
          <p:nvPr/>
        </p:nvSpPr>
        <p:spPr>
          <a:xfrm>
            <a:off x="6768923" y="1365117"/>
            <a:ext cx="4977256" cy="646331"/>
          </a:xfrm>
          <a:prstGeom prst="rect">
            <a:avLst/>
          </a:prstGeom>
          <a:noFill/>
        </p:spPr>
        <p:txBody>
          <a:bodyPr wrap="square">
            <a:spAutoFit/>
          </a:bodyPr>
          <a:lstStyle/>
          <a:p>
            <a:r>
              <a:rPr lang="en-US" dirty="0">
                <a:solidFill>
                  <a:srgbClr val="363737"/>
                </a:solidFill>
                <a:latin typeface="Spectral"/>
              </a:rPr>
              <a:t>A</a:t>
            </a:r>
            <a:r>
              <a:rPr lang="en-US" b="0" i="0" dirty="0">
                <a:solidFill>
                  <a:srgbClr val="363737"/>
                </a:solidFill>
                <a:effectLst/>
                <a:latin typeface="Spectral"/>
              </a:rPr>
              <a:t>ll but the top k experts (for example 2) will have their weights set to -∞</a:t>
            </a:r>
            <a:r>
              <a:rPr lang="en-US" b="1" i="0" dirty="0">
                <a:solidFill>
                  <a:srgbClr val="363737"/>
                </a:solidFill>
                <a:effectLst/>
                <a:latin typeface="Spectral"/>
              </a:rPr>
              <a:t>:</a:t>
            </a:r>
            <a:endParaRPr lang="en-IN" dirty="0"/>
          </a:p>
        </p:txBody>
      </p:sp>
      <p:sp>
        <p:nvSpPr>
          <p:cNvPr id="11" name="TextBox 10">
            <a:extLst>
              <a:ext uri="{FF2B5EF4-FFF2-40B4-BE49-F238E27FC236}">
                <a16:creationId xmlns:a16="http://schemas.microsoft.com/office/drawing/2014/main" id="{34331DFE-6B12-8734-2014-BA1CE8E7C1AD}"/>
              </a:ext>
            </a:extLst>
          </p:cNvPr>
          <p:cNvSpPr txBox="1"/>
          <p:nvPr/>
        </p:nvSpPr>
        <p:spPr>
          <a:xfrm>
            <a:off x="1564640" y="4779357"/>
            <a:ext cx="4531360" cy="923330"/>
          </a:xfrm>
          <a:prstGeom prst="rect">
            <a:avLst/>
          </a:prstGeom>
          <a:noFill/>
        </p:spPr>
        <p:txBody>
          <a:bodyPr wrap="square">
            <a:spAutoFit/>
          </a:bodyPr>
          <a:lstStyle/>
          <a:p>
            <a:r>
              <a:rPr lang="en-US" b="0" i="0" dirty="0">
                <a:solidFill>
                  <a:srgbClr val="363737"/>
                </a:solidFill>
                <a:effectLst/>
                <a:latin typeface="Spectral"/>
              </a:rPr>
              <a:t>By setting these weights to </a:t>
            </a:r>
            <a:r>
              <a:rPr lang="en-US" b="1" i="0" dirty="0">
                <a:solidFill>
                  <a:srgbClr val="363737"/>
                </a:solidFill>
                <a:effectLst/>
                <a:latin typeface="Spectral"/>
              </a:rPr>
              <a:t>-∞</a:t>
            </a:r>
            <a:r>
              <a:rPr lang="en-US" b="0" i="0" dirty="0">
                <a:solidFill>
                  <a:srgbClr val="363737"/>
                </a:solidFill>
                <a:effectLst/>
                <a:latin typeface="Spectral"/>
              </a:rPr>
              <a:t>, the output of the SoftMax on these weights will result in a probability of </a:t>
            </a:r>
            <a:r>
              <a:rPr lang="en-US" b="1" i="0" dirty="0">
                <a:solidFill>
                  <a:srgbClr val="363737"/>
                </a:solidFill>
                <a:effectLst/>
                <a:latin typeface="Spectral"/>
              </a:rPr>
              <a:t>0</a:t>
            </a:r>
            <a:endParaRPr lang="en-IN" dirty="0"/>
          </a:p>
        </p:txBody>
      </p:sp>
      <p:sp>
        <p:nvSpPr>
          <p:cNvPr id="12" name="Arrow: Right 11">
            <a:extLst>
              <a:ext uri="{FF2B5EF4-FFF2-40B4-BE49-F238E27FC236}">
                <a16:creationId xmlns:a16="http://schemas.microsoft.com/office/drawing/2014/main" id="{3EABD91F-2547-632C-2D96-2CA089BC7BB6}"/>
              </a:ext>
            </a:extLst>
          </p:cNvPr>
          <p:cNvSpPr/>
          <p:nvPr/>
        </p:nvSpPr>
        <p:spPr>
          <a:xfrm>
            <a:off x="6188621" y="5017445"/>
            <a:ext cx="1696719" cy="2032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9D05193E-00C2-B325-F71F-29C90CAC6661}"/>
              </a:ext>
            </a:extLst>
          </p:cNvPr>
          <p:cNvSpPr txBox="1"/>
          <p:nvPr/>
        </p:nvSpPr>
        <p:spPr>
          <a:xfrm>
            <a:off x="353314" y="6056289"/>
            <a:ext cx="6096000" cy="369332"/>
          </a:xfrm>
          <a:prstGeom prst="rect">
            <a:avLst/>
          </a:prstGeom>
          <a:solidFill>
            <a:schemeClr val="bg2">
              <a:lumMod val="90000"/>
            </a:schemeClr>
          </a:solidFill>
        </p:spPr>
        <p:txBody>
          <a:bodyPr wrap="square">
            <a:spAutoFit/>
          </a:bodyPr>
          <a:lstStyle/>
          <a:p>
            <a:r>
              <a:rPr lang="en-US" b="1" i="0" dirty="0" err="1">
                <a:solidFill>
                  <a:srgbClr val="363737"/>
                </a:solidFill>
                <a:effectLst/>
                <a:latin typeface="Spectral"/>
              </a:rPr>
              <a:t>KeepTopK</a:t>
            </a:r>
            <a:r>
              <a:rPr lang="en-US" b="1" i="0" dirty="0">
                <a:solidFill>
                  <a:srgbClr val="363737"/>
                </a:solidFill>
                <a:effectLst/>
                <a:latin typeface="Spectral"/>
              </a:rPr>
              <a:t> can also be used without the additional noise</a:t>
            </a:r>
            <a:endParaRPr lang="en-IN" b="1" dirty="0"/>
          </a:p>
        </p:txBody>
      </p:sp>
    </p:spTree>
    <p:extLst>
      <p:ext uri="{BB962C8B-B14F-4D97-AF65-F5344CB8AC3E}">
        <p14:creationId xmlns:p14="http://schemas.microsoft.com/office/powerpoint/2010/main" val="8171453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0"/>
          </p:nvPr>
        </p:nvSpPr>
        <p:spPr>
          <a:xfrm>
            <a:off x="156615" y="1219200"/>
            <a:ext cx="11480800" cy="4525963"/>
          </a:xfrm>
        </p:spPr>
        <p:txBody>
          <a:bodyPr/>
          <a:lstStyle/>
          <a:p>
            <a:r>
              <a:rPr lang="en-US" dirty="0"/>
              <a:t>allows for a given token to be sent to one expert (</a:t>
            </a:r>
            <a:r>
              <a:rPr lang="en-US" i="1" dirty="0"/>
              <a:t>top-1 routing</a:t>
            </a:r>
            <a:r>
              <a:rPr lang="en-US" dirty="0"/>
              <a:t>) or to more than one expert (top-k routing)</a:t>
            </a:r>
            <a:endParaRPr lang="en-IN" dirty="0"/>
          </a:p>
        </p:txBody>
      </p:sp>
      <p:sp>
        <p:nvSpPr>
          <p:cNvPr id="3" name="Title 2"/>
          <p:cNvSpPr>
            <a:spLocks noGrp="1"/>
          </p:cNvSpPr>
          <p:nvPr>
            <p:ph type="title"/>
          </p:nvPr>
        </p:nvSpPr>
        <p:spPr/>
        <p:txBody>
          <a:bodyPr/>
          <a:lstStyle/>
          <a:p>
            <a:r>
              <a:rPr lang="en-IN" b="1" dirty="0"/>
              <a:t>Load Balancing: </a:t>
            </a:r>
            <a:r>
              <a:rPr lang="en-US" b="1" dirty="0"/>
              <a:t>Token Choice</a:t>
            </a:r>
            <a:br>
              <a:rPr lang="en-US" b="1" dirty="0"/>
            </a:br>
            <a:endParaRPr lang="en-IN" b="1" dirty="0"/>
          </a:p>
        </p:txBody>
      </p:sp>
      <p:pic>
        <p:nvPicPr>
          <p:cNvPr id="8196" name="Picture 4" descr="https://substackcdn.com/image/fetch/$s_!Ps3o!,w_1456,c_limit,f_auto,q_auto:good,fl_progressive:steep/https%3A%2F%2Fsubstack-post-media.s3.amazonaws.com%2Fpublic%2Fimages%2Fb3f283f1-c359-4baf-8d01-8ebb2a90665f_1004x72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66482" y="2157134"/>
            <a:ext cx="5153339" cy="3695622"/>
          </a:xfrm>
          <a:prstGeom prst="rect">
            <a:avLst/>
          </a:prstGeom>
          <a:noFill/>
          <a:extLst>
            <a:ext uri="{909E8E84-426E-40DD-AFC4-6F175D3DCCD1}">
              <a14:hiddenFill xmlns:a14="http://schemas.microsoft.com/office/drawing/2010/main">
                <a:solidFill>
                  <a:srgbClr val="FFFFFF"/>
                </a:solidFill>
              </a14:hiddenFill>
            </a:ext>
          </a:extLst>
        </p:spPr>
      </p:pic>
      <p:pic>
        <p:nvPicPr>
          <p:cNvPr id="8198" name="Picture 6" descr="https://substackcdn.com/image/fetch/$s_!fl3F!,w_1456,c_limit,f_auto,q_auto:good,fl_progressive:steep/https%3A%2F%2Fsubstack-post-media.s3.amazonaws.com%2Fpublic%2Fimages%2Fdf7a9988-d4c8-4b1b-a968-073a6b3bfc6a_1004x648.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9021" y="2276270"/>
            <a:ext cx="5457994" cy="3522689"/>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p:cNvSpPr/>
          <p:nvPr/>
        </p:nvSpPr>
        <p:spPr>
          <a:xfrm>
            <a:off x="-91440" y="6581001"/>
            <a:ext cx="6096000" cy="276999"/>
          </a:xfrm>
          <a:prstGeom prst="rect">
            <a:avLst/>
          </a:prstGeom>
        </p:spPr>
        <p:txBody>
          <a:bodyPr>
            <a:spAutoFit/>
          </a:bodyPr>
          <a:lstStyle/>
          <a:p>
            <a:r>
              <a:rPr lang="en-IN" sz="1200" dirty="0"/>
              <a:t>https://newsletter.maartengrootendorst.com/p/a-visual-guide-to-mixture-of-experts</a:t>
            </a:r>
          </a:p>
        </p:txBody>
      </p:sp>
      <p:sp>
        <p:nvSpPr>
          <p:cNvPr id="5" name="TextBox 4">
            <a:extLst>
              <a:ext uri="{FF2B5EF4-FFF2-40B4-BE49-F238E27FC236}">
                <a16:creationId xmlns:a16="http://schemas.microsoft.com/office/drawing/2014/main" id="{EFFE9248-47FE-09B3-D679-83A6BAC14E35}"/>
              </a:ext>
            </a:extLst>
          </p:cNvPr>
          <p:cNvSpPr txBox="1"/>
          <p:nvPr/>
        </p:nvSpPr>
        <p:spPr>
          <a:xfrm>
            <a:off x="1973579" y="6078829"/>
            <a:ext cx="9348875" cy="830997"/>
          </a:xfrm>
          <a:prstGeom prst="rect">
            <a:avLst/>
          </a:prstGeom>
        </p:spPr>
        <p:txBody>
          <a:bodyPr vert="horz" lIns="91440" tIns="45720" rIns="91440" bIns="45720" rtlCol="0">
            <a:normAutofit/>
          </a:bodyPr>
          <a:lstStyle>
            <a:lvl1pPr>
              <a:defRPr sz="2400">
                <a:latin typeface="Cambria" panose="02040503050406030204" pitchFamily="18" charset="0"/>
                <a:ea typeface="Cambria" panose="02040503050406030204" pitchFamily="18" charset="0"/>
              </a:defRPr>
            </a:lvl1pPr>
            <a:lvl2pPr>
              <a:defRPr sz="2400">
                <a:latin typeface="Cambria" panose="02040503050406030204" pitchFamily="18" charset="0"/>
                <a:ea typeface="Cambria" panose="02040503050406030204" pitchFamily="18" charset="0"/>
              </a:defRPr>
            </a:lvl2pPr>
            <a:lvl3pPr>
              <a:defRPr sz="2400">
                <a:latin typeface="Cambria" panose="02040503050406030204" pitchFamily="18" charset="0"/>
                <a:ea typeface="Cambria" panose="02040503050406030204" pitchFamily="18" charset="0"/>
              </a:defRPr>
            </a:lvl3pPr>
            <a:lvl4pPr>
              <a:defRPr sz="2400">
                <a:latin typeface="Cambria" panose="02040503050406030204" pitchFamily="18" charset="0"/>
                <a:ea typeface="Cambria" panose="02040503050406030204" pitchFamily="18" charset="0"/>
              </a:defRPr>
            </a:lvl4pPr>
            <a:lvl5pPr>
              <a:defRPr sz="2400">
                <a:latin typeface="Cambria" panose="02040503050406030204" pitchFamily="18" charset="0"/>
                <a:ea typeface="Cambria" panose="02040503050406030204" pitchFamily="18" charset="0"/>
              </a:defRPr>
            </a:lvl5pPr>
          </a:lstStyle>
          <a:p>
            <a:r>
              <a:rPr lang="en-US" dirty="0"/>
              <a:t>Experts’ respective contributions to be weighed and integrated</a:t>
            </a:r>
            <a:endParaRPr lang="en-IN" dirty="0"/>
          </a:p>
        </p:txBody>
      </p:sp>
    </p:spTree>
    <p:extLst>
      <p:ext uri="{BB962C8B-B14F-4D97-AF65-F5344CB8AC3E}">
        <p14:creationId xmlns:p14="http://schemas.microsoft.com/office/powerpoint/2010/main" val="2217695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0"/>
          </p:nvPr>
        </p:nvSpPr>
        <p:spPr>
          <a:xfrm>
            <a:off x="139908" y="1381241"/>
            <a:ext cx="5831121" cy="4907799"/>
          </a:xfrm>
        </p:spPr>
        <p:txBody>
          <a:bodyPr>
            <a:normAutofit fontScale="92500" lnSpcReduction="10000"/>
          </a:bodyPr>
          <a:lstStyle/>
          <a:p>
            <a:pPr marL="342900" indent="-342900">
              <a:buFont typeface="Arial" panose="020B0604020202020204" pitchFamily="34" charset="0"/>
              <a:buChar char="•"/>
            </a:pPr>
            <a:r>
              <a:rPr lang="en-US" dirty="0"/>
              <a:t>It is not just about which experts are used but </a:t>
            </a:r>
            <a:r>
              <a:rPr lang="en-US" b="1" dirty="0"/>
              <a:t>how much</a:t>
            </a:r>
            <a:r>
              <a:rPr lang="en-US" dirty="0"/>
              <a:t> they are used</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A solution to this problem is to limit the amount of tokens a given expert can handle, namely </a:t>
            </a:r>
            <a:r>
              <a:rPr lang="en-US" i="1" dirty="0"/>
              <a:t>Expert Capacity</a:t>
            </a:r>
          </a:p>
          <a:p>
            <a:pPr marL="342900" indent="-342900">
              <a:buFont typeface="Arial" panose="020B0604020202020204" pitchFamily="34" charset="0"/>
              <a:buChar char="•"/>
            </a:pPr>
            <a:endParaRPr lang="en-US" i="1" dirty="0"/>
          </a:p>
          <a:p>
            <a:pPr marL="342900" indent="-342900">
              <a:buFont typeface="Arial" panose="020B0604020202020204" pitchFamily="34" charset="0"/>
              <a:buChar char="•"/>
            </a:pPr>
            <a:r>
              <a:rPr lang="en-US" dirty="0"/>
              <a:t>By the time an expert has reached capacity, the resulting tokens will be sent to the next expert</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i="1" dirty="0"/>
              <a:t>Token overflow : </a:t>
            </a:r>
            <a:r>
              <a:rPr lang="en-US" dirty="0"/>
              <a:t>If both experts have reached their capacity, the token will not be processed by any expert but instead sent to the next layer</a:t>
            </a:r>
            <a:endParaRPr lang="en-IN" dirty="0"/>
          </a:p>
        </p:txBody>
      </p:sp>
      <p:sp>
        <p:nvSpPr>
          <p:cNvPr id="3" name="Title 2"/>
          <p:cNvSpPr>
            <a:spLocks noGrp="1"/>
          </p:cNvSpPr>
          <p:nvPr>
            <p:ph type="title"/>
          </p:nvPr>
        </p:nvSpPr>
        <p:spPr/>
        <p:txBody>
          <a:bodyPr/>
          <a:lstStyle/>
          <a:p>
            <a:r>
              <a:rPr lang="en-IN" b="1" dirty="0"/>
              <a:t>Load Balancing: </a:t>
            </a:r>
            <a:r>
              <a:rPr lang="en-US" i="1" dirty="0"/>
              <a:t>Expert Capacity</a:t>
            </a:r>
            <a:endParaRPr lang="en-IN" dirty="0"/>
          </a:p>
        </p:txBody>
      </p:sp>
      <p:pic>
        <p:nvPicPr>
          <p:cNvPr id="9218" name="Picture 2" descr="https://substackcdn.com/image/fetch/$s_!44Xf!,w_1456,c_limit,f_auto,q_auto:good,fl_progressive:steep/https%3A%2F%2Fsubstack-post-media.s3.amazonaws.com%2Fpublic%2Fimages%2Fdf67563f-755a-47a7-bebc-c1ac81a01f8f_1004x568.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51661" y="968654"/>
            <a:ext cx="4835538" cy="2735644"/>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9220" name="Picture 4" descr="https://substackcdn.com/image/fetch/$s_!CsiT!,w_1456,c_limit,f_auto,q_auto:good,fl_progressive:steep/https%3A%2F%2Fsubstack-post-media.s3.amazonaws.com%2Fpublic%2Fimages%2Fe92ce4c5-affa-454d-8fd2-4debf9a08ce2_1004x544.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8328" y="3835828"/>
            <a:ext cx="5048871" cy="2735644"/>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6" name="Rectangle 5"/>
          <p:cNvSpPr/>
          <p:nvPr/>
        </p:nvSpPr>
        <p:spPr>
          <a:xfrm>
            <a:off x="0" y="6432973"/>
            <a:ext cx="6096000" cy="276999"/>
          </a:xfrm>
          <a:prstGeom prst="rect">
            <a:avLst/>
          </a:prstGeom>
        </p:spPr>
        <p:txBody>
          <a:bodyPr>
            <a:spAutoFit/>
          </a:bodyPr>
          <a:lstStyle/>
          <a:p>
            <a:r>
              <a:rPr lang="en-IN" sz="1200" dirty="0"/>
              <a:t>https://newsletter.maartengrootendorst.com/p/a-visual-guide-to-mixture-of-experts</a:t>
            </a:r>
          </a:p>
        </p:txBody>
      </p:sp>
    </p:spTree>
    <p:extLst>
      <p:ext uri="{BB962C8B-B14F-4D97-AF65-F5344CB8AC3E}">
        <p14:creationId xmlns:p14="http://schemas.microsoft.com/office/powerpoint/2010/main" val="49977158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A3F3A49-9127-C9FA-D5DB-C0CBAE4D30FE}"/>
              </a:ext>
            </a:extLst>
          </p:cNvPr>
          <p:cNvSpPr>
            <a:spLocks noGrp="1"/>
          </p:cNvSpPr>
          <p:nvPr>
            <p:ph type="title"/>
          </p:nvPr>
        </p:nvSpPr>
        <p:spPr/>
        <p:txBody>
          <a:bodyPr/>
          <a:lstStyle/>
          <a:p>
            <a:r>
              <a:rPr lang="en-US" dirty="0"/>
              <a:t>Sparse </a:t>
            </a:r>
            <a:r>
              <a:rPr lang="en-US" dirty="0" err="1"/>
              <a:t>MoE</a:t>
            </a:r>
            <a:endParaRPr lang="en-IN" dirty="0"/>
          </a:p>
        </p:txBody>
      </p:sp>
      <p:pic>
        <p:nvPicPr>
          <p:cNvPr id="1026" name="Picture 2">
            <a:extLst>
              <a:ext uri="{FF2B5EF4-FFF2-40B4-BE49-F238E27FC236}">
                <a16:creationId xmlns:a16="http://schemas.microsoft.com/office/drawing/2014/main" id="{FC1D258F-6DB8-2C1D-BC23-6D25FF27FCEA}"/>
              </a:ext>
            </a:extLst>
          </p:cNvPr>
          <p:cNvPicPr>
            <a:picLocks noGrp="1" noChangeAspect="1" noChangeArrowheads="1"/>
          </p:cNvPicPr>
          <p:nvPr>
            <p:ph idx="10"/>
          </p:nvPr>
        </p:nvPicPr>
        <p:blipFill>
          <a:blip r:embed="rId2">
            <a:extLst>
              <a:ext uri="{28A0092B-C50C-407E-A947-70E740481C1C}">
                <a14:useLocalDpi xmlns:a14="http://schemas.microsoft.com/office/drawing/2010/main" val="0"/>
              </a:ext>
            </a:extLst>
          </a:blip>
          <a:srcRect/>
          <a:stretch>
            <a:fillRect/>
          </a:stretch>
        </p:blipFill>
        <p:spPr bwMode="auto">
          <a:xfrm>
            <a:off x="227679" y="1514158"/>
            <a:ext cx="6311202" cy="452596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25D4D661-AF63-BF65-55AA-200F4324E72A}"/>
              </a:ext>
            </a:extLst>
          </p:cNvPr>
          <p:cNvSpPr txBox="1"/>
          <p:nvPr/>
        </p:nvSpPr>
        <p:spPr>
          <a:xfrm>
            <a:off x="6725920" y="1388069"/>
            <a:ext cx="5238401" cy="5016758"/>
          </a:xfrm>
          <a:prstGeom prst="rect">
            <a:avLst/>
          </a:prstGeom>
          <a:noFill/>
        </p:spPr>
        <p:txBody>
          <a:bodyPr wrap="square">
            <a:spAutoFit/>
          </a:bodyPr>
          <a:lstStyle/>
          <a:p>
            <a:pPr marL="342900" indent="-342900">
              <a:buFont typeface="Arial" panose="020B0604020202020204" pitchFamily="34" charset="0"/>
              <a:buChar char="•"/>
            </a:pPr>
            <a:r>
              <a:rPr lang="en-US" sz="2000" b="0" i="0" dirty="0">
                <a:solidFill>
                  <a:srgbClr val="363737"/>
                </a:solidFill>
                <a:effectLst/>
                <a:latin typeface="Cambria" panose="02040503050406030204" pitchFamily="18" charset="0"/>
                <a:ea typeface="Cambria" panose="02040503050406030204" pitchFamily="18" charset="0"/>
              </a:rPr>
              <a:t>Sparse </a:t>
            </a:r>
            <a:r>
              <a:rPr lang="en-US" sz="2000" b="0" i="0" dirty="0" err="1">
                <a:solidFill>
                  <a:srgbClr val="363737"/>
                </a:solidFill>
                <a:effectLst/>
                <a:latin typeface="Cambria" panose="02040503050406030204" pitchFamily="18" charset="0"/>
                <a:ea typeface="Cambria" panose="02040503050406030204" pitchFamily="18" charset="0"/>
              </a:rPr>
              <a:t>MoE</a:t>
            </a:r>
            <a:r>
              <a:rPr lang="en-US" sz="2000" b="0" i="0" dirty="0">
                <a:solidFill>
                  <a:srgbClr val="363737"/>
                </a:solidFill>
                <a:effectLst/>
                <a:latin typeface="Cambria" panose="02040503050406030204" pitchFamily="18" charset="0"/>
                <a:ea typeface="Cambria" panose="02040503050406030204" pitchFamily="18" charset="0"/>
              </a:rPr>
              <a:t> only selects a few whereas a Dense </a:t>
            </a:r>
            <a:r>
              <a:rPr lang="en-US" sz="2000" b="0" i="0" dirty="0" err="1">
                <a:solidFill>
                  <a:srgbClr val="363737"/>
                </a:solidFill>
                <a:effectLst/>
                <a:latin typeface="Cambria" panose="02040503050406030204" pitchFamily="18" charset="0"/>
                <a:ea typeface="Cambria" panose="02040503050406030204" pitchFamily="18" charset="0"/>
              </a:rPr>
              <a:t>MoE</a:t>
            </a:r>
            <a:r>
              <a:rPr lang="en-US" sz="2000" b="0" i="0" dirty="0">
                <a:solidFill>
                  <a:srgbClr val="363737"/>
                </a:solidFill>
                <a:effectLst/>
                <a:latin typeface="Cambria" panose="02040503050406030204" pitchFamily="18" charset="0"/>
                <a:ea typeface="Cambria" panose="02040503050406030204" pitchFamily="18" charset="0"/>
              </a:rPr>
              <a:t> selects them all but potentially in different distributions</a:t>
            </a:r>
          </a:p>
          <a:p>
            <a:pPr marL="342900" indent="-342900">
              <a:buFont typeface="Arial" panose="020B0604020202020204" pitchFamily="34" charset="0"/>
              <a:buChar char="•"/>
            </a:pPr>
            <a:r>
              <a:rPr lang="en-US" sz="2000" dirty="0">
                <a:latin typeface="Cambria" panose="02040503050406030204" pitchFamily="18" charset="0"/>
                <a:ea typeface="Cambria" panose="02040503050406030204" pitchFamily="18" charset="0"/>
              </a:rPr>
              <a:t>Newer models like </a:t>
            </a:r>
            <a:r>
              <a:rPr lang="en-US" sz="2000" b="1" dirty="0">
                <a:latin typeface="Cambria" panose="02040503050406030204" pitchFamily="18" charset="0"/>
                <a:ea typeface="Cambria" panose="02040503050406030204" pitchFamily="18" charset="0"/>
              </a:rPr>
              <a:t>Qwen3-Next</a:t>
            </a:r>
            <a:r>
              <a:rPr lang="en-US" sz="2000" dirty="0">
                <a:latin typeface="Cambria" panose="02040503050406030204" pitchFamily="18" charset="0"/>
                <a:ea typeface="Cambria" panose="02040503050406030204" pitchFamily="18" charset="0"/>
              </a:rPr>
              <a:t> and </a:t>
            </a:r>
            <a:r>
              <a:rPr lang="en-US" sz="2000" b="1" dirty="0">
                <a:latin typeface="Cambria" panose="02040503050406030204" pitchFamily="18" charset="0"/>
                <a:ea typeface="Cambria" panose="02040503050406030204" pitchFamily="18" charset="0"/>
              </a:rPr>
              <a:t>Llama 4 (Maverick/Scout)</a:t>
            </a:r>
            <a:r>
              <a:rPr lang="en-US" sz="2000" dirty="0">
                <a:latin typeface="Cambria" panose="02040503050406030204" pitchFamily="18" charset="0"/>
                <a:ea typeface="Cambria" panose="02040503050406030204" pitchFamily="18" charset="0"/>
              </a:rPr>
              <a:t> use a hybrid architecture that adjusts sparsity based on the task difficulty</a:t>
            </a:r>
          </a:p>
          <a:p>
            <a:pPr marL="342900" indent="-342900">
              <a:buFont typeface="Arial" panose="020B0604020202020204" pitchFamily="34" charset="0"/>
              <a:buChar char="•"/>
            </a:pPr>
            <a:r>
              <a:rPr lang="en-US" sz="2000" b="1" dirty="0">
                <a:latin typeface="Cambria" panose="02040503050406030204" pitchFamily="18" charset="0"/>
                <a:ea typeface="Cambria" panose="02040503050406030204" pitchFamily="18" charset="0"/>
              </a:rPr>
              <a:t>Maverick (Llama 4 variant):</a:t>
            </a:r>
            <a:r>
              <a:rPr lang="en-US" sz="2000" dirty="0">
                <a:latin typeface="Cambria" panose="02040503050406030204" pitchFamily="18" charset="0"/>
                <a:ea typeface="Cambria" panose="02040503050406030204" pitchFamily="18" charset="0"/>
              </a:rPr>
              <a:t> Uses 128 experts with a 17B active parameter profile</a:t>
            </a:r>
          </a:p>
          <a:p>
            <a:pPr marL="342900" indent="-342900">
              <a:buFont typeface="Arial" panose="020B0604020202020204" pitchFamily="34" charset="0"/>
              <a:buChar char="•"/>
            </a:pPr>
            <a:r>
              <a:rPr lang="en-US" sz="2000" b="1" dirty="0">
                <a:latin typeface="Cambria" panose="02040503050406030204" pitchFamily="18" charset="0"/>
                <a:ea typeface="Cambria" panose="02040503050406030204" pitchFamily="18" charset="0"/>
              </a:rPr>
              <a:t>Dynamic Sparsity:</a:t>
            </a:r>
            <a:r>
              <a:rPr lang="en-US" sz="2000" dirty="0">
                <a:latin typeface="Cambria" panose="02040503050406030204" pitchFamily="18" charset="0"/>
                <a:ea typeface="Cambria" panose="02040503050406030204" pitchFamily="18" charset="0"/>
              </a:rPr>
              <a:t> These architectures can increase the number of active experts during "Thinking Mode" (Reinforcement Learning-driven reasoning) and decrease them for standard chat, effectively behaving like two different models in one</a:t>
            </a:r>
          </a:p>
          <a:p>
            <a:pPr marL="342900" indent="-342900">
              <a:buFont typeface="Arial" panose="020B0604020202020204" pitchFamily="34" charset="0"/>
              <a:buChar char="•"/>
            </a:pPr>
            <a:endParaRPr lang="en-IN"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1423159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descr="https://substackcdn.com/image/fetch/$s_!ShdO!,f_auto,q_auto:good,fl_progressive:steep/https%3A%2F%2Fsubstack-post-media.s3.amazonaws.com%2Fpublic%2Fimages%2F17518ff9-1f60-4aca-b654-034dabe20626_1600x823.png"/>
          <p:cNvPicPr>
            <a:picLocks noGrp="1" noChangeAspect="1" noChangeArrowheads="1"/>
          </p:cNvPicPr>
          <p:nvPr>
            <p:ph idx="10"/>
          </p:nvPr>
        </p:nvPicPr>
        <p:blipFill>
          <a:blip r:embed="rId3">
            <a:extLst>
              <a:ext uri="{28A0092B-C50C-407E-A947-70E740481C1C}">
                <a14:useLocalDpi xmlns:a14="http://schemas.microsoft.com/office/drawing/2010/main" val="0"/>
              </a:ext>
            </a:extLst>
          </a:blip>
          <a:srcRect/>
          <a:stretch>
            <a:fillRect/>
          </a:stretch>
        </p:blipFill>
        <p:spPr bwMode="auto">
          <a:xfrm>
            <a:off x="119053" y="359764"/>
            <a:ext cx="11788133" cy="60635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219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699276A-2D2F-F84C-87BB-A8FC6D29206D}"/>
              </a:ext>
            </a:extLst>
          </p:cNvPr>
          <p:cNvSpPr>
            <a:spLocks noGrp="1"/>
          </p:cNvSpPr>
          <p:nvPr>
            <p:ph idx="10"/>
          </p:nvPr>
        </p:nvSpPr>
        <p:spPr>
          <a:xfrm>
            <a:off x="304799" y="1545224"/>
            <a:ext cx="11779045" cy="4963731"/>
          </a:xfrm>
        </p:spPr>
        <p:txBody>
          <a:bodyPr>
            <a:normAutofit lnSpcReduction="10000"/>
          </a:bodyPr>
          <a:lstStyle/>
          <a:p>
            <a:pPr marL="342900" indent="-342900">
              <a:buFont typeface="Arial" panose="020B0604020202020204" pitchFamily="34" charset="0"/>
              <a:buChar char="•"/>
            </a:pPr>
            <a:r>
              <a:rPr lang="en-US" dirty="0"/>
              <a:t>Benefits</a:t>
            </a:r>
          </a:p>
          <a:p>
            <a:pPr marL="800100" lvl="1" indent="-342900">
              <a:buFont typeface="Arial" panose="020B0604020202020204" pitchFamily="34" charset="0"/>
              <a:buChar char="•"/>
            </a:pPr>
            <a:r>
              <a:rPr lang="en-US" dirty="0"/>
              <a:t>Scaling efficiency: </a:t>
            </a:r>
            <a:r>
              <a:rPr lang="en-US" dirty="0" err="1"/>
              <a:t>MoE</a:t>
            </a:r>
            <a:r>
              <a:rPr lang="en-US" dirty="0"/>
              <a:t> can increase representational capacity while keeping active parameters per token much smaller than total parameters</a:t>
            </a:r>
          </a:p>
          <a:p>
            <a:pPr marL="800100" lvl="1" indent="-342900">
              <a:buFont typeface="Arial" panose="020B0604020202020204" pitchFamily="34" charset="0"/>
              <a:buChar char="•"/>
            </a:pPr>
            <a:r>
              <a:rPr lang="en-US" dirty="0"/>
              <a:t>Different experts can become good at different patterns, domains, or token types, and the router learns which ones to use</a:t>
            </a:r>
            <a:br>
              <a:rPr lang="en-US" dirty="0"/>
            </a:br>
            <a:endParaRPr lang="en-US" dirty="0"/>
          </a:p>
          <a:p>
            <a:pPr marL="342900" indent="-342900">
              <a:buFont typeface="Arial" panose="020B0604020202020204" pitchFamily="34" charset="0"/>
              <a:buChar char="•"/>
            </a:pPr>
            <a:r>
              <a:rPr lang="en-US" dirty="0"/>
              <a:t>Issues</a:t>
            </a:r>
          </a:p>
          <a:p>
            <a:pPr marL="800100" lvl="1" indent="-342900">
              <a:buFont typeface="Arial" panose="020B0604020202020204" pitchFamily="34" charset="0"/>
              <a:buChar char="•"/>
            </a:pPr>
            <a:r>
              <a:rPr lang="en-US" dirty="0"/>
              <a:t>systems and training challenges </a:t>
            </a:r>
          </a:p>
          <a:p>
            <a:pPr marL="1257300" lvl="2" indent="-342900">
              <a:buFont typeface="Arial" panose="020B0604020202020204" pitchFamily="34" charset="0"/>
              <a:buChar char="•"/>
            </a:pPr>
            <a:r>
              <a:rPr lang="en-US" dirty="0"/>
              <a:t>Routing overhead</a:t>
            </a:r>
          </a:p>
          <a:p>
            <a:pPr marL="1257300" lvl="2" indent="-342900">
              <a:buFont typeface="Arial" panose="020B0604020202020204" pitchFamily="34" charset="0"/>
              <a:buChar char="•"/>
            </a:pPr>
            <a:r>
              <a:rPr lang="en-US" dirty="0"/>
              <a:t>Expert load-balancing problems</a:t>
            </a:r>
          </a:p>
          <a:p>
            <a:pPr marL="1257300" lvl="2" indent="-342900">
              <a:buFont typeface="Arial" panose="020B0604020202020204" pitchFamily="34" charset="0"/>
              <a:buChar char="•"/>
            </a:pPr>
            <a:r>
              <a:rPr lang="en-US" dirty="0"/>
              <a:t>Training instability</a:t>
            </a:r>
          </a:p>
          <a:p>
            <a:pPr marL="1257300" lvl="2" indent="-342900">
              <a:buFont typeface="Arial" panose="020B0604020202020204" pitchFamily="34" charset="0"/>
              <a:buChar char="•"/>
            </a:pPr>
            <a:r>
              <a:rPr lang="en-US" dirty="0"/>
              <a:t>More complicated deployment</a:t>
            </a:r>
          </a:p>
          <a:p>
            <a:pPr marL="800100" lvl="1" indent="-342900">
              <a:buFont typeface="Arial" panose="020B0604020202020204" pitchFamily="34" charset="0"/>
              <a:buChar char="•"/>
            </a:pPr>
            <a:r>
              <a:rPr lang="en-US" dirty="0"/>
              <a:t>It can reduce compute per token, but total model memory is still large, so serving </a:t>
            </a:r>
            <a:r>
              <a:rPr lang="en-US" dirty="0" err="1"/>
              <a:t>MoE</a:t>
            </a:r>
            <a:r>
              <a:rPr lang="en-US" dirty="0"/>
              <a:t> models efficiently remains harder </a:t>
            </a:r>
          </a:p>
          <a:p>
            <a:endParaRPr lang="en-IN" dirty="0"/>
          </a:p>
        </p:txBody>
      </p:sp>
      <p:sp>
        <p:nvSpPr>
          <p:cNvPr id="3" name="Title 2">
            <a:extLst>
              <a:ext uri="{FF2B5EF4-FFF2-40B4-BE49-F238E27FC236}">
                <a16:creationId xmlns:a16="http://schemas.microsoft.com/office/drawing/2014/main" id="{4CA1EA26-5DD9-9DA5-51B6-C6BA1F2239CE}"/>
              </a:ext>
            </a:extLst>
          </p:cNvPr>
          <p:cNvSpPr>
            <a:spLocks noGrp="1"/>
          </p:cNvSpPr>
          <p:nvPr>
            <p:ph type="title"/>
          </p:nvPr>
        </p:nvSpPr>
        <p:spPr/>
        <p:txBody>
          <a:bodyPr/>
          <a:lstStyle/>
          <a:p>
            <a:r>
              <a:rPr lang="en-US" dirty="0" err="1"/>
              <a:t>MoE</a:t>
            </a:r>
            <a:endParaRPr lang="en-IN" dirty="0"/>
          </a:p>
        </p:txBody>
      </p:sp>
    </p:spTree>
    <p:extLst>
      <p:ext uri="{BB962C8B-B14F-4D97-AF65-F5344CB8AC3E}">
        <p14:creationId xmlns:p14="http://schemas.microsoft.com/office/powerpoint/2010/main" val="29471122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DFA8615-D342-052F-7F7A-EE03AD4016D2}"/>
              </a:ext>
            </a:extLst>
          </p:cNvPr>
          <p:cNvSpPr>
            <a:spLocks noGrp="1"/>
          </p:cNvSpPr>
          <p:nvPr>
            <p:ph idx="10"/>
          </p:nvPr>
        </p:nvSpPr>
        <p:spPr/>
        <p:txBody>
          <a:bodyPr>
            <a:normAutofit fontScale="92500" lnSpcReduction="10000"/>
          </a:bodyPr>
          <a:lstStyle/>
          <a:p>
            <a:r>
              <a:rPr lang="en-US" b="1" dirty="0"/>
              <a:t>Question:</a:t>
            </a:r>
            <a:r>
              <a:rPr lang="en-US" dirty="0"/>
              <a:t> You are designing a very deep decoder-only LLM with more than 100 layers and want stable training with lower computation. Which normalization strategy would you choose, and why?</a:t>
            </a:r>
            <a:br>
              <a:rPr lang="en-US" dirty="0"/>
            </a:br>
            <a:r>
              <a:rPr lang="en-US" b="1" dirty="0"/>
              <a:t>Answer:</a:t>
            </a:r>
            <a:endParaRPr lang="en-US" dirty="0"/>
          </a:p>
          <a:p>
            <a:pPr marL="800100" lvl="1" indent="-342900">
              <a:buFont typeface="Arial" panose="020B0604020202020204" pitchFamily="34" charset="0"/>
              <a:buChar char="•"/>
            </a:pPr>
            <a:r>
              <a:rPr lang="en-US" dirty="0" err="1"/>
              <a:t>RMSNorm</a:t>
            </a:r>
            <a:r>
              <a:rPr lang="en-US" dirty="0"/>
              <a:t> with a Pre-Norm placement</a:t>
            </a:r>
          </a:p>
          <a:p>
            <a:pPr marL="800100" lvl="1" indent="-342900">
              <a:buFont typeface="Arial" panose="020B0604020202020204" pitchFamily="34" charset="0"/>
              <a:buChar char="•"/>
            </a:pPr>
            <a:r>
              <a:rPr lang="en-US" dirty="0" err="1"/>
              <a:t>RMSNorm</a:t>
            </a:r>
            <a:r>
              <a:rPr lang="en-US" dirty="0"/>
              <a:t> is a simplified alternative to </a:t>
            </a:r>
            <a:r>
              <a:rPr lang="en-US" dirty="0" err="1"/>
              <a:t>LayerNorm</a:t>
            </a:r>
            <a:r>
              <a:rPr lang="en-US" dirty="0"/>
              <a:t> because it rescales using the root-mean-square of activations and does not compute both mean and variance.</a:t>
            </a:r>
          </a:p>
          <a:p>
            <a:pPr marL="800100" lvl="1" indent="-342900">
              <a:buFont typeface="Arial" panose="020B0604020202020204" pitchFamily="34" charset="0"/>
              <a:buChar char="•"/>
            </a:pPr>
            <a:r>
              <a:rPr lang="en-US" dirty="0"/>
              <a:t>This makes it cheaper 7–15% faster than </a:t>
            </a:r>
            <a:r>
              <a:rPr lang="en-US" dirty="0" err="1"/>
              <a:t>LayerNorm</a:t>
            </a:r>
            <a:r>
              <a:rPr lang="en-US" dirty="0"/>
              <a:t> due to fewer operations.</a:t>
            </a:r>
          </a:p>
          <a:p>
            <a:pPr marL="800100" lvl="1" indent="-342900">
              <a:buFont typeface="Arial" panose="020B0604020202020204" pitchFamily="34" charset="0"/>
              <a:buChar char="•"/>
            </a:pPr>
            <a:r>
              <a:rPr lang="en-US" dirty="0"/>
              <a:t>Pre-Norm keeps the residual path outside the normalization and gives gradients a direct highway through the network.</a:t>
            </a:r>
          </a:p>
          <a:p>
            <a:pPr marL="800100" lvl="1" indent="-342900">
              <a:buFont typeface="Arial" panose="020B0604020202020204" pitchFamily="34" charset="0"/>
              <a:buChar char="•"/>
            </a:pPr>
            <a:r>
              <a:rPr lang="en-US" dirty="0"/>
              <a:t>Because Pre-Norm trains stably even at 100+ layers and tolerates larger learning rates without careful warm-up, this combination is better for scaling deep LLMs.</a:t>
            </a:r>
          </a:p>
          <a:p>
            <a:br>
              <a:rPr lang="en-US" dirty="0"/>
            </a:br>
            <a:endParaRPr lang="en-IN" dirty="0"/>
          </a:p>
        </p:txBody>
      </p:sp>
      <p:sp>
        <p:nvSpPr>
          <p:cNvPr id="3" name="Title 2">
            <a:extLst>
              <a:ext uri="{FF2B5EF4-FFF2-40B4-BE49-F238E27FC236}">
                <a16:creationId xmlns:a16="http://schemas.microsoft.com/office/drawing/2014/main" id="{EF1530FB-A495-57D8-C968-30C710EFB50D}"/>
              </a:ext>
            </a:extLst>
          </p:cNvPr>
          <p:cNvSpPr>
            <a:spLocks noGrp="1"/>
          </p:cNvSpPr>
          <p:nvPr>
            <p:ph type="title"/>
          </p:nvPr>
        </p:nvSpPr>
        <p:spPr/>
        <p:txBody>
          <a:bodyPr/>
          <a:lstStyle/>
          <a:p>
            <a:r>
              <a:rPr lang="en-US" dirty="0"/>
              <a:t>Sample Questions</a:t>
            </a:r>
            <a:endParaRPr lang="en-IN" dirty="0"/>
          </a:p>
        </p:txBody>
      </p:sp>
    </p:spTree>
    <p:extLst>
      <p:ext uri="{BB962C8B-B14F-4D97-AF65-F5344CB8AC3E}">
        <p14:creationId xmlns:p14="http://schemas.microsoft.com/office/powerpoint/2010/main" val="138553569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899B928E-28E5-BF08-C945-13962811CF5F}"/>
                  </a:ext>
                </a:extLst>
              </p:cNvPr>
              <p:cNvSpPr>
                <a:spLocks noGrp="1"/>
              </p:cNvSpPr>
              <p:nvPr>
                <p:ph idx="10"/>
              </p:nvPr>
            </p:nvSpPr>
            <p:spPr/>
            <p:txBody>
              <a:bodyPr>
                <a:normAutofit/>
              </a:bodyPr>
              <a:lstStyle/>
              <a:p>
                <a:r>
                  <a:rPr lang="en-IN" b="1" dirty="0"/>
                  <a:t>Question:</a:t>
                </a:r>
                <a:r>
                  <a:rPr lang="en-IN" dirty="0"/>
                  <a:t> During training, your attention scores become unstable because query and key magnitudes vary too much across heads. What modification would you introduce, and what effect would it have?</a:t>
                </a:r>
                <a:br>
                  <a:rPr lang="en-IN" dirty="0"/>
                </a:br>
                <a:r>
                  <a:rPr lang="en-IN" dirty="0"/>
                  <a:t>A</a:t>
                </a:r>
                <a:r>
                  <a:rPr lang="en-IN" b="1" dirty="0"/>
                  <a:t>nswer:</a:t>
                </a:r>
                <a:endParaRPr lang="en-IN" dirty="0"/>
              </a:p>
              <a:p>
                <a:pPr lvl="1"/>
                <a:r>
                  <a:rPr lang="en-IN" dirty="0" err="1"/>
                  <a:t>Iintroduce</a:t>
                </a:r>
                <a:r>
                  <a:rPr lang="en-IN" dirty="0"/>
                  <a:t> QK-Norm inside the attention mechanism</a:t>
                </a:r>
              </a:p>
              <a:p>
                <a:pPr lvl="1"/>
                <a:r>
                  <a:rPr lang="en-IN" dirty="0"/>
                  <a:t>QK-Norm applies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𝑙</m:t>
                        </m:r>
                      </m:e>
                      <m:sub>
                        <m:r>
                          <a:rPr lang="ar-AE">
                            <a:latin typeface="Cambria Math" panose="02040503050406030204" pitchFamily="18" charset="0"/>
                          </a:rPr>
                          <m:t>2</m:t>
                        </m:r>
                      </m:sub>
                    </m:sSub>
                  </m:oMath>
                </a14:m>
                <a:r>
                  <a:rPr lang="ar-AE" dirty="0"/>
                  <a:t> </a:t>
                </a:r>
                <a:r>
                  <a:rPr lang="en-IN" dirty="0"/>
                  <a:t>normalization to the query and key vectors along the head dimension before </a:t>
                </a:r>
                <a:r>
                  <a:rPr lang="en-IN" dirty="0" err="1"/>
                  <a:t>RoPE</a:t>
                </a:r>
                <a:r>
                  <a:rPr lang="en-IN" dirty="0"/>
                  <a:t> and before the dot product is computed.</a:t>
                </a:r>
              </a:p>
              <a:p>
                <a:pPr lvl="1"/>
                <a:r>
                  <a:rPr lang="en-IN" dirty="0"/>
                  <a:t>so the score magnitude becomes more controlled.</a:t>
                </a:r>
              </a:p>
              <a:p>
                <a:pPr lvl="1"/>
                <a:r>
                  <a:rPr lang="en-IN" dirty="0"/>
                  <a:t>Therefore, QK-Norm is a good design choice when instability comes from scale variation in attention rather than from the feed-forward layers</a:t>
                </a:r>
              </a:p>
              <a:p>
                <a:endParaRPr lang="en-IN" dirty="0"/>
              </a:p>
            </p:txBody>
          </p:sp>
        </mc:Choice>
        <mc:Fallback xmlns="">
          <p:sp>
            <p:nvSpPr>
              <p:cNvPr id="2" name="Content Placeholder 1">
                <a:extLst>
                  <a:ext uri="{FF2B5EF4-FFF2-40B4-BE49-F238E27FC236}">
                    <a16:creationId xmlns:a16="http://schemas.microsoft.com/office/drawing/2014/main" id="{899B928E-28E5-BF08-C945-13962811CF5F}"/>
                  </a:ext>
                </a:extLst>
              </p:cNvPr>
              <p:cNvSpPr>
                <a:spLocks noGrp="1" noRot="1" noChangeAspect="1" noMove="1" noResize="1" noEditPoints="1" noAdjustHandles="1" noChangeArrowheads="1" noChangeShapeType="1" noTextEdit="1"/>
              </p:cNvSpPr>
              <p:nvPr>
                <p:ph idx="10"/>
              </p:nvPr>
            </p:nvSpPr>
            <p:spPr>
              <a:blipFill>
                <a:blip r:embed="rId2"/>
                <a:stretch>
                  <a:fillRect l="-797" t="-1077"/>
                </a:stretch>
              </a:blipFill>
            </p:spPr>
            <p:txBody>
              <a:bodyPr/>
              <a:lstStyle/>
              <a:p>
                <a:r>
                  <a:rPr lang="en-IN">
                    <a:noFill/>
                  </a:rPr>
                  <a:t> </a:t>
                </a:r>
              </a:p>
            </p:txBody>
          </p:sp>
        </mc:Fallback>
      </mc:AlternateContent>
      <p:sp>
        <p:nvSpPr>
          <p:cNvPr id="3" name="Title 2">
            <a:extLst>
              <a:ext uri="{FF2B5EF4-FFF2-40B4-BE49-F238E27FC236}">
                <a16:creationId xmlns:a16="http://schemas.microsoft.com/office/drawing/2014/main" id="{616357F9-81BD-90D9-8265-229DB08D1793}"/>
              </a:ext>
            </a:extLst>
          </p:cNvPr>
          <p:cNvSpPr>
            <a:spLocks noGrp="1"/>
          </p:cNvSpPr>
          <p:nvPr>
            <p:ph type="title"/>
          </p:nvPr>
        </p:nvSpPr>
        <p:spPr/>
        <p:txBody>
          <a:bodyPr/>
          <a:lstStyle/>
          <a:p>
            <a:r>
              <a:rPr lang="en-US" dirty="0"/>
              <a:t>Sample Questions</a:t>
            </a:r>
            <a:endParaRPr lang="en-IN" dirty="0"/>
          </a:p>
        </p:txBody>
      </p:sp>
    </p:spTree>
    <p:extLst>
      <p:ext uri="{BB962C8B-B14F-4D97-AF65-F5344CB8AC3E}">
        <p14:creationId xmlns:p14="http://schemas.microsoft.com/office/powerpoint/2010/main" val="22056230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1F6658B-BC0D-4708-45CD-BB0EE7ECA9E4}"/>
              </a:ext>
            </a:extLst>
          </p:cNvPr>
          <p:cNvSpPr>
            <a:spLocks noGrp="1"/>
          </p:cNvSpPr>
          <p:nvPr>
            <p:ph idx="10"/>
          </p:nvPr>
        </p:nvSpPr>
        <p:spPr>
          <a:xfrm>
            <a:off x="304800" y="1545224"/>
            <a:ext cx="11704320" cy="4525963"/>
          </a:xfrm>
        </p:spPr>
        <p:txBody>
          <a:bodyPr>
            <a:normAutofit fontScale="92500" lnSpcReduction="10000"/>
          </a:bodyPr>
          <a:lstStyle/>
          <a:p>
            <a:r>
              <a:rPr lang="en-US" altLang="en-US" b="1" dirty="0"/>
              <a:t>Question:</a:t>
            </a:r>
            <a:r>
              <a:rPr lang="en-US" altLang="en-US" dirty="0"/>
              <a:t> In an </a:t>
            </a:r>
            <a:r>
              <a:rPr lang="en-US" altLang="en-US" dirty="0" err="1"/>
              <a:t>MoE</a:t>
            </a:r>
            <a:r>
              <a:rPr lang="en-US" altLang="en-US" dirty="0"/>
              <a:t> architecture, explain the concept of "Expert Capacity" and the consequence of "Token Overflow." How do these design choices impact the training and inference of a sparse model?</a:t>
            </a:r>
          </a:p>
          <a:p>
            <a:r>
              <a:rPr lang="en-US" altLang="en-US" b="1" dirty="0"/>
              <a:t>Answer:</a:t>
            </a:r>
          </a:p>
          <a:p>
            <a:r>
              <a:rPr lang="en-US" altLang="en-US" dirty="0"/>
              <a:t>Expert Capacity: To prevent certain "popular" experts from being overwhelmed and to ensure balanced parameter usage, a limit is placed on the number of tokens a single expert can handle. </a:t>
            </a:r>
          </a:p>
          <a:p>
            <a:r>
              <a:rPr lang="en-US" altLang="en-US" dirty="0"/>
              <a:t>Token Overflow: If an expert reaches its capacity, any additional tokens assigned to it by the router are either sent to the next available expert or, if all assigned experts are full, sent directly to the next layer without being processed by an expert. </a:t>
            </a:r>
          </a:p>
          <a:p>
            <a:r>
              <a:rPr lang="en-US" altLang="en-US" dirty="0"/>
              <a:t>Impact on Training/Inference: Load balancing (using techniques like </a:t>
            </a:r>
            <a:r>
              <a:rPr lang="en-US" altLang="en-US" dirty="0" err="1"/>
              <a:t>KeepTopK</a:t>
            </a:r>
            <a:r>
              <a:rPr lang="en-US" altLang="en-US" dirty="0"/>
              <a:t> with noise) ensures that the model utilizes its total capacity rather than always picking the same few experts. While this prevents bottlenecks, token overflow can lead to a slight loss in performance for the specific bypassed tokens, necessitating a balance between capacity and computational efficiency. </a:t>
            </a:r>
          </a:p>
          <a:p>
            <a:endParaRPr lang="en-IN" dirty="0"/>
          </a:p>
        </p:txBody>
      </p:sp>
      <p:sp>
        <p:nvSpPr>
          <p:cNvPr id="3" name="Title 2">
            <a:extLst>
              <a:ext uri="{FF2B5EF4-FFF2-40B4-BE49-F238E27FC236}">
                <a16:creationId xmlns:a16="http://schemas.microsoft.com/office/drawing/2014/main" id="{90D3B8CA-B5E1-2AE3-521F-278F8C4BC284}"/>
              </a:ext>
            </a:extLst>
          </p:cNvPr>
          <p:cNvSpPr>
            <a:spLocks noGrp="1"/>
          </p:cNvSpPr>
          <p:nvPr>
            <p:ph type="title"/>
          </p:nvPr>
        </p:nvSpPr>
        <p:spPr/>
        <p:txBody>
          <a:bodyPr/>
          <a:lstStyle/>
          <a:p>
            <a:r>
              <a:rPr lang="en-US" dirty="0"/>
              <a:t>Sample Questions</a:t>
            </a:r>
            <a:endParaRPr lang="en-IN" dirty="0"/>
          </a:p>
        </p:txBody>
      </p:sp>
    </p:spTree>
    <p:extLst>
      <p:ext uri="{BB962C8B-B14F-4D97-AF65-F5344CB8AC3E}">
        <p14:creationId xmlns:p14="http://schemas.microsoft.com/office/powerpoint/2010/main" val="118395591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idx="10"/>
          </p:nvPr>
        </p:nvSpPr>
        <p:spPr>
          <a:xfrm>
            <a:off x="304800" y="1545224"/>
            <a:ext cx="11887200" cy="4525963"/>
          </a:xfrm>
        </p:spPr>
        <p:txBody>
          <a:bodyPr>
            <a:normAutofit fontScale="85000" lnSpcReduction="20000"/>
          </a:bodyPr>
          <a:lstStyle/>
          <a:p>
            <a:pPr marL="342900" indent="-342900">
              <a:buFont typeface="Arial" panose="020B0604020202020204" pitchFamily="34" charset="0"/>
              <a:buChar char="•"/>
            </a:pPr>
            <a:r>
              <a:rPr lang="en-IN" dirty="0"/>
              <a:t>Hands-On Large Language Models by Jay </a:t>
            </a:r>
            <a:r>
              <a:rPr lang="en-IN" dirty="0" err="1"/>
              <a:t>Alammar</a:t>
            </a:r>
            <a:r>
              <a:rPr lang="en-IN" dirty="0"/>
              <a:t> and Maarten </a:t>
            </a:r>
            <a:r>
              <a:rPr lang="en-IN" dirty="0" err="1"/>
              <a:t>Grootendorst</a:t>
            </a:r>
            <a:r>
              <a:rPr lang="en-IN" dirty="0"/>
              <a:t>, </a:t>
            </a:r>
            <a:r>
              <a:rPr lang="en-IN" dirty="0" err="1"/>
              <a:t>Oreilly</a:t>
            </a:r>
            <a:r>
              <a:rPr lang="en-IN" dirty="0"/>
              <a:t> </a:t>
            </a:r>
            <a:r>
              <a:rPr lang="en-US" dirty="0"/>
              <a:t>: </a:t>
            </a:r>
            <a:r>
              <a:rPr lang="en-US" dirty="0" err="1"/>
              <a:t>Ch</a:t>
            </a:r>
            <a:r>
              <a:rPr lang="en-US" dirty="0"/>
              <a:t>- 3</a:t>
            </a:r>
          </a:p>
          <a:p>
            <a:pPr marL="342900" indent="-342900">
              <a:buFont typeface="Arial" panose="020B0604020202020204" pitchFamily="34" charset="0"/>
              <a:buChar char="•"/>
            </a:pPr>
            <a:r>
              <a:rPr lang="en-US" dirty="0">
                <a:hlinkClick r:id="rId2"/>
              </a:rPr>
              <a:t>https://sebastianraschka.com/llms-from-scratch/ch04/</a:t>
            </a:r>
            <a:endParaRPr lang="en-US" dirty="0"/>
          </a:p>
          <a:p>
            <a:pPr marL="342900" indent="-342900">
              <a:buFont typeface="Arial" panose="020B0604020202020204" pitchFamily="34" charset="0"/>
              <a:buChar char="•"/>
            </a:pPr>
            <a:r>
              <a:rPr lang="en-US" dirty="0">
                <a:hlinkClick r:id="rId3"/>
              </a:rPr>
              <a:t>https://magazine.sebastianraschka.com/p/the-big-llm-architecture-comparison</a:t>
            </a:r>
            <a:endParaRPr lang="en-US" dirty="0"/>
          </a:p>
          <a:p>
            <a:pPr marL="342900" indent="-342900">
              <a:buFont typeface="Arial" panose="020B0604020202020204" pitchFamily="34" charset="0"/>
              <a:buChar char="•"/>
            </a:pPr>
            <a:r>
              <a:rPr lang="en-US" dirty="0">
                <a:hlinkClick r:id="rId4"/>
              </a:rPr>
              <a:t>https://sebastianraschka.com/llm-architecture-gallery/</a:t>
            </a:r>
            <a:endParaRPr lang="en-US" dirty="0"/>
          </a:p>
          <a:p>
            <a:pPr marL="342900" indent="-342900">
              <a:buFont typeface="Arial" panose="020B0604020202020204" pitchFamily="34" charset="0"/>
              <a:buChar char="•"/>
            </a:pPr>
            <a:r>
              <a:rPr lang="en-IN" dirty="0">
                <a:hlinkClick r:id="rId5"/>
              </a:rPr>
              <a:t>https://newsletter.maartengrootendorst.com/p/a-visual-guide-to-mixture-of-experts</a:t>
            </a:r>
            <a:endParaRPr lang="en-IN" dirty="0"/>
          </a:p>
          <a:p>
            <a:pPr marL="342900" indent="-342900">
              <a:buFont typeface="Arial" panose="020B0604020202020204" pitchFamily="34" charset="0"/>
              <a:buChar char="•"/>
            </a:pPr>
            <a:r>
              <a:rPr lang="en-IN" dirty="0"/>
              <a:t>https://newsletter.maartengrootendorst.com/p/a-visual-guide-to-mamba-and-state</a:t>
            </a:r>
          </a:p>
          <a:p>
            <a:pPr marL="342900" indent="-342900">
              <a:buFont typeface="Arial" panose="020B0604020202020204" pitchFamily="34" charset="0"/>
              <a:buChar char="•"/>
            </a:pPr>
            <a:r>
              <a:rPr lang="en-US" dirty="0"/>
              <a:t> Vector rotation </a:t>
            </a:r>
          </a:p>
          <a:p>
            <a:pPr marL="800100" lvl="1" indent="-342900">
              <a:buFont typeface="Arial" panose="020B0604020202020204" pitchFamily="34" charset="0"/>
              <a:buChar char="•"/>
            </a:pPr>
            <a:r>
              <a:rPr lang="en-US" dirty="0"/>
              <a:t> </a:t>
            </a:r>
            <a:r>
              <a:rPr lang="en-US" dirty="0">
                <a:hlinkClick r:id="rId6"/>
              </a:rPr>
              <a:t>https://www.youtube.com/watch?v=tEUpWgy-Tuo&amp;list=PLYnrabpSIM-93QtJmGnQcJRdiqMBEwZ7_&amp;index=5</a:t>
            </a:r>
            <a:endParaRPr lang="en-US" dirty="0"/>
          </a:p>
          <a:p>
            <a:pPr marL="342900" indent="-342900">
              <a:buFont typeface="Arial" panose="020B0604020202020204" pitchFamily="34" charset="0"/>
              <a:buChar char="•"/>
            </a:pPr>
            <a:r>
              <a:rPr lang="en-US" dirty="0"/>
              <a:t>https://www.youtube.com/watch?v=qKUobBR5R1A</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Research Papers</a:t>
            </a:r>
          </a:p>
          <a:p>
            <a:pPr marL="342900" indent="-342900">
              <a:buFont typeface="Arial" panose="020B0604020202020204" pitchFamily="34" charset="0"/>
              <a:buChar char="•"/>
            </a:pPr>
            <a:r>
              <a:rPr lang="en-IN" dirty="0"/>
              <a:t>Self-Attention with Relative Position Representations</a:t>
            </a:r>
          </a:p>
          <a:p>
            <a:pPr marL="342900" indent="-342900">
              <a:buFont typeface="Arial" panose="020B0604020202020204" pitchFamily="34" charset="0"/>
              <a:buChar char="•"/>
            </a:pPr>
            <a:r>
              <a:rPr lang="en-IN" dirty="0"/>
              <a:t>GAUSSIAN ERROR LINEAR UNITS (GELUS)</a:t>
            </a:r>
          </a:p>
          <a:p>
            <a:pPr marL="342900" indent="-342900">
              <a:buFont typeface="Arial" panose="020B0604020202020204" pitchFamily="34" charset="0"/>
              <a:buChar char="•"/>
            </a:pPr>
            <a:r>
              <a:rPr lang="en-US" dirty="0"/>
              <a:t>Sigmoid-Weighted Linear Units for Neural Network Function Approximation in Reinforcement Learning</a:t>
            </a:r>
          </a:p>
          <a:p>
            <a:pPr marL="342900" indent="-342900">
              <a:buFont typeface="Arial" panose="020B0604020202020204" pitchFamily="34" charset="0"/>
              <a:buChar char="•"/>
            </a:pPr>
            <a:r>
              <a:rPr lang="en-IN" dirty="0"/>
              <a:t>GLU Variants Improve Transformer</a:t>
            </a:r>
          </a:p>
          <a:p>
            <a:pPr marL="342900" indent="-342900">
              <a:buFont typeface="Arial" panose="020B0604020202020204" pitchFamily="34" charset="0"/>
              <a:buChar char="•"/>
            </a:pPr>
            <a:r>
              <a:rPr lang="en-US" dirty="0"/>
              <a:t>ROFORMER: ENHANCED TRANSFORMER WITH ROTARY POSITION EMBEDDING</a:t>
            </a:r>
            <a:endParaRPr lang="en-IN" dirty="0"/>
          </a:p>
          <a:p>
            <a:endParaRPr lang="en-US" dirty="0"/>
          </a:p>
          <a:p>
            <a:pPr marL="342900" indent="-342900">
              <a:buFont typeface="Arial" panose="020B0604020202020204" pitchFamily="34" charset="0"/>
              <a:buChar char="•"/>
            </a:pPr>
            <a:endParaRPr lang="en-US" dirty="0"/>
          </a:p>
          <a:p>
            <a:endParaRPr lang="en-IN" dirty="0"/>
          </a:p>
        </p:txBody>
      </p:sp>
      <p:sp>
        <p:nvSpPr>
          <p:cNvPr id="4" name="Title 3"/>
          <p:cNvSpPr>
            <a:spLocks noGrp="1"/>
          </p:cNvSpPr>
          <p:nvPr>
            <p:ph type="title"/>
          </p:nvPr>
        </p:nvSpPr>
        <p:spPr/>
        <p:txBody>
          <a:bodyPr/>
          <a:lstStyle/>
          <a:p>
            <a:r>
              <a:rPr lang="en-US" dirty="0"/>
              <a:t>References</a:t>
            </a:r>
            <a:br>
              <a:rPr lang="en-IN" dirty="0"/>
            </a:br>
            <a:endParaRPr lang="en-IN" dirty="0"/>
          </a:p>
        </p:txBody>
      </p:sp>
    </p:spTree>
    <p:extLst>
      <p:ext uri="{BB962C8B-B14F-4D97-AF65-F5344CB8AC3E}">
        <p14:creationId xmlns:p14="http://schemas.microsoft.com/office/powerpoint/2010/main" val="168216697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070114" y="2435087"/>
            <a:ext cx="10881209" cy="1219200"/>
          </a:xfrm>
        </p:spPr>
        <p:txBody>
          <a:bodyPr/>
          <a:lstStyle/>
          <a:p>
            <a:r>
              <a:rPr lang="en-US" dirty="0"/>
              <a:t>Revision slides </a:t>
            </a:r>
            <a:br>
              <a:rPr lang="en-IN" dirty="0"/>
            </a:br>
            <a:endParaRPr lang="en-IN" dirty="0"/>
          </a:p>
        </p:txBody>
      </p:sp>
    </p:spTree>
    <p:extLst>
      <p:ext uri="{BB962C8B-B14F-4D97-AF65-F5344CB8AC3E}">
        <p14:creationId xmlns:p14="http://schemas.microsoft.com/office/powerpoint/2010/main" val="236191030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CFF3C0F-459A-E843-2CEF-C2FA31AAA4F5}"/>
              </a:ext>
            </a:extLst>
          </p:cNvPr>
          <p:cNvSpPr>
            <a:spLocks noGrp="1"/>
          </p:cNvSpPr>
          <p:nvPr>
            <p:ph idx="10"/>
          </p:nvPr>
        </p:nvSpPr>
        <p:spPr/>
        <p:txBody>
          <a:bodyPr/>
          <a:lstStyle/>
          <a:p>
            <a:pPr marL="285750" indent="-285750">
              <a:buFont typeface="Arial" panose="020B0604020202020204" pitchFamily="34" charset="0"/>
              <a:buChar char="•"/>
            </a:pPr>
            <a:r>
              <a:rPr lang="en-IN" sz="2000" b="1" dirty="0"/>
              <a:t>Sinusoidal (Original Transformer)</a:t>
            </a:r>
          </a:p>
          <a:p>
            <a:pPr marL="742950" lvl="1" indent="-285750">
              <a:buFont typeface="Arial" panose="020B0604020202020204" pitchFamily="34" charset="0"/>
              <a:buChar char="•"/>
            </a:pPr>
            <a:r>
              <a:rPr lang="en-IN" sz="2000" dirty="0"/>
              <a:t>Proposed by Vaswani et al. (2017), each position gets a fixed vector using alternating sine and cosine functions across dimensions</a:t>
            </a:r>
          </a:p>
          <a:p>
            <a:pPr marL="742950" lvl="1" indent="-285750">
              <a:buFont typeface="Arial" panose="020B0604020202020204" pitchFamily="34" charset="0"/>
              <a:buChar char="•"/>
            </a:pPr>
            <a:endParaRPr lang="en-US" sz="2000" dirty="0"/>
          </a:p>
          <a:p>
            <a:pPr marL="742950" lvl="1" indent="-285750">
              <a:buFont typeface="Arial" panose="020B0604020202020204" pitchFamily="34" charset="0"/>
              <a:buChar char="•"/>
            </a:pPr>
            <a:endParaRPr lang="en-US" sz="2000" dirty="0"/>
          </a:p>
          <a:p>
            <a:pPr marL="742950" lvl="1" indent="-285750">
              <a:buFont typeface="Arial" panose="020B0604020202020204" pitchFamily="34" charset="0"/>
              <a:buChar char="•"/>
            </a:pPr>
            <a:endParaRPr lang="en-US" sz="2000" dirty="0"/>
          </a:p>
          <a:p>
            <a:pPr marL="742950" lvl="1" indent="-285750">
              <a:buFont typeface="Arial" panose="020B0604020202020204" pitchFamily="34" charset="0"/>
              <a:buChar char="•"/>
            </a:pPr>
            <a:endParaRPr lang="en-US" sz="2000" dirty="0"/>
          </a:p>
          <a:p>
            <a:pPr marL="742950" lvl="1" indent="-285750">
              <a:buFont typeface="Arial" panose="020B0604020202020204" pitchFamily="34" charset="0"/>
              <a:buChar char="•"/>
            </a:pPr>
            <a:endParaRPr lang="en-US" sz="2000" dirty="0"/>
          </a:p>
          <a:p>
            <a:pPr marL="742950" lvl="1" indent="-285750">
              <a:buFont typeface="Arial" panose="020B0604020202020204" pitchFamily="34" charset="0"/>
              <a:buChar char="•"/>
            </a:pPr>
            <a:endParaRPr lang="en-US" sz="2000" dirty="0"/>
          </a:p>
          <a:p>
            <a:pPr marL="742950" lvl="1" indent="-285750">
              <a:buFont typeface="Arial" panose="020B0604020202020204" pitchFamily="34" charset="0"/>
              <a:buChar char="•"/>
            </a:pPr>
            <a:endParaRPr lang="en-US" sz="2000" dirty="0"/>
          </a:p>
          <a:p>
            <a:pPr marL="742950" lvl="1" indent="-285750">
              <a:buFont typeface="Arial" panose="020B0604020202020204" pitchFamily="34" charset="0"/>
              <a:buChar char="•"/>
            </a:pPr>
            <a:endParaRPr lang="en-US" sz="2000" dirty="0"/>
          </a:p>
          <a:p>
            <a:pPr marL="742950" lvl="1" indent="-285750">
              <a:buFont typeface="Arial" panose="020B0604020202020204" pitchFamily="34" charset="0"/>
              <a:buChar char="•"/>
            </a:pPr>
            <a:r>
              <a:rPr lang="en-US" sz="2000" dirty="0"/>
              <a:t>No learned parameters — fully deterministic and fixed</a:t>
            </a:r>
          </a:p>
          <a:p>
            <a:pPr marL="742950" lvl="1" indent="-285750">
              <a:buFont typeface="Arial" panose="020B0604020202020204" pitchFamily="34" charset="0"/>
              <a:buChar char="•"/>
            </a:pPr>
            <a:r>
              <a:rPr lang="en-US" sz="2000" dirty="0"/>
              <a:t>Limitation: positions beyond training length have never been seen</a:t>
            </a:r>
            <a:endParaRPr lang="en-IN" dirty="0"/>
          </a:p>
        </p:txBody>
      </p:sp>
      <p:sp>
        <p:nvSpPr>
          <p:cNvPr id="3" name="Title 2">
            <a:extLst>
              <a:ext uri="{FF2B5EF4-FFF2-40B4-BE49-F238E27FC236}">
                <a16:creationId xmlns:a16="http://schemas.microsoft.com/office/drawing/2014/main" id="{8DE2EF9A-7D30-7564-6CBB-25BC7D4F65FF}"/>
              </a:ext>
            </a:extLst>
          </p:cNvPr>
          <p:cNvSpPr>
            <a:spLocks noGrp="1"/>
          </p:cNvSpPr>
          <p:nvPr>
            <p:ph type="title"/>
          </p:nvPr>
        </p:nvSpPr>
        <p:spPr/>
        <p:txBody>
          <a:bodyPr/>
          <a:lstStyle/>
          <a:p>
            <a:r>
              <a:rPr lang="en-IN" dirty="0"/>
              <a:t>Absolute Position Embedding</a:t>
            </a:r>
          </a:p>
        </p:txBody>
      </p:sp>
      <p:pic>
        <p:nvPicPr>
          <p:cNvPr id="4" name="Picture 3"/>
          <p:cNvPicPr>
            <a:picLocks noChangeAspect="1"/>
          </p:cNvPicPr>
          <p:nvPr/>
        </p:nvPicPr>
        <p:blipFill>
          <a:blip r:embed="rId2"/>
          <a:stretch>
            <a:fillRect/>
          </a:stretch>
        </p:blipFill>
        <p:spPr>
          <a:xfrm>
            <a:off x="1354161" y="3053300"/>
            <a:ext cx="6643326" cy="751400"/>
          </a:xfrm>
          <a:prstGeom prst="rect">
            <a:avLst/>
          </a:prstGeom>
        </p:spPr>
      </p:pic>
      <p:sp>
        <p:nvSpPr>
          <p:cNvPr id="5" name="Rectangle 4"/>
          <p:cNvSpPr/>
          <p:nvPr/>
        </p:nvSpPr>
        <p:spPr>
          <a:xfrm>
            <a:off x="1248163" y="3915238"/>
            <a:ext cx="8586717" cy="923330"/>
          </a:xfrm>
          <a:prstGeom prst="rect">
            <a:avLst/>
          </a:prstGeom>
        </p:spPr>
        <p:txBody>
          <a:bodyPr wrap="square">
            <a:spAutoFit/>
          </a:bodyPr>
          <a:lstStyle/>
          <a:p>
            <a:pPr lvl="2"/>
            <a:r>
              <a:rPr lang="en-US" dirty="0" err="1"/>
              <a:t>pos</a:t>
            </a:r>
            <a:r>
              <a:rPr lang="en-US" dirty="0"/>
              <a:t> = position of word in sequence (e.g., 0, 1, 2, ...)</a:t>
            </a:r>
          </a:p>
          <a:p>
            <a:pPr lvl="2"/>
            <a:r>
              <a:rPr lang="en-US" dirty="0" err="1"/>
              <a:t>i</a:t>
            </a:r>
            <a:r>
              <a:rPr lang="en-US" dirty="0"/>
              <a:t> = index of dimension within embedding vector (e.g., 0, 1, 2, ... up to </a:t>
            </a:r>
            <a:r>
              <a:rPr lang="en-US" dirty="0" err="1"/>
              <a:t>d</a:t>
            </a:r>
            <a:r>
              <a:rPr lang="en-US" baseline="-25000" dirty="0" err="1"/>
              <a:t>model</a:t>
            </a:r>
            <a:r>
              <a:rPr lang="en-US" baseline="-25000" dirty="0"/>
              <a:t> </a:t>
            </a:r>
            <a:r>
              <a:rPr lang="en-US" dirty="0"/>
              <a:t>-1)</a:t>
            </a:r>
          </a:p>
          <a:p>
            <a:pPr lvl="2"/>
            <a:r>
              <a:rPr lang="en-US" dirty="0" err="1"/>
              <a:t>d</a:t>
            </a:r>
            <a:r>
              <a:rPr lang="en-US" baseline="-25000" dirty="0" err="1"/>
              <a:t>model</a:t>
            </a:r>
            <a:r>
              <a:rPr lang="en-US" dirty="0"/>
              <a:t> = size of embedding vector (e.g., 512)</a:t>
            </a:r>
          </a:p>
        </p:txBody>
      </p:sp>
    </p:spTree>
    <p:extLst>
      <p:ext uri="{BB962C8B-B14F-4D97-AF65-F5344CB8AC3E}">
        <p14:creationId xmlns:p14="http://schemas.microsoft.com/office/powerpoint/2010/main" val="368450149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2" descr="https://machinelearningmastery.com/wp-content/uploads/2022/01/PE3.png"/>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tretch>
            <a:fillRect/>
          </a:stretch>
        </p:blipFill>
        <p:spPr bwMode="auto">
          <a:xfrm>
            <a:off x="136477" y="1852739"/>
            <a:ext cx="6990196" cy="4138628"/>
          </a:xfrm>
          <a:prstGeom prst="rect">
            <a:avLst/>
          </a:prstGeom>
          <a:noFill/>
          <a:ln>
            <a:solidFill>
              <a:srgbClr val="002060"/>
            </a:solidFill>
          </a:ln>
          <a:extLst>
            <a:ext uri="{909E8E84-426E-40DD-AFC4-6F175D3DCCD1}">
              <a14:hiddenFill xmlns:a14="http://schemas.microsoft.com/office/drawing/2010/main">
                <a:solidFill>
                  <a:srgbClr val="FFFFFF"/>
                </a:solidFill>
              </a14:hiddenFill>
            </a:ext>
          </a:extLst>
        </p:spPr>
      </p:pic>
      <p:sp>
        <p:nvSpPr>
          <p:cNvPr id="23" name="Content Placeholder 22"/>
          <p:cNvSpPr>
            <a:spLocks noGrp="1"/>
          </p:cNvSpPr>
          <p:nvPr>
            <p:ph sz="quarter" idx="10"/>
          </p:nvPr>
        </p:nvSpPr>
        <p:spPr>
          <a:xfrm>
            <a:off x="392753" y="75859"/>
            <a:ext cx="10238854" cy="1143000"/>
          </a:xfrm>
        </p:spPr>
        <p:txBody>
          <a:bodyPr>
            <a:normAutofit/>
          </a:bodyPr>
          <a:lstStyle/>
          <a:p>
            <a:r>
              <a:rPr lang="en-US" dirty="0"/>
              <a:t>Transformers</a:t>
            </a:r>
          </a:p>
          <a:p>
            <a:r>
              <a:rPr lang="en-US" sz="2400" spc="5" dirty="0">
                <a:solidFill>
                  <a:srgbClr val="0070C0"/>
                </a:solidFill>
                <a:latin typeface="Calibri"/>
                <a:cs typeface="Calibri"/>
              </a:rPr>
              <a:t>Position representation vectors through sinusoids</a:t>
            </a:r>
            <a:endParaRPr lang="en-IN" sz="2400" spc="5" dirty="0">
              <a:solidFill>
                <a:srgbClr val="0070C0"/>
              </a:solidFill>
              <a:latin typeface="Calibri"/>
              <a:cs typeface="Calibri"/>
            </a:endParaRPr>
          </a:p>
        </p:txBody>
      </p:sp>
      <p:sp>
        <p:nvSpPr>
          <p:cNvPr id="3" name="object 3"/>
          <p:cNvSpPr txBox="1"/>
          <p:nvPr/>
        </p:nvSpPr>
        <p:spPr>
          <a:xfrm>
            <a:off x="136477" y="1342990"/>
            <a:ext cx="11075670" cy="382797"/>
          </a:xfrm>
          <a:prstGeom prst="rect">
            <a:avLst/>
          </a:prstGeom>
        </p:spPr>
        <p:txBody>
          <a:bodyPr vert="horz" wrap="square" lIns="0" tIns="13335" rIns="0" bIns="0" rtlCol="0">
            <a:spAutoFit/>
          </a:bodyPr>
          <a:lstStyle/>
          <a:p>
            <a:pPr marL="50800">
              <a:lnSpc>
                <a:spcPct val="100000"/>
              </a:lnSpc>
              <a:spcBef>
                <a:spcPts val="105"/>
              </a:spcBef>
              <a:buClr>
                <a:srgbClr val="8B1515"/>
              </a:buClr>
              <a:tabLst>
                <a:tab pos="393065" algn="l"/>
                <a:tab pos="393700" algn="l"/>
              </a:tabLst>
            </a:pPr>
            <a:r>
              <a:rPr lang="en-US" sz="2400" dirty="0"/>
              <a:t>Each position/index is mapped to a vector</a:t>
            </a:r>
            <a:endParaRPr sz="2300" dirty="0">
              <a:latin typeface="Calibri"/>
              <a:cs typeface="Calibri"/>
            </a:endParaRPr>
          </a:p>
        </p:txBody>
      </p:sp>
      <p:sp>
        <p:nvSpPr>
          <p:cNvPr id="21" name="Rectangle 20"/>
          <p:cNvSpPr/>
          <p:nvPr/>
        </p:nvSpPr>
        <p:spPr>
          <a:xfrm>
            <a:off x="0" y="6563091"/>
            <a:ext cx="7516765" cy="261610"/>
          </a:xfrm>
          <a:prstGeom prst="rect">
            <a:avLst/>
          </a:prstGeom>
        </p:spPr>
        <p:txBody>
          <a:bodyPr wrap="square">
            <a:spAutoFit/>
          </a:bodyPr>
          <a:lstStyle/>
          <a:p>
            <a:r>
              <a:rPr lang="en-IN" sz="1100" dirty="0">
                <a:hlinkClick r:id="rId3"/>
              </a:rPr>
              <a:t>Image credit: https://machinelearningmastery.com/a-gentle-introduction-to-positional-encoding-in-transformer-models-part-1/</a:t>
            </a:r>
            <a:endParaRPr lang="en-IN" sz="1100" dirty="0"/>
          </a:p>
        </p:txBody>
      </p:sp>
      <p:pic>
        <p:nvPicPr>
          <p:cNvPr id="22" name="Picture 21"/>
          <p:cNvPicPr>
            <a:picLocks noChangeAspect="1"/>
          </p:cNvPicPr>
          <p:nvPr/>
        </p:nvPicPr>
        <p:blipFill>
          <a:blip r:embed="rId4"/>
          <a:stretch>
            <a:fillRect/>
          </a:stretch>
        </p:blipFill>
        <p:spPr>
          <a:xfrm>
            <a:off x="7400285" y="1852739"/>
            <a:ext cx="4221823" cy="1132235"/>
          </a:xfrm>
          <a:prstGeom prst="rect">
            <a:avLst/>
          </a:prstGeom>
          <a:ln>
            <a:solidFill>
              <a:srgbClr val="C00000"/>
            </a:solidFill>
          </a:ln>
        </p:spPr>
      </p:pic>
      <p:sp>
        <p:nvSpPr>
          <p:cNvPr id="2" name="Rectangle 1"/>
          <p:cNvSpPr/>
          <p:nvPr/>
        </p:nvSpPr>
        <p:spPr>
          <a:xfrm>
            <a:off x="7555076" y="3020420"/>
            <a:ext cx="4636924" cy="3477875"/>
          </a:xfrm>
          <a:prstGeom prst="rect">
            <a:avLst/>
          </a:prstGeom>
        </p:spPr>
        <p:txBody>
          <a:bodyPr wrap="square">
            <a:spAutoFit/>
          </a:bodyPr>
          <a:lstStyle/>
          <a:p>
            <a:r>
              <a:rPr lang="en-US" sz="2000" dirty="0">
                <a:solidFill>
                  <a:srgbClr val="0070C0"/>
                </a:solidFill>
                <a:latin typeface="Cambria" panose="02040503050406030204" pitchFamily="18" charset="0"/>
                <a:ea typeface="Cambria" panose="02040503050406030204" pitchFamily="18" charset="0"/>
              </a:rPr>
              <a:t> d= Dimension of the output embedding space</a:t>
            </a:r>
          </a:p>
          <a:p>
            <a:endParaRPr lang="en-US" sz="2000" dirty="0">
              <a:solidFill>
                <a:srgbClr val="0070C0"/>
              </a:solidFill>
              <a:latin typeface="Cambria" panose="02040503050406030204" pitchFamily="18" charset="0"/>
              <a:ea typeface="Cambria" panose="02040503050406030204" pitchFamily="18" charset="0"/>
            </a:endParaRPr>
          </a:p>
          <a:p>
            <a:r>
              <a:rPr lang="en-US" sz="2000" dirty="0">
                <a:solidFill>
                  <a:srgbClr val="0070C0"/>
                </a:solidFill>
                <a:latin typeface="Cambria" panose="02040503050406030204" pitchFamily="18" charset="0"/>
                <a:ea typeface="Cambria" panose="02040503050406030204" pitchFamily="18" charset="0"/>
              </a:rPr>
              <a:t> </a:t>
            </a:r>
            <a:r>
              <a:rPr lang="en-US" sz="2000" dirty="0" err="1">
                <a:solidFill>
                  <a:srgbClr val="0070C0"/>
                </a:solidFill>
                <a:latin typeface="Cambria" panose="02040503050406030204" pitchFamily="18" charset="0"/>
                <a:ea typeface="Cambria" panose="02040503050406030204" pitchFamily="18" charset="0"/>
              </a:rPr>
              <a:t>i</a:t>
            </a:r>
            <a:r>
              <a:rPr lang="en-US" sz="2000" dirty="0">
                <a:solidFill>
                  <a:srgbClr val="0070C0"/>
                </a:solidFill>
                <a:latin typeface="Cambria" panose="02040503050406030204" pitchFamily="18" charset="0"/>
                <a:ea typeface="Cambria" panose="02040503050406030204" pitchFamily="18" charset="0"/>
              </a:rPr>
              <a:t>= Used for mapping to column indices 0≤i&lt;d/2, with a single value of i maps to both sine and cosine functions</a:t>
            </a:r>
          </a:p>
          <a:p>
            <a:endParaRPr lang="en-US" sz="2000" dirty="0">
              <a:solidFill>
                <a:srgbClr val="0070C0"/>
              </a:solidFill>
              <a:latin typeface="Cambria" panose="02040503050406030204" pitchFamily="18" charset="0"/>
              <a:ea typeface="Cambria" panose="02040503050406030204" pitchFamily="18" charset="0"/>
            </a:endParaRPr>
          </a:p>
          <a:p>
            <a:r>
              <a:rPr lang="en-US" sz="2000" dirty="0"/>
              <a:t>A combination of sine and cosine functions with differing frequencies was used in the original transformer work.</a:t>
            </a:r>
            <a:endParaRPr lang="en-IN" sz="2000" dirty="0">
              <a:solidFill>
                <a:srgbClr val="0070C0"/>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89193081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p:txBody>
              <a:bodyPr/>
              <a:lstStyle/>
              <a:p>
                <a:r>
                  <a:rPr lang="en-IN" dirty="0"/>
                  <a:t>"a" at </a:t>
                </a:r>
                <a:r>
                  <a:rPr lang="en-IN" dirty="0" err="1"/>
                  <a:t>pos</a:t>
                </a:r>
                <a:r>
                  <a:rPr lang="en-IN" dirty="0"/>
                  <a:t> </a:t>
                </a:r>
                <a:r>
                  <a:rPr lang="en-IN" b="1" dirty="0"/>
                  <a:t>=2</a:t>
                </a:r>
                <a:r>
                  <a:rPr lang="en-IN" dirty="0"/>
                  <a:t> for all 4 dimensions (</a:t>
                </a:r>
                <a:r>
                  <a:rPr lang="en-IN" dirty="0" err="1"/>
                  <a:t>d</a:t>
                </a:r>
                <a:r>
                  <a:rPr lang="en-IN" baseline="-25000" dirty="0" err="1"/>
                  <a:t>model</a:t>
                </a:r>
                <a:r>
                  <a:rPr lang="en-IN" dirty="0"/>
                  <a:t>=4)</a:t>
                </a:r>
              </a:p>
              <a:p>
                <a:r>
                  <a:rPr lang="en-IN" b="1" dirty="0"/>
                  <a:t>For </a:t>
                </a:r>
                <a:r>
                  <a:rPr lang="en-IN" b="1" dirty="0" err="1"/>
                  <a:t>i</a:t>
                </a:r>
                <a:r>
                  <a:rPr lang="en-IN" b="1" dirty="0"/>
                  <a:t>=0 (Dimension 0 and 1):</a:t>
                </a:r>
              </a:p>
              <a:p>
                <a:pPr/>
                <a:r>
                  <a:rPr lang="en-IN" b="1" dirty="0"/>
                  <a:t> </a:t>
                </a:r>
                <a:r>
                  <a:rPr lang="en-IN" dirty="0"/>
                  <a:t>2i=0</a:t>
                </a:r>
                <a:br>
                  <a:rPr lang="en-IN" dirty="0"/>
                </a:b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𝑃𝐸</m:t>
                          </m:r>
                        </m:e>
                        <m:sub>
                          <m:d>
                            <m:dPr>
                              <m:ctrlPr>
                                <a:rPr lang="en-US" b="0" i="1" smtClean="0">
                                  <a:latin typeface="Cambria Math" panose="02040503050406030204" pitchFamily="18" charset="0"/>
                                </a:rPr>
                              </m:ctrlPr>
                            </m:dPr>
                            <m:e>
                              <m:r>
                                <a:rPr lang="en-US" b="0" i="1" smtClean="0">
                                  <a:latin typeface="Cambria Math" panose="02040503050406030204" pitchFamily="18" charset="0"/>
                                </a:rPr>
                                <m:t>2</m:t>
                              </m:r>
                              <m:r>
                                <a:rPr lang="en-US" b="0" i="1" smtClean="0">
                                  <a:latin typeface="Cambria Math" panose="02040503050406030204" pitchFamily="18" charset="0"/>
                                </a:rPr>
                                <m:t>,</m:t>
                              </m:r>
                              <m:r>
                                <a:rPr lang="en-US" b="0" i="1" smtClean="0">
                                  <a:latin typeface="Cambria Math" panose="02040503050406030204" pitchFamily="18" charset="0"/>
                                </a:rPr>
                                <m:t>0</m:t>
                              </m:r>
                            </m:e>
                          </m:d>
                        </m:sub>
                      </m:sSub>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sin</m:t>
                          </m:r>
                        </m:fName>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2</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10000</m:t>
                                      </m:r>
                                    </m:e>
                                    <m:sup>
                                      <m:f>
                                        <m:fPr>
                                          <m:type m:val="skw"/>
                                          <m:ctrlPr>
                                            <a:rPr lang="en-US" b="0" i="1" smtClean="0">
                                              <a:latin typeface="Cambria Math" panose="02040503050406030204" pitchFamily="18" charset="0"/>
                                            </a:rPr>
                                          </m:ctrlPr>
                                        </m:fPr>
                                        <m:num>
                                          <m:r>
                                            <a:rPr lang="en-US" b="0" i="1" smtClean="0">
                                              <a:latin typeface="Cambria Math" panose="02040503050406030204" pitchFamily="18" charset="0"/>
                                            </a:rPr>
                                            <m:t>0</m:t>
                                          </m:r>
                                        </m:num>
                                        <m:den>
                                          <m:r>
                                            <a:rPr lang="en-US" b="0" i="1" smtClean="0">
                                              <a:latin typeface="Cambria Math" panose="02040503050406030204" pitchFamily="18" charset="0"/>
                                            </a:rPr>
                                            <m:t>4</m:t>
                                          </m:r>
                                        </m:den>
                                      </m:f>
                                    </m:sup>
                                  </m:sSup>
                                </m:den>
                              </m:f>
                            </m:e>
                          </m:d>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sin</m:t>
                              </m:r>
                            </m:fName>
                            <m:e>
                              <m:d>
                                <m:dPr>
                                  <m:ctrlPr>
                                    <a:rPr lang="en-US" b="0" i="1" smtClean="0">
                                      <a:latin typeface="Cambria Math" panose="02040503050406030204" pitchFamily="18" charset="0"/>
                                    </a:rPr>
                                  </m:ctrlPr>
                                </m:dPr>
                                <m:e>
                                  <m:f>
                                    <m:fPr>
                                      <m:type m:val="skw"/>
                                      <m:ctrlPr>
                                        <a:rPr lang="en-US" b="0" i="1" smtClean="0">
                                          <a:latin typeface="Cambria Math" panose="02040503050406030204" pitchFamily="18" charset="0"/>
                                        </a:rPr>
                                      </m:ctrlPr>
                                    </m:fPr>
                                    <m:num>
                                      <m:r>
                                        <a:rPr lang="en-US" b="0" i="1" smtClean="0">
                                          <a:latin typeface="Cambria Math" panose="02040503050406030204" pitchFamily="18" charset="0"/>
                                        </a:rPr>
                                        <m:t>2</m:t>
                                      </m:r>
                                    </m:num>
                                    <m:den>
                                      <m:r>
                                        <a:rPr lang="en-US" b="0" i="1" smtClean="0">
                                          <a:latin typeface="Cambria Math" panose="02040503050406030204" pitchFamily="18" charset="0"/>
                                        </a:rPr>
                                        <m:t>1</m:t>
                                      </m:r>
                                    </m:den>
                                  </m:f>
                                </m:e>
                              </m:d>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sin</m:t>
                                  </m:r>
                                </m:fName>
                                <m:e>
                                  <m:d>
                                    <m:dPr>
                                      <m:ctrlPr>
                                        <a:rPr lang="en-US" b="0" i="1" smtClean="0">
                                          <a:latin typeface="Cambria Math" panose="02040503050406030204" pitchFamily="18" charset="0"/>
                                        </a:rPr>
                                      </m:ctrlPr>
                                    </m:dPr>
                                    <m:e>
                                      <m:r>
                                        <a:rPr lang="en-US" b="0" i="1" smtClean="0">
                                          <a:latin typeface="Cambria Math" panose="02040503050406030204" pitchFamily="18" charset="0"/>
                                        </a:rPr>
                                        <m:t>2</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0</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91</m:t>
                                  </m:r>
                                </m:e>
                              </m:func>
                            </m:e>
                          </m:func>
                        </m:e>
                      </m:func>
                    </m:oMath>
                  </m:oMathPara>
                </a14:m>
                <a:endParaRPr lang="en-IN" dirty="0"/>
              </a:p>
              <a:p>
                <a:r>
                  <a:rPr lang="en-US" dirty="0"/>
                  <a:t>2i+1=1</a:t>
                </a:r>
              </a:p>
              <a:p>
                <a:pPr algn="ctr"/>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𝑃𝐸</m:t>
                        </m:r>
                      </m:e>
                      <m:sub>
                        <m:d>
                          <m:dPr>
                            <m:ctrlPr>
                              <a:rPr lang="en-US" i="1">
                                <a:latin typeface="Cambria Math" panose="02040503050406030204" pitchFamily="18" charset="0"/>
                              </a:rPr>
                            </m:ctrlPr>
                          </m:dPr>
                          <m:e>
                            <m:r>
                              <a:rPr lang="en-US" i="1">
                                <a:latin typeface="Cambria Math" panose="02040503050406030204" pitchFamily="18" charset="0"/>
                              </a:rPr>
                              <m:t>2</m:t>
                            </m:r>
                            <m:r>
                              <a:rPr lang="en-US" i="1">
                                <a:latin typeface="Cambria Math" panose="02040503050406030204" pitchFamily="18" charset="0"/>
                              </a:rPr>
                              <m:t>,</m:t>
                            </m:r>
                            <m:r>
                              <a:rPr lang="en-US" b="0" i="1" smtClean="0">
                                <a:latin typeface="Cambria Math" panose="02040503050406030204" pitchFamily="18" charset="0"/>
                              </a:rPr>
                              <m:t>1</m:t>
                            </m:r>
                          </m:e>
                        </m:d>
                      </m:sub>
                    </m:sSub>
                    <m:r>
                      <a:rPr lang="en-US" i="1">
                        <a:latin typeface="Cambria Math" panose="02040503050406030204" pitchFamily="18" charset="0"/>
                      </a:rPr>
                      <m:t>=</m:t>
                    </m:r>
                    <m:func>
                      <m:funcPr>
                        <m:ctrlPr>
                          <a:rPr lang="en-US" i="1" smtClean="0">
                            <a:latin typeface="Cambria Math" panose="02040503050406030204" pitchFamily="18" charset="0"/>
                          </a:rPr>
                        </m:ctrlPr>
                      </m:funcPr>
                      <m:fName>
                        <m:r>
                          <m:rPr>
                            <m:sty m:val="p"/>
                          </m:rPr>
                          <a:rPr lang="en-US" i="0" smtClean="0">
                            <a:latin typeface="Cambria Math" panose="02040503050406030204" pitchFamily="18" charset="0"/>
                          </a:rPr>
                          <m:t>cos</m:t>
                        </m:r>
                      </m:fName>
                      <m:e>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2</m:t>
                                </m:r>
                              </m:num>
                              <m:den>
                                <m:sSup>
                                  <m:sSupPr>
                                    <m:ctrlPr>
                                      <a:rPr lang="en-US" i="1">
                                        <a:latin typeface="Cambria Math" panose="02040503050406030204" pitchFamily="18" charset="0"/>
                                      </a:rPr>
                                    </m:ctrlPr>
                                  </m:sSupPr>
                                  <m:e>
                                    <m:r>
                                      <a:rPr lang="en-US" i="1">
                                        <a:latin typeface="Cambria Math" panose="02040503050406030204" pitchFamily="18" charset="0"/>
                                      </a:rPr>
                                      <m:t>10000</m:t>
                                    </m:r>
                                  </m:e>
                                  <m:sup>
                                    <m:f>
                                      <m:fPr>
                                        <m:type m:val="skw"/>
                                        <m:ctrlPr>
                                          <a:rPr lang="en-US" i="1">
                                            <a:latin typeface="Cambria Math" panose="02040503050406030204" pitchFamily="18" charset="0"/>
                                          </a:rPr>
                                        </m:ctrlPr>
                                      </m:fPr>
                                      <m:num>
                                        <m:r>
                                          <a:rPr lang="en-US" i="1">
                                            <a:latin typeface="Cambria Math" panose="02040503050406030204" pitchFamily="18" charset="0"/>
                                          </a:rPr>
                                          <m:t>0</m:t>
                                        </m:r>
                                      </m:num>
                                      <m:den>
                                        <m:r>
                                          <a:rPr lang="en-US" i="1">
                                            <a:latin typeface="Cambria Math" panose="02040503050406030204" pitchFamily="18" charset="0"/>
                                          </a:rPr>
                                          <m:t>4</m:t>
                                        </m:r>
                                      </m:den>
                                    </m:f>
                                  </m:sup>
                                </m:sSup>
                              </m:den>
                            </m:f>
                          </m:e>
                        </m:d>
                        <m:r>
                          <a:rPr lang="en-US" i="1">
                            <a:latin typeface="Cambria Math" panose="02040503050406030204" pitchFamily="18" charset="0"/>
                          </a:rPr>
                          <m:t>=</m:t>
                        </m:r>
                        <m:func>
                          <m:funcPr>
                            <m:ctrlPr>
                              <a:rPr lang="en-US" i="1">
                                <a:latin typeface="Cambria Math" panose="02040503050406030204" pitchFamily="18" charset="0"/>
                              </a:rPr>
                            </m:ctrlPr>
                          </m:funcPr>
                          <m:fName>
                            <m:r>
                              <m:rPr>
                                <m:sty m:val="p"/>
                              </m:rPr>
                              <a:rPr lang="en-US">
                                <a:latin typeface="Cambria Math" panose="02040503050406030204" pitchFamily="18" charset="0"/>
                              </a:rPr>
                              <m:t>cos</m:t>
                            </m:r>
                          </m:fName>
                          <m:e>
                            <m:d>
                              <m:dPr>
                                <m:ctrlPr>
                                  <a:rPr lang="en-US" i="1">
                                    <a:latin typeface="Cambria Math" panose="02040503050406030204" pitchFamily="18" charset="0"/>
                                  </a:rPr>
                                </m:ctrlPr>
                              </m:dPr>
                              <m:e>
                                <m:f>
                                  <m:fPr>
                                    <m:type m:val="skw"/>
                                    <m:ctrlPr>
                                      <a:rPr lang="en-US" i="1">
                                        <a:latin typeface="Cambria Math" panose="02040503050406030204" pitchFamily="18" charset="0"/>
                                      </a:rPr>
                                    </m:ctrlPr>
                                  </m:fPr>
                                  <m:num>
                                    <m:r>
                                      <a:rPr lang="en-US" i="1">
                                        <a:latin typeface="Cambria Math" panose="02040503050406030204" pitchFamily="18" charset="0"/>
                                      </a:rPr>
                                      <m:t>2</m:t>
                                    </m:r>
                                  </m:num>
                                  <m:den>
                                    <m:r>
                                      <a:rPr lang="en-US" i="1">
                                        <a:latin typeface="Cambria Math" panose="02040503050406030204" pitchFamily="18" charset="0"/>
                                      </a:rPr>
                                      <m:t>1</m:t>
                                    </m:r>
                                  </m:den>
                                </m:f>
                              </m:e>
                            </m:d>
                            <m:r>
                              <a:rPr lang="en-US" i="1">
                                <a:latin typeface="Cambria Math" panose="02040503050406030204" pitchFamily="18" charset="0"/>
                              </a:rPr>
                              <m:t>=</m:t>
                            </m:r>
                            <m:func>
                              <m:funcPr>
                                <m:ctrlPr>
                                  <a:rPr lang="en-US" i="1">
                                    <a:latin typeface="Cambria Math" panose="02040503050406030204" pitchFamily="18" charset="0"/>
                                  </a:rPr>
                                </m:ctrlPr>
                              </m:funcPr>
                              <m:fName>
                                <m:r>
                                  <a:rPr lang="en-US" i="1">
                                    <a:latin typeface="Cambria Math" panose="02040503050406030204" pitchFamily="18" charset="0"/>
                                  </a:rPr>
                                  <m:t>𝑐𝑜𝑠</m:t>
                                </m:r>
                              </m:fName>
                              <m:e>
                                <m:d>
                                  <m:dPr>
                                    <m:ctrlPr>
                                      <a:rPr lang="en-US" i="1">
                                        <a:latin typeface="Cambria Math" panose="02040503050406030204" pitchFamily="18" charset="0"/>
                                      </a:rPr>
                                    </m:ctrlPr>
                                  </m:dPr>
                                  <m:e>
                                    <m:r>
                                      <a:rPr lang="en-US" i="1">
                                        <a:latin typeface="Cambria Math" panose="02040503050406030204" pitchFamily="18" charset="0"/>
                                      </a:rPr>
                                      <m:t>2</m:t>
                                    </m:r>
                                  </m:e>
                                </m:d>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0</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42</m:t>
                                </m:r>
                              </m:e>
                            </m:func>
                          </m:e>
                        </m:func>
                      </m:e>
                    </m:func>
                  </m:oMath>
                </a14:m>
                <a:endParaRPr lang="en-IN" dirty="0"/>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blipFill rotWithShape="0">
                <a:blip r:embed="rId2"/>
                <a:stretch>
                  <a:fillRect l="-889" t="-1077"/>
                </a:stretch>
              </a:blipFill>
            </p:spPr>
            <p:txBody>
              <a:bodyPr/>
              <a:lstStyle/>
              <a:p>
                <a:r>
                  <a:rPr lang="en-IN">
                    <a:noFill/>
                  </a:rPr>
                  <a:t> </a:t>
                </a:r>
              </a:p>
            </p:txBody>
          </p:sp>
        </mc:Fallback>
      </mc:AlternateContent>
      <p:sp>
        <p:nvSpPr>
          <p:cNvPr id="3" name="Content Placeholder 2"/>
          <p:cNvSpPr>
            <a:spLocks noGrp="1"/>
          </p:cNvSpPr>
          <p:nvPr>
            <p:ph sz="quarter" idx="10"/>
          </p:nvPr>
        </p:nvSpPr>
        <p:spPr/>
        <p:txBody>
          <a:bodyPr/>
          <a:lstStyle/>
          <a:p>
            <a:r>
              <a:rPr lang="en-US" dirty="0"/>
              <a:t>Sample calculation</a:t>
            </a:r>
            <a:endParaRPr lang="en-IN" dirty="0"/>
          </a:p>
        </p:txBody>
      </p:sp>
      <p:pic>
        <p:nvPicPr>
          <p:cNvPr id="17" name="Picture 16"/>
          <p:cNvPicPr>
            <a:picLocks noChangeAspect="1"/>
          </p:cNvPicPr>
          <p:nvPr/>
        </p:nvPicPr>
        <p:blipFill>
          <a:blip r:embed="rId3"/>
          <a:stretch>
            <a:fillRect/>
          </a:stretch>
        </p:blipFill>
        <p:spPr>
          <a:xfrm>
            <a:off x="7720325" y="723900"/>
            <a:ext cx="4221823" cy="1132235"/>
          </a:xfrm>
          <a:prstGeom prst="rect">
            <a:avLst/>
          </a:prstGeom>
          <a:ln>
            <a:solidFill>
              <a:srgbClr val="C00000"/>
            </a:solidFill>
          </a:ln>
        </p:spPr>
      </p:pic>
    </p:spTree>
    <p:extLst>
      <p:ext uri="{BB962C8B-B14F-4D97-AF65-F5344CB8AC3E}">
        <p14:creationId xmlns:p14="http://schemas.microsoft.com/office/powerpoint/2010/main" val="344765659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_SLIDE_TYPE" val="6"/>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ags/tag3.xml><?xml version="1.0" encoding="utf-8"?>
<p:tagLst xmlns:a="http://schemas.openxmlformats.org/drawingml/2006/main" xmlns:r="http://schemas.openxmlformats.org/officeDocument/2006/relationships" xmlns:p="http://schemas.openxmlformats.org/presentationml/2006/main">
  <p:tag name="MM_SLIDE_TYPE" val="6"/>
</p:tagLst>
</file>

<file path=ppt/tags/tag4.xml><?xml version="1.0" encoding="utf-8"?>
<p:tagLst xmlns:a="http://schemas.openxmlformats.org/drawingml/2006/main" xmlns:r="http://schemas.openxmlformats.org/officeDocument/2006/relationships" xmlns:p="http://schemas.openxmlformats.org/presentationml/2006/main">
  <p:tag name="MM_SLIDE_TYPE" val="6"/>
</p:tagLst>
</file>

<file path=ppt/tags/tag5.xml><?xml version="1.0" encoding="utf-8"?>
<p:tagLst xmlns:a="http://schemas.openxmlformats.org/drawingml/2006/main" xmlns:r="http://schemas.openxmlformats.org/officeDocument/2006/relationships" xmlns:p="http://schemas.openxmlformats.org/presentationml/2006/main">
  <p:tag name="MM_SLIDE_TYPE" val="6"/>
</p:tagLst>
</file>

<file path=ppt/tags/tag6.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2958</Words>
  <Application>Microsoft Office PowerPoint</Application>
  <PresentationFormat>Widescreen</PresentationFormat>
  <Paragraphs>331</Paragraphs>
  <Slides>42</Slides>
  <Notes>17</Notes>
  <HiddenSlides>0</HiddenSlides>
  <MMClips>0</MMClips>
  <ScaleCrop>false</ScaleCrop>
  <HeadingPairs>
    <vt:vector size="6" baseType="variant">
      <vt:variant>
        <vt:lpstr>Fonts Used</vt:lpstr>
      </vt:variant>
      <vt:variant>
        <vt:i4>15</vt:i4>
      </vt:variant>
      <vt:variant>
        <vt:lpstr>Theme</vt:lpstr>
      </vt:variant>
      <vt:variant>
        <vt:i4>2</vt:i4>
      </vt:variant>
      <vt:variant>
        <vt:lpstr>Slide Titles</vt:lpstr>
      </vt:variant>
      <vt:variant>
        <vt:i4>42</vt:i4>
      </vt:variant>
    </vt:vector>
  </HeadingPairs>
  <TitlesOfParts>
    <vt:vector size="59" baseType="lpstr">
      <vt:lpstr>Arial</vt:lpstr>
      <vt:lpstr>Arial MT</vt:lpstr>
      <vt:lpstr>Calibri</vt:lpstr>
      <vt:lpstr>Calibri Light</vt:lpstr>
      <vt:lpstr>Cambria</vt:lpstr>
      <vt:lpstr>Cambria Math</vt:lpstr>
      <vt:lpstr>KaTeX_Main</vt:lpstr>
      <vt:lpstr>KaTeX_Math</vt:lpstr>
      <vt:lpstr>Montserrat</vt:lpstr>
      <vt:lpstr>pplxSerif</vt:lpstr>
      <vt:lpstr>Spectral</vt:lpstr>
      <vt:lpstr>Symbol</vt:lpstr>
      <vt:lpstr>Tahoma</vt:lpstr>
      <vt:lpstr>Times New Roman</vt:lpstr>
      <vt:lpstr>Wingdings</vt:lpstr>
      <vt:lpstr>1_Office Theme</vt:lpstr>
      <vt:lpstr>2_Office Theme</vt:lpstr>
      <vt:lpstr> </vt:lpstr>
      <vt:lpstr>Large Language Models for Generative AI</vt:lpstr>
      <vt:lpstr>Agenda</vt:lpstr>
      <vt:lpstr>Transformer architecture </vt:lpstr>
      <vt:lpstr>RMSNorm </vt:lpstr>
      <vt:lpstr>LayerNorm Vs RMSNorm</vt:lpstr>
      <vt:lpstr>Pre-Norm vs Post Norm</vt:lpstr>
      <vt:lpstr>PowerPoint Presentation</vt:lpstr>
      <vt:lpstr>QK-Norm </vt:lpstr>
      <vt:lpstr>Position Embedding </vt:lpstr>
      <vt:lpstr>Rotary Positional Embeddings (RoPE)</vt:lpstr>
      <vt:lpstr>RoPE</vt:lpstr>
      <vt:lpstr>RoPE</vt:lpstr>
      <vt:lpstr>RoPE</vt:lpstr>
      <vt:lpstr>Rotation example for RoPE</vt:lpstr>
      <vt:lpstr>RoPE</vt:lpstr>
      <vt:lpstr>No Positional Embeddings (NoPE)</vt:lpstr>
      <vt:lpstr>Advanced activations   GELU, Gated Linear Units (GLU), SwiGLU </vt:lpstr>
      <vt:lpstr>GELU (Gaussian Error Linear Unit)</vt:lpstr>
      <vt:lpstr>SiLU (Sigmoid Linear Unit) / Swish</vt:lpstr>
      <vt:lpstr>Regular FFNN module (2 layer MLP)</vt:lpstr>
      <vt:lpstr>FFNN with Gated Linear Unit (GLU)</vt:lpstr>
      <vt:lpstr>Mixture of Experts (MoE)</vt:lpstr>
      <vt:lpstr>Mixture of Experts (MoE)</vt:lpstr>
      <vt:lpstr>Architecture of Experts </vt:lpstr>
      <vt:lpstr>Mixture of Experts (MoE)</vt:lpstr>
      <vt:lpstr>Mixture of Experts (MoE)</vt:lpstr>
      <vt:lpstr>Mixture of Experts (MoE)</vt:lpstr>
      <vt:lpstr>Load Balancing: KeepTopK</vt:lpstr>
      <vt:lpstr>Load Balancing: Token Choice </vt:lpstr>
      <vt:lpstr>Load Balancing: Expert Capacity</vt:lpstr>
      <vt:lpstr>Sparse MoE</vt:lpstr>
      <vt:lpstr>PowerPoint Presentation</vt:lpstr>
      <vt:lpstr>MoE</vt:lpstr>
      <vt:lpstr>Sample Questions</vt:lpstr>
      <vt:lpstr>Sample Questions</vt:lpstr>
      <vt:lpstr>Sample Questions</vt:lpstr>
      <vt:lpstr>References </vt:lpstr>
      <vt:lpstr>Revision slides  </vt:lpstr>
      <vt:lpstr>Absolute Position Embedding</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2026-05-08T13:44:39Z</dcterms:created>
  <dcterms:modified xsi:type="dcterms:W3CDTF">2026-05-08T13:44:46Z</dcterms:modified>
</cp:coreProperties>
</file>