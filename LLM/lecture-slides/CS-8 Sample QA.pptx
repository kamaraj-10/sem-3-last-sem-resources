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sldIdLst>
    <p:sldId id="260" r:id="rId3"/>
    <p:sldId id="261" r:id="rId4"/>
    <p:sldId id="263" r:id="rId5"/>
    <p:sldId id="264" r:id="rId6"/>
    <p:sldId id="265" r:id="rId7"/>
    <p:sldId id="266" r:id="rId8"/>
    <p:sldId id="267" r:id="rId9"/>
    <p:sldId id="269" r:id="rId10"/>
    <p:sldId id="270" r:id="rId11"/>
    <p:sldId id="271" r:id="rId12"/>
    <p:sldId id="272" r:id="rId13"/>
    <p:sldId id="273" r:id="rId14"/>
    <p:sldId id="274" r:id="rId15"/>
    <p:sldId id="275" r:id="rId16"/>
    <p:sldId id="276" r:id="rId17"/>
    <p:sldId id="277" r:id="rId18"/>
    <p:sldId id="27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16E1EE2-276D-4D2E-9C55-AC72DF97FFB2}"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1C2C08-C99F-40A2-A15D-5FFCED2BAD95}" type="slidenum">
              <a:rPr lang="en-IN" smtClean="0"/>
              <a:t>‹#›</a:t>
            </a:fld>
            <a:endParaRPr lang="en-IN"/>
          </a:p>
        </p:txBody>
      </p:sp>
    </p:spTree>
    <p:extLst>
      <p:ext uri="{BB962C8B-B14F-4D97-AF65-F5344CB8AC3E}">
        <p14:creationId xmlns:p14="http://schemas.microsoft.com/office/powerpoint/2010/main" val="41913364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16E1EE2-276D-4D2E-9C55-AC72DF97FFB2}"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1C2C08-C99F-40A2-A15D-5FFCED2BAD95}" type="slidenum">
              <a:rPr lang="en-IN" smtClean="0"/>
              <a:t>‹#›</a:t>
            </a:fld>
            <a:endParaRPr lang="en-IN"/>
          </a:p>
        </p:txBody>
      </p:sp>
    </p:spTree>
    <p:extLst>
      <p:ext uri="{BB962C8B-B14F-4D97-AF65-F5344CB8AC3E}">
        <p14:creationId xmlns:p14="http://schemas.microsoft.com/office/powerpoint/2010/main" val="2828102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6E1EE2-276D-4D2E-9C55-AC72DF97FFB2}"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1C2C08-C99F-40A2-A15D-5FFCED2BAD95}" type="slidenum">
              <a:rPr lang="en-IN" smtClean="0"/>
              <a:t>‹#›</a:t>
            </a:fld>
            <a:endParaRPr lang="en-IN"/>
          </a:p>
        </p:txBody>
      </p:sp>
    </p:spTree>
    <p:extLst>
      <p:ext uri="{BB962C8B-B14F-4D97-AF65-F5344CB8AC3E}">
        <p14:creationId xmlns:p14="http://schemas.microsoft.com/office/powerpoint/2010/main" val="926291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16E1EE2-276D-4D2E-9C55-AC72DF97FFB2}" type="datetimeFigureOut">
              <a:rPr lang="en-IN" smtClean="0"/>
              <a:t>04-06-2026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1C2C08-C99F-40A2-A15D-5FFCED2BAD95}" type="slidenum">
              <a:rPr lang="en-IN" smtClean="0"/>
              <a:t>‹#›</a:t>
            </a:fld>
            <a:endParaRPr lang="en-IN"/>
          </a:p>
        </p:txBody>
      </p:sp>
    </p:spTree>
    <p:extLst>
      <p:ext uri="{BB962C8B-B14F-4D97-AF65-F5344CB8AC3E}">
        <p14:creationId xmlns:p14="http://schemas.microsoft.com/office/powerpoint/2010/main" val="2885354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16E1EE2-276D-4D2E-9C55-AC72DF97FFB2}" type="datetimeFigureOut">
              <a:rPr lang="en-IN" smtClean="0"/>
              <a:t>04-06-2026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C1C2C08-C99F-40A2-A15D-5FFCED2BAD95}" type="slidenum">
              <a:rPr lang="en-IN" smtClean="0"/>
              <a:t>‹#›</a:t>
            </a:fld>
            <a:endParaRPr lang="en-IN"/>
          </a:p>
        </p:txBody>
      </p:sp>
    </p:spTree>
    <p:extLst>
      <p:ext uri="{BB962C8B-B14F-4D97-AF65-F5344CB8AC3E}">
        <p14:creationId xmlns:p14="http://schemas.microsoft.com/office/powerpoint/2010/main" val="17752459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16E1EE2-276D-4D2E-9C55-AC72DF97FFB2}" type="datetimeFigureOut">
              <a:rPr lang="en-IN" smtClean="0"/>
              <a:t>04-06-2026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C1C2C08-C99F-40A2-A15D-5FFCED2BAD95}" type="slidenum">
              <a:rPr lang="en-IN" smtClean="0"/>
              <a:t>‹#›</a:t>
            </a:fld>
            <a:endParaRPr lang="en-IN"/>
          </a:p>
        </p:txBody>
      </p:sp>
    </p:spTree>
    <p:extLst>
      <p:ext uri="{BB962C8B-B14F-4D97-AF65-F5344CB8AC3E}">
        <p14:creationId xmlns:p14="http://schemas.microsoft.com/office/powerpoint/2010/main" val="297769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6E1EE2-276D-4D2E-9C55-AC72DF97FFB2}" type="datetimeFigureOut">
              <a:rPr lang="en-IN" smtClean="0"/>
              <a:t>04-06-2026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C1C2C08-C99F-40A2-A15D-5FFCED2BAD95}" type="slidenum">
              <a:rPr lang="en-IN" smtClean="0"/>
              <a:t>‹#›</a:t>
            </a:fld>
            <a:endParaRPr lang="en-IN"/>
          </a:p>
        </p:txBody>
      </p:sp>
    </p:spTree>
    <p:extLst>
      <p:ext uri="{BB962C8B-B14F-4D97-AF65-F5344CB8AC3E}">
        <p14:creationId xmlns:p14="http://schemas.microsoft.com/office/powerpoint/2010/main" val="115317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6E1EE2-276D-4D2E-9C55-AC72DF97FFB2}" type="datetimeFigureOut">
              <a:rPr lang="en-IN" smtClean="0"/>
              <a:t>04-06-2026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1C2C08-C99F-40A2-A15D-5FFCED2BAD95}" type="slidenum">
              <a:rPr lang="en-IN" smtClean="0"/>
              <a:t>‹#›</a:t>
            </a:fld>
            <a:endParaRPr lang="en-IN"/>
          </a:p>
        </p:txBody>
      </p:sp>
    </p:spTree>
    <p:extLst>
      <p:ext uri="{BB962C8B-B14F-4D97-AF65-F5344CB8AC3E}">
        <p14:creationId xmlns:p14="http://schemas.microsoft.com/office/powerpoint/2010/main" val="2045481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16E1EE2-276D-4D2E-9C55-AC72DF97FFB2}" type="datetimeFigureOut">
              <a:rPr lang="en-IN" smtClean="0"/>
              <a:t>04-06-2026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1C2C08-C99F-40A2-A15D-5FFCED2BAD95}" type="slidenum">
              <a:rPr lang="en-IN" smtClean="0"/>
              <a:t>‹#›</a:t>
            </a:fld>
            <a:endParaRPr lang="en-IN"/>
          </a:p>
        </p:txBody>
      </p:sp>
    </p:spTree>
    <p:extLst>
      <p:ext uri="{BB962C8B-B14F-4D97-AF65-F5344CB8AC3E}">
        <p14:creationId xmlns:p14="http://schemas.microsoft.com/office/powerpoint/2010/main" val="1769464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16E1EE2-276D-4D2E-9C55-AC72DF97FFB2}"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1C2C08-C99F-40A2-A15D-5FFCED2BAD95}" type="slidenum">
              <a:rPr lang="en-IN" smtClean="0"/>
              <a:t>‹#›</a:t>
            </a:fld>
            <a:endParaRPr lang="en-IN"/>
          </a:p>
        </p:txBody>
      </p:sp>
    </p:spTree>
    <p:extLst>
      <p:ext uri="{BB962C8B-B14F-4D97-AF65-F5344CB8AC3E}">
        <p14:creationId xmlns:p14="http://schemas.microsoft.com/office/powerpoint/2010/main" val="1586513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16E1EE2-276D-4D2E-9C55-AC72DF97FFB2}"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1C2C08-C99F-40A2-A15D-5FFCED2BAD95}" type="slidenum">
              <a:rPr lang="en-IN" smtClean="0"/>
              <a:t>‹#›</a:t>
            </a:fld>
            <a:endParaRPr lang="en-IN"/>
          </a:p>
        </p:txBody>
      </p:sp>
    </p:spTree>
    <p:extLst>
      <p:ext uri="{BB962C8B-B14F-4D97-AF65-F5344CB8AC3E}">
        <p14:creationId xmlns:p14="http://schemas.microsoft.com/office/powerpoint/2010/main" val="28664633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0" name="TextBox 9"/>
          <p:cNvSpPr txBox="1"/>
          <p:nvPr/>
        </p:nvSpPr>
        <p:spPr>
          <a:xfrm>
            <a:off x="-101600" y="5257800"/>
            <a:ext cx="29464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1" name="TextBox 10"/>
          <p:cNvSpPr txBox="1"/>
          <p:nvPr/>
        </p:nvSpPr>
        <p:spPr>
          <a:xfrm>
            <a:off x="203200" y="5667376"/>
            <a:ext cx="2540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2" name="Rectangle 11"/>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13" name="Rectangle 12"/>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4" name="Rectangle 13"/>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5" name="Rectangle 14"/>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7" name="TextBox 16"/>
          <p:cNvSpPr txBox="1"/>
          <p:nvPr/>
        </p:nvSpPr>
        <p:spPr>
          <a:xfrm>
            <a:off x="-101600" y="5257800"/>
            <a:ext cx="29464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8" name="TextBox 17"/>
          <p:cNvSpPr txBox="1"/>
          <p:nvPr/>
        </p:nvSpPr>
        <p:spPr>
          <a:xfrm>
            <a:off x="203200" y="5667376"/>
            <a:ext cx="2540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0883888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grpSp>
        <p:nvGrpSpPr>
          <p:cNvPr id="5" name="Group 11"/>
          <p:cNvGrpSpPr>
            <a:grpSpLocks/>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6574866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08187" y="400303"/>
            <a:ext cx="3600027" cy="574040"/>
          </a:xfrm>
          <a:prstGeom prst="rect">
            <a:avLst/>
          </a:prstGeom>
        </p:spPr>
        <p:txBody>
          <a:bodyPr wrap="square" lIns="0" tIns="0" rIns="0" bIns="0">
            <a:spAutoFit/>
          </a:bodyPr>
          <a:lstStyle>
            <a:lvl1pPr>
              <a:defRPr sz="3600" b="1" i="0">
                <a:solidFill>
                  <a:schemeClr val="tx1"/>
                </a:solidFill>
                <a:latin typeface="Cambria"/>
                <a:cs typeface="Cambria"/>
              </a:defRPr>
            </a:lvl1pPr>
          </a:lstStyle>
          <a:p>
            <a:endParaRPr/>
          </a:p>
        </p:txBody>
      </p:sp>
      <p:sp>
        <p:nvSpPr>
          <p:cNvPr id="3" name="Holder 3"/>
          <p:cNvSpPr>
            <a:spLocks noGrp="1"/>
          </p:cNvSpPr>
          <p:nvPr>
            <p:ph type="subTitle" idx="4"/>
          </p:nvPr>
        </p:nvSpPr>
        <p:spPr>
          <a:xfrm>
            <a:off x="1828800" y="3840480"/>
            <a:ext cx="8534400" cy="246221"/>
          </a:xfrm>
          <a:prstGeom prst="rect">
            <a:avLst/>
          </a:prstGeom>
        </p:spPr>
        <p:txBody>
          <a:bodyPr wrap="square" lIns="0" tIns="0" rIns="0" bIns="0">
            <a:spAutoFit/>
          </a:bodyPr>
          <a:lstStyle>
            <a:lvl1pPr>
              <a:defRPr sz="16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6/4/2026</a:t>
            </a:fld>
            <a:endParaRPr lang="en-US" kern="0">
              <a:solidFill>
                <a:prstClr val="black">
                  <a:tint val="75000"/>
                </a:prstClr>
              </a:solidFill>
            </a:endParaRPr>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14568317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304801" y="0"/>
            <a:ext cx="10881209"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11341430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6" name="Holder 6"/>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6/4/2026</a:t>
            </a:fld>
            <a:endParaRPr lang="en-US" kern="0">
              <a:solidFill>
                <a:prstClr val="black">
                  <a:tint val="75000"/>
                </a:prstClr>
              </a:solidFill>
            </a:endParaRPr>
          </a:p>
        </p:txBody>
      </p:sp>
      <p:sp>
        <p:nvSpPr>
          <p:cNvPr id="7" name="Holder 7"/>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587586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839200" y="0"/>
            <a:ext cx="2924048" cy="693420"/>
          </a:xfrm>
          <a:prstGeom prst="rect">
            <a:avLst/>
          </a:prstGeom>
        </p:spPr>
      </p:pic>
      <p:sp>
        <p:nvSpPr>
          <p:cNvPr id="17" name="bg object 17"/>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8" name="bg object 18"/>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20" name="bg object 20"/>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1" name="bg object 21"/>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2" name="bg object 22"/>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4" name="Holder 4"/>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6/4/2026</a:t>
            </a:fld>
            <a:endParaRPr lang="en-US" kern="0">
              <a:solidFill>
                <a:prstClr val="black">
                  <a:tint val="75000"/>
                </a:prstClr>
              </a:solidFill>
            </a:endParaRPr>
          </a:p>
        </p:txBody>
      </p:sp>
      <p:sp>
        <p:nvSpPr>
          <p:cNvPr id="5" name="Holder 5"/>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39939699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 y="1"/>
            <a:ext cx="12191999" cy="6857999"/>
          </a:xfrm>
          <a:prstGeom prst="rect">
            <a:avLst/>
          </a:prstGeom>
        </p:spPr>
      </p:pic>
      <p:sp>
        <p:nvSpPr>
          <p:cNvPr id="17" name="bg object 17"/>
          <p:cNvSpPr/>
          <p:nvPr/>
        </p:nvSpPr>
        <p:spPr>
          <a:xfrm>
            <a:off x="38608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8" name="bg object 18"/>
          <p:cNvSpPr/>
          <p:nvPr/>
        </p:nvSpPr>
        <p:spPr>
          <a:xfrm>
            <a:off x="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77216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F0000"/>
          </a:solidFill>
        </p:spPr>
        <p:txBody>
          <a:bodyPr wrap="square" lIns="0" tIns="0" rIns="0" bIns="0" rtlCol="0"/>
          <a:lstStyle/>
          <a:p>
            <a:endParaRPr kern="0">
              <a:solidFill>
                <a:sysClr val="windowText" lastClr="000000"/>
              </a:solidFill>
            </a:endParaRPr>
          </a:p>
        </p:txBody>
      </p:sp>
      <p:pic>
        <p:nvPicPr>
          <p:cNvPr id="20" name="bg object 20"/>
          <p:cNvPicPr/>
          <p:nvPr/>
        </p:nvPicPr>
        <p:blipFill>
          <a:blip r:embed="rId3" cstate="print"/>
          <a:stretch>
            <a:fillRect/>
          </a:stretch>
        </p:blipFill>
        <p:spPr>
          <a:xfrm>
            <a:off x="101600" y="3352800"/>
            <a:ext cx="2743200" cy="1979676"/>
          </a:xfrm>
          <a:prstGeom prst="rect">
            <a:avLst/>
          </a:prstGeom>
        </p:spPr>
      </p:pic>
      <p:sp>
        <p:nvSpPr>
          <p:cNvPr id="2" name="Holder 2"/>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3" name="Holder 3"/>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6/4/2026</a:t>
            </a:fld>
            <a:endParaRPr lang="en-US" kern="0">
              <a:solidFill>
                <a:prstClr val="black">
                  <a:tint val="75000"/>
                </a:prstClr>
              </a:solidFill>
            </a:endParaRPr>
          </a:p>
        </p:txBody>
      </p:sp>
      <p:sp>
        <p:nvSpPr>
          <p:cNvPr id="4" name="Holder 4"/>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13918757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defRPr/>
            </a:pPr>
            <a:r>
              <a:rPr lang="en-US" altLang="en-US" sz="1100" b="1" kern="0">
                <a:solidFill>
                  <a:srgbClr val="101141"/>
                </a:solidFill>
              </a:rPr>
              <a:t>BITS </a:t>
            </a:r>
            <a:r>
              <a:rPr lang="en-US" altLang="en-US" sz="1100" kern="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0105117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2448660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649447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6044358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2198248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831111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1976986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9166069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1286337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055515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9353493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6197656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9762385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7409762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2441935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8911265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2790963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24040090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5851769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297115422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196735758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354894745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6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6039252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fontAlgn="base">
              <a:spcBef>
                <a:spcPct val="0"/>
              </a:spcBef>
              <a:spcAft>
                <a:spcPct val="0"/>
              </a:spcAft>
              <a:defRPr/>
            </a:pPr>
            <a:r>
              <a:rPr lang="en-US" sz="1100" b="1" dirty="0">
                <a:solidFill>
                  <a:srgbClr val="101141"/>
                </a:solidFill>
                <a:cs typeface="Arial" panose="020B0604020202020204" pitchFamily="34" charset="0"/>
              </a:rPr>
              <a:t>BITS </a:t>
            </a:r>
            <a:r>
              <a:rPr lang="en-US" sz="1100" dirty="0" err="1">
                <a:solidFill>
                  <a:srgbClr val="101141"/>
                </a:solidFill>
                <a:cs typeface="Arial" panose="020B0604020202020204" pitchFamily="34" charset="0"/>
              </a:rPr>
              <a:t>Pilani</a:t>
            </a:r>
            <a:endParaRPr lang="en-US" sz="1100" dirty="0">
              <a:solidFill>
                <a:srgbClr val="101141"/>
              </a:solidFill>
              <a:cs typeface="Arial" panose="020B0604020202020204" pitchFamily="34" charset="0"/>
            </a:endParaRP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406400" y="1600201"/>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0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000">
                <a:latin typeface="Cambria" panose="02040503050406030204" pitchFamily="18" charset="0"/>
                <a:ea typeface="Cambria" panose="02040503050406030204" pitchFamily="18" charset="0"/>
                <a:cs typeface="Times New Roman" panose="02020603050405020304" pitchFamily="18" charset="0"/>
              </a:defRPr>
            </a:lvl2pPr>
            <a:lvl3pPr>
              <a:defRPr sz="2000">
                <a:latin typeface="Cambria" panose="02040503050406030204" pitchFamily="18" charset="0"/>
                <a:ea typeface="Cambria" panose="02040503050406030204" pitchFamily="18" charset="0"/>
                <a:cs typeface="Times New Roman" panose="02020603050405020304" pitchFamily="18" charset="0"/>
              </a:defRPr>
            </a:lvl3pPr>
            <a:lvl4pPr>
              <a:defRPr sz="2000">
                <a:latin typeface="Cambria" panose="02040503050406030204" pitchFamily="18" charset="0"/>
                <a:ea typeface="Cambria" panose="02040503050406030204" pitchFamily="18" charset="0"/>
                <a:cs typeface="Times New Roman" panose="02020603050405020304" pitchFamily="18" charset="0"/>
              </a:defRPr>
            </a:lvl4pPr>
            <a:lvl5pPr>
              <a:defRPr sz="20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chemeClr val="accent2"/>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
        <p:nvSpPr>
          <p:cNvPr id="2" name="Date Placeholder 1"/>
          <p:cNvSpPr>
            <a:spLocks noGrp="1"/>
          </p:cNvSpPr>
          <p:nvPr>
            <p:ph type="dt" sz="half" idx="11"/>
          </p:nvPr>
        </p:nvSpPr>
        <p:spPr>
          <a:xfrm>
            <a:off x="609600" y="6356351"/>
            <a:ext cx="2844800" cy="365125"/>
          </a:xfrm>
          <a:prstGeom prst="rect">
            <a:avLst/>
          </a:prstGeom>
        </p:spPr>
        <p:txBody>
          <a:bodyPr/>
          <a:lstStyle/>
          <a:p>
            <a:pPr fontAlgn="base">
              <a:spcBef>
                <a:spcPct val="0"/>
              </a:spcBef>
              <a:spcAft>
                <a:spcPct val="0"/>
              </a:spcAft>
              <a:defRPr/>
            </a:pPr>
            <a:endParaRPr lang="en-US" sz="1600">
              <a:solidFill>
                <a:prstClr val="black">
                  <a:tint val="75000"/>
                </a:prstClr>
              </a:solidFill>
              <a:latin typeface="Tahoma" charset="0"/>
            </a:endParaRPr>
          </a:p>
        </p:txBody>
      </p:sp>
      <p:sp>
        <p:nvSpPr>
          <p:cNvPr id="18" name="Footer Placeholder 17"/>
          <p:cNvSpPr>
            <a:spLocks noGrp="1"/>
          </p:cNvSpPr>
          <p:nvPr>
            <p:ph type="ftr" sz="quarter" idx="12"/>
          </p:nvPr>
        </p:nvSpPr>
        <p:spPr>
          <a:xfrm>
            <a:off x="4165600" y="6356351"/>
            <a:ext cx="3860800" cy="365125"/>
          </a:xfrm>
          <a:prstGeom prst="rect">
            <a:avLst/>
          </a:prstGeom>
        </p:spPr>
        <p:txBody>
          <a:bodyPr/>
          <a:lstStyle/>
          <a:p>
            <a:pPr fontAlgn="base">
              <a:spcBef>
                <a:spcPct val="0"/>
              </a:spcBef>
              <a:spcAft>
                <a:spcPct val="0"/>
              </a:spcAft>
              <a:defRPr/>
            </a:pPr>
            <a:endParaRPr lang="en-US" sz="1600" dirty="0">
              <a:solidFill>
                <a:prstClr val="black">
                  <a:tint val="75000"/>
                </a:prstClr>
              </a:solidFill>
              <a:latin typeface="Tahoma" charset="0"/>
            </a:endParaRPr>
          </a:p>
        </p:txBody>
      </p:sp>
      <p:sp>
        <p:nvSpPr>
          <p:cNvPr id="19" name="Slide Number Placeholder 18"/>
          <p:cNvSpPr>
            <a:spLocks noGrp="1"/>
          </p:cNvSpPr>
          <p:nvPr>
            <p:ph type="sldNum" sz="quarter" idx="13"/>
          </p:nvPr>
        </p:nvSpPr>
        <p:spPr>
          <a:xfrm>
            <a:off x="4114800" y="6424613"/>
            <a:ext cx="2844800" cy="365125"/>
          </a:xfrm>
          <a:prstGeom prst="rect">
            <a:avLst/>
          </a:prstGeom>
        </p:spPr>
        <p:txBody>
          <a:bodyPr/>
          <a:lstStyle>
            <a:lvl1pPr>
              <a:defRPr>
                <a:solidFill>
                  <a:srgbClr val="C00000"/>
                </a:solidFill>
              </a:defRPr>
            </a:lvl1pPr>
          </a:lstStyle>
          <a:p>
            <a:pPr fontAlgn="base">
              <a:spcBef>
                <a:spcPct val="0"/>
              </a:spcBef>
              <a:spcAft>
                <a:spcPct val="0"/>
              </a:spcAft>
            </a:pPr>
            <a:fld id="{DB1C2494-8932-4549-9EEA-B787E7A0F253}" type="slidenum">
              <a:rPr lang="en-US" sz="1600" smtClean="0">
                <a:latin typeface="Tahoma" charset="0"/>
              </a:rPr>
              <a:pPr fontAlgn="base">
                <a:spcBef>
                  <a:spcPct val="0"/>
                </a:spcBef>
                <a:spcAft>
                  <a:spcPct val="0"/>
                </a:spcAft>
              </a:pPr>
              <a:t>‹#›</a:t>
            </a:fld>
            <a:endParaRPr lang="en-US" sz="1600" dirty="0">
              <a:latin typeface="Tahoma" charset="0"/>
            </a:endParaRPr>
          </a:p>
        </p:txBody>
      </p:sp>
    </p:spTree>
    <p:extLst>
      <p:ext uri="{BB962C8B-B14F-4D97-AF65-F5344CB8AC3E}">
        <p14:creationId xmlns:p14="http://schemas.microsoft.com/office/powerpoint/2010/main" val="74605209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23315701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4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3826530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37015585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437796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791123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1891533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9327758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8389980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3216563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7"/>
            <a:ext cx="10972800" cy="1920526"/>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a:latin typeface="Cambria" panose="02040503050406030204" pitchFamily="18" charset="0"/>
                <a:ea typeface="Cambria" panose="02040503050406030204" pitchFamily="18" charset="0"/>
                <a:cs typeface="Times New Roman" panose="02020603050405020304" pitchFamily="18" charset="0"/>
              </a:defRPr>
            </a:lvl2pPr>
            <a:lvl3pPr>
              <a:defRPr sz="2400">
                <a:latin typeface="Cambria" panose="02040503050406030204" pitchFamily="18" charset="0"/>
                <a:ea typeface="Cambria" panose="02040503050406030204" pitchFamily="18" charset="0"/>
                <a:cs typeface="Times New Roman" panose="02020603050405020304" pitchFamily="18" charset="0"/>
              </a:defRPr>
            </a:lvl3pPr>
            <a:lvl4pPr>
              <a:defRPr sz="2400">
                <a:latin typeface="Cambria" panose="02040503050406030204" pitchFamily="18" charset="0"/>
                <a:ea typeface="Cambria" panose="02040503050406030204" pitchFamily="18" charset="0"/>
                <a:cs typeface="Times New Roman" panose="02020603050405020304" pitchFamily="18" charset="0"/>
              </a:defRPr>
            </a:lvl4pPr>
            <a:lvl5pPr>
              <a:defRPr sz="24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0" spc="-150" baseline="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27917592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Montserrat"/>
              <a:buNone/>
              <a:defRPr>
                <a:latin typeface="Montserrat"/>
                <a:ea typeface="Montserrat"/>
                <a:cs typeface="Montserrat"/>
                <a:sym typeface="Montserrat"/>
              </a:defRPr>
            </a:lvl1pPr>
            <a:lvl2pPr lvl="1">
              <a:spcBef>
                <a:spcPts val="0"/>
              </a:spcBef>
              <a:spcAft>
                <a:spcPts val="0"/>
              </a:spcAft>
              <a:buSzPts val="2800"/>
              <a:buFont typeface="Montserrat"/>
              <a:buNone/>
              <a:defRPr>
                <a:latin typeface="Montserrat"/>
                <a:ea typeface="Montserrat"/>
                <a:cs typeface="Montserrat"/>
                <a:sym typeface="Montserrat"/>
              </a:defRPr>
            </a:lvl2pPr>
            <a:lvl3pPr lvl="2">
              <a:spcBef>
                <a:spcPts val="0"/>
              </a:spcBef>
              <a:spcAft>
                <a:spcPts val="0"/>
              </a:spcAft>
              <a:buSzPts val="2800"/>
              <a:buFont typeface="Montserrat"/>
              <a:buNone/>
              <a:defRPr>
                <a:latin typeface="Montserrat"/>
                <a:ea typeface="Montserrat"/>
                <a:cs typeface="Montserrat"/>
                <a:sym typeface="Montserrat"/>
              </a:defRPr>
            </a:lvl3pPr>
            <a:lvl4pPr lvl="3">
              <a:spcBef>
                <a:spcPts val="0"/>
              </a:spcBef>
              <a:spcAft>
                <a:spcPts val="0"/>
              </a:spcAft>
              <a:buSzPts val="2800"/>
              <a:buFont typeface="Montserrat"/>
              <a:buNone/>
              <a:defRPr>
                <a:latin typeface="Montserrat"/>
                <a:ea typeface="Montserrat"/>
                <a:cs typeface="Montserrat"/>
                <a:sym typeface="Montserrat"/>
              </a:defRPr>
            </a:lvl4pPr>
            <a:lvl5pPr lvl="4">
              <a:spcBef>
                <a:spcPts val="0"/>
              </a:spcBef>
              <a:spcAft>
                <a:spcPts val="0"/>
              </a:spcAft>
              <a:buSzPts val="2800"/>
              <a:buFont typeface="Montserrat"/>
              <a:buNone/>
              <a:defRPr>
                <a:latin typeface="Montserrat"/>
                <a:ea typeface="Montserrat"/>
                <a:cs typeface="Montserrat"/>
                <a:sym typeface="Montserrat"/>
              </a:defRPr>
            </a:lvl5pPr>
            <a:lvl6pPr lvl="5">
              <a:spcBef>
                <a:spcPts val="0"/>
              </a:spcBef>
              <a:spcAft>
                <a:spcPts val="0"/>
              </a:spcAft>
              <a:buSzPts val="2800"/>
              <a:buFont typeface="Montserrat"/>
              <a:buNone/>
              <a:defRPr>
                <a:latin typeface="Montserrat"/>
                <a:ea typeface="Montserrat"/>
                <a:cs typeface="Montserrat"/>
                <a:sym typeface="Montserrat"/>
              </a:defRPr>
            </a:lvl6pPr>
            <a:lvl7pPr lvl="6">
              <a:spcBef>
                <a:spcPts val="0"/>
              </a:spcBef>
              <a:spcAft>
                <a:spcPts val="0"/>
              </a:spcAft>
              <a:buSzPts val="2800"/>
              <a:buFont typeface="Montserrat"/>
              <a:buNone/>
              <a:defRPr>
                <a:latin typeface="Montserrat"/>
                <a:ea typeface="Montserrat"/>
                <a:cs typeface="Montserrat"/>
                <a:sym typeface="Montserrat"/>
              </a:defRPr>
            </a:lvl7pPr>
            <a:lvl8pPr lvl="7">
              <a:spcBef>
                <a:spcPts val="0"/>
              </a:spcBef>
              <a:spcAft>
                <a:spcPts val="0"/>
              </a:spcAft>
              <a:buSzPts val="2800"/>
              <a:buFont typeface="Montserrat"/>
              <a:buNone/>
              <a:defRPr>
                <a:latin typeface="Montserrat"/>
                <a:ea typeface="Montserrat"/>
                <a:cs typeface="Montserrat"/>
                <a:sym typeface="Montserrat"/>
              </a:defRPr>
            </a:lvl8pPr>
            <a:lvl9pPr lvl="8">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Font typeface="Montserrat"/>
              <a:buChar char="●"/>
              <a:defRPr>
                <a:latin typeface="Montserrat"/>
                <a:ea typeface="Montserrat"/>
                <a:cs typeface="Montserrat"/>
                <a:sym typeface="Montserrat"/>
              </a:defRPr>
            </a:lvl1pPr>
            <a:lvl2pPr marL="914400" lvl="1" indent="-317500">
              <a:spcBef>
                <a:spcPts val="0"/>
              </a:spcBef>
              <a:spcAft>
                <a:spcPts val="0"/>
              </a:spcAft>
              <a:buSzPts val="1400"/>
              <a:buFont typeface="Montserrat"/>
              <a:buChar char="○"/>
              <a:defRPr>
                <a:latin typeface="Montserrat"/>
                <a:ea typeface="Montserrat"/>
                <a:cs typeface="Montserrat"/>
                <a:sym typeface="Montserrat"/>
              </a:defRPr>
            </a:lvl2pPr>
            <a:lvl3pPr marL="1371600" lvl="2" indent="-317500">
              <a:spcBef>
                <a:spcPts val="0"/>
              </a:spcBef>
              <a:spcAft>
                <a:spcPts val="0"/>
              </a:spcAft>
              <a:buSzPts val="1400"/>
              <a:buFont typeface="Montserrat"/>
              <a:buChar char="■"/>
              <a:defRPr>
                <a:latin typeface="Montserrat"/>
                <a:ea typeface="Montserrat"/>
                <a:cs typeface="Montserrat"/>
                <a:sym typeface="Montserrat"/>
              </a:defRPr>
            </a:lvl3pPr>
            <a:lvl4pPr marL="1828800" lvl="3" indent="-317500">
              <a:spcBef>
                <a:spcPts val="0"/>
              </a:spcBef>
              <a:spcAft>
                <a:spcPts val="0"/>
              </a:spcAft>
              <a:buSzPts val="1400"/>
              <a:buFont typeface="Montserrat"/>
              <a:buChar char="●"/>
              <a:defRPr>
                <a:latin typeface="Montserrat"/>
                <a:ea typeface="Montserrat"/>
                <a:cs typeface="Montserrat"/>
                <a:sym typeface="Montserrat"/>
              </a:defRPr>
            </a:lvl4pPr>
            <a:lvl5pPr marL="2286000" lvl="4" indent="-317500">
              <a:spcBef>
                <a:spcPts val="0"/>
              </a:spcBef>
              <a:spcAft>
                <a:spcPts val="0"/>
              </a:spcAft>
              <a:buSzPts val="1400"/>
              <a:buFont typeface="Montserrat"/>
              <a:buChar char="○"/>
              <a:defRPr>
                <a:latin typeface="Montserrat"/>
                <a:ea typeface="Montserrat"/>
                <a:cs typeface="Montserrat"/>
                <a:sym typeface="Montserrat"/>
              </a:defRPr>
            </a:lvl5pPr>
            <a:lvl6pPr marL="2743200" lvl="5" indent="-317500">
              <a:spcBef>
                <a:spcPts val="0"/>
              </a:spcBef>
              <a:spcAft>
                <a:spcPts val="0"/>
              </a:spcAft>
              <a:buSzPts val="1400"/>
              <a:buFont typeface="Montserrat"/>
              <a:buChar char="■"/>
              <a:defRPr>
                <a:latin typeface="Montserrat"/>
                <a:ea typeface="Montserrat"/>
                <a:cs typeface="Montserrat"/>
                <a:sym typeface="Montserrat"/>
              </a:defRPr>
            </a:lvl6pPr>
            <a:lvl7pPr marL="3200400" lvl="6" indent="-317500">
              <a:spcBef>
                <a:spcPts val="0"/>
              </a:spcBef>
              <a:spcAft>
                <a:spcPts val="0"/>
              </a:spcAft>
              <a:buSzPts val="1400"/>
              <a:buFont typeface="Montserrat"/>
              <a:buChar char="●"/>
              <a:defRPr>
                <a:latin typeface="Montserrat"/>
                <a:ea typeface="Montserrat"/>
                <a:cs typeface="Montserrat"/>
                <a:sym typeface="Montserrat"/>
              </a:defRPr>
            </a:lvl7pPr>
            <a:lvl8pPr marL="3657600" lvl="7" indent="-317500">
              <a:spcBef>
                <a:spcPts val="0"/>
              </a:spcBef>
              <a:spcAft>
                <a:spcPts val="0"/>
              </a:spcAft>
              <a:buSzPts val="1400"/>
              <a:buFont typeface="Montserrat"/>
              <a:buChar char="○"/>
              <a:defRPr>
                <a:latin typeface="Montserrat"/>
                <a:ea typeface="Montserrat"/>
                <a:cs typeface="Montserrat"/>
                <a:sym typeface="Montserrat"/>
              </a:defRPr>
            </a:lvl8pPr>
            <a:lvl9pPr marL="4114800" lvl="8" indent="-317500">
              <a:spcBef>
                <a:spcPts val="0"/>
              </a:spcBef>
              <a:spcAft>
                <a:spcPts val="0"/>
              </a:spcAft>
              <a:buSzPts val="1400"/>
              <a:buFont typeface="Montserrat"/>
              <a:buChar char="■"/>
              <a:defRPr>
                <a:latin typeface="Montserrat"/>
                <a:ea typeface="Montserrat"/>
                <a:cs typeface="Montserrat"/>
                <a:sym typeface="Montserrat"/>
              </a:defRPr>
            </a:lvl9pPr>
          </a:lstStyle>
          <a:p>
            <a:endParaRPr/>
          </a:p>
        </p:txBody>
      </p:sp>
      <p:sp>
        <p:nvSpPr>
          <p:cNvPr id="21" name="Google Shape;21;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kern="0" smtClean="0">
                <a:solidFill>
                  <a:sysClr val="windowText" lastClr="000000"/>
                </a:solidFill>
              </a:rPr>
              <a:pPr algn="r"/>
              <a:t>‹#›</a:t>
            </a:fld>
            <a:endParaRPr lang="en" kern="0">
              <a:solidFill>
                <a:sysClr val="windowText" lastClr="000000"/>
              </a:solidFill>
            </a:endParaRPr>
          </a:p>
        </p:txBody>
      </p:sp>
      <p:pic>
        <p:nvPicPr>
          <p:cNvPr id="22" name="Google Shape;22;p4"/>
          <p:cNvPicPr preferRelativeResize="0"/>
          <p:nvPr/>
        </p:nvPicPr>
        <p:blipFill rotWithShape="1">
          <a:blip r:embed="rId2">
            <a:alphaModFix amt="24000"/>
          </a:blip>
          <a:srcRect b="93593"/>
          <a:stretch/>
        </p:blipFill>
        <p:spPr>
          <a:xfrm>
            <a:off x="2" y="6594465"/>
            <a:ext cx="12192004" cy="263533"/>
          </a:xfrm>
          <a:prstGeom prst="rect">
            <a:avLst/>
          </a:prstGeom>
          <a:noFill/>
          <a:ln>
            <a:noFill/>
          </a:ln>
        </p:spPr>
      </p:pic>
    </p:spTree>
    <p:extLst>
      <p:ext uri="{BB962C8B-B14F-4D97-AF65-F5344CB8AC3E}">
        <p14:creationId xmlns:p14="http://schemas.microsoft.com/office/powerpoint/2010/main" val="1296406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42" Type="http://schemas.openxmlformats.org/officeDocument/2006/relationships/image" Target="../media/image4.jpg"/><Relationship Id="rId7" Type="http://schemas.openxmlformats.org/officeDocument/2006/relationships/slideLayout" Target="../slideLayouts/slideLayout2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29" Type="http://schemas.openxmlformats.org/officeDocument/2006/relationships/slideLayout" Target="../slideLayouts/slideLayout42.xml"/><Relationship Id="rId41" Type="http://schemas.openxmlformats.org/officeDocument/2006/relationships/theme" Target="../theme/theme2.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slideLayout" Target="../slideLayouts/slideLayout53.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8" Type="http://schemas.openxmlformats.org/officeDocument/2006/relationships/slideLayout" Target="../slideLayouts/slideLayout21.xml"/><Relationship Id="rId3" Type="http://schemas.openxmlformats.org/officeDocument/2006/relationships/slideLayout" Target="../slideLayouts/slideLayout16.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6E1EE2-276D-4D2E-9C55-AC72DF97FFB2}" type="datetimeFigureOut">
              <a:rPr lang="en-IN" smtClean="0"/>
              <a:t>04-06-2026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1C2C08-C99F-40A2-A15D-5FFCED2BAD95}" type="slidenum">
              <a:rPr lang="en-IN" smtClean="0"/>
              <a:t>‹#›</a:t>
            </a:fld>
            <a:endParaRPr lang="en-IN"/>
          </a:p>
        </p:txBody>
      </p:sp>
    </p:spTree>
    <p:extLst>
      <p:ext uri="{BB962C8B-B14F-4D97-AF65-F5344CB8AC3E}">
        <p14:creationId xmlns:p14="http://schemas.microsoft.com/office/powerpoint/2010/main" val="21606609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175248" y="6550153"/>
            <a:ext cx="3105573" cy="48895"/>
          </a:xfrm>
          <a:custGeom>
            <a:avLst/>
            <a:gdLst/>
            <a:ahLst/>
            <a:cxnLst/>
            <a:rect l="l" t="t" r="r" b="b"/>
            <a:pathLst>
              <a:path w="2329179" h="48895">
                <a:moveTo>
                  <a:pt x="2328671" y="0"/>
                </a:moveTo>
                <a:lnTo>
                  <a:pt x="0" y="0"/>
                </a:lnTo>
                <a:lnTo>
                  <a:pt x="0" y="48768"/>
                </a:lnTo>
                <a:lnTo>
                  <a:pt x="2328671" y="48768"/>
                </a:lnTo>
                <a:lnTo>
                  <a:pt x="2328671"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7" name="bg object 17"/>
          <p:cNvSpPr/>
          <p:nvPr/>
        </p:nvSpPr>
        <p:spPr>
          <a:xfrm>
            <a:off x="9211056" y="6550152"/>
            <a:ext cx="2981113" cy="45720"/>
          </a:xfrm>
          <a:custGeom>
            <a:avLst/>
            <a:gdLst/>
            <a:ahLst/>
            <a:cxnLst/>
            <a:rect l="l" t="t" r="r" b="b"/>
            <a:pathLst>
              <a:path w="2235834" h="45720">
                <a:moveTo>
                  <a:pt x="2235707" y="0"/>
                </a:moveTo>
                <a:lnTo>
                  <a:pt x="0" y="0"/>
                </a:lnTo>
                <a:lnTo>
                  <a:pt x="0" y="45720"/>
                </a:lnTo>
                <a:lnTo>
                  <a:pt x="2235707" y="45720"/>
                </a:lnTo>
                <a:lnTo>
                  <a:pt x="2235707" y="0"/>
                </a:lnTo>
                <a:close/>
              </a:path>
            </a:pathLst>
          </a:custGeom>
          <a:solidFill>
            <a:srgbClr val="E21C23"/>
          </a:solidFill>
        </p:spPr>
        <p:txBody>
          <a:bodyPr wrap="square" lIns="0" tIns="0" rIns="0" bIns="0" rtlCol="0"/>
          <a:lstStyle/>
          <a:p>
            <a:endParaRPr kern="0">
              <a:solidFill>
                <a:sysClr val="windowText" lastClr="000000"/>
              </a:solidFill>
            </a:endParaRPr>
          </a:p>
        </p:txBody>
      </p:sp>
      <p:sp>
        <p:nvSpPr>
          <p:cNvPr id="18" name="bg object 18"/>
          <p:cNvSpPr/>
          <p:nvPr/>
        </p:nvSpPr>
        <p:spPr>
          <a:xfrm>
            <a:off x="2779776" y="6550153"/>
            <a:ext cx="3440853" cy="48895"/>
          </a:xfrm>
          <a:custGeom>
            <a:avLst/>
            <a:gdLst/>
            <a:ahLst/>
            <a:cxnLst/>
            <a:rect l="l" t="t" r="r" b="b"/>
            <a:pathLst>
              <a:path w="2580640" h="48895">
                <a:moveTo>
                  <a:pt x="2580132" y="0"/>
                </a:moveTo>
                <a:lnTo>
                  <a:pt x="0" y="0"/>
                </a:lnTo>
                <a:lnTo>
                  <a:pt x="0" y="48768"/>
                </a:lnTo>
                <a:lnTo>
                  <a:pt x="2580132" y="48768"/>
                </a:lnTo>
                <a:lnTo>
                  <a:pt x="2580132"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0" name="bg object 20"/>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1" name="bg object 21"/>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pic>
        <p:nvPicPr>
          <p:cNvPr id="22" name="bg object 22"/>
          <p:cNvPicPr/>
          <p:nvPr/>
        </p:nvPicPr>
        <p:blipFill>
          <a:blip r:embed="rId42" cstate="print"/>
          <a:stretch>
            <a:fillRect/>
          </a:stretch>
        </p:blipFill>
        <p:spPr>
          <a:xfrm>
            <a:off x="8839201" y="0"/>
            <a:ext cx="2926079" cy="691896"/>
          </a:xfrm>
          <a:prstGeom prst="rect">
            <a:avLst/>
          </a:prstGeom>
        </p:spPr>
      </p:pic>
      <p:sp>
        <p:nvSpPr>
          <p:cNvPr id="23" name="bg object 23"/>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4" name="bg object 24"/>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5" name="bg object 25"/>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8" name="Title Placeholder 7"/>
          <p:cNvSpPr>
            <a:spLocks noGrp="1"/>
          </p:cNvSpPr>
          <p:nvPr>
            <p:ph type="title"/>
          </p:nvPr>
        </p:nvSpPr>
        <p:spPr>
          <a:xfrm>
            <a:off x="231987" y="32163"/>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9" name="Text Placeholder 8"/>
          <p:cNvSpPr>
            <a:spLocks noGrp="1"/>
          </p:cNvSpPr>
          <p:nvPr>
            <p:ph type="body" idx="1"/>
          </p:nvPr>
        </p:nvSpPr>
        <p:spPr>
          <a:xfrm>
            <a:off x="406400" y="167640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01241483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 id="2147483707" r:id="rId33"/>
    <p:sldLayoutId id="2147483708" r:id="rId34"/>
    <p:sldLayoutId id="2147483709" r:id="rId35"/>
    <p:sldLayoutId id="2147483710" r:id="rId36"/>
    <p:sldLayoutId id="2147483711" r:id="rId37"/>
    <p:sldLayoutId id="2147483712" r:id="rId38"/>
    <p:sldLayoutId id="2147483713" r:id="rId39"/>
    <p:sldLayoutId id="2147483714" r:id="rId40"/>
  </p:sldLayoutIdLst>
  <p:txStyles>
    <p:titleStyle>
      <a:lvl1pPr>
        <a:defRPr sz="3600">
          <a:latin typeface="Cambria" panose="02040503050406030204" pitchFamily="18" charset="0"/>
          <a:ea typeface="Cambria" panose="02040503050406030204" pitchFamily="18" charset="0"/>
          <a:cs typeface="+mj-cs"/>
        </a:defRPr>
      </a:lvl1pPr>
    </p:titleStyle>
    <p:body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438650" y="3714750"/>
            <a:ext cx="4629150" cy="1143000"/>
          </a:xfrm>
        </p:spPr>
        <p:txBody>
          <a:bodyPr/>
          <a:lstStyle/>
          <a:p>
            <a:pPr>
              <a:defRPr/>
            </a:pP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LLM for Gen AI</a:t>
            </a:r>
          </a:p>
        </p:txBody>
      </p:sp>
      <p:sp>
        <p:nvSpPr>
          <p:cNvPr id="14339" name="Content Placeholder 5"/>
          <p:cNvSpPr>
            <a:spLocks noGrp="1"/>
          </p:cNvSpPr>
          <p:nvPr>
            <p:ph sz="quarter" idx="13"/>
          </p:nvPr>
        </p:nvSpPr>
        <p:spPr/>
        <p:txBody>
          <a:bodyPr/>
          <a:lstStyle/>
          <a:p>
            <a:pPr eaLnBrk="1" hangingPunct="1">
              <a:spcBef>
                <a:spcPct val="0"/>
              </a:spcBef>
            </a:pPr>
            <a:r>
              <a:rPr lang="en-US" sz="1500" i="1" dirty="0">
                <a:latin typeface="Times New Roman" pitchFamily="18" charset="0"/>
                <a:cs typeface="Times New Roman" pitchFamily="18" charset="0"/>
              </a:rPr>
              <a:t>Dr. </a:t>
            </a:r>
            <a:r>
              <a:rPr lang="en-US" sz="1500" i="1" dirty="0" err="1">
                <a:latin typeface="Times New Roman" pitchFamily="18" charset="0"/>
                <a:cs typeface="Times New Roman" pitchFamily="18" charset="0"/>
              </a:rPr>
              <a:t>Monali</a:t>
            </a:r>
            <a:r>
              <a:rPr lang="en-US" sz="1500" i="1" dirty="0">
                <a:latin typeface="Times New Roman" pitchFamily="18" charset="0"/>
                <a:cs typeface="Times New Roman" pitchFamily="18" charset="0"/>
              </a:rPr>
              <a:t> </a:t>
            </a:r>
            <a:r>
              <a:rPr lang="en-US" sz="1500" i="1" dirty="0" err="1">
                <a:latin typeface="Times New Roman" pitchFamily="18" charset="0"/>
                <a:cs typeface="Times New Roman" pitchFamily="18" charset="0"/>
              </a:rPr>
              <a:t>Mavani</a:t>
            </a:r>
            <a:endParaRPr lang="en-US" sz="1500" i="1" dirty="0">
              <a:latin typeface="Times New Roman" pitchFamily="18" charset="0"/>
              <a:cs typeface="Times New Roman" pitchFamily="18" charset="0"/>
            </a:endParaRPr>
          </a:p>
        </p:txBody>
      </p:sp>
    </p:spTree>
    <p:extLst>
      <p:ext uri="{BB962C8B-B14F-4D97-AF65-F5344CB8AC3E}">
        <p14:creationId xmlns:p14="http://schemas.microsoft.com/office/powerpoint/2010/main" val="4093503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1163391" y="392932"/>
            <a:ext cx="7315200" cy="480131"/>
          </a:xfrm>
          <a:prstGeom prst="rect">
            <a:avLst/>
          </a:prstGeom>
          <a:noFill/>
          <a:ln w="9525">
            <a:noFill/>
            <a:miter lim="800000"/>
            <a:headEnd/>
            <a:tailEnd/>
          </a:ln>
          <a:effectLst/>
        </p:spPr>
        <p:txBody>
          <a:bodyPr wrap="square">
            <a:spAutoFit/>
          </a:bodyPr>
          <a:lstStyle/>
          <a:p>
            <a:r>
              <a:rPr lang="en-US" sz="2800" dirty="0">
                <a:latin typeface="Times New Roman" panose="02020603050405020304" pitchFamily="18" charset="0"/>
                <a:cs typeface="Times New Roman" panose="02020603050405020304" pitchFamily="18" charset="0"/>
              </a:rPr>
              <a:t>LLM for Gen AI</a:t>
            </a:r>
            <a:endParaRPr sz="2700" dirty="0">
              <a:latin typeface="Cambria" panose="02040503050406030204" pitchFamily="18" charset="0"/>
              <a:ea typeface="Cambria" panose="02040503050406030204" pitchFamily="18" charset="0"/>
              <a:cs typeface="+mn-cs"/>
            </a:endParaRPr>
          </a:p>
        </p:txBody>
      </p:sp>
      <p:sp>
        <p:nvSpPr>
          <p:cNvPr id="3" name="object 3"/>
          <p:cNvSpPr txBox="1"/>
          <p:nvPr/>
        </p:nvSpPr>
        <p:spPr>
          <a:xfrm>
            <a:off x="2758786" y="4133141"/>
            <a:ext cx="6777644" cy="848137"/>
          </a:xfrm>
          <a:prstGeom prst="rect">
            <a:avLst/>
          </a:prstGeom>
        </p:spPr>
        <p:txBody>
          <a:bodyPr vert="horz" wrap="square" lIns="0" tIns="24595" rIns="0" bIns="0" rtlCol="0">
            <a:spAutoFit/>
          </a:bodyPr>
          <a:lstStyle/>
          <a:p>
            <a:pPr marL="99961" marR="29325" lvl="0" indent="-93969" algn="l" defTabSz="914400" rtl="0" eaLnBrk="1" fontAlgn="base" latinLnBrk="0" hangingPunct="1">
              <a:lnSpc>
                <a:spcPts val="1153"/>
              </a:lnSpc>
              <a:spcBef>
                <a:spcPts val="194"/>
              </a:spcBef>
              <a:spcAft>
                <a:spcPct val="0"/>
              </a:spcAft>
              <a:buClrTx/>
              <a:buSzTx/>
              <a:buFont typeface="Arial MT"/>
              <a:buChar char="•"/>
              <a:tabLst>
                <a:tab pos="100276" algn="l"/>
              </a:tabLst>
              <a:defRPr/>
            </a:pP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content </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for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these slides has been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obtained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from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books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and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various other </a:t>
            </a:r>
            <a:r>
              <a:rPr kumimoji="0" sz="1200" b="0" i="0" u="none" strike="noStrike" kern="1200" cap="none" spc="-236"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source</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on the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Internet</a:t>
            </a:r>
            <a:endPar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endParaRPr>
          </a:p>
          <a:p>
            <a:pPr marL="99961" marR="0" lvl="0" indent="-93969" algn="l" defTabSz="914400" rtl="0" eaLnBrk="1" fontAlgn="base" latinLnBrk="0" hangingPunct="1">
              <a:lnSpc>
                <a:spcPct val="100000"/>
              </a:lnSpc>
              <a:spcBef>
                <a:spcPts val="258"/>
              </a:spcBef>
              <a:spcAft>
                <a:spcPct val="0"/>
              </a:spcAft>
              <a:buClrTx/>
              <a:buSzTx/>
              <a:buFont typeface="Arial MT"/>
              <a:buChar char="•"/>
              <a:tabLst>
                <a:tab pos="100276" algn="l"/>
              </a:tabLst>
              <a:defRPr/>
            </a:pP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here</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by</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acknowledge</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all</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contributors</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for</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their</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material</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and</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inputs.</a:t>
            </a:r>
            <a:endPar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endParaRPr>
          </a:p>
          <a:p>
            <a:pPr marL="99961" marR="0" lvl="0" indent="-93969" algn="l" defTabSz="914400" rtl="0" eaLnBrk="1" fontAlgn="base" latinLnBrk="0" hangingPunct="1">
              <a:lnSpc>
                <a:spcPct val="100000"/>
              </a:lnSpc>
              <a:spcBef>
                <a:spcPts val="281"/>
              </a:spcBef>
              <a:spcAft>
                <a:spcPct val="0"/>
              </a:spcAft>
              <a:buClrTx/>
              <a:buSzTx/>
              <a:buFont typeface="Arial MT"/>
              <a:buChar char="•"/>
              <a:tabLst>
                <a:tab pos="100276" algn="l"/>
              </a:tabLst>
              <a:defRPr/>
            </a:pP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 </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have</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provided</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source</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information</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wherever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necessary</a:t>
            </a:r>
            <a:endPar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endParaRPr>
          </a:p>
          <a:p>
            <a:pPr marL="99961" marR="0" lvl="0" indent="-93969" algn="l" defTabSz="914400" rtl="0" eaLnBrk="1" fontAlgn="base" latinLnBrk="0" hangingPunct="1">
              <a:lnSpc>
                <a:spcPct val="100000"/>
              </a:lnSpc>
              <a:spcBef>
                <a:spcPts val="281"/>
              </a:spcBef>
              <a:spcAft>
                <a:spcPct val="0"/>
              </a:spcAft>
              <a:buClrTx/>
              <a:buSzTx/>
              <a:buFont typeface="Arial MT"/>
              <a:buChar char="•"/>
              <a:tabLst>
                <a:tab pos="100276" algn="l"/>
              </a:tabLst>
              <a:defRPr/>
            </a:pP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 </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have</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added</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and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modified</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content to</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suit the</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requirements</a:t>
            </a:r>
            <a:r>
              <a:rPr kumimoji="0" sz="1200" b="0" i="0" u="none" strike="noStrike" kern="1200" cap="none" spc="-1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of the</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course</a:t>
            </a:r>
            <a:endPar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endParaRPr>
          </a:p>
        </p:txBody>
      </p:sp>
      <p:sp>
        <p:nvSpPr>
          <p:cNvPr id="4" name="object 4"/>
          <p:cNvSpPr txBox="1"/>
          <p:nvPr/>
        </p:nvSpPr>
        <p:spPr>
          <a:xfrm>
            <a:off x="4467389" y="2171701"/>
            <a:ext cx="4274196" cy="233216"/>
          </a:xfrm>
          <a:prstGeom prst="rect">
            <a:avLst/>
          </a:prstGeom>
        </p:spPr>
        <p:txBody>
          <a:bodyPr vert="horz" wrap="square" lIns="0" tIns="7568" rIns="0" bIns="0" rtlCol="0">
            <a:spAutoFit/>
          </a:bodyPr>
          <a:lstStyle/>
          <a:p>
            <a:pPr marL="6306" marR="0" lvl="0" indent="0" algn="l" defTabSz="914400" rtl="0" eaLnBrk="1" fontAlgn="base" latinLnBrk="0" hangingPunct="1">
              <a:lnSpc>
                <a:spcPct val="100000"/>
              </a:lnSpc>
              <a:spcBef>
                <a:spcPts val="59"/>
              </a:spcBef>
              <a:spcAft>
                <a:spcPct val="0"/>
              </a:spcAft>
              <a:buClrTx/>
              <a:buSzTx/>
              <a:buFontTx/>
              <a:buNone/>
              <a:tabLst/>
              <a:defRPr/>
            </a:pPr>
            <a:r>
              <a:rPr kumimoji="0" sz="1466" b="0" i="0" u="none" strike="noStrike" kern="1200" cap="none" spc="-8"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Disclaimer</a:t>
            </a:r>
            <a:r>
              <a:rPr kumimoji="0" sz="1466" b="0" i="0" u="none" strike="noStrike" kern="1200" cap="none" spc="-35"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 </a:t>
            </a:r>
            <a:r>
              <a:rPr kumimoji="0" sz="1466" b="0" i="0" u="none" strike="noStrike" kern="1200" cap="none" spc="-5"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and</a:t>
            </a:r>
            <a:r>
              <a:rPr kumimoji="0" sz="1466" b="0" i="0" u="none" strike="noStrike" kern="1200" cap="none" spc="-35"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 </a:t>
            </a:r>
            <a:r>
              <a:rPr kumimoji="0" sz="1466" b="0" i="0" u="none" strike="noStrike" kern="1200" cap="none" spc="-12"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Acknowledgement</a:t>
            </a:r>
            <a:endParaRPr kumimoji="0" sz="1466"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Light"/>
            </a:endParaRPr>
          </a:p>
        </p:txBody>
      </p:sp>
      <p:pic>
        <p:nvPicPr>
          <p:cNvPr id="5" name="object 5"/>
          <p:cNvPicPr/>
          <p:nvPr/>
        </p:nvPicPr>
        <p:blipFill>
          <a:blip r:embed="rId2" cstate="print"/>
          <a:stretch>
            <a:fillRect/>
          </a:stretch>
        </p:blipFill>
        <p:spPr>
          <a:xfrm>
            <a:off x="5280598" y="2823275"/>
            <a:ext cx="815403" cy="891476"/>
          </a:xfrm>
          <a:prstGeom prst="rect">
            <a:avLst/>
          </a:prstGeom>
        </p:spPr>
      </p:pic>
    </p:spTree>
    <p:extLst>
      <p:ext uri="{BB962C8B-B14F-4D97-AF65-F5344CB8AC3E}">
        <p14:creationId xmlns:p14="http://schemas.microsoft.com/office/powerpoint/2010/main" val="3825760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237942-096E-2E0A-FDA4-CD3018C488A7}"/>
              </a:ext>
            </a:extLst>
          </p:cNvPr>
          <p:cNvSpPr>
            <a:spLocks noGrp="1"/>
          </p:cNvSpPr>
          <p:nvPr>
            <p:ph idx="10"/>
          </p:nvPr>
        </p:nvSpPr>
        <p:spPr/>
        <p:txBody>
          <a:bodyPr>
            <a:normAutofit fontScale="92500" lnSpcReduction="20000"/>
          </a:bodyPr>
          <a:lstStyle/>
          <a:p>
            <a:r>
              <a:rPr lang="en-IN" dirty="0"/>
              <a:t>Consider an LLM with vocabulary size |V| = 50,000 and model dimension d = 4,096. The model uses weight tying between its input embedding matrix and its output (LM head) projection.</a:t>
            </a:r>
          </a:p>
          <a:p>
            <a:r>
              <a:rPr lang="en-IN" b="1" dirty="0"/>
              <a:t>(a) </a:t>
            </a:r>
            <a:r>
              <a:rPr lang="en-IN" dirty="0"/>
              <a:t>State the shape of the embedding matrix E and the unembedding matrix E</a:t>
            </a:r>
            <a:r>
              <a:rPr lang="en-IN" baseline="30000" dirty="0"/>
              <a:t>T</a:t>
            </a:r>
          </a:p>
          <a:p>
            <a:pPr lvl="1">
              <a:lnSpc>
                <a:spcPct val="116000"/>
              </a:lnSpc>
              <a:spcAft>
                <a:spcPts val="300"/>
              </a:spcAft>
              <a:buNone/>
            </a:pPr>
            <a:r>
              <a:rPr lang="en-IN" dirty="0"/>
              <a:t>Ans :</a:t>
            </a:r>
          </a:p>
          <a:p>
            <a:pPr lvl="1">
              <a:lnSpc>
                <a:spcPct val="116000"/>
              </a:lnSpc>
              <a:spcAft>
                <a:spcPts val="300"/>
              </a:spcAft>
              <a:buNone/>
            </a:pPr>
            <a:r>
              <a:rPr lang="en-IN" dirty="0"/>
              <a:t>Embedding matrix:  E  ∈ ℝ</a:t>
            </a:r>
            <a:r>
              <a:rPr lang="en-IN" baseline="30000" dirty="0"/>
              <a:t>(|V| × d)</a:t>
            </a:r>
            <a:r>
              <a:rPr lang="en-IN" dirty="0"/>
              <a:t> = [50,000 × 4,096]</a:t>
            </a:r>
          </a:p>
          <a:p>
            <a:pPr lvl="1">
              <a:lnSpc>
                <a:spcPct val="116000"/>
              </a:lnSpc>
              <a:spcAft>
                <a:spcPts val="300"/>
              </a:spcAft>
              <a:buNone/>
            </a:pPr>
            <a:r>
              <a:rPr lang="en-IN" dirty="0"/>
              <a:t>Unembedding matrix:  E</a:t>
            </a:r>
            <a:r>
              <a:rPr lang="en-IN" baseline="30000" dirty="0"/>
              <a:t>T</a:t>
            </a:r>
            <a:r>
              <a:rPr lang="en-IN" dirty="0"/>
              <a:t> ∈ ℝ</a:t>
            </a:r>
            <a:r>
              <a:rPr lang="en-IN" baseline="30000" dirty="0"/>
              <a:t>(d × |V|)</a:t>
            </a:r>
            <a:r>
              <a:rPr lang="en-IN" dirty="0"/>
              <a:t> = [4,096 × 50,000]</a:t>
            </a:r>
            <a:endParaRPr lang="en-IN" dirty="0">
              <a:latin typeface="Calibri" panose="020F0502020204030204" pitchFamily="34" charset="0"/>
              <a:ea typeface="Calibri" panose="020F0502020204030204" pitchFamily="34" charset="0"/>
            </a:endParaRPr>
          </a:p>
          <a:p>
            <a:r>
              <a:rPr lang="en-IN" b="1" dirty="0"/>
              <a:t>(b) </a:t>
            </a:r>
            <a:r>
              <a:rPr lang="en-IN" dirty="0"/>
              <a:t>Given a one-hot input vector of shape [1 × |V|] for a single token, describe the operation and the resulting shape that produces its token embedding.  </a:t>
            </a:r>
          </a:p>
          <a:p>
            <a:r>
              <a:rPr lang="en-IN" dirty="0"/>
              <a:t>Ans :</a:t>
            </a:r>
          </a:p>
          <a:p>
            <a:pPr>
              <a:lnSpc>
                <a:spcPct val="116000"/>
              </a:lnSpc>
              <a:spcAft>
                <a:spcPts val="300"/>
              </a:spcAft>
              <a:buNone/>
            </a:pPr>
            <a:r>
              <a:rPr lang="en-IN" dirty="0"/>
              <a:t>Operation: one-hot vector × E.</a:t>
            </a:r>
          </a:p>
          <a:p>
            <a:pPr>
              <a:lnSpc>
                <a:spcPct val="116000"/>
              </a:lnSpc>
              <a:spcAft>
                <a:spcPts val="300"/>
              </a:spcAft>
              <a:buNone/>
            </a:pPr>
            <a:r>
              <a:rPr lang="en-IN" dirty="0"/>
              <a:t>Shapes: [1 × |V|] × [|V| × d] = [1 × d]  i.e. [1 × 4,096].</a:t>
            </a:r>
          </a:p>
          <a:p>
            <a:pPr>
              <a:lnSpc>
                <a:spcPct val="116000"/>
              </a:lnSpc>
              <a:spcAft>
                <a:spcPts val="300"/>
              </a:spcAft>
              <a:buNone/>
            </a:pPr>
            <a:r>
              <a:rPr lang="en-IN" dirty="0"/>
              <a:t>Interpretation: This effectively selects the row of E corresponding to the token ID, yielding the d-dimensional token embedding.</a:t>
            </a:r>
            <a:endParaRPr lang="en-IN" dirty="0">
              <a:latin typeface="Calibri" panose="020F0502020204030204" pitchFamily="34" charset="0"/>
              <a:ea typeface="Calibri" panose="020F0502020204030204" pitchFamily="34" charset="0"/>
            </a:endParaRPr>
          </a:p>
          <a:p>
            <a:endParaRPr lang="en-IN" dirty="0"/>
          </a:p>
        </p:txBody>
      </p:sp>
      <p:sp>
        <p:nvSpPr>
          <p:cNvPr id="3" name="Title 2">
            <a:extLst>
              <a:ext uri="{FF2B5EF4-FFF2-40B4-BE49-F238E27FC236}">
                <a16:creationId xmlns:a16="http://schemas.microsoft.com/office/drawing/2014/main" id="{2D573069-9D9A-9BAA-2797-95DEA9AF9CB9}"/>
              </a:ext>
            </a:extLst>
          </p:cNvPr>
          <p:cNvSpPr>
            <a:spLocks noGrp="1"/>
          </p:cNvSpPr>
          <p:nvPr>
            <p:ph type="title"/>
          </p:nvPr>
        </p:nvSpPr>
        <p:spPr/>
        <p:txBody>
          <a:bodyPr>
            <a:normAutofit/>
          </a:bodyPr>
          <a:lstStyle/>
          <a:p>
            <a:r>
              <a:rPr lang="en-US" sz="2800" dirty="0"/>
              <a:t>Question 1 </a:t>
            </a:r>
            <a:r>
              <a:rPr lang="en-IN" sz="2800" b="1" dirty="0"/>
              <a:t>Language </a:t>
            </a:r>
            <a:r>
              <a:rPr lang="en-IN" sz="2800" b="1" dirty="0" err="1"/>
              <a:t>Modeling</a:t>
            </a:r>
            <a:r>
              <a:rPr lang="en-IN" sz="2800" b="1" dirty="0"/>
              <a:t> Head, Embeddings &amp; Weight Tying</a:t>
            </a:r>
            <a:endParaRPr lang="en-IN" sz="2800" dirty="0"/>
          </a:p>
        </p:txBody>
      </p:sp>
    </p:spTree>
    <p:extLst>
      <p:ext uri="{BB962C8B-B14F-4D97-AF65-F5344CB8AC3E}">
        <p14:creationId xmlns:p14="http://schemas.microsoft.com/office/powerpoint/2010/main" val="4003533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AC0022-06F2-495A-1FAD-3758F5A57969}"/>
              </a:ext>
            </a:extLst>
          </p:cNvPr>
          <p:cNvSpPr>
            <a:spLocks noGrp="1"/>
          </p:cNvSpPr>
          <p:nvPr>
            <p:ph idx="10"/>
          </p:nvPr>
        </p:nvSpPr>
        <p:spPr/>
        <p:txBody>
          <a:bodyPr/>
          <a:lstStyle/>
          <a:p>
            <a:r>
              <a:rPr lang="en-IN" b="1" dirty="0"/>
              <a:t>(c) </a:t>
            </a:r>
            <a:r>
              <a:rPr lang="en-IN" dirty="0"/>
              <a:t>After the final transformer block (L), the hidden state at position N is h(N</a:t>
            </a:r>
            <a:r>
              <a:rPr lang="en-IN" baseline="30000" dirty="0"/>
              <a:t>L</a:t>
            </a:r>
            <a:r>
              <a:rPr lang="en-IN" dirty="0"/>
              <a:t>) of shape [1 × d]. Describe the operation that produces the logit vector u, give the shape of u, and name the function that converts u into probabilities y over the vocabulary.</a:t>
            </a:r>
          </a:p>
          <a:p>
            <a:endParaRPr lang="en-IN" dirty="0"/>
          </a:p>
          <a:p>
            <a:r>
              <a:rPr lang="en-IN" dirty="0"/>
              <a:t>Ans :</a:t>
            </a:r>
          </a:p>
          <a:p>
            <a:pPr>
              <a:lnSpc>
                <a:spcPct val="116000"/>
              </a:lnSpc>
              <a:spcAft>
                <a:spcPts val="300"/>
              </a:spcAft>
              <a:buNone/>
            </a:pPr>
            <a:r>
              <a:rPr lang="en-IN" dirty="0"/>
              <a:t>Operation:  u = h(N</a:t>
            </a:r>
            <a:r>
              <a:rPr lang="en-IN" baseline="30000" dirty="0"/>
              <a:t>L</a:t>
            </a:r>
            <a:r>
              <a:rPr lang="en-IN" dirty="0"/>
              <a:t>) · E</a:t>
            </a:r>
            <a:r>
              <a:rPr lang="en-IN" baseline="30000" dirty="0"/>
              <a:t>T</a:t>
            </a:r>
          </a:p>
          <a:p>
            <a:pPr>
              <a:lnSpc>
                <a:spcPct val="116000"/>
              </a:lnSpc>
              <a:spcAft>
                <a:spcPts val="300"/>
              </a:spcAft>
              <a:buNone/>
            </a:pPr>
            <a:r>
              <a:rPr lang="en-IN" dirty="0"/>
              <a:t>Shapes: [1 × d] × [d × |V|] = [1 × |V|]  ⇒ u is a logit vector of size 50,000.</a:t>
            </a:r>
          </a:p>
          <a:p>
            <a:pPr>
              <a:lnSpc>
                <a:spcPct val="116000"/>
              </a:lnSpc>
              <a:spcAft>
                <a:spcPts val="300"/>
              </a:spcAft>
              <a:buNone/>
            </a:pPr>
            <a:r>
              <a:rPr lang="en-IN" dirty="0"/>
              <a:t>Function applied: </a:t>
            </a:r>
            <a:r>
              <a:rPr lang="en-IN" dirty="0" err="1"/>
              <a:t>Softmax</a:t>
            </a:r>
            <a:r>
              <a:rPr lang="en-IN" dirty="0"/>
              <a:t> over u converts logits into probabilities y over the vocabulary, where </a:t>
            </a:r>
          </a:p>
          <a:p>
            <a:pPr>
              <a:lnSpc>
                <a:spcPct val="116000"/>
              </a:lnSpc>
              <a:spcAft>
                <a:spcPts val="300"/>
              </a:spcAft>
              <a:buNone/>
            </a:pPr>
            <a:r>
              <a:rPr lang="en-IN" dirty="0"/>
              <a:t>                   </a:t>
            </a:r>
            <a:r>
              <a:rPr lang="en-IN" dirty="0" err="1"/>
              <a:t>y</a:t>
            </a:r>
            <a:r>
              <a:rPr lang="en-IN" baseline="-25000" dirty="0" err="1"/>
              <a:t>i</a:t>
            </a:r>
            <a:r>
              <a:rPr lang="en-IN" dirty="0"/>
              <a:t> = exp(</a:t>
            </a:r>
            <a:r>
              <a:rPr lang="en-IN" dirty="0" err="1"/>
              <a:t>u</a:t>
            </a:r>
            <a:r>
              <a:rPr lang="en-IN" baseline="-25000" dirty="0" err="1"/>
              <a:t>i</a:t>
            </a:r>
            <a:r>
              <a:rPr lang="en-IN" dirty="0"/>
              <a:t>) / </a:t>
            </a:r>
            <a:r>
              <a:rPr lang="en-IN" dirty="0" err="1"/>
              <a:t>Σexp</a:t>
            </a:r>
            <a:r>
              <a:rPr lang="en-IN" dirty="0"/>
              <a:t>(</a:t>
            </a:r>
            <a:r>
              <a:rPr lang="en-IN" dirty="0" err="1"/>
              <a:t>u</a:t>
            </a:r>
            <a:r>
              <a:rPr lang="en-IN" baseline="-25000" dirty="0" err="1"/>
              <a:t>j</a:t>
            </a:r>
            <a:r>
              <a:rPr lang="en-IN" dirty="0"/>
              <a:t>)</a:t>
            </a:r>
            <a:endParaRPr lang="en-IN" dirty="0">
              <a:latin typeface="Calibri" panose="020F0502020204030204" pitchFamily="34" charset="0"/>
              <a:ea typeface="Calibri" panose="020F0502020204030204" pitchFamily="34" charset="0"/>
            </a:endParaRPr>
          </a:p>
          <a:p>
            <a:endParaRPr lang="en-IN" dirty="0"/>
          </a:p>
        </p:txBody>
      </p:sp>
      <p:sp>
        <p:nvSpPr>
          <p:cNvPr id="3" name="Title 2">
            <a:extLst>
              <a:ext uri="{FF2B5EF4-FFF2-40B4-BE49-F238E27FC236}">
                <a16:creationId xmlns:a16="http://schemas.microsoft.com/office/drawing/2014/main" id="{A9114166-88BD-11FD-B3EE-C73B664D817D}"/>
              </a:ext>
            </a:extLst>
          </p:cNvPr>
          <p:cNvSpPr>
            <a:spLocks noGrp="1"/>
          </p:cNvSpPr>
          <p:nvPr>
            <p:ph type="title"/>
          </p:nvPr>
        </p:nvSpPr>
        <p:spPr/>
        <p:txBody>
          <a:bodyPr/>
          <a:lstStyle/>
          <a:p>
            <a:r>
              <a:rPr lang="en-US" dirty="0"/>
              <a:t>Question 1</a:t>
            </a:r>
            <a:endParaRPr lang="en-IN" dirty="0"/>
          </a:p>
        </p:txBody>
      </p:sp>
    </p:spTree>
    <p:extLst>
      <p:ext uri="{BB962C8B-B14F-4D97-AF65-F5344CB8AC3E}">
        <p14:creationId xmlns:p14="http://schemas.microsoft.com/office/powerpoint/2010/main" val="2626059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5D433A-5ECF-5012-A521-B45F048B5BCC}"/>
              </a:ext>
            </a:extLst>
          </p:cNvPr>
          <p:cNvSpPr>
            <a:spLocks noGrp="1"/>
          </p:cNvSpPr>
          <p:nvPr>
            <p:ph idx="10"/>
          </p:nvPr>
        </p:nvSpPr>
        <p:spPr/>
        <p:txBody>
          <a:bodyPr>
            <a:normAutofit fontScale="92500" lnSpcReduction="10000"/>
          </a:bodyPr>
          <a:lstStyle/>
          <a:p>
            <a:r>
              <a:rPr lang="en-IN" b="1" dirty="0"/>
              <a:t>(d) </a:t>
            </a:r>
            <a:r>
              <a:rPr lang="en-IN" dirty="0"/>
              <a:t>Define weight tying and state ONE practical benefit it provides.</a:t>
            </a:r>
          </a:p>
          <a:p>
            <a:endParaRPr lang="en-IN" dirty="0"/>
          </a:p>
          <a:p>
            <a:r>
              <a:rPr lang="en-IN" dirty="0"/>
              <a:t>Ans :</a:t>
            </a:r>
          </a:p>
          <a:p>
            <a:pPr>
              <a:lnSpc>
                <a:spcPct val="116000"/>
              </a:lnSpc>
              <a:spcAft>
                <a:spcPts val="300"/>
              </a:spcAft>
              <a:buNone/>
            </a:pPr>
            <a:r>
              <a:rPr lang="en-IN" dirty="0"/>
              <a:t>Weight tying: the input embedding matrix E and the output (unembedding / LM head) projection share the SAME parameters — the output projection is E</a:t>
            </a:r>
            <a:r>
              <a:rPr lang="en-IN" baseline="30000" dirty="0"/>
              <a:t>T</a:t>
            </a:r>
            <a:r>
              <a:rPr lang="en-IN" dirty="0"/>
              <a:t> (the transpose of E).</a:t>
            </a:r>
          </a:p>
          <a:p>
            <a:pPr>
              <a:lnSpc>
                <a:spcPct val="116000"/>
              </a:lnSpc>
              <a:spcAft>
                <a:spcPts val="300"/>
              </a:spcAft>
              <a:buNone/>
            </a:pPr>
            <a:r>
              <a:rPr lang="en-IN" dirty="0"/>
              <a:t>Benefit :</a:t>
            </a:r>
          </a:p>
          <a:p>
            <a:pPr marL="800100" lvl="1" indent="-342900">
              <a:lnSpc>
                <a:spcPct val="116000"/>
              </a:lnSpc>
              <a:spcAft>
                <a:spcPts val="300"/>
              </a:spcAft>
              <a:buFont typeface="Arial" panose="020B0604020202020204" pitchFamily="34" charset="0"/>
              <a:buChar char="•"/>
            </a:pPr>
            <a:r>
              <a:rPr lang="en-IN" dirty="0"/>
              <a:t>Reduces parameter count by |V| × d (≈ 205 M for the values given) — a substantial memory and storage saving.</a:t>
            </a:r>
          </a:p>
          <a:p>
            <a:pPr marL="800100" lvl="1" indent="-342900">
              <a:lnSpc>
                <a:spcPct val="116000"/>
              </a:lnSpc>
              <a:spcAft>
                <a:spcPts val="300"/>
              </a:spcAft>
              <a:buFont typeface="Arial" panose="020B0604020202020204" pitchFamily="34" charset="0"/>
              <a:buChar char="•"/>
            </a:pPr>
            <a:r>
              <a:rPr lang="en-IN" dirty="0"/>
              <a:t>Same semantic space is used for both reading and writing tokens, which typically improves generalization.</a:t>
            </a:r>
          </a:p>
          <a:p>
            <a:pPr marL="800100" lvl="1" indent="-342900">
              <a:lnSpc>
                <a:spcPct val="116000"/>
              </a:lnSpc>
              <a:spcAft>
                <a:spcPts val="300"/>
              </a:spcAft>
              <a:buFont typeface="Arial" panose="020B0604020202020204" pitchFamily="34" charset="0"/>
              <a:buChar char="•"/>
            </a:pPr>
            <a:r>
              <a:rPr lang="en-IN" dirty="0"/>
              <a:t> Faster training/convergence because both directions of the mapping are optimized jointly via shared weights.</a:t>
            </a:r>
            <a:endParaRPr lang="en-IN" dirty="0">
              <a:latin typeface="Calibri" panose="020F0502020204030204" pitchFamily="34" charset="0"/>
              <a:ea typeface="Calibri" panose="020F0502020204030204" pitchFamily="34" charset="0"/>
            </a:endParaRPr>
          </a:p>
          <a:p>
            <a:endParaRPr lang="en-IN" dirty="0"/>
          </a:p>
        </p:txBody>
      </p:sp>
      <p:sp>
        <p:nvSpPr>
          <p:cNvPr id="3" name="Title 2">
            <a:extLst>
              <a:ext uri="{FF2B5EF4-FFF2-40B4-BE49-F238E27FC236}">
                <a16:creationId xmlns:a16="http://schemas.microsoft.com/office/drawing/2014/main" id="{3B41D75E-0266-DBD8-CCD9-37673B42A8B9}"/>
              </a:ext>
            </a:extLst>
          </p:cNvPr>
          <p:cNvSpPr>
            <a:spLocks noGrp="1"/>
          </p:cNvSpPr>
          <p:nvPr>
            <p:ph type="title"/>
          </p:nvPr>
        </p:nvSpPr>
        <p:spPr/>
        <p:txBody>
          <a:bodyPr/>
          <a:lstStyle/>
          <a:p>
            <a:r>
              <a:rPr lang="en-US" dirty="0"/>
              <a:t>Question 1</a:t>
            </a:r>
            <a:endParaRPr lang="en-IN" dirty="0"/>
          </a:p>
        </p:txBody>
      </p:sp>
    </p:spTree>
    <p:extLst>
      <p:ext uri="{BB962C8B-B14F-4D97-AF65-F5344CB8AC3E}">
        <p14:creationId xmlns:p14="http://schemas.microsoft.com/office/powerpoint/2010/main" val="4227192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956766-177C-1128-F9C0-D73D2FB97CDB}"/>
              </a:ext>
            </a:extLst>
          </p:cNvPr>
          <p:cNvSpPr>
            <a:spLocks noGrp="1"/>
          </p:cNvSpPr>
          <p:nvPr>
            <p:ph idx="10"/>
          </p:nvPr>
        </p:nvSpPr>
        <p:spPr/>
        <p:txBody>
          <a:bodyPr/>
          <a:lstStyle/>
          <a:p>
            <a:r>
              <a:rPr lang="en-IN" b="1" dirty="0"/>
              <a:t>(e) </a:t>
            </a:r>
            <a:r>
              <a:rPr lang="en-IN" dirty="0"/>
              <a:t>During inference (generation), which position's logits are used to produce the next token, and why?  </a:t>
            </a:r>
          </a:p>
          <a:p>
            <a:endParaRPr lang="en-IN" dirty="0"/>
          </a:p>
          <a:p>
            <a:r>
              <a:rPr lang="en-IN" dirty="0"/>
              <a:t>ANS:</a:t>
            </a:r>
          </a:p>
          <a:p>
            <a:pPr>
              <a:lnSpc>
                <a:spcPct val="116000"/>
              </a:lnSpc>
              <a:spcAft>
                <a:spcPts val="300"/>
              </a:spcAft>
              <a:buNone/>
            </a:pPr>
            <a:r>
              <a:rPr lang="en-IN" dirty="0"/>
              <a:t>The logits at the last position (position N) are used to generate the next token.</a:t>
            </a:r>
          </a:p>
          <a:p>
            <a:pPr>
              <a:lnSpc>
                <a:spcPct val="116000"/>
              </a:lnSpc>
              <a:spcAft>
                <a:spcPts val="300"/>
              </a:spcAft>
              <a:buNone/>
            </a:pPr>
            <a:r>
              <a:rPr lang="en-IN" dirty="0"/>
              <a:t>Reason: Due to causal (left-to-right) masking in a decoder-only LLM, the hidden state at position N has already integrated all preceding tokens and therefore carries the conditional distribution P(next token | all previous tokens).</a:t>
            </a:r>
            <a:endParaRPr lang="en-IN" dirty="0">
              <a:latin typeface="Calibri" panose="020F0502020204030204" pitchFamily="34" charset="0"/>
              <a:ea typeface="Calibri" panose="020F0502020204030204" pitchFamily="34" charset="0"/>
            </a:endParaRPr>
          </a:p>
          <a:p>
            <a:endParaRPr lang="en-IN" dirty="0"/>
          </a:p>
          <a:p>
            <a:endParaRPr lang="en-IN" dirty="0"/>
          </a:p>
        </p:txBody>
      </p:sp>
      <p:sp>
        <p:nvSpPr>
          <p:cNvPr id="3" name="Title 2">
            <a:extLst>
              <a:ext uri="{FF2B5EF4-FFF2-40B4-BE49-F238E27FC236}">
                <a16:creationId xmlns:a16="http://schemas.microsoft.com/office/drawing/2014/main" id="{1BEE5AD4-A95F-8914-D09F-222BCCF781A4}"/>
              </a:ext>
            </a:extLst>
          </p:cNvPr>
          <p:cNvSpPr>
            <a:spLocks noGrp="1"/>
          </p:cNvSpPr>
          <p:nvPr>
            <p:ph type="title"/>
          </p:nvPr>
        </p:nvSpPr>
        <p:spPr/>
        <p:txBody>
          <a:bodyPr/>
          <a:lstStyle/>
          <a:p>
            <a:r>
              <a:rPr lang="en-US" dirty="0"/>
              <a:t>Question 1</a:t>
            </a:r>
            <a:endParaRPr lang="en-IN" dirty="0"/>
          </a:p>
        </p:txBody>
      </p:sp>
    </p:spTree>
    <p:extLst>
      <p:ext uri="{BB962C8B-B14F-4D97-AF65-F5344CB8AC3E}">
        <p14:creationId xmlns:p14="http://schemas.microsoft.com/office/powerpoint/2010/main" val="2492088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8C7128-28CB-B595-1D74-59A93140EF83}"/>
              </a:ext>
            </a:extLst>
          </p:cNvPr>
          <p:cNvSpPr>
            <a:spLocks noGrp="1"/>
          </p:cNvSpPr>
          <p:nvPr>
            <p:ph idx="10"/>
          </p:nvPr>
        </p:nvSpPr>
        <p:spPr>
          <a:xfrm>
            <a:off x="304800" y="1545224"/>
            <a:ext cx="11801856" cy="5011024"/>
          </a:xfrm>
        </p:spPr>
        <p:txBody>
          <a:bodyPr>
            <a:normAutofit fontScale="92500" lnSpcReduction="20000"/>
          </a:bodyPr>
          <a:lstStyle/>
          <a:p>
            <a:r>
              <a:rPr lang="en-IN" dirty="0"/>
              <a:t>A transformer-based LLM is configured with input sequence length N = 6, model dimension d = 768, and number of attention heads h = 12. Assume the standard equal-split scheme used in the original Transformer (Vaswani et al., 2017).</a:t>
            </a:r>
          </a:p>
          <a:p>
            <a:endParaRPr lang="en-IN" dirty="0"/>
          </a:p>
          <a:p>
            <a:pPr marL="457200" indent="-457200">
              <a:buAutoNum type="alphaLcParenBoth"/>
            </a:pPr>
            <a:r>
              <a:rPr lang="en-IN" dirty="0"/>
              <a:t>Compute the per-head dimensions d</a:t>
            </a:r>
            <a:r>
              <a:rPr lang="en-IN" baseline="-25000" dirty="0"/>
              <a:t>k</a:t>
            </a:r>
            <a:r>
              <a:rPr lang="en-IN" dirty="0"/>
              <a:t> and d</a:t>
            </a:r>
            <a:r>
              <a:rPr lang="en-IN" baseline="-25000" dirty="0"/>
              <a:t>v</a:t>
            </a:r>
          </a:p>
          <a:p>
            <a:pPr marL="457200" indent="-457200">
              <a:buAutoNum type="alphaLcParenBoth"/>
            </a:pPr>
            <a:endParaRPr lang="en-IN" baseline="-25000" dirty="0"/>
          </a:p>
          <a:p>
            <a:r>
              <a:rPr lang="en-IN" dirty="0"/>
              <a:t>Ans: d</a:t>
            </a:r>
            <a:r>
              <a:rPr lang="en-IN" baseline="-25000" dirty="0"/>
              <a:t>k</a:t>
            </a:r>
            <a:r>
              <a:rPr lang="en-IN" dirty="0"/>
              <a:t> = d</a:t>
            </a:r>
            <a:r>
              <a:rPr lang="en-IN" baseline="-25000" dirty="0"/>
              <a:t>v</a:t>
            </a:r>
            <a:r>
              <a:rPr lang="en-IN" dirty="0"/>
              <a:t> = d / h = 768 / 12 = 64</a:t>
            </a:r>
            <a:endParaRPr lang="en-IN" sz="2800" dirty="0">
              <a:latin typeface="Calibri" panose="020F0502020204030204" pitchFamily="34" charset="0"/>
              <a:ea typeface="Calibri" panose="020F0502020204030204" pitchFamily="34" charset="0"/>
            </a:endParaRPr>
          </a:p>
          <a:p>
            <a:pPr marL="457200" indent="-457200">
              <a:buAutoNum type="alphaLcParenBoth"/>
            </a:pPr>
            <a:endParaRPr lang="en-IN" dirty="0"/>
          </a:p>
          <a:p>
            <a:r>
              <a:rPr lang="en-IN" b="1" dirty="0"/>
              <a:t>(b) </a:t>
            </a:r>
            <a:r>
              <a:rPr lang="en-IN" dirty="0"/>
              <a:t>State the shapes of the per-head projection matrices </a:t>
            </a:r>
            <a:r>
              <a:rPr lang="en-IN" dirty="0" err="1"/>
              <a:t>W</a:t>
            </a:r>
            <a:r>
              <a:rPr lang="en-IN" baseline="-25000" dirty="0" err="1"/>
              <a:t>Qi</a:t>
            </a:r>
            <a:r>
              <a:rPr lang="en-IN" dirty="0"/>
              <a:t>, </a:t>
            </a:r>
            <a:r>
              <a:rPr lang="en-IN" dirty="0" err="1"/>
              <a:t>W</a:t>
            </a:r>
            <a:r>
              <a:rPr lang="en-IN" baseline="-25000" dirty="0" err="1"/>
              <a:t>Ki</a:t>
            </a:r>
            <a:r>
              <a:rPr lang="en-IN" dirty="0"/>
              <a:t>, </a:t>
            </a:r>
            <a:r>
              <a:rPr lang="en-IN" dirty="0" err="1"/>
              <a:t>W</a:t>
            </a:r>
            <a:r>
              <a:rPr lang="en-IN" baseline="-25000" dirty="0" err="1"/>
              <a:t>vi</a:t>
            </a:r>
            <a:endParaRPr lang="en-IN" baseline="-25000" dirty="0"/>
          </a:p>
          <a:p>
            <a:endParaRPr lang="en-IN" baseline="-25000" dirty="0"/>
          </a:p>
          <a:p>
            <a:r>
              <a:rPr lang="en-IN" dirty="0"/>
              <a:t>Ans: Each of </a:t>
            </a:r>
            <a:r>
              <a:rPr lang="en-IN" dirty="0" err="1"/>
              <a:t>W</a:t>
            </a:r>
            <a:r>
              <a:rPr lang="en-IN" baseline="-25000" dirty="0" err="1"/>
              <a:t>Qi</a:t>
            </a:r>
            <a:r>
              <a:rPr lang="en-IN" dirty="0"/>
              <a:t>, </a:t>
            </a:r>
            <a:r>
              <a:rPr lang="en-IN" dirty="0" err="1"/>
              <a:t>W</a:t>
            </a:r>
            <a:r>
              <a:rPr lang="en-IN" baseline="-25000" dirty="0" err="1"/>
              <a:t>Ki</a:t>
            </a:r>
            <a:r>
              <a:rPr lang="en-IN" dirty="0"/>
              <a:t>, </a:t>
            </a:r>
            <a:r>
              <a:rPr lang="en-IN" dirty="0" err="1"/>
              <a:t>W</a:t>
            </a:r>
            <a:r>
              <a:rPr lang="en-IN" baseline="-25000" dirty="0" err="1"/>
              <a:t>vi</a:t>
            </a:r>
            <a:r>
              <a:rPr lang="en-IN" baseline="-25000" dirty="0"/>
              <a:t>  </a:t>
            </a:r>
            <a:r>
              <a:rPr lang="en-IN" dirty="0"/>
              <a:t>has shape [d × d</a:t>
            </a:r>
            <a:r>
              <a:rPr lang="en-IN" baseline="-25000" dirty="0"/>
              <a:t>k</a:t>
            </a:r>
            <a:r>
              <a:rPr lang="en-IN" dirty="0"/>
              <a:t>] = [768 × 64]. (</a:t>
            </a:r>
            <a:r>
              <a:rPr lang="en-IN" dirty="0" err="1"/>
              <a:t>W</a:t>
            </a:r>
            <a:r>
              <a:rPr lang="en-IN" baseline="-25000" dirty="0" err="1"/>
              <a:t>vi</a:t>
            </a:r>
            <a:r>
              <a:rPr lang="en-IN" baseline="-25000" dirty="0"/>
              <a:t> </a:t>
            </a:r>
            <a:r>
              <a:rPr lang="en-IN" dirty="0"/>
              <a:t>also be written as [d × d</a:t>
            </a:r>
            <a:r>
              <a:rPr lang="en-IN" baseline="-25000" dirty="0"/>
              <a:t>v</a:t>
            </a:r>
            <a:r>
              <a:rPr lang="en-IN" dirty="0"/>
              <a:t>], same value here.)</a:t>
            </a:r>
            <a:endParaRPr lang="en-IN" sz="2800" dirty="0">
              <a:latin typeface="Calibri" panose="020F0502020204030204" pitchFamily="34" charset="0"/>
              <a:ea typeface="Calibri" panose="020F0502020204030204" pitchFamily="34" charset="0"/>
            </a:endParaRPr>
          </a:p>
          <a:p>
            <a:endParaRPr lang="en-IN" dirty="0"/>
          </a:p>
          <a:p>
            <a:r>
              <a:rPr lang="en-IN" b="1" dirty="0"/>
              <a:t>(c) </a:t>
            </a:r>
            <a:r>
              <a:rPr lang="en-IN" dirty="0"/>
              <a:t>State the shapes of Q, K, V for a single head after projection.  </a:t>
            </a:r>
          </a:p>
          <a:p>
            <a:endParaRPr lang="en-IN" dirty="0"/>
          </a:p>
          <a:p>
            <a:r>
              <a:rPr lang="en-IN" dirty="0"/>
              <a:t>Ans: Input X has shape [N × d] = [6 × 768]. After per-head projection: Q, K, V each have shape [N × d</a:t>
            </a:r>
            <a:r>
              <a:rPr lang="en-IN" baseline="-25000" dirty="0"/>
              <a:t>k</a:t>
            </a:r>
            <a:r>
              <a:rPr lang="en-IN" dirty="0"/>
              <a:t>] = [6 × 64].</a:t>
            </a:r>
            <a:endParaRPr lang="en-IN" sz="2800" dirty="0">
              <a:latin typeface="Calibri" panose="020F0502020204030204" pitchFamily="34" charset="0"/>
              <a:ea typeface="Calibri" panose="020F0502020204030204" pitchFamily="34" charset="0"/>
            </a:endParaRPr>
          </a:p>
          <a:p>
            <a:endParaRPr lang="en-IN" dirty="0"/>
          </a:p>
          <a:p>
            <a:endParaRPr lang="en-IN" dirty="0"/>
          </a:p>
          <a:p>
            <a:endParaRPr lang="en-IN" dirty="0"/>
          </a:p>
        </p:txBody>
      </p:sp>
      <p:sp>
        <p:nvSpPr>
          <p:cNvPr id="3" name="Title 2">
            <a:extLst>
              <a:ext uri="{FF2B5EF4-FFF2-40B4-BE49-F238E27FC236}">
                <a16:creationId xmlns:a16="http://schemas.microsoft.com/office/drawing/2014/main" id="{8CC971EE-D8E5-F1C8-67BC-BB5C9E98D248}"/>
              </a:ext>
            </a:extLst>
          </p:cNvPr>
          <p:cNvSpPr>
            <a:spLocks noGrp="1"/>
          </p:cNvSpPr>
          <p:nvPr>
            <p:ph type="title"/>
          </p:nvPr>
        </p:nvSpPr>
        <p:spPr/>
        <p:txBody>
          <a:bodyPr>
            <a:normAutofit/>
          </a:bodyPr>
          <a:lstStyle/>
          <a:p>
            <a:r>
              <a:rPr lang="en-US" sz="2800" dirty="0"/>
              <a:t>Question2 </a:t>
            </a:r>
            <a:r>
              <a:rPr lang="en-IN" sz="2800" b="1" dirty="0"/>
              <a:t>Multi-Head Attention — Shape Calculations</a:t>
            </a:r>
            <a:endParaRPr lang="en-IN" sz="2800" dirty="0"/>
          </a:p>
        </p:txBody>
      </p:sp>
    </p:spTree>
    <p:extLst>
      <p:ext uri="{BB962C8B-B14F-4D97-AF65-F5344CB8AC3E}">
        <p14:creationId xmlns:p14="http://schemas.microsoft.com/office/powerpoint/2010/main" val="417628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84A64B-5611-6F99-14CE-D8FD81EB96A2}"/>
              </a:ext>
            </a:extLst>
          </p:cNvPr>
          <p:cNvSpPr>
            <a:spLocks noGrp="1"/>
          </p:cNvSpPr>
          <p:nvPr>
            <p:ph idx="10"/>
          </p:nvPr>
        </p:nvSpPr>
        <p:spPr>
          <a:xfrm>
            <a:off x="304800" y="1545224"/>
            <a:ext cx="11756136" cy="4965304"/>
          </a:xfrm>
        </p:spPr>
        <p:txBody>
          <a:bodyPr>
            <a:normAutofit fontScale="92500" lnSpcReduction="10000"/>
          </a:bodyPr>
          <a:lstStyle/>
          <a:p>
            <a:r>
              <a:rPr lang="en-IN" b="1" dirty="0"/>
              <a:t>(d) </a:t>
            </a:r>
            <a:r>
              <a:rPr lang="en-IN" dirty="0"/>
              <a:t>State the shape of the concatenated output of all heads and the shape of the output projection W</a:t>
            </a:r>
            <a:r>
              <a:rPr lang="en-IN" baseline="-25000" dirty="0"/>
              <a:t>O</a:t>
            </a:r>
          </a:p>
          <a:p>
            <a:endParaRPr lang="en-IN" dirty="0"/>
          </a:p>
          <a:p>
            <a:r>
              <a:rPr lang="en-IN" dirty="0"/>
              <a:t>Ans: Each head outputs [N × d</a:t>
            </a:r>
            <a:r>
              <a:rPr lang="en-IN" baseline="-25000" dirty="0"/>
              <a:t>v</a:t>
            </a:r>
            <a:r>
              <a:rPr lang="en-IN" dirty="0"/>
              <a:t>] = [6 × 64]. Concatenated output of 12 heads = [N × (</a:t>
            </a:r>
            <a:r>
              <a:rPr lang="en-IN" dirty="0" err="1"/>
              <a:t>h·d</a:t>
            </a:r>
            <a:r>
              <a:rPr lang="en-IN" baseline="-25000" dirty="0" err="1"/>
              <a:t>v</a:t>
            </a:r>
            <a:r>
              <a:rPr lang="en-IN" dirty="0"/>
              <a:t>)] = [6 × 768].  W</a:t>
            </a:r>
            <a:r>
              <a:rPr lang="en-IN" baseline="-25000" dirty="0"/>
              <a:t>O</a:t>
            </a:r>
            <a:r>
              <a:rPr lang="en-IN" dirty="0"/>
              <a:t> has shape [(</a:t>
            </a:r>
            <a:r>
              <a:rPr lang="en-IN" dirty="0" err="1"/>
              <a:t>h·d</a:t>
            </a:r>
            <a:r>
              <a:rPr lang="en-IN" baseline="-25000" dirty="0" err="1"/>
              <a:t>v</a:t>
            </a:r>
            <a:r>
              <a:rPr lang="en-IN" dirty="0"/>
              <a:t>) × d] = [768 × 768].</a:t>
            </a:r>
            <a:endParaRPr lang="en-IN" sz="2800" dirty="0">
              <a:latin typeface="Calibri" panose="020F0502020204030204" pitchFamily="34" charset="0"/>
              <a:ea typeface="Calibri" panose="020F0502020204030204" pitchFamily="34" charset="0"/>
            </a:endParaRPr>
          </a:p>
          <a:p>
            <a:endParaRPr lang="en-IN" dirty="0"/>
          </a:p>
          <a:p>
            <a:r>
              <a:rPr lang="en-IN" b="1" dirty="0"/>
              <a:t>(e) </a:t>
            </a:r>
            <a:r>
              <a:rPr lang="en-IN" dirty="0"/>
              <a:t>State the final shape of the multi-head attention output A and explain in 1–2 lines why per-head dimension reduction keeps total compute similar to single-head full-dimensional attention.  </a:t>
            </a:r>
          </a:p>
          <a:p>
            <a:endParaRPr lang="en-IN" dirty="0"/>
          </a:p>
          <a:p>
            <a:pPr>
              <a:lnSpc>
                <a:spcPct val="116000"/>
              </a:lnSpc>
              <a:spcAft>
                <a:spcPts val="300"/>
              </a:spcAft>
              <a:buNone/>
            </a:pPr>
            <a:r>
              <a:rPr lang="en-IN" dirty="0"/>
              <a:t>Ans: Final output A has shape [N × d] = [6 × 768].</a:t>
            </a:r>
            <a:endParaRPr lang="en-IN" sz="2800" dirty="0"/>
          </a:p>
          <a:p>
            <a:pPr>
              <a:lnSpc>
                <a:spcPct val="116000"/>
              </a:lnSpc>
              <a:spcAft>
                <a:spcPts val="300"/>
              </a:spcAft>
              <a:buNone/>
            </a:pPr>
            <a:r>
              <a:rPr lang="en-IN" dirty="0"/>
              <a:t>Explanation: Each head operates on a d/h-dimensional subspace. Per-head attention cost is O(N²·d</a:t>
            </a:r>
            <a:r>
              <a:rPr lang="en-IN" baseline="-25000" dirty="0"/>
              <a:t>k</a:t>
            </a:r>
            <a:r>
              <a:rPr lang="en-IN" dirty="0"/>
              <a:t>) and there are h heads, giving h·N²·(d/h) = N²·d — equivalent to single-head full-dimensional attention. Reduced per-head dimension keeps total FLOPs comparable while allowing multiple representation subspaces.</a:t>
            </a:r>
            <a:endParaRPr lang="en-IN" sz="2800" dirty="0">
              <a:latin typeface="Calibri" panose="020F0502020204030204" pitchFamily="34" charset="0"/>
              <a:ea typeface="Calibri" panose="020F0502020204030204" pitchFamily="34" charset="0"/>
            </a:endParaRPr>
          </a:p>
          <a:p>
            <a:endParaRPr lang="en-IN" dirty="0"/>
          </a:p>
          <a:p>
            <a:endParaRPr lang="en-IN" dirty="0"/>
          </a:p>
        </p:txBody>
      </p:sp>
      <p:sp>
        <p:nvSpPr>
          <p:cNvPr id="3" name="Title 2">
            <a:extLst>
              <a:ext uri="{FF2B5EF4-FFF2-40B4-BE49-F238E27FC236}">
                <a16:creationId xmlns:a16="http://schemas.microsoft.com/office/drawing/2014/main" id="{703218D0-B1FE-D2B4-81D3-97532126D752}"/>
              </a:ext>
            </a:extLst>
          </p:cNvPr>
          <p:cNvSpPr>
            <a:spLocks noGrp="1"/>
          </p:cNvSpPr>
          <p:nvPr>
            <p:ph type="title"/>
          </p:nvPr>
        </p:nvSpPr>
        <p:spPr/>
        <p:txBody>
          <a:bodyPr/>
          <a:lstStyle/>
          <a:p>
            <a:r>
              <a:rPr lang="en-US" dirty="0"/>
              <a:t>Question2</a:t>
            </a:r>
            <a:endParaRPr lang="en-IN" dirty="0"/>
          </a:p>
        </p:txBody>
      </p:sp>
    </p:spTree>
    <p:extLst>
      <p:ext uri="{BB962C8B-B14F-4D97-AF65-F5344CB8AC3E}">
        <p14:creationId xmlns:p14="http://schemas.microsoft.com/office/powerpoint/2010/main" val="3136837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5AB5AD-0BEF-2A36-A95B-CBC86E5A8294}"/>
              </a:ext>
            </a:extLst>
          </p:cNvPr>
          <p:cNvSpPr>
            <a:spLocks noGrp="1"/>
          </p:cNvSpPr>
          <p:nvPr>
            <p:ph idx="10"/>
          </p:nvPr>
        </p:nvSpPr>
        <p:spPr>
          <a:xfrm>
            <a:off x="112776" y="1344056"/>
            <a:ext cx="11701272" cy="5303632"/>
          </a:xfrm>
        </p:spPr>
        <p:txBody>
          <a:bodyPr>
            <a:noAutofit/>
          </a:bodyPr>
          <a:lstStyle/>
          <a:p>
            <a:r>
              <a:rPr lang="en-IN" sz="1600" dirty="0"/>
              <a:t>A research team is planning to train a Transformer language model and wants to choose between the Kaplan (2020) and Chinchilla (2022) scaling-law recipes.</a:t>
            </a:r>
          </a:p>
          <a:p>
            <a:endParaRPr lang="en-IN" sz="1600" dirty="0"/>
          </a:p>
          <a:p>
            <a:pPr marL="457200" indent="-457200">
              <a:buAutoNum type="alphaLcParenBoth"/>
            </a:pPr>
            <a:r>
              <a:rPr lang="en-IN" sz="1600" dirty="0"/>
              <a:t>State the key empirical conclusion of Kaplan et al. (2020) regarding how compute should be allocated between MODEL SIZE and DATA SIZE when the compute budget is increased 10×.</a:t>
            </a:r>
          </a:p>
          <a:p>
            <a:r>
              <a:rPr lang="en-IN" sz="1600" dirty="0"/>
              <a:t>Ans:</a:t>
            </a:r>
          </a:p>
          <a:p>
            <a:r>
              <a:rPr lang="en-IN" sz="1600" dirty="0"/>
              <a:t>Kaplan: with a 10× compute increase, prioritize model size over data — increase model size by ~5× and data size by ~2×. This led to very large models trained on relatively small datasets (e.g., GPT-3, 175B parameters on ~300B tokens).</a:t>
            </a:r>
          </a:p>
          <a:p>
            <a:pPr marL="457200" indent="-457200">
              <a:buAutoNum type="alphaLcParenBoth"/>
            </a:pPr>
            <a:endParaRPr lang="en-IN" sz="1600" dirty="0"/>
          </a:p>
          <a:p>
            <a:r>
              <a:rPr lang="en-IN" sz="1600" dirty="0"/>
              <a:t>(b) State Chinchilla's (Hoffmann et al., 2022) revised recommendation for the same 10× compute increase, and what it claimed about then-existing large models.</a:t>
            </a:r>
          </a:p>
          <a:p>
            <a:r>
              <a:rPr lang="en-IN" sz="1600" dirty="0"/>
              <a:t>Ans:</a:t>
            </a:r>
          </a:p>
          <a:p>
            <a:r>
              <a:rPr lang="en-IN" sz="1600" dirty="0"/>
              <a:t>Chinchilla: with a 10× compute increase, scale model and data at the SAME rate — both by ~3.1× (since 3.1 × 3.1 ≈ 10). Existing large models were shown to be undertrained; smaller models trained on more data could outperform them.</a:t>
            </a:r>
          </a:p>
          <a:p>
            <a:endParaRPr lang="en-IN" sz="1600" dirty="0"/>
          </a:p>
          <a:p>
            <a:r>
              <a:rPr lang="en-IN" sz="1600" dirty="0"/>
              <a:t>(c) Apply Chinchilla's rule-of-thumb (20 tokens per parameter) to compute the compute-optimal number of training tokens for an 8B-parameter model.</a:t>
            </a:r>
          </a:p>
          <a:p>
            <a:endParaRPr lang="en-IN" sz="1600" dirty="0"/>
          </a:p>
          <a:p>
            <a:r>
              <a:rPr lang="en-IN" sz="1600" dirty="0"/>
              <a:t>Ans:</a:t>
            </a:r>
          </a:p>
          <a:p>
            <a:r>
              <a:rPr lang="en-IN" sz="1600" dirty="0"/>
              <a:t> Compute-optimal tokens = 8B × 20 = 160 billion tokens (160B).</a:t>
            </a:r>
          </a:p>
        </p:txBody>
      </p:sp>
      <p:sp>
        <p:nvSpPr>
          <p:cNvPr id="3" name="Title 2">
            <a:extLst>
              <a:ext uri="{FF2B5EF4-FFF2-40B4-BE49-F238E27FC236}">
                <a16:creationId xmlns:a16="http://schemas.microsoft.com/office/drawing/2014/main" id="{8BFC3C98-A464-2ABC-8CB9-D9740FBB950F}"/>
              </a:ext>
            </a:extLst>
          </p:cNvPr>
          <p:cNvSpPr>
            <a:spLocks noGrp="1"/>
          </p:cNvSpPr>
          <p:nvPr>
            <p:ph type="title"/>
          </p:nvPr>
        </p:nvSpPr>
        <p:spPr/>
        <p:txBody>
          <a:bodyPr/>
          <a:lstStyle/>
          <a:p>
            <a:r>
              <a:rPr lang="en-US" dirty="0"/>
              <a:t>Question 3</a:t>
            </a:r>
            <a:endParaRPr lang="en-IN" dirty="0"/>
          </a:p>
        </p:txBody>
      </p:sp>
    </p:spTree>
    <p:extLst>
      <p:ext uri="{BB962C8B-B14F-4D97-AF65-F5344CB8AC3E}">
        <p14:creationId xmlns:p14="http://schemas.microsoft.com/office/powerpoint/2010/main" val="83982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1AC2C6-E7CC-ED4E-BDD0-A65E235A355A}"/>
              </a:ext>
            </a:extLst>
          </p:cNvPr>
          <p:cNvSpPr>
            <a:spLocks noGrp="1"/>
          </p:cNvSpPr>
          <p:nvPr>
            <p:ph idx="10"/>
          </p:nvPr>
        </p:nvSpPr>
        <p:spPr/>
        <p:txBody>
          <a:bodyPr>
            <a:normAutofit fontScale="92500" lnSpcReduction="10000"/>
          </a:bodyPr>
          <a:lstStyle/>
          <a:p>
            <a:r>
              <a:rPr lang="en-IN" dirty="0"/>
              <a:t>(d) Llama 3 (8B) was trained on 15 trillion (15T) tokens. Compute the ratio of Llama-3 training tokens to Chinchilla's compute-optimal number, and briefly justify (1 line) why modern practice deliberately over-trains relative to Chinchilla.</a:t>
            </a:r>
          </a:p>
          <a:p>
            <a:r>
              <a:rPr lang="en-IN" dirty="0"/>
              <a:t>Ans:</a:t>
            </a:r>
          </a:p>
          <a:p>
            <a:r>
              <a:rPr lang="en-IN" dirty="0"/>
              <a:t> Ratio = 15T / 160B = 15,000B / 160B = ≈ 93.75× the Chinchilla-optimal number. Modern practice deliberately over-trains because a smaller model trained for longer is cheaper to serve at inference (lower memory, faster latency), so trading extra training compute for inference savings is worthwhile when the model will be deployed at scale.</a:t>
            </a:r>
          </a:p>
          <a:p>
            <a:endParaRPr lang="en-IN" dirty="0"/>
          </a:p>
          <a:p>
            <a:r>
              <a:rPr lang="en-IN" dirty="0"/>
              <a:t>(e) Briefly state (1–2 lines) what the modern view of scaling laws says about test-time (inference-time) compute.</a:t>
            </a:r>
          </a:p>
          <a:p>
            <a:pPr lvl="0"/>
            <a:r>
              <a:rPr lang="en-IN" dirty="0"/>
              <a:t>The modern view extends scaling laws to include test-time compute: accuracy can also improve by spending more compute at INFERENCE (chain-of-thought reasoning, multi-sample sampling, sear). Today's scaling laws involve both pretraining scale and test-time compute.</a:t>
            </a:r>
          </a:p>
          <a:p>
            <a:endParaRPr lang="en-IN" dirty="0"/>
          </a:p>
        </p:txBody>
      </p:sp>
      <p:sp>
        <p:nvSpPr>
          <p:cNvPr id="3" name="Title 2">
            <a:extLst>
              <a:ext uri="{FF2B5EF4-FFF2-40B4-BE49-F238E27FC236}">
                <a16:creationId xmlns:a16="http://schemas.microsoft.com/office/drawing/2014/main" id="{55007A5B-1C83-FFCB-4687-15BE30888E84}"/>
              </a:ext>
            </a:extLst>
          </p:cNvPr>
          <p:cNvSpPr>
            <a:spLocks noGrp="1"/>
          </p:cNvSpPr>
          <p:nvPr>
            <p:ph type="title"/>
          </p:nvPr>
        </p:nvSpPr>
        <p:spPr/>
        <p:txBody>
          <a:bodyPr/>
          <a:lstStyle/>
          <a:p>
            <a:r>
              <a:rPr lang="en-US" dirty="0"/>
              <a:t>Question 3</a:t>
            </a:r>
            <a:endParaRPr lang="en-IN" dirty="0"/>
          </a:p>
        </p:txBody>
      </p:sp>
    </p:spTree>
    <p:extLst>
      <p:ext uri="{BB962C8B-B14F-4D97-AF65-F5344CB8AC3E}">
        <p14:creationId xmlns:p14="http://schemas.microsoft.com/office/powerpoint/2010/main" val="2520881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A70EF3-566B-5CF5-1F63-35B0F9946FB4}"/>
              </a:ext>
            </a:extLst>
          </p:cNvPr>
          <p:cNvSpPr>
            <a:spLocks noGrp="1"/>
          </p:cNvSpPr>
          <p:nvPr>
            <p:ph idx="10"/>
          </p:nvPr>
        </p:nvSpPr>
        <p:spPr>
          <a:xfrm>
            <a:off x="304800" y="1545224"/>
            <a:ext cx="11664696" cy="4525963"/>
          </a:xfrm>
        </p:spPr>
        <p:txBody>
          <a:bodyPr>
            <a:normAutofit fontScale="77500" lnSpcReduction="20000"/>
          </a:bodyPr>
          <a:lstStyle/>
          <a:p>
            <a:pPr>
              <a:lnSpc>
                <a:spcPct val="120000"/>
              </a:lnSpc>
            </a:pPr>
            <a:r>
              <a:rPr lang="en-IN" dirty="0"/>
              <a:t>The PREFILL phase is compute-bound while the DECODE phase is memory-bandwidth-bound — even on the same model and same GPU. In 2–3 lines, explain WHY this difference exists. Refer specifically to (</a:t>
            </a:r>
            <a:r>
              <a:rPr lang="en-IN" dirty="0" err="1"/>
              <a:t>i</a:t>
            </a:r>
            <a:r>
              <a:rPr lang="en-IN" dirty="0"/>
              <a:t>) how many tokens are processed per forward pass in each phase, and (ii) the resulting ratio of arithmetic to weight-streaming.</a:t>
            </a:r>
          </a:p>
          <a:p>
            <a:pPr>
              <a:lnSpc>
                <a:spcPct val="120000"/>
              </a:lnSpc>
            </a:pPr>
            <a:endParaRPr lang="en-IN" dirty="0"/>
          </a:p>
          <a:p>
            <a:pPr>
              <a:lnSpc>
                <a:spcPct val="120000"/>
              </a:lnSpc>
            </a:pPr>
            <a:r>
              <a:rPr lang="en-IN" dirty="0"/>
              <a:t>Ans:</a:t>
            </a:r>
          </a:p>
          <a:p>
            <a:pPr lvl="0">
              <a:lnSpc>
                <a:spcPct val="120000"/>
              </a:lnSpc>
            </a:pPr>
            <a:r>
              <a:rPr lang="en-IN" dirty="0"/>
              <a:t>Prefill processes the entire input prompt (many tokens) in a single forward pass via parallel </a:t>
            </a:r>
            <a:r>
              <a:rPr lang="en-IN" dirty="0" err="1"/>
              <a:t>matmul</a:t>
            </a:r>
            <a:r>
              <a:rPr lang="en-IN" dirty="0"/>
              <a:t>. The model weights are streamed from VRAM once, but the arithmetic done with those weights scales with the number of tokens — so compute is high relative to weight-movement, and the bottleneck is arithmetic (compute-bound). </a:t>
            </a:r>
          </a:p>
          <a:p>
            <a:pPr>
              <a:lnSpc>
                <a:spcPct val="120000"/>
              </a:lnSpc>
            </a:pPr>
            <a:r>
              <a:rPr lang="en-IN" dirty="0"/>
              <a:t> </a:t>
            </a:r>
          </a:p>
          <a:p>
            <a:pPr>
              <a:lnSpc>
                <a:spcPct val="120000"/>
              </a:lnSpc>
            </a:pPr>
            <a:r>
              <a:rPr lang="en-IN" dirty="0"/>
              <a:t>Decode processes only ONE new token per forward pass, yet the SAME full model weights must still be streamed from VRAM at each step. The arithmetic for a single token finishes quickly and the GPU compute units sit idle waiting for the next weight stream → data movement (memory bandwidth) dominates, hence memory-bandwidth-bound</a:t>
            </a:r>
          </a:p>
          <a:p>
            <a:r>
              <a:rPr lang="en-IN" dirty="0"/>
              <a:t> </a:t>
            </a:r>
          </a:p>
          <a:p>
            <a:endParaRPr lang="en-IN" dirty="0"/>
          </a:p>
        </p:txBody>
      </p:sp>
      <p:sp>
        <p:nvSpPr>
          <p:cNvPr id="3" name="Title 2">
            <a:extLst>
              <a:ext uri="{FF2B5EF4-FFF2-40B4-BE49-F238E27FC236}">
                <a16:creationId xmlns:a16="http://schemas.microsoft.com/office/drawing/2014/main" id="{DD227052-F064-A03B-618A-CD9EC4F1CAB0}"/>
              </a:ext>
            </a:extLst>
          </p:cNvPr>
          <p:cNvSpPr>
            <a:spLocks noGrp="1"/>
          </p:cNvSpPr>
          <p:nvPr>
            <p:ph type="title"/>
          </p:nvPr>
        </p:nvSpPr>
        <p:spPr/>
        <p:txBody>
          <a:bodyPr/>
          <a:lstStyle/>
          <a:p>
            <a:r>
              <a:rPr lang="en-US" dirty="0"/>
              <a:t>Question 4</a:t>
            </a:r>
            <a:endParaRPr lang="en-IN" dirty="0"/>
          </a:p>
        </p:txBody>
      </p:sp>
    </p:spTree>
    <p:extLst>
      <p:ext uri="{BB962C8B-B14F-4D97-AF65-F5344CB8AC3E}">
        <p14:creationId xmlns:p14="http://schemas.microsoft.com/office/powerpoint/2010/main" val="104868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2804887-5CCA-4003-457C-DF206B6EFAB7}"/>
              </a:ext>
            </a:extLst>
          </p:cNvPr>
          <p:cNvSpPr>
            <a:spLocks noGrp="1"/>
          </p:cNvSpPr>
          <p:nvPr>
            <p:ph idx="10"/>
          </p:nvPr>
        </p:nvSpPr>
        <p:spPr/>
        <p:txBody>
          <a:bodyPr>
            <a:normAutofit fontScale="85000" lnSpcReduction="10000"/>
          </a:bodyPr>
          <a:lstStyle/>
          <a:p>
            <a:r>
              <a:rPr lang="en-IN" dirty="0"/>
              <a:t>A multi-tenant LLM inference gateway uses a traditional static allocation policy where every incoming request is pre-allocated a contiguous chunk of GPU memory scaled to fit the system's maximum allowed context length (e.g., 4,096 tokens). The gateway experiences frequent Out-of-Memory (OOM) rejections, despite logs indicating that total aggregate free GPU memory should be sufficient.</a:t>
            </a:r>
          </a:p>
          <a:p>
            <a:pPr marL="457200" indent="-457200">
              <a:buAutoNum type="alphaLcParenBoth"/>
            </a:pPr>
            <a:r>
              <a:rPr lang="en-IN" dirty="0"/>
              <a:t>Define the two types of memory fragmentation that occur under this static scheme and explain how they degrade throughput. </a:t>
            </a:r>
          </a:p>
          <a:p>
            <a:r>
              <a:rPr lang="en-IN" dirty="0"/>
              <a:t>Ans: </a:t>
            </a:r>
          </a:p>
          <a:p>
            <a:r>
              <a:rPr lang="en-US" altLang="en-US" dirty="0"/>
              <a:t>Internal Fragmentation: This occurs within a single pre-allocated memory chunk. The gateway pre-allocates a contiguous block sized for the maximum context length (4,096 tokens) regardless of actual usage. If a request only requires 500 tokens, the memory for the remaining 3,596 tokens sits idle, reserved, and completely unusable by any other tenant. </a:t>
            </a:r>
          </a:p>
          <a:p>
            <a:r>
              <a:rPr lang="en-US" altLang="en-US" dirty="0"/>
              <a:t>External Fragmentation: This occurs across the global GPU memory pool over time. As requests of varying lengths complete at different times, they leave behind small, scattered pockets of free memory. Even if the total aggregate of these free slots is technically large enough to support a new incoming request, the request will be rejected with an Out-of-Memory (OOM) error because the system cannot find a single contiguous block of memory to fit the maximum context length constraint.</a:t>
            </a:r>
          </a:p>
          <a:p>
            <a:pPr marL="457200" indent="-457200">
              <a:buAutoNum type="alphaLcParenBoth"/>
            </a:pPr>
            <a:endParaRPr lang="en-IN" dirty="0"/>
          </a:p>
        </p:txBody>
      </p:sp>
      <p:sp>
        <p:nvSpPr>
          <p:cNvPr id="3" name="Title 2">
            <a:extLst>
              <a:ext uri="{FF2B5EF4-FFF2-40B4-BE49-F238E27FC236}">
                <a16:creationId xmlns:a16="http://schemas.microsoft.com/office/drawing/2014/main" id="{24E41558-F52A-6556-6516-93289934EC8D}"/>
              </a:ext>
            </a:extLst>
          </p:cNvPr>
          <p:cNvSpPr>
            <a:spLocks noGrp="1"/>
          </p:cNvSpPr>
          <p:nvPr>
            <p:ph type="title"/>
          </p:nvPr>
        </p:nvSpPr>
        <p:spPr>
          <a:xfrm>
            <a:off x="304800" y="0"/>
            <a:ext cx="10881209" cy="1219200"/>
          </a:xfrm>
        </p:spPr>
        <p:txBody>
          <a:bodyPr/>
          <a:lstStyle/>
          <a:p>
            <a:r>
              <a:rPr lang="en-US" dirty="0"/>
              <a:t>Question 5</a:t>
            </a:r>
            <a:endParaRPr lang="en-IN" dirty="0"/>
          </a:p>
        </p:txBody>
      </p:sp>
    </p:spTree>
    <p:extLst>
      <p:ext uri="{BB962C8B-B14F-4D97-AF65-F5344CB8AC3E}">
        <p14:creationId xmlns:p14="http://schemas.microsoft.com/office/powerpoint/2010/main" val="813569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019094-4EF5-62DE-2C09-525D8DB4BD70}"/>
              </a:ext>
            </a:extLst>
          </p:cNvPr>
          <p:cNvSpPr>
            <a:spLocks noGrp="1"/>
          </p:cNvSpPr>
          <p:nvPr>
            <p:ph idx="10"/>
          </p:nvPr>
        </p:nvSpPr>
        <p:spPr>
          <a:xfrm>
            <a:off x="304801" y="1429512"/>
            <a:ext cx="11887200" cy="5556504"/>
          </a:xfrm>
        </p:spPr>
        <p:txBody>
          <a:bodyPr>
            <a:normAutofit/>
          </a:bodyPr>
          <a:lstStyle/>
          <a:p>
            <a:r>
              <a:rPr lang="en-IN" dirty="0"/>
              <a:t>Construct (or describe) a distribution where Top-K and Top-p would DIVERGE, and explain which one is more restrictive in that case.</a:t>
            </a:r>
          </a:p>
          <a:p>
            <a:pPr lvl="1"/>
            <a:endParaRPr lang="en-IN" dirty="0"/>
          </a:p>
          <a:p>
            <a:pPr lvl="0"/>
            <a:r>
              <a:rPr lang="en-IN" dirty="0"/>
              <a:t>Ans: suppose the top token has probability 0.85 and the next two have 0.08 and 0.04. Then:</a:t>
            </a:r>
          </a:p>
          <a:p>
            <a:pPr lvl="1"/>
            <a:r>
              <a:rPr lang="en-IN" dirty="0"/>
              <a:t>Top-K = 3 retains 3 tokens (0.85, 0.08, 0.04) — including some low-probability ones.</a:t>
            </a:r>
          </a:p>
          <a:p>
            <a:pPr lvl="1"/>
            <a:r>
              <a:rPr lang="en-IN" dirty="0"/>
              <a:t>Top-P = 0.80 retains just 1 token (0.85 alone already exceeds 0.80).</a:t>
            </a:r>
          </a:p>
          <a:p>
            <a:pPr lvl="1"/>
            <a:r>
              <a:rPr lang="en-IN" dirty="0"/>
              <a:t>In a sharply peaked distribution, Top-P is more restrictive than Top-K = 3.  Conversely, in a very flat distribution where no small set reaches 0.80, Top-P would keep MANY tokens while Top-K = 3 still retains only 3 — there, Top-K is more restrictive.</a:t>
            </a:r>
          </a:p>
          <a:p>
            <a:endParaRPr lang="en-IN" dirty="0"/>
          </a:p>
        </p:txBody>
      </p:sp>
      <p:sp>
        <p:nvSpPr>
          <p:cNvPr id="3" name="Title 2">
            <a:extLst>
              <a:ext uri="{FF2B5EF4-FFF2-40B4-BE49-F238E27FC236}">
                <a16:creationId xmlns:a16="http://schemas.microsoft.com/office/drawing/2014/main" id="{8EEE16BC-D4F1-3258-4873-A740E1D97A67}"/>
              </a:ext>
            </a:extLst>
          </p:cNvPr>
          <p:cNvSpPr>
            <a:spLocks noGrp="1"/>
          </p:cNvSpPr>
          <p:nvPr>
            <p:ph type="title"/>
          </p:nvPr>
        </p:nvSpPr>
        <p:spPr/>
        <p:txBody>
          <a:bodyPr/>
          <a:lstStyle/>
          <a:p>
            <a:r>
              <a:rPr lang="en-US" dirty="0"/>
              <a:t>Question 6</a:t>
            </a:r>
            <a:endParaRPr lang="en-IN" dirty="0"/>
          </a:p>
        </p:txBody>
      </p:sp>
    </p:spTree>
    <p:extLst>
      <p:ext uri="{BB962C8B-B14F-4D97-AF65-F5344CB8AC3E}">
        <p14:creationId xmlns:p14="http://schemas.microsoft.com/office/powerpoint/2010/main" val="1827344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6DA730-A90C-097F-0DAB-4B12C2EDD3C2}"/>
              </a:ext>
            </a:extLst>
          </p:cNvPr>
          <p:cNvSpPr>
            <a:spLocks noGrp="1"/>
          </p:cNvSpPr>
          <p:nvPr>
            <p:ph idx="10"/>
          </p:nvPr>
        </p:nvSpPr>
        <p:spPr>
          <a:xfrm>
            <a:off x="304800" y="1545224"/>
            <a:ext cx="11673840" cy="4965304"/>
          </a:xfrm>
        </p:spPr>
        <p:txBody>
          <a:bodyPr>
            <a:normAutofit fontScale="92500"/>
          </a:bodyPr>
          <a:lstStyle/>
          <a:p>
            <a:r>
              <a:rPr lang="en-IN" dirty="0"/>
              <a:t> Autoregressive inference loop, stop criteria, and chat templates.  </a:t>
            </a:r>
          </a:p>
          <a:p>
            <a:endParaRPr lang="en-IN" dirty="0"/>
          </a:p>
          <a:p>
            <a:pPr marL="457200" indent="-457200">
              <a:buAutoNum type="alphaLcParenBoth"/>
            </a:pPr>
            <a:r>
              <a:rPr lang="en-IN" dirty="0"/>
              <a:t>Briefly describe the FOUR steps the for the autoregressive inference loop that an LLM follows to generate a response.</a:t>
            </a:r>
          </a:p>
          <a:p>
            <a:pPr marL="457200" indent="-457200">
              <a:buAutoNum type="alphaLcParenBoth"/>
            </a:pPr>
            <a:endParaRPr lang="en-IN" dirty="0"/>
          </a:p>
          <a:p>
            <a:pPr lvl="0"/>
            <a:r>
              <a:rPr lang="en-IN" dirty="0"/>
              <a:t>Ans:  Four steps of the autoregressive inference loop:</a:t>
            </a:r>
          </a:p>
          <a:p>
            <a:pPr lvl="1"/>
            <a:r>
              <a:rPr lang="en-IN" dirty="0"/>
              <a:t>Step 1 — Input Tokens: the prompt is tokenized (with chat-template formatting applied) and loaded into the context window — these tokens are the model's only input.</a:t>
            </a:r>
          </a:p>
          <a:p>
            <a:pPr lvl="1"/>
            <a:r>
              <a:rPr lang="en-IN" dirty="0"/>
              <a:t>Step 2 — Compute Probabilities: the model performs a forward pass and produces a next-token probability distribution over the entire vocabulary.</a:t>
            </a:r>
          </a:p>
          <a:p>
            <a:pPr lvl="1"/>
            <a:r>
              <a:rPr lang="en-IN" dirty="0"/>
              <a:t>Step 3 — Select Token: a decoding strategy (greedy, Top-K, Top-P, etc.) picks ONE token from that distribution and appends it to the context window.</a:t>
            </a:r>
          </a:p>
          <a:p>
            <a:pPr lvl="1"/>
            <a:r>
              <a:rPr lang="en-IN" dirty="0"/>
              <a:t>Step 4 — Stop or Continue?: check stop conditions; if none met, loop back to Step 2 and predict the next token, otherwise emit the generated text and stop.</a:t>
            </a:r>
          </a:p>
          <a:p>
            <a:pPr marL="457200" indent="-457200">
              <a:buAutoNum type="alphaLcParenBoth"/>
            </a:pPr>
            <a:endParaRPr lang="en-IN" dirty="0"/>
          </a:p>
          <a:p>
            <a:endParaRPr lang="en-IN" dirty="0"/>
          </a:p>
        </p:txBody>
      </p:sp>
      <p:sp>
        <p:nvSpPr>
          <p:cNvPr id="3" name="Title 2">
            <a:extLst>
              <a:ext uri="{FF2B5EF4-FFF2-40B4-BE49-F238E27FC236}">
                <a16:creationId xmlns:a16="http://schemas.microsoft.com/office/drawing/2014/main" id="{04678051-B699-855A-ED45-B991D06C0D19}"/>
              </a:ext>
            </a:extLst>
          </p:cNvPr>
          <p:cNvSpPr>
            <a:spLocks noGrp="1"/>
          </p:cNvSpPr>
          <p:nvPr>
            <p:ph type="title"/>
          </p:nvPr>
        </p:nvSpPr>
        <p:spPr/>
        <p:txBody>
          <a:bodyPr/>
          <a:lstStyle/>
          <a:p>
            <a:r>
              <a:rPr lang="en-US" dirty="0"/>
              <a:t>Question 7</a:t>
            </a:r>
            <a:endParaRPr lang="en-IN" dirty="0"/>
          </a:p>
        </p:txBody>
      </p:sp>
    </p:spTree>
    <p:extLst>
      <p:ext uri="{BB962C8B-B14F-4D97-AF65-F5344CB8AC3E}">
        <p14:creationId xmlns:p14="http://schemas.microsoft.com/office/powerpoint/2010/main" val="3030937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F5EC43-014A-CE55-BBA6-5E63B054FB98}"/>
              </a:ext>
            </a:extLst>
          </p:cNvPr>
          <p:cNvSpPr>
            <a:spLocks noGrp="1"/>
          </p:cNvSpPr>
          <p:nvPr>
            <p:ph idx="10"/>
          </p:nvPr>
        </p:nvSpPr>
        <p:spPr/>
        <p:txBody>
          <a:bodyPr>
            <a:noAutofit/>
          </a:bodyPr>
          <a:lstStyle/>
          <a:p>
            <a:r>
              <a:rPr lang="en-IN" sz="2000" dirty="0"/>
              <a:t>(b) The "Stop or Continue?" Name THREE possible stopping criteria. </a:t>
            </a:r>
          </a:p>
          <a:p>
            <a:pPr lvl="0"/>
            <a:r>
              <a:rPr lang="en-IN" sz="2000" dirty="0"/>
              <a:t>Ans:  Three stop criteria:</a:t>
            </a:r>
          </a:p>
          <a:p>
            <a:pPr marL="800100" lvl="1" indent="-342900">
              <a:buFont typeface="Arial" panose="020B0604020202020204" pitchFamily="34" charset="0"/>
              <a:buChar char="•"/>
            </a:pPr>
            <a:r>
              <a:rPr lang="en-IN" sz="2000" dirty="0"/>
              <a:t>Stop token emitted — the selected token equals the model's end-of-turn token (e.g., &lt;|</a:t>
            </a:r>
            <a:r>
              <a:rPr lang="en-IN" sz="2000" dirty="0" err="1"/>
              <a:t>im_end</a:t>
            </a:r>
            <a:r>
              <a:rPr lang="en-IN" sz="2000" dirty="0"/>
              <a:t>|&gt;).</a:t>
            </a:r>
          </a:p>
          <a:p>
            <a:pPr marL="800100" lvl="1" indent="-342900">
              <a:buFont typeface="Arial" panose="020B0604020202020204" pitchFamily="34" charset="0"/>
              <a:buChar char="•"/>
            </a:pPr>
            <a:r>
              <a:rPr lang="en-IN" sz="2000" dirty="0"/>
              <a:t>Max new tokens reached — the number of tokens GENERATED in this response has reached the user-specified </a:t>
            </a:r>
            <a:r>
              <a:rPr lang="en-IN" sz="2000" dirty="0" err="1"/>
              <a:t>max_new_tokens</a:t>
            </a:r>
            <a:r>
              <a:rPr lang="en-IN" sz="2000" dirty="0"/>
              <a:t> limit.</a:t>
            </a:r>
          </a:p>
          <a:p>
            <a:pPr marL="800100" lvl="1" indent="-342900">
              <a:buFont typeface="Arial" panose="020B0604020202020204" pitchFamily="34" charset="0"/>
              <a:buChar char="•"/>
            </a:pPr>
            <a:r>
              <a:rPr lang="en-IN" sz="2000" dirty="0"/>
              <a:t>Max context reached — the TOTAL context size (prompt + generated tokens) has reached the model's context-window limit.</a:t>
            </a:r>
          </a:p>
          <a:p>
            <a:r>
              <a:rPr lang="en-IN" sz="2000" dirty="0"/>
              <a:t>(c) An LLM has a model context window of 4,096 tokens. The current state is: input prompt = 2,400 tokens; user-supplied </a:t>
            </a:r>
            <a:r>
              <a:rPr lang="en-IN" sz="2000" dirty="0" err="1"/>
              <a:t>max_new_tokens</a:t>
            </a:r>
            <a:r>
              <a:rPr lang="en-IN" sz="2000" dirty="0"/>
              <a:t> = 1,800. Compute the maximum number of tokens this generation can produce, given BOTH limits, and state which limit is binding.</a:t>
            </a:r>
          </a:p>
          <a:p>
            <a:pPr lvl="0"/>
            <a:r>
              <a:rPr lang="en-IN" sz="2000" dirty="0"/>
              <a:t>Ans: Both limits apply; the binding one is the smaller:</a:t>
            </a:r>
          </a:p>
          <a:p>
            <a:pPr lvl="1"/>
            <a:r>
              <a:rPr lang="en-IN" sz="2000" dirty="0" err="1"/>
              <a:t>max_new_tokens</a:t>
            </a:r>
            <a:r>
              <a:rPr lang="en-IN" sz="2000" dirty="0"/>
              <a:t> limit: 1,800 tokens.</a:t>
            </a:r>
          </a:p>
          <a:p>
            <a:pPr lvl="1"/>
            <a:r>
              <a:rPr lang="en-IN" sz="2000" dirty="0"/>
              <a:t>context-window limit on new tokens: 4,096 − 2,400 = 1,696 tokens.</a:t>
            </a:r>
          </a:p>
          <a:p>
            <a:pPr lvl="1"/>
            <a:r>
              <a:rPr lang="en-IN" sz="2000" dirty="0"/>
              <a:t>Maximum generated tokens = min(1,800, 1,696) = 1,696 tokens. The context-window limit is binding.</a:t>
            </a:r>
          </a:p>
          <a:p>
            <a:endParaRPr lang="en-IN" sz="2000" dirty="0"/>
          </a:p>
        </p:txBody>
      </p:sp>
      <p:sp>
        <p:nvSpPr>
          <p:cNvPr id="3" name="Title 2">
            <a:extLst>
              <a:ext uri="{FF2B5EF4-FFF2-40B4-BE49-F238E27FC236}">
                <a16:creationId xmlns:a16="http://schemas.microsoft.com/office/drawing/2014/main" id="{9F595E0E-7873-A06D-78F7-3E5B50DD8472}"/>
              </a:ext>
            </a:extLst>
          </p:cNvPr>
          <p:cNvSpPr>
            <a:spLocks noGrp="1"/>
          </p:cNvSpPr>
          <p:nvPr>
            <p:ph type="title"/>
          </p:nvPr>
        </p:nvSpPr>
        <p:spPr/>
        <p:txBody>
          <a:bodyPr/>
          <a:lstStyle/>
          <a:p>
            <a:r>
              <a:rPr lang="en-US" dirty="0"/>
              <a:t>Question 7</a:t>
            </a:r>
            <a:endParaRPr lang="en-IN" dirty="0"/>
          </a:p>
        </p:txBody>
      </p:sp>
    </p:spTree>
    <p:extLst>
      <p:ext uri="{BB962C8B-B14F-4D97-AF65-F5344CB8AC3E}">
        <p14:creationId xmlns:p14="http://schemas.microsoft.com/office/powerpoint/2010/main" val="2346479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BFE683-9F2B-DA85-9AA0-DCCFFE8B8E97}"/>
              </a:ext>
            </a:extLst>
          </p:cNvPr>
          <p:cNvSpPr>
            <a:spLocks noGrp="1"/>
          </p:cNvSpPr>
          <p:nvPr>
            <p:ph idx="10"/>
          </p:nvPr>
        </p:nvSpPr>
        <p:spPr>
          <a:xfrm>
            <a:off x="176784" y="1481216"/>
            <a:ext cx="12015216" cy="5303632"/>
          </a:xfrm>
        </p:spPr>
        <p:txBody>
          <a:bodyPr>
            <a:normAutofit fontScale="85000" lnSpcReduction="10000"/>
          </a:bodyPr>
          <a:lstStyle/>
          <a:p>
            <a:r>
              <a:rPr lang="en-US" dirty="0"/>
              <a:t>Why do modern LLMs use advanced activation functions such as GELU or </a:t>
            </a:r>
            <a:r>
              <a:rPr lang="en-US" dirty="0" err="1"/>
              <a:t>SwiGLU</a:t>
            </a:r>
            <a:r>
              <a:rPr lang="en-US" dirty="0"/>
              <a:t> instead of simple </a:t>
            </a:r>
            <a:r>
              <a:rPr lang="en-US" dirty="0" err="1"/>
              <a:t>ReLU</a:t>
            </a:r>
            <a:r>
              <a:rPr lang="en-US" dirty="0"/>
              <a:t>?</a:t>
            </a:r>
          </a:p>
          <a:p>
            <a:endParaRPr lang="en-IN" dirty="0"/>
          </a:p>
          <a:p>
            <a:r>
              <a:rPr lang="en-US" dirty="0"/>
              <a:t>Ans:</a:t>
            </a:r>
          </a:p>
          <a:p>
            <a:r>
              <a:rPr lang="en-US" dirty="0"/>
              <a:t> feed-forward layer in a Transformer usually applies a nonlinear transformation:</a:t>
            </a:r>
            <a:endParaRPr lang="en-IN" dirty="0"/>
          </a:p>
          <a:p>
            <a:r>
              <a:rPr lang="en-US" dirty="0"/>
              <a:t>FFN(x) = w</a:t>
            </a:r>
            <a:r>
              <a:rPr lang="en-US" baseline="-25000" dirty="0"/>
              <a:t>2</a:t>
            </a:r>
            <a:r>
              <a:rPr lang="en-US" dirty="0"/>
              <a:t> g(w</a:t>
            </a:r>
            <a:r>
              <a:rPr lang="en-US" baseline="-25000" dirty="0"/>
              <a:t>1</a:t>
            </a:r>
            <a:r>
              <a:rPr lang="en-US" dirty="0"/>
              <a:t> x), Here, g is the activation function. </a:t>
            </a:r>
          </a:p>
          <a:p>
            <a:endParaRPr lang="en-US" dirty="0"/>
          </a:p>
          <a:p>
            <a:r>
              <a:rPr lang="en-US" dirty="0" err="1"/>
              <a:t>ReLU</a:t>
            </a:r>
            <a:r>
              <a:rPr lang="en-US" dirty="0"/>
              <a:t> is simple: </a:t>
            </a:r>
            <a:r>
              <a:rPr lang="en-US" dirty="0" err="1"/>
              <a:t>ReLU</a:t>
            </a:r>
            <a:r>
              <a:rPr lang="en-US" dirty="0"/>
              <a:t>(x) = max(0, x)</a:t>
            </a:r>
          </a:p>
          <a:p>
            <a:endParaRPr lang="en-IN" dirty="0"/>
          </a:p>
          <a:p>
            <a:r>
              <a:rPr lang="en-US" dirty="0"/>
              <a:t>But modern LLMs often use smoother and gated activations such as GELU or </a:t>
            </a:r>
            <a:r>
              <a:rPr lang="en-US" dirty="0" err="1"/>
              <a:t>SwiGLU</a:t>
            </a:r>
            <a:r>
              <a:rPr lang="en-US" dirty="0"/>
              <a:t>.</a:t>
            </a:r>
          </a:p>
          <a:p>
            <a:endParaRPr lang="en-IN" dirty="0"/>
          </a:p>
          <a:p>
            <a:r>
              <a:rPr lang="en-US" dirty="0"/>
              <a:t>A gated activation can be understood as: </a:t>
            </a:r>
            <a:r>
              <a:rPr lang="en-US" dirty="0" err="1"/>
              <a:t>SwiGLU</a:t>
            </a:r>
            <a:r>
              <a:rPr lang="en-US" dirty="0"/>
              <a:t>(x) = Swish(</a:t>
            </a:r>
            <a:r>
              <a:rPr lang="en-US" dirty="0" err="1"/>
              <a:t>Wa</a:t>
            </a:r>
            <a:r>
              <a:rPr lang="en-US" dirty="0"/>
              <a:t> x) ⊙ Wb x</a:t>
            </a:r>
            <a:endParaRPr lang="en-IN" dirty="0"/>
          </a:p>
          <a:p>
            <a:r>
              <a:rPr lang="en-US" dirty="0"/>
              <a:t>This means the model does not merely pass information forward. It also learns how much information should pass.</a:t>
            </a:r>
          </a:p>
          <a:p>
            <a:endParaRPr lang="en-IN" dirty="0"/>
          </a:p>
          <a:p>
            <a:r>
              <a:rPr lang="en-US" i="1" dirty="0"/>
              <a:t>Intuition: </a:t>
            </a:r>
            <a:r>
              <a:rPr lang="en-US" i="1" dirty="0" err="1"/>
              <a:t>ReLU</a:t>
            </a:r>
            <a:r>
              <a:rPr lang="en-US" i="1" dirty="0"/>
              <a:t> is like an on/off switch. </a:t>
            </a:r>
            <a:r>
              <a:rPr lang="en-US" i="1" dirty="0" err="1"/>
              <a:t>SwiGLU</a:t>
            </a:r>
            <a:r>
              <a:rPr lang="en-US" i="1" dirty="0"/>
              <a:t> is like a smart valve that controls the strength of the signal.</a:t>
            </a:r>
          </a:p>
          <a:p>
            <a:endParaRPr lang="en-IN" i="1" dirty="0"/>
          </a:p>
          <a:p>
            <a:r>
              <a:rPr lang="en-US" dirty="0"/>
              <a:t>In conclusion, Advanced activations improve nonlinear representation capacity, gradient smoothness, and information gating</a:t>
            </a:r>
            <a:endParaRPr lang="en-IN" dirty="0"/>
          </a:p>
        </p:txBody>
      </p:sp>
      <p:sp>
        <p:nvSpPr>
          <p:cNvPr id="3" name="Title 2">
            <a:extLst>
              <a:ext uri="{FF2B5EF4-FFF2-40B4-BE49-F238E27FC236}">
                <a16:creationId xmlns:a16="http://schemas.microsoft.com/office/drawing/2014/main" id="{1B508074-527C-3262-88E4-C17CDF7ED5C9}"/>
              </a:ext>
            </a:extLst>
          </p:cNvPr>
          <p:cNvSpPr>
            <a:spLocks noGrp="1"/>
          </p:cNvSpPr>
          <p:nvPr>
            <p:ph type="title"/>
          </p:nvPr>
        </p:nvSpPr>
        <p:spPr/>
        <p:txBody>
          <a:bodyPr/>
          <a:lstStyle/>
          <a:p>
            <a:r>
              <a:rPr lang="en-US" dirty="0"/>
              <a:t>Question 8</a:t>
            </a:r>
            <a:endParaRPr lang="en-IN" dirty="0"/>
          </a:p>
        </p:txBody>
      </p:sp>
    </p:spTree>
    <p:extLst>
      <p:ext uri="{BB962C8B-B14F-4D97-AF65-F5344CB8AC3E}">
        <p14:creationId xmlns:p14="http://schemas.microsoft.com/office/powerpoint/2010/main" val="2227900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D932B8-FE01-BE02-5188-B044E8C28E1B}"/>
              </a:ext>
            </a:extLst>
          </p:cNvPr>
          <p:cNvSpPr>
            <a:spLocks noGrp="1"/>
          </p:cNvSpPr>
          <p:nvPr>
            <p:ph idx="10"/>
          </p:nvPr>
        </p:nvSpPr>
        <p:spPr/>
        <p:txBody>
          <a:bodyPr/>
          <a:lstStyle/>
          <a:p>
            <a:r>
              <a:rPr lang="en-US" dirty="0"/>
              <a:t>Also, refer to the questions given in various session slides and python notebooks (If any)</a:t>
            </a:r>
            <a:endParaRPr lang="en-IN" dirty="0"/>
          </a:p>
        </p:txBody>
      </p:sp>
    </p:spTree>
    <p:extLst>
      <p:ext uri="{BB962C8B-B14F-4D97-AF65-F5344CB8AC3E}">
        <p14:creationId xmlns:p14="http://schemas.microsoft.com/office/powerpoint/2010/main" val="25523240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2249</TotalTime>
  <Words>2480</Words>
  <Application>Microsoft Office PowerPoint</Application>
  <PresentationFormat>Widescreen</PresentationFormat>
  <Paragraphs>148</Paragraphs>
  <Slides>17</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17</vt:i4>
      </vt:variant>
    </vt:vector>
  </HeadingPairs>
  <TitlesOfParts>
    <vt:vector size="27" baseType="lpstr">
      <vt:lpstr>Arial</vt:lpstr>
      <vt:lpstr>Arial MT</vt:lpstr>
      <vt:lpstr>Calibri</vt:lpstr>
      <vt:lpstr>Calibri Light</vt:lpstr>
      <vt:lpstr>Cambria</vt:lpstr>
      <vt:lpstr>Montserrat</vt:lpstr>
      <vt:lpstr>Tahoma</vt:lpstr>
      <vt:lpstr>Times New Roman</vt:lpstr>
      <vt:lpstr>1_Office Theme</vt:lpstr>
      <vt:lpstr>2_Office Theme</vt:lpstr>
      <vt:lpstr> LLM for Gen AI</vt:lpstr>
      <vt:lpstr>LLM for Gen AI</vt:lpstr>
      <vt:lpstr>Question 1 Language Modeling Head, Embeddings &amp; Weight Tying</vt:lpstr>
      <vt:lpstr>Question 1</vt:lpstr>
      <vt:lpstr>Question 1</vt:lpstr>
      <vt:lpstr>Question 1</vt:lpstr>
      <vt:lpstr>Question2 Multi-Head Attention — Shape Calculations</vt:lpstr>
      <vt:lpstr>Question2</vt:lpstr>
      <vt:lpstr>Question 3</vt:lpstr>
      <vt:lpstr>Question 3</vt:lpstr>
      <vt:lpstr>Question 4</vt:lpstr>
      <vt:lpstr>Question 5</vt:lpstr>
      <vt:lpstr>Question 6</vt:lpstr>
      <vt:lpstr>Question 7</vt:lpstr>
      <vt:lpstr>Question 7</vt:lpstr>
      <vt:lpstr>Question 8</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Monali Mavani .</dc:creator>
  <cp:lastModifiedBy>Monali Mavani .</cp:lastModifiedBy>
  <cp:revision>12</cp:revision>
  <dcterms:created xsi:type="dcterms:W3CDTF">2026-06-03T05:09:59Z</dcterms:created>
  <dcterms:modified xsi:type="dcterms:W3CDTF">2026-06-05T08:37:03Z</dcterms:modified>
</cp:coreProperties>
</file>